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  <p15:guide id="2" orient="horz" pos="310">
          <p15:clr>
            <a:srgbClr val="747775"/>
          </p15:clr>
        </p15:guide>
        <p15:guide id="3" orient="horz" pos="406">
          <p15:clr>
            <a:srgbClr val="747775"/>
          </p15:clr>
        </p15:guide>
        <p15:guide id="4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310" orient="horz"/>
        <p:guide pos="406" orient="horz"/>
        <p:guide pos="42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aleway-italic.fntdata"/><Relationship Id="rId16" Type="http://schemas.openxmlformats.org/officeDocument/2006/relationships/slide" Target="slides/slide11.xml"/><Relationship Id="rId38" Type="http://schemas.openxmlformats.org/officeDocument/2006/relationships/font" Target="fonts/Raleway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28881b9a7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228881b9a7_0_7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28881b9a7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228881b9a7_0_8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ba803152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3ba803152b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ba803152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3ba803152b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ba803152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3ba803152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ba80315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3ba803152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ba803152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ba803152b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ba803152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3ba803152b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ba803152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3ba803152b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ba803152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3ba803152b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ba803152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3ba803152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ba803152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3ba803152b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ba803152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3ba803152b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ba803152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3ba803152b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ba80315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3ba803152b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ba803152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3ba803152b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ba803152b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3ba803152b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ba803152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3ba803152b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ba803152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3ba803152b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ba803152b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3ba803152b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ba803152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3ba803152b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ba803152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3ba803152b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ba803152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3ba803152b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ba803152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3ba803152b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ba803152b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3ba803152b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ba803152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3ba803152b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ba803152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3ba803152b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3ba803152b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3ba803152b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ba803152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3ba803152b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ba803152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3ba803152b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ba803152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3ba803152b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453200" y="927988"/>
            <a:ext cx="8460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rgbClr val="2B2C30"/>
                </a:solidFill>
              </a:rPr>
              <a:t>Advance </a:t>
            </a:r>
            <a:r>
              <a:rPr b="1" lang="en-GB" sz="4700">
                <a:solidFill>
                  <a:srgbClr val="2B2C30"/>
                </a:solidFill>
              </a:rPr>
              <a:t>Computer Architecture</a:t>
            </a:r>
            <a:endParaRPr b="1" sz="4700">
              <a:solidFill>
                <a:srgbClr val="2B2C30"/>
              </a:solidFill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2B2C30"/>
              </a:solidFill>
            </a:endParaRPr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cxnSp>
        <p:nvCxnSpPr>
          <p:cNvPr id="87" name="Google Shape;87;p13"/>
          <p:cNvCxnSpPr/>
          <p:nvPr/>
        </p:nvCxnSpPr>
        <p:spPr>
          <a:xfrm>
            <a:off x="-7187" y="17121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187" y="17883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3"/>
          <p:cNvCxnSpPr/>
          <p:nvPr/>
        </p:nvCxnSpPr>
        <p:spPr>
          <a:xfrm>
            <a:off x="-7187" y="9280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3"/>
          <p:cNvCxnSpPr/>
          <p:nvPr/>
        </p:nvCxnSpPr>
        <p:spPr>
          <a:xfrm>
            <a:off x="-7187" y="10042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Advance Computer Architecture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5. Multicore Processor Design ( 6 Hrs)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5.1 Introduction to Multicore Processors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5.2 Design Principles of Multicore Processors: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Core Integration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Instruction Parallelism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Performance Metrics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By: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Er. Ram Thapa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Er. Baburam Shrestha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Single Core Computer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5" name="Google Shape;105;p15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075" y="893100"/>
            <a:ext cx="5405351" cy="385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68300" y="884825"/>
            <a:ext cx="27480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A single-core computer uses a microprocessor with a single CPU on its die, performing the fetch-decode-execute cycle one at a time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1950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Generally slower than multi-core systems because they can only run on one thread at a time.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Single Core Processor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4" name="Google Shape;114;p16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049" y="893100"/>
            <a:ext cx="5146374" cy="39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68300" y="884825"/>
            <a:ext cx="31941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A single-core processor is a microprocessor with a single CPU on its die, performing the fetch-decode-execute cycle one at a time, as it only runs on one thread.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Generally slower than multi-core systems because they can only run on one thread at a time.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1950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i="1" lang="en-GB" sz="1800">
                <a:latin typeface="Times"/>
                <a:ea typeface="Times"/>
                <a:cs typeface="Times"/>
                <a:sym typeface="Times"/>
              </a:rPr>
              <a:t>We need multi Processor to speed up the performance and efficiency.</a:t>
            </a:r>
            <a:endParaRPr b="1" i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Problem with Single Core Processor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3" name="Google Shape;123;p17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17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Difficult to make single-core clock frequencies even higher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Deeply pipelined circuits: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heat problems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speed of light problems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difficult design and verification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arge design teams necessary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server farms need expensive air-conditioning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Many new applications are multithreaded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General trend in computer architecture (shift towards more parallelism)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1950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i="1" lang="en-GB" sz="1800">
                <a:latin typeface="Times"/>
                <a:ea typeface="Times"/>
                <a:cs typeface="Times"/>
                <a:sym typeface="Times"/>
              </a:rPr>
              <a:t>We need multi Processor to speed up the performance and efficiency.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31" name="Google Shape;131;p18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8"/>
          <p:cNvSpPr txBox="1"/>
          <p:nvPr/>
        </p:nvSpPr>
        <p:spPr>
          <a:xfrm>
            <a:off x="556900" y="893025"/>
            <a:ext cx="82368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A multicore processor ia a single integrated(two or more independent processing units commonly known as cores) within a single chip, allowing parallel execution of tasks and improving performance.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075" y="1915250"/>
            <a:ext cx="7756350" cy="286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0" name="Google Shape;140;p19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9"/>
          <p:cNvSpPr txBox="1"/>
          <p:nvPr/>
        </p:nvSpPr>
        <p:spPr>
          <a:xfrm>
            <a:off x="556900" y="893025"/>
            <a:ext cx="3155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cores run in parallel.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325" y="1334700"/>
            <a:ext cx="7736099" cy="35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9" name="Google Shape;149;p20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0"/>
          <p:cNvSpPr txBox="1"/>
          <p:nvPr/>
        </p:nvSpPr>
        <p:spPr>
          <a:xfrm>
            <a:off x="556900" y="893025"/>
            <a:ext cx="82017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Within each core, threads are time-sliced (just like on a uniprocessor)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025" y="1301000"/>
            <a:ext cx="7720401" cy="34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21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There are many different multicore processors architectures, which may vary in terms of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Number of cores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Number of core types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Homogeneous(symmetric) cores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Heterogeneous(asymmetric) cores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Number and level of caches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How cores are interconnected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Isolation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Physical Isolation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Temporal Isolation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6" name="Google Shape;166;p22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Number of cores: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Different multicore processors often have different numbers of cores. </a:t>
            </a:r>
            <a:endParaRPr sz="1800">
              <a:highlight>
                <a:srgbClr val="FFFFFF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For example, a quad-core processor has four cores. </a:t>
            </a:r>
            <a:endParaRPr sz="1800">
              <a:highlight>
                <a:srgbClr val="FFFFFF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The number of cores is usually a power of two.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Number of core types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Homogeneous(symmetric) cores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All of the cores in a homogeneous multicore processor are of the same type.</a:t>
            </a:r>
            <a:endParaRPr sz="1800">
              <a:highlight>
                <a:srgbClr val="FFFFFF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Typically the core processing units are general-purpose central processing units that run a single multicore operating system.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Heterogeneous(asymmetric) cores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Heterogeneous multicore processors have a mix of core types that often run different operating systems and include graphics processing units.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4" name="Google Shape;174;p23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3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Number and level of caches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Multicore processors vary in terms of their instruction and data caches, which are relatively small and fast pools of local memory.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How cores are interconnected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Multicore processors also vary in terms of their bus architectures.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Isolation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Physical Isolation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It ensures that different cores cannot access the same physical hardware (e.g., memory locations such as caches and RAM).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Temporal Isolation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■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It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ensures that the execution of software on one core does not impact the temporal behavior of software running on another core.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Homogeneous 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2" name="Google Shape;182;p24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25" y="911975"/>
            <a:ext cx="8201700" cy="39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Heterogeneous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 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0" name="Google Shape;190;p25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25" y="911975"/>
            <a:ext cx="8201700" cy="39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Design Principle of </a:t>
            </a:r>
            <a:r>
              <a:rPr b="1" lang="en-GB" sz="38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</a:t>
            </a:r>
            <a:r>
              <a:rPr b="1" lang="en-GB" sz="38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 Processor</a:t>
            </a:r>
            <a:endParaRPr sz="3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8" name="Google Shape;198;p26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26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Multicore processors are designed to improve computational efficiency through parallel execution, optimized resource management, and performance scalability.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Key design principles include: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Core integration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Instruction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-level Parallelism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Performance metric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900" y="2658750"/>
            <a:ext cx="6000750" cy="22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Core Integration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7" name="Google Shape;207;p27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7"/>
          <p:cNvSpPr txBox="1"/>
          <p:nvPr/>
        </p:nvSpPr>
        <p:spPr>
          <a:xfrm>
            <a:off x="556900" y="893025"/>
            <a:ext cx="82017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Core integration involves combining multiple processor cores on a single chip to enable parallel execution and improve performance.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keys to consider while integrating the core for multicore processor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Number of Cores: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More cores increase parallel processing capability.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Core Heterogeneity: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Cores can be homogeneous or heterogeneous.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Cache Structure: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Each core has a private L1 cache; Cores may share L2 and L3 caches to reduce latency and improve data access.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Interconnection Network: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As core count increases, communication bottlenecks arise. Network on Chip (NoC) improves scalability and efficiency by applying networking concepts.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Software Considerations: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Parallel programming is required to fully utilize multicore performance.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720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Developers must manage multiple threads, synchronization, and workload distribution efficiently.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Instruction-Level Parallelism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5" name="Google Shape;215;p28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8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3619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"/>
              <a:buChar char="➢"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All processors since about 1985 use pipelining to overlap the execution of instructions and improve performance. This potential overlap among instructions is called instruction-level parallelism (ILP).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-342900" lvl="0" marL="3619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It is a set of techniques used in computer architecture to execute multiple instructions simultaneously within a CPU core, enhancing computational speed and efficiency. This is achieved through methods such as pipelining, superscalar execution etc.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19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Pipelining involves dividing the execution process into several stages, allowing multiple instructions to be in different stages of execution simultaneously, which improves throughput. 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19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Superscalar execution allows a processor to issue and execute more than one instruction per clock cycle by having multiple execution units that handle different types of instructions concurrently.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Instruction-Level Parallelism</a:t>
            </a:r>
            <a:endParaRPr sz="4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rgbClr val="2B2C3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3" name="Google Shape;223;p29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9"/>
          <p:cNvSpPr txBox="1"/>
          <p:nvPr/>
        </p:nvSpPr>
        <p:spPr>
          <a:xfrm>
            <a:off x="548725" y="3042950"/>
            <a:ext cx="82017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Approaches to </a:t>
            </a:r>
            <a:r>
              <a:rPr b="1" lang="en-GB" sz="18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Instruction-Level Parallelism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Times"/>
              <a:buAutoNum type="arabi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Dynamic ILP (Hardware-Based Approach)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AutoNum type="arabi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Static ILP (Software-Based Approach)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AutoNum type="arabi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Complementary Use of Both Approaches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475" y="990975"/>
            <a:ext cx="493395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ILP Approached to Exploit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2" name="Google Shape;232;p30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30"/>
          <p:cNvSpPr txBox="1"/>
          <p:nvPr/>
        </p:nvSpPr>
        <p:spPr>
          <a:xfrm>
            <a:off x="548725" y="893100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1. Dynamic ILP (Hardware-Based Approach)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hardware automatically detects and schedules independent instructions at runtime.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Techniques include: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Out-of-Order Execution: Executes instructions as soon as operands are available, even if they are out of program order.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Branch Prediction: Reduces stalls by predicting and preloading future instructions.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Speculative Execution: Executes instructions ahead of time and rolls back if mispredicted.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Register Renaming: Eliminates false dependencies by mapping registers dynamically.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ILP Approached to Exploit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0" name="Google Shape;240;p31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31"/>
          <p:cNvSpPr txBox="1"/>
          <p:nvPr/>
        </p:nvSpPr>
        <p:spPr>
          <a:xfrm>
            <a:off x="548725" y="893100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2.  Static ILP (Software-Based Approach)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compiler restructures code to expose parallelism before execution.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Techniques include: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Loop Unrolling: Expands loops to reduce branch overhead and increase parallel execution.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Software Pipelining: Reorders instructions to maximize parallel execution.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Vectorization (SIMD): Uses special instructions to perform multiple computations in a single step.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3.  Complementary Use of Both Approaches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Modern processors combine both methods: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Compilers optimize code statically to expose ILP.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Processors exploit additional parallelism dynamically at runtime for further efficiency.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Instruction-Level Parallelism(E.g.)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8" name="Google Shape;248;p32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32"/>
          <p:cNvSpPr txBox="1"/>
          <p:nvPr/>
        </p:nvSpPr>
        <p:spPr>
          <a:xfrm>
            <a:off x="556900" y="2771075"/>
            <a:ext cx="2291700" cy="204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for (i=0; i&lt;=996; i+=1) {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    x[i] = x[i] + y[i]; 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}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2935025" y="2771175"/>
            <a:ext cx="2863200" cy="204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for (i=0; i&lt;=996; i+=4) {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    x[i] = x[i] + y[i];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    x[i+1] = x[i+1] + y[i+1];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    x[i+2] = x[i+2] + y[i+2];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    x[i+3] = x[i+3] + y[i+3];  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}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548725" y="893100"/>
            <a:ext cx="8201700" cy="18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To exploit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loop-level parallelism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and improve performance, we convert it into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instruction-level parallelism (ILP)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using the following techniques: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arabicPeriod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Loop Unrolling (Static ILP):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compiler duplicates loop iterations to reduce control overhead and expose more independent instructions.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Example: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Unrolling the loop 4 times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to execute multiple iterations in parallel.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5884650" y="2751625"/>
            <a:ext cx="2863200" cy="204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700">
                <a:latin typeface="Times"/>
                <a:ea typeface="Times"/>
                <a:cs typeface="Times"/>
                <a:sym typeface="Times"/>
              </a:rPr>
              <a:t>Reduces branch instructions and increases instruction overlap.</a:t>
            </a:r>
            <a:endParaRPr i="1" sz="17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700">
                <a:latin typeface="Times"/>
                <a:ea typeface="Times"/>
                <a:cs typeface="Times"/>
                <a:sym typeface="Times"/>
              </a:rPr>
              <a:t>Helps in utilizing multiple execution units in a </a:t>
            </a:r>
            <a:r>
              <a:rPr b="1" i="1" lang="en-GB" sz="1700">
                <a:latin typeface="Times"/>
                <a:ea typeface="Times"/>
                <a:cs typeface="Times"/>
                <a:sym typeface="Times"/>
              </a:rPr>
              <a:t>superscalar processor</a:t>
            </a:r>
            <a:endParaRPr b="1" i="1" sz="17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Instruction-Level Parallelism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(E.g.)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9" name="Google Shape;259;p33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33"/>
          <p:cNvSpPr txBox="1"/>
          <p:nvPr/>
        </p:nvSpPr>
        <p:spPr>
          <a:xfrm>
            <a:off x="548725" y="893100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2.  Software Pipelining (Static Scheduling)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compiler reorders instructions across iterations to maximize parallel execution while avoiding dependencies.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Example: Instead of executing one iteration at a time, instructions from different iterations are interleaved.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3. Out-of-Order Execution (Dynamic ILP)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Modern processors dynamically schedule instructions to execute in parallel if there are no dependencies.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900"/>
              </a:spcBef>
              <a:spcAft>
                <a:spcPts val="900"/>
              </a:spcAft>
              <a:buSzPts val="1800"/>
              <a:buFont typeface="Times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Hardware reorders loads, adds, and stores to maximize execution efficiency.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Instruction-Level Parallelism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(E.g.)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7" name="Google Shape;267;p34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34"/>
          <p:cNvSpPr txBox="1"/>
          <p:nvPr/>
        </p:nvSpPr>
        <p:spPr>
          <a:xfrm>
            <a:off x="548725" y="893100"/>
            <a:ext cx="8201700" cy="385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4. SIMD (Single Instruction, Multiple Data) Processing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Uses vectorized instructions to process multiple data elements per instruction.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Example: On SIMD-capable hardware, one instruction can compute four additions at once: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x[i:i+3] = x[i:i+3] + y[i:i+3];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// Adds 4 elements in parallel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Found in vector processors and GPUs for high-performance parallelism.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5. Hardware Loop Unrolling (Dynamic Loop Unrolling)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Some architectures dynamically detect independent loop iterations and execute them in parallel using loop buffer optimizations.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ILP Dependency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75" name="Google Shape;275;p35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35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Dependencies define constraints on instruction execution order.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arabicPeriod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Data Dependencies (True Dependencies)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: Occur when instruction j depends on the result of instruction i.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-GB" sz="1600">
                <a:latin typeface="Times"/>
                <a:ea typeface="Times"/>
                <a:cs typeface="Times"/>
                <a:sym typeface="Times"/>
              </a:rPr>
              <a:t>Example:</a:t>
            </a:r>
            <a:br>
              <a:rPr i="1" lang="en-GB" sz="1600">
                <a:latin typeface="Times"/>
                <a:ea typeface="Times"/>
                <a:cs typeface="Times"/>
                <a:sym typeface="Times"/>
              </a:rPr>
            </a:b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		ADD R1, R2, R3  # R1 = R2 + R3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SUB R4, R1, R5  # R4 depends on R1</a:t>
            </a:r>
            <a:endParaRPr sz="16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-GB" sz="1600">
                <a:latin typeface="Times"/>
                <a:ea typeface="Times"/>
                <a:cs typeface="Times"/>
                <a:sym typeface="Times"/>
              </a:rPr>
              <a:t>Transitive Dependency:</a:t>
            </a:r>
            <a:r>
              <a:rPr i="1" lang="en-GB" sz="1600">
                <a:latin typeface="Times"/>
                <a:ea typeface="Times"/>
                <a:cs typeface="Times"/>
                <a:sym typeface="Times"/>
              </a:rPr>
              <a:t> If j depends on k and k depends on i, then j is also dependent on i.</a:t>
            </a:r>
            <a:endParaRPr i="1" sz="16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arabicPeriod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Name Dependencies (False Dependencies):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Occur when two instructions use the same register or memory location without data flow.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899999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romanL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Anti Dependence (WAR – Write After Read): j writes a register/memory before i reads it.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899999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romanL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Output Dependence (WAW – Write After Write): Both i and j write to the same register/memory.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Solution: Rename registers or use different memory locations.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ILP Dependency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3" name="Google Shape;283;p36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36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3.    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Control Dependencies: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Occur when instructions depend on branch outcomes.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-GB" sz="1700">
                <a:latin typeface="Times"/>
                <a:ea typeface="Times"/>
                <a:cs typeface="Times"/>
                <a:sym typeface="Times"/>
              </a:rPr>
              <a:t>Example:</a:t>
            </a:r>
            <a:br>
              <a:rPr i="1" lang="en-GB" sz="1700">
                <a:latin typeface="Times"/>
                <a:ea typeface="Times"/>
                <a:cs typeface="Times"/>
                <a:sym typeface="Times"/>
              </a:rPr>
            </a:br>
            <a:r>
              <a:rPr i="1" lang="en-GB" sz="1700">
                <a:latin typeface="Times"/>
                <a:ea typeface="Times"/>
                <a:cs typeface="Times"/>
                <a:sym typeface="Times"/>
              </a:rPr>
              <a:t>	BEQ R1, R2, LABEL  # Branch to LABEL if R1 == R2</a:t>
            </a:r>
            <a:endParaRPr i="1" sz="17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700">
                <a:latin typeface="Times"/>
                <a:ea typeface="Times"/>
                <a:cs typeface="Times"/>
                <a:sym typeface="Times"/>
              </a:rPr>
              <a:t>ADD R3, R4, R5      # Dependent on branch outcome</a:t>
            </a:r>
            <a:endParaRPr i="1" sz="1700">
              <a:latin typeface="Times"/>
              <a:ea typeface="Times"/>
              <a:cs typeface="Times"/>
              <a:sym typeface="Times"/>
            </a:endParaRPr>
          </a:p>
          <a:p>
            <a:pPr indent="45720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Rules: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899999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romanL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Instructions dependent on a branch must not execute before the branch.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2" marL="899999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AutoNum type="romanLcPeriod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Instructions not dependent on a branch must not be delayed due to the branch.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ILP 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Dependency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91" name="Google Shape;291;p37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37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.   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Relaxing Dependencies: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Dependencies can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be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rearranged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if program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correctness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457200" lvl="0" marL="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is preserved.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Two key properties must hold: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Exception Behavior: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Reordering should not change visible exceptions.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00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Data Flow: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Instructions must still get the correct data.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.    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Liveness of Data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Live Data: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Needed for future computations.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Dead Data: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No longer used and can be safely discarded.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7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By handling dependencies properly,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ILP can be maximized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, improving execution speed without violating program correctness.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ILP Data Hazards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99" name="Google Shape;299;p38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38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A hazard occurs when a dependency causes execution issues in the pipeline.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RAR (Read After Read):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Not a hazard (safe to execute in parallel).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RAW (Read After Write) – True Dependency: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j reads a value before i writes it.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WAR (Write After Read) – Anti Dependence: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j writes before i reads.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WAW (Write After Write) – Output Dependence: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Both i and j write to the same register.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Performance Metric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07" name="Google Shape;307;p39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39"/>
          <p:cNvSpPr txBox="1"/>
          <p:nvPr/>
        </p:nvSpPr>
        <p:spPr>
          <a:xfrm>
            <a:off x="556900" y="844175"/>
            <a:ext cx="82017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Multicore CPU performance is evaluated using various metrics based on </a:t>
            </a: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time, rate, and resource utilization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1. Time-Based Metrics: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Response Time: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Time between a user request and system response.</a:t>
            </a:r>
            <a:endParaRPr sz="17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Execution Time: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Total time required to complete a program.</a:t>
            </a:r>
            <a:endParaRPr sz="17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Memory Latency: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Delay between a memory request and data availability (CAS latency).</a:t>
            </a:r>
            <a:endParaRPr sz="17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2. Rate-Based Metrics: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Throughput: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Average rate of successful processes executed.</a:t>
            </a:r>
            <a:endParaRPr sz="17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Memory Bandwidth: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Rate at which data is transferred between CPU cores and RAM.</a:t>
            </a:r>
            <a:endParaRPr sz="17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3. Resource Utilization Metrics: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Energy Consumption: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Power needed to execute a program.</a:t>
            </a:r>
            <a:endParaRPr sz="1700"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just">
              <a:lnSpc>
                <a:spcPct val="80000"/>
              </a:lnSpc>
              <a:spcBef>
                <a:spcPts val="900"/>
              </a:spcBef>
              <a:spcAft>
                <a:spcPts val="900"/>
              </a:spcAft>
              <a:buSzPts val="1700"/>
              <a:buChar char="●"/>
            </a:pPr>
            <a:r>
              <a:rPr b="1" lang="en-GB" sz="1700">
                <a:latin typeface="Times"/>
                <a:ea typeface="Times"/>
                <a:cs typeface="Times"/>
                <a:sym typeface="Times"/>
              </a:rPr>
              <a:t>Memory Contention:</a:t>
            </a:r>
            <a:r>
              <a:rPr lang="en-GB" sz="1700">
                <a:latin typeface="Times"/>
                <a:ea typeface="Times"/>
                <a:cs typeface="Times"/>
                <a:sym typeface="Times"/>
              </a:rPr>
              <a:t> Percentage of cores competing for RAM access at the same time.</a:t>
            </a:r>
            <a:endParaRPr sz="17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Performance Metric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15" name="Google Shape;315;p40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40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60001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Performance metrics are the measurements of the system performance or activity.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 metrics selection depends upon the services provided by the system because metrics quantify the required output of the system.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360001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Metrics can be classified in three main classes: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HB (Higher is Better):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include metrics like throughput, higher values for this metric are preferred.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LB (Lower is Better):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include metrics like execution time, where lower values for this metrics preferred.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○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NB (Nominal is Best):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include metrics like power, with the median values being optimal in this case.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1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Pros of 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23" name="Google Shape;323;p41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41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Energy Efficiency: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Reduces power consumption and heat, extending battery life.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True Concurrency: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Enables parallel processing for better multitasking.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Performance Boost: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Faster execution with reduced resource access latency.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Isolation: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Minimizes software interference, enhancing robustness.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Reliability: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Supports fault tolerance and system recovery.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Obsolescence Avoidance: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Keeps up with advancing chip technology.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Cost Savings: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Reduces hardware needs by integrating multiple cores.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2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Cons of </a:t>
            </a: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Multicore Processors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31" name="Google Shape;331;p42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42"/>
          <p:cNvSpPr txBox="1"/>
          <p:nvPr/>
        </p:nvSpPr>
        <p:spPr>
          <a:xfrm>
            <a:off x="556900" y="893025"/>
            <a:ext cx="82017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Shared Resources: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Competition for memory, cache, and I/O can cause bottlenecks.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Interference: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One core's workload may impact others, breaking isolation.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Concurrency Defects: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Risk of deadlocks, race conditions, and priority inversion.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Non-determinism: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Unpredictable execution due to interrupts and lock conflicts.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Analysis Complexity: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Harder to predict execution times and interference effects.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Certification Challenges: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Meeting safety standards for real-time applications is difficult.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2B2C30"/>
                </a:solidFill>
                <a:latin typeface="Times"/>
                <a:ea typeface="Times"/>
                <a:cs typeface="Times"/>
                <a:sym typeface="Times"/>
              </a:rPr>
              <a:t>Advance Computer architecture</a:t>
            </a:r>
            <a:endParaRPr sz="4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39" name="Google Shape;339;p43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43"/>
          <p:cNvSpPr txBox="1"/>
          <p:nvPr/>
        </p:nvSpPr>
        <p:spPr>
          <a:xfrm>
            <a:off x="556900" y="893025"/>
            <a:ext cx="82368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[1] https://ieeexplore.ieee.org/document/8262970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[2]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https://insights.sei.cmu.edu/blog/multicore-processing/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[3]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Jernej Barbic 15-213, Spring 2007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[4]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https://eecs.ceas.uc.edu/~wilseypa/classes/eece7095/lectureNotes/ilp/ilp.pdf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[5]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https://www.cs.cmu.edu/~fp/courses/15213-s07/lectures/27-multicore.pdf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[6]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Computer Architecture A Quantitative Approach (Fifth Edition) (John L. Hennessy,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[7]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David A. Patterson).pdf pg 147-150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[8] https://www.cse.wustl.edu/~jain/cse567-13/ftp/multicore/index.html#wikipedi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