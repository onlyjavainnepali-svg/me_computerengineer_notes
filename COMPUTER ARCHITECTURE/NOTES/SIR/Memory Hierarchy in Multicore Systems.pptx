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4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46083" y="497942"/>
            <a:ext cx="10067454" cy="4279440"/>
          </a:xfrm>
        </p:spPr>
        <p:txBody>
          <a:bodyPr/>
          <a:lstStyle/>
          <a:p>
            <a:pPr lvl="1" algn="l" defTabSz="457200" rtl="0">
              <a:spcBef>
                <a:spcPct val="0"/>
              </a:spcBef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 in Multicore Systems: Cache Design (L1, L2, L3), Cache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Coherence,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Bandwidth and Latency</a:t>
            </a:r>
            <a:r>
              <a:rPr lang="en-US" sz="1600" dirty="0"/>
              <a:t/>
            </a:r>
            <a:br>
              <a:rPr lang="en-US" sz="1600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6619" y="4777379"/>
            <a:ext cx="9367994" cy="1126283"/>
          </a:xfrm>
        </p:spPr>
        <p:txBody>
          <a:bodyPr>
            <a:normAutofit/>
          </a:bodyPr>
          <a:lstStyle/>
          <a:p>
            <a:pPr algn="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 Tank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Awasthi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0564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7645" y="336430"/>
            <a:ext cx="9177518" cy="44857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13140" y="5124091"/>
            <a:ext cx="92906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Hierarchy Design is divided into 2 main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fontAlgn="base">
              <a:buFont typeface="Wingdings" panose="05000000000000000000" pitchFamily="2" charset="2"/>
              <a:buChar char="ü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Memory or Secondary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Memory(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Magnetic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Disk, Optical Disk, and Magnetic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Tape)peripheral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devices.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fontAlgn="base">
              <a:buFont typeface="Wingdings" panose="05000000000000000000" pitchFamily="2" charset="2"/>
              <a:buChar char="ü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Memory or Primary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Memory(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Memory, Cache Memory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&amp; CPU registers).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directly accessible by the processor.</a:t>
            </a:r>
          </a:p>
        </p:txBody>
      </p:sp>
    </p:spTree>
    <p:extLst>
      <p:ext uri="{BB962C8B-B14F-4D97-AF65-F5344CB8AC3E}">
        <p14:creationId xmlns:p14="http://schemas.microsoft.com/office/powerpoint/2010/main" val="767529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7374" y="513271"/>
            <a:ext cx="8238226" cy="5865962"/>
          </a:xfrm>
          <a:prstGeom prst="rect">
            <a:avLst/>
          </a:prstGeom>
        </p:spPr>
      </p:pic>
      <p:sp>
        <p:nvSpPr>
          <p:cNvPr id="6" name="Oval Callout 5"/>
          <p:cNvSpPr/>
          <p:nvPr/>
        </p:nvSpPr>
        <p:spPr>
          <a:xfrm rot="16869819">
            <a:off x="1659377" y="215143"/>
            <a:ext cx="1529290" cy="1124600"/>
          </a:xfrm>
          <a:prstGeom prst="wedgeEllipseCallou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the most frequently used data and </a:t>
            </a:r>
            <a:r>
              <a:rPr lang="en-US" sz="1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</a:t>
            </a:r>
          </a:p>
          <a:p>
            <a:r>
              <a:rPr lang="en-US" sz="1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Size:16-64 Bits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Callout 6"/>
          <p:cNvSpPr/>
          <p:nvPr/>
        </p:nvSpPr>
        <p:spPr>
          <a:xfrm rot="15179019">
            <a:off x="786468" y="1787218"/>
            <a:ext cx="2090068" cy="1423358"/>
          </a:xfrm>
          <a:prstGeom prst="wedgeEllipseCallou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tores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frequently used data and instructions that have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been recently accessed from the main memory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Callout 7"/>
          <p:cNvSpPr/>
          <p:nvPr/>
        </p:nvSpPr>
        <p:spPr>
          <a:xfrm rot="3364467">
            <a:off x="10088326" y="4866007"/>
            <a:ext cx="2549489" cy="1199214"/>
          </a:xfrm>
          <a:prstGeom prst="wedgeEllipse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data and instructions that are currently in use by the CPU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val Callout 8"/>
          <p:cNvSpPr/>
          <p:nvPr/>
        </p:nvSpPr>
        <p:spPr>
          <a:xfrm rot="10321211">
            <a:off x="7521361" y="6252440"/>
            <a:ext cx="2646289" cy="566604"/>
          </a:xfrm>
          <a:prstGeom prst="wedgeEllipse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data and instructions that are not currently in use by the CPU.</a:t>
            </a:r>
            <a:endParaRPr lang="en-US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4978" y="4073227"/>
            <a:ext cx="194239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Cache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Mapping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Replacement Algorithm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Write policy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991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1879" y="370936"/>
            <a:ext cx="9247517" cy="5305245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10032520" y="5779698"/>
            <a:ext cx="1733910" cy="10437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Capacity</a:t>
            </a:r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770407" y="5771072"/>
            <a:ext cx="2329132" cy="10524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Performance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7410090" y="5771071"/>
            <a:ext cx="2311879" cy="10524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Access Time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11119449" y="2441275"/>
            <a:ext cx="1072551" cy="1319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Cost Per </a:t>
            </a:r>
            <a:r>
              <a:rPr lang="en-US" b="1" dirty="0" smtClean="0"/>
              <a:t>Bit</a:t>
            </a: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646982" y="1302588"/>
            <a:ext cx="1362974" cy="11386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Complex Design</a:t>
            </a:r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39152" y="3510950"/>
            <a:ext cx="1621766" cy="500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Latency</a:t>
            </a:r>
            <a:endParaRPr lang="en-US" dirty="0"/>
          </a:p>
        </p:txBody>
      </p:sp>
      <p:sp>
        <p:nvSpPr>
          <p:cNvPr id="14" name="Rounded Rectangle 13"/>
          <p:cNvSpPr/>
          <p:nvPr/>
        </p:nvSpPr>
        <p:spPr>
          <a:xfrm>
            <a:off x="1526875" y="5917722"/>
            <a:ext cx="2087593" cy="7591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Maintenance Overhead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751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403" y="0"/>
            <a:ext cx="10181202" cy="648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064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6771" y="759125"/>
            <a:ext cx="9586822" cy="5169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536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225615" y="169374"/>
            <a:ext cx="9256142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L1 Cache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685800"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mallest </a:t>
            </a:r>
          </a:p>
          <a:p>
            <a:pPr marL="685800"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Fastest</a:t>
            </a:r>
          </a:p>
          <a:p>
            <a:pPr marL="685800"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Storing the most frequently accessed data &amp;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instructions for immediate use by the CPU core.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L2 Cache</a:t>
            </a:r>
          </a:p>
          <a:p>
            <a:pPr marL="685800"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Slightly slower than L1</a:t>
            </a:r>
          </a:p>
          <a:p>
            <a:pPr marL="685800"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Larger than L1</a:t>
            </a:r>
          </a:p>
          <a:p>
            <a:pPr marL="685800"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Serving as a backup to L1 </a:t>
            </a:r>
          </a:p>
          <a:p>
            <a:pPr marL="685800"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holding data that’s not used as frequently.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L3 Cache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Largest and slowest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Shared among all CPU cores.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elping coordinate data sharing across cores and improving performance in multi-core CPUs. </a:t>
            </a:r>
          </a:p>
        </p:txBody>
      </p:sp>
    </p:spTree>
    <p:extLst>
      <p:ext uri="{BB962C8B-B14F-4D97-AF65-F5344CB8AC3E}">
        <p14:creationId xmlns:p14="http://schemas.microsoft.com/office/powerpoint/2010/main" val="4155065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4917" y="2990333"/>
            <a:ext cx="8749256" cy="333022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4916" y="322230"/>
            <a:ext cx="8749257" cy="253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011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7958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 Bandwidth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403287"/>
            <a:ext cx="8915400" cy="5069941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Amount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data that can be transferred from cache to the CPU in a given amount of time. It is typically measured in gigabytes per second (GB/s) or megabytes per second (MB/s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Factors Influencing Cache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Bandwidth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Clock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Speed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Cores</a:t>
            </a:r>
          </a:p>
          <a:p>
            <a:pPr marL="285750" lvl="1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cache can have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bandwidth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(up to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100+ GB/s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modern processors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85750" lvl="1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 cache is generally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L1, but still very fast (typically in the range of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10–30 GB/s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85750" lvl="1">
              <a:buFont typeface="Wingdings" panose="05000000000000000000" pitchFamily="2" charset="2"/>
              <a:buChar char="q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L3 has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bandwidth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compared to L1 and L2, usually ranging from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10–25 GB/s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modern processors</a:t>
            </a:r>
          </a:p>
        </p:txBody>
      </p:sp>
    </p:spTree>
    <p:extLst>
      <p:ext uri="{BB962C8B-B14F-4D97-AF65-F5344CB8AC3E}">
        <p14:creationId xmlns:p14="http://schemas.microsoft.com/office/powerpoint/2010/main" val="696049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466661"/>
            <a:ext cx="8915400" cy="4444561"/>
          </a:xfrm>
        </p:spPr>
        <p:txBody>
          <a:bodyPr>
            <a:normAutofit/>
          </a:bodyPr>
          <a:lstStyle/>
          <a:p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Latency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it takes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the cache to retrieve the requested data from the cache 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line(cache hit)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to determine that the data is not in the 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cache(cache miss).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Factors Influencing Cache 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 of </a:t>
            </a:r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Cache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Cache </a:t>
            </a:r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Cache </a:t>
            </a:r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</a:t>
            </a:r>
          </a:p>
          <a:p>
            <a:pPr marL="803275"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L1 Cache: Access time is typically 1-2 CPU cycles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3275"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L2 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Cache: Access time is typically 3-10 CPU cycles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3275"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L3 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Cache: Access time is typically 10-20 CPU cycles.</a:t>
            </a:r>
            <a:endParaRPr lang="en-US" sz="1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1562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477</TotalTime>
  <Words>404</Words>
  <Application>Microsoft Office PowerPoint</Application>
  <PresentationFormat>Widescreen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Century Gothic</vt:lpstr>
      <vt:lpstr>Times New Roman</vt:lpstr>
      <vt:lpstr>Wingdings</vt:lpstr>
      <vt:lpstr>Wingdings 3</vt:lpstr>
      <vt:lpstr>Wisp</vt:lpstr>
      <vt:lpstr>Memory Hierarchy in Multicore Systems: Cache Design (L1, L2, L3), Cache Coherence, Memory Bandwidth and Latency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Cache Bandwidth</vt:lpstr>
      <vt:lpstr>Latency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Memory Hierarchy in Multicore Systems: Cache Design (L1, L2, L3), Cache Coherence Protocols, Memory Bandwidth and Latency</dc:title>
  <dc:creator>DELL</dc:creator>
  <cp:lastModifiedBy>DELL</cp:lastModifiedBy>
  <cp:revision>18</cp:revision>
  <dcterms:created xsi:type="dcterms:W3CDTF">2025-03-04T05:57:21Z</dcterms:created>
  <dcterms:modified xsi:type="dcterms:W3CDTF">2025-03-04T13:54:36Z</dcterms:modified>
</cp:coreProperties>
</file>