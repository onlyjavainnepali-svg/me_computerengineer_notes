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aleway"/>
      <p:regular r:id="rId48"/>
      <p:bold r:id="rId49"/>
      <p:italic r:id="rId50"/>
      <p:boldItalic r:id="rId51"/>
    </p:embeddedFont>
    <p:embeddedFont>
      <p:font typeface="La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regular.fntdata"/><Relationship Id="rId47" Type="http://schemas.openxmlformats.org/officeDocument/2006/relationships/slide" Target="slides/slide42.xml"/><Relationship Id="rId49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boldItalic.fntdata"/><Relationship Id="rId50" Type="http://schemas.openxmlformats.org/officeDocument/2006/relationships/font" Target="fonts/Raleway-italic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6.xml"/><Relationship Id="rId55" Type="http://schemas.openxmlformats.org/officeDocument/2006/relationships/font" Target="fonts/Lato-boldItalic.fntdata"/><Relationship Id="rId10" Type="http://schemas.openxmlformats.org/officeDocument/2006/relationships/slide" Target="slides/slide5.xml"/><Relationship Id="rId54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ac4e089a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2ac4e089a6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3e1a00e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3e1a00e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28881bb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228881bb4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3e1a00e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3e1a00e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ac4e089a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2ac4e089a6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3e1a00e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3e1a00e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ac4e089a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2ac4e089a6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c4e089a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2ac4e089a6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ac4e089a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2ac4e089a6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ac4e089a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2ac4e089a6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ac4e089a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2ac4e089a6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ac4e089a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2ac4e089a6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ac4e089a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2ac4e089a6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ac4e089a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2ac4e089a6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ac4e089a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2ac4e089a6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ac4e089a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2ac4e089a6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ac4e089a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2ac4e089a6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ac4e089a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2ac4e089a6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ac4e089a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ac4e089a6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ac4e089a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2ac4e089a6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ac4e089a6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2ac4e089a6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ac4e089a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2ac4e089a6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ac4e089a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2ac4e089a6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ac4e089a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2ac4e089a6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ac4e089a6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2ac4e089a6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ac4e089a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2ac4e089a6_0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ac4e089a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2ac4e089a6_0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ac4e089a6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2ac4e089a6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ac4e089a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2ac4e089a6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ac4e089a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2ac4e089a6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ac4e089a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2ac4e089a6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ac4e089a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2ac4e089a6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2ac4e089a6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2ac4e089a6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ac4e089a6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2ac4e089a6_0_4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ac4e089a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2ac4e089a6_0_4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2ac4e089a6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2ac4e089a6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2ac4e089a6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2ac4e089a6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ac4e089a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2ac4e089a6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2ac4e089a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2ac4e089a6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ac4e089a6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2ac4e089a6_0_4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2ac4e089a6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2ac4e089a6_0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2ac4e089a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2ac4e089a6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717700" y="1122225"/>
            <a:ext cx="81339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“Estimating countries’ peace index through the lens of the world news as monitored by GDELT”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02475" y="2230050"/>
            <a:ext cx="3140700" cy="23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Authors: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Vasiliki Voukelatou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Luca Pappalardo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Ioanna Miliou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Lorenzo Gabrielli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Fosca Giannotti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Presented By: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Er. Baburam Shrestha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Contents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5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Peacefulness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Research Goal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Background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Introduction to GDELT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Digital Data in Social Science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Related work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Methodology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Results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Discussion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Conclusion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Reference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22860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15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Peacefulness: A Multidimensional Concept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7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An essential component of well-being and societal progress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Various dimensions: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Health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Access to healthcare and overall public health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Socio-economic factors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Economic stability, income equality, and employment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Safety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Low levels of violence, crime, and social unrest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Environmental aspects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Sustainability and ecological balance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Political stability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Harmonious governance and absence of conflict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Peacefulness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7" name="Google Shape;127;p19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9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Dimensions align with 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Sustainable Development Goals (SDGs)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such as “Peace, Justice, and Strong Institutions” defined by 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UNDP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United Nations Development Programme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But the Peace Index is calculated traditionally which has some challenges like,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Delay(Calculated yearly)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Costly(Survey, governmental Data)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9" name="Google Shape;129;p19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Research Goal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6" name="Google Shape;136;p20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0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Estimate GPI(Global Peace Index) monthly using GDELT(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Global Data on Events, Location and Tone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Advantages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Realtime (Data is captured @15 Minutes)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Cost-efficient (Data is freely available 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Frequent updates (Can be possible to calculate and predict the GPI monthly)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8" name="Google Shape;138;p20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Background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5" name="Google Shape;145;p21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21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GDP(Gross Domestic Product) has been traditionally considered a good indicator of societal well-being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UNDP(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United Nations Development Programme) into 17 Sustainable Development Goals such as “No Poverty”, “Zero Hunger”, “Peace, Justice, and Strong Institutions”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SDG defined GPI index such as “health”, “socio-economic”, “safety”, “environment”, “political dimensions” etc.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7" name="Google Shape;147;p21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Introduction to GDELT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4" name="Google Shape;154;p22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22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GDELT(Global Data on Events, Location, and Tone) is updated every 15 minutes, and it is a free access database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ews media attention, sentiment, and social stability, from  GDELT digital news database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Can contribute to the estimation of GPI at a higher frequency(monthly) at a low cost, and in a time-efﬁcient way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6" name="Google Shape;156;p22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Digital Data in Social Science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3" name="Google Shape;163;p23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23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Emergence of new Data Stream: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Digital platforms like(GDELT) provide real-time insights into socio-political events worldwide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Overcome the limitation of traditional methods such as high cost, time delay and limited scope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5" name="Google Shape;165;p23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Digital Data in Social Science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2" name="Google Shape;172;p24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24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Transforming Societal Metrics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Digital data enable timely and frequently updates of well-being indicators like GPI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Capture monthly or even real-time fluctuations in peacefulness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Digital Data in Social Science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1" name="Google Shape;181;p25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5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Role of Machine 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Learning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Model analyze large-scale digital datasets to identify the patterns and make accurate predictions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Enhance the reliability and granularity of societal measurements, driving data-driven decision-making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3" name="Google Shape;183;p25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Related Work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0" name="Google Shape;190;p26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26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6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Social Media and Mobility Data in Peace Research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GDELT in Conflict and Peace Research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-GB" sz="2900">
                <a:latin typeface="Times"/>
                <a:ea typeface="Times"/>
                <a:cs typeface="Times"/>
                <a:sym typeface="Times"/>
              </a:rPr>
              <a:t>Social Media and Mobility Data in Peace Research</a:t>
            </a:r>
            <a:endParaRPr b="1" sz="29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9" name="Google Shape;199;p27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7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7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Char char="➢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Social Media in Understanding Peace and Conflict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eal-time public responses on socio-political events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Twitter analyze public sentiment, detect social unrest, and predict crime rates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Conflict Monitoring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Gaza conflict, Iran-Israel Conflict)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Migration Trends(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Twitter estimate migration flows and detect turning points in migration trends)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Mobility Data Applications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GPS and mobile network data =&gt; socio-economic indicators to prevent crime and monitor civil unrest 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"/>
              <a:buChar char="○"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Location-based data to track protests and identify urban crime hotspots)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GDELT in Conflict and Peace Research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8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8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Covers 200 event categories, including protests, violence, and diplomatic exchanges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Detect patterns of protests and civil unrest in countries like Egypt, the United States, and India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Analyzes violent events, such as the Sri Lankan Civil War and the Afghan conflict.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Combines GDELT data with refugee statistics and socio-economic indicators for migration forecasts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Provides granular insights into socio-political dynamics, offering a complementary perspective to traditional datasets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Methodology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7" name="Google Shape;217;p29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9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9" name="Google Shape;219;p29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9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Data Source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Prediction model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Dynamic Training Approach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Data Preprocessing and Feature Engineering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Methodology: Data Source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7" name="Google Shape;227;p30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30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Global Peace Index (GPI) Data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Measures peacefulness across 163 countries.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Available yearly (2008–2019); upsampled linearly to monthly values for analysis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GPI score: Higher values indicate lower peacefulness(1-5)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GDELT Features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No. Events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Total number of news reports on event categories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Tone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Emotional sentiment of news (-100 to +100, negative to positive)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Goldstein Scale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Stability impact of events (-10 to +10, negative to positive)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9" name="Google Shape;229;p30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Methodology: Prediction Models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6" name="Google Shape;236;p31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31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8" name="Google Shape;238;p31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1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Elastic Net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Combines Lasso (L1) and Ridge (L2) regularization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Handle feature selection and multicollinearity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Decision Tree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Splits data into branches based on decision rules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Useful for capturing non-linear relationships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Random Forest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Ensemble of decision trees with random sampling for improved accuracy and reduced overfitting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Methodology:</a:t>
            </a: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 Dynamic Training Approach</a:t>
            </a: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 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6" name="Google Shape;246;p32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32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8" name="Google Shape;248;p32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32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Rolling Forecast Strategy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Initial training on data from January 2008 to June 2013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Predicts GPI for July 2013 and dynamically updates with real GPI and GDELT values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●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Repeats monthly until January 2019, ensuring the model adapts to the latest data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Methodology: </a:t>
            </a:r>
            <a:r>
              <a:rPr b="1" lang="en-GB" sz="2800">
                <a:latin typeface="Times"/>
                <a:ea typeface="Times"/>
                <a:cs typeface="Times"/>
                <a:sym typeface="Times"/>
              </a:rPr>
              <a:t>Data Preprocessing and Feature Eng.</a:t>
            </a:r>
            <a:endParaRPr b="1" sz="2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6" name="Google Shape;256;p33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33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8" name="Google Shape;258;p33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33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Querying GDELT with BigQuery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Extracts country-specific monthly data: No. events, Tone, and Goldstein.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SELECT ActionGeo_CountryCode, MonthYear, EventBaseCode,  COUNT(EventBaseCode) AS No_events,  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       SUM(AvgTone) AS Tone, SUM(GoldsteinScale) AS Goldstein  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FROM 'gdelt-bq.full.events'  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WHERE (MonthYear BETWEEN 200801 AND 201901) AND (ActionGeo_CountryCode IS NOT NULL)  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GROUP BY ActionGeo_CountryCode, MonthYear, EventBaseCode  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188038"/>
                </a:solidFill>
                <a:latin typeface="Times"/>
                <a:ea typeface="Times"/>
                <a:cs typeface="Times"/>
                <a:sym typeface="Times"/>
              </a:rPr>
              <a:t>ORDER BY ActionGeo_CountryCode, EventBaseCode, MonthYear;</a:t>
            </a:r>
            <a:endParaRPr i="1" sz="1300">
              <a:solidFill>
                <a:srgbClr val="188038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Feature Engineering: Aggregated GDELT data for monthly analysis per country.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6" name="Google Shape;266;p34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34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Model Evaluation Metrics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Results by Country Groups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Results by Country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Variable Importance Analysis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Key Observation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8" name="Google Shape;268;p34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Model Evaluation Metrics</a:t>
            </a:r>
            <a:endParaRPr b="1" sz="3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35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7" name="Google Shape;2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25" y="908175"/>
            <a:ext cx="8201699" cy="39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 Groups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4" name="Google Shape;284;p36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36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6" name="Google Shape;2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13" y="908175"/>
            <a:ext cx="5560725" cy="3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/>
        </p:nvSpPr>
        <p:spPr>
          <a:xfrm>
            <a:off x="1370425" y="4568000"/>
            <a:ext cx="6869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PERFORMANCE INDICATORS WITH RESPECT TO GPI GROUND TRUTH OF 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THE PREDICTION MODELS , FOR FIVE WAR - TONE COUNTRIES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 Groups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94" name="Google Shape;294;p37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37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37"/>
          <p:cNvSpPr txBox="1"/>
          <p:nvPr/>
        </p:nvSpPr>
        <p:spPr>
          <a:xfrm>
            <a:off x="1370425" y="4568000"/>
            <a:ext cx="6869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PERFORMANCE INDICATORS WITH RESPECT TO GPI GROUND TRUTH OF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THE PREDICTION MODELS , FOR FIVE PEACEFUL COUNTRIES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97" name="Google Shape;2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50" y="908175"/>
            <a:ext cx="5567924" cy="37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 Groups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4" name="Google Shape;304;p38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38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38"/>
          <p:cNvSpPr txBox="1"/>
          <p:nvPr/>
        </p:nvSpPr>
        <p:spPr>
          <a:xfrm>
            <a:off x="1370425" y="4568000"/>
            <a:ext cx="6869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PERFORMANCE INDICATORS WITH RESPECT TO GPI GROUND TRUTH OF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THE PREDICTION MODELS , FOR FIVE </a:t>
            </a:r>
            <a:r>
              <a:rPr lang="en-GB" sz="1300">
                <a:latin typeface="Times"/>
                <a:ea typeface="Times"/>
                <a:cs typeface="Times"/>
                <a:sym typeface="Times"/>
              </a:rPr>
              <a:t>POWERFUL</a:t>
            </a:r>
            <a:r>
              <a:rPr lang="en-GB" sz="1300">
                <a:latin typeface="Times"/>
                <a:ea typeface="Times"/>
                <a:cs typeface="Times"/>
                <a:sym typeface="Times"/>
              </a:rPr>
              <a:t> COUNTRIES</a:t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7" name="Google Shape;3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650" y="857825"/>
            <a:ext cx="5625475" cy="37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</a:t>
            </a: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14" name="Google Shape;314;p39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39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6" name="Google Shape;3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575" y="908175"/>
            <a:ext cx="5507800" cy="37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</a:t>
            </a: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3" name="Google Shape;323;p40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40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5" name="Google Shape;3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688" y="908175"/>
            <a:ext cx="5799975" cy="3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</a:t>
            </a: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Results by Country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32" name="Google Shape;332;p41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41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4" name="Google Shape;33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825" y="952800"/>
            <a:ext cx="5854350" cy="38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2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Variable Importance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41" name="Google Shape;341;p42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42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3" name="Google Shape;3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600" y="908175"/>
            <a:ext cx="6763755" cy="3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3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Variable Importance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0" name="Google Shape;350;p43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43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2" name="Google Shape;3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600" y="908175"/>
            <a:ext cx="6763755" cy="3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Variable Importance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9" name="Google Shape;359;p44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44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1" name="Google Shape;3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075" y="908175"/>
            <a:ext cx="6735851" cy="38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8" name="Google Shape;368;p45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45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0" name="Google Shape;3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375" y="908175"/>
            <a:ext cx="597217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77" name="Google Shape;377;p46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46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9" name="Google Shape;37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400" y="908175"/>
            <a:ext cx="63150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86" name="Google Shape;386;p47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47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8" name="Google Shape;3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388" y="963900"/>
            <a:ext cx="597217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8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95" name="Google Shape;395;p48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48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975" y="924000"/>
            <a:ext cx="64770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9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Outlier Analysis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04" name="Google Shape;404;p49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49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6" name="Google Shape;4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975" y="924000"/>
            <a:ext cx="64770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0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Results: </a:t>
            </a:r>
            <a:r>
              <a:rPr b="1" lang="en-GB" sz="2500">
                <a:latin typeface="Times"/>
                <a:ea typeface="Times"/>
                <a:cs typeface="Times"/>
                <a:sym typeface="Times"/>
              </a:rPr>
              <a:t>Observation</a:t>
            </a:r>
            <a:endParaRPr b="1" sz="25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13" name="Google Shape;413;p50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50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50"/>
          <p:cNvSpPr txBox="1"/>
          <p:nvPr/>
        </p:nvSpPr>
        <p:spPr>
          <a:xfrm>
            <a:off x="553925" y="935175"/>
            <a:ext cx="8201700" cy="3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6" name="Google Shape;416;p50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GDELT provides the worlds’ new and categories(no of Event, Location and Tone)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GDELT captures real-time fluctuations effectively in cost effective and scalable manner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1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Limitation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23" name="Google Shape;423;p51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51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51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Media bias in GDELT database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Linear up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sampling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assumption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Future Research Directions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32" name="Google Shape;432;p52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52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52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Alternative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upsampling assumption/methods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Analyzing underrepresented countries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Integrate other conflict-related database like ACLED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Combine GDELT data to other social-media data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Extend the methodology to measure the additional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indices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like economic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stability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political stability, public health, environmental sustainability, 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many more.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Conclusion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41" name="Google Shape;441;p53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53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53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Random forest superiority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Importance of GDELT database for social good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➢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Real-time monitoring for policy-making/decision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making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for the societal measurements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4"/>
          <p:cNvSpPr txBox="1"/>
          <p:nvPr/>
        </p:nvSpPr>
        <p:spPr>
          <a:xfrm>
            <a:off x="704125" y="352450"/>
            <a:ext cx="8201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Times"/>
                <a:ea typeface="Times"/>
                <a:cs typeface="Times"/>
                <a:sym typeface="Times"/>
              </a:rPr>
              <a:t>References</a:t>
            </a:r>
            <a:endParaRPr b="1" sz="3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50" name="Google Shape;450;p54"/>
          <p:cNvCxnSpPr/>
          <p:nvPr/>
        </p:nvCxnSpPr>
        <p:spPr>
          <a:xfrm>
            <a:off x="726575" y="765475"/>
            <a:ext cx="8023800" cy="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54"/>
          <p:cNvSpPr txBox="1"/>
          <p:nvPr/>
        </p:nvSpPr>
        <p:spPr>
          <a:xfrm>
            <a:off x="582700" y="928000"/>
            <a:ext cx="81678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[1] M. Fleurbaey, “Beyond GDP: The quest for a measure of social welfare,” Journal of Economic literature, vol. 47, no. 4, pp. 1029–75, 2009.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[2] Organisation for Economic Co-operation and Development, How’s life?: measuring well-being. OECD Paris, 2011.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[3] V. Voukelatou, L. Gabrielli, I. Miliou, S. Cresci, R. Sharma, M. Tesconi, and L. Pappalardo, “Measuring objective and subjective well-being: dimensions and data sources,” International Journal of Data Science and Analytics, pp. 1–31, 2020.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[4] UNDP, “Sustainable Development Goals.”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https://sustainabledevelopment.un.org/sdgs, 2015.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[5] J. E. Stiglitz, A. Sen, and J.-P. Fitoussi, Mismeasuring our lives: Why GDP doesn’t add up. The New Press, 2010.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[6] S. Anand and A. Sen, “Human Development Index: Methodology and Measurement.,” 1994.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[7] Rapporto, BES, “Il benessere equo e sostenibile in Italia,” 2015. ISTAT.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[8] The Institute for Economics and Peace, “VISION of HUMANITY.” http: //visionofhumanity.org//, 2017.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[9] C. Melamed, L. Morales, Y. Hsu, J. Poole, B. Rae, I. Rutherford, and A. Jahic, “A World That Counts-Mobilising the Data Revolution for Sustainable Development,” United Nations. Accessed March, vol. 12, p. 2018, 2014.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[10] K. Leetaru, “The GDELT Project.” https://www.gdeltproject.org/, 2013.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[11] M. Brückner and A. Ciccone, “International commodity prices, growth and the outbreak of civil war in Sub-Saharan Africa,” The Economic Journal, vol. 120, no. 544, pp. 519–534, 2010.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Times"/>
                <a:ea typeface="Times"/>
                <a:cs typeface="Times"/>
                <a:sym typeface="Times"/>
              </a:rPr>
              <a:t>[12] P. Gries, A. Fox, Y. Jing, M. Mader, T. J. Scotto, and J. Reiﬂer, “A new measure of the ‘democratic peace’: what country feeling thermometer.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52" name="Google Shape;452;p54"/>
          <p:cNvCxnSpPr/>
          <p:nvPr/>
        </p:nvCxnSpPr>
        <p:spPr>
          <a:xfrm>
            <a:off x="548725" y="835775"/>
            <a:ext cx="8205900" cy="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