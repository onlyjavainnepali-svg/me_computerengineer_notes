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Hx6s2ueGejgoOUZ1q9FiRA==" hashData="Y3a1QDJVOsUDS6WJglEk1BnmPPQx3svQ3jZO4781rQSHjjBvT6IH+Td6uWAse4NhSXgem2eKE/N9uv4l2GgNJw=="/>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2C7E4B-08CC-46F9-A4C0-3D886663FA6D}" type="datetimeFigureOut">
              <a:rPr lang="en-US" smtClean="0"/>
              <a:t>4/5/2020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0CF420-41EE-41F7-8192-D703329A57EC}" type="slidenum">
              <a:rPr lang="en-US" smtClean="0"/>
              <a:t>‹#›</a:t>
            </a:fld>
            <a:endParaRPr lang="en-US"/>
          </a:p>
        </p:txBody>
      </p:sp>
    </p:spTree>
    <p:extLst>
      <p:ext uri="{BB962C8B-B14F-4D97-AF65-F5344CB8AC3E}">
        <p14:creationId xmlns:p14="http://schemas.microsoft.com/office/powerpoint/2010/main" val="3158288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smtClean="0">
                <a:solidFill>
                  <a:srgbClr val="222222"/>
                </a:solidFill>
                <a:effectLst/>
                <a:latin typeface="Arial" panose="020B0604020202020204" pitchFamily="34" charset="0"/>
              </a:rPr>
              <a:t>Flick, U. (2014). </a:t>
            </a:r>
            <a:r>
              <a:rPr lang="en-US" b="0" i="1" dirty="0" smtClean="0">
                <a:solidFill>
                  <a:srgbClr val="222222"/>
                </a:solidFill>
                <a:effectLst/>
                <a:latin typeface="Arial" panose="020B0604020202020204" pitchFamily="34" charset="0"/>
              </a:rPr>
              <a:t>An introduction to qualitative research</a:t>
            </a:r>
            <a:r>
              <a:rPr lang="en-US" b="0" i="0" dirty="0" smtClean="0">
                <a:solidFill>
                  <a:srgbClr val="222222"/>
                </a:solidFill>
                <a:effectLst/>
                <a:latin typeface="Arial" panose="020B0604020202020204" pitchFamily="34" charset="0"/>
              </a:rPr>
              <a:t>. Sage.</a:t>
            </a:r>
            <a:endParaRPr lang="en-US" dirty="0"/>
          </a:p>
        </p:txBody>
      </p:sp>
      <p:sp>
        <p:nvSpPr>
          <p:cNvPr id="4" name="Slide Number Placeholder 3"/>
          <p:cNvSpPr>
            <a:spLocks noGrp="1"/>
          </p:cNvSpPr>
          <p:nvPr>
            <p:ph type="sldNum" sz="quarter" idx="10"/>
          </p:nvPr>
        </p:nvSpPr>
        <p:spPr/>
        <p:txBody>
          <a:bodyPr/>
          <a:lstStyle/>
          <a:p>
            <a:fld id="{FA0CF420-41EE-41F7-8192-D703329A57EC}" type="slidenum">
              <a:rPr lang="en-US" smtClean="0"/>
              <a:t>1</a:t>
            </a:fld>
            <a:endParaRPr lang="en-US"/>
          </a:p>
        </p:txBody>
      </p:sp>
    </p:spTree>
    <p:extLst>
      <p:ext uri="{BB962C8B-B14F-4D97-AF65-F5344CB8AC3E}">
        <p14:creationId xmlns:p14="http://schemas.microsoft.com/office/powerpoint/2010/main" val="3241117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0CF420-41EE-41F7-8192-D703329A57EC}" type="slidenum">
              <a:rPr lang="en-US" smtClean="0"/>
              <a:t>25</a:t>
            </a:fld>
            <a:endParaRPr lang="en-US"/>
          </a:p>
        </p:txBody>
      </p:sp>
    </p:spTree>
    <p:extLst>
      <p:ext uri="{BB962C8B-B14F-4D97-AF65-F5344CB8AC3E}">
        <p14:creationId xmlns:p14="http://schemas.microsoft.com/office/powerpoint/2010/main" val="2163041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0CF420-41EE-41F7-8192-D703329A57EC}" type="slidenum">
              <a:rPr lang="en-US" smtClean="0"/>
              <a:t>53</a:t>
            </a:fld>
            <a:endParaRPr lang="en-US"/>
          </a:p>
        </p:txBody>
      </p:sp>
    </p:spTree>
    <p:extLst>
      <p:ext uri="{BB962C8B-B14F-4D97-AF65-F5344CB8AC3E}">
        <p14:creationId xmlns:p14="http://schemas.microsoft.com/office/powerpoint/2010/main" val="4227212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F4CE6EA-B2DD-43C0-ABB0-487401290614}" type="datetimeFigureOut">
              <a:rPr lang="en-US" smtClean="0"/>
              <a:t>4/5/2020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B3F10-D353-4C9D-B41D-899838BAC6E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4722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a:xfrm>
            <a:off x="553950" y="1452034"/>
            <a:ext cx="10058400" cy="402336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2F4CE6EA-B2DD-43C0-ABB0-487401290614}" type="datetimeFigureOut">
              <a:rPr lang="en-US" smtClean="0"/>
              <a:t>4/5/2020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B3F10-D353-4C9D-B41D-899838BAC6EF}" type="slidenum">
              <a:rPr lang="en-US" smtClean="0"/>
              <a:t>‹#›</a:t>
            </a:fld>
            <a:endParaRPr lang="en-US"/>
          </a:p>
        </p:txBody>
      </p:sp>
      <p:sp>
        <p:nvSpPr>
          <p:cNvPr id="8" name="Content Placeholder 7"/>
          <p:cNvSpPr>
            <a:spLocks noGrp="1"/>
          </p:cNvSpPr>
          <p:nvPr>
            <p:ph sz="quarter" idx="13"/>
          </p:nvPr>
        </p:nvSpPr>
        <p:spPr>
          <a:xfrm>
            <a:off x="10350500" y="6121400"/>
            <a:ext cx="9144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9073174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4CE6EA-B2DD-43C0-ABB0-487401290614}" type="datetimeFigureOut">
              <a:rPr lang="en-US" smtClean="0"/>
              <a:t>4/5/2020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B3F10-D353-4C9D-B41D-899838BAC6E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177736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F4CE6EA-B2DD-43C0-ABB0-487401290614}" type="datetimeFigureOut">
              <a:rPr lang="en-US" smtClean="0"/>
              <a:t>4/5/2020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B3F10-D353-4C9D-B41D-899838BAC6EF}" type="slidenum">
              <a:rPr lang="en-US" smtClean="0"/>
              <a:t>‹#›</a:t>
            </a:fld>
            <a:endParaRPr lang="en-US"/>
          </a:p>
        </p:txBody>
      </p:sp>
    </p:spTree>
    <p:extLst>
      <p:ext uri="{BB962C8B-B14F-4D97-AF65-F5344CB8AC3E}">
        <p14:creationId xmlns:p14="http://schemas.microsoft.com/office/powerpoint/2010/main" val="131327438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F4CE6EA-B2DD-43C0-ABB0-487401290614}" type="datetimeFigureOut">
              <a:rPr lang="en-US" smtClean="0"/>
              <a:t>4/5/2020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0B3F10-D353-4C9D-B41D-899838BAC6EF}" type="slidenum">
              <a:rPr lang="en-US" smtClean="0"/>
              <a:t>‹#›</a:t>
            </a:fld>
            <a:endParaRPr lang="en-US"/>
          </a:p>
        </p:txBody>
      </p:sp>
    </p:spTree>
    <p:extLst>
      <p:ext uri="{BB962C8B-B14F-4D97-AF65-F5344CB8AC3E}">
        <p14:creationId xmlns:p14="http://schemas.microsoft.com/office/powerpoint/2010/main" val="1042481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F4CE6EA-B2DD-43C0-ABB0-487401290614}" type="datetimeFigureOut">
              <a:rPr lang="en-US" smtClean="0"/>
              <a:t>4/5/2020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0B3F10-D353-4C9D-B41D-899838BAC6EF}" type="slidenum">
              <a:rPr lang="en-US" smtClean="0"/>
              <a:t>‹#›</a:t>
            </a:fld>
            <a:endParaRPr lang="en-US"/>
          </a:p>
        </p:txBody>
      </p:sp>
    </p:spTree>
    <p:extLst>
      <p:ext uri="{BB962C8B-B14F-4D97-AF65-F5344CB8AC3E}">
        <p14:creationId xmlns:p14="http://schemas.microsoft.com/office/powerpoint/2010/main" val="2784306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F4CE6EA-B2DD-43C0-ABB0-487401290614}" type="datetimeFigureOut">
              <a:rPr lang="en-US" smtClean="0"/>
              <a:t>4/5/2020</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40B3F10-D353-4C9D-B41D-899838BAC6EF}" type="slidenum">
              <a:rPr lang="en-US" smtClean="0"/>
              <a:t>‹#›</a:t>
            </a:fld>
            <a:endParaRPr lang="en-US"/>
          </a:p>
        </p:txBody>
      </p:sp>
    </p:spTree>
    <p:extLst>
      <p:ext uri="{BB962C8B-B14F-4D97-AF65-F5344CB8AC3E}">
        <p14:creationId xmlns:p14="http://schemas.microsoft.com/office/powerpoint/2010/main" val="1592440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F4CE6EA-B2DD-43C0-ABB0-487401290614}" type="datetimeFigureOut">
              <a:rPr lang="en-US" smtClean="0"/>
              <a:t>4/5/2020</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40B3F10-D353-4C9D-B41D-899838BAC6EF}" type="slidenum">
              <a:rPr lang="en-US" smtClean="0"/>
              <a:t>‹#›</a:t>
            </a:fld>
            <a:endParaRPr lang="en-US"/>
          </a:p>
        </p:txBody>
      </p:sp>
    </p:spTree>
    <p:extLst>
      <p:ext uri="{BB962C8B-B14F-4D97-AF65-F5344CB8AC3E}">
        <p14:creationId xmlns:p14="http://schemas.microsoft.com/office/powerpoint/2010/main" val="3540898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4CE6EA-B2DD-43C0-ABB0-487401290614}" type="datetimeFigureOut">
              <a:rPr lang="en-US" smtClean="0"/>
              <a:t>4/5/2020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B3F10-D353-4C9D-B41D-899838BAC6EF}" type="slidenum">
              <a:rPr lang="en-US" smtClean="0"/>
              <a:t>‹#›</a:t>
            </a:fld>
            <a:endParaRPr lang="en-US"/>
          </a:p>
        </p:txBody>
      </p:sp>
    </p:spTree>
    <p:extLst>
      <p:ext uri="{BB962C8B-B14F-4D97-AF65-F5344CB8AC3E}">
        <p14:creationId xmlns:p14="http://schemas.microsoft.com/office/powerpoint/2010/main" val="2568331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4CE6EA-B2DD-43C0-ABB0-487401290614}" type="datetimeFigureOut">
              <a:rPr lang="en-US" smtClean="0"/>
              <a:t>4/5/2020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B3F10-D353-4C9D-B41D-899838BAC6EF}" type="slidenum">
              <a:rPr lang="en-US" smtClean="0"/>
              <a:t>‹#›</a:t>
            </a:fld>
            <a:endParaRPr lang="en-US"/>
          </a:p>
        </p:txBody>
      </p:sp>
    </p:spTree>
    <p:extLst>
      <p:ext uri="{BB962C8B-B14F-4D97-AF65-F5344CB8AC3E}">
        <p14:creationId xmlns:p14="http://schemas.microsoft.com/office/powerpoint/2010/main" val="75746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4CE6EA-B2DD-43C0-ABB0-487401290614}" type="datetimeFigureOut">
              <a:rPr lang="en-US" smtClean="0"/>
              <a:t>4/5/2020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B3F10-D353-4C9D-B41D-899838BAC6EF}" type="slidenum">
              <a:rPr lang="en-US" smtClean="0"/>
              <a:t>‹#›</a:t>
            </a:fld>
            <a:endParaRPr lang="en-US"/>
          </a:p>
        </p:txBody>
      </p:sp>
    </p:spTree>
    <p:extLst>
      <p:ext uri="{BB962C8B-B14F-4D97-AF65-F5344CB8AC3E}">
        <p14:creationId xmlns:p14="http://schemas.microsoft.com/office/powerpoint/2010/main" val="3439494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F4CE6EA-B2DD-43C0-ABB0-487401290614}" type="datetimeFigureOut">
              <a:rPr lang="en-US" smtClean="0"/>
              <a:t>4/5/2020</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40B3F10-D353-4C9D-B41D-899838BAC6E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4666830" y="5810610"/>
            <a:ext cx="7525170" cy="523220"/>
          </a:xfrm>
          <a:prstGeom prst="rect">
            <a:avLst/>
          </a:prstGeom>
          <a:noFill/>
          <a:ln>
            <a:noFill/>
          </a:ln>
          <a:effectLst>
            <a:outerShdw blurRad="225425" dist="50800" dir="5220000" algn="ctr">
              <a:srgbClr val="000000">
                <a:alpha val="33000"/>
              </a:srgbClr>
            </a:outerShdw>
          </a:effectLst>
          <a:scene3d>
            <a:camera prst="orthographicFront"/>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p>
            <a:r>
              <a:rPr lang="en-US" sz="2800" dirty="0" smtClean="0">
                <a:solidFill>
                  <a:schemeClr val="bg1">
                    <a:lumMod val="75000"/>
                  </a:schemeClr>
                </a:solidFill>
              </a:rPr>
              <a:t>Barira Bakhtawar (Academic Presentation)</a:t>
            </a:r>
            <a:endParaRPr lang="en-US" sz="2800" dirty="0">
              <a:solidFill>
                <a:schemeClr val="bg1">
                  <a:lumMod val="75000"/>
                </a:schemeClr>
              </a:solidFill>
            </a:endParaRPr>
          </a:p>
        </p:txBody>
      </p:sp>
    </p:spTree>
    <p:extLst>
      <p:ext uri="{BB962C8B-B14F-4D97-AF65-F5344CB8AC3E}">
        <p14:creationId xmlns:p14="http://schemas.microsoft.com/office/powerpoint/2010/main" val="3824657153"/>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iming>
    <p:tnLst>
      <p:par>
        <p:cTn id="1" dur="indefinite" restart="never" nodeType="tmRoot"/>
      </p:par>
    </p:tnLst>
  </p:timing>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An Introduction to Qualitative Research</a:t>
            </a:r>
            <a:endParaRPr lang="en-US" dirty="0"/>
          </a:p>
        </p:txBody>
      </p:sp>
      <p:sp>
        <p:nvSpPr>
          <p:cNvPr id="3" name="Subtitle 2"/>
          <p:cNvSpPr>
            <a:spLocks noGrp="1"/>
          </p:cNvSpPr>
          <p:nvPr>
            <p:ph type="subTitle" idx="1"/>
          </p:nvPr>
        </p:nvSpPr>
        <p:spPr/>
        <p:txBody>
          <a:bodyPr>
            <a:normAutofit fontScale="92500" lnSpcReduction="10000"/>
          </a:bodyPr>
          <a:lstStyle/>
          <a:p>
            <a:r>
              <a:rPr lang="en-US" dirty="0" smtClean="0"/>
              <a:t>Flick</a:t>
            </a:r>
            <a:r>
              <a:rPr lang="en-US" dirty="0"/>
              <a:t>, U. (2014). </a:t>
            </a:r>
            <a:r>
              <a:rPr lang="en-US" i="1" dirty="0"/>
              <a:t>An introduction to qualitative research</a:t>
            </a:r>
            <a:r>
              <a:rPr lang="en-US" dirty="0"/>
              <a:t>. Sage.</a:t>
            </a:r>
            <a:endParaRPr lang="en-US" dirty="0" smtClean="0"/>
          </a:p>
          <a:p>
            <a:r>
              <a:rPr lang="en-US" dirty="0" smtClean="0"/>
              <a:t>Presented by: Barira </a:t>
            </a:r>
            <a:r>
              <a:rPr lang="en-US" dirty="0" smtClean="0"/>
              <a:t>Bakhtawar</a:t>
            </a:r>
            <a:endParaRPr lang="en-US" dirty="0" smtClean="0"/>
          </a:p>
          <a:p>
            <a:endParaRPr lang="en-US" dirty="0"/>
          </a:p>
        </p:txBody>
      </p:sp>
    </p:spTree>
    <p:extLst>
      <p:ext uri="{BB962C8B-B14F-4D97-AF65-F5344CB8AC3E}">
        <p14:creationId xmlns:p14="http://schemas.microsoft.com/office/powerpoint/2010/main" val="18936734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228600" lvl="0" indent="-228600">
              <a:spcBef>
                <a:spcPts val="1000"/>
              </a:spcBef>
            </a:pPr>
            <a:r>
              <a:rPr lang="en-US" sz="2400" dirty="0">
                <a:solidFill>
                  <a:prstClr val="black"/>
                </a:solidFill>
                <a:latin typeface="Calibri" panose="020F0502020204030204"/>
                <a:ea typeface="+mn-ea"/>
                <a:cs typeface="+mn-cs"/>
              </a:rPr>
              <a:t>Toulmin (1990) </a:t>
            </a:r>
            <a:r>
              <a:rPr lang="en-US" sz="2400" dirty="0" smtClean="0">
                <a:solidFill>
                  <a:prstClr val="black"/>
                </a:solidFill>
                <a:latin typeface="Calibri" panose="020F0502020204030204"/>
                <a:ea typeface="+mn-ea"/>
                <a:cs typeface="+mn-cs"/>
              </a:rPr>
              <a:t>four </a:t>
            </a:r>
            <a:r>
              <a:rPr lang="en-US" sz="2400" dirty="0">
                <a:solidFill>
                  <a:prstClr val="black"/>
                </a:solidFill>
                <a:latin typeface="Calibri" panose="020F0502020204030204"/>
                <a:ea typeface="+mn-ea"/>
                <a:cs typeface="+mn-cs"/>
              </a:rPr>
              <a:t>tendencies for empirical social research in philosophy and science as a way forward: </a:t>
            </a:r>
            <a:br>
              <a:rPr lang="en-US" sz="2400" dirty="0">
                <a:solidFill>
                  <a:prstClr val="black"/>
                </a:solidFill>
                <a:latin typeface="Calibri" panose="020F0502020204030204"/>
                <a:ea typeface="+mn-ea"/>
                <a:cs typeface="+mn-cs"/>
              </a:rPr>
            </a:br>
            <a:endParaRPr lang="en-US" dirty="0"/>
          </a:p>
        </p:txBody>
      </p:sp>
      <p:sp>
        <p:nvSpPr>
          <p:cNvPr id="3" name="Content Placeholder 2"/>
          <p:cNvSpPr>
            <a:spLocks noGrp="1"/>
          </p:cNvSpPr>
          <p:nvPr>
            <p:ph idx="1"/>
          </p:nvPr>
        </p:nvSpPr>
        <p:spPr/>
        <p:txBody>
          <a:bodyPr>
            <a:normAutofit/>
          </a:bodyPr>
          <a:lstStyle/>
          <a:p>
            <a:pPr>
              <a:lnSpc>
                <a:spcPct val="200000"/>
              </a:lnSpc>
              <a:buFont typeface="Wingdings" panose="05000000000000000000" pitchFamily="2" charset="2"/>
              <a:buChar char="q"/>
            </a:pPr>
            <a:r>
              <a:rPr lang="en-US" dirty="0" smtClean="0"/>
              <a:t> the return to the oral </a:t>
            </a:r>
          </a:p>
          <a:p>
            <a:pPr>
              <a:lnSpc>
                <a:spcPct val="200000"/>
              </a:lnSpc>
              <a:buFont typeface="Wingdings" panose="05000000000000000000" pitchFamily="2" charset="2"/>
              <a:buChar char="q"/>
            </a:pPr>
            <a:r>
              <a:rPr lang="en-US" dirty="0" smtClean="0"/>
              <a:t> the return to the particular</a:t>
            </a:r>
          </a:p>
          <a:p>
            <a:pPr>
              <a:lnSpc>
                <a:spcPct val="200000"/>
              </a:lnSpc>
              <a:buFont typeface="Wingdings" panose="05000000000000000000" pitchFamily="2" charset="2"/>
              <a:buChar char="q"/>
            </a:pPr>
            <a:r>
              <a:rPr lang="en-US" dirty="0" smtClean="0"/>
              <a:t> the return to the local</a:t>
            </a:r>
          </a:p>
          <a:p>
            <a:pPr>
              <a:lnSpc>
                <a:spcPct val="200000"/>
              </a:lnSpc>
              <a:buFont typeface="Wingdings" panose="05000000000000000000" pitchFamily="2" charset="2"/>
              <a:buChar char="q"/>
            </a:pPr>
            <a:r>
              <a:rPr lang="en-US" dirty="0" smtClean="0"/>
              <a:t> the return to the timely. </a:t>
            </a:r>
            <a:endParaRPr lang="en-US" dirty="0"/>
          </a:p>
        </p:txBody>
      </p:sp>
    </p:spTree>
    <p:extLst>
      <p:ext uri="{BB962C8B-B14F-4D97-AF65-F5344CB8AC3E}">
        <p14:creationId xmlns:p14="http://schemas.microsoft.com/office/powerpoint/2010/main" val="5440130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950" y="-7682"/>
            <a:ext cx="10058400" cy="1450757"/>
          </a:xfrm>
        </p:spPr>
        <p:txBody>
          <a:bodyPr>
            <a:normAutofit/>
          </a:bodyPr>
          <a:lstStyle/>
          <a:p>
            <a:r>
              <a:rPr lang="en-US" dirty="0"/>
              <a:t>Integration of Qualitative and Quantitative Research </a:t>
            </a:r>
          </a:p>
        </p:txBody>
      </p:sp>
      <p:sp>
        <p:nvSpPr>
          <p:cNvPr id="3" name="Content Placeholder 2"/>
          <p:cNvSpPr>
            <a:spLocks noGrp="1"/>
          </p:cNvSpPr>
          <p:nvPr>
            <p:ph idx="1"/>
          </p:nvPr>
        </p:nvSpPr>
        <p:spPr/>
        <p:txBody>
          <a:bodyPr/>
          <a:lstStyle/>
          <a:p>
            <a:r>
              <a:rPr lang="en-US" dirty="0"/>
              <a:t>Miles and Huberman (1994, p. 41) outline four types of designs for integrating both approaches in one design </a:t>
            </a:r>
            <a:endParaRPr lang="en-US" dirty="0" smtClean="0"/>
          </a:p>
          <a:p>
            <a:endParaRPr lang="en-US" dirty="0"/>
          </a:p>
        </p:txBody>
      </p:sp>
      <p:pic>
        <p:nvPicPr>
          <p:cNvPr id="4" name="Picture 3"/>
          <p:cNvPicPr>
            <a:picLocks noChangeAspect="1"/>
          </p:cNvPicPr>
          <p:nvPr/>
        </p:nvPicPr>
        <p:blipFill rotWithShape="1">
          <a:blip r:embed="rId2"/>
          <a:srcRect l="15952" t="27789" r="24843" b="15064"/>
          <a:stretch/>
        </p:blipFill>
        <p:spPr>
          <a:xfrm>
            <a:off x="810677" y="2120896"/>
            <a:ext cx="8442505" cy="3815880"/>
          </a:xfrm>
          <a:prstGeom prst="rect">
            <a:avLst/>
          </a:prstGeom>
          <a:solidFill>
            <a:schemeClr val="tx1"/>
          </a:solidFill>
        </p:spPr>
      </p:pic>
    </p:spTree>
    <p:extLst>
      <p:ext uri="{BB962C8B-B14F-4D97-AF65-F5344CB8AC3E}">
        <p14:creationId xmlns:p14="http://schemas.microsoft.com/office/powerpoint/2010/main" val="7325669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dirty="0"/>
              <a:t>In the first design, both strategies are pursued in parallel. </a:t>
            </a:r>
            <a:endParaRPr lang="en-US" dirty="0" smtClean="0"/>
          </a:p>
          <a:p>
            <a:pPr>
              <a:buFont typeface="Wingdings" panose="05000000000000000000" pitchFamily="2" charset="2"/>
              <a:buChar char="q"/>
            </a:pPr>
            <a:r>
              <a:rPr lang="en-US" dirty="0" smtClean="0"/>
              <a:t>Continuous </a:t>
            </a:r>
            <a:r>
              <a:rPr lang="en-US" dirty="0"/>
              <a:t>observation of the field provides a basis on which, in a survey, the several waves are related or from which these waves are derived and shaped in the second design. </a:t>
            </a:r>
            <a:endParaRPr lang="en-US" dirty="0" smtClean="0"/>
          </a:p>
          <a:p>
            <a:pPr>
              <a:buFont typeface="Wingdings" panose="05000000000000000000" pitchFamily="2" charset="2"/>
              <a:buChar char="q"/>
            </a:pPr>
            <a:r>
              <a:rPr lang="en-US" dirty="0"/>
              <a:t>The third combination begins with a qualitative method, a semi-structured interview that is followed by a questionnaire study as an intermediate step before the results from both steps are deepened and assessed in a second qualitative phase. </a:t>
            </a:r>
            <a:endParaRPr lang="en-US" dirty="0" smtClean="0"/>
          </a:p>
          <a:p>
            <a:pPr>
              <a:buFont typeface="Wingdings" panose="05000000000000000000" pitchFamily="2" charset="2"/>
              <a:buChar char="q"/>
            </a:pPr>
            <a:r>
              <a:rPr lang="en-US" dirty="0"/>
              <a:t>In the fourth design, a complementary field study adds more depth to the results of a survey in the first step and is followed by an experimental intervention in the field for testing the results of the first two steps. </a:t>
            </a:r>
          </a:p>
        </p:txBody>
      </p:sp>
    </p:spTree>
    <p:extLst>
      <p:ext uri="{BB962C8B-B14F-4D97-AF65-F5344CB8AC3E}">
        <p14:creationId xmlns:p14="http://schemas.microsoft.com/office/powerpoint/2010/main" val="42760860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Triangulation of Qualitative and Quantitative Research </a:t>
            </a:r>
          </a:p>
        </p:txBody>
      </p:sp>
      <p:pic>
        <p:nvPicPr>
          <p:cNvPr id="4" name="Content Placeholder 3"/>
          <p:cNvPicPr>
            <a:picLocks noGrp="1" noChangeAspect="1"/>
          </p:cNvPicPr>
          <p:nvPr>
            <p:ph idx="1"/>
          </p:nvPr>
        </p:nvPicPr>
        <p:blipFill rotWithShape="1">
          <a:blip r:embed="rId2"/>
          <a:srcRect l="26075" t="17617" r="21761" b="27222"/>
          <a:stretch/>
        </p:blipFill>
        <p:spPr>
          <a:xfrm>
            <a:off x="1505243" y="1737360"/>
            <a:ext cx="6791126" cy="4225165"/>
          </a:xfrm>
          <a:prstGeom prst="rect">
            <a:avLst/>
          </a:prstGeom>
        </p:spPr>
      </p:pic>
    </p:spTree>
    <p:extLst>
      <p:ext uri="{BB962C8B-B14F-4D97-AF65-F5344CB8AC3E}">
        <p14:creationId xmlns:p14="http://schemas.microsoft.com/office/powerpoint/2010/main" val="10317153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Linking Qualitative and Quantitative Results </a:t>
            </a:r>
          </a:p>
        </p:txBody>
      </p:sp>
      <p:sp>
        <p:nvSpPr>
          <p:cNvPr id="3" name="Content Placeholder 2"/>
          <p:cNvSpPr>
            <a:spLocks noGrp="1"/>
          </p:cNvSpPr>
          <p:nvPr>
            <p:ph idx="1"/>
          </p:nvPr>
        </p:nvSpPr>
        <p:spPr>
          <a:xfrm>
            <a:off x="1097280" y="2107127"/>
            <a:ext cx="10058400" cy="4023360"/>
          </a:xfrm>
        </p:spPr>
        <p:txBody>
          <a:bodyPr/>
          <a:lstStyle/>
          <a:p>
            <a:pPr>
              <a:lnSpc>
                <a:spcPct val="150000"/>
              </a:lnSpc>
            </a:pPr>
            <a:r>
              <a:rPr lang="en-US" dirty="0"/>
              <a:t>More often combinations of both approaches are established by linking the results of qualitative and quantitative research in the same project or different projects, one after the other or at the same time. This combination can be pursued with different aims: </a:t>
            </a:r>
          </a:p>
          <a:p>
            <a:pPr>
              <a:lnSpc>
                <a:spcPct val="150000"/>
              </a:lnSpc>
            </a:pPr>
            <a:r>
              <a:rPr lang="en-US" dirty="0"/>
              <a:t>• to obtain knowledge about the issue of the study which is broader than the single approach provided; or </a:t>
            </a:r>
            <a:endParaRPr lang="en-US" dirty="0" smtClean="0"/>
          </a:p>
          <a:p>
            <a:pPr>
              <a:lnSpc>
                <a:spcPct val="150000"/>
              </a:lnSpc>
            </a:pPr>
            <a:r>
              <a:rPr lang="en-US" dirty="0" smtClean="0"/>
              <a:t>• </a:t>
            </a:r>
            <a:r>
              <a:rPr lang="en-US" dirty="0"/>
              <a:t>to mutually validate the findings of both approaches. </a:t>
            </a:r>
          </a:p>
        </p:txBody>
      </p:sp>
    </p:spTree>
    <p:extLst>
      <p:ext uri="{BB962C8B-B14F-4D97-AF65-F5344CB8AC3E}">
        <p14:creationId xmlns:p14="http://schemas.microsoft.com/office/powerpoint/2010/main" val="32731902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Basically, three sorts of outcomes of this combination (see </a:t>
            </a:r>
            <a:r>
              <a:rPr lang="en-US" dirty="0" err="1"/>
              <a:t>Kelle</a:t>
            </a:r>
            <a:r>
              <a:rPr lang="en-US" dirty="0"/>
              <a:t> and </a:t>
            </a:r>
            <a:r>
              <a:rPr lang="en-US" dirty="0" err="1"/>
              <a:t>Erzberger</a:t>
            </a:r>
            <a:r>
              <a:rPr lang="en-US" dirty="0"/>
              <a:t> 2004) may result: </a:t>
            </a:r>
          </a:p>
        </p:txBody>
      </p:sp>
      <p:sp>
        <p:nvSpPr>
          <p:cNvPr id="3" name="Content Placeholder 2"/>
          <p:cNvSpPr>
            <a:spLocks noGrp="1"/>
          </p:cNvSpPr>
          <p:nvPr>
            <p:ph idx="1"/>
          </p:nvPr>
        </p:nvSpPr>
        <p:spPr>
          <a:xfrm>
            <a:off x="1104293" y="2662519"/>
            <a:ext cx="8946541" cy="4195481"/>
          </a:xfrm>
        </p:spPr>
        <p:txBody>
          <a:bodyPr/>
          <a:lstStyle/>
          <a:p>
            <a:r>
              <a:rPr lang="en-US" dirty="0" smtClean="0"/>
              <a:t>1. </a:t>
            </a:r>
            <a:r>
              <a:rPr lang="en-US" dirty="0"/>
              <a:t>qualitative and quantitative results converge, mutually confirm, and support the same conclusions; </a:t>
            </a:r>
            <a:endParaRPr lang="en-US" dirty="0" smtClean="0"/>
          </a:p>
          <a:p>
            <a:r>
              <a:rPr lang="en-US" dirty="0" smtClean="0"/>
              <a:t>2. </a:t>
            </a:r>
            <a:r>
              <a:rPr lang="en-US" dirty="0"/>
              <a:t>both results focus different aspects of an issue (e.g., subjective meanings of a specific illness and its social distribution in the population), but are complementary to each other and lead to a fuller picture; </a:t>
            </a:r>
            <a:endParaRPr lang="en-US" dirty="0" smtClean="0"/>
          </a:p>
          <a:p>
            <a:r>
              <a:rPr lang="en-US" dirty="0" smtClean="0"/>
              <a:t>3. </a:t>
            </a:r>
            <a:r>
              <a:rPr lang="en-US" dirty="0"/>
              <a:t>qualitative and quantitative results are divergent or contradictory. </a:t>
            </a:r>
          </a:p>
        </p:txBody>
      </p:sp>
    </p:spTree>
    <p:extLst>
      <p:ext uri="{BB962C8B-B14F-4D97-AF65-F5344CB8AC3E}">
        <p14:creationId xmlns:p14="http://schemas.microsoft.com/office/powerpoint/2010/main" val="24959894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of Ethics</a:t>
            </a:r>
            <a:endParaRPr lang="en-US" dirty="0"/>
          </a:p>
        </p:txBody>
      </p:sp>
      <p:sp>
        <p:nvSpPr>
          <p:cNvPr id="3" name="Content Placeholder 2"/>
          <p:cNvSpPr>
            <a:spLocks noGrp="1"/>
          </p:cNvSpPr>
          <p:nvPr>
            <p:ph idx="1"/>
          </p:nvPr>
        </p:nvSpPr>
        <p:spPr>
          <a:xfrm>
            <a:off x="1097280" y="2079831"/>
            <a:ext cx="10058400" cy="4023360"/>
          </a:xfrm>
        </p:spPr>
        <p:txBody>
          <a:bodyPr/>
          <a:lstStyle/>
          <a:p>
            <a:r>
              <a:rPr lang="en-US" dirty="0"/>
              <a:t>Murphy and </a:t>
            </a:r>
            <a:r>
              <a:rPr lang="en-US" dirty="0" err="1"/>
              <a:t>Dingwall</a:t>
            </a:r>
            <a:r>
              <a:rPr lang="en-US" dirty="0"/>
              <a:t> speak of "ethical theory" in this context, which they see linked to four issues: </a:t>
            </a:r>
          </a:p>
          <a:p>
            <a:r>
              <a:rPr lang="en-US" dirty="0"/>
              <a:t>Non-maleficence - researchers should avoid harming participants. Beneficence - research on human subjects should produce some positive and identifiable benefit rather than simply be carried out for its own sake. Autonomy or self-determination - research participants' values and decisions should be respected. Justice - all people should be treated equally. (2001, p. 339) </a:t>
            </a:r>
          </a:p>
        </p:txBody>
      </p:sp>
    </p:spTree>
    <p:extLst>
      <p:ext uri="{BB962C8B-B14F-4D97-AF65-F5344CB8AC3E}">
        <p14:creationId xmlns:p14="http://schemas.microsoft.com/office/powerpoint/2010/main" val="13251051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a:t>
            </a:r>
            <a:r>
              <a:rPr lang="en-US" dirty="0" smtClean="0"/>
              <a:t>everal </a:t>
            </a:r>
            <a:r>
              <a:rPr lang="en-US" dirty="0"/>
              <a:t>forms of literature in a qualitative study</a:t>
            </a:r>
          </a:p>
        </p:txBody>
      </p:sp>
      <p:sp>
        <p:nvSpPr>
          <p:cNvPr id="3" name="Content Placeholder 2"/>
          <p:cNvSpPr>
            <a:spLocks noGrp="1"/>
          </p:cNvSpPr>
          <p:nvPr>
            <p:ph idx="1"/>
          </p:nvPr>
        </p:nvSpPr>
        <p:spPr>
          <a:xfrm>
            <a:off x="1097280" y="2161718"/>
            <a:ext cx="10058400" cy="4023360"/>
          </a:xfrm>
        </p:spPr>
        <p:txBody>
          <a:bodyPr/>
          <a:lstStyle/>
          <a:p>
            <a:r>
              <a:rPr lang="en-US" dirty="0"/>
              <a:t>• theoretical literature about the topic of your study; </a:t>
            </a:r>
            <a:endParaRPr lang="en-US" dirty="0" smtClean="0"/>
          </a:p>
          <a:p>
            <a:r>
              <a:rPr lang="en-US" dirty="0" smtClean="0"/>
              <a:t>• </a:t>
            </a:r>
            <a:r>
              <a:rPr lang="en-US" dirty="0"/>
              <a:t>empirical literature about earlier research in the field of your study or similar fields</a:t>
            </a:r>
            <a:r>
              <a:rPr lang="en-US" dirty="0" smtClean="0"/>
              <a:t>;</a:t>
            </a:r>
          </a:p>
          <a:p>
            <a:r>
              <a:rPr lang="en-US" dirty="0" smtClean="0"/>
              <a:t> </a:t>
            </a:r>
            <a:r>
              <a:rPr lang="en-US" dirty="0"/>
              <a:t>• </a:t>
            </a:r>
            <a:r>
              <a:rPr lang="en-US" dirty="0" smtClean="0"/>
              <a:t>methodological </a:t>
            </a:r>
            <a:r>
              <a:rPr lang="en-US" dirty="0"/>
              <a:t>literature about how to do your research and how to use the methods you chose; </a:t>
            </a:r>
            <a:endParaRPr lang="en-US" dirty="0" smtClean="0"/>
          </a:p>
          <a:p>
            <a:r>
              <a:rPr lang="en-US" dirty="0" smtClean="0"/>
              <a:t>• </a:t>
            </a:r>
            <a:r>
              <a:rPr lang="en-US" dirty="0"/>
              <a:t>theoretical and empirical literature to contextualize, compare, and generalize your findings. </a:t>
            </a:r>
          </a:p>
        </p:txBody>
      </p:sp>
    </p:spTree>
    <p:extLst>
      <p:ext uri="{BB962C8B-B14F-4D97-AF65-F5344CB8AC3E}">
        <p14:creationId xmlns:p14="http://schemas.microsoft.com/office/powerpoint/2010/main" val="20284341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Strauss and Corbin (1998, pp. 49-52) list several ways of using the literature: </a:t>
            </a:r>
            <a:br>
              <a:rPr lang="en-US" dirty="0"/>
            </a:br>
            <a:endParaRPr lang="en-US" dirty="0"/>
          </a:p>
        </p:txBody>
      </p:sp>
      <p:sp>
        <p:nvSpPr>
          <p:cNvPr id="3" name="Content Placeholder 2"/>
          <p:cNvSpPr>
            <a:spLocks noGrp="1"/>
          </p:cNvSpPr>
          <p:nvPr>
            <p:ph idx="1"/>
          </p:nvPr>
        </p:nvSpPr>
        <p:spPr>
          <a:xfrm>
            <a:off x="676780" y="1737360"/>
            <a:ext cx="10058400" cy="4023360"/>
          </a:xfrm>
        </p:spPr>
        <p:txBody>
          <a:bodyPr>
            <a:normAutofit fontScale="92500" lnSpcReduction="10000"/>
          </a:bodyPr>
          <a:lstStyle/>
          <a:p>
            <a:pPr>
              <a:lnSpc>
                <a:spcPct val="150000"/>
              </a:lnSpc>
              <a:buFont typeface="Wingdings" panose="05000000000000000000" pitchFamily="2" charset="2"/>
              <a:buChar char="q"/>
            </a:pPr>
            <a:r>
              <a:rPr lang="en-US" dirty="0"/>
              <a:t>1 Concepts from the literature can be a source for making comparisons in data you have collected. </a:t>
            </a:r>
            <a:endParaRPr lang="en-US" dirty="0" smtClean="0"/>
          </a:p>
          <a:p>
            <a:pPr>
              <a:lnSpc>
                <a:spcPct val="150000"/>
              </a:lnSpc>
              <a:buFont typeface="Wingdings" panose="05000000000000000000" pitchFamily="2" charset="2"/>
              <a:buChar char="q"/>
            </a:pPr>
            <a:r>
              <a:rPr lang="en-US" dirty="0" smtClean="0"/>
              <a:t>2 </a:t>
            </a:r>
            <a:r>
              <a:rPr lang="en-US" dirty="0"/>
              <a:t>To be familiar with the relevant literature can enhance sensitivity to subtle nuances in data. </a:t>
            </a:r>
            <a:endParaRPr lang="en-US" dirty="0" smtClean="0"/>
          </a:p>
          <a:p>
            <a:pPr>
              <a:lnSpc>
                <a:spcPct val="150000"/>
              </a:lnSpc>
              <a:buFont typeface="Wingdings" panose="05000000000000000000" pitchFamily="2" charset="2"/>
              <a:buChar char="q"/>
            </a:pPr>
            <a:r>
              <a:rPr lang="en-US" dirty="0" smtClean="0"/>
              <a:t>3 </a:t>
            </a:r>
            <a:r>
              <a:rPr lang="en-US" dirty="0"/>
              <a:t>Published descriptive materials can give accurate descriptions of reality helpful for understanding your own material. </a:t>
            </a:r>
            <a:endParaRPr lang="en-US" dirty="0" smtClean="0"/>
          </a:p>
          <a:p>
            <a:pPr>
              <a:lnSpc>
                <a:spcPct val="150000"/>
              </a:lnSpc>
              <a:buFont typeface="Wingdings" panose="05000000000000000000" pitchFamily="2" charset="2"/>
              <a:buChar char="q"/>
            </a:pPr>
            <a:r>
              <a:rPr lang="en-US" dirty="0" smtClean="0"/>
              <a:t>4 </a:t>
            </a:r>
            <a:r>
              <a:rPr lang="en-US" dirty="0"/>
              <a:t>Existing philosophical and theoretical knowledge can inspire you and give you an orientation in the field and </a:t>
            </a:r>
            <a:r>
              <a:rPr lang="en-US" dirty="0" smtClean="0"/>
              <a:t>material</a:t>
            </a:r>
            <a:endParaRPr lang="en-US" dirty="0"/>
          </a:p>
        </p:txBody>
      </p:sp>
    </p:spTree>
    <p:extLst>
      <p:ext uri="{BB962C8B-B14F-4D97-AF65-F5344CB8AC3E}">
        <p14:creationId xmlns:p14="http://schemas.microsoft.com/office/powerpoint/2010/main" val="7728795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1737360"/>
            <a:ext cx="10058400" cy="4023360"/>
          </a:xfrm>
        </p:spPr>
        <p:txBody>
          <a:bodyPr>
            <a:normAutofit fontScale="92500"/>
          </a:bodyPr>
          <a:lstStyle/>
          <a:p>
            <a:pPr>
              <a:lnSpc>
                <a:spcPct val="150000"/>
              </a:lnSpc>
              <a:buFont typeface="Wingdings" panose="05000000000000000000" pitchFamily="2" charset="2"/>
              <a:buChar char="q"/>
            </a:pPr>
            <a:r>
              <a:rPr lang="en-US" dirty="0"/>
              <a:t>. 5 The literature can be a secondary source of data—for example, quotations from interviews in articles may complement your own materials. </a:t>
            </a:r>
            <a:endParaRPr lang="en-US" dirty="0" smtClean="0"/>
          </a:p>
          <a:p>
            <a:pPr>
              <a:lnSpc>
                <a:spcPct val="150000"/>
              </a:lnSpc>
              <a:buFont typeface="Wingdings" panose="05000000000000000000" pitchFamily="2" charset="2"/>
              <a:buChar char="q"/>
            </a:pPr>
            <a:r>
              <a:rPr lang="en-US" dirty="0" smtClean="0"/>
              <a:t>6 </a:t>
            </a:r>
            <a:r>
              <a:rPr lang="en-US" dirty="0"/>
              <a:t>The literature can be used beforehand to formulate questions that help you as a springboard in early interviews and observations. </a:t>
            </a:r>
            <a:endParaRPr lang="en-US" dirty="0" smtClean="0"/>
          </a:p>
          <a:p>
            <a:pPr>
              <a:lnSpc>
                <a:spcPct val="150000"/>
              </a:lnSpc>
              <a:buFont typeface="Wingdings" panose="05000000000000000000" pitchFamily="2" charset="2"/>
              <a:buChar char="q"/>
            </a:pPr>
            <a:r>
              <a:rPr lang="en-US" dirty="0" smtClean="0"/>
              <a:t>7 </a:t>
            </a:r>
            <a:r>
              <a:rPr lang="en-US" dirty="0"/>
              <a:t>The literature may stimulate questions while you analyze your material. </a:t>
            </a:r>
            <a:endParaRPr lang="en-US" dirty="0" smtClean="0"/>
          </a:p>
          <a:p>
            <a:pPr>
              <a:lnSpc>
                <a:spcPct val="150000"/>
              </a:lnSpc>
              <a:buFont typeface="Wingdings" panose="05000000000000000000" pitchFamily="2" charset="2"/>
              <a:buChar char="q"/>
            </a:pPr>
            <a:r>
              <a:rPr lang="en-US" dirty="0" smtClean="0"/>
              <a:t>8 </a:t>
            </a:r>
            <a:r>
              <a:rPr lang="en-US" dirty="0"/>
              <a:t>Areas for theoretical sampling can be suggested by the literature. </a:t>
            </a:r>
            <a:endParaRPr lang="en-US" dirty="0" smtClean="0"/>
          </a:p>
          <a:p>
            <a:pPr>
              <a:lnSpc>
                <a:spcPct val="150000"/>
              </a:lnSpc>
              <a:buFont typeface="Wingdings" panose="05000000000000000000" pitchFamily="2" charset="2"/>
              <a:buChar char="q"/>
            </a:pPr>
            <a:r>
              <a:rPr lang="en-US" dirty="0" smtClean="0"/>
              <a:t>9 </a:t>
            </a:r>
            <a:r>
              <a:rPr lang="en-US" dirty="0"/>
              <a:t>The literature can be used for confirming findings or can be overcome by your findings.</a:t>
            </a:r>
          </a:p>
          <a:p>
            <a:endParaRPr lang="en-US" dirty="0"/>
          </a:p>
        </p:txBody>
      </p:sp>
    </p:spTree>
    <p:extLst>
      <p:ext uri="{BB962C8B-B14F-4D97-AF65-F5344CB8AC3E}">
        <p14:creationId xmlns:p14="http://schemas.microsoft.com/office/powerpoint/2010/main" val="38302175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1965278"/>
            <a:ext cx="10058400" cy="3619298"/>
          </a:xfrm>
        </p:spPr>
        <p:txBody>
          <a:bodyPr/>
          <a:lstStyle/>
          <a:p>
            <a:r>
              <a:rPr lang="en-US" dirty="0"/>
              <a:t> Hart gives a concise definition about a literature reviews contents: </a:t>
            </a:r>
          </a:p>
          <a:p>
            <a:pPr>
              <a:lnSpc>
                <a:spcPct val="200000"/>
              </a:lnSpc>
            </a:pPr>
            <a:r>
              <a:rPr lang="en-US" dirty="0"/>
              <a:t>The selection of available documents (both published and unpublished) on the topic, which contain information, ideas, data, and evidence written from a particular standpoint to fulfill certain aims or express certain views on the nature of the topic and how it is to be investigated, and the effective evaluation of these documents in relation to the research being proposed. (1998, p. 13) </a:t>
            </a:r>
          </a:p>
        </p:txBody>
      </p:sp>
    </p:spTree>
    <p:extLst>
      <p:ext uri="{BB962C8B-B14F-4D97-AF65-F5344CB8AC3E}">
        <p14:creationId xmlns:p14="http://schemas.microsoft.com/office/powerpoint/2010/main" val="34006704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Research Perspectives in the Field of Qualitative Research </a:t>
            </a:r>
          </a:p>
        </p:txBody>
      </p:sp>
      <p:sp>
        <p:nvSpPr>
          <p:cNvPr id="3" name="Content Placeholder 2"/>
          <p:cNvSpPr>
            <a:spLocks noGrp="1"/>
          </p:cNvSpPr>
          <p:nvPr>
            <p:ph idx="1"/>
          </p:nvPr>
        </p:nvSpPr>
        <p:spPr>
          <a:xfrm>
            <a:off x="1097280" y="1875115"/>
            <a:ext cx="10058400" cy="4023360"/>
          </a:xfrm>
        </p:spPr>
        <p:txBody>
          <a:bodyPr>
            <a:normAutofit fontScale="92500"/>
          </a:bodyPr>
          <a:lstStyle/>
          <a:p>
            <a:r>
              <a:rPr lang="en-US" dirty="0" smtClean="0"/>
              <a:t>1. Subjective </a:t>
            </a:r>
            <a:r>
              <a:rPr lang="en-US" dirty="0"/>
              <a:t>Meaning: Symbolic Interactionism </a:t>
            </a:r>
            <a:endParaRPr lang="en-US" dirty="0" smtClean="0"/>
          </a:p>
          <a:p>
            <a:pPr marL="0" indent="0">
              <a:buNone/>
            </a:pPr>
            <a:r>
              <a:rPr lang="en-US" dirty="0"/>
              <a:t> </a:t>
            </a:r>
            <a:r>
              <a:rPr lang="en-US" dirty="0" err="1"/>
              <a:t>Blumer</a:t>
            </a:r>
            <a:r>
              <a:rPr lang="en-US" dirty="0"/>
              <a:t> summarizes the starting points of symbolic interactionism as "three simple premises": </a:t>
            </a:r>
          </a:p>
          <a:p>
            <a:pPr marL="0" indent="0">
              <a:lnSpc>
                <a:spcPct val="200000"/>
              </a:lnSpc>
              <a:buNone/>
            </a:pPr>
            <a:r>
              <a:rPr lang="en-US" dirty="0"/>
              <a:t>The first premise is that human beings act toward things on the basis of the meanings that the things have for them ... . The second premise is that the meaning of such things is derived from, or arises out of, the social interaction that one has with one's fellows. The third premise is that these meanings are handled in, and modified through, an interpretative process used by the person in dealing with the things he encounters. (1969, p. 2) </a:t>
            </a:r>
          </a:p>
        </p:txBody>
      </p:sp>
    </p:spTree>
    <p:extLst>
      <p:ext uri="{BB962C8B-B14F-4D97-AF65-F5344CB8AC3E}">
        <p14:creationId xmlns:p14="http://schemas.microsoft.com/office/powerpoint/2010/main" val="36328093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Research Perspectives in the Field of Qualitative Research </a:t>
            </a:r>
          </a:p>
        </p:txBody>
      </p:sp>
      <p:sp>
        <p:nvSpPr>
          <p:cNvPr id="3" name="Content Placeholder 2"/>
          <p:cNvSpPr>
            <a:spLocks noGrp="1"/>
          </p:cNvSpPr>
          <p:nvPr>
            <p:ph idx="1"/>
          </p:nvPr>
        </p:nvSpPr>
        <p:spPr>
          <a:xfrm>
            <a:off x="1097280" y="2066183"/>
            <a:ext cx="10058400" cy="4023360"/>
          </a:xfrm>
        </p:spPr>
        <p:txBody>
          <a:bodyPr>
            <a:normAutofit/>
          </a:bodyPr>
          <a:lstStyle/>
          <a:p>
            <a:r>
              <a:rPr lang="en-US" dirty="0" smtClean="0"/>
              <a:t>2. The </a:t>
            </a:r>
            <a:r>
              <a:rPr lang="en-US" dirty="0"/>
              <a:t>Making of Social Realities: Ethnomethodology </a:t>
            </a:r>
            <a:endParaRPr lang="en-US" dirty="0" smtClean="0"/>
          </a:p>
          <a:p>
            <a:pPr marL="0" indent="0">
              <a:buNone/>
            </a:pPr>
            <a:r>
              <a:rPr lang="en-US" dirty="0" smtClean="0"/>
              <a:t>Harold </a:t>
            </a:r>
            <a:r>
              <a:rPr lang="en-US" dirty="0" err="1" smtClean="0"/>
              <a:t>Garfinkel</a:t>
            </a:r>
            <a:r>
              <a:rPr lang="en-US" dirty="0" smtClean="0"/>
              <a:t> </a:t>
            </a:r>
            <a:r>
              <a:rPr lang="en-US" dirty="0"/>
              <a:t>is the founder of this school</a:t>
            </a:r>
            <a:r>
              <a:rPr lang="en-US" dirty="0" smtClean="0"/>
              <a:t>.</a:t>
            </a:r>
          </a:p>
          <a:p>
            <a:pPr marL="0" indent="0">
              <a:lnSpc>
                <a:spcPct val="150000"/>
              </a:lnSpc>
              <a:buNone/>
            </a:pPr>
            <a:r>
              <a:rPr lang="en-US" dirty="0" err="1"/>
              <a:t>Ethnomethodological</a:t>
            </a:r>
            <a:r>
              <a:rPr lang="en-US" dirty="0"/>
              <a:t> studies analyze everyday activities as members' methods for making those same activities </a:t>
            </a:r>
            <a:r>
              <a:rPr lang="en-US" dirty="0" smtClean="0"/>
              <a:t>visibly-rational-and reportable-for-all-practical-purposes</a:t>
            </a:r>
            <a:r>
              <a:rPr lang="en-US" dirty="0"/>
              <a:t>, i.e. "accountable," as /organizations of commonplace everyday activities. The reflexivity of that phenomenon is a singular feature of practical actions, of practical circumstances, of common sense knowledge of social structures, and of practical sociological reasoning. (1967, p. vii) </a:t>
            </a:r>
          </a:p>
        </p:txBody>
      </p:sp>
    </p:spTree>
    <p:extLst>
      <p:ext uri="{BB962C8B-B14F-4D97-AF65-F5344CB8AC3E}">
        <p14:creationId xmlns:p14="http://schemas.microsoft.com/office/powerpoint/2010/main" val="16532714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Research Perspectives in the Field of Qualitative Research </a:t>
            </a:r>
          </a:p>
        </p:txBody>
      </p:sp>
      <p:sp>
        <p:nvSpPr>
          <p:cNvPr id="3" name="Content Placeholder 2"/>
          <p:cNvSpPr>
            <a:spLocks noGrp="1"/>
          </p:cNvSpPr>
          <p:nvPr>
            <p:ph idx="1"/>
          </p:nvPr>
        </p:nvSpPr>
        <p:spPr>
          <a:xfrm>
            <a:off x="1097280" y="2339138"/>
            <a:ext cx="10058400" cy="4023360"/>
          </a:xfrm>
        </p:spPr>
        <p:txBody>
          <a:bodyPr/>
          <a:lstStyle/>
          <a:p>
            <a:r>
              <a:rPr lang="en-US" dirty="0" smtClean="0"/>
              <a:t>3. Cultural </a:t>
            </a:r>
            <a:r>
              <a:rPr lang="en-US" dirty="0"/>
              <a:t>Framing of Social and Subjective Reality: </a:t>
            </a:r>
            <a:r>
              <a:rPr lang="en-US" dirty="0" err="1"/>
              <a:t>Structuralist</a:t>
            </a:r>
            <a:r>
              <a:rPr lang="en-US" dirty="0"/>
              <a:t> Models </a:t>
            </a:r>
            <a:endParaRPr lang="en-US" dirty="0" smtClean="0"/>
          </a:p>
          <a:p>
            <a:pPr marL="0" indent="0">
              <a:lnSpc>
                <a:spcPct val="200000"/>
              </a:lnSpc>
              <a:buNone/>
            </a:pPr>
            <a:r>
              <a:rPr lang="en-US" dirty="0"/>
              <a:t>Here a distinction is made between the surface of experience and activity, on the one hand, and the deep structures of activities, on the other. While the surface is accessible to the participant subject, the deep structures are not accessible to everyday individual reflections. </a:t>
            </a:r>
          </a:p>
        </p:txBody>
      </p:sp>
    </p:spTree>
    <p:extLst>
      <p:ext uri="{BB962C8B-B14F-4D97-AF65-F5344CB8AC3E}">
        <p14:creationId xmlns:p14="http://schemas.microsoft.com/office/powerpoint/2010/main" val="34777787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Research Perspectives in the Field of Qualitative Research </a:t>
            </a:r>
          </a:p>
        </p:txBody>
      </p:sp>
      <p:sp>
        <p:nvSpPr>
          <p:cNvPr id="3" name="Content Placeholder 2"/>
          <p:cNvSpPr>
            <a:spLocks noGrp="1"/>
          </p:cNvSpPr>
          <p:nvPr>
            <p:ph idx="1"/>
          </p:nvPr>
        </p:nvSpPr>
        <p:spPr>
          <a:xfrm>
            <a:off x="1097280" y="2202661"/>
            <a:ext cx="10058400" cy="4023360"/>
          </a:xfrm>
        </p:spPr>
        <p:txBody>
          <a:bodyPr/>
          <a:lstStyle/>
          <a:p>
            <a:r>
              <a:rPr lang="en-US" dirty="0"/>
              <a:t>Recent Developments in Psychology: Social </a:t>
            </a:r>
            <a:r>
              <a:rPr lang="en-US" dirty="0" smtClean="0"/>
              <a:t>Representations</a:t>
            </a:r>
          </a:p>
          <a:p>
            <a:pPr marL="0" indent="0">
              <a:lnSpc>
                <a:spcPct val="200000"/>
              </a:lnSpc>
              <a:buNone/>
            </a:pPr>
            <a:r>
              <a:rPr lang="en-US" dirty="0"/>
              <a:t>This approach is increasingly used as a theoretical framework for qualitative studies that deal with the social construction of such phenomena as health and illness, madness, or technological change in everyday life.</a:t>
            </a:r>
          </a:p>
        </p:txBody>
      </p:sp>
    </p:spTree>
    <p:extLst>
      <p:ext uri="{BB962C8B-B14F-4D97-AF65-F5344CB8AC3E}">
        <p14:creationId xmlns:p14="http://schemas.microsoft.com/office/powerpoint/2010/main" val="30115042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l="15849" t="10109" r="22255" b="13361"/>
          <a:stretch/>
        </p:blipFill>
        <p:spPr>
          <a:xfrm>
            <a:off x="437639" y="0"/>
            <a:ext cx="10718041" cy="5803370"/>
          </a:xfrm>
          <a:prstGeom prst="rect">
            <a:avLst/>
          </a:prstGeom>
        </p:spPr>
      </p:pic>
    </p:spTree>
    <p:extLst>
      <p:ext uri="{BB962C8B-B14F-4D97-AF65-F5344CB8AC3E}">
        <p14:creationId xmlns:p14="http://schemas.microsoft.com/office/powerpoint/2010/main" val="28235585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2079831"/>
            <a:ext cx="10058400" cy="4023360"/>
          </a:xfrm>
        </p:spPr>
        <p:txBody>
          <a:bodyPr>
            <a:normAutofit/>
          </a:bodyPr>
          <a:lstStyle/>
          <a:p>
            <a:r>
              <a:rPr lang="en-US" dirty="0"/>
              <a:t>Feminism and Gender </a:t>
            </a:r>
            <a:r>
              <a:rPr lang="en-US" dirty="0" smtClean="0"/>
              <a:t>Studies</a:t>
            </a:r>
            <a:r>
              <a:rPr lang="en-US" dirty="0"/>
              <a:t>: Feminist researchers have contributed to reflection on qualitative methods by developing a research program for studying issues of gender, gender relations, inequality, and neglect of diversity</a:t>
            </a:r>
            <a:r>
              <a:rPr lang="en-US" dirty="0" smtClean="0"/>
              <a:t>.</a:t>
            </a:r>
          </a:p>
          <a:p>
            <a:r>
              <a:rPr lang="en-US" dirty="0"/>
              <a:t>Positivism and </a:t>
            </a:r>
            <a:r>
              <a:rPr lang="en-US" dirty="0" smtClean="0"/>
              <a:t>Constructionism</a:t>
            </a:r>
            <a:r>
              <a:rPr lang="en-US" dirty="0"/>
              <a:t>: Bryman (2004,p.ll) summarizes several assumptions of positivism: (1) only phenomena and knowledge confirmed by the sense can be warranted as knowledge (phenomenalism); (2) theories are used to generate hypotheses that can be tested and allow explanations of laws to be assessed (</a:t>
            </a:r>
            <a:r>
              <a:rPr lang="en-US" dirty="0" err="1"/>
              <a:t>deductivism</a:t>
            </a:r>
            <a:r>
              <a:rPr lang="en-US" dirty="0"/>
              <a:t>); (3) knowledge can be produced by collecting facts that provide the basis for laws (</a:t>
            </a:r>
            <a:r>
              <a:rPr lang="en-US" dirty="0" err="1"/>
              <a:t>inductivism</a:t>
            </a:r>
            <a:r>
              <a:rPr lang="en-US" dirty="0"/>
              <a:t>); (4) science must and can be conducted in a way that is value free and thus objective; and (5) there is a clear distinction between scientific and normative statements. </a:t>
            </a:r>
          </a:p>
        </p:txBody>
      </p:sp>
    </p:spTree>
    <p:extLst>
      <p:ext uri="{BB962C8B-B14F-4D97-AF65-F5344CB8AC3E}">
        <p14:creationId xmlns:p14="http://schemas.microsoft.com/office/powerpoint/2010/main" val="31123079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2257252"/>
            <a:ext cx="10058400" cy="4023360"/>
          </a:xfrm>
        </p:spPr>
        <p:txBody>
          <a:bodyPr/>
          <a:lstStyle/>
          <a:p>
            <a:pPr>
              <a:lnSpc>
                <a:spcPct val="200000"/>
              </a:lnSpc>
            </a:pPr>
            <a:r>
              <a:rPr lang="en-US" dirty="0"/>
              <a:t>A contrasting position is that of social constructionism (or constructivism) (see also Flick 2004b). A number of programs with different starting points are subsumed under these labels. What is common to all constructionist approaches is that they examine the relationship to reality by dealing with constructive processes in approaching it. </a:t>
            </a:r>
          </a:p>
        </p:txBody>
      </p:sp>
    </p:spTree>
    <p:extLst>
      <p:ext uri="{BB962C8B-B14F-4D97-AF65-F5344CB8AC3E}">
        <p14:creationId xmlns:p14="http://schemas.microsoft.com/office/powerpoint/2010/main" val="20022741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l="10382" t="12931" r="19612" b="10853"/>
          <a:stretch/>
        </p:blipFill>
        <p:spPr>
          <a:xfrm>
            <a:off x="740070" y="301368"/>
            <a:ext cx="8690533" cy="5319396"/>
          </a:xfrm>
          <a:prstGeom prst="rect">
            <a:avLst/>
          </a:prstGeom>
        </p:spPr>
      </p:pic>
    </p:spTree>
    <p:extLst>
      <p:ext uri="{BB962C8B-B14F-4D97-AF65-F5344CB8AC3E}">
        <p14:creationId xmlns:p14="http://schemas.microsoft.com/office/powerpoint/2010/main" val="34492345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2265528"/>
          </a:xfrm>
        </p:spPr>
        <p:txBody>
          <a:bodyPr>
            <a:normAutofit fontScale="90000"/>
          </a:bodyPr>
          <a:lstStyle/>
          <a:p>
            <a:r>
              <a:rPr lang="en-US" i="1" dirty="0"/>
              <a:t>Mimesis</a:t>
            </a:r>
            <a:r>
              <a:rPr lang="en-US" dirty="0"/>
              <a:t> refers to the transformation of (originally, for example, in Aristotle, natural) worlds into symbolic worlds.</a:t>
            </a:r>
            <a:br>
              <a:rPr lang="en-US" dirty="0"/>
            </a:br>
            <a:endParaRPr lang="en-US" dirty="0"/>
          </a:p>
        </p:txBody>
      </p:sp>
      <p:pic>
        <p:nvPicPr>
          <p:cNvPr id="5" name="Content Placeholder 4"/>
          <p:cNvPicPr>
            <a:picLocks noGrp="1" noChangeAspect="1"/>
          </p:cNvPicPr>
          <p:nvPr>
            <p:ph idx="1"/>
          </p:nvPr>
        </p:nvPicPr>
        <p:blipFill rotWithShape="1">
          <a:blip r:embed="rId2"/>
          <a:srcRect l="7487" t="11779" r="19077" b="8821"/>
          <a:stretch/>
        </p:blipFill>
        <p:spPr>
          <a:xfrm>
            <a:off x="1405718" y="2208225"/>
            <a:ext cx="6933063" cy="3824536"/>
          </a:xfrm>
          <a:prstGeom prst="rect">
            <a:avLst/>
          </a:prstGeom>
        </p:spPr>
      </p:pic>
    </p:spTree>
    <p:extLst>
      <p:ext uri="{BB962C8B-B14F-4D97-AF65-F5344CB8AC3E}">
        <p14:creationId xmlns:p14="http://schemas.microsoft.com/office/powerpoint/2010/main" val="38849264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1834171"/>
            <a:ext cx="10058400" cy="4023360"/>
          </a:xfrm>
        </p:spPr>
        <p:txBody>
          <a:bodyPr/>
          <a:lstStyle/>
          <a:p>
            <a:pPr>
              <a:lnSpc>
                <a:spcPct val="250000"/>
              </a:lnSpc>
            </a:pPr>
            <a:r>
              <a:rPr lang="en-US" dirty="0"/>
              <a:t> "The principle of openness implies, that the theoretical structuring of the issue under study is postponed until the structuring of the issue under study by the persons being studied has 'emerged'" (</a:t>
            </a:r>
            <a:r>
              <a:rPr lang="en-US" dirty="0" err="1"/>
              <a:t>Hoffinann-Riem</a:t>
            </a:r>
            <a:r>
              <a:rPr lang="en-US" dirty="0"/>
              <a:t> 1980, p. 343). </a:t>
            </a:r>
          </a:p>
        </p:txBody>
      </p:sp>
    </p:spTree>
    <p:extLst>
      <p:ext uri="{BB962C8B-B14F-4D97-AF65-F5344CB8AC3E}">
        <p14:creationId xmlns:p14="http://schemas.microsoft.com/office/powerpoint/2010/main" val="21147002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l="16179" t="12595" r="19019" b="14670"/>
          <a:stretch/>
        </p:blipFill>
        <p:spPr>
          <a:xfrm>
            <a:off x="1097280" y="286603"/>
            <a:ext cx="9384993" cy="5177031"/>
          </a:xfrm>
          <a:prstGeom prst="rect">
            <a:avLst/>
          </a:prstGeom>
        </p:spPr>
      </p:pic>
    </p:spTree>
    <p:extLst>
      <p:ext uri="{BB962C8B-B14F-4D97-AF65-F5344CB8AC3E}">
        <p14:creationId xmlns:p14="http://schemas.microsoft.com/office/powerpoint/2010/main" val="30967517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Questions</a:t>
            </a:r>
            <a:endParaRPr lang="en-US" dirty="0"/>
          </a:p>
        </p:txBody>
      </p:sp>
      <p:pic>
        <p:nvPicPr>
          <p:cNvPr id="4" name="Content Placeholder 3"/>
          <p:cNvPicPr>
            <a:picLocks noGrp="1" noChangeAspect="1"/>
          </p:cNvPicPr>
          <p:nvPr>
            <p:ph idx="1"/>
          </p:nvPr>
        </p:nvPicPr>
        <p:blipFill rotWithShape="1">
          <a:blip r:embed="rId2"/>
          <a:srcRect l="30837" t="10423" r="31779" b="7716"/>
          <a:stretch/>
        </p:blipFill>
        <p:spPr>
          <a:xfrm>
            <a:off x="1419368" y="409433"/>
            <a:ext cx="7644835" cy="5349922"/>
          </a:xfrm>
          <a:prstGeom prst="rect">
            <a:avLst/>
          </a:prstGeom>
          <a:ln/>
        </p:spPr>
        <p:style>
          <a:lnRef idx="2">
            <a:schemeClr val="accent5">
              <a:shade val="50000"/>
            </a:schemeClr>
          </a:lnRef>
          <a:fillRef idx="1">
            <a:schemeClr val="accent5"/>
          </a:fillRef>
          <a:effectRef idx="0">
            <a:schemeClr val="accent5"/>
          </a:effectRef>
          <a:fontRef idx="minor">
            <a:schemeClr val="lt1"/>
          </a:fontRef>
        </p:style>
      </p:pic>
    </p:spTree>
    <p:extLst>
      <p:ext uri="{BB962C8B-B14F-4D97-AF65-F5344CB8AC3E}">
        <p14:creationId xmlns:p14="http://schemas.microsoft.com/office/powerpoint/2010/main" val="23389187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Decisions in the Research Process </a:t>
            </a:r>
          </a:p>
        </p:txBody>
      </p:sp>
      <p:pic>
        <p:nvPicPr>
          <p:cNvPr id="4" name="Content Placeholder 3"/>
          <p:cNvPicPr>
            <a:picLocks noGrp="1" noChangeAspect="1"/>
          </p:cNvPicPr>
          <p:nvPr>
            <p:ph idx="1"/>
          </p:nvPr>
        </p:nvPicPr>
        <p:blipFill rotWithShape="1">
          <a:blip r:embed="rId3"/>
          <a:srcRect l="25611" t="22969" r="29413" b="38115"/>
          <a:stretch/>
        </p:blipFill>
        <p:spPr>
          <a:xfrm>
            <a:off x="1405719" y="1637731"/>
            <a:ext cx="8079475" cy="3930555"/>
          </a:xfrm>
          <a:prstGeom prst="rect">
            <a:avLst/>
          </a:prstGeom>
        </p:spPr>
      </p:pic>
    </p:spTree>
    <p:extLst>
      <p:ext uri="{BB962C8B-B14F-4D97-AF65-F5344CB8AC3E}">
        <p14:creationId xmlns:p14="http://schemas.microsoft.com/office/powerpoint/2010/main" val="27202351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l="23432" t="20460" r="25606" b="24966"/>
          <a:stretch/>
        </p:blipFill>
        <p:spPr>
          <a:xfrm>
            <a:off x="1097280" y="286603"/>
            <a:ext cx="9271145" cy="5581934"/>
          </a:xfrm>
          <a:prstGeom prst="rect">
            <a:avLst/>
          </a:prstGeom>
        </p:spPr>
      </p:pic>
    </p:spTree>
    <p:extLst>
      <p:ext uri="{BB962C8B-B14F-4D97-AF65-F5344CB8AC3E}">
        <p14:creationId xmlns:p14="http://schemas.microsoft.com/office/powerpoint/2010/main" val="29828103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Strategies in Qualitative Research </a:t>
            </a:r>
          </a:p>
        </p:txBody>
      </p:sp>
      <p:sp>
        <p:nvSpPr>
          <p:cNvPr id="3" name="Content Placeholder 2"/>
          <p:cNvSpPr>
            <a:spLocks noGrp="1"/>
          </p:cNvSpPr>
          <p:nvPr>
            <p:ph idx="1"/>
          </p:nvPr>
        </p:nvSpPr>
        <p:spPr>
          <a:xfrm>
            <a:off x="838200" y="1690688"/>
            <a:ext cx="10515600" cy="5076968"/>
          </a:xfrm>
        </p:spPr>
        <p:txBody>
          <a:bodyPr numCol="2">
            <a:normAutofit/>
          </a:bodyPr>
          <a:lstStyle/>
          <a:p>
            <a:pPr>
              <a:lnSpc>
                <a:spcPct val="120000"/>
              </a:lnSpc>
            </a:pPr>
            <a:r>
              <a:rPr lang="en-US" dirty="0"/>
              <a:t>• A priori determination </a:t>
            </a:r>
            <a:endParaRPr lang="en-US" dirty="0" smtClean="0"/>
          </a:p>
          <a:p>
            <a:pPr>
              <a:lnSpc>
                <a:spcPct val="120000"/>
              </a:lnSpc>
            </a:pPr>
            <a:r>
              <a:rPr lang="en-US" dirty="0" smtClean="0"/>
              <a:t>• </a:t>
            </a:r>
            <a:r>
              <a:rPr lang="en-US" dirty="0"/>
              <a:t>Complete collection </a:t>
            </a:r>
            <a:endParaRPr lang="en-US" dirty="0" smtClean="0"/>
          </a:p>
          <a:p>
            <a:pPr>
              <a:lnSpc>
                <a:spcPct val="120000"/>
              </a:lnSpc>
            </a:pPr>
            <a:r>
              <a:rPr lang="en-US" dirty="0" smtClean="0"/>
              <a:t>• </a:t>
            </a:r>
            <a:r>
              <a:rPr lang="en-US" dirty="0"/>
              <a:t>Theoretical sampling </a:t>
            </a:r>
            <a:endParaRPr lang="en-US" dirty="0" smtClean="0"/>
          </a:p>
          <a:p>
            <a:pPr>
              <a:lnSpc>
                <a:spcPct val="120000"/>
              </a:lnSpc>
            </a:pPr>
            <a:r>
              <a:rPr lang="en-US" dirty="0" smtClean="0"/>
              <a:t>• </a:t>
            </a:r>
            <a:r>
              <a:rPr lang="en-US" dirty="0"/>
              <a:t>Extreme case sampling </a:t>
            </a:r>
            <a:endParaRPr lang="en-US" dirty="0" smtClean="0"/>
          </a:p>
          <a:p>
            <a:pPr>
              <a:lnSpc>
                <a:spcPct val="120000"/>
              </a:lnSpc>
            </a:pPr>
            <a:r>
              <a:rPr lang="en-US" dirty="0" smtClean="0"/>
              <a:t>• </a:t>
            </a:r>
            <a:r>
              <a:rPr lang="en-US" dirty="0"/>
              <a:t>Typical case sampling </a:t>
            </a:r>
            <a:endParaRPr lang="en-US" dirty="0" smtClean="0"/>
          </a:p>
          <a:p>
            <a:pPr>
              <a:lnSpc>
                <a:spcPct val="120000"/>
              </a:lnSpc>
            </a:pPr>
            <a:r>
              <a:rPr lang="en-US" dirty="0" smtClean="0"/>
              <a:t>• </a:t>
            </a:r>
            <a:r>
              <a:rPr lang="en-US" dirty="0"/>
              <a:t>Maximal variation sampling </a:t>
            </a:r>
            <a:endParaRPr lang="en-US" dirty="0" smtClean="0"/>
          </a:p>
          <a:p>
            <a:pPr>
              <a:lnSpc>
                <a:spcPct val="120000"/>
              </a:lnSpc>
            </a:pPr>
            <a:r>
              <a:rPr lang="en-US" dirty="0" smtClean="0"/>
              <a:t>• </a:t>
            </a:r>
            <a:r>
              <a:rPr lang="en-US" dirty="0"/>
              <a:t>Intensity sampling </a:t>
            </a:r>
            <a:endParaRPr lang="en-US" dirty="0" smtClean="0"/>
          </a:p>
          <a:p>
            <a:pPr>
              <a:lnSpc>
                <a:spcPct val="120000"/>
              </a:lnSpc>
            </a:pPr>
            <a:r>
              <a:rPr lang="en-US" dirty="0" smtClean="0"/>
              <a:t>• </a:t>
            </a:r>
            <a:r>
              <a:rPr lang="en-US" dirty="0"/>
              <a:t>Critical case sampling </a:t>
            </a:r>
            <a:endParaRPr lang="en-US" dirty="0" smtClean="0"/>
          </a:p>
          <a:p>
            <a:pPr>
              <a:lnSpc>
                <a:spcPct val="120000"/>
              </a:lnSpc>
            </a:pPr>
            <a:r>
              <a:rPr lang="en-US" dirty="0" smtClean="0"/>
              <a:t>• </a:t>
            </a:r>
            <a:r>
              <a:rPr lang="en-US" dirty="0"/>
              <a:t>Sensitive case sampling </a:t>
            </a:r>
            <a:endParaRPr lang="en-US" dirty="0" smtClean="0"/>
          </a:p>
          <a:p>
            <a:pPr>
              <a:lnSpc>
                <a:spcPct val="120000"/>
              </a:lnSpc>
            </a:pPr>
            <a:r>
              <a:rPr lang="en-US" dirty="0" smtClean="0"/>
              <a:t>• Convenience sampling </a:t>
            </a:r>
          </a:p>
          <a:p>
            <a:pPr>
              <a:lnSpc>
                <a:spcPct val="120000"/>
              </a:lnSpc>
            </a:pPr>
            <a:r>
              <a:rPr lang="en-US" dirty="0" smtClean="0"/>
              <a:t>• </a:t>
            </a:r>
            <a:r>
              <a:rPr lang="en-US" dirty="0"/>
              <a:t>Primary selection </a:t>
            </a:r>
            <a:endParaRPr lang="en-US" dirty="0" smtClean="0"/>
          </a:p>
          <a:p>
            <a:pPr>
              <a:lnSpc>
                <a:spcPct val="120000"/>
              </a:lnSpc>
            </a:pPr>
            <a:r>
              <a:rPr lang="en-US" dirty="0" smtClean="0"/>
              <a:t>• </a:t>
            </a:r>
            <a:r>
              <a:rPr lang="en-US" dirty="0"/>
              <a:t>Secondary selection </a:t>
            </a:r>
          </a:p>
        </p:txBody>
      </p:sp>
    </p:spTree>
    <p:extLst>
      <p:ext uri="{BB962C8B-B14F-4D97-AF65-F5344CB8AC3E}">
        <p14:creationId xmlns:p14="http://schemas.microsoft.com/office/powerpoint/2010/main" val="24087427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If you construct a concrete research design for your study, you should consider the following components </a:t>
            </a:r>
          </a:p>
        </p:txBody>
      </p:sp>
      <p:sp>
        <p:nvSpPr>
          <p:cNvPr id="3" name="Content Placeholder 2"/>
          <p:cNvSpPr>
            <a:spLocks noGrp="1"/>
          </p:cNvSpPr>
          <p:nvPr>
            <p:ph idx="1"/>
          </p:nvPr>
        </p:nvSpPr>
        <p:spPr>
          <a:xfrm>
            <a:off x="1097280" y="1957001"/>
            <a:ext cx="10058400" cy="4023360"/>
          </a:xfrm>
        </p:spPr>
        <p:txBody>
          <a:bodyPr/>
          <a:lstStyle/>
          <a:p>
            <a:r>
              <a:rPr lang="en-US" dirty="0"/>
              <a:t>• the goals of the study; </a:t>
            </a:r>
            <a:endParaRPr lang="en-US" dirty="0" smtClean="0"/>
          </a:p>
          <a:p>
            <a:r>
              <a:rPr lang="en-US" dirty="0" smtClean="0"/>
              <a:t>• </a:t>
            </a:r>
            <a:r>
              <a:rPr lang="en-US" dirty="0"/>
              <a:t>the theoretical framework; </a:t>
            </a:r>
            <a:endParaRPr lang="en-US" dirty="0" smtClean="0"/>
          </a:p>
          <a:p>
            <a:r>
              <a:rPr lang="en-US" dirty="0" smtClean="0"/>
              <a:t>• </a:t>
            </a:r>
            <a:r>
              <a:rPr lang="en-US" dirty="0"/>
              <a:t>its concrete questions; </a:t>
            </a:r>
            <a:endParaRPr lang="en-US" dirty="0" smtClean="0"/>
          </a:p>
          <a:p>
            <a:r>
              <a:rPr lang="en-US" dirty="0" smtClean="0"/>
              <a:t>• </a:t>
            </a:r>
            <a:r>
              <a:rPr lang="en-US" dirty="0"/>
              <a:t>the selection of empirical material; </a:t>
            </a:r>
            <a:endParaRPr lang="en-US" dirty="0" smtClean="0"/>
          </a:p>
          <a:p>
            <a:r>
              <a:rPr lang="en-US" dirty="0" smtClean="0"/>
              <a:t>• </a:t>
            </a:r>
            <a:r>
              <a:rPr lang="en-US" dirty="0"/>
              <a:t>the methodological procedures; </a:t>
            </a:r>
            <a:endParaRPr lang="en-US" dirty="0" smtClean="0"/>
          </a:p>
          <a:p>
            <a:r>
              <a:rPr lang="en-US" dirty="0" smtClean="0"/>
              <a:t>• </a:t>
            </a:r>
            <a:r>
              <a:rPr lang="en-US" dirty="0"/>
              <a:t>the degree of standardization and control; </a:t>
            </a:r>
            <a:endParaRPr lang="en-US" dirty="0" smtClean="0"/>
          </a:p>
          <a:p>
            <a:r>
              <a:rPr lang="en-US" dirty="0" smtClean="0"/>
              <a:t>• </a:t>
            </a:r>
            <a:r>
              <a:rPr lang="en-US" dirty="0"/>
              <a:t>the generalization goals; and </a:t>
            </a:r>
            <a:endParaRPr lang="en-US" dirty="0" smtClean="0"/>
          </a:p>
          <a:p>
            <a:r>
              <a:rPr lang="en-US" dirty="0" smtClean="0"/>
              <a:t>• </a:t>
            </a:r>
            <a:r>
              <a:rPr lang="en-US" dirty="0"/>
              <a:t>the temporal, personal, and material resources available. </a:t>
            </a:r>
          </a:p>
        </p:txBody>
      </p:sp>
    </p:spTree>
    <p:extLst>
      <p:ext uri="{BB962C8B-B14F-4D97-AF65-F5344CB8AC3E}">
        <p14:creationId xmlns:p14="http://schemas.microsoft.com/office/powerpoint/2010/main" val="11868257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l="28192" t="26734" r="23314" b="9282"/>
          <a:stretch/>
        </p:blipFill>
        <p:spPr>
          <a:xfrm>
            <a:off x="1097280" y="286603"/>
            <a:ext cx="10495972" cy="5117910"/>
          </a:xfrm>
          <a:prstGeom prst="rect">
            <a:avLst/>
          </a:prstGeom>
        </p:spPr>
      </p:pic>
    </p:spTree>
    <p:extLst>
      <p:ext uri="{BB962C8B-B14F-4D97-AF65-F5344CB8AC3E}">
        <p14:creationId xmlns:p14="http://schemas.microsoft.com/office/powerpoint/2010/main" val="36131065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l="24105" t="48641" r="32461" b="9513"/>
          <a:stretch/>
        </p:blipFill>
        <p:spPr>
          <a:xfrm>
            <a:off x="1078730" y="187704"/>
            <a:ext cx="10076950" cy="5458347"/>
          </a:xfrm>
          <a:prstGeom prst="rect">
            <a:avLst/>
          </a:prstGeom>
        </p:spPr>
      </p:pic>
    </p:spTree>
    <p:extLst>
      <p:ext uri="{BB962C8B-B14F-4D97-AF65-F5344CB8AC3E}">
        <p14:creationId xmlns:p14="http://schemas.microsoft.com/office/powerpoint/2010/main" val="131095771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188" y="324182"/>
            <a:ext cx="10515600" cy="1325563"/>
          </a:xfrm>
        </p:spPr>
        <p:txBody>
          <a:bodyPr/>
          <a:lstStyle/>
          <a:p>
            <a:r>
              <a:rPr lang="en-US" dirty="0" smtClean="0"/>
              <a:t>Types of Interviews </a:t>
            </a:r>
            <a:endParaRPr lang="en-US" dirty="0"/>
          </a:p>
        </p:txBody>
      </p:sp>
      <p:sp>
        <p:nvSpPr>
          <p:cNvPr id="3" name="Content Placeholder 2"/>
          <p:cNvSpPr>
            <a:spLocks noGrp="1"/>
          </p:cNvSpPr>
          <p:nvPr>
            <p:ph idx="1"/>
          </p:nvPr>
        </p:nvSpPr>
        <p:spPr/>
        <p:txBody>
          <a:bodyPr/>
          <a:lstStyle/>
          <a:p>
            <a:pPr marL="0" indent="0">
              <a:buNone/>
            </a:pPr>
            <a:endParaRPr lang="en-US" dirty="0" smtClean="0"/>
          </a:p>
          <a:p>
            <a:pPr>
              <a:buFont typeface="Wingdings" panose="05000000000000000000" pitchFamily="2" charset="2"/>
              <a:buChar char="q"/>
            </a:pPr>
            <a:r>
              <a:rPr lang="en-US" dirty="0"/>
              <a:t>The Focused Interview </a:t>
            </a:r>
            <a:endParaRPr lang="en-US" dirty="0" smtClean="0"/>
          </a:p>
          <a:p>
            <a:pPr>
              <a:buFont typeface="Wingdings" panose="05000000000000000000" pitchFamily="2" charset="2"/>
              <a:buChar char="q"/>
            </a:pPr>
            <a:r>
              <a:rPr lang="en-US" dirty="0"/>
              <a:t>The Semi-Standardized Interview </a:t>
            </a:r>
            <a:endParaRPr lang="en-US" dirty="0" smtClean="0"/>
          </a:p>
          <a:p>
            <a:pPr>
              <a:buFont typeface="Wingdings" panose="05000000000000000000" pitchFamily="2" charset="2"/>
              <a:buChar char="q"/>
            </a:pPr>
            <a:r>
              <a:rPr lang="en-US" dirty="0"/>
              <a:t>The Problem-Centered Interview </a:t>
            </a:r>
            <a:endParaRPr lang="en-US" dirty="0" smtClean="0"/>
          </a:p>
          <a:p>
            <a:pPr>
              <a:buFont typeface="Wingdings" panose="05000000000000000000" pitchFamily="2" charset="2"/>
              <a:buChar char="q"/>
            </a:pPr>
            <a:r>
              <a:rPr lang="en-US" dirty="0"/>
              <a:t>The Expert Interview </a:t>
            </a:r>
            <a:endParaRPr lang="en-US" dirty="0" smtClean="0"/>
          </a:p>
          <a:p>
            <a:pPr>
              <a:buFont typeface="Wingdings" panose="05000000000000000000" pitchFamily="2" charset="2"/>
              <a:buChar char="q"/>
            </a:pPr>
            <a:r>
              <a:rPr lang="en-US" dirty="0"/>
              <a:t>The Ethnographic Interview </a:t>
            </a:r>
            <a:endParaRPr lang="en-US" dirty="0" smtClean="0"/>
          </a:p>
          <a:p>
            <a:pPr>
              <a:buFont typeface="Wingdings" panose="05000000000000000000" pitchFamily="2" charset="2"/>
              <a:buChar char="q"/>
            </a:pPr>
            <a:r>
              <a:rPr lang="en-US" dirty="0"/>
              <a:t> Narrative- Interview </a:t>
            </a:r>
          </a:p>
        </p:txBody>
      </p:sp>
    </p:spTree>
    <p:extLst>
      <p:ext uri="{BB962C8B-B14F-4D97-AF65-F5344CB8AC3E}">
        <p14:creationId xmlns:p14="http://schemas.microsoft.com/office/powerpoint/2010/main" val="36368316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Laying Technique </a:t>
            </a:r>
          </a:p>
        </p:txBody>
      </p:sp>
      <p:sp>
        <p:nvSpPr>
          <p:cNvPr id="3" name="Content Placeholder 2"/>
          <p:cNvSpPr>
            <a:spLocks noGrp="1"/>
          </p:cNvSpPr>
          <p:nvPr>
            <p:ph idx="1"/>
          </p:nvPr>
        </p:nvSpPr>
        <p:spPr/>
        <p:txBody>
          <a:bodyPr/>
          <a:lstStyle/>
          <a:p>
            <a:pPr>
              <a:lnSpc>
                <a:spcPct val="300000"/>
              </a:lnSpc>
            </a:pPr>
            <a:r>
              <a:rPr lang="en-US" dirty="0"/>
              <a:t>In a second meeting with the interviewee, no more than one or two weeks after the first interview, the structure laying technique (SLT) is applied. </a:t>
            </a:r>
          </a:p>
        </p:txBody>
      </p:sp>
    </p:spTree>
    <p:extLst>
      <p:ext uri="{BB962C8B-B14F-4D97-AF65-F5344CB8AC3E}">
        <p14:creationId xmlns:p14="http://schemas.microsoft.com/office/powerpoint/2010/main" val="400183132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Focus Groups</a:t>
            </a:r>
            <a:endParaRPr lang="en-US" dirty="0"/>
          </a:p>
        </p:txBody>
      </p:sp>
      <p:sp>
        <p:nvSpPr>
          <p:cNvPr id="3" name="Content Placeholder 2"/>
          <p:cNvSpPr>
            <a:spLocks noGrp="1"/>
          </p:cNvSpPr>
          <p:nvPr>
            <p:ph idx="1"/>
          </p:nvPr>
        </p:nvSpPr>
        <p:spPr>
          <a:xfrm>
            <a:off x="1097280" y="1737360"/>
            <a:ext cx="10058400" cy="4023360"/>
          </a:xfrm>
        </p:spPr>
        <p:txBody>
          <a:bodyPr>
            <a:normAutofit fontScale="92500" lnSpcReduction="20000"/>
          </a:bodyPr>
          <a:lstStyle/>
          <a:p>
            <a:pPr>
              <a:lnSpc>
                <a:spcPct val="200000"/>
              </a:lnSpc>
            </a:pPr>
            <a:r>
              <a:rPr lang="en-US" dirty="0"/>
              <a:t>A focus group interview is an interview with a small group of people on a specific topic. Groups are typically six to eight people who participate in the interview for one-half to two hours. </a:t>
            </a:r>
            <a:endParaRPr lang="en-US" dirty="0" smtClean="0"/>
          </a:p>
          <a:p>
            <a:pPr>
              <a:lnSpc>
                <a:spcPct val="200000"/>
              </a:lnSpc>
            </a:pPr>
            <a:r>
              <a:rPr lang="en-US" dirty="0"/>
              <a:t>A small number of individuals, brought together as a discussion or resource group, is more valuable many times over than any representative sample. Such a group, discussing collectively their sphere of life and probing into it as they meet one another's disagreements, will do more to lift the veils covering the sphere of life than any other device that I know of. </a:t>
            </a:r>
          </a:p>
        </p:txBody>
      </p:sp>
    </p:spTree>
    <p:extLst>
      <p:ext uri="{BB962C8B-B14F-4D97-AF65-F5344CB8AC3E}">
        <p14:creationId xmlns:p14="http://schemas.microsoft.com/office/powerpoint/2010/main" val="2065639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Role of the Moderator? </a:t>
            </a:r>
          </a:p>
        </p:txBody>
      </p:sp>
      <p:sp>
        <p:nvSpPr>
          <p:cNvPr id="3" name="Content Placeholder 2"/>
          <p:cNvSpPr>
            <a:spLocks noGrp="1"/>
          </p:cNvSpPr>
          <p:nvPr>
            <p:ph idx="1"/>
          </p:nvPr>
        </p:nvSpPr>
        <p:spPr>
          <a:xfrm>
            <a:off x="840553" y="1861467"/>
            <a:ext cx="10058400" cy="4023360"/>
          </a:xfrm>
        </p:spPr>
        <p:txBody>
          <a:bodyPr>
            <a:normAutofit lnSpcReduction="10000"/>
          </a:bodyPr>
          <a:lstStyle/>
          <a:p>
            <a:pPr>
              <a:lnSpc>
                <a:spcPct val="150000"/>
              </a:lnSpc>
              <a:buFont typeface="Wingdings" panose="05000000000000000000" pitchFamily="2" charset="2"/>
              <a:buChar char="q"/>
            </a:pPr>
            <a:r>
              <a:rPr lang="en-US" dirty="0"/>
              <a:t>Formal direction:  to control of the agenda of the speakers and to fixing the beginning, course, and end of the discussion. </a:t>
            </a:r>
            <a:endParaRPr lang="en-US" dirty="0" smtClean="0"/>
          </a:p>
          <a:p>
            <a:pPr>
              <a:lnSpc>
                <a:spcPct val="150000"/>
              </a:lnSpc>
              <a:buFont typeface="Wingdings" panose="05000000000000000000" pitchFamily="2" charset="2"/>
              <a:buChar char="q"/>
            </a:pPr>
            <a:r>
              <a:rPr lang="en-US" dirty="0"/>
              <a:t> Topical </a:t>
            </a:r>
            <a:r>
              <a:rPr lang="en-US" dirty="0" smtClean="0"/>
              <a:t>steering: </a:t>
            </a:r>
            <a:r>
              <a:rPr lang="en-US" dirty="0"/>
              <a:t>introduction of new questions and steering the discussion towards a deepening and extension of specific topics and parts</a:t>
            </a:r>
            <a:endParaRPr lang="en-US" dirty="0" smtClean="0"/>
          </a:p>
          <a:p>
            <a:pPr>
              <a:lnSpc>
                <a:spcPct val="150000"/>
              </a:lnSpc>
              <a:buFont typeface="Wingdings" panose="05000000000000000000" pitchFamily="2" charset="2"/>
              <a:buChar char="q"/>
            </a:pPr>
            <a:r>
              <a:rPr lang="en-US" dirty="0" smtClean="0"/>
              <a:t>Steering </a:t>
            </a:r>
            <a:r>
              <a:rPr lang="en-US" dirty="0"/>
              <a:t>the dynamics:  interaction ranges from reflating the discussion to using provocative questions, polarizing a slow discussion, or accommodating relations of dominance by purposively addressing those members remaining rather reserved in the discussion. </a:t>
            </a:r>
          </a:p>
        </p:txBody>
      </p:sp>
    </p:spTree>
    <p:extLst>
      <p:ext uri="{BB962C8B-B14F-4D97-AF65-F5344CB8AC3E}">
        <p14:creationId xmlns:p14="http://schemas.microsoft.com/office/powerpoint/2010/main" val="9245406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Process, and What Are the Elements of Group Discussions? </a:t>
            </a:r>
          </a:p>
        </p:txBody>
      </p:sp>
      <p:sp>
        <p:nvSpPr>
          <p:cNvPr id="3" name="Content Placeholder 2"/>
          <p:cNvSpPr>
            <a:spLocks noGrp="1"/>
          </p:cNvSpPr>
          <p:nvPr>
            <p:ph idx="1"/>
          </p:nvPr>
        </p:nvSpPr>
        <p:spPr>
          <a:xfrm>
            <a:off x="1097280" y="2243604"/>
            <a:ext cx="10058400" cy="4023360"/>
          </a:xfrm>
        </p:spPr>
        <p:txBody>
          <a:bodyPr>
            <a:normAutofit/>
          </a:bodyPr>
          <a:lstStyle/>
          <a:p>
            <a:r>
              <a:rPr lang="en-US" dirty="0"/>
              <a:t>• At the beginning, an explanation of the (formal) procedure is given. </a:t>
            </a:r>
            <a:endParaRPr lang="en-US" dirty="0" smtClean="0"/>
          </a:p>
          <a:p>
            <a:r>
              <a:rPr lang="en-US" dirty="0"/>
              <a:t>• A short introduction of the members to one another and a phase of warming up follow to prepare the discussion</a:t>
            </a:r>
            <a:r>
              <a:rPr lang="en-US" dirty="0" smtClean="0"/>
              <a:t>.</a:t>
            </a:r>
          </a:p>
          <a:p>
            <a:r>
              <a:rPr lang="en-US" dirty="0"/>
              <a:t>• The actual discussion starts with a "discussion stimulus," which may consist of a provocative thesis, a short film, a lecture on a text, or the unfolding of a concrete problem for which a solution is to be found. </a:t>
            </a:r>
            <a:endParaRPr lang="en-US" dirty="0" smtClean="0"/>
          </a:p>
          <a:p>
            <a:r>
              <a:rPr lang="en-US" dirty="0"/>
              <a:t>• In groups with members that did not know each other in advance, phases of strangeness with, of orientation to, adaptation to, and familiarity with the group as well as conformity and the discussion drying up are gone through. </a:t>
            </a:r>
          </a:p>
        </p:txBody>
      </p:sp>
    </p:spTree>
    <p:extLst>
      <p:ext uri="{BB962C8B-B14F-4D97-AF65-F5344CB8AC3E}">
        <p14:creationId xmlns:p14="http://schemas.microsoft.com/office/powerpoint/2010/main" val="18450191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t>
            </a:r>
            <a:r>
              <a:rPr lang="en-US" dirty="0" smtClean="0"/>
              <a:t>our </a:t>
            </a:r>
            <a:r>
              <a:rPr lang="en-US" dirty="0"/>
              <a:t>types of participant roles: </a:t>
            </a:r>
          </a:p>
        </p:txBody>
      </p:sp>
      <p:sp>
        <p:nvSpPr>
          <p:cNvPr id="3" name="Content Placeholder 2"/>
          <p:cNvSpPr>
            <a:spLocks noGrp="1"/>
          </p:cNvSpPr>
          <p:nvPr>
            <p:ph idx="1"/>
          </p:nvPr>
        </p:nvSpPr>
        <p:spPr>
          <a:xfrm>
            <a:off x="949736" y="2011592"/>
            <a:ext cx="10058400" cy="4023360"/>
          </a:xfrm>
        </p:spPr>
        <p:txBody>
          <a:bodyPr/>
          <a:lstStyle/>
          <a:p>
            <a:pPr>
              <a:lnSpc>
                <a:spcPct val="200000"/>
              </a:lnSpc>
            </a:pPr>
            <a:r>
              <a:rPr lang="en-US" dirty="0"/>
              <a:t>• the complete participant; </a:t>
            </a:r>
            <a:endParaRPr lang="en-US" dirty="0" smtClean="0"/>
          </a:p>
          <a:p>
            <a:pPr>
              <a:lnSpc>
                <a:spcPct val="200000"/>
              </a:lnSpc>
            </a:pPr>
            <a:r>
              <a:rPr lang="en-US" dirty="0" smtClean="0"/>
              <a:t>• </a:t>
            </a:r>
            <a:r>
              <a:rPr lang="en-US" dirty="0"/>
              <a:t>the participant-as-observer; </a:t>
            </a:r>
            <a:endParaRPr lang="en-US" dirty="0" smtClean="0"/>
          </a:p>
          <a:p>
            <a:pPr>
              <a:lnSpc>
                <a:spcPct val="200000"/>
              </a:lnSpc>
            </a:pPr>
            <a:r>
              <a:rPr lang="en-US" dirty="0" smtClean="0"/>
              <a:t>• </a:t>
            </a:r>
            <a:r>
              <a:rPr lang="en-US" dirty="0"/>
              <a:t>the observer-as-participant; </a:t>
            </a:r>
            <a:endParaRPr lang="en-US" dirty="0" smtClean="0"/>
          </a:p>
          <a:p>
            <a:pPr>
              <a:lnSpc>
                <a:spcPct val="200000"/>
              </a:lnSpc>
            </a:pPr>
            <a:r>
              <a:rPr lang="en-US" dirty="0"/>
              <a:t> </a:t>
            </a:r>
            <a:r>
              <a:rPr lang="en-US" dirty="0" smtClean="0"/>
              <a:t> </a:t>
            </a:r>
            <a:r>
              <a:rPr lang="en-US" dirty="0"/>
              <a:t>the complete observer. </a:t>
            </a:r>
          </a:p>
        </p:txBody>
      </p:sp>
    </p:spTree>
    <p:extLst>
      <p:ext uri="{BB962C8B-B14F-4D97-AF65-F5344CB8AC3E}">
        <p14:creationId xmlns:p14="http://schemas.microsoft.com/office/powerpoint/2010/main" val="11229821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Conducting a </a:t>
            </a:r>
            <a:r>
              <a:rPr lang="en-US" dirty="0" smtClean="0"/>
              <a:t>Visual, Photographs and Film </a:t>
            </a:r>
            <a:r>
              <a:rPr lang="en-US" dirty="0"/>
              <a:t>Analysis </a:t>
            </a:r>
          </a:p>
        </p:txBody>
      </p:sp>
      <p:sp>
        <p:nvSpPr>
          <p:cNvPr id="3" name="Content Placeholder 2"/>
          <p:cNvSpPr>
            <a:spLocks noGrp="1"/>
          </p:cNvSpPr>
          <p:nvPr>
            <p:ph idx="1"/>
          </p:nvPr>
        </p:nvSpPr>
        <p:spPr>
          <a:xfrm>
            <a:off x="1097280" y="2038888"/>
            <a:ext cx="10058400" cy="4023360"/>
          </a:xfrm>
        </p:spPr>
        <p:txBody>
          <a:bodyPr>
            <a:normAutofit lnSpcReduction="10000"/>
          </a:bodyPr>
          <a:lstStyle/>
          <a:p>
            <a:r>
              <a:rPr lang="en-US" dirty="0"/>
              <a:t>1 "Looking and </a:t>
            </a:r>
            <a:r>
              <a:rPr lang="en-US" dirty="0" smtClean="0"/>
              <a:t>feeling“</a:t>
            </a:r>
          </a:p>
          <a:p>
            <a:r>
              <a:rPr lang="en-US" dirty="0" smtClean="0"/>
              <a:t>2 </a:t>
            </a:r>
            <a:r>
              <a:rPr lang="en-US" dirty="0"/>
              <a:t>What research question are you asking? </a:t>
            </a:r>
            <a:endParaRPr lang="en-US" dirty="0" smtClean="0"/>
          </a:p>
          <a:p>
            <a:r>
              <a:rPr lang="en-US" dirty="0" smtClean="0"/>
              <a:t>3 </a:t>
            </a:r>
            <a:r>
              <a:rPr lang="en-US" dirty="0"/>
              <a:t>Structured microanalysis is conducted of individual scenes and sequences, which should lead to detailed descriptions and patterns </a:t>
            </a:r>
            <a:endParaRPr lang="en-US" dirty="0" smtClean="0"/>
          </a:p>
          <a:p>
            <a:r>
              <a:rPr lang="en-US" dirty="0" smtClean="0"/>
              <a:t>4 </a:t>
            </a:r>
            <a:r>
              <a:rPr lang="en-US" dirty="0"/>
              <a:t>When answering the research question, search for patterns in the entire film. Searching for patterns extends to the whole </a:t>
            </a:r>
            <a:r>
              <a:rPr lang="en-US" dirty="0" smtClean="0"/>
              <a:t>film/photograph </a:t>
            </a:r>
            <a:r>
              <a:rPr lang="en-US" dirty="0"/>
              <a:t>in order to answer the research </a:t>
            </a:r>
            <a:r>
              <a:rPr lang="en-US" dirty="0" smtClean="0"/>
              <a:t>question</a:t>
            </a:r>
          </a:p>
          <a:p>
            <a:pPr marL="0" indent="0">
              <a:buNone/>
            </a:pPr>
            <a:r>
              <a:rPr lang="en-US" dirty="0" smtClean="0"/>
              <a:t>Visual </a:t>
            </a:r>
            <a:r>
              <a:rPr lang="en-US" dirty="0"/>
              <a:t>data methods provide new ways of documenting the visual side of social settings and practices and of making these a part of research. • Visual data can consist of existing materials or can be produced specifically for research purposes. • There is still a need for developing appropriate methods for analyzing the visual parts of the data made available by these methods. </a:t>
            </a:r>
          </a:p>
        </p:txBody>
      </p:sp>
    </p:spTree>
    <p:extLst>
      <p:ext uri="{BB962C8B-B14F-4D97-AF65-F5344CB8AC3E}">
        <p14:creationId xmlns:p14="http://schemas.microsoft.com/office/powerpoint/2010/main" val="298937321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Documents as Data</a:t>
            </a:r>
            <a:endParaRPr lang="en-US" dirty="0"/>
          </a:p>
        </p:txBody>
      </p:sp>
      <p:sp>
        <p:nvSpPr>
          <p:cNvPr id="3" name="Content Placeholder 2"/>
          <p:cNvSpPr>
            <a:spLocks noGrp="1"/>
          </p:cNvSpPr>
          <p:nvPr>
            <p:ph idx="1"/>
          </p:nvPr>
        </p:nvSpPr>
        <p:spPr>
          <a:xfrm>
            <a:off x="922440" y="1737360"/>
            <a:ext cx="10058400" cy="4023360"/>
          </a:xfrm>
        </p:spPr>
        <p:txBody>
          <a:bodyPr/>
          <a:lstStyle/>
          <a:p>
            <a:pPr>
              <a:lnSpc>
                <a:spcPct val="150000"/>
              </a:lnSpc>
              <a:buFont typeface="Wingdings" panose="05000000000000000000" pitchFamily="2" charset="2"/>
              <a:buChar char="q"/>
            </a:pPr>
            <a:r>
              <a:rPr lang="en-US" dirty="0"/>
              <a:t>Documents are standardized artifacts, in so far as they typically occur in particular formats-, as notes, case reports, contracts, drafts, death certificates, remarks, diaries, statistics, annual reports, certificates, judgements, letters or expert opinions. (Wolff 2004b, p. 284) </a:t>
            </a:r>
            <a:endParaRPr lang="en-US" dirty="0" smtClean="0"/>
          </a:p>
          <a:p>
            <a:pPr>
              <a:lnSpc>
                <a:spcPct val="150000"/>
              </a:lnSpc>
              <a:buFont typeface="Wingdings" panose="05000000000000000000" pitchFamily="2" charset="2"/>
              <a:buChar char="q"/>
            </a:pPr>
            <a:r>
              <a:rPr lang="en-US" dirty="0"/>
              <a:t>If you want to analyze documents you should take into account who produced the documents, for what purpose, who uses them in their natural context, and how to select an appropriate sample of single documents. You should avoid focusing only on the contents of documents without taking their context, use, and function into account. </a:t>
            </a:r>
          </a:p>
        </p:txBody>
      </p:sp>
    </p:spTree>
    <p:extLst>
      <p:ext uri="{BB962C8B-B14F-4D97-AF65-F5344CB8AC3E}">
        <p14:creationId xmlns:p14="http://schemas.microsoft.com/office/powerpoint/2010/main" val="234740837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Qualitative Research using the Internet</a:t>
            </a:r>
            <a:endParaRPr lang="en-US" dirty="0"/>
          </a:p>
        </p:txBody>
      </p:sp>
      <p:sp>
        <p:nvSpPr>
          <p:cNvPr id="3" name="Content Placeholder 2"/>
          <p:cNvSpPr>
            <a:spLocks noGrp="1"/>
          </p:cNvSpPr>
          <p:nvPr>
            <p:ph idx="1"/>
          </p:nvPr>
        </p:nvSpPr>
        <p:spPr>
          <a:xfrm>
            <a:off x="1097280" y="1957002"/>
            <a:ext cx="10058400" cy="4023360"/>
          </a:xfrm>
        </p:spPr>
        <p:txBody>
          <a:bodyPr>
            <a:normAutofit/>
          </a:bodyPr>
          <a:lstStyle/>
          <a:p>
            <a:pPr>
              <a:buFont typeface="Wingdings" panose="05000000000000000000" pitchFamily="2" charset="2"/>
              <a:buChar char="q"/>
            </a:pPr>
            <a:r>
              <a:rPr lang="en-US" dirty="0"/>
              <a:t>Online Interviewing </a:t>
            </a:r>
            <a:endParaRPr lang="en-US" dirty="0" smtClean="0"/>
          </a:p>
          <a:p>
            <a:pPr>
              <a:buFont typeface="Wingdings" panose="05000000000000000000" pitchFamily="2" charset="2"/>
              <a:buChar char="q"/>
            </a:pPr>
            <a:r>
              <a:rPr lang="en-US" dirty="0"/>
              <a:t>E-mail Interviewing </a:t>
            </a:r>
            <a:endParaRPr lang="en-US" dirty="0" smtClean="0"/>
          </a:p>
          <a:p>
            <a:pPr>
              <a:buFont typeface="Wingdings" panose="05000000000000000000" pitchFamily="2" charset="2"/>
              <a:buChar char="q"/>
            </a:pPr>
            <a:r>
              <a:rPr lang="en-US" dirty="0"/>
              <a:t>Online Focus Groups </a:t>
            </a:r>
            <a:endParaRPr lang="en-US" dirty="0" smtClean="0"/>
          </a:p>
          <a:p>
            <a:pPr>
              <a:buFont typeface="Wingdings" panose="05000000000000000000" pitchFamily="2" charset="2"/>
              <a:buChar char="q"/>
            </a:pPr>
            <a:r>
              <a:rPr lang="en-US" dirty="0"/>
              <a:t>Analyzing Internet Documents </a:t>
            </a:r>
            <a:endParaRPr lang="en-US" dirty="0" smtClean="0"/>
          </a:p>
          <a:p>
            <a:pPr marL="0" indent="0">
              <a:buNone/>
            </a:pPr>
            <a:r>
              <a:rPr lang="en-US" dirty="0" smtClean="0"/>
              <a:t>There </a:t>
            </a:r>
            <a:r>
              <a:rPr lang="en-US" dirty="0"/>
              <a:t>is a much greater amount of anonymity for the </a:t>
            </a:r>
            <a:r>
              <a:rPr lang="en-US" dirty="0" smtClean="0"/>
              <a:t>participants online, </a:t>
            </a:r>
            <a:r>
              <a:rPr lang="en-US" dirty="0"/>
              <a:t>which may protect them from any detection of their person during the research and from the results. For the researchers, this makes any form of (real-life) contextualization of the statements and the persons in their study much more difficult. Transferring qualitative research to the realm of the Internet is a challenge for many approaches. </a:t>
            </a:r>
          </a:p>
        </p:txBody>
      </p:sp>
    </p:spTree>
    <p:extLst>
      <p:ext uri="{BB962C8B-B14F-4D97-AF65-F5344CB8AC3E}">
        <p14:creationId xmlns:p14="http://schemas.microsoft.com/office/powerpoint/2010/main" val="292229922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Documentation </a:t>
            </a:r>
            <a:r>
              <a:rPr lang="en-US" dirty="0"/>
              <a:t>of data</a:t>
            </a:r>
          </a:p>
        </p:txBody>
      </p:sp>
      <p:sp>
        <p:nvSpPr>
          <p:cNvPr id="3" name="Content Placeholder 2"/>
          <p:cNvSpPr>
            <a:spLocks noGrp="1"/>
          </p:cNvSpPr>
          <p:nvPr>
            <p:ph idx="1"/>
          </p:nvPr>
        </p:nvSpPr>
        <p:spPr>
          <a:xfrm>
            <a:off x="922439" y="1737360"/>
            <a:ext cx="10058400" cy="4023360"/>
          </a:xfrm>
        </p:spPr>
        <p:txBody>
          <a:bodyPr>
            <a:normAutofit fontScale="92500" lnSpcReduction="10000"/>
          </a:bodyPr>
          <a:lstStyle/>
          <a:p>
            <a:pPr>
              <a:lnSpc>
                <a:spcPct val="150000"/>
              </a:lnSpc>
            </a:pPr>
            <a:r>
              <a:rPr lang="en-US" dirty="0"/>
              <a:t>• The documentation of data is not just a technical step in the research process. It also has an influence on the quality of the data that can be used for interpretations. </a:t>
            </a:r>
            <a:endParaRPr lang="en-US" dirty="0" smtClean="0"/>
          </a:p>
          <a:p>
            <a:pPr>
              <a:lnSpc>
                <a:spcPct val="150000"/>
              </a:lnSpc>
            </a:pPr>
            <a:r>
              <a:rPr lang="en-US" dirty="0" smtClean="0"/>
              <a:t>• </a:t>
            </a:r>
            <a:r>
              <a:rPr lang="en-US" dirty="0"/>
              <a:t>New technologies of recording have changed the possibilities of documentation and also the characteristics of qualitative data. </a:t>
            </a:r>
            <a:endParaRPr lang="en-US" dirty="0" smtClean="0"/>
          </a:p>
          <a:p>
            <a:pPr>
              <a:lnSpc>
                <a:spcPct val="150000"/>
              </a:lnSpc>
            </a:pPr>
            <a:r>
              <a:rPr lang="en-US" dirty="0" smtClean="0"/>
              <a:t>• </a:t>
            </a:r>
            <a:r>
              <a:rPr lang="en-US" dirty="0"/>
              <a:t>Though transcription is an important step in the analysis of data, the concern (sometimes excessive) with exactness should not predominate. </a:t>
            </a:r>
            <a:endParaRPr lang="en-US" dirty="0" smtClean="0"/>
          </a:p>
          <a:p>
            <a:pPr>
              <a:lnSpc>
                <a:spcPct val="150000"/>
              </a:lnSpc>
            </a:pPr>
            <a:r>
              <a:rPr lang="en-US" dirty="0" smtClean="0"/>
              <a:t>• </a:t>
            </a:r>
            <a:r>
              <a:rPr lang="en-US" dirty="0"/>
              <a:t>Field notes and research diaries can also provide precious information about the experiences in research. </a:t>
            </a:r>
          </a:p>
        </p:txBody>
      </p:sp>
    </p:spTree>
    <p:extLst>
      <p:ext uri="{BB962C8B-B14F-4D97-AF65-F5344CB8AC3E}">
        <p14:creationId xmlns:p14="http://schemas.microsoft.com/office/powerpoint/2010/main" val="39443350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3201"/>
            <a:ext cx="10058400" cy="1450757"/>
          </a:xfrm>
        </p:spPr>
        <p:txBody>
          <a:bodyPr/>
          <a:lstStyle/>
          <a:p>
            <a:r>
              <a:rPr lang="en-US" dirty="0" smtClean="0"/>
              <a:t>Coding</a:t>
            </a:r>
            <a:endParaRPr lang="en-US" dirty="0"/>
          </a:p>
        </p:txBody>
      </p:sp>
      <p:sp>
        <p:nvSpPr>
          <p:cNvPr id="3" name="Content Placeholder 2"/>
          <p:cNvSpPr>
            <a:spLocks noGrp="1"/>
          </p:cNvSpPr>
          <p:nvPr>
            <p:ph idx="1"/>
          </p:nvPr>
        </p:nvSpPr>
        <p:spPr>
          <a:xfrm>
            <a:off x="933734" y="1924335"/>
            <a:ext cx="10515600" cy="4703005"/>
          </a:xfrm>
        </p:spPr>
        <p:txBody>
          <a:bodyPr>
            <a:normAutofit/>
          </a:bodyPr>
          <a:lstStyle/>
          <a:p>
            <a:pPr>
              <a:buFont typeface="Wingdings" panose="05000000000000000000" pitchFamily="2" charset="2"/>
              <a:buChar char="q"/>
            </a:pPr>
            <a:r>
              <a:rPr lang="en-US" dirty="0"/>
              <a:t>Coding is often a combination of a very fine analysis of some parts of the text and a rough classification and summary of other parts. </a:t>
            </a:r>
          </a:p>
          <a:p>
            <a:pPr>
              <a:buFont typeface="Wingdings" panose="05000000000000000000" pitchFamily="2" charset="2"/>
              <a:buChar char="q"/>
            </a:pPr>
            <a:r>
              <a:rPr lang="en-US" dirty="0" smtClean="0"/>
              <a:t>Open </a:t>
            </a:r>
            <a:r>
              <a:rPr lang="en-US" dirty="0"/>
              <a:t>Coding This first step aims at expressing data and phenomena in the form of concepts. For this purpose, data are first disentangled ("segmented"). Units of meaning classify expressions (single words, short sequences of words) in order to attach annotations and "concepts" (codes) to them. </a:t>
            </a:r>
            <a:endParaRPr lang="en-US" dirty="0" smtClean="0"/>
          </a:p>
          <a:p>
            <a:pPr>
              <a:buFont typeface="Wingdings" panose="05000000000000000000" pitchFamily="2" charset="2"/>
              <a:buChar char="q"/>
            </a:pPr>
            <a:r>
              <a:rPr lang="en-US" dirty="0"/>
              <a:t>Axial Coding After identifying a number of substantive categories, the next step is to refine and differentiate the categories resulting from open coding. Axial coding is the process of relating subcategories to a category. It is a complex process of inductive and deductive thinking involving several steps</a:t>
            </a:r>
            <a:r>
              <a:rPr lang="en-US" dirty="0" smtClean="0"/>
              <a:t>.</a:t>
            </a:r>
          </a:p>
          <a:p>
            <a:endParaRPr lang="en-US" dirty="0"/>
          </a:p>
        </p:txBody>
      </p:sp>
    </p:spTree>
    <p:extLst>
      <p:ext uri="{BB962C8B-B14F-4D97-AF65-F5344CB8AC3E}">
        <p14:creationId xmlns:p14="http://schemas.microsoft.com/office/powerpoint/2010/main" val="224061364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Coding</a:t>
            </a:r>
            <a:endParaRPr lang="en-US" dirty="0"/>
          </a:p>
        </p:txBody>
      </p:sp>
      <p:sp>
        <p:nvSpPr>
          <p:cNvPr id="3" name="Content Placeholder 2"/>
          <p:cNvSpPr>
            <a:spLocks noGrp="1"/>
          </p:cNvSpPr>
          <p:nvPr>
            <p:ph idx="1"/>
          </p:nvPr>
        </p:nvSpPr>
        <p:spPr>
          <a:xfrm>
            <a:off x="1097280" y="2366434"/>
            <a:ext cx="10058400" cy="4023360"/>
          </a:xfrm>
        </p:spPr>
        <p:txBody>
          <a:bodyPr/>
          <a:lstStyle/>
          <a:p>
            <a:pPr>
              <a:buFont typeface="Wingdings" panose="05000000000000000000" pitchFamily="2" charset="2"/>
              <a:buChar char="q"/>
            </a:pPr>
            <a:r>
              <a:rPr lang="en-US" dirty="0"/>
              <a:t>Selective Coding The third step, selective coding, continues the axial coding at a higher level of abstraction. This step elaborates the development and integration of it in comparison to other groups and focuses on potential core concepts or core variables. </a:t>
            </a:r>
            <a:endParaRPr lang="en-US" dirty="0" smtClean="0"/>
          </a:p>
          <a:p>
            <a:pPr>
              <a:buFont typeface="Wingdings" panose="05000000000000000000" pitchFamily="2" charset="2"/>
              <a:buChar char="q"/>
            </a:pPr>
            <a:r>
              <a:rPr lang="en-US" dirty="0"/>
              <a:t> </a:t>
            </a:r>
            <a:r>
              <a:rPr lang="en-US" dirty="0" smtClean="0"/>
              <a:t>Thematic </a:t>
            </a:r>
            <a:r>
              <a:rPr lang="en-US" dirty="0"/>
              <a:t>coding is applied as a multi-stage procedure—again, with respect to the comparability of the analyses. The first step </a:t>
            </a:r>
            <a:r>
              <a:rPr lang="en-US" dirty="0" smtClean="0"/>
              <a:t>addresses </a:t>
            </a:r>
            <a:r>
              <a:rPr lang="en-US" dirty="0"/>
              <a:t>the cases involved, which are interpreted in a series of case studies. </a:t>
            </a:r>
            <a:endParaRPr lang="en-US" dirty="0" smtClean="0"/>
          </a:p>
          <a:p>
            <a:pPr>
              <a:buFont typeface="Wingdings" panose="05000000000000000000" pitchFamily="2" charset="2"/>
              <a:buChar char="q"/>
            </a:pPr>
            <a:r>
              <a:rPr lang="en-US" dirty="0"/>
              <a:t>The developed thematic structure also serves for comparing cases and groups (i.e., for elaborating correspondences and differences between the various groups in the study). </a:t>
            </a:r>
          </a:p>
        </p:txBody>
      </p:sp>
    </p:spTree>
    <p:extLst>
      <p:ext uri="{BB962C8B-B14F-4D97-AF65-F5344CB8AC3E}">
        <p14:creationId xmlns:p14="http://schemas.microsoft.com/office/powerpoint/2010/main" val="26896938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Qualitative Content Analysis </a:t>
            </a:r>
          </a:p>
        </p:txBody>
      </p:sp>
      <p:sp>
        <p:nvSpPr>
          <p:cNvPr id="3" name="Content Placeholder 2"/>
          <p:cNvSpPr>
            <a:spLocks noGrp="1"/>
          </p:cNvSpPr>
          <p:nvPr>
            <p:ph idx="1"/>
          </p:nvPr>
        </p:nvSpPr>
        <p:spPr>
          <a:xfrm>
            <a:off x="1097280" y="2134422"/>
            <a:ext cx="10058400" cy="4023360"/>
          </a:xfrm>
        </p:spPr>
        <p:txBody>
          <a:bodyPr/>
          <a:lstStyle/>
          <a:p>
            <a:pPr>
              <a:buFont typeface="Wingdings" panose="05000000000000000000" pitchFamily="2" charset="2"/>
              <a:buChar char="q"/>
            </a:pPr>
            <a:r>
              <a:rPr lang="en-US" dirty="0"/>
              <a:t>Content analysis is one of the classical procedures for analyzing textual material no matter where this material comes from—ranging from media products to interview data (Bauer 2000</a:t>
            </a:r>
            <a:r>
              <a:rPr lang="en-US" dirty="0" smtClean="0"/>
              <a:t>).</a:t>
            </a:r>
          </a:p>
          <a:p>
            <a:pPr>
              <a:buFont typeface="Wingdings" panose="05000000000000000000" pitchFamily="2" charset="2"/>
              <a:buChar char="q"/>
            </a:pPr>
            <a:r>
              <a:rPr lang="en-US" dirty="0"/>
              <a:t>The structuring content analysis looks for types or formal structures in the material. Structuring is done on the formal, typifying, scaling level or as regards </a:t>
            </a:r>
            <a:r>
              <a:rPr lang="en-US" dirty="0" smtClean="0"/>
              <a:t>content.</a:t>
            </a:r>
          </a:p>
          <a:p>
            <a:pPr>
              <a:buFont typeface="Wingdings" panose="05000000000000000000" pitchFamily="2" charset="2"/>
              <a:buChar char="q"/>
            </a:pPr>
            <a:r>
              <a:rPr lang="en-US" dirty="0"/>
              <a:t>Explicative content analysis </a:t>
            </a:r>
            <a:r>
              <a:rPr lang="en-US" dirty="0" smtClean="0"/>
              <a:t>clarifies </a:t>
            </a:r>
            <a:r>
              <a:rPr lang="en-US" dirty="0"/>
              <a:t>diffuse, ambiguous, or contradictory passages by involving context material in the analysis. </a:t>
            </a:r>
          </a:p>
        </p:txBody>
      </p:sp>
    </p:spTree>
    <p:extLst>
      <p:ext uri="{BB962C8B-B14F-4D97-AF65-F5344CB8AC3E}">
        <p14:creationId xmlns:p14="http://schemas.microsoft.com/office/powerpoint/2010/main" val="224611458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l="28193" t="8542" r="34776" b="12106"/>
          <a:stretch/>
        </p:blipFill>
        <p:spPr>
          <a:xfrm>
            <a:off x="1097280" y="286603"/>
            <a:ext cx="7800832" cy="5488859"/>
          </a:xfrm>
          <a:prstGeom prst="rect">
            <a:avLst/>
          </a:prstGeom>
        </p:spPr>
      </p:pic>
    </p:spTree>
    <p:extLst>
      <p:ext uri="{BB962C8B-B14F-4D97-AF65-F5344CB8AC3E}">
        <p14:creationId xmlns:p14="http://schemas.microsoft.com/office/powerpoint/2010/main" val="24777292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Conversation Analysis </a:t>
            </a:r>
          </a:p>
        </p:txBody>
      </p:sp>
      <p:sp>
        <p:nvSpPr>
          <p:cNvPr id="3" name="Content Placeholder 2"/>
          <p:cNvSpPr>
            <a:spLocks noGrp="1"/>
          </p:cNvSpPr>
          <p:nvPr>
            <p:ph idx="1"/>
          </p:nvPr>
        </p:nvSpPr>
        <p:spPr>
          <a:xfrm>
            <a:off x="838200" y="1473958"/>
            <a:ext cx="10515600" cy="4703005"/>
          </a:xfrm>
        </p:spPr>
        <p:txBody>
          <a:bodyPr/>
          <a:lstStyle/>
          <a:p>
            <a:endParaRPr lang="en-US" dirty="0" smtClean="0"/>
          </a:p>
          <a:p>
            <a:endParaRPr lang="en-US" dirty="0"/>
          </a:p>
          <a:p>
            <a:pPr>
              <a:buFont typeface="Wingdings" panose="05000000000000000000" pitchFamily="2" charset="2"/>
              <a:buChar char="q"/>
            </a:pPr>
            <a:r>
              <a:rPr lang="en-US" dirty="0" smtClean="0"/>
              <a:t>Conversation </a:t>
            </a:r>
            <a:r>
              <a:rPr lang="en-US" dirty="0"/>
              <a:t>Analysis (or CA) denotes a research approach dedicated to the investigation, along strictly empirical lines, of social interaction as a continuing process of producing and securing meaningful social order. </a:t>
            </a:r>
            <a:endParaRPr lang="en-US" dirty="0" smtClean="0"/>
          </a:p>
          <a:p>
            <a:pPr>
              <a:buFont typeface="Wingdings" panose="05000000000000000000" pitchFamily="2" charset="2"/>
              <a:buChar char="q"/>
            </a:pPr>
            <a:r>
              <a:rPr lang="en-US" dirty="0"/>
              <a:t>The Procedure of Conversation Analysis Ten Have (1999, p. 48) suggests the following steps for research projects </a:t>
            </a:r>
            <a:r>
              <a:rPr lang="en-US" dirty="0" err="1"/>
              <a:t>usingconversation</a:t>
            </a:r>
            <a:r>
              <a:rPr lang="en-US" dirty="0"/>
              <a:t> analysis as a method: </a:t>
            </a:r>
          </a:p>
          <a:p>
            <a:pPr>
              <a:buFont typeface="Wingdings" panose="05000000000000000000" pitchFamily="2" charset="2"/>
              <a:buChar char="q"/>
            </a:pPr>
            <a:r>
              <a:rPr lang="en-US" dirty="0"/>
              <a:t>1 getting or making recordings of natural interaction; 2 transcribing the tapes, in whole or in part; 3 analyzing selected episodes; and 4 reporting the research.</a:t>
            </a:r>
          </a:p>
        </p:txBody>
      </p:sp>
    </p:spTree>
    <p:extLst>
      <p:ext uri="{BB962C8B-B14F-4D97-AF65-F5344CB8AC3E}">
        <p14:creationId xmlns:p14="http://schemas.microsoft.com/office/powerpoint/2010/main" val="88567406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Discourse Analysis </a:t>
            </a:r>
          </a:p>
        </p:txBody>
      </p:sp>
      <p:sp>
        <p:nvSpPr>
          <p:cNvPr id="3" name="Content Placeholder 2"/>
          <p:cNvSpPr>
            <a:spLocks noGrp="1"/>
          </p:cNvSpPr>
          <p:nvPr>
            <p:ph idx="1"/>
          </p:nvPr>
        </p:nvSpPr>
        <p:spPr>
          <a:xfrm>
            <a:off x="826905" y="1737360"/>
            <a:ext cx="10058400" cy="4023360"/>
          </a:xfrm>
        </p:spPr>
        <p:txBody>
          <a:bodyPr>
            <a:normAutofit/>
          </a:bodyPr>
          <a:lstStyle/>
          <a:p>
            <a:pPr>
              <a:lnSpc>
                <a:spcPct val="150000"/>
              </a:lnSpc>
              <a:buFont typeface="Wingdings" panose="05000000000000000000" pitchFamily="2" charset="2"/>
              <a:buChar char="q"/>
            </a:pPr>
            <a:r>
              <a:rPr lang="en-US" dirty="0"/>
              <a:t>Discourse analysis has been developed from different backgrounds, one of which was conversation analysis. Discourse analytic procedures refer not only to everyday conversations, but also to other sorts of data such as </a:t>
            </a:r>
            <a:r>
              <a:rPr lang="en-US" dirty="0" smtClean="0"/>
              <a:t>interviews or </a:t>
            </a:r>
            <a:r>
              <a:rPr lang="en-US" dirty="0"/>
              <a:t>media </a:t>
            </a:r>
            <a:r>
              <a:rPr lang="en-US" dirty="0" smtClean="0"/>
              <a:t>reports.</a:t>
            </a:r>
          </a:p>
          <a:p>
            <a:pPr>
              <a:lnSpc>
                <a:spcPct val="150000"/>
              </a:lnSpc>
              <a:buFont typeface="Wingdings" panose="05000000000000000000" pitchFamily="2" charset="2"/>
              <a:buChar char="q"/>
            </a:pPr>
            <a:r>
              <a:rPr lang="en-US" dirty="0"/>
              <a:t>Parker (for example, 2004) has developed a model of critical discourse analysis, built on the background developed by Michel Foucault (e.g., Foucault 1980) which is why this is also referred to as "Foucauldian Discourse Analysis" (e.g., </a:t>
            </a:r>
            <a:r>
              <a:rPr lang="en-US" dirty="0" err="1"/>
              <a:t>inWillig</a:t>
            </a:r>
            <a:r>
              <a:rPr lang="en-US" dirty="0"/>
              <a:t> 2003). Here issues of critique, of ideology, and of power are more in focus than in other versions of discourse analysis. Parker suggests a number of steps in the research process: </a:t>
            </a:r>
          </a:p>
        </p:txBody>
      </p:sp>
    </p:spTree>
    <p:extLst>
      <p:ext uri="{BB962C8B-B14F-4D97-AF65-F5344CB8AC3E}">
        <p14:creationId xmlns:p14="http://schemas.microsoft.com/office/powerpoint/2010/main" val="131346268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Discourse Analysis</a:t>
            </a:r>
            <a:endParaRPr lang="en-US" dirty="0"/>
          </a:p>
        </p:txBody>
      </p:sp>
      <p:sp>
        <p:nvSpPr>
          <p:cNvPr id="3" name="Content Placeholder 2"/>
          <p:cNvSpPr>
            <a:spLocks noGrp="1"/>
          </p:cNvSpPr>
          <p:nvPr>
            <p:ph idx="1"/>
          </p:nvPr>
        </p:nvSpPr>
        <p:spPr>
          <a:xfrm>
            <a:off x="1097280" y="1902410"/>
            <a:ext cx="10058400" cy="4023360"/>
          </a:xfrm>
        </p:spPr>
        <p:txBody>
          <a:bodyPr>
            <a:normAutofit fontScale="92500" lnSpcReduction="20000"/>
          </a:bodyPr>
          <a:lstStyle/>
          <a:p>
            <a:r>
              <a:rPr lang="en-US" dirty="0"/>
              <a:t>1 The researcher should turn the text to be analyzed into written form, if it is not already</a:t>
            </a:r>
            <a:r>
              <a:rPr lang="en-US" dirty="0" smtClean="0"/>
              <a:t>.</a:t>
            </a:r>
          </a:p>
          <a:p>
            <a:r>
              <a:rPr lang="en-US" dirty="0" smtClean="0"/>
              <a:t>2 </a:t>
            </a:r>
            <a:r>
              <a:rPr lang="en-US" dirty="0"/>
              <a:t>The next step includes free association to varieties of meaning as a way of accessing cultural networks, and these should be noted down. </a:t>
            </a:r>
            <a:endParaRPr lang="en-US" dirty="0" smtClean="0"/>
          </a:p>
          <a:p>
            <a:r>
              <a:rPr lang="en-US" dirty="0" smtClean="0"/>
              <a:t>3 </a:t>
            </a:r>
            <a:r>
              <a:rPr lang="en-US" dirty="0"/>
              <a:t>The researchers should systematically itemize the objects, usually marked by nouns, in the text or selected portion of text. </a:t>
            </a:r>
            <a:endParaRPr lang="en-US" dirty="0" smtClean="0"/>
          </a:p>
          <a:p>
            <a:r>
              <a:rPr lang="en-US" dirty="0" smtClean="0"/>
              <a:t>4 </a:t>
            </a:r>
            <a:r>
              <a:rPr lang="en-US" dirty="0"/>
              <a:t>They should maintain a distance from the text by treating the text itself as the object of the study rather than what it seems to "refer" to. </a:t>
            </a:r>
            <a:endParaRPr lang="en-US" dirty="0" smtClean="0"/>
          </a:p>
          <a:p>
            <a:r>
              <a:rPr lang="en-US" dirty="0" smtClean="0"/>
              <a:t>5 </a:t>
            </a:r>
            <a:r>
              <a:rPr lang="en-US" dirty="0"/>
              <a:t>Then they should systematically itemize the "subjects"—characters, persona, role positions—specified in the text. </a:t>
            </a:r>
            <a:endParaRPr lang="en-US" dirty="0" smtClean="0"/>
          </a:p>
          <a:p>
            <a:r>
              <a:rPr lang="en-US" dirty="0" smtClean="0"/>
              <a:t>6 </a:t>
            </a:r>
            <a:r>
              <a:rPr lang="en-US" dirty="0"/>
              <a:t>They should reconstruct presupposed rights and responsibilities of "subjects" specified in the text. </a:t>
            </a:r>
            <a:endParaRPr lang="en-US" dirty="0" smtClean="0"/>
          </a:p>
          <a:p>
            <a:r>
              <a:rPr lang="en-US" dirty="0" smtClean="0"/>
              <a:t>7 </a:t>
            </a:r>
            <a:r>
              <a:rPr lang="en-US" dirty="0"/>
              <a:t>Finally, they should map the networks of relationships into patterns. These patterns in language axe "discourses," and can then be located in relations of ideology, power, and institutions, (see Parker 2004, p. 310) </a:t>
            </a:r>
          </a:p>
        </p:txBody>
      </p:sp>
    </p:spTree>
    <p:extLst>
      <p:ext uri="{BB962C8B-B14F-4D97-AF65-F5344CB8AC3E}">
        <p14:creationId xmlns:p14="http://schemas.microsoft.com/office/powerpoint/2010/main" val="57525606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Narrative and Hermeneutics </a:t>
            </a:r>
            <a:endParaRPr lang="en-US" dirty="0"/>
          </a:p>
        </p:txBody>
      </p:sp>
      <p:sp>
        <p:nvSpPr>
          <p:cNvPr id="3" name="Content Placeholder 2"/>
          <p:cNvSpPr>
            <a:spLocks noGrp="1"/>
          </p:cNvSpPr>
          <p:nvPr>
            <p:ph idx="1"/>
          </p:nvPr>
        </p:nvSpPr>
        <p:spPr>
          <a:xfrm>
            <a:off x="1097280" y="2011593"/>
            <a:ext cx="10058400" cy="4023360"/>
          </a:xfrm>
        </p:spPr>
        <p:txBody>
          <a:bodyPr/>
          <a:lstStyle/>
          <a:p>
            <a:r>
              <a:rPr lang="en-US" dirty="0"/>
              <a:t>Narrative and hermeneutic approaches take into account the structure of the text. The analysis follows the structure of the text (sequentially) and sees the statements in this context. Biographical texts are analyzed in the light of the sequence of the events that is reported so that </a:t>
            </a:r>
            <a:endParaRPr lang="en-US" dirty="0" smtClean="0"/>
          </a:p>
          <a:p>
            <a:r>
              <a:rPr lang="en-US" dirty="0" smtClean="0"/>
              <a:t>(</a:t>
            </a:r>
            <a:r>
              <a:rPr lang="en-US" dirty="0"/>
              <a:t>1) the internal structure of the life history and </a:t>
            </a:r>
            <a:endParaRPr lang="en-US" dirty="0" smtClean="0"/>
          </a:p>
          <a:p>
            <a:r>
              <a:rPr lang="en-US" dirty="0" smtClean="0"/>
              <a:t>(</a:t>
            </a:r>
            <a:r>
              <a:rPr lang="en-US" dirty="0"/>
              <a:t>2) the external structure of the life reported in it may be related to each other. Social science hermeneutics links such a sequential analysis with open coding according to grounded theory research. </a:t>
            </a:r>
          </a:p>
        </p:txBody>
      </p:sp>
    </p:spTree>
    <p:extLst>
      <p:ext uri="{BB962C8B-B14F-4D97-AF65-F5344CB8AC3E}">
        <p14:creationId xmlns:p14="http://schemas.microsoft.com/office/powerpoint/2010/main" val="10998603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Issues in Qualitative research</a:t>
            </a:r>
            <a:endParaRPr lang="en-US" dirty="0"/>
          </a:p>
        </p:txBody>
      </p:sp>
      <p:sp>
        <p:nvSpPr>
          <p:cNvPr id="3" name="Content Placeholder 2"/>
          <p:cNvSpPr>
            <a:spLocks noGrp="1"/>
          </p:cNvSpPr>
          <p:nvPr>
            <p:ph idx="1"/>
          </p:nvPr>
        </p:nvSpPr>
        <p:spPr>
          <a:xfrm>
            <a:off x="1097280" y="2025240"/>
            <a:ext cx="10058400" cy="4023360"/>
          </a:xfrm>
        </p:spPr>
        <p:txBody>
          <a:bodyPr>
            <a:normAutofit/>
          </a:bodyPr>
          <a:lstStyle/>
          <a:p>
            <a:r>
              <a:rPr lang="en-US" dirty="0"/>
              <a:t>• Traditional criteria often miss the specific features of qualitative research and data. </a:t>
            </a:r>
            <a:endParaRPr lang="en-US" dirty="0" smtClean="0"/>
          </a:p>
          <a:p>
            <a:r>
              <a:rPr lang="en-US" dirty="0" smtClean="0"/>
              <a:t>• </a:t>
            </a:r>
            <a:r>
              <a:rPr lang="en-US" dirty="0"/>
              <a:t>There are many suggestions for alternative criteria, but none of them solves the problem of adequate quality assessment. </a:t>
            </a:r>
            <a:endParaRPr lang="en-US" dirty="0" smtClean="0"/>
          </a:p>
          <a:p>
            <a:r>
              <a:rPr lang="en-US" dirty="0" smtClean="0"/>
              <a:t>• </a:t>
            </a:r>
            <a:r>
              <a:rPr lang="en-US" dirty="0"/>
              <a:t>One issue is whether to develop criteria for (1) qualitative research as a whole or (2) specific approaches in qualitative research. </a:t>
            </a:r>
            <a:endParaRPr lang="en-US" dirty="0" smtClean="0"/>
          </a:p>
          <a:p>
            <a:r>
              <a:rPr lang="en-US" dirty="0" smtClean="0"/>
              <a:t>• </a:t>
            </a:r>
            <a:r>
              <a:rPr lang="en-US" dirty="0"/>
              <a:t>Criteria can focus on formal aspects (was the method applied correctly?) or on the quality of the insights produced by the research (</a:t>
            </a:r>
            <a:r>
              <a:rPr lang="en-US" dirty="0" smtClean="0"/>
              <a:t>what’s </a:t>
            </a:r>
            <a:r>
              <a:rPr lang="en-US" dirty="0"/>
              <a:t>new?). </a:t>
            </a:r>
            <a:endParaRPr lang="en-US" dirty="0" smtClean="0"/>
          </a:p>
          <a:p>
            <a:r>
              <a:rPr lang="en-US" dirty="0" smtClean="0"/>
              <a:t>• </a:t>
            </a:r>
            <a:r>
              <a:rPr lang="en-US" dirty="0"/>
              <a:t>Qualitative research is confronted by external entities (funding agencies, customers of qualitative research, and results) with the challenge of quality assessment. </a:t>
            </a:r>
          </a:p>
        </p:txBody>
      </p:sp>
    </p:spTree>
    <p:extLst>
      <p:ext uri="{BB962C8B-B14F-4D97-AF65-F5344CB8AC3E}">
        <p14:creationId xmlns:p14="http://schemas.microsoft.com/office/powerpoint/2010/main" val="408009643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058400" cy="1450757"/>
          </a:xfrm>
        </p:spPr>
        <p:txBody>
          <a:bodyPr/>
          <a:lstStyle/>
          <a:p>
            <a:r>
              <a:rPr lang="en-US" dirty="0"/>
              <a:t>Triangulation </a:t>
            </a:r>
          </a:p>
        </p:txBody>
      </p:sp>
      <p:sp>
        <p:nvSpPr>
          <p:cNvPr id="3" name="Content Placeholder 2"/>
          <p:cNvSpPr>
            <a:spLocks noGrp="1"/>
          </p:cNvSpPr>
          <p:nvPr>
            <p:ph idx="1"/>
          </p:nvPr>
        </p:nvSpPr>
        <p:spPr>
          <a:xfrm>
            <a:off x="838200" y="1856096"/>
            <a:ext cx="10515600" cy="4648414"/>
          </a:xfrm>
        </p:spPr>
        <p:txBody>
          <a:bodyPr>
            <a:normAutofit/>
          </a:bodyPr>
          <a:lstStyle/>
          <a:p>
            <a:pPr marL="0" indent="0">
              <a:buNone/>
            </a:pPr>
            <a:r>
              <a:rPr lang="en-US" dirty="0"/>
              <a:t>Triangulation </a:t>
            </a:r>
            <a:r>
              <a:rPr lang="en-US" dirty="0" smtClean="0"/>
              <a:t>is </a:t>
            </a:r>
            <a:r>
              <a:rPr lang="en-US" dirty="0"/>
              <a:t>also used as a strategy for improving the quality of qualitative research by extending the approach to the issue under study. This can be done in four ways. </a:t>
            </a:r>
            <a:endParaRPr lang="en-US" dirty="0" smtClean="0"/>
          </a:p>
          <a:p>
            <a:r>
              <a:rPr lang="en-US" dirty="0" smtClean="0"/>
              <a:t>The </a:t>
            </a:r>
            <a:r>
              <a:rPr lang="en-US" dirty="0"/>
              <a:t>first way is to use additional methods (e.g., two qualitative methods or by adding a quantitative </a:t>
            </a:r>
            <a:r>
              <a:rPr lang="en-US" dirty="0" smtClean="0"/>
              <a:t>approach—using </a:t>
            </a:r>
            <a:r>
              <a:rPr lang="en-US" dirty="0"/>
              <a:t>two methodological approaches in one </a:t>
            </a:r>
            <a:r>
              <a:rPr lang="en-US" dirty="0" smtClean="0"/>
              <a:t>method.</a:t>
            </a:r>
          </a:p>
          <a:p>
            <a:r>
              <a:rPr lang="en-US" dirty="0" smtClean="0"/>
              <a:t>The </a:t>
            </a:r>
            <a:r>
              <a:rPr lang="en-US" dirty="0"/>
              <a:t>second way is to include different sorts of data in your project. </a:t>
            </a:r>
            <a:endParaRPr lang="en-US" dirty="0" smtClean="0"/>
          </a:p>
          <a:p>
            <a:r>
              <a:rPr lang="en-US" dirty="0" smtClean="0"/>
              <a:t>The </a:t>
            </a:r>
            <a:r>
              <a:rPr lang="en-US" dirty="0"/>
              <a:t>third way is to take a different theoretical perspective—studying the issue under study with more than one research perspective in qualitative </a:t>
            </a:r>
            <a:r>
              <a:rPr lang="en-US" dirty="0" smtClean="0"/>
              <a:t>research. </a:t>
            </a:r>
          </a:p>
          <a:p>
            <a:r>
              <a:rPr lang="en-US" dirty="0" smtClean="0"/>
              <a:t>And </a:t>
            </a:r>
            <a:r>
              <a:rPr lang="en-US" dirty="0"/>
              <a:t>finally the fourth way is to involve two or more researchers in the project with different theoretical-methodological backgrounds. </a:t>
            </a:r>
            <a:endParaRPr lang="en-US" dirty="0" smtClean="0"/>
          </a:p>
          <a:p>
            <a:r>
              <a:rPr lang="en-US" dirty="0" smtClean="0"/>
              <a:t>These </a:t>
            </a:r>
            <a:r>
              <a:rPr lang="en-US" dirty="0"/>
              <a:t>four ways of triangulating methods, data, theories, and investigators were suggested by Denzin (1989b) and can be used as strategies for producing better knowledge in the </a:t>
            </a:r>
            <a:r>
              <a:rPr lang="en-US" dirty="0" smtClean="0"/>
              <a:t>research or </a:t>
            </a:r>
            <a:r>
              <a:rPr lang="en-US" dirty="0"/>
              <a:t>as strategies for improving the quality of qualitative research </a:t>
            </a:r>
          </a:p>
        </p:txBody>
      </p:sp>
    </p:spTree>
    <p:extLst>
      <p:ext uri="{BB962C8B-B14F-4D97-AF65-F5344CB8AC3E}">
        <p14:creationId xmlns:p14="http://schemas.microsoft.com/office/powerpoint/2010/main" val="274783347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Triangulation</a:t>
            </a:r>
            <a:endParaRPr lang="en-US" dirty="0"/>
          </a:p>
        </p:txBody>
      </p:sp>
      <p:sp>
        <p:nvSpPr>
          <p:cNvPr id="3" name="Content Placeholder 2"/>
          <p:cNvSpPr>
            <a:spLocks noGrp="1"/>
          </p:cNvSpPr>
          <p:nvPr>
            <p:ph idx="1"/>
          </p:nvPr>
        </p:nvSpPr>
        <p:spPr>
          <a:xfrm>
            <a:off x="1236338" y="1957001"/>
            <a:ext cx="10058400" cy="4023360"/>
          </a:xfrm>
        </p:spPr>
        <p:txBody>
          <a:bodyPr/>
          <a:lstStyle/>
          <a:p>
            <a:pPr>
              <a:lnSpc>
                <a:spcPct val="200000"/>
              </a:lnSpc>
            </a:pPr>
            <a:r>
              <a:rPr lang="en-US" dirty="0"/>
              <a:t>Theory triangulation is the third type in Denzin's </a:t>
            </a:r>
            <a:r>
              <a:rPr lang="en-US" dirty="0" err="1"/>
              <a:t>systematology</a:t>
            </a:r>
            <a:r>
              <a:rPr lang="en-US" dirty="0"/>
              <a:t>. The starting point is "approaching data with multiple perspectives and hypotheses in mind ....Various theoretical points of view could be placed side by side to assess their utility and </a:t>
            </a:r>
            <a:r>
              <a:rPr lang="en-US" dirty="0" smtClean="0"/>
              <a:t>power“.</a:t>
            </a:r>
          </a:p>
          <a:p>
            <a:pPr>
              <a:lnSpc>
                <a:spcPct val="200000"/>
              </a:lnSpc>
            </a:pPr>
            <a:r>
              <a:rPr lang="en-US" dirty="0" smtClean="0"/>
              <a:t>Denzin </a:t>
            </a:r>
            <a:r>
              <a:rPr lang="en-US" dirty="0"/>
              <a:t>mentions methodological triangulation. Here again, two subtypes should be differentiated: within-method and between-method triangulation. </a:t>
            </a:r>
          </a:p>
        </p:txBody>
      </p:sp>
    </p:spTree>
    <p:extLst>
      <p:ext uri="{BB962C8B-B14F-4D97-AF65-F5344CB8AC3E}">
        <p14:creationId xmlns:p14="http://schemas.microsoft.com/office/powerpoint/2010/main" val="131390368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You may use the following guiding questions for </a:t>
            </a:r>
            <a:r>
              <a:rPr lang="en-US" dirty="0" smtClean="0"/>
              <a:t>using triangulation: </a:t>
            </a:r>
            <a:r>
              <a:rPr lang="en-US" dirty="0"/>
              <a:t/>
            </a:r>
            <a:br>
              <a:rPr lang="en-US" dirty="0"/>
            </a:br>
            <a:endParaRPr lang="en-US" dirty="0"/>
          </a:p>
        </p:txBody>
      </p:sp>
      <p:sp>
        <p:nvSpPr>
          <p:cNvPr id="3" name="Content Placeholder 2"/>
          <p:cNvSpPr>
            <a:spLocks noGrp="1"/>
          </p:cNvSpPr>
          <p:nvPr>
            <p:ph idx="1"/>
          </p:nvPr>
        </p:nvSpPr>
        <p:spPr>
          <a:xfrm>
            <a:off x="1509293" y="1861467"/>
            <a:ext cx="10058400" cy="4023360"/>
          </a:xfrm>
        </p:spPr>
        <p:txBody>
          <a:bodyPr>
            <a:normAutofit/>
          </a:bodyPr>
          <a:lstStyle/>
          <a:p>
            <a:r>
              <a:rPr lang="en-US" dirty="0" smtClean="0"/>
              <a:t>• </a:t>
            </a:r>
            <a:r>
              <a:rPr lang="en-US" dirty="0"/>
              <a:t>Does my issue under study require several methodological approaches? </a:t>
            </a:r>
            <a:endParaRPr lang="en-US" dirty="0" smtClean="0"/>
          </a:p>
          <a:p>
            <a:r>
              <a:rPr lang="en-US" dirty="0" smtClean="0"/>
              <a:t>• </a:t>
            </a:r>
            <a:r>
              <a:rPr lang="en-US" dirty="0"/>
              <a:t>Does my research question focus on different aspects or levels of my issue? </a:t>
            </a:r>
            <a:endParaRPr lang="en-US" dirty="0" smtClean="0"/>
          </a:p>
          <a:p>
            <a:r>
              <a:rPr lang="en-US" dirty="0" smtClean="0"/>
              <a:t>• </a:t>
            </a:r>
            <a:r>
              <a:rPr lang="en-US" dirty="0"/>
              <a:t>Do I have several theoretical perspectives on my issue? </a:t>
            </a:r>
            <a:endParaRPr lang="en-US" dirty="0" smtClean="0"/>
          </a:p>
          <a:p>
            <a:r>
              <a:rPr lang="en-US" dirty="0" smtClean="0"/>
              <a:t>• </a:t>
            </a:r>
            <a:r>
              <a:rPr lang="en-US" dirty="0"/>
              <a:t>Are there different levels of information I need to collect for understanding my issue under study? </a:t>
            </a:r>
            <a:endParaRPr lang="en-US" dirty="0" smtClean="0"/>
          </a:p>
          <a:p>
            <a:r>
              <a:rPr lang="en-US" dirty="0" smtClean="0"/>
              <a:t>• </a:t>
            </a:r>
            <a:r>
              <a:rPr lang="en-US" dirty="0"/>
              <a:t>Does the time frame for my study and my resources in general allow triangulation to be used? </a:t>
            </a:r>
            <a:endParaRPr lang="en-US" dirty="0" smtClean="0"/>
          </a:p>
          <a:p>
            <a:r>
              <a:rPr lang="en-US" dirty="0" smtClean="0"/>
              <a:t>• </a:t>
            </a:r>
            <a:r>
              <a:rPr lang="en-US" dirty="0"/>
              <a:t>Can I expect my participants to be exposed to several methods (e.g., being observed and interviewed) or does this overly challenge them? </a:t>
            </a:r>
          </a:p>
        </p:txBody>
      </p:sp>
    </p:spTree>
    <p:extLst>
      <p:ext uri="{BB962C8B-B14F-4D97-AF65-F5344CB8AC3E}">
        <p14:creationId xmlns:p14="http://schemas.microsoft.com/office/powerpoint/2010/main" val="113746259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Schools of Research and Recent Developments </a:t>
            </a:r>
          </a:p>
        </p:txBody>
      </p:sp>
      <p:sp>
        <p:nvSpPr>
          <p:cNvPr id="3" name="Content Placeholder 2"/>
          <p:cNvSpPr>
            <a:spLocks noGrp="1"/>
          </p:cNvSpPr>
          <p:nvPr>
            <p:ph idx="4294967295"/>
          </p:nvPr>
        </p:nvSpPr>
        <p:spPr>
          <a:xfrm>
            <a:off x="1396621" y="2405821"/>
            <a:ext cx="10058400" cy="4022725"/>
          </a:xfrm>
        </p:spPr>
        <p:txBody>
          <a:bodyPr/>
          <a:lstStyle/>
          <a:p>
            <a:pPr>
              <a:buFont typeface="Wingdings" panose="05000000000000000000" pitchFamily="2" charset="2"/>
              <a:buChar char="q"/>
            </a:pPr>
            <a:r>
              <a:rPr lang="en-US" dirty="0"/>
              <a:t>Grounded Theory </a:t>
            </a:r>
            <a:r>
              <a:rPr lang="en-US" dirty="0" smtClean="0"/>
              <a:t>(theory development)</a:t>
            </a:r>
          </a:p>
          <a:p>
            <a:pPr>
              <a:buFont typeface="Wingdings" panose="05000000000000000000" pitchFamily="2" charset="2"/>
              <a:buChar char="q"/>
            </a:pPr>
            <a:r>
              <a:rPr lang="en-US" dirty="0"/>
              <a:t>Ethnomethodology, Conversation, Discourse, and Genre Analysis </a:t>
            </a:r>
            <a:endParaRPr lang="en-US" dirty="0" smtClean="0"/>
          </a:p>
          <a:p>
            <a:pPr>
              <a:buFont typeface="Wingdings" panose="05000000000000000000" pitchFamily="2" charset="2"/>
              <a:buChar char="q"/>
            </a:pPr>
            <a:r>
              <a:rPr lang="en-US" dirty="0" smtClean="0"/>
              <a:t>Ethnography</a:t>
            </a:r>
          </a:p>
          <a:p>
            <a:pPr>
              <a:buFont typeface="Wingdings" panose="05000000000000000000" pitchFamily="2" charset="2"/>
              <a:buChar char="q"/>
            </a:pPr>
            <a:r>
              <a:rPr lang="en-US" dirty="0"/>
              <a:t>Cultural Studies </a:t>
            </a:r>
            <a:endParaRPr lang="en-US" dirty="0" smtClean="0"/>
          </a:p>
          <a:p>
            <a:pPr>
              <a:buFont typeface="Wingdings" panose="05000000000000000000" pitchFamily="2" charset="2"/>
              <a:buChar char="q"/>
            </a:pPr>
            <a:r>
              <a:rPr lang="en-US" dirty="0"/>
              <a:t>Narrative Analysis and Biographical Research </a:t>
            </a:r>
            <a:endParaRPr lang="en-US" dirty="0" smtClean="0"/>
          </a:p>
          <a:p>
            <a:pPr>
              <a:buFont typeface="Wingdings" panose="05000000000000000000" pitchFamily="2" charset="2"/>
              <a:buChar char="q"/>
            </a:pPr>
            <a:r>
              <a:rPr lang="en-US" dirty="0" smtClean="0"/>
              <a:t>Gender Studies</a:t>
            </a:r>
          </a:p>
          <a:p>
            <a:pPr marL="0" indent="0">
              <a:buNone/>
            </a:pPr>
            <a:endParaRPr lang="en-US" dirty="0"/>
          </a:p>
        </p:txBody>
      </p:sp>
    </p:spTree>
    <p:extLst>
      <p:ext uri="{BB962C8B-B14F-4D97-AF65-F5344CB8AC3E}">
        <p14:creationId xmlns:p14="http://schemas.microsoft.com/office/powerpoint/2010/main" val="2709408649"/>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723</TotalTime>
  <Words>3719</Words>
  <Application>Microsoft Office PowerPoint</Application>
  <PresentationFormat>Widescreen</PresentationFormat>
  <Paragraphs>200</Paragraphs>
  <Slides>53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Times New Roman</vt:lpstr>
      <vt:lpstr>Wingdings</vt:lpstr>
      <vt:lpstr>Retrospect</vt:lpstr>
      <vt:lpstr>An Introduction to Qualitative Research</vt:lpstr>
      <vt:lpstr>Toulmin (1990) four tendencies for empirical social research in philosophy and science as a way forward:  </vt:lpstr>
      <vt:lpstr>Integration of Qualitative and Quantitative Research </vt:lpstr>
      <vt:lpstr>PowerPoint Presentation</vt:lpstr>
      <vt:lpstr>Triangulation of Qualitative and Quantitative Research </vt:lpstr>
      <vt:lpstr>Linking Qualitative and Quantitative Results </vt:lpstr>
      <vt:lpstr>Basically, three sorts of outcomes of this combination (see Kelle and Erzberger 2004) may result: </vt:lpstr>
      <vt:lpstr>Code of Ethics</vt:lpstr>
      <vt:lpstr>Several forms of literature in a qualitative study</vt:lpstr>
      <vt:lpstr>Strauss and Corbin (1998, pp. 49-52) list several ways of using the literature:  </vt:lpstr>
      <vt:lpstr>PowerPoint Presentation</vt:lpstr>
      <vt:lpstr>PowerPoint Presentation</vt:lpstr>
      <vt:lpstr>Research Perspectives in the Field of Qualitative Research </vt:lpstr>
      <vt:lpstr>Research Perspectives in the Field of Qualitative Research </vt:lpstr>
      <vt:lpstr>Research Perspectives in the Field of Qualitative Research </vt:lpstr>
      <vt:lpstr>Research Perspectives in the Field of Qualitative Research </vt:lpstr>
      <vt:lpstr>PowerPoint Presentation</vt:lpstr>
      <vt:lpstr>PowerPoint Presentation</vt:lpstr>
      <vt:lpstr>PowerPoint Presentation</vt:lpstr>
      <vt:lpstr>PowerPoint Presentation</vt:lpstr>
      <vt:lpstr>Mimesis refers to the transformation of (originally, for example, in Aristotle, natural) worlds into symbolic worlds. </vt:lpstr>
      <vt:lpstr>PowerPoint Presentation</vt:lpstr>
      <vt:lpstr>PowerPoint Presentation</vt:lpstr>
      <vt:lpstr>Research Questions</vt:lpstr>
      <vt:lpstr>Sampling Decisions in the Research Process </vt:lpstr>
      <vt:lpstr>PowerPoint Presentation</vt:lpstr>
      <vt:lpstr>Sampling Strategies in Qualitative Research </vt:lpstr>
      <vt:lpstr>If you construct a concrete research design for your study, you should consider the following components </vt:lpstr>
      <vt:lpstr>PowerPoint Presentation</vt:lpstr>
      <vt:lpstr>PowerPoint Presentation</vt:lpstr>
      <vt:lpstr>Types of Interviews </vt:lpstr>
      <vt:lpstr>The Structure Laying Technique </vt:lpstr>
      <vt:lpstr>Focus Groups</vt:lpstr>
      <vt:lpstr>What Is the Role of the Moderator? </vt:lpstr>
      <vt:lpstr>What Is the Process, and What Are the Elements of Group Discussions? </vt:lpstr>
      <vt:lpstr>Four types of participant roles: </vt:lpstr>
      <vt:lpstr>Steps in Conducting a Visual, Photographs and Film Analysis </vt:lpstr>
      <vt:lpstr>Using Documents as Data</vt:lpstr>
      <vt:lpstr>Qualitative Research using the Internet</vt:lpstr>
      <vt:lpstr>Documentation of data</vt:lpstr>
      <vt:lpstr>Coding</vt:lpstr>
      <vt:lpstr>Coding</vt:lpstr>
      <vt:lpstr>Qualitative Content Analysis </vt:lpstr>
      <vt:lpstr>PowerPoint Presentation</vt:lpstr>
      <vt:lpstr>Conversation Analysis </vt:lpstr>
      <vt:lpstr>Discourse Analysis </vt:lpstr>
      <vt:lpstr>Discourse Analysis</vt:lpstr>
      <vt:lpstr>Narrative and Hermeneutics </vt:lpstr>
      <vt:lpstr>Issues in Qualitative research</vt:lpstr>
      <vt:lpstr>Triangulation </vt:lpstr>
      <vt:lpstr>Triangulation</vt:lpstr>
      <vt:lpstr>You may use the following guiding questions for using triangulation:  </vt:lpstr>
      <vt:lpstr>Important Schools of Research and Recent Developments </vt:lpstr>
    </vt:vector>
  </TitlesOfParts>
  <Company>MOBILINK</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fatima faisal</dc:creator>
  <cp:lastModifiedBy>fatima faisal</cp:lastModifiedBy>
  <cp:revision>53</cp:revision>
  <dcterms:created xsi:type="dcterms:W3CDTF">2018-12-26T08:35:54Z</dcterms:created>
  <dcterms:modified xsi:type="dcterms:W3CDTF">2020-04-05T09:52:45Z</dcterms:modified>
</cp:coreProperties>
</file>