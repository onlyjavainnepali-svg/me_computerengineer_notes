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0.xml"/>
  <Override ContentType="application/vnd.openxmlformats-officedocument.presentationml.notesSlide+xml" PartName="/ppt/notesSlides/notesSlide46.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174.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179.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178.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180.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71.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Lst>
  <p:sldSz cy="5143500" cx="9144000"/>
  <p:notesSz cx="5143500" cy="9144000"/>
  <p:embeddedFontLst>
    <p:embeddedFont>
      <p:font typeface="Roboto"/>
      <p:regular r:id="rId186"/>
      <p:bold r:id="rId187"/>
      <p:italic r:id="rId188"/>
      <p:boldItalic r:id="rId189"/>
    </p:embeddedFont>
    <p:embeddedFont>
      <p:font typeface="Amatic SC"/>
      <p:regular r:id="rId190"/>
      <p:bold r:id="rId191"/>
    </p:embeddedFont>
    <p:embeddedFont>
      <p:font typeface="Source Code Pro"/>
      <p:regular r:id="rId192"/>
      <p:bold r:id="rId193"/>
      <p:italic r:id="rId194"/>
      <p:boldItalic r:id="rId195"/>
    </p:embeddedFont>
    <p:embeddedFont>
      <p:font typeface="Tahoma"/>
      <p:regular r:id="rId196"/>
      <p:bold r:id="rId19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A8DEC8E-D9F2-4F9D-87C7-2DA8E40E3EE3}">
  <a:tblStyle styleId="{AA8DEC8E-D9F2-4F9D-87C7-2DA8E40E3EE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93123AF-8EEB-4C0C-854C-F3D8DDFFAF62}"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font" Target="fonts/AmaticSC-regular.fntdata"/><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font" Target="fonts/SourceCodePro-italic.fntdata"/><Relationship Id="rId43" Type="http://schemas.openxmlformats.org/officeDocument/2006/relationships/slide" Target="slides/slide38.xml"/><Relationship Id="rId193" Type="http://schemas.openxmlformats.org/officeDocument/2006/relationships/font" Target="fonts/SourceCodePro-bold.fntdata"/><Relationship Id="rId46" Type="http://schemas.openxmlformats.org/officeDocument/2006/relationships/slide" Target="slides/slide41.xml"/><Relationship Id="rId192" Type="http://schemas.openxmlformats.org/officeDocument/2006/relationships/font" Target="fonts/SourceCodePro-regular.fntdata"/><Relationship Id="rId45" Type="http://schemas.openxmlformats.org/officeDocument/2006/relationships/slide" Target="slides/slide40.xml"/><Relationship Id="rId191" Type="http://schemas.openxmlformats.org/officeDocument/2006/relationships/font" Target="fonts/AmaticSC-bold.fntdata"/><Relationship Id="rId48" Type="http://schemas.openxmlformats.org/officeDocument/2006/relationships/slide" Target="slides/slide43.xml"/><Relationship Id="rId187" Type="http://schemas.openxmlformats.org/officeDocument/2006/relationships/font" Target="fonts/Roboto-bold.fntdata"/><Relationship Id="rId47" Type="http://schemas.openxmlformats.org/officeDocument/2006/relationships/slide" Target="slides/slide42.xml"/><Relationship Id="rId186" Type="http://schemas.openxmlformats.org/officeDocument/2006/relationships/font" Target="fonts/Roboto-regular.fntdata"/><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font" Target="fonts/Roboto-boldItalic.fntdata"/><Relationship Id="rId188" Type="http://schemas.openxmlformats.org/officeDocument/2006/relationships/font" Target="fonts/Roboto-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97" Type="http://schemas.openxmlformats.org/officeDocument/2006/relationships/font" Target="fonts/Tahoma-bold.fntdata"/><Relationship Id="rId17" Type="http://schemas.openxmlformats.org/officeDocument/2006/relationships/slide" Target="slides/slide12.xml"/><Relationship Id="rId196" Type="http://schemas.openxmlformats.org/officeDocument/2006/relationships/font" Target="fonts/Tahoma-regular.fntdata"/><Relationship Id="rId16" Type="http://schemas.openxmlformats.org/officeDocument/2006/relationships/slide" Target="slides/slide11.xml"/><Relationship Id="rId195" Type="http://schemas.openxmlformats.org/officeDocument/2006/relationships/font" Target="fonts/SourceCodePro-boldItalic.fntdata"/><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1cd1ddc8d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g31cd1ddc8d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g31cd1ddc8d5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1cd1ddc8d5_0_14: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1cd1ddc8d5_0_14: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7fffc3d77f_0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g27fffc3d77f_0_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g27fffc3d77f_0_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815137b73d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g2815137b73d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g2815137b73d_0_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815137b73d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g2815137b73d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g2815137b73d_0_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815137b73d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g2815137b73d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g2815137b73d_0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815137b73d_0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g2815137b73d_0_1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g2815137b73d_0_1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815137b73d_0_6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g2815137b73d_0_6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g2815137b73d_0_6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815137b73d_0_8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g2815137b73d_0_8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g2815137b73d_0_8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815137b73d_0_7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2815137b73d_0_7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2815137b73d_0_7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815137b73d_0_7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2815137b73d_0_7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2815137b73d_0_7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815137b73d_0_8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2815137b73d_0_8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2815137b73d_0_8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815137b73d_0_8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2815137b73d_0_8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g2815137b73d_0_8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815137b73d_0_7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g2815137b73d_0_7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g2815137b73d_0_7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347975158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g3347975158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g3347975158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815137b73d_0_7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g2815137b73d_0_7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g2815137b73d_0_7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f4b6fd1fd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g2f4b6fd1fd2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g2f4b6fd1fd2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815137b73d_0_7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g2815137b73d_0_7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g2815137b73d_0_7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815137b73d_0_8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g2815137b73d_0_8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g2815137b73d_0_8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f4b6fd1fd2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g2f4b6fd1fd2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g2f4b6fd1fd2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f4b6fd1fd2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g2f4b6fd1fd2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g2f4b6fd1fd2_0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f4b6fd1fd2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2f4b6fd1fd2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g2f4b6fd1fd2_0_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f4b6fd1fd2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g2f4b6fd1fd2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g2f4b6fd1fd2_0_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f4b6fd1fd2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g2f4b6fd1fd2_0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g2f4b6fd1fd2_0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815137b73d_0_8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g2815137b73d_0_8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g2815137b73d_0_8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f4b6fd1fd2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g2f4b6fd1fd2_0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g2f4b6fd1fd2_0_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815137b73d_0_8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g2815137b73d_0_8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g2815137b73d_0_8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f4b6fd1fd2_0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g2f4b6fd1fd2_0_1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g2f4b6fd1fd2_0_1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815137b73d_0_9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g2815137b73d_0_9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g2815137b73d_0_9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2f4b6fd1fd2_0_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g2f4b6fd1fd2_0_1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g2f4b6fd1fd2_0_1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815137b73d_0_9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g2815137b73d_0_9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g2815137b73d_0_9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f4b6fd1fd2_0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g2f4b6fd1fd2_0_1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g2f4b6fd1fd2_0_1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818c31dc8c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g2818c31dc8c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g2818c31dc8c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818c31dc8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g2818c31dc8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g2818c31dc8c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815137b73d_0_9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g2815137b73d_0_9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g2815137b73d_0_9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f4b6fd1fd2_0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 name="Google Shape;365;g2f4b6fd1fd2_0_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g2f4b6fd1fd2_0_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3055f12967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g33055f12967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g33055f12967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f4b6fd1fd2_0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g2f4b6fd1fd2_0_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g2f4b6fd1fd2_0_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2f4b6fd1fd2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g2f4b6fd1fd2_0_1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g2f4b6fd1fd2_0_1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2815137b73d_0_9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g2815137b73d_0_9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g2815137b73d_0_9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2f4b6fd1fd2_0_1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g2f4b6fd1fd2_0_1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g2f4b6fd1fd2_0_1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2f4b6fd1fd2_0_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g2f4b6fd1fd2_0_1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g2f4b6fd1fd2_0_1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818c31dc8c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g2818c31dc8c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g2818c31dc8c_0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f4b6fd1fd2_0_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g2f4b6fd1fd2_0_1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g2f4b6fd1fd2_0_1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2818c31dc8c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g2818c31dc8c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g2818c31dc8c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2f4b6fd1fd2_0_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g2f4b6fd1fd2_0_1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 name="Google Shape;447;g2f4b6fd1fd2_0_1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2f4b6fd1fd2_0_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g2f4b6fd1fd2_0_1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 name="Google Shape;455;g2f4b6fd1fd2_0_1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2f4b6fd1fd2_0_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g2f4b6fd1fd2_0_1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g2f4b6fd1fd2_0_1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2818c31dc8c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g2818c31dc8c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1" name="Google Shape;471;g2818c31dc8c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2f5fdbd139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g2f5fdbd139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g2f5fdbd1390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2f5fdbd1390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g2f5fdbd1390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7" name="Google Shape;487;g2f5fdbd1390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2f5fdbd1390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g2f5fdbd1390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5" name="Google Shape;495;g2f5fdbd1390_0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2f5fdbd1390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g2f5fdbd1390_0_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3" name="Google Shape;503;g2f5fdbd1390_0_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3055f12967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g33055f12967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g33055f12967_0_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2f5fdbd1390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8" name="Google Shape;518;g2f5fdbd1390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9" name="Google Shape;519;g2f5fdbd1390_0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3055f12967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6" name="Google Shape;526;g33055f12967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g33055f12967_0_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2f5fdbd1390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4" name="Google Shape;534;g2f5fdbd1390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5" name="Google Shape;535;g2f5fdbd1390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2f5fdbd1390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 name="Google Shape;543;g2f5fdbd1390_0_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g2f5fdbd1390_0_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2f5fdbd1390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g2f5fdbd1390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2" name="Google Shape;552;g2f5fdbd1390_0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2f5fdbd1390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 name="Google Shape;560;g2f5fdbd1390_0_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g2f5fdbd1390_0_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2f5fdbd1390_0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g2f5fdbd1390_0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g2f5fdbd1390_0_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2f5fdbd1390_0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 name="Google Shape;576;g2f5fdbd1390_0_1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7" name="Google Shape;577;g2f5fdbd1390_0_1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2f5fdbd1390_0_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g2f5fdbd1390_0_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5" name="Google Shape;585;g2f5fdbd1390_0_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2f5fdbd1390_0_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g2f5fdbd1390_0_1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 name="Google Shape;593;g2f5fdbd1390_0_1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2f5fdbd1390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 name="Google Shape;600;g2f5fdbd1390_0_1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1" name="Google Shape;601;g2f5fdbd1390_0_1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2f5fdbd1390_0_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g2f5fdbd1390_0_1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9" name="Google Shape;609;g2f5fdbd1390_0_1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2f5fdbd1390_0_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g2f5fdbd1390_0_1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7" name="Google Shape;617;g2f5fdbd1390_0_1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2f5fdbd1390_0_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4" name="Google Shape;624;g2f5fdbd1390_0_1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5" name="Google Shape;625;g2f5fdbd1390_0_1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2f5fdbd1390_0_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2" name="Google Shape;632;g2f5fdbd1390_0_1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3" name="Google Shape;633;g2f5fdbd1390_0_1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2f5fdbd1390_0_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 name="Google Shape;640;g2f5fdbd1390_0_1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g2f5fdbd1390_0_1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2f5fdbd1390_0_2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g2f5fdbd1390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9" name="Google Shape;649;g2f5fdbd1390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2f5fdbd1390_0_2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 name="Google Shape;656;g2f5fdbd1390_0_2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7" name="Google Shape;657;g2f5fdbd1390_0_2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2f5fdbd1390_0_2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4" name="Google Shape;664;g2f5fdbd1390_0_2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5" name="Google Shape;665;g2f5fdbd1390_0_2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2f5fdbd1390_0_3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2" name="Google Shape;672;g2f5fdbd1390_0_3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3" name="Google Shape;673;g2f5fdbd1390_0_3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2f5fdbd1390_0_3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1" name="Google Shape;681;g2f5fdbd1390_0_3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2" name="Google Shape;682;g2f5fdbd1390_0_3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2f5fdbd1390_0_3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9" name="Google Shape;689;g2f5fdbd1390_0_3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0" name="Google Shape;690;g2f5fdbd1390_0_3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2f5fdbd1390_0_3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7" name="Google Shape;697;g2f5fdbd1390_0_3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8" name="Google Shape;698;g2f5fdbd1390_0_3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2f5fdbd1390_0_3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5" name="Google Shape;705;g2f5fdbd1390_0_3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6" name="Google Shape;706;g2f5fdbd1390_0_3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2f5fdbd1390_0_2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4" name="Google Shape;714;g2f5fdbd1390_0_2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5" name="Google Shape;715;g2f5fdbd1390_0_2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2f5fdbd1390_0_2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3" name="Google Shape;723;g2f5fdbd1390_0_2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4" name="Google Shape;724;g2f5fdbd1390_0_2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2f5fdbd1390_0_2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g2f5fdbd1390_0_2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3" name="Google Shape;733;g2f5fdbd1390_0_2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2f5fdbd1390_0_2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1" name="Google Shape;741;g2f5fdbd1390_0_2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2" name="Google Shape;742;g2f5fdbd1390_0_2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2f5fdbd1390_0_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9" name="Google Shape;749;g2f5fdbd1390_0_2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0" name="Google Shape;750;g2f5fdbd1390_0_2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2836c05610d_1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8" name="Google Shape;758;g2836c05610d_1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9" name="Google Shape;759;g2836c05610d_1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3055f12967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7" name="Google Shape;767;g33055f12967_0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8" name="Google Shape;768;g33055f12967_0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2f5fdbd1390_0_2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6" name="Google Shape;776;g2f5fdbd1390_0_2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7" name="Google Shape;777;g2f5fdbd1390_0_2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3055f12967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5" name="Google Shape;785;g33055f12967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6" name="Google Shape;786;g33055f12967_0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33055f12967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4" name="Google Shape;794;g33055f12967_0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5" name="Google Shape;795;g33055f12967_0_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2f5fdbd1390_0_2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3" name="Google Shape;803;g2f5fdbd1390_0_2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4" name="Google Shape;804;g2f5fdbd1390_0_2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2836c05610d_1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1" name="Google Shape;811;g2836c05610d_1_1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2" name="Google Shape;812;g2836c05610d_1_1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2836c05610d_1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0" name="Google Shape;820;g2836c05610d_1_1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1" name="Google Shape;821;g2836c05610d_1_1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3047f9085f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0" name="Google Shape;830;g3047f9085f1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1" name="Google Shape;831;g3047f9085f1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3047f9085f1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8" name="Google Shape;838;g3047f9085f1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9" name="Google Shape;839;g3047f9085f1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047f9085f1_0_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6" name="Google Shape;846;g3047f9085f1_0_1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7" name="Google Shape;847;g3047f9085f1_0_1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047f9085f1_0_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4" name="Google Shape;854;g3047f9085f1_0_1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5" name="Google Shape;855;g3047f9085f1_0_1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3047f9085f1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2" name="Google Shape;862;g3047f9085f1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3" name="Google Shape;863;g3047f9085f1_0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047f9085f1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0" name="Google Shape;870;g3047f9085f1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1" name="Google Shape;871;g3047f9085f1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3047f9085f1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8" name="Google Shape;878;g3047f9085f1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9" name="Google Shape;879;g3047f9085f1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047f9085f1_0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6" name="Google Shape;886;g3047f9085f1_0_1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7" name="Google Shape;887;g3047f9085f1_0_1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047f9085f1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4" name="Google Shape;894;g3047f9085f1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5" name="Google Shape;895;g3047f9085f1_0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3047f9085f1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2" name="Google Shape;902;g3047f9085f1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3" name="Google Shape;903;g3047f9085f1_0_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047f9085f1_0_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0" name="Google Shape;910;g3047f9085f1_0_1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1" name="Google Shape;911;g3047f9085f1_0_1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3047f9085f1_0_1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8" name="Google Shape;918;g3047f9085f1_0_1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9" name="Google Shape;919;g3047f9085f1_0_1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3047f9085f1_0_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6" name="Google Shape;926;g3047f9085f1_0_1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7" name="Google Shape;927;g3047f9085f1_0_1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3047f9085f1_0_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4" name="Google Shape;934;g3047f9085f1_0_1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5" name="Google Shape;935;g3047f9085f1_0_1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3047f9085f1_0_1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2" name="Google Shape;942;g3047f9085f1_0_1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3" name="Google Shape;943;g3047f9085f1_0_1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047f9085f1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0" name="Google Shape;950;g3047f9085f1_0_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1" name="Google Shape;951;g3047f9085f1_0_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33055f12967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8" name="Google Shape;958;g33055f12967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9" name="Google Shape;959;g33055f12967_0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047f9085f1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6" name="Google Shape;966;g3047f9085f1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7" name="Google Shape;967;g3047f9085f1_0_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3047f9085f1_0_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4" name="Google Shape;974;g3047f9085f1_0_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5" name="Google Shape;975;g3047f9085f1_0_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33055f12967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2" name="Google Shape;982;g33055f12967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3" name="Google Shape;983;g33055f12967_0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047f9085f1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0" name="Google Shape;990;g3047f9085f1_0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1" name="Google Shape;991;g3047f9085f1_0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3047f9085f1_0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8" name="Google Shape;998;g3047f9085f1_0_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9" name="Google Shape;999;g3047f9085f1_0_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05b54c223a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6" name="Google Shape;1006;g305b54c223a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7" name="Google Shape;1007;g305b54c223a_0_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305b54c223a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4" name="Google Shape;1014;g305b54c223a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5" name="Google Shape;1015;g305b54c223a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305b54c223a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2" name="Google Shape;1022;g305b54c223a_0_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3" name="Google Shape;1023;g305b54c223a_0_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05b54c223a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0" name="Google Shape;1030;g305b54c223a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1" name="Google Shape;1031;g305b54c223a_0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305b54c223a_0_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8" name="Google Shape;1038;g305b54c223a_0_1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9" name="Google Shape;1039;g305b54c223a_0_1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314568d0f8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7" name="Google Shape;1047;g314568d0f8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8" name="Google Shape;1048;g314568d0f8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314568d0f8b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8" name="Google Shape;1058;g314568d0f8b_0_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9" name="Google Shape;1059;g314568d0f8b_0_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14568d0f8b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6" name="Google Shape;1066;g314568d0f8b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7" name="Google Shape;1067;g314568d0f8b_0_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314568d0f8b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4" name="Google Shape;1074;g314568d0f8b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5" name="Google Shape;1075;g314568d0f8b_0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g314568d0f8b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2" name="Google Shape;1082;g314568d0f8b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3" name="Google Shape;1083;g314568d0f8b_0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14568d0f8b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1" name="Google Shape;1091;g314568d0f8b_0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2" name="Google Shape;1092;g314568d0f8b_0_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14568d0f8b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0" name="Google Shape;1100;g314568d0f8b_0_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1" name="Google Shape;1101;g314568d0f8b_0_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g314568d0f8b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8" name="Google Shape;1108;g314568d0f8b_0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9" name="Google Shape;1109;g314568d0f8b_0_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14568d0f8b_0_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6" name="Google Shape;1116;g314568d0f8b_0_1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7" name="Google Shape;1117;g314568d0f8b_0_1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g314568d0f8b_0_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4" name="Google Shape;1124;g314568d0f8b_0_1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5" name="Google Shape;1125;g314568d0f8b_0_1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g314568d0f8b_0_1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3" name="Google Shape;1133;g314568d0f8b_0_1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4" name="Google Shape;1134;g314568d0f8b_0_1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g314568d0f8b_0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2" name="Google Shape;1142;g314568d0f8b_0_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3" name="Google Shape;1143;g314568d0f8b_0_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14568d0f8b_0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1" name="Google Shape;1151;g314568d0f8b_0_1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2" name="Google Shape;1152;g314568d0f8b_0_1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14568d0f8b_0_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1" name="Google Shape;1161;g314568d0f8b_0_1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2" name="Google Shape;1162;g314568d0f8b_0_1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14568d0f8b_0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1" name="Google Shape;1171;g314568d0f8b_0_1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2" name="Google Shape;1172;g314568d0f8b_0_1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14568d0f8b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1" name="Google Shape;1181;g314568d0f8b_0_1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2" name="Google Shape;1182;g314568d0f8b_0_1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314568d0f8b_0_1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9" name="Google Shape;1189;g314568d0f8b_0_1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0" name="Google Shape;1190;g314568d0f8b_0_1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8" name="Shape 1198"/>
        <p:cNvGrpSpPr/>
        <p:nvPr/>
      </p:nvGrpSpPr>
      <p:grpSpPr>
        <a:xfrm>
          <a:off x="0" y="0"/>
          <a:ext cx="0" cy="0"/>
          <a:chOff x="0" y="0"/>
          <a:chExt cx="0" cy="0"/>
        </a:xfrm>
      </p:grpSpPr>
      <p:sp>
        <p:nvSpPr>
          <p:cNvPr id="1199" name="Google Shape;1199;g314568d0f8b_0_2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0" name="Google Shape;1200;g314568d0f8b_0_2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1" name="Google Shape;1201;g314568d0f8b_0_2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g314568d0f8b_0_2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8" name="Google Shape;1208;g314568d0f8b_0_2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9" name="Google Shape;1209;g314568d0f8b_0_2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314568d0f8b_0_2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6" name="Google Shape;1216;g314568d0f8b_0_2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7" name="Google Shape;1217;g314568d0f8b_0_2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305b54c223a_0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4" name="Google Shape;1224;g305b54c223a_0_1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5" name="Google Shape;1225;g305b54c223a_0_1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g305b54c223a_0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2" name="Google Shape;1232;g305b54c223a_0_1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3" name="Google Shape;1233;g305b54c223a_0_1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g305b54c223a_0_1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0" name="Google Shape;1240;g305b54c223a_0_1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1" name="Google Shape;1241;g305b54c223a_0_1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305b54c223a_0_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8" name="Google Shape;1248;g305b54c223a_0_1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9" name="Google Shape;1249;g305b54c223a_0_1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305b54c223a_0_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6" name="Google Shape;1256;g305b54c223a_0_1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7" name="Google Shape;1257;g305b54c223a_0_1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g305b54c223a_0_1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4" name="Google Shape;1264;g305b54c223a_0_1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5" name="Google Shape;1265;g305b54c223a_0_1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0" name="Shape 1270"/>
        <p:cNvGrpSpPr/>
        <p:nvPr/>
      </p:nvGrpSpPr>
      <p:grpSpPr>
        <a:xfrm>
          <a:off x="0" y="0"/>
          <a:ext cx="0" cy="0"/>
          <a:chOff x="0" y="0"/>
          <a:chExt cx="0" cy="0"/>
        </a:xfrm>
      </p:grpSpPr>
      <p:sp>
        <p:nvSpPr>
          <p:cNvPr id="1271" name="Google Shape;1271;g305b54c223a_0_1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2" name="Google Shape;1272;g305b54c223a_0_1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3" name="Google Shape;1273;g305b54c223a_0_1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305b54c223a_0_2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0" name="Google Shape;1280;g305b54c223a_0_2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1" name="Google Shape;1281;g305b54c223a_0_2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6" name="Shape 1286"/>
        <p:cNvGrpSpPr/>
        <p:nvPr/>
      </p:nvGrpSpPr>
      <p:grpSpPr>
        <a:xfrm>
          <a:off x="0" y="0"/>
          <a:ext cx="0" cy="0"/>
          <a:chOff x="0" y="0"/>
          <a:chExt cx="0" cy="0"/>
        </a:xfrm>
      </p:grpSpPr>
      <p:sp>
        <p:nvSpPr>
          <p:cNvPr id="1287" name="Google Shape;1287;g305b54c223a_0_2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8" name="Google Shape;1288;g305b54c223a_0_2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9" name="Google Shape;1289;g305b54c223a_0_2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g305b54c223a_0_2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6" name="Google Shape;1296;g305b54c223a_0_2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7" name="Google Shape;1297;g305b54c223a_0_2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g305b54c223a_0_2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4" name="Google Shape;1304;g305b54c223a_0_2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5" name="Google Shape;1305;g305b54c223a_0_2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g305b54c223a_0_2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3" name="Google Shape;1313;g305b54c223a_0_2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4" name="Google Shape;1314;g305b54c223a_0_2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g305b54c223a_0_2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1" name="Google Shape;1321;g305b54c223a_0_2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2" name="Google Shape;1322;g305b54c223a_0_2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g305b54c223a_0_2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9" name="Google Shape;1329;g305b54c223a_0_2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0" name="Google Shape;1330;g305b54c223a_0_2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g305b54c223a_0_2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7" name="Google Shape;1337;g305b54c223a_0_2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8" name="Google Shape;1338;g305b54c223a_0_2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g3116967d181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5" name="Google Shape;1345;g3116967d181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6" name="Google Shape;1346;g3116967d181_0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1" name="Shape 1351"/>
        <p:cNvGrpSpPr/>
        <p:nvPr/>
      </p:nvGrpSpPr>
      <p:grpSpPr>
        <a:xfrm>
          <a:off x="0" y="0"/>
          <a:ext cx="0" cy="0"/>
          <a:chOff x="0" y="0"/>
          <a:chExt cx="0" cy="0"/>
        </a:xfrm>
      </p:grpSpPr>
      <p:sp>
        <p:nvSpPr>
          <p:cNvPr id="1352" name="Google Shape;1352;g3182abbac77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3" name="Google Shape;1353;g3182abbac77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4" name="Google Shape;1354;g3182abbac77_0_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9" name="Shape 1359"/>
        <p:cNvGrpSpPr/>
        <p:nvPr/>
      </p:nvGrpSpPr>
      <p:grpSpPr>
        <a:xfrm>
          <a:off x="0" y="0"/>
          <a:ext cx="0" cy="0"/>
          <a:chOff x="0" y="0"/>
          <a:chExt cx="0" cy="0"/>
        </a:xfrm>
      </p:grpSpPr>
      <p:sp>
        <p:nvSpPr>
          <p:cNvPr id="1360" name="Google Shape;1360;g3182abbac77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1" name="Google Shape;1361;g3182abbac77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2" name="Google Shape;1362;g3182abbac77_0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g3182abbac77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9" name="Google Shape;1369;g3182abbac77_0_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0" name="Google Shape;1370;g3182abbac77_0_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5" name="Shape 1375"/>
        <p:cNvGrpSpPr/>
        <p:nvPr/>
      </p:nvGrpSpPr>
      <p:grpSpPr>
        <a:xfrm>
          <a:off x="0" y="0"/>
          <a:ext cx="0" cy="0"/>
          <a:chOff x="0" y="0"/>
          <a:chExt cx="0" cy="0"/>
        </a:xfrm>
      </p:grpSpPr>
      <p:sp>
        <p:nvSpPr>
          <p:cNvPr id="1376" name="Google Shape;1376;g3182abbac77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7" name="Google Shape;1377;g3182abbac77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8" name="Google Shape;1378;g3182abbac77_0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3" name="Shape 1383"/>
        <p:cNvGrpSpPr/>
        <p:nvPr/>
      </p:nvGrpSpPr>
      <p:grpSpPr>
        <a:xfrm>
          <a:off x="0" y="0"/>
          <a:ext cx="0" cy="0"/>
          <a:chOff x="0" y="0"/>
          <a:chExt cx="0" cy="0"/>
        </a:xfrm>
      </p:grpSpPr>
      <p:sp>
        <p:nvSpPr>
          <p:cNvPr id="1384" name="Google Shape;1384;g3182abbac77_0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5" name="Google Shape;1385;g3182abbac77_0_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6" name="Google Shape;1386;g3182abbac77_0_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1" name="Shape 1391"/>
        <p:cNvGrpSpPr/>
        <p:nvPr/>
      </p:nvGrpSpPr>
      <p:grpSpPr>
        <a:xfrm>
          <a:off x="0" y="0"/>
          <a:ext cx="0" cy="0"/>
          <a:chOff x="0" y="0"/>
          <a:chExt cx="0" cy="0"/>
        </a:xfrm>
      </p:grpSpPr>
      <p:sp>
        <p:nvSpPr>
          <p:cNvPr id="1392" name="Google Shape;1392;g3182abbac77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3" name="Google Shape;1393;g3182abbac77_0_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4" name="Google Shape;1394;g3182abbac77_0_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g3182abbac77_0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1" name="Google Shape;1401;g3182abbac77_0_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2" name="Google Shape;1402;g3182abbac77_0_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7" name="Shape 1407"/>
        <p:cNvGrpSpPr/>
        <p:nvPr/>
      </p:nvGrpSpPr>
      <p:grpSpPr>
        <a:xfrm>
          <a:off x="0" y="0"/>
          <a:ext cx="0" cy="0"/>
          <a:chOff x="0" y="0"/>
          <a:chExt cx="0" cy="0"/>
        </a:xfrm>
      </p:grpSpPr>
      <p:sp>
        <p:nvSpPr>
          <p:cNvPr id="1408" name="Google Shape;1408;g3182abbac77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9" name="Google Shape;1409;g3182abbac77_0_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0" name="Google Shape;1410;g3182abbac77_0_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g3182abbac7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7" name="Google Shape;1417;g3182abbac7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8" name="Google Shape;1418;g3182abbac77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g3182abbac77_0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5" name="Google Shape;1425;g3182abbac77_0_1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6" name="Google Shape;1426;g3182abbac77_0_1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1" name="Shape 1431"/>
        <p:cNvGrpSpPr/>
        <p:nvPr/>
      </p:nvGrpSpPr>
      <p:grpSpPr>
        <a:xfrm>
          <a:off x="0" y="0"/>
          <a:ext cx="0" cy="0"/>
          <a:chOff x="0" y="0"/>
          <a:chExt cx="0" cy="0"/>
        </a:xfrm>
      </p:grpSpPr>
      <p:sp>
        <p:nvSpPr>
          <p:cNvPr id="1432" name="Google Shape;1432;g3182abbac77_0_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3" name="Google Shape;1433;g3182abbac77_0_1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4" name="Google Shape;1434;g3182abbac77_0_1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9" name="Shape 1439"/>
        <p:cNvGrpSpPr/>
        <p:nvPr/>
      </p:nvGrpSpPr>
      <p:grpSpPr>
        <a:xfrm>
          <a:off x="0" y="0"/>
          <a:ext cx="0" cy="0"/>
          <a:chOff x="0" y="0"/>
          <a:chExt cx="0" cy="0"/>
        </a:xfrm>
      </p:grpSpPr>
      <p:sp>
        <p:nvSpPr>
          <p:cNvPr id="1440" name="Google Shape;1440;g3182abbac77_0_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1" name="Google Shape;1441;g3182abbac77_0_1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2" name="Google Shape;1442;g3182abbac77_0_1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g3182abbac77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9" name="Google Shape;1449;g3182abbac77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0" name="Google Shape;1450;g3182abbac77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 name="Shape 1455"/>
        <p:cNvGrpSpPr/>
        <p:nvPr/>
      </p:nvGrpSpPr>
      <p:grpSpPr>
        <a:xfrm>
          <a:off x="0" y="0"/>
          <a:ext cx="0" cy="0"/>
          <a:chOff x="0" y="0"/>
          <a:chExt cx="0" cy="0"/>
        </a:xfrm>
      </p:grpSpPr>
      <p:sp>
        <p:nvSpPr>
          <p:cNvPr id="1456" name="Google Shape;1456;g3182abbac77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7" name="Google Shape;1457;g3182abbac77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8" name="Google Shape;1458;g3182abbac77_0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3" name="Shape 1463"/>
        <p:cNvGrpSpPr/>
        <p:nvPr/>
      </p:nvGrpSpPr>
      <p:grpSpPr>
        <a:xfrm>
          <a:off x="0" y="0"/>
          <a:ext cx="0" cy="0"/>
          <a:chOff x="0" y="0"/>
          <a:chExt cx="0" cy="0"/>
        </a:xfrm>
      </p:grpSpPr>
      <p:sp>
        <p:nvSpPr>
          <p:cNvPr id="1464" name="Google Shape;1464;g3182abbac77_0_2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5" name="Google Shape;1465;g3182abbac77_0_2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6" name="Google Shape;1466;g3182abbac77_0_2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1" name="Shape 1471"/>
        <p:cNvGrpSpPr/>
        <p:nvPr/>
      </p:nvGrpSpPr>
      <p:grpSpPr>
        <a:xfrm>
          <a:off x="0" y="0"/>
          <a:ext cx="0" cy="0"/>
          <a:chOff x="0" y="0"/>
          <a:chExt cx="0" cy="0"/>
        </a:xfrm>
      </p:grpSpPr>
      <p:sp>
        <p:nvSpPr>
          <p:cNvPr id="1472" name="Google Shape;1472;g3182abbac77_0_2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3" name="Google Shape;1473;g3182abbac77_0_2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4" name="Google Shape;1474;g3182abbac77_0_2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g3182abbac77_0_2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1" name="Google Shape;1481;g3182abbac77_0_2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2" name="Google Shape;1482;g3182abbac77_0_2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7" name="Shape 1487"/>
        <p:cNvGrpSpPr/>
        <p:nvPr/>
      </p:nvGrpSpPr>
      <p:grpSpPr>
        <a:xfrm>
          <a:off x="0" y="0"/>
          <a:ext cx="0" cy="0"/>
          <a:chOff x="0" y="0"/>
          <a:chExt cx="0" cy="0"/>
        </a:xfrm>
      </p:grpSpPr>
      <p:sp>
        <p:nvSpPr>
          <p:cNvPr id="1488" name="Google Shape;1488;g3182abbac77_0_2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9" name="Google Shape;1489;g3182abbac77_0_2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0" name="Google Shape;1490;g3182abbac77_0_2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5" name="Shape 1495"/>
        <p:cNvGrpSpPr/>
        <p:nvPr/>
      </p:nvGrpSpPr>
      <p:grpSpPr>
        <a:xfrm>
          <a:off x="0" y="0"/>
          <a:ext cx="0" cy="0"/>
          <a:chOff x="0" y="0"/>
          <a:chExt cx="0" cy="0"/>
        </a:xfrm>
      </p:grpSpPr>
      <p:sp>
        <p:nvSpPr>
          <p:cNvPr id="1496" name="Google Shape;1496;g3182abbac77_0_2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7" name="Google Shape;1497;g3182abbac77_0_2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8" name="Google Shape;1498;g3182abbac77_0_2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g3182abbac77_0_2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5" name="Google Shape;1505;g3182abbac77_0_2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6" name="Google Shape;1506;g3182abbac77_0_2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g3182abbac77_0_2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3" name="Google Shape;1513;g3182abbac77_0_2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4" name="Google Shape;1514;g3182abbac77_0_2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9" name="Shape 1519"/>
        <p:cNvGrpSpPr/>
        <p:nvPr/>
      </p:nvGrpSpPr>
      <p:grpSpPr>
        <a:xfrm>
          <a:off x="0" y="0"/>
          <a:ext cx="0" cy="0"/>
          <a:chOff x="0" y="0"/>
          <a:chExt cx="0" cy="0"/>
        </a:xfrm>
      </p:grpSpPr>
      <p:sp>
        <p:nvSpPr>
          <p:cNvPr id="1520" name="Google Shape;1520;g3182abbac77_0_2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1" name="Google Shape;1521;g3182abbac77_0_2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2" name="Google Shape;1522;g3182abbac77_0_2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7" name="Shape 1527"/>
        <p:cNvGrpSpPr/>
        <p:nvPr/>
      </p:nvGrpSpPr>
      <p:grpSpPr>
        <a:xfrm>
          <a:off x="0" y="0"/>
          <a:ext cx="0" cy="0"/>
          <a:chOff x="0" y="0"/>
          <a:chExt cx="0" cy="0"/>
        </a:xfrm>
      </p:grpSpPr>
      <p:sp>
        <p:nvSpPr>
          <p:cNvPr id="1528" name="Google Shape;1528;g31aa723e6ac_1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9" name="Google Shape;1529;g31aa723e6ac_1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0" name="Google Shape;1530;g31aa723e6ac_1_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5" name="Shape 1535"/>
        <p:cNvGrpSpPr/>
        <p:nvPr/>
      </p:nvGrpSpPr>
      <p:grpSpPr>
        <a:xfrm>
          <a:off x="0" y="0"/>
          <a:ext cx="0" cy="0"/>
          <a:chOff x="0" y="0"/>
          <a:chExt cx="0" cy="0"/>
        </a:xfrm>
      </p:grpSpPr>
      <p:sp>
        <p:nvSpPr>
          <p:cNvPr id="1536" name="Google Shape;1536;g31aa723e6ac_1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7" name="Google Shape;1537;g31aa723e6ac_1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8" name="Google Shape;1538;g31aa723e6ac_1_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5" name="Shape 1545"/>
        <p:cNvGrpSpPr/>
        <p:nvPr/>
      </p:nvGrpSpPr>
      <p:grpSpPr>
        <a:xfrm>
          <a:off x="0" y="0"/>
          <a:ext cx="0" cy="0"/>
          <a:chOff x="0" y="0"/>
          <a:chExt cx="0" cy="0"/>
        </a:xfrm>
      </p:grpSpPr>
      <p:sp>
        <p:nvSpPr>
          <p:cNvPr id="1546" name="Google Shape;1546;g31aa723e6ac_1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7" name="Google Shape;1547;g31aa723e6ac_1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8" name="Google Shape;1548;g31aa723e6ac_1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3" name="Shape 1553"/>
        <p:cNvGrpSpPr/>
        <p:nvPr/>
      </p:nvGrpSpPr>
      <p:grpSpPr>
        <a:xfrm>
          <a:off x="0" y="0"/>
          <a:ext cx="0" cy="0"/>
          <a:chOff x="0" y="0"/>
          <a:chExt cx="0" cy="0"/>
        </a:xfrm>
      </p:grpSpPr>
      <p:sp>
        <p:nvSpPr>
          <p:cNvPr id="1554" name="Google Shape;1554;g3182abbac77_0_2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5" name="Google Shape;1555;g3182abbac77_0_2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6" name="Google Shape;1556;g3182abbac77_0_2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3" name="Shape 13"/>
        <p:cNvGrpSpPr/>
        <p:nvPr/>
      </p:nvGrpSpPr>
      <p:grpSpPr>
        <a:xfrm>
          <a:off x="0" y="0"/>
          <a:ext cx="0" cy="0"/>
          <a:chOff x="0" y="0"/>
          <a:chExt cx="0" cy="0"/>
        </a:xfrm>
      </p:grpSpPr>
      <p:sp>
        <p:nvSpPr>
          <p:cNvPr id="14" name="Google Shape;14;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6" name="Google Shape;16;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7" name="Google Shape;17;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8" name="Shape 18"/>
        <p:cNvGrpSpPr/>
        <p:nvPr/>
      </p:nvGrpSpPr>
      <p:grpSpPr>
        <a:xfrm>
          <a:off x="0" y="0"/>
          <a:ext cx="0" cy="0"/>
          <a:chOff x="0" y="0"/>
          <a:chExt cx="0" cy="0"/>
        </a:xfrm>
      </p:grpSpPr>
      <p:sp>
        <p:nvSpPr>
          <p:cNvPr id="19" name="Google Shape;19;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20" name="Google Shape;2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5" name="Google Shape;35;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7" name="Shape 37"/>
        <p:cNvGrpSpPr/>
        <p:nvPr/>
      </p:nvGrpSpPr>
      <p:grpSpPr>
        <a:xfrm>
          <a:off x="0" y="0"/>
          <a:ext cx="0" cy="0"/>
          <a:chOff x="0" y="0"/>
          <a:chExt cx="0" cy="0"/>
        </a:xfrm>
      </p:grpSpPr>
      <p:sp>
        <p:nvSpPr>
          <p:cNvPr id="38" name="Google Shape;38;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9" name="Google Shape;39;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 name="Shape 40"/>
        <p:cNvGrpSpPr/>
        <p:nvPr/>
      </p:nvGrpSpPr>
      <p:grpSpPr>
        <a:xfrm>
          <a:off x="0" y="0"/>
          <a:ext cx="0" cy="0"/>
          <a:chOff x="0" y="0"/>
          <a:chExt cx="0" cy="0"/>
        </a:xfrm>
      </p:grpSpPr>
      <p:sp>
        <p:nvSpPr>
          <p:cNvPr id="41" name="Google Shape;41;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 name="Google Shape;42;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43" name="Google Shape;43;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4" name="Google Shape;44;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5" name="Google Shape;45;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6" name="Google Shape;4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7" name="Shape 47"/>
        <p:cNvGrpSpPr/>
        <p:nvPr/>
      </p:nvGrpSpPr>
      <p:grpSpPr>
        <a:xfrm>
          <a:off x="0" y="0"/>
          <a:ext cx="0" cy="0"/>
          <a:chOff x="0" y="0"/>
          <a:chExt cx="0" cy="0"/>
        </a:xfrm>
      </p:grpSpPr>
      <p:sp>
        <p:nvSpPr>
          <p:cNvPr id="48" name="Google Shape;48;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9" name="Google Shape;4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0" name="Shape 50"/>
        <p:cNvGrpSpPr/>
        <p:nvPr/>
      </p:nvGrpSpPr>
      <p:grpSpPr>
        <a:xfrm>
          <a:off x="0" y="0"/>
          <a:ext cx="0" cy="0"/>
          <a:chOff x="0" y="0"/>
          <a:chExt cx="0" cy="0"/>
        </a:xfrm>
      </p:grpSpPr>
      <p:sp>
        <p:nvSpPr>
          <p:cNvPr id="51" name="Google Shape;51;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52" name="Google Shape;52;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53" name="Google Shape;53;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11" name="Google Shape;11;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12" name="Google Shape;12;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11" Type="http://schemas.openxmlformats.org/officeDocument/2006/relationships/image" Target="../media/image8.jpg"/><Relationship Id="rId10" Type="http://schemas.openxmlformats.org/officeDocument/2006/relationships/image" Target="../media/image14.png"/><Relationship Id="rId9"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9.png"/><Relationship Id="rId7" Type="http://schemas.openxmlformats.org/officeDocument/2006/relationships/image" Target="../media/image12.png"/><Relationship Id="rId8"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10" Type="http://schemas.openxmlformats.org/officeDocument/2006/relationships/image" Target="../media/image8.jpg"/><Relationship Id="rId9"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9.png"/><Relationship Id="rId7" Type="http://schemas.openxmlformats.org/officeDocument/2006/relationships/image" Target="../media/image12.png"/><Relationship Id="rId8"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python.land/installing-pytho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www.javatpoint.com/python-comment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9.png"/><Relationship Id="rId4" Type="http://schemas.openxmlformats.org/officeDocument/2006/relationships/image" Target="../media/image1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1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2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2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30.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1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3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39.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4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 Id="rId3" Type="http://schemas.openxmlformats.org/officeDocument/2006/relationships/image" Target="../media/image28.png"/><Relationship Id="rId4" Type="http://schemas.openxmlformats.org/officeDocument/2006/relationships/image" Target="../media/image38.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 Id="rId3" Type="http://schemas.openxmlformats.org/officeDocument/2006/relationships/hyperlink" Target="https://www.geeksforgeeks.org/__init__-in-python/" TargetMode="Externa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 Id="rId3" Type="http://schemas.openxmlformats.org/officeDocument/2006/relationships/image" Target="../media/image24.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 Id="rId3" Type="http://schemas.openxmlformats.org/officeDocument/2006/relationships/image" Target="../media/image35.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 Id="rId3" Type="http://schemas.openxmlformats.org/officeDocument/2006/relationships/image" Target="../media/image37.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 Id="rId3" Type="http://schemas.openxmlformats.org/officeDocument/2006/relationships/image" Target="../media/image34.png"/><Relationship Id="rId4" Type="http://schemas.openxmlformats.org/officeDocument/2006/relationships/image" Target="../media/image23.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 Id="rId3" Type="http://schemas.openxmlformats.org/officeDocument/2006/relationships/image" Target="../media/image21.png"/><Relationship Id="rId4" Type="http://schemas.openxmlformats.org/officeDocument/2006/relationships/image" Target="../media/image3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 Id="rId3" Type="http://schemas.openxmlformats.org/officeDocument/2006/relationships/image" Target="../media/image29.png"/><Relationship Id="rId4" Type="http://schemas.openxmlformats.org/officeDocument/2006/relationships/image" Target="../media/image44.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 Id="rId3" Type="http://schemas.openxmlformats.org/officeDocument/2006/relationships/image" Target="../media/image36.png"/><Relationship Id="rId4" Type="http://schemas.openxmlformats.org/officeDocument/2006/relationships/image" Target="../media/image32.png"/><Relationship Id="rId5" Type="http://schemas.openxmlformats.org/officeDocument/2006/relationships/image" Target="../media/image45.png"/><Relationship Id="rId6" Type="http://schemas.openxmlformats.org/officeDocument/2006/relationships/image" Target="../media/image33.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 Id="rId3" Type="http://schemas.openxmlformats.org/officeDocument/2006/relationships/image" Target="../media/image43.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 Id="rId3" Type="http://schemas.openxmlformats.org/officeDocument/2006/relationships/image" Target="../media/image4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 Id="rId3" Type="http://schemas.openxmlformats.org/officeDocument/2006/relationships/image" Target="../media/image40.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3"/>
          <p:cNvPicPr preferRelativeResize="0"/>
          <p:nvPr/>
        </p:nvPicPr>
        <p:blipFill>
          <a:blip r:embed="rId3">
            <a:alphaModFix/>
          </a:blip>
          <a:stretch>
            <a:fillRect/>
          </a:stretch>
        </p:blipFill>
        <p:spPr>
          <a:xfrm>
            <a:off x="691000" y="417700"/>
            <a:ext cx="7762001" cy="4366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 name="Shape 65"/>
        <p:cNvGrpSpPr/>
        <p:nvPr/>
      </p:nvGrpSpPr>
      <p:grpSpPr>
        <a:xfrm>
          <a:off x="0" y="0"/>
          <a:ext cx="0" cy="0"/>
          <a:chOff x="0" y="0"/>
          <a:chExt cx="0" cy="0"/>
        </a:xfrm>
      </p:grpSpPr>
      <p:sp>
        <p:nvSpPr>
          <p:cNvPr id="66" name="Google Shape;66;p14"/>
          <p:cNvSpPr txBox="1"/>
          <p:nvPr/>
        </p:nvSpPr>
        <p:spPr>
          <a:xfrm>
            <a:off x="4955375" y="4128200"/>
            <a:ext cx="4114500" cy="38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t>https://www.linkedin.com/in/shrestha-baburam/</a:t>
            </a:r>
            <a:endParaRPr b="1" sz="1500"/>
          </a:p>
        </p:txBody>
      </p:sp>
      <p:pic>
        <p:nvPicPr>
          <p:cNvPr id="67" name="Google Shape;67;p14"/>
          <p:cNvPicPr preferRelativeResize="0"/>
          <p:nvPr/>
        </p:nvPicPr>
        <p:blipFill>
          <a:blip r:embed="rId3">
            <a:alphaModFix/>
          </a:blip>
          <a:stretch>
            <a:fillRect/>
          </a:stretch>
        </p:blipFill>
        <p:spPr>
          <a:xfrm>
            <a:off x="4587388" y="4174600"/>
            <a:ext cx="291800" cy="291800"/>
          </a:xfrm>
          <a:prstGeom prst="rect">
            <a:avLst/>
          </a:prstGeom>
          <a:noFill/>
          <a:ln>
            <a:noFill/>
          </a:ln>
        </p:spPr>
      </p:pic>
      <p:pic>
        <p:nvPicPr>
          <p:cNvPr id="68" name="Google Shape;68;p14"/>
          <p:cNvPicPr preferRelativeResize="0"/>
          <p:nvPr/>
        </p:nvPicPr>
        <p:blipFill>
          <a:blip r:embed="rId4">
            <a:alphaModFix/>
          </a:blip>
          <a:stretch>
            <a:fillRect/>
          </a:stretch>
        </p:blipFill>
        <p:spPr>
          <a:xfrm>
            <a:off x="4540912" y="3667300"/>
            <a:ext cx="384725" cy="384725"/>
          </a:xfrm>
          <a:prstGeom prst="rect">
            <a:avLst/>
          </a:prstGeom>
          <a:noFill/>
          <a:ln>
            <a:noFill/>
          </a:ln>
        </p:spPr>
      </p:pic>
      <p:sp>
        <p:nvSpPr>
          <p:cNvPr id="69" name="Google Shape;69;p14"/>
          <p:cNvSpPr txBox="1"/>
          <p:nvPr/>
        </p:nvSpPr>
        <p:spPr>
          <a:xfrm>
            <a:off x="4955375" y="3667175"/>
            <a:ext cx="4114500" cy="38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t>shrestha.baburam1997@gmail.com</a:t>
            </a:r>
            <a:endParaRPr b="1" sz="1500"/>
          </a:p>
        </p:txBody>
      </p:sp>
      <p:pic>
        <p:nvPicPr>
          <p:cNvPr id="70" name="Google Shape;70;p14"/>
          <p:cNvPicPr preferRelativeResize="0"/>
          <p:nvPr/>
        </p:nvPicPr>
        <p:blipFill>
          <a:blip r:embed="rId5">
            <a:alphaModFix/>
          </a:blip>
          <a:stretch>
            <a:fillRect/>
          </a:stretch>
        </p:blipFill>
        <p:spPr>
          <a:xfrm>
            <a:off x="5852300" y="3206000"/>
            <a:ext cx="339425" cy="339425"/>
          </a:xfrm>
          <a:prstGeom prst="rect">
            <a:avLst/>
          </a:prstGeom>
          <a:noFill/>
          <a:ln>
            <a:noFill/>
          </a:ln>
        </p:spPr>
      </p:pic>
      <p:pic>
        <p:nvPicPr>
          <p:cNvPr id="71" name="Google Shape;71;p14"/>
          <p:cNvPicPr preferRelativeResize="0"/>
          <p:nvPr/>
        </p:nvPicPr>
        <p:blipFill>
          <a:blip r:embed="rId6">
            <a:alphaModFix/>
          </a:blip>
          <a:stretch>
            <a:fillRect/>
          </a:stretch>
        </p:blipFill>
        <p:spPr>
          <a:xfrm>
            <a:off x="5009250" y="3228725"/>
            <a:ext cx="339425" cy="339425"/>
          </a:xfrm>
          <a:prstGeom prst="rect">
            <a:avLst/>
          </a:prstGeom>
          <a:noFill/>
          <a:ln>
            <a:noFill/>
          </a:ln>
        </p:spPr>
      </p:pic>
      <p:pic>
        <p:nvPicPr>
          <p:cNvPr id="72" name="Google Shape;72;p14"/>
          <p:cNvPicPr preferRelativeResize="0"/>
          <p:nvPr/>
        </p:nvPicPr>
        <p:blipFill>
          <a:blip r:embed="rId7">
            <a:alphaModFix/>
          </a:blip>
          <a:stretch>
            <a:fillRect/>
          </a:stretch>
        </p:blipFill>
        <p:spPr>
          <a:xfrm>
            <a:off x="5421263" y="3219213"/>
            <a:ext cx="358425" cy="358425"/>
          </a:xfrm>
          <a:prstGeom prst="rect">
            <a:avLst/>
          </a:prstGeom>
          <a:noFill/>
          <a:ln>
            <a:noFill/>
          </a:ln>
        </p:spPr>
      </p:pic>
      <p:pic>
        <p:nvPicPr>
          <p:cNvPr id="73" name="Google Shape;73;p14"/>
          <p:cNvPicPr preferRelativeResize="0"/>
          <p:nvPr/>
        </p:nvPicPr>
        <p:blipFill>
          <a:blip r:embed="rId8">
            <a:alphaModFix/>
          </a:blip>
          <a:stretch>
            <a:fillRect/>
          </a:stretch>
        </p:blipFill>
        <p:spPr>
          <a:xfrm>
            <a:off x="4563563" y="3228737"/>
            <a:ext cx="339425" cy="339425"/>
          </a:xfrm>
          <a:prstGeom prst="rect">
            <a:avLst/>
          </a:prstGeom>
          <a:noFill/>
          <a:ln>
            <a:noFill/>
          </a:ln>
        </p:spPr>
      </p:pic>
      <p:sp>
        <p:nvSpPr>
          <p:cNvPr id="74" name="Google Shape;74;p14"/>
          <p:cNvSpPr txBox="1"/>
          <p:nvPr/>
        </p:nvSpPr>
        <p:spPr>
          <a:xfrm>
            <a:off x="6250775" y="3204800"/>
            <a:ext cx="2819100" cy="3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t>+977 9846871406</a:t>
            </a:r>
            <a:endParaRPr b="1" sz="1500"/>
          </a:p>
        </p:txBody>
      </p:sp>
      <p:pic>
        <p:nvPicPr>
          <p:cNvPr id="75" name="Google Shape;75;p14"/>
          <p:cNvPicPr preferRelativeResize="0"/>
          <p:nvPr/>
        </p:nvPicPr>
        <p:blipFill>
          <a:blip r:embed="rId9">
            <a:alphaModFix/>
          </a:blip>
          <a:stretch>
            <a:fillRect/>
          </a:stretch>
        </p:blipFill>
        <p:spPr>
          <a:xfrm>
            <a:off x="4507030" y="4588975"/>
            <a:ext cx="452545" cy="339425"/>
          </a:xfrm>
          <a:prstGeom prst="rect">
            <a:avLst/>
          </a:prstGeom>
          <a:noFill/>
          <a:ln>
            <a:noFill/>
          </a:ln>
        </p:spPr>
      </p:pic>
      <p:sp>
        <p:nvSpPr>
          <p:cNvPr id="76" name="Google Shape;76;p14"/>
          <p:cNvSpPr txBox="1"/>
          <p:nvPr/>
        </p:nvSpPr>
        <p:spPr>
          <a:xfrm>
            <a:off x="4955375" y="4535400"/>
            <a:ext cx="4114500" cy="3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t>https://github.com/baburam1997/</a:t>
            </a:r>
            <a:endParaRPr b="1" sz="1500"/>
          </a:p>
        </p:txBody>
      </p:sp>
      <p:sp>
        <p:nvSpPr>
          <p:cNvPr id="77" name="Google Shape;77;p14"/>
          <p:cNvSpPr txBox="1"/>
          <p:nvPr/>
        </p:nvSpPr>
        <p:spPr>
          <a:xfrm>
            <a:off x="3661600" y="1762475"/>
            <a:ext cx="4280400" cy="75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500"/>
              <a:t>Programming</a:t>
            </a:r>
            <a:endParaRPr b="1" sz="3500"/>
          </a:p>
        </p:txBody>
      </p:sp>
      <p:pic>
        <p:nvPicPr>
          <p:cNvPr id="78" name="Google Shape;78;p14"/>
          <p:cNvPicPr preferRelativeResize="0"/>
          <p:nvPr/>
        </p:nvPicPr>
        <p:blipFill rotWithShape="1">
          <a:blip r:embed="rId10">
            <a:alphaModFix/>
          </a:blip>
          <a:srcRect b="0" l="0" r="0" t="8063"/>
          <a:stretch/>
        </p:blipFill>
        <p:spPr>
          <a:xfrm>
            <a:off x="691000" y="64750"/>
            <a:ext cx="7762001" cy="2863099"/>
          </a:xfrm>
          <a:prstGeom prst="rect">
            <a:avLst/>
          </a:prstGeom>
          <a:noFill/>
          <a:ln>
            <a:noFill/>
          </a:ln>
        </p:spPr>
      </p:pic>
      <p:pic>
        <p:nvPicPr>
          <p:cNvPr id="79" name="Google Shape;79;p14"/>
          <p:cNvPicPr preferRelativeResize="0"/>
          <p:nvPr/>
        </p:nvPicPr>
        <p:blipFill>
          <a:blip r:embed="rId11">
            <a:alphaModFix/>
          </a:blip>
          <a:stretch>
            <a:fillRect/>
          </a:stretch>
        </p:blipFill>
        <p:spPr>
          <a:xfrm>
            <a:off x="2703575" y="3204800"/>
            <a:ext cx="1723601" cy="17236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5"/>
          <p:cNvSpPr txBox="1"/>
          <p:nvPr/>
        </p:nvSpPr>
        <p:spPr>
          <a:xfrm>
            <a:off x="-75" y="0"/>
            <a:ext cx="9144000" cy="2963700"/>
          </a:xfrm>
          <a:prstGeom prst="rect">
            <a:avLst/>
          </a:prstGeom>
          <a:noFill/>
          <a:ln>
            <a:noFill/>
          </a:ln>
        </p:spPr>
        <p:txBody>
          <a:bodyPr anchorCtr="0" anchor="t" bIns="0" lIns="0" spcFirstLastPara="1" rIns="0" wrap="square" tIns="125075">
            <a:noAutofit/>
          </a:bodyPr>
          <a:lstStyle/>
          <a:p>
            <a:pPr indent="0" lvl="0" marL="114300" marR="0" rtl="0" algn="ctr">
              <a:lnSpc>
                <a:spcPct val="100000"/>
              </a:lnSpc>
              <a:spcBef>
                <a:spcPts val="290"/>
              </a:spcBef>
              <a:spcAft>
                <a:spcPts val="0"/>
              </a:spcAft>
              <a:buClr>
                <a:srgbClr val="000000"/>
              </a:buClr>
              <a:buSzPts val="1100"/>
              <a:buFont typeface="Arial"/>
              <a:buNone/>
            </a:pPr>
            <a:r>
              <a:t/>
            </a:r>
            <a:endParaRPr b="1" sz="3000">
              <a:solidFill>
                <a:srgbClr val="1C3678"/>
              </a:solidFill>
              <a:latin typeface="Times"/>
              <a:ea typeface="Times"/>
              <a:cs typeface="Times"/>
              <a:sym typeface="Times"/>
            </a:endParaRPr>
          </a:p>
          <a:p>
            <a:pPr indent="0" lvl="0" marL="114300" marR="0" rtl="0" algn="ctr">
              <a:lnSpc>
                <a:spcPct val="100000"/>
              </a:lnSpc>
              <a:spcBef>
                <a:spcPts val="290"/>
              </a:spcBef>
              <a:spcAft>
                <a:spcPts val="0"/>
              </a:spcAft>
              <a:buClr>
                <a:srgbClr val="000000"/>
              </a:buClr>
              <a:buSzPts val="1100"/>
              <a:buFont typeface="Arial"/>
              <a:buNone/>
            </a:pPr>
            <a:r>
              <a:rPr b="1" lang="en-US" sz="3000">
                <a:solidFill>
                  <a:srgbClr val="1C3678"/>
                </a:solidFill>
                <a:latin typeface="Times"/>
                <a:ea typeface="Times"/>
                <a:cs typeface="Times"/>
                <a:sym typeface="Times"/>
              </a:rPr>
              <a:t>Python Programming</a:t>
            </a:r>
            <a:endParaRPr b="1" sz="3000">
              <a:solidFill>
                <a:srgbClr val="1C3678"/>
              </a:solidFill>
              <a:latin typeface="Times"/>
              <a:ea typeface="Times"/>
              <a:cs typeface="Times"/>
              <a:sym typeface="Times"/>
            </a:endParaRPr>
          </a:p>
          <a:p>
            <a:pPr indent="0" lvl="0" marL="114300" marR="0" rtl="0" algn="ctr">
              <a:lnSpc>
                <a:spcPct val="100000"/>
              </a:lnSpc>
              <a:spcBef>
                <a:spcPts val="290"/>
              </a:spcBef>
              <a:spcAft>
                <a:spcPts val="0"/>
              </a:spcAft>
              <a:buClr>
                <a:srgbClr val="000000"/>
              </a:buClr>
              <a:buSzPts val="1100"/>
              <a:buFont typeface="Arial"/>
              <a:buNone/>
            </a:pPr>
            <a:r>
              <a:rPr b="1" lang="en-US" sz="3000">
                <a:solidFill>
                  <a:srgbClr val="1C3678"/>
                </a:solidFill>
                <a:latin typeface="Times"/>
                <a:ea typeface="Times"/>
                <a:cs typeface="Times"/>
                <a:sym typeface="Times"/>
              </a:rPr>
              <a:t>by </a:t>
            </a:r>
            <a:endParaRPr b="1" sz="3000">
              <a:solidFill>
                <a:srgbClr val="1C3678"/>
              </a:solidFill>
              <a:latin typeface="Times"/>
              <a:ea typeface="Times"/>
              <a:cs typeface="Times"/>
              <a:sym typeface="Times"/>
            </a:endParaRPr>
          </a:p>
          <a:p>
            <a:pPr indent="0" lvl="0" marL="114300" marR="0" rtl="0" algn="ctr">
              <a:lnSpc>
                <a:spcPct val="100000"/>
              </a:lnSpc>
              <a:spcBef>
                <a:spcPts val="290"/>
              </a:spcBef>
              <a:spcAft>
                <a:spcPts val="0"/>
              </a:spcAft>
              <a:buClr>
                <a:srgbClr val="000000"/>
              </a:buClr>
              <a:buSzPts val="1100"/>
              <a:buFont typeface="Arial"/>
              <a:buNone/>
            </a:pPr>
            <a:r>
              <a:rPr b="1" lang="en-US" sz="3000">
                <a:solidFill>
                  <a:srgbClr val="1C3678"/>
                </a:solidFill>
                <a:latin typeface="Times"/>
                <a:ea typeface="Times"/>
                <a:cs typeface="Times"/>
                <a:sym typeface="Times"/>
              </a:rPr>
              <a:t>Er. Baburam Shrestha</a:t>
            </a:r>
            <a:r>
              <a:rPr i="0" lang="en-US" sz="1600" u="none" cap="none" strike="noStrike">
                <a:solidFill>
                  <a:srgbClr val="000000"/>
                </a:solidFill>
                <a:latin typeface="Times"/>
                <a:ea typeface="Times"/>
                <a:cs typeface="Times"/>
                <a:sym typeface="Times"/>
              </a:rPr>
              <a:t>﻿</a:t>
            </a:r>
            <a:endParaRPr i="0" sz="1600" u="none" cap="none" strike="noStrike">
              <a:solidFill>
                <a:srgbClr val="000000"/>
              </a:solidFill>
              <a:latin typeface="Times"/>
              <a:ea typeface="Times"/>
              <a:cs typeface="Times"/>
              <a:sym typeface="Times"/>
            </a:endParaRPr>
          </a:p>
          <a:p>
            <a:pPr indent="0" lvl="0" marL="114300" marR="0" rtl="0" algn="ctr">
              <a:lnSpc>
                <a:spcPct val="100000"/>
              </a:lnSpc>
              <a:spcBef>
                <a:spcPts val="290"/>
              </a:spcBef>
              <a:spcAft>
                <a:spcPts val="0"/>
              </a:spcAft>
              <a:buClr>
                <a:srgbClr val="000000"/>
              </a:buClr>
              <a:buSzPts val="1100"/>
              <a:buFont typeface="Arial"/>
              <a:buNone/>
            </a:pPr>
            <a:r>
              <a:rPr i="1" lang="en-US">
                <a:latin typeface="Times"/>
                <a:ea typeface="Times"/>
                <a:cs typeface="Times"/>
                <a:sym typeface="Times"/>
              </a:rPr>
              <a:t>Data Engineer at Fusemachine Nepal</a:t>
            </a:r>
            <a:endParaRPr i="1">
              <a:latin typeface="Times"/>
              <a:ea typeface="Times"/>
              <a:cs typeface="Times"/>
              <a:sym typeface="Times"/>
            </a:endParaRPr>
          </a:p>
          <a:p>
            <a:pPr indent="0" lvl="0" marL="114300" rtl="0" algn="ctr">
              <a:spcBef>
                <a:spcPts val="290"/>
              </a:spcBef>
              <a:spcAft>
                <a:spcPts val="0"/>
              </a:spcAft>
              <a:buNone/>
            </a:pPr>
            <a:r>
              <a:rPr i="1" lang="en-US">
                <a:latin typeface="Times"/>
                <a:ea typeface="Times"/>
                <a:cs typeface="Times"/>
                <a:sym typeface="Times"/>
              </a:rPr>
              <a:t>Perusing ME-Computer in Everest Engineering College(Pokhara University)</a:t>
            </a:r>
            <a:endParaRPr i="1">
              <a:latin typeface="Times"/>
              <a:ea typeface="Times"/>
              <a:cs typeface="Times"/>
              <a:sym typeface="Times"/>
            </a:endParaRPr>
          </a:p>
          <a:p>
            <a:pPr indent="0" lvl="0" marL="114300" marR="0" rtl="0" algn="ctr">
              <a:lnSpc>
                <a:spcPct val="100000"/>
              </a:lnSpc>
              <a:spcBef>
                <a:spcPts val="290"/>
              </a:spcBef>
              <a:spcAft>
                <a:spcPts val="0"/>
              </a:spcAft>
              <a:buClr>
                <a:srgbClr val="000000"/>
              </a:buClr>
              <a:buSzPts val="1100"/>
              <a:buFont typeface="Arial"/>
              <a:buNone/>
            </a:pPr>
            <a:r>
              <a:rPr i="1" lang="en-US">
                <a:latin typeface="Times"/>
                <a:ea typeface="Times"/>
                <a:cs typeface="Times"/>
                <a:sym typeface="Times"/>
              </a:rPr>
              <a:t>BE-Computer Graduate From Everest Engineering College(Pokhara University)</a:t>
            </a:r>
            <a:endParaRPr i="0" sz="1600" u="none" cap="none" strike="noStrike">
              <a:solidFill>
                <a:srgbClr val="000000"/>
              </a:solidFill>
              <a:latin typeface="Times"/>
              <a:ea typeface="Times"/>
              <a:cs typeface="Times"/>
              <a:sym typeface="Times"/>
            </a:endParaRPr>
          </a:p>
        </p:txBody>
      </p:sp>
      <p:sp>
        <p:nvSpPr>
          <p:cNvPr id="86" name="Google Shape;86;p15"/>
          <p:cNvSpPr txBox="1"/>
          <p:nvPr/>
        </p:nvSpPr>
        <p:spPr>
          <a:xfrm>
            <a:off x="3459325" y="4157225"/>
            <a:ext cx="4128300" cy="31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t>https://www.linkedin.com/in/shrestha-baburam/</a:t>
            </a:r>
            <a:endParaRPr b="1" sz="1500"/>
          </a:p>
        </p:txBody>
      </p:sp>
      <p:pic>
        <p:nvPicPr>
          <p:cNvPr id="87" name="Google Shape;87;p15"/>
          <p:cNvPicPr preferRelativeResize="0"/>
          <p:nvPr/>
        </p:nvPicPr>
        <p:blipFill>
          <a:blip r:embed="rId3">
            <a:alphaModFix/>
          </a:blip>
          <a:stretch>
            <a:fillRect/>
          </a:stretch>
        </p:blipFill>
        <p:spPr>
          <a:xfrm>
            <a:off x="3148323" y="4233181"/>
            <a:ext cx="246616" cy="238455"/>
          </a:xfrm>
          <a:prstGeom prst="rect">
            <a:avLst/>
          </a:prstGeom>
          <a:noFill/>
          <a:ln>
            <a:noFill/>
          </a:ln>
        </p:spPr>
      </p:pic>
      <p:pic>
        <p:nvPicPr>
          <p:cNvPr id="88" name="Google Shape;88;p15"/>
          <p:cNvPicPr preferRelativeResize="0"/>
          <p:nvPr/>
        </p:nvPicPr>
        <p:blipFill>
          <a:blip r:embed="rId4">
            <a:alphaModFix/>
          </a:blip>
          <a:stretch>
            <a:fillRect/>
          </a:stretch>
        </p:blipFill>
        <p:spPr>
          <a:xfrm>
            <a:off x="3109032" y="3828235"/>
            <a:ext cx="325152" cy="314392"/>
          </a:xfrm>
          <a:prstGeom prst="rect">
            <a:avLst/>
          </a:prstGeom>
          <a:noFill/>
          <a:ln>
            <a:noFill/>
          </a:ln>
        </p:spPr>
      </p:pic>
      <p:sp>
        <p:nvSpPr>
          <p:cNvPr id="89" name="Google Shape;89;p15"/>
          <p:cNvSpPr txBox="1"/>
          <p:nvPr/>
        </p:nvSpPr>
        <p:spPr>
          <a:xfrm>
            <a:off x="3459329" y="3780471"/>
            <a:ext cx="3477300" cy="31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t>shrestha.baburam1997@gmail.com</a:t>
            </a:r>
            <a:endParaRPr b="1" sz="1500"/>
          </a:p>
        </p:txBody>
      </p:sp>
      <p:pic>
        <p:nvPicPr>
          <p:cNvPr id="90" name="Google Shape;90;p15"/>
          <p:cNvPicPr preferRelativeResize="0"/>
          <p:nvPr/>
        </p:nvPicPr>
        <p:blipFill>
          <a:blip r:embed="rId5">
            <a:alphaModFix/>
          </a:blip>
          <a:stretch>
            <a:fillRect/>
          </a:stretch>
        </p:blipFill>
        <p:spPr>
          <a:xfrm>
            <a:off x="4217368" y="3479806"/>
            <a:ext cx="286866" cy="277372"/>
          </a:xfrm>
          <a:prstGeom prst="rect">
            <a:avLst/>
          </a:prstGeom>
          <a:noFill/>
          <a:ln>
            <a:noFill/>
          </a:ln>
        </p:spPr>
      </p:pic>
      <p:pic>
        <p:nvPicPr>
          <p:cNvPr id="91" name="Google Shape;91;p15"/>
          <p:cNvPicPr preferRelativeResize="0"/>
          <p:nvPr/>
        </p:nvPicPr>
        <p:blipFill>
          <a:blip r:embed="rId6">
            <a:alphaModFix/>
          </a:blip>
          <a:stretch>
            <a:fillRect/>
          </a:stretch>
        </p:blipFill>
        <p:spPr>
          <a:xfrm>
            <a:off x="3504862" y="3498376"/>
            <a:ext cx="286866" cy="277373"/>
          </a:xfrm>
          <a:prstGeom prst="rect">
            <a:avLst/>
          </a:prstGeom>
          <a:noFill/>
          <a:ln>
            <a:noFill/>
          </a:ln>
        </p:spPr>
      </p:pic>
      <p:pic>
        <p:nvPicPr>
          <p:cNvPr id="92" name="Google Shape;92;p15"/>
          <p:cNvPicPr preferRelativeResize="0"/>
          <p:nvPr/>
        </p:nvPicPr>
        <p:blipFill>
          <a:blip r:embed="rId7">
            <a:alphaModFix/>
          </a:blip>
          <a:stretch>
            <a:fillRect/>
          </a:stretch>
        </p:blipFill>
        <p:spPr>
          <a:xfrm>
            <a:off x="3853075" y="3490603"/>
            <a:ext cx="302924" cy="292900"/>
          </a:xfrm>
          <a:prstGeom prst="rect">
            <a:avLst/>
          </a:prstGeom>
          <a:noFill/>
          <a:ln>
            <a:noFill/>
          </a:ln>
        </p:spPr>
      </p:pic>
      <p:pic>
        <p:nvPicPr>
          <p:cNvPr id="93" name="Google Shape;93;p15"/>
          <p:cNvPicPr preferRelativeResize="0"/>
          <p:nvPr/>
        </p:nvPicPr>
        <p:blipFill>
          <a:blip r:embed="rId8">
            <a:alphaModFix/>
          </a:blip>
          <a:stretch>
            <a:fillRect/>
          </a:stretch>
        </p:blipFill>
        <p:spPr>
          <a:xfrm>
            <a:off x="3128187" y="3498386"/>
            <a:ext cx="286866" cy="277372"/>
          </a:xfrm>
          <a:prstGeom prst="rect">
            <a:avLst/>
          </a:prstGeom>
          <a:noFill/>
          <a:ln>
            <a:noFill/>
          </a:ln>
        </p:spPr>
      </p:pic>
      <p:sp>
        <p:nvSpPr>
          <p:cNvPr id="94" name="Google Shape;94;p15"/>
          <p:cNvSpPr txBox="1"/>
          <p:nvPr/>
        </p:nvSpPr>
        <p:spPr>
          <a:xfrm>
            <a:off x="4554150" y="3432325"/>
            <a:ext cx="2382600" cy="33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t>+977 9846871406</a:t>
            </a:r>
            <a:endParaRPr b="1" sz="1500"/>
          </a:p>
        </p:txBody>
      </p:sp>
      <p:pic>
        <p:nvPicPr>
          <p:cNvPr id="95" name="Google Shape;95;p15"/>
          <p:cNvPicPr preferRelativeResize="0"/>
          <p:nvPr/>
        </p:nvPicPr>
        <p:blipFill>
          <a:blip r:embed="rId9">
            <a:alphaModFix/>
          </a:blip>
          <a:stretch>
            <a:fillRect/>
          </a:stretch>
        </p:blipFill>
        <p:spPr>
          <a:xfrm>
            <a:off x="3080409" y="4533751"/>
            <a:ext cx="382470" cy="277373"/>
          </a:xfrm>
          <a:prstGeom prst="rect">
            <a:avLst/>
          </a:prstGeom>
          <a:noFill/>
          <a:ln>
            <a:noFill/>
          </a:ln>
        </p:spPr>
      </p:pic>
      <p:sp>
        <p:nvSpPr>
          <p:cNvPr id="96" name="Google Shape;96;p15"/>
          <p:cNvSpPr txBox="1"/>
          <p:nvPr/>
        </p:nvSpPr>
        <p:spPr>
          <a:xfrm>
            <a:off x="3459325" y="4471624"/>
            <a:ext cx="3477300" cy="33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t>https://github.com/baburam1997/</a:t>
            </a:r>
            <a:endParaRPr b="1" sz="1500"/>
          </a:p>
        </p:txBody>
      </p:sp>
      <p:pic>
        <p:nvPicPr>
          <p:cNvPr id="97" name="Google Shape;97;p15"/>
          <p:cNvPicPr preferRelativeResize="0"/>
          <p:nvPr/>
        </p:nvPicPr>
        <p:blipFill>
          <a:blip r:embed="rId10">
            <a:alphaModFix/>
          </a:blip>
          <a:stretch>
            <a:fillRect/>
          </a:stretch>
        </p:blipFill>
        <p:spPr>
          <a:xfrm>
            <a:off x="1556213" y="3478825"/>
            <a:ext cx="1456707" cy="1408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 name="Shape 102"/>
        <p:cNvGrpSpPr/>
        <p:nvPr/>
      </p:nvGrpSpPr>
      <p:grpSpPr>
        <a:xfrm>
          <a:off x="0" y="0"/>
          <a:ext cx="0" cy="0"/>
          <a:chOff x="0" y="0"/>
          <a:chExt cx="0" cy="0"/>
        </a:xfrm>
      </p:grpSpPr>
      <p:sp>
        <p:nvSpPr>
          <p:cNvPr id="103" name="Google Shape;103;p16"/>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Python Programming Language</a:t>
            </a:r>
            <a:endParaRPr b="1" sz="3000">
              <a:solidFill>
                <a:srgbClr val="1C3678"/>
              </a:solidFill>
              <a:latin typeface="Trebuchet MS"/>
              <a:ea typeface="Trebuchet MS"/>
              <a:cs typeface="Trebuchet MS"/>
              <a:sym typeface="Trebuchet MS"/>
            </a:endParaRPr>
          </a:p>
        </p:txBody>
      </p:sp>
      <p:sp>
        <p:nvSpPr>
          <p:cNvPr id="104" name="Google Shape;104;p16"/>
          <p:cNvSpPr txBox="1"/>
          <p:nvPr/>
        </p:nvSpPr>
        <p:spPr>
          <a:xfrm>
            <a:off x="688425" y="793125"/>
            <a:ext cx="8107500" cy="16779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High-Level Language</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Interpreted and Interactive</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Versatile and Multi-Paradigm</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Extensive Standard Library</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Community and Ecosystem</a:t>
            </a:r>
            <a:endParaRPr sz="1800">
              <a:latin typeface="Times"/>
              <a:ea typeface="Times"/>
              <a:cs typeface="Times"/>
              <a:sym typeface="Times"/>
            </a:endParaRPr>
          </a:p>
        </p:txBody>
      </p:sp>
      <p:sp>
        <p:nvSpPr>
          <p:cNvPr id="105" name="Google Shape;105;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 name="Shape 110"/>
        <p:cNvGrpSpPr/>
        <p:nvPr/>
      </p:nvGrpSpPr>
      <p:grpSpPr>
        <a:xfrm>
          <a:off x="0" y="0"/>
          <a:ext cx="0" cy="0"/>
          <a:chOff x="0" y="0"/>
          <a:chExt cx="0" cy="0"/>
        </a:xfrm>
      </p:grpSpPr>
      <p:sp>
        <p:nvSpPr>
          <p:cNvPr id="111" name="Google Shape;111;p17"/>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Python Interpreter</a:t>
            </a:r>
            <a:endParaRPr b="1" sz="3000">
              <a:solidFill>
                <a:srgbClr val="1C3678"/>
              </a:solidFill>
              <a:latin typeface="Trebuchet MS"/>
              <a:ea typeface="Trebuchet MS"/>
              <a:cs typeface="Trebuchet MS"/>
              <a:sym typeface="Trebuchet MS"/>
            </a:endParaRPr>
          </a:p>
        </p:txBody>
      </p:sp>
      <p:sp>
        <p:nvSpPr>
          <p:cNvPr id="112" name="Google Shape;112;p17"/>
          <p:cNvSpPr txBox="1"/>
          <p:nvPr/>
        </p:nvSpPr>
        <p:spPr>
          <a:xfrm>
            <a:off x="688425" y="793125"/>
            <a:ext cx="8107500" cy="16779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Dynamic Typing</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Readability and Simplicity</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Portability</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Interactive Development</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Ease of Debugging</a:t>
            </a:r>
            <a:endParaRPr sz="1800">
              <a:latin typeface="Times"/>
              <a:ea typeface="Times"/>
              <a:cs typeface="Times"/>
              <a:sym typeface="Times"/>
            </a:endParaRPr>
          </a:p>
        </p:txBody>
      </p:sp>
      <p:sp>
        <p:nvSpPr>
          <p:cNvPr id="113" name="Google Shape;113;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 name="Shape 118"/>
        <p:cNvGrpSpPr/>
        <p:nvPr/>
      </p:nvGrpSpPr>
      <p:grpSpPr>
        <a:xfrm>
          <a:off x="0" y="0"/>
          <a:ext cx="0" cy="0"/>
          <a:chOff x="0" y="0"/>
          <a:chExt cx="0" cy="0"/>
        </a:xfrm>
      </p:grpSpPr>
      <p:sp>
        <p:nvSpPr>
          <p:cNvPr id="119" name="Google Shape;119;p18"/>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Installation of</a:t>
            </a:r>
            <a:r>
              <a:rPr b="1" lang="en-US" sz="3000">
                <a:solidFill>
                  <a:srgbClr val="1C3678"/>
                </a:solidFill>
                <a:latin typeface="Trebuchet MS"/>
                <a:ea typeface="Trebuchet MS"/>
                <a:cs typeface="Trebuchet MS"/>
                <a:sym typeface="Trebuchet MS"/>
              </a:rPr>
              <a:t> Python Interpreter</a:t>
            </a:r>
            <a:endParaRPr b="1" sz="3000">
              <a:solidFill>
                <a:srgbClr val="1C3678"/>
              </a:solidFill>
              <a:latin typeface="Trebuchet MS"/>
              <a:ea typeface="Trebuchet MS"/>
              <a:cs typeface="Trebuchet MS"/>
              <a:sym typeface="Trebuchet MS"/>
            </a:endParaRPr>
          </a:p>
        </p:txBody>
      </p:sp>
      <p:sp>
        <p:nvSpPr>
          <p:cNvPr id="120" name="Google Shape;120;p18"/>
          <p:cNvSpPr txBox="1"/>
          <p:nvPr/>
        </p:nvSpPr>
        <p:spPr>
          <a:xfrm>
            <a:off x="688425" y="793125"/>
            <a:ext cx="8107500" cy="4299900"/>
          </a:xfrm>
          <a:prstGeom prst="rect">
            <a:avLst/>
          </a:prstGeom>
          <a:noFill/>
          <a:ln>
            <a:noFill/>
          </a:ln>
        </p:spPr>
        <p:txBody>
          <a:bodyPr anchorCtr="0" anchor="t" bIns="0" lIns="0" spcFirstLastPara="1" rIns="0" wrap="square" tIns="125075">
            <a:spAutoFit/>
          </a:bodyPr>
          <a:lstStyle/>
          <a:p>
            <a:pPr indent="-336550" lvl="0" marL="457200" rtl="0" algn="l">
              <a:lnSpc>
                <a:spcPct val="115000"/>
              </a:lnSpc>
              <a:spcBef>
                <a:spcPts val="0"/>
              </a:spcBef>
              <a:spcAft>
                <a:spcPts val="0"/>
              </a:spcAft>
              <a:buClr>
                <a:srgbClr val="000000"/>
              </a:buClr>
              <a:buSzPts val="1700"/>
              <a:buFont typeface="Times"/>
              <a:buChar char="➢"/>
            </a:pPr>
            <a:r>
              <a:rPr lang="en-US" sz="1700">
                <a:latin typeface="Times"/>
                <a:ea typeface="Times"/>
                <a:cs typeface="Times"/>
                <a:sym typeface="Times"/>
              </a:rPr>
              <a:t>All OS: </a:t>
            </a:r>
            <a:r>
              <a:rPr lang="en-US" sz="1700" u="sng">
                <a:solidFill>
                  <a:schemeClr val="accent5"/>
                </a:solidFill>
                <a:latin typeface="Times"/>
                <a:ea typeface="Times"/>
                <a:cs typeface="Times"/>
                <a:sym typeface="Times"/>
                <a:hlinkClick r:id="rId3">
                  <a:extLst>
                    <a:ext uri="{A12FA001-AC4F-418D-AE19-62706E023703}">
                      <ahyp:hlinkClr val="tx"/>
                    </a:ext>
                  </a:extLst>
                </a:hlinkClick>
              </a:rPr>
              <a:t>https://python.land/installing-python</a:t>
            </a:r>
            <a:endParaRPr sz="1700">
              <a:latin typeface="Times"/>
              <a:ea typeface="Times"/>
              <a:cs typeface="Times"/>
              <a:sym typeface="Times"/>
            </a:endParaRPr>
          </a:p>
          <a:p>
            <a:pPr indent="-336550" lvl="0" marL="457200" rtl="0" algn="l">
              <a:lnSpc>
                <a:spcPct val="115000"/>
              </a:lnSpc>
              <a:spcBef>
                <a:spcPts val="0"/>
              </a:spcBef>
              <a:spcAft>
                <a:spcPts val="0"/>
              </a:spcAft>
              <a:buClr>
                <a:srgbClr val="000000"/>
              </a:buClr>
              <a:buSzPts val="1700"/>
              <a:buFont typeface="Times"/>
              <a:buChar char="➢"/>
            </a:pPr>
            <a:r>
              <a:rPr lang="en-US" sz="1700">
                <a:latin typeface="Times"/>
                <a:ea typeface="Times"/>
                <a:cs typeface="Times"/>
                <a:sym typeface="Times"/>
              </a:rPr>
              <a:t>In Window OS:  https://www.python.org/downloads/windows/</a:t>
            </a:r>
            <a:endParaRPr sz="1700">
              <a:latin typeface="Times"/>
              <a:ea typeface="Times"/>
              <a:cs typeface="Times"/>
              <a:sym typeface="Times"/>
            </a:endParaRPr>
          </a:p>
          <a:p>
            <a:pPr indent="-336550" lvl="0" marL="457200" rtl="0" algn="l">
              <a:lnSpc>
                <a:spcPct val="115000"/>
              </a:lnSpc>
              <a:spcBef>
                <a:spcPts val="0"/>
              </a:spcBef>
              <a:spcAft>
                <a:spcPts val="0"/>
              </a:spcAft>
              <a:buClr>
                <a:srgbClr val="000000"/>
              </a:buClr>
              <a:buSzPts val="1700"/>
              <a:buFont typeface="Times"/>
              <a:buChar char="➢"/>
            </a:pPr>
            <a:r>
              <a:rPr lang="en-US" sz="1700">
                <a:latin typeface="Times"/>
                <a:ea typeface="Times"/>
                <a:cs typeface="Times"/>
                <a:sym typeface="Times"/>
              </a:rPr>
              <a:t>In Linux OS:  https://www.python.org/download/other/</a:t>
            </a:r>
            <a:endParaRPr sz="1700">
              <a:latin typeface="Times"/>
              <a:ea typeface="Times"/>
              <a:cs typeface="Times"/>
              <a:sym typeface="Times"/>
            </a:endParaRPr>
          </a:p>
          <a:p>
            <a:pPr indent="-336550" lvl="0" marL="457200" rtl="0" algn="l">
              <a:lnSpc>
                <a:spcPct val="115000"/>
              </a:lnSpc>
              <a:spcBef>
                <a:spcPts val="0"/>
              </a:spcBef>
              <a:spcAft>
                <a:spcPts val="0"/>
              </a:spcAft>
              <a:buClr>
                <a:srgbClr val="000000"/>
              </a:buClr>
              <a:buSzPts val="1700"/>
              <a:buFont typeface="Times"/>
              <a:buChar char="➢"/>
            </a:pPr>
            <a:r>
              <a:rPr lang="en-US" sz="1700">
                <a:latin typeface="Times"/>
                <a:ea typeface="Times"/>
                <a:cs typeface="Times"/>
                <a:sym typeface="Times"/>
              </a:rPr>
              <a:t>In Mac OS:  https://www.python.org/downloads/macos/</a:t>
            </a:r>
            <a:endParaRPr sz="1700">
              <a:latin typeface="Times"/>
              <a:ea typeface="Times"/>
              <a:cs typeface="Times"/>
              <a:sym typeface="Times"/>
            </a:endParaRPr>
          </a:p>
          <a:p>
            <a:pPr indent="-336550" lvl="0" marL="457200" rtl="0" algn="l">
              <a:lnSpc>
                <a:spcPct val="115000"/>
              </a:lnSpc>
              <a:spcBef>
                <a:spcPts val="0"/>
              </a:spcBef>
              <a:spcAft>
                <a:spcPts val="0"/>
              </a:spcAft>
              <a:buSzPts val="1700"/>
              <a:buFont typeface="Times"/>
              <a:buChar char="●"/>
            </a:pPr>
            <a:r>
              <a:rPr lang="en-US" sz="1700">
                <a:latin typeface="Times"/>
                <a:ea typeface="Times"/>
                <a:cs typeface="Times"/>
                <a:sym typeface="Times"/>
              </a:rPr>
              <a:t>For Windows:</a:t>
            </a:r>
            <a:endParaRPr sz="1700">
              <a:latin typeface="Times"/>
              <a:ea typeface="Times"/>
              <a:cs typeface="Times"/>
              <a:sym typeface="Times"/>
            </a:endParaRPr>
          </a:p>
          <a:p>
            <a:pPr indent="-336550" lvl="1" marL="914400" rtl="0" algn="l">
              <a:lnSpc>
                <a:spcPct val="115000"/>
              </a:lnSpc>
              <a:spcBef>
                <a:spcPts val="0"/>
              </a:spcBef>
              <a:spcAft>
                <a:spcPts val="0"/>
              </a:spcAft>
              <a:buSzPts val="1700"/>
              <a:buFont typeface="Times"/>
              <a:buChar char="○"/>
            </a:pPr>
            <a:r>
              <a:rPr lang="en-US" sz="1700">
                <a:latin typeface="Times"/>
                <a:ea typeface="Times"/>
                <a:cs typeface="Times"/>
                <a:sym typeface="Times"/>
              </a:rPr>
              <a:t>Go to the python official website (python.org.)</a:t>
            </a:r>
            <a:endParaRPr sz="1700">
              <a:latin typeface="Times"/>
              <a:ea typeface="Times"/>
              <a:cs typeface="Times"/>
              <a:sym typeface="Times"/>
            </a:endParaRPr>
          </a:p>
          <a:p>
            <a:pPr indent="-336550" lvl="1" marL="914400" rtl="0" algn="l">
              <a:lnSpc>
                <a:spcPct val="115000"/>
              </a:lnSpc>
              <a:spcBef>
                <a:spcPts val="0"/>
              </a:spcBef>
              <a:spcAft>
                <a:spcPts val="0"/>
              </a:spcAft>
              <a:buSzPts val="1700"/>
              <a:buFont typeface="Times"/>
              <a:buChar char="○"/>
            </a:pPr>
            <a:r>
              <a:rPr lang="en-US" sz="1700">
                <a:latin typeface="Times"/>
                <a:ea typeface="Times"/>
                <a:cs typeface="Times"/>
                <a:sym typeface="Times"/>
              </a:rPr>
              <a:t>Click on the "Downloads" tab. And download the latest version.</a:t>
            </a:r>
            <a:endParaRPr sz="1700">
              <a:latin typeface="Times"/>
              <a:ea typeface="Times"/>
              <a:cs typeface="Times"/>
              <a:sym typeface="Times"/>
            </a:endParaRPr>
          </a:p>
          <a:p>
            <a:pPr indent="-336550" lvl="1" marL="914400" rtl="0" algn="l">
              <a:lnSpc>
                <a:spcPct val="115000"/>
              </a:lnSpc>
              <a:spcBef>
                <a:spcPts val="0"/>
              </a:spcBef>
              <a:spcAft>
                <a:spcPts val="0"/>
              </a:spcAft>
              <a:buSzPts val="1700"/>
              <a:buFont typeface="Times"/>
              <a:buChar char="○"/>
            </a:pPr>
            <a:r>
              <a:rPr lang="en-US" sz="1700">
                <a:latin typeface="Times"/>
                <a:ea typeface="Times"/>
                <a:cs typeface="Times"/>
                <a:sym typeface="Times"/>
              </a:rPr>
              <a:t>After completing run the installer. Make sure to check the box that says "Add Python x.x to PATH" during installation. This makes it easier to run Python from the command prompt.</a:t>
            </a:r>
            <a:endParaRPr sz="1700">
              <a:latin typeface="Times"/>
              <a:ea typeface="Times"/>
              <a:cs typeface="Times"/>
              <a:sym typeface="Times"/>
            </a:endParaRPr>
          </a:p>
          <a:p>
            <a:pPr indent="-336550" lvl="1" marL="914400" rtl="0" algn="l">
              <a:lnSpc>
                <a:spcPct val="115000"/>
              </a:lnSpc>
              <a:spcBef>
                <a:spcPts val="0"/>
              </a:spcBef>
              <a:spcAft>
                <a:spcPts val="0"/>
              </a:spcAft>
              <a:buSzPts val="1700"/>
              <a:buFont typeface="Times"/>
              <a:buChar char="○"/>
            </a:pPr>
            <a:r>
              <a:rPr lang="en-US" sz="1700">
                <a:latin typeface="Times"/>
                <a:ea typeface="Times"/>
                <a:cs typeface="Times"/>
                <a:sym typeface="Times"/>
              </a:rPr>
              <a:t>Type “python --version” at the command prompt or powershell to check the version.</a:t>
            </a:r>
            <a:endParaRPr sz="1700">
              <a:latin typeface="Times"/>
              <a:ea typeface="Times"/>
              <a:cs typeface="Times"/>
              <a:sym typeface="Times"/>
            </a:endParaRPr>
          </a:p>
          <a:p>
            <a:pPr indent="0" lvl="0" marL="0" rtl="0" algn="l">
              <a:lnSpc>
                <a:spcPct val="115000"/>
              </a:lnSpc>
              <a:spcBef>
                <a:spcPts val="0"/>
              </a:spcBef>
              <a:spcAft>
                <a:spcPts val="0"/>
              </a:spcAft>
              <a:buNone/>
            </a:pPr>
            <a:r>
              <a:rPr i="1" lang="en-US" sz="1700">
                <a:latin typeface="Times"/>
                <a:ea typeface="Times"/>
                <a:cs typeface="Times"/>
                <a:sym typeface="Times"/>
              </a:rPr>
              <a:t>If python path is not found in your system then visit: https://www.geeksforgeeks.org/how-to-add-python-to-windows-path/</a:t>
            </a:r>
            <a:endParaRPr i="1" sz="1700">
              <a:latin typeface="Times"/>
              <a:ea typeface="Times"/>
              <a:cs typeface="Times"/>
              <a:sym typeface="Times"/>
            </a:endParaRPr>
          </a:p>
        </p:txBody>
      </p:sp>
      <p:sp>
        <p:nvSpPr>
          <p:cNvPr id="121" name="Google Shape;121;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 name="Shape 126"/>
        <p:cNvGrpSpPr/>
        <p:nvPr/>
      </p:nvGrpSpPr>
      <p:grpSpPr>
        <a:xfrm>
          <a:off x="0" y="0"/>
          <a:ext cx="0" cy="0"/>
          <a:chOff x="0" y="0"/>
          <a:chExt cx="0" cy="0"/>
        </a:xfrm>
      </p:grpSpPr>
      <p:sp>
        <p:nvSpPr>
          <p:cNvPr id="127" name="Google Shape;127;p19"/>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Python: Command </a:t>
            </a:r>
            <a:r>
              <a:rPr b="1" lang="en-US" sz="3000">
                <a:solidFill>
                  <a:srgbClr val="1C3678"/>
                </a:solidFill>
                <a:latin typeface="Trebuchet MS"/>
                <a:ea typeface="Trebuchet MS"/>
                <a:cs typeface="Trebuchet MS"/>
                <a:sym typeface="Trebuchet MS"/>
              </a:rPr>
              <a:t>Prompt</a:t>
            </a:r>
            <a:r>
              <a:rPr b="1" lang="en-US" sz="3000">
                <a:solidFill>
                  <a:srgbClr val="1C3678"/>
                </a:solidFill>
                <a:latin typeface="Trebuchet MS"/>
                <a:ea typeface="Trebuchet MS"/>
                <a:cs typeface="Trebuchet MS"/>
                <a:sym typeface="Trebuchet MS"/>
              </a:rPr>
              <a:t>/</a:t>
            </a:r>
            <a:r>
              <a:rPr b="1" lang="en-US" sz="3000">
                <a:solidFill>
                  <a:srgbClr val="1C3678"/>
                </a:solidFill>
                <a:latin typeface="Trebuchet MS"/>
                <a:ea typeface="Trebuchet MS"/>
                <a:cs typeface="Trebuchet MS"/>
                <a:sym typeface="Trebuchet MS"/>
              </a:rPr>
              <a:t>Terminal</a:t>
            </a:r>
            <a:endParaRPr b="1" sz="3000">
              <a:solidFill>
                <a:srgbClr val="1C3678"/>
              </a:solidFill>
              <a:latin typeface="Trebuchet MS"/>
              <a:ea typeface="Trebuchet MS"/>
              <a:cs typeface="Trebuchet MS"/>
              <a:sym typeface="Trebuchet MS"/>
            </a:endParaRPr>
          </a:p>
        </p:txBody>
      </p:sp>
      <p:sp>
        <p:nvSpPr>
          <p:cNvPr id="128" name="Google Shape;128;p19"/>
          <p:cNvSpPr txBox="1"/>
          <p:nvPr/>
        </p:nvSpPr>
        <p:spPr>
          <a:xfrm>
            <a:off x="688425" y="793125"/>
            <a:ext cx="8107500" cy="722100"/>
          </a:xfrm>
          <a:prstGeom prst="rect">
            <a:avLst/>
          </a:prstGeom>
          <a:noFill/>
          <a:ln>
            <a:noFill/>
          </a:ln>
        </p:spPr>
        <p:txBody>
          <a:bodyPr anchorCtr="0" anchor="t" bIns="0" lIns="0" spcFirstLastPara="1" rIns="0" wrap="square" tIns="125075">
            <a:spAutoFit/>
          </a:bodyPr>
          <a:lstStyle/>
          <a:p>
            <a:pPr indent="-342900" lvl="0" marL="457200" rtl="0" algn="l">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Open Terminal/Command Terminal </a:t>
            </a:r>
            <a:endParaRPr sz="1800">
              <a:latin typeface="Times"/>
              <a:ea typeface="Times"/>
              <a:cs typeface="Times"/>
              <a:sym typeface="Times"/>
            </a:endParaRPr>
          </a:p>
          <a:p>
            <a:pPr indent="-342900" lvl="0" marL="457200" rtl="0" algn="l">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Play with basic python commands</a:t>
            </a:r>
            <a:endParaRPr sz="1800">
              <a:highlight>
                <a:srgbClr val="FFFFFF"/>
              </a:highlight>
              <a:latin typeface="Times"/>
              <a:ea typeface="Times"/>
              <a:cs typeface="Times"/>
              <a:sym typeface="Times"/>
            </a:endParaRPr>
          </a:p>
        </p:txBody>
      </p:sp>
      <p:sp>
        <p:nvSpPr>
          <p:cNvPr id="129" name="Google Shape;129;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130" name="Google Shape;130;p19"/>
          <p:cNvSpPr/>
          <p:nvPr/>
        </p:nvSpPr>
        <p:spPr>
          <a:xfrm>
            <a:off x="714375" y="1668950"/>
            <a:ext cx="6666300" cy="3129600"/>
          </a:xfrm>
          <a:prstGeom prst="snip1Rect">
            <a:avLst>
              <a:gd fmla="val 16667" name="adj"/>
            </a:avLst>
          </a:prstGeom>
          <a:solidFill>
            <a:srgbClr val="737373"/>
          </a:solidFill>
          <a:ln cap="flat" cmpd="sng" w="9525">
            <a:solidFill>
              <a:srgbClr val="4242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print("Hello There! It is Python Programming.")</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 Python Programming do not need main function to execute the program.</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Python Programming </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do not need main function </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to execute the program</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Python Programming </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do not need main function </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to execute the program</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20"/>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Features of </a:t>
            </a:r>
            <a:r>
              <a:rPr b="1" lang="en-US" sz="3000">
                <a:solidFill>
                  <a:srgbClr val="1C3678"/>
                </a:solidFill>
                <a:latin typeface="Trebuchet MS"/>
                <a:ea typeface="Trebuchet MS"/>
                <a:cs typeface="Trebuchet MS"/>
                <a:sym typeface="Trebuchet MS"/>
              </a:rPr>
              <a:t>Python</a:t>
            </a:r>
            <a:endParaRPr b="1" sz="3000">
              <a:solidFill>
                <a:srgbClr val="1C3678"/>
              </a:solidFill>
              <a:latin typeface="Trebuchet MS"/>
              <a:ea typeface="Trebuchet MS"/>
              <a:cs typeface="Trebuchet MS"/>
              <a:sym typeface="Trebuchet MS"/>
            </a:endParaRPr>
          </a:p>
        </p:txBody>
      </p:sp>
      <p:sp>
        <p:nvSpPr>
          <p:cNvPr id="137" name="Google Shape;137;p20"/>
          <p:cNvSpPr txBox="1"/>
          <p:nvPr/>
        </p:nvSpPr>
        <p:spPr>
          <a:xfrm>
            <a:off x="688425" y="793125"/>
            <a:ext cx="8107500" cy="3589500"/>
          </a:xfrm>
          <a:prstGeom prst="rect">
            <a:avLst/>
          </a:prstGeom>
          <a:noFill/>
          <a:ln>
            <a:noFill/>
          </a:ln>
        </p:spPr>
        <p:txBody>
          <a:bodyPr anchorCtr="0" anchor="t" bIns="0" lIns="0" spcFirstLastPara="1" rIns="0" wrap="square" tIns="125075">
            <a:spAutoFit/>
          </a:bodyPr>
          <a:lstStyle/>
          <a:p>
            <a:pPr indent="0" lvl="0" marL="0" rtl="0" algn="just">
              <a:lnSpc>
                <a:spcPct val="115000"/>
              </a:lnSpc>
              <a:spcBef>
                <a:spcPts val="0"/>
              </a:spcBef>
              <a:spcAft>
                <a:spcPts val="0"/>
              </a:spcAft>
              <a:buNone/>
            </a:pPr>
            <a:r>
              <a:rPr lang="en-US" sz="1800">
                <a:latin typeface="Times"/>
                <a:ea typeface="Times"/>
                <a:cs typeface="Times"/>
                <a:sym typeface="Times"/>
              </a:rPr>
              <a:t>Python is commonly used for developing websites and software, task automation, data analysis, and data visualization.</a:t>
            </a:r>
            <a:endParaRPr sz="1800">
              <a:latin typeface="Times"/>
              <a:ea typeface="Times"/>
              <a:cs typeface="Times"/>
              <a:sym typeface="Times"/>
            </a:endParaRPr>
          </a:p>
          <a:p>
            <a:pPr indent="0" lvl="0" marL="0" rtl="0" algn="just">
              <a:lnSpc>
                <a:spcPct val="115000"/>
              </a:lnSpc>
              <a:spcBef>
                <a:spcPts val="0"/>
              </a:spcBef>
              <a:spcAft>
                <a:spcPts val="0"/>
              </a:spcAft>
              <a:buNone/>
            </a:pPr>
            <a:r>
              <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Open Source</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Cross-Platform</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High-Level Language</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Object-Oriented Programming (OOP)</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Dynamically Typed</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Easy to read</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Interpreted</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Extensive Standard Library</a:t>
            </a:r>
            <a:endParaRPr sz="1800">
              <a:latin typeface="Times"/>
              <a:ea typeface="Times"/>
              <a:cs typeface="Times"/>
              <a:sym typeface="Times"/>
            </a:endParaRPr>
          </a:p>
        </p:txBody>
      </p:sp>
      <p:sp>
        <p:nvSpPr>
          <p:cNvPr id="138" name="Google Shape;138;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sp>
        <p:nvSpPr>
          <p:cNvPr id="144" name="Google Shape;144;p21"/>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Pros of Python</a:t>
            </a:r>
            <a:endParaRPr b="1" sz="3000">
              <a:solidFill>
                <a:srgbClr val="1C3678"/>
              </a:solidFill>
              <a:latin typeface="Trebuchet MS"/>
              <a:ea typeface="Trebuchet MS"/>
              <a:cs typeface="Trebuchet MS"/>
              <a:sym typeface="Trebuchet MS"/>
            </a:endParaRPr>
          </a:p>
        </p:txBody>
      </p:sp>
      <p:sp>
        <p:nvSpPr>
          <p:cNvPr id="145" name="Google Shape;145;p21"/>
          <p:cNvSpPr txBox="1"/>
          <p:nvPr/>
        </p:nvSpPr>
        <p:spPr>
          <a:xfrm>
            <a:off x="688425" y="793125"/>
            <a:ext cx="8107500" cy="16779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Readability</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Versatility</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Extensive Standard Library</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Community and Ecosystem</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Platform Independence</a:t>
            </a:r>
            <a:endParaRPr sz="1800">
              <a:latin typeface="Times"/>
              <a:ea typeface="Times"/>
              <a:cs typeface="Times"/>
              <a:sym typeface="Times"/>
            </a:endParaRPr>
          </a:p>
        </p:txBody>
      </p:sp>
      <p:sp>
        <p:nvSpPr>
          <p:cNvPr id="146" name="Google Shape;14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 name="Shape 151"/>
        <p:cNvGrpSpPr/>
        <p:nvPr/>
      </p:nvGrpSpPr>
      <p:grpSpPr>
        <a:xfrm>
          <a:off x="0" y="0"/>
          <a:ext cx="0" cy="0"/>
          <a:chOff x="0" y="0"/>
          <a:chExt cx="0" cy="0"/>
        </a:xfrm>
      </p:grpSpPr>
      <p:sp>
        <p:nvSpPr>
          <p:cNvPr id="152" name="Google Shape;152;p22"/>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Cons</a:t>
            </a:r>
            <a:r>
              <a:rPr b="1" lang="en-US" sz="3000">
                <a:solidFill>
                  <a:srgbClr val="1C3678"/>
                </a:solidFill>
                <a:latin typeface="Trebuchet MS"/>
                <a:ea typeface="Trebuchet MS"/>
                <a:cs typeface="Trebuchet MS"/>
                <a:sym typeface="Trebuchet MS"/>
              </a:rPr>
              <a:t> of Python</a:t>
            </a:r>
            <a:endParaRPr b="1" sz="3000">
              <a:solidFill>
                <a:srgbClr val="1C3678"/>
              </a:solidFill>
              <a:latin typeface="Trebuchet MS"/>
              <a:ea typeface="Trebuchet MS"/>
              <a:cs typeface="Trebuchet MS"/>
              <a:sym typeface="Trebuchet MS"/>
            </a:endParaRPr>
          </a:p>
        </p:txBody>
      </p:sp>
      <p:sp>
        <p:nvSpPr>
          <p:cNvPr id="153" name="Google Shape;153;p22"/>
          <p:cNvSpPr txBox="1"/>
          <p:nvPr/>
        </p:nvSpPr>
        <p:spPr>
          <a:xfrm>
            <a:off x="688425" y="793125"/>
            <a:ext cx="8107500" cy="23151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Performance</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Runtime Errors</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Memory Consumption</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ahoma"/>
              <a:buChar char="➢"/>
            </a:pPr>
            <a:r>
              <a:rPr lang="en-US" sz="1800">
                <a:latin typeface="Times"/>
                <a:ea typeface="Times"/>
                <a:cs typeface="Times"/>
                <a:sym typeface="Times"/>
              </a:rPr>
              <a:t>Global Interpreter Lock (GIL): Python is Global Interpreter Lock can limit multi-threaded performance in CPU-bound applications by allowing only one thread to execute Python bytecode at a time, although it does not significantly affect I/O-bound or asynchronous applications.</a:t>
            </a:r>
            <a:endParaRPr sz="1800">
              <a:latin typeface="Times"/>
              <a:ea typeface="Times"/>
              <a:cs typeface="Times"/>
              <a:sym typeface="Times"/>
            </a:endParaRPr>
          </a:p>
        </p:txBody>
      </p:sp>
      <p:sp>
        <p:nvSpPr>
          <p:cNvPr id="154" name="Google Shape;154;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sp>
        <p:nvSpPr>
          <p:cNvPr id="160" name="Google Shape;160;p23"/>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Application and Scope</a:t>
            </a:r>
            <a:r>
              <a:rPr b="1" lang="en-US" sz="3000">
                <a:solidFill>
                  <a:srgbClr val="1C3678"/>
                </a:solidFill>
                <a:latin typeface="Trebuchet MS"/>
                <a:ea typeface="Trebuchet MS"/>
                <a:cs typeface="Trebuchet MS"/>
                <a:sym typeface="Trebuchet MS"/>
              </a:rPr>
              <a:t> of Python</a:t>
            </a:r>
            <a:endParaRPr b="1" sz="3000">
              <a:solidFill>
                <a:srgbClr val="1C3678"/>
              </a:solidFill>
              <a:latin typeface="Trebuchet MS"/>
              <a:ea typeface="Trebuchet MS"/>
              <a:cs typeface="Trebuchet MS"/>
              <a:sym typeface="Trebuchet MS"/>
            </a:endParaRPr>
          </a:p>
        </p:txBody>
      </p:sp>
      <p:sp>
        <p:nvSpPr>
          <p:cNvPr id="161" name="Google Shape;161;p23"/>
          <p:cNvSpPr txBox="1"/>
          <p:nvPr/>
        </p:nvSpPr>
        <p:spPr>
          <a:xfrm>
            <a:off x="688425" y="793125"/>
            <a:ext cx="8107500" cy="19965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0"/>
              </a:spcBef>
              <a:spcAft>
                <a:spcPts val="0"/>
              </a:spcAft>
              <a:buClr>
                <a:srgbClr val="000000"/>
              </a:buClr>
              <a:buSzPts val="1800"/>
              <a:buFont typeface="Tahoma"/>
              <a:buChar char="➢"/>
            </a:pPr>
            <a:r>
              <a:rPr lang="en-US" sz="1800">
                <a:latin typeface="Times"/>
                <a:ea typeface="Times"/>
                <a:cs typeface="Times"/>
                <a:sym typeface="Times"/>
              </a:rPr>
              <a:t>Web Development: Django, Flask</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ahoma"/>
              <a:buChar char="➢"/>
            </a:pPr>
            <a:r>
              <a:rPr lang="en-US" sz="1800">
                <a:latin typeface="Times"/>
                <a:ea typeface="Times"/>
                <a:cs typeface="Times"/>
                <a:sym typeface="Times"/>
              </a:rPr>
              <a:t>Data Science and Machine Learning: NumPy, Pandas, and TensorFlow</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ahoma"/>
              <a:buChar char="➢"/>
            </a:pPr>
            <a:r>
              <a:rPr lang="en-US" sz="1800">
                <a:latin typeface="Times"/>
                <a:ea typeface="Times"/>
                <a:cs typeface="Times"/>
                <a:sym typeface="Times"/>
              </a:rPr>
              <a:t>Scripting and Automation: System administration, batch processing, and task automation</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ahoma"/>
              <a:buChar char="➢"/>
            </a:pPr>
            <a:r>
              <a:rPr lang="en-US" sz="1800">
                <a:latin typeface="Times"/>
                <a:ea typeface="Times"/>
                <a:cs typeface="Times"/>
                <a:sym typeface="Times"/>
              </a:rPr>
              <a:t>Desktop GUI Applications: Tkinter, PyQt, or PyGTK</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ahoma"/>
              <a:buChar char="➢"/>
            </a:pPr>
            <a:r>
              <a:rPr lang="en-US" sz="1800">
                <a:latin typeface="Times"/>
                <a:ea typeface="Times"/>
                <a:cs typeface="Times"/>
                <a:sym typeface="Times"/>
              </a:rPr>
              <a:t>Scientific Computing: SciPy, Matplotlib, and Jupyter</a:t>
            </a:r>
            <a:endParaRPr sz="1800">
              <a:latin typeface="Times"/>
              <a:ea typeface="Times"/>
              <a:cs typeface="Times"/>
              <a:sym typeface="Times"/>
            </a:endParaRPr>
          </a:p>
        </p:txBody>
      </p:sp>
      <p:sp>
        <p:nvSpPr>
          <p:cNvPr id="162" name="Google Shape;16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7" name="Shape 167"/>
        <p:cNvGrpSpPr/>
        <p:nvPr/>
      </p:nvGrpSpPr>
      <p:grpSpPr>
        <a:xfrm>
          <a:off x="0" y="0"/>
          <a:ext cx="0" cy="0"/>
          <a:chOff x="0" y="0"/>
          <a:chExt cx="0" cy="0"/>
        </a:xfrm>
      </p:grpSpPr>
      <p:sp>
        <p:nvSpPr>
          <p:cNvPr id="168" name="Google Shape;168;p24"/>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History of</a:t>
            </a:r>
            <a:r>
              <a:rPr b="1" lang="en-US" sz="3000">
                <a:solidFill>
                  <a:srgbClr val="1C3678"/>
                </a:solidFill>
                <a:latin typeface="Trebuchet MS"/>
                <a:ea typeface="Trebuchet MS"/>
                <a:cs typeface="Trebuchet MS"/>
                <a:sym typeface="Trebuchet MS"/>
              </a:rPr>
              <a:t> Python</a:t>
            </a:r>
            <a:endParaRPr b="1" sz="3000">
              <a:solidFill>
                <a:srgbClr val="1C3678"/>
              </a:solidFill>
              <a:latin typeface="Trebuchet MS"/>
              <a:ea typeface="Trebuchet MS"/>
              <a:cs typeface="Trebuchet MS"/>
              <a:sym typeface="Trebuchet MS"/>
            </a:endParaRPr>
          </a:p>
        </p:txBody>
      </p:sp>
      <p:sp>
        <p:nvSpPr>
          <p:cNvPr id="169" name="Google Shape;169;p24"/>
          <p:cNvSpPr txBox="1"/>
          <p:nvPr/>
        </p:nvSpPr>
        <p:spPr>
          <a:xfrm>
            <a:off x="688425" y="793125"/>
            <a:ext cx="8107500" cy="35895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0"/>
              </a:spcBef>
              <a:spcAft>
                <a:spcPts val="0"/>
              </a:spcAft>
              <a:buSzPts val="1800"/>
              <a:buFont typeface="Verdana"/>
              <a:buChar char="●"/>
            </a:pPr>
            <a:r>
              <a:rPr lang="en-US" sz="1800">
                <a:latin typeface="Tahoma"/>
                <a:ea typeface="Tahoma"/>
                <a:cs typeface="Tahoma"/>
                <a:sym typeface="Tahoma"/>
              </a:rPr>
              <a:t>Python was invented by </a:t>
            </a:r>
            <a:r>
              <a:rPr b="1" lang="en-US" sz="1800">
                <a:latin typeface="Tahoma"/>
                <a:ea typeface="Tahoma"/>
                <a:cs typeface="Tahoma"/>
                <a:sym typeface="Tahoma"/>
              </a:rPr>
              <a:t>Guido van Rossum</a:t>
            </a:r>
            <a:r>
              <a:rPr lang="en-US" sz="1800">
                <a:latin typeface="Tahoma"/>
                <a:ea typeface="Tahoma"/>
                <a:cs typeface="Tahoma"/>
                <a:sym typeface="Tahoma"/>
              </a:rPr>
              <a:t> in 1991 at CWI in Netherland. </a:t>
            </a:r>
            <a:endParaRPr sz="1800">
              <a:latin typeface="Tahoma"/>
              <a:ea typeface="Tahoma"/>
              <a:cs typeface="Tahoma"/>
              <a:sym typeface="Tahoma"/>
            </a:endParaRPr>
          </a:p>
          <a:p>
            <a:pPr indent="-342900" lvl="0" marL="457200" rtl="0" algn="just">
              <a:lnSpc>
                <a:spcPct val="115000"/>
              </a:lnSpc>
              <a:spcBef>
                <a:spcPts val="0"/>
              </a:spcBef>
              <a:spcAft>
                <a:spcPts val="0"/>
              </a:spcAft>
              <a:buSzPts val="1800"/>
              <a:buFont typeface="Tahoma"/>
              <a:buChar char="●"/>
            </a:pPr>
            <a:r>
              <a:rPr lang="en-US" sz="1800">
                <a:latin typeface="Tahoma"/>
                <a:ea typeface="Tahoma"/>
                <a:cs typeface="Tahoma"/>
                <a:sym typeface="Tahoma"/>
              </a:rPr>
              <a:t>The idea of Python programming language has taken from the ABC programming language or we can say that ABC is a predecessor of Python language.</a:t>
            </a:r>
            <a:endParaRPr sz="1800">
              <a:latin typeface="Tahoma"/>
              <a:ea typeface="Tahoma"/>
              <a:cs typeface="Tahoma"/>
              <a:sym typeface="Tahoma"/>
            </a:endParaRPr>
          </a:p>
          <a:p>
            <a:pPr indent="-342900" lvl="0" marL="457200" rtl="0" algn="just">
              <a:lnSpc>
                <a:spcPct val="115000"/>
              </a:lnSpc>
              <a:spcBef>
                <a:spcPts val="0"/>
              </a:spcBef>
              <a:spcAft>
                <a:spcPts val="0"/>
              </a:spcAft>
              <a:buSzPts val="1800"/>
              <a:buFont typeface="Verdana"/>
              <a:buChar char="●"/>
            </a:pPr>
            <a:r>
              <a:rPr lang="en-US" sz="1800">
                <a:latin typeface="Tahoma"/>
                <a:ea typeface="Tahoma"/>
                <a:cs typeface="Tahoma"/>
                <a:sym typeface="Tahoma"/>
              </a:rPr>
              <a:t>There is also a fact behind the choosing name Python. Guido van Rossum was a fan of the popular BBC comedy show of that time, </a:t>
            </a:r>
            <a:r>
              <a:rPr b="1" lang="en-US" sz="1800">
                <a:latin typeface="Tahoma"/>
                <a:ea typeface="Tahoma"/>
                <a:cs typeface="Tahoma"/>
                <a:sym typeface="Tahoma"/>
              </a:rPr>
              <a:t>"Monty Python's Flying Circus"</a:t>
            </a:r>
            <a:r>
              <a:rPr lang="en-US" sz="1800">
                <a:latin typeface="Tahoma"/>
                <a:ea typeface="Tahoma"/>
                <a:cs typeface="Tahoma"/>
                <a:sym typeface="Tahoma"/>
              </a:rPr>
              <a:t>. So he decided to pick the name </a:t>
            </a:r>
            <a:r>
              <a:rPr b="1" lang="en-US" sz="1800">
                <a:latin typeface="Tahoma"/>
                <a:ea typeface="Tahoma"/>
                <a:cs typeface="Tahoma"/>
                <a:sym typeface="Tahoma"/>
              </a:rPr>
              <a:t>Python</a:t>
            </a:r>
            <a:r>
              <a:rPr lang="en-US" sz="1800">
                <a:latin typeface="Tahoma"/>
                <a:ea typeface="Tahoma"/>
                <a:cs typeface="Tahoma"/>
                <a:sym typeface="Tahoma"/>
              </a:rPr>
              <a:t> for his newly created programming language.</a:t>
            </a:r>
            <a:endParaRPr sz="1800">
              <a:latin typeface="Tahoma"/>
              <a:ea typeface="Tahoma"/>
              <a:cs typeface="Tahoma"/>
              <a:sym typeface="Tahoma"/>
            </a:endParaRPr>
          </a:p>
          <a:p>
            <a:pPr indent="-342900" lvl="0" marL="457200" rtl="0" algn="just">
              <a:lnSpc>
                <a:spcPct val="115000"/>
              </a:lnSpc>
              <a:spcBef>
                <a:spcPts val="0"/>
              </a:spcBef>
              <a:spcAft>
                <a:spcPts val="0"/>
              </a:spcAft>
              <a:buSzPts val="1800"/>
              <a:buFont typeface="Tahoma"/>
              <a:buChar char="●"/>
            </a:pPr>
            <a:r>
              <a:rPr lang="en-US" sz="1800">
                <a:latin typeface="Tahoma"/>
                <a:ea typeface="Tahoma"/>
                <a:cs typeface="Tahoma"/>
                <a:sym typeface="Tahoma"/>
              </a:rPr>
              <a:t>Python has the vast community across the world and releases its version within the short period.</a:t>
            </a:r>
            <a:endParaRPr sz="2000">
              <a:latin typeface="Tahoma"/>
              <a:ea typeface="Tahoma"/>
              <a:cs typeface="Tahoma"/>
              <a:sym typeface="Tahoma"/>
            </a:endParaRPr>
          </a:p>
        </p:txBody>
      </p:sp>
      <p:sp>
        <p:nvSpPr>
          <p:cNvPr id="170" name="Google Shape;170;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sp>
        <p:nvSpPr>
          <p:cNvPr id="176" name="Google Shape;176;p25"/>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History of Python</a:t>
            </a:r>
            <a:endParaRPr b="1" sz="3000">
              <a:solidFill>
                <a:srgbClr val="1C3678"/>
              </a:solidFill>
              <a:latin typeface="Trebuchet MS"/>
              <a:ea typeface="Trebuchet MS"/>
              <a:cs typeface="Trebuchet MS"/>
              <a:sym typeface="Trebuchet MS"/>
            </a:endParaRPr>
          </a:p>
        </p:txBody>
      </p:sp>
      <p:sp>
        <p:nvSpPr>
          <p:cNvPr id="177" name="Google Shape;177;p25"/>
          <p:cNvSpPr txBox="1"/>
          <p:nvPr/>
        </p:nvSpPr>
        <p:spPr>
          <a:xfrm>
            <a:off x="688425" y="793125"/>
            <a:ext cx="8107500" cy="403500"/>
          </a:xfrm>
          <a:prstGeom prst="rect">
            <a:avLst/>
          </a:prstGeom>
          <a:noFill/>
          <a:ln>
            <a:noFill/>
          </a:ln>
        </p:spPr>
        <p:txBody>
          <a:bodyPr anchorCtr="0" anchor="t" bIns="0" lIns="0" spcFirstLastPara="1" rIns="0" wrap="square" tIns="125075">
            <a:spAutoFit/>
          </a:bodyPr>
          <a:lstStyle/>
          <a:p>
            <a:pPr indent="0" lvl="0" marL="457200" rtl="0" algn="just">
              <a:spcBef>
                <a:spcPts val="0"/>
              </a:spcBef>
              <a:spcAft>
                <a:spcPts val="0"/>
              </a:spcAft>
              <a:buNone/>
            </a:pPr>
            <a:r>
              <a:t/>
            </a:r>
            <a:endParaRPr sz="1800">
              <a:latin typeface="Tahoma"/>
              <a:ea typeface="Tahoma"/>
              <a:cs typeface="Tahoma"/>
              <a:sym typeface="Tahoma"/>
            </a:endParaRPr>
          </a:p>
        </p:txBody>
      </p:sp>
      <p:sp>
        <p:nvSpPr>
          <p:cNvPr id="178" name="Google Shape;178;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179" name="Google Shape;179;p25"/>
          <p:cNvPicPr preferRelativeResize="0"/>
          <p:nvPr/>
        </p:nvPicPr>
        <p:blipFill rotWithShape="1">
          <a:blip r:embed="rId3">
            <a:alphaModFix/>
          </a:blip>
          <a:srcRect b="8879" l="0" r="0" t="16815"/>
          <a:stretch/>
        </p:blipFill>
        <p:spPr>
          <a:xfrm>
            <a:off x="622425" y="793125"/>
            <a:ext cx="8058300" cy="39691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 name="Shape 184"/>
        <p:cNvGrpSpPr/>
        <p:nvPr/>
      </p:nvGrpSpPr>
      <p:grpSpPr>
        <a:xfrm>
          <a:off x="0" y="0"/>
          <a:ext cx="0" cy="0"/>
          <a:chOff x="0" y="0"/>
          <a:chExt cx="0" cy="0"/>
        </a:xfrm>
      </p:grpSpPr>
      <p:sp>
        <p:nvSpPr>
          <p:cNvPr id="185" name="Google Shape;185;p26"/>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Setting Environment for</a:t>
            </a:r>
            <a:r>
              <a:rPr b="1" lang="en-US" sz="3000">
                <a:solidFill>
                  <a:srgbClr val="1C3678"/>
                </a:solidFill>
                <a:latin typeface="Trebuchet MS"/>
                <a:ea typeface="Trebuchet MS"/>
                <a:cs typeface="Trebuchet MS"/>
                <a:sym typeface="Trebuchet MS"/>
              </a:rPr>
              <a:t> Python and Jupyter</a:t>
            </a:r>
            <a:endParaRPr b="1" sz="3000">
              <a:solidFill>
                <a:srgbClr val="1C3678"/>
              </a:solidFill>
              <a:latin typeface="Trebuchet MS"/>
              <a:ea typeface="Trebuchet MS"/>
              <a:cs typeface="Trebuchet MS"/>
              <a:sym typeface="Trebuchet MS"/>
            </a:endParaRPr>
          </a:p>
        </p:txBody>
      </p:sp>
      <p:sp>
        <p:nvSpPr>
          <p:cNvPr id="186" name="Google Shape;186;p26"/>
          <p:cNvSpPr txBox="1"/>
          <p:nvPr/>
        </p:nvSpPr>
        <p:spPr>
          <a:xfrm>
            <a:off x="688425" y="793125"/>
            <a:ext cx="8107500" cy="3125400"/>
          </a:xfrm>
          <a:prstGeom prst="rect">
            <a:avLst/>
          </a:prstGeom>
          <a:noFill/>
          <a:ln>
            <a:noFill/>
          </a:ln>
        </p:spPr>
        <p:txBody>
          <a:bodyPr anchorCtr="0" anchor="t" bIns="0" lIns="0" spcFirstLastPara="1" rIns="0" wrap="square" tIns="125075">
            <a:spAutoFit/>
          </a:bodyPr>
          <a:lstStyle/>
          <a:p>
            <a:pPr indent="-342900" lvl="0" marL="457200" rtl="0" algn="just">
              <a:spcBef>
                <a:spcPts val="0"/>
              </a:spcBef>
              <a:spcAft>
                <a:spcPts val="0"/>
              </a:spcAft>
              <a:buClr>
                <a:srgbClr val="000000"/>
              </a:buClr>
              <a:buSzPts val="1800"/>
              <a:buFont typeface="Times"/>
              <a:buChar char="➢"/>
            </a:pPr>
            <a:r>
              <a:rPr lang="en-US" sz="2000">
                <a:latin typeface="Times"/>
                <a:ea typeface="Times"/>
                <a:cs typeface="Times"/>
                <a:sym typeface="Times"/>
              </a:rPr>
              <a:t>Installing/ Creating a virtual Environment</a:t>
            </a:r>
            <a:endParaRPr sz="2000">
              <a:latin typeface="Times"/>
              <a:ea typeface="Times"/>
              <a:cs typeface="Times"/>
              <a:sym typeface="Times"/>
            </a:endParaRPr>
          </a:p>
          <a:p>
            <a:pPr indent="0" lvl="0" marL="647700" marR="190500" rtl="0" algn="l">
              <a:lnSpc>
                <a:spcPct val="115000"/>
              </a:lnSpc>
              <a:spcBef>
                <a:spcPts val="0"/>
              </a:spcBef>
              <a:spcAft>
                <a:spcPts val="0"/>
              </a:spcAft>
              <a:buNone/>
            </a:pPr>
            <a:r>
              <a:rPr lang="en-US" sz="1800">
                <a:latin typeface="Times"/>
                <a:ea typeface="Times"/>
                <a:cs typeface="Times"/>
                <a:sym typeface="Times"/>
              </a:rPr>
              <a:t>$ </a:t>
            </a:r>
            <a:r>
              <a:rPr lang="en-US" sz="1800">
                <a:highlight>
                  <a:srgbClr val="E0E0E0"/>
                </a:highlight>
                <a:latin typeface="Times"/>
                <a:ea typeface="Times"/>
                <a:cs typeface="Times"/>
                <a:sym typeface="Times"/>
              </a:rPr>
              <a:t>pip install virtualenv</a:t>
            </a:r>
            <a:endParaRPr sz="1800">
              <a:highlight>
                <a:srgbClr val="E0E0E0"/>
              </a:highlight>
              <a:latin typeface="Times"/>
              <a:ea typeface="Times"/>
              <a:cs typeface="Times"/>
              <a:sym typeface="Times"/>
            </a:endParaRPr>
          </a:p>
          <a:p>
            <a:pPr indent="0" lvl="0" marL="647700" marR="190500" rtl="0" algn="l">
              <a:lnSpc>
                <a:spcPct val="115000"/>
              </a:lnSpc>
              <a:spcBef>
                <a:spcPts val="800"/>
              </a:spcBef>
              <a:spcAft>
                <a:spcPts val="0"/>
              </a:spcAft>
              <a:buNone/>
            </a:pPr>
            <a:r>
              <a:rPr lang="en-US" sz="1800">
                <a:latin typeface="Times"/>
                <a:ea typeface="Times"/>
                <a:cs typeface="Times"/>
                <a:sym typeface="Times"/>
              </a:rPr>
              <a:t>$ </a:t>
            </a:r>
            <a:r>
              <a:rPr lang="en-US" sz="1800">
                <a:highlight>
                  <a:srgbClr val="E0E0E0"/>
                </a:highlight>
                <a:latin typeface="Times"/>
                <a:ea typeface="Times"/>
                <a:cs typeface="Times"/>
                <a:sym typeface="Times"/>
              </a:rPr>
              <a:t>virtualenv --version</a:t>
            </a:r>
            <a:endParaRPr sz="1800">
              <a:highlight>
                <a:srgbClr val="E0E0E0"/>
              </a:highlight>
              <a:latin typeface="Times"/>
              <a:ea typeface="Times"/>
              <a:cs typeface="Times"/>
              <a:sym typeface="Times"/>
            </a:endParaRPr>
          </a:p>
          <a:p>
            <a:pPr indent="0" lvl="0" marL="647700" marR="190500" rtl="0" algn="l">
              <a:lnSpc>
                <a:spcPct val="115000"/>
              </a:lnSpc>
              <a:spcBef>
                <a:spcPts val="800"/>
              </a:spcBef>
              <a:spcAft>
                <a:spcPts val="0"/>
              </a:spcAft>
              <a:buNone/>
            </a:pPr>
            <a:r>
              <a:rPr lang="en-US" sz="1800">
                <a:latin typeface="Times"/>
                <a:ea typeface="Times"/>
                <a:cs typeface="Times"/>
                <a:sym typeface="Times"/>
              </a:rPr>
              <a:t>$ </a:t>
            </a:r>
            <a:r>
              <a:rPr lang="en-US" sz="1800">
                <a:highlight>
                  <a:srgbClr val="E0E0E0"/>
                </a:highlight>
                <a:latin typeface="Times"/>
                <a:ea typeface="Times"/>
                <a:cs typeface="Times"/>
                <a:sym typeface="Times"/>
              </a:rPr>
              <a:t>python -m venv myenv</a:t>
            </a:r>
            <a:endParaRPr sz="1800">
              <a:highlight>
                <a:srgbClr val="E0E0E0"/>
              </a:highlight>
              <a:latin typeface="Times"/>
              <a:ea typeface="Times"/>
              <a:cs typeface="Times"/>
              <a:sym typeface="Times"/>
            </a:endParaRPr>
          </a:p>
          <a:p>
            <a:pPr indent="0" lvl="0" marL="647700" marR="190500" rtl="0" algn="l">
              <a:lnSpc>
                <a:spcPct val="115000"/>
              </a:lnSpc>
              <a:spcBef>
                <a:spcPts val="800"/>
              </a:spcBef>
              <a:spcAft>
                <a:spcPts val="0"/>
              </a:spcAft>
              <a:buNone/>
            </a:pPr>
            <a:r>
              <a:rPr lang="en-US" sz="1800">
                <a:latin typeface="Times"/>
                <a:ea typeface="Times"/>
                <a:cs typeface="Times"/>
                <a:sym typeface="Times"/>
              </a:rPr>
              <a:t>$ </a:t>
            </a:r>
            <a:r>
              <a:rPr lang="en-US" sz="1800">
                <a:highlight>
                  <a:srgbClr val="E0E0E0"/>
                </a:highlight>
                <a:latin typeface="Times"/>
                <a:ea typeface="Times"/>
                <a:cs typeface="Times"/>
                <a:sym typeface="Times"/>
              </a:rPr>
              <a:t>myenv\Scripts\activate</a:t>
            </a:r>
            <a:endParaRPr sz="1800">
              <a:highlight>
                <a:srgbClr val="E0E0E0"/>
              </a:highlight>
              <a:latin typeface="Times"/>
              <a:ea typeface="Times"/>
              <a:cs typeface="Times"/>
              <a:sym typeface="Times"/>
            </a:endParaRPr>
          </a:p>
          <a:p>
            <a:pPr indent="0" lvl="0" marL="647700" marR="190500" rtl="0" algn="l">
              <a:lnSpc>
                <a:spcPct val="115000"/>
              </a:lnSpc>
              <a:spcBef>
                <a:spcPts val="800"/>
              </a:spcBef>
              <a:spcAft>
                <a:spcPts val="0"/>
              </a:spcAft>
              <a:buNone/>
            </a:pPr>
            <a:r>
              <a:rPr lang="en-US" sz="1800">
                <a:latin typeface="Times"/>
                <a:ea typeface="Times"/>
                <a:cs typeface="Times"/>
                <a:sym typeface="Times"/>
              </a:rPr>
              <a:t>$ </a:t>
            </a:r>
            <a:r>
              <a:rPr lang="en-US" sz="1800">
                <a:highlight>
                  <a:srgbClr val="E0E0E0"/>
                </a:highlight>
                <a:latin typeface="Times"/>
                <a:ea typeface="Times"/>
                <a:cs typeface="Times"/>
                <a:sym typeface="Times"/>
              </a:rPr>
              <a:t>deactivate</a:t>
            </a:r>
            <a:endParaRPr sz="2000">
              <a:latin typeface="Times"/>
              <a:ea typeface="Times"/>
              <a:cs typeface="Times"/>
              <a:sym typeface="Times"/>
            </a:endParaRPr>
          </a:p>
          <a:p>
            <a:pPr indent="-355600" lvl="0" marL="457200" rtl="0" algn="just">
              <a:spcBef>
                <a:spcPts val="800"/>
              </a:spcBef>
              <a:spcAft>
                <a:spcPts val="0"/>
              </a:spcAft>
              <a:buClr>
                <a:schemeClr val="accent1"/>
              </a:buClr>
              <a:buSzPts val="2000"/>
              <a:buFont typeface="Times"/>
              <a:buChar char="➢"/>
            </a:pPr>
            <a:r>
              <a:rPr lang="en-US" sz="2000">
                <a:latin typeface="Times"/>
                <a:ea typeface="Times"/>
                <a:cs typeface="Times"/>
                <a:sym typeface="Times"/>
              </a:rPr>
              <a:t>Installing Jupyter Notebook</a:t>
            </a:r>
            <a:endParaRPr sz="2000">
              <a:latin typeface="Times"/>
              <a:ea typeface="Times"/>
              <a:cs typeface="Times"/>
              <a:sym typeface="Times"/>
            </a:endParaRPr>
          </a:p>
          <a:p>
            <a:pPr indent="0" lvl="0" marL="647700" marR="190500" rtl="0" algn="l">
              <a:lnSpc>
                <a:spcPct val="115000"/>
              </a:lnSpc>
              <a:spcBef>
                <a:spcPts val="0"/>
              </a:spcBef>
              <a:spcAft>
                <a:spcPts val="800"/>
              </a:spcAft>
              <a:buNone/>
            </a:pPr>
            <a:r>
              <a:rPr lang="en-US" sz="1800">
                <a:latin typeface="Times"/>
                <a:ea typeface="Times"/>
                <a:cs typeface="Times"/>
                <a:sym typeface="Times"/>
              </a:rPr>
              <a:t>$ </a:t>
            </a:r>
            <a:r>
              <a:rPr lang="en-US" sz="1800">
                <a:highlight>
                  <a:srgbClr val="E0E0E0"/>
                </a:highlight>
                <a:latin typeface="Times"/>
                <a:ea typeface="Times"/>
                <a:cs typeface="Times"/>
                <a:sym typeface="Times"/>
              </a:rPr>
              <a:t>pip install jupyter</a:t>
            </a:r>
            <a:endParaRPr sz="1800">
              <a:latin typeface="Times"/>
              <a:ea typeface="Times"/>
              <a:cs typeface="Times"/>
              <a:sym typeface="Times"/>
            </a:endParaRPr>
          </a:p>
        </p:txBody>
      </p:sp>
      <p:sp>
        <p:nvSpPr>
          <p:cNvPr id="187" name="Google Shape;187;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 name="Shape 192"/>
        <p:cNvGrpSpPr/>
        <p:nvPr/>
      </p:nvGrpSpPr>
      <p:grpSpPr>
        <a:xfrm>
          <a:off x="0" y="0"/>
          <a:ext cx="0" cy="0"/>
          <a:chOff x="0" y="0"/>
          <a:chExt cx="0" cy="0"/>
        </a:xfrm>
      </p:grpSpPr>
      <p:sp>
        <p:nvSpPr>
          <p:cNvPr id="193" name="Google Shape;193;p27"/>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Input in Python</a:t>
            </a:r>
            <a:endParaRPr b="1" sz="3000">
              <a:solidFill>
                <a:srgbClr val="1C3678"/>
              </a:solidFill>
              <a:latin typeface="Trebuchet MS"/>
              <a:ea typeface="Trebuchet MS"/>
              <a:cs typeface="Trebuchet MS"/>
              <a:sym typeface="Trebuchet MS"/>
            </a:endParaRPr>
          </a:p>
        </p:txBody>
      </p:sp>
      <p:sp>
        <p:nvSpPr>
          <p:cNvPr id="194" name="Google Shape;194;p27"/>
          <p:cNvSpPr txBox="1"/>
          <p:nvPr/>
        </p:nvSpPr>
        <p:spPr>
          <a:xfrm>
            <a:off x="688425" y="793125"/>
            <a:ext cx="8107500" cy="1234500"/>
          </a:xfrm>
          <a:prstGeom prst="rect">
            <a:avLst/>
          </a:prstGeom>
          <a:noFill/>
          <a:ln>
            <a:noFill/>
          </a:ln>
        </p:spPr>
        <p:txBody>
          <a:bodyPr anchorCtr="0" anchor="t" bIns="0" lIns="0" spcFirstLastPara="1" rIns="0" wrap="square" tIns="125075">
            <a:spAutoFit/>
          </a:bodyPr>
          <a:lstStyle/>
          <a:p>
            <a:pPr indent="-342900" lvl="0" marL="457200" rtl="0" algn="just">
              <a:spcBef>
                <a:spcPts val="0"/>
              </a:spcBef>
              <a:spcAft>
                <a:spcPts val="0"/>
              </a:spcAft>
              <a:buClr>
                <a:srgbClr val="000000"/>
              </a:buClr>
              <a:buSzPts val="1800"/>
              <a:buFont typeface="Times"/>
              <a:buChar char="➢"/>
            </a:pPr>
            <a:r>
              <a:rPr lang="en-US" sz="1800">
                <a:latin typeface="Times"/>
                <a:ea typeface="Times"/>
                <a:cs typeface="Times"/>
                <a:sym typeface="Times"/>
              </a:rPr>
              <a:t>Python provides the input() function to read input from the user via the keyboard.</a:t>
            </a:r>
            <a:endParaRPr sz="1800">
              <a:latin typeface="Times"/>
              <a:ea typeface="Times"/>
              <a:cs typeface="Times"/>
              <a:sym typeface="Times"/>
            </a:endParaRPr>
          </a:p>
          <a:p>
            <a:pPr indent="-342900" lvl="0" marL="457200" rtl="0" algn="just">
              <a:spcBef>
                <a:spcPts val="0"/>
              </a:spcBef>
              <a:spcAft>
                <a:spcPts val="0"/>
              </a:spcAft>
              <a:buClr>
                <a:srgbClr val="000000"/>
              </a:buClr>
              <a:buSzPts val="1800"/>
              <a:buFont typeface="Times"/>
              <a:buChar char="➢"/>
            </a:pPr>
            <a:r>
              <a:rPr lang="en-US" sz="1800">
                <a:latin typeface="Times"/>
                <a:ea typeface="Times"/>
                <a:cs typeface="Times"/>
                <a:sym typeface="Times"/>
              </a:rPr>
              <a:t>Syntax:</a:t>
            </a:r>
            <a:endParaRPr sz="1800">
              <a:latin typeface="Times"/>
              <a:ea typeface="Times"/>
              <a:cs typeface="Times"/>
              <a:sym typeface="Times"/>
            </a:endParaRPr>
          </a:p>
          <a:p>
            <a:pPr indent="-342900" lvl="1" marL="914400" rtl="0" algn="just">
              <a:spcBef>
                <a:spcPts val="0"/>
              </a:spcBef>
              <a:spcAft>
                <a:spcPts val="0"/>
              </a:spcAft>
              <a:buClr>
                <a:srgbClr val="000000"/>
              </a:buClr>
              <a:buSzPts val="1800"/>
              <a:buFont typeface="Times"/>
              <a:buChar char="○"/>
            </a:pPr>
            <a:r>
              <a:rPr lang="en-US" sz="1800">
                <a:latin typeface="Times"/>
                <a:ea typeface="Times"/>
                <a:cs typeface="Times"/>
                <a:sym typeface="Times"/>
              </a:rPr>
              <a:t>input(prompt)</a:t>
            </a:r>
            <a:endParaRPr sz="1800">
              <a:latin typeface="Times"/>
              <a:ea typeface="Times"/>
              <a:cs typeface="Times"/>
              <a:sym typeface="Times"/>
            </a:endParaRPr>
          </a:p>
          <a:p>
            <a:pPr indent="-342900" lvl="0" marL="457200" rtl="0" algn="just">
              <a:spcBef>
                <a:spcPts val="0"/>
              </a:spcBef>
              <a:spcAft>
                <a:spcPts val="0"/>
              </a:spcAft>
              <a:buClr>
                <a:srgbClr val="000000"/>
              </a:buClr>
              <a:buSzPts val="1800"/>
              <a:buFont typeface="Times"/>
              <a:buChar char="➢"/>
            </a:pPr>
            <a:r>
              <a:rPr lang="en-US" sz="1800">
                <a:latin typeface="Times"/>
                <a:ea typeface="Times"/>
                <a:cs typeface="Times"/>
                <a:sym typeface="Times"/>
              </a:rPr>
              <a:t>Example:</a:t>
            </a:r>
            <a:endParaRPr sz="2000">
              <a:latin typeface="Times"/>
              <a:ea typeface="Times"/>
              <a:cs typeface="Times"/>
              <a:sym typeface="Times"/>
            </a:endParaRPr>
          </a:p>
        </p:txBody>
      </p:sp>
      <p:sp>
        <p:nvSpPr>
          <p:cNvPr id="195" name="Google Shape;195;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196" name="Google Shape;196;p27"/>
          <p:cNvSpPr/>
          <p:nvPr/>
        </p:nvSpPr>
        <p:spPr>
          <a:xfrm>
            <a:off x="1158175" y="2366725"/>
            <a:ext cx="4783800" cy="11007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None/>
            </a:pPr>
            <a:r>
              <a:t/>
            </a:r>
            <a:endParaRPr i="1" sz="1800">
              <a:latin typeface="Times"/>
              <a:ea typeface="Times"/>
              <a:cs typeface="Times"/>
              <a:sym typeface="Times"/>
            </a:endParaRPr>
          </a:p>
          <a:p>
            <a:pPr indent="0" lvl="0" marL="0" rtl="0" algn="l">
              <a:spcBef>
                <a:spcPts val="0"/>
              </a:spcBef>
              <a:spcAft>
                <a:spcPts val="0"/>
              </a:spcAft>
              <a:buNone/>
            </a:pPr>
            <a:r>
              <a:rPr i="1" lang="en-US" sz="1800">
                <a:latin typeface="Times"/>
                <a:ea typeface="Times"/>
                <a:cs typeface="Times"/>
                <a:sym typeface="Times"/>
              </a:rPr>
              <a:t>name = input("Enter your name: ")</a:t>
            </a:r>
            <a:endParaRPr i="1" sz="1800">
              <a:latin typeface="Times"/>
              <a:ea typeface="Times"/>
              <a:cs typeface="Times"/>
              <a:sym typeface="Times"/>
            </a:endParaRPr>
          </a:p>
          <a:p>
            <a:pPr indent="0" lvl="0" marL="0" rtl="0" algn="l">
              <a:spcBef>
                <a:spcPts val="0"/>
              </a:spcBef>
              <a:spcAft>
                <a:spcPts val="0"/>
              </a:spcAft>
              <a:buNone/>
            </a:pPr>
            <a:r>
              <a:rPr i="1" lang="en-US" sz="1800">
                <a:latin typeface="Times"/>
                <a:ea typeface="Times"/>
                <a:cs typeface="Times"/>
                <a:sym typeface="Times"/>
              </a:rPr>
              <a:t>print("Hello, " + name)</a:t>
            </a:r>
            <a:endParaRPr i="1" sz="1800">
              <a:latin typeface="Times"/>
              <a:ea typeface="Times"/>
              <a:cs typeface="Times"/>
              <a:sym typeface="Times"/>
            </a:endParaRPr>
          </a:p>
          <a:p>
            <a:pPr indent="0" lvl="0" marL="0" rtl="0" algn="l">
              <a:spcBef>
                <a:spcPts val="0"/>
              </a:spcBef>
              <a:spcAft>
                <a:spcPts val="0"/>
              </a:spcAft>
              <a:buNone/>
            </a:pPr>
            <a:r>
              <a:t/>
            </a:r>
            <a:endParaRPr i="1" sz="1800">
              <a:latin typeface="Times"/>
              <a:ea typeface="Times"/>
              <a:cs typeface="Times"/>
              <a:sym typeface="Times"/>
            </a:endParaRPr>
          </a:p>
          <a:p>
            <a:pPr indent="0" lvl="0" marL="0" rtl="0" algn="l">
              <a:spcBef>
                <a:spcPts val="0"/>
              </a:spcBef>
              <a:spcAft>
                <a:spcPts val="0"/>
              </a:spcAft>
              <a:buNone/>
            </a:pPr>
            <a:r>
              <a:t/>
            </a:r>
            <a:endParaRPr i="1" sz="1800">
              <a:latin typeface="Times"/>
              <a:ea typeface="Times"/>
              <a:cs typeface="Times"/>
              <a:sym typeface="Time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sp>
        <p:nvSpPr>
          <p:cNvPr id="202" name="Google Shape;202;p28"/>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Output in</a:t>
            </a:r>
            <a:r>
              <a:rPr b="1" lang="en-US" sz="3000">
                <a:solidFill>
                  <a:srgbClr val="1C3678"/>
                </a:solidFill>
                <a:latin typeface="Trebuchet MS"/>
                <a:ea typeface="Trebuchet MS"/>
                <a:cs typeface="Trebuchet MS"/>
                <a:sym typeface="Trebuchet MS"/>
              </a:rPr>
              <a:t> Python</a:t>
            </a:r>
            <a:endParaRPr b="1" sz="3000">
              <a:solidFill>
                <a:srgbClr val="1C3678"/>
              </a:solidFill>
              <a:latin typeface="Trebuchet MS"/>
              <a:ea typeface="Trebuchet MS"/>
              <a:cs typeface="Trebuchet MS"/>
              <a:sym typeface="Trebuchet MS"/>
            </a:endParaRPr>
          </a:p>
        </p:txBody>
      </p:sp>
      <p:sp>
        <p:nvSpPr>
          <p:cNvPr id="203" name="Google Shape;203;p28"/>
          <p:cNvSpPr txBox="1"/>
          <p:nvPr/>
        </p:nvSpPr>
        <p:spPr>
          <a:xfrm>
            <a:off x="688425" y="793125"/>
            <a:ext cx="8107500" cy="1234500"/>
          </a:xfrm>
          <a:prstGeom prst="rect">
            <a:avLst/>
          </a:prstGeom>
          <a:noFill/>
          <a:ln>
            <a:noFill/>
          </a:ln>
        </p:spPr>
        <p:txBody>
          <a:bodyPr anchorCtr="0" anchor="t" bIns="0" lIns="0" spcFirstLastPara="1" rIns="0" wrap="square" tIns="125075">
            <a:spAutoFit/>
          </a:bodyPr>
          <a:lstStyle/>
          <a:p>
            <a:pPr indent="-342900" lvl="0" marL="457200" rtl="0" algn="just">
              <a:spcBef>
                <a:spcPts val="0"/>
              </a:spcBef>
              <a:spcAft>
                <a:spcPts val="0"/>
              </a:spcAft>
              <a:buClr>
                <a:srgbClr val="000000"/>
              </a:buClr>
              <a:buSzPts val="1800"/>
              <a:buFont typeface="Tahoma"/>
              <a:buChar char="➢"/>
            </a:pPr>
            <a:r>
              <a:rPr lang="en-US" sz="1800">
                <a:latin typeface="Tahoma"/>
                <a:ea typeface="Tahoma"/>
                <a:cs typeface="Tahoma"/>
                <a:sym typeface="Tahoma"/>
              </a:rPr>
              <a:t>Python print() function is used to output text or data to the console.</a:t>
            </a:r>
            <a:endParaRPr sz="1800">
              <a:latin typeface="Tahoma"/>
              <a:ea typeface="Tahoma"/>
              <a:cs typeface="Tahoma"/>
              <a:sym typeface="Tahoma"/>
            </a:endParaRPr>
          </a:p>
          <a:p>
            <a:pPr indent="-342900" lvl="0" marL="457200" rtl="0" algn="just">
              <a:spcBef>
                <a:spcPts val="0"/>
              </a:spcBef>
              <a:spcAft>
                <a:spcPts val="0"/>
              </a:spcAft>
              <a:buClr>
                <a:srgbClr val="000000"/>
              </a:buClr>
              <a:buSzPts val="1800"/>
              <a:buFont typeface="Tahoma"/>
              <a:buChar char="➢"/>
            </a:pPr>
            <a:r>
              <a:rPr lang="en-US" sz="1800">
                <a:latin typeface="Tahoma"/>
                <a:ea typeface="Tahoma"/>
                <a:cs typeface="Tahoma"/>
                <a:sym typeface="Tahoma"/>
              </a:rPr>
              <a:t>Syntax: </a:t>
            </a:r>
            <a:endParaRPr sz="1800">
              <a:latin typeface="Tahoma"/>
              <a:ea typeface="Tahoma"/>
              <a:cs typeface="Tahoma"/>
              <a:sym typeface="Tahoma"/>
            </a:endParaRPr>
          </a:p>
          <a:p>
            <a:pPr indent="-342900" lvl="1" marL="914400" rtl="0" algn="just">
              <a:spcBef>
                <a:spcPts val="0"/>
              </a:spcBef>
              <a:spcAft>
                <a:spcPts val="0"/>
              </a:spcAft>
              <a:buClr>
                <a:srgbClr val="000000"/>
              </a:buClr>
              <a:buSzPts val="1800"/>
              <a:buFont typeface="Tahoma"/>
              <a:buChar char="○"/>
            </a:pPr>
            <a:r>
              <a:rPr lang="en-US" sz="1800">
                <a:latin typeface="Tahoma"/>
                <a:ea typeface="Tahoma"/>
                <a:cs typeface="Tahoma"/>
                <a:sym typeface="Tahoma"/>
              </a:rPr>
              <a:t>print(object(s), sep=' ', end='\n', file=sys.stdout, flush=False)</a:t>
            </a:r>
            <a:endParaRPr sz="1800">
              <a:latin typeface="Tahoma"/>
              <a:ea typeface="Tahoma"/>
              <a:cs typeface="Tahoma"/>
              <a:sym typeface="Tahoma"/>
            </a:endParaRPr>
          </a:p>
          <a:p>
            <a:pPr indent="-342900" lvl="0" marL="457200" rtl="0" algn="just">
              <a:spcBef>
                <a:spcPts val="0"/>
              </a:spcBef>
              <a:spcAft>
                <a:spcPts val="0"/>
              </a:spcAft>
              <a:buClr>
                <a:srgbClr val="000000"/>
              </a:buClr>
              <a:buSzPts val="1800"/>
              <a:buFont typeface="Tahoma"/>
              <a:buChar char="➢"/>
            </a:pPr>
            <a:r>
              <a:rPr lang="en-US" sz="1800">
                <a:latin typeface="Tahoma"/>
                <a:ea typeface="Tahoma"/>
                <a:cs typeface="Tahoma"/>
                <a:sym typeface="Tahoma"/>
              </a:rPr>
              <a:t>Example:</a:t>
            </a:r>
            <a:endParaRPr sz="1800">
              <a:latin typeface="Tahoma"/>
              <a:ea typeface="Tahoma"/>
              <a:cs typeface="Tahoma"/>
              <a:sym typeface="Tahoma"/>
            </a:endParaRPr>
          </a:p>
        </p:txBody>
      </p:sp>
      <p:sp>
        <p:nvSpPr>
          <p:cNvPr id="204" name="Google Shape;204;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205" name="Google Shape;205;p28"/>
          <p:cNvSpPr/>
          <p:nvPr/>
        </p:nvSpPr>
        <p:spPr>
          <a:xfrm>
            <a:off x="1180450" y="2027625"/>
            <a:ext cx="5143500" cy="11934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US" sz="1800">
                <a:latin typeface="Times"/>
                <a:ea typeface="Times"/>
                <a:cs typeface="Times"/>
                <a:sym typeface="Times"/>
              </a:rPr>
              <a:t>print("Hello There</a:t>
            </a:r>
            <a:r>
              <a:rPr i="1" lang="en-US" sz="1800">
                <a:latin typeface="Times"/>
                <a:ea typeface="Times"/>
                <a:cs typeface="Times"/>
                <a:sym typeface="Times"/>
              </a:rPr>
              <a:t>! </a:t>
            </a:r>
            <a:r>
              <a:rPr i="1" lang="en-US" sz="1800">
                <a:latin typeface="Times"/>
                <a:ea typeface="Times"/>
                <a:cs typeface="Times"/>
                <a:sym typeface="Times"/>
              </a:rPr>
              <a:t>It is Python Programming.")</a:t>
            </a:r>
            <a:endParaRPr i="1" sz="1800">
              <a:latin typeface="Times"/>
              <a:ea typeface="Times"/>
              <a:cs typeface="Times"/>
              <a:sym typeface="Time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0" name="Shape 210"/>
        <p:cNvGrpSpPr/>
        <p:nvPr/>
      </p:nvGrpSpPr>
      <p:grpSpPr>
        <a:xfrm>
          <a:off x="0" y="0"/>
          <a:ext cx="0" cy="0"/>
          <a:chOff x="0" y="0"/>
          <a:chExt cx="0" cy="0"/>
        </a:xfrm>
      </p:grpSpPr>
      <p:sp>
        <p:nvSpPr>
          <p:cNvPr id="211" name="Google Shape;211;p29"/>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Print Function</a:t>
            </a:r>
            <a:r>
              <a:rPr b="1" lang="en-US" sz="3000">
                <a:solidFill>
                  <a:srgbClr val="1C3678"/>
                </a:solidFill>
                <a:latin typeface="Trebuchet MS"/>
                <a:ea typeface="Trebuchet MS"/>
                <a:cs typeface="Trebuchet MS"/>
                <a:sym typeface="Trebuchet MS"/>
              </a:rPr>
              <a:t> in Python</a:t>
            </a:r>
            <a:endParaRPr b="1" sz="3000">
              <a:solidFill>
                <a:srgbClr val="1C3678"/>
              </a:solidFill>
              <a:latin typeface="Trebuchet MS"/>
              <a:ea typeface="Trebuchet MS"/>
              <a:cs typeface="Trebuchet MS"/>
              <a:sym typeface="Trebuchet MS"/>
            </a:endParaRPr>
          </a:p>
        </p:txBody>
      </p:sp>
      <p:sp>
        <p:nvSpPr>
          <p:cNvPr id="212" name="Google Shape;212;p29"/>
          <p:cNvSpPr txBox="1"/>
          <p:nvPr/>
        </p:nvSpPr>
        <p:spPr>
          <a:xfrm>
            <a:off x="688425" y="793125"/>
            <a:ext cx="8107500" cy="4005300"/>
          </a:xfrm>
          <a:prstGeom prst="rect">
            <a:avLst/>
          </a:prstGeom>
          <a:noFill/>
          <a:ln>
            <a:noFill/>
          </a:ln>
        </p:spPr>
        <p:txBody>
          <a:bodyPr anchorCtr="0" anchor="t" bIns="0" lIns="0" spcFirstLastPara="1" rIns="0" wrap="square" tIns="125075">
            <a:spAutoFit/>
          </a:bodyPr>
          <a:lstStyle/>
          <a:p>
            <a:pPr indent="-342900" lvl="0" marL="457200" rtl="0" algn="just">
              <a:spcBef>
                <a:spcPts val="0"/>
              </a:spcBef>
              <a:spcAft>
                <a:spcPts val="0"/>
              </a:spcAft>
              <a:buSzPts val="1800"/>
              <a:buFont typeface="Verdana"/>
              <a:buChar char="➢"/>
            </a:pPr>
            <a:r>
              <a:rPr lang="en-US" sz="1800">
                <a:latin typeface="Tahoma"/>
                <a:ea typeface="Tahoma"/>
                <a:cs typeface="Tahoma"/>
                <a:sym typeface="Tahoma"/>
              </a:rPr>
              <a:t>The </a:t>
            </a:r>
            <a:r>
              <a:rPr b="1" lang="en-US" sz="1800">
                <a:latin typeface="Tahoma"/>
                <a:ea typeface="Tahoma"/>
                <a:cs typeface="Tahoma"/>
                <a:sym typeface="Tahoma"/>
              </a:rPr>
              <a:t>print()</a:t>
            </a:r>
            <a:r>
              <a:rPr lang="en-US" sz="1800">
                <a:latin typeface="Tahoma"/>
                <a:ea typeface="Tahoma"/>
                <a:cs typeface="Tahoma"/>
                <a:sym typeface="Tahoma"/>
              </a:rPr>
              <a:t> function displays the given object to the standard output device (screen).</a:t>
            </a:r>
            <a:endParaRPr sz="1800">
              <a:latin typeface="Tahoma"/>
              <a:ea typeface="Tahoma"/>
              <a:cs typeface="Tahoma"/>
              <a:sym typeface="Tahoma"/>
            </a:endParaRPr>
          </a:p>
          <a:p>
            <a:pPr indent="-342900" lvl="0" marL="457200" rtl="0" algn="just">
              <a:spcBef>
                <a:spcPts val="0"/>
              </a:spcBef>
              <a:spcAft>
                <a:spcPts val="0"/>
              </a:spcAft>
              <a:buSzPts val="1800"/>
              <a:buFont typeface="Verdana"/>
              <a:buChar char="➢"/>
            </a:pPr>
            <a:r>
              <a:rPr lang="en-US" sz="1800">
                <a:latin typeface="Tahoma"/>
                <a:ea typeface="Tahoma"/>
                <a:cs typeface="Tahoma"/>
                <a:sym typeface="Tahoma"/>
              </a:rPr>
              <a:t>Python </a:t>
            </a:r>
            <a:r>
              <a:rPr b="1" lang="en-US" sz="1800">
                <a:latin typeface="Tahoma"/>
                <a:ea typeface="Tahoma"/>
                <a:cs typeface="Tahoma"/>
                <a:sym typeface="Tahoma"/>
              </a:rPr>
              <a:t>print()</a:t>
            </a:r>
            <a:r>
              <a:rPr lang="en-US" sz="1800">
                <a:latin typeface="Tahoma"/>
                <a:ea typeface="Tahoma"/>
                <a:cs typeface="Tahoma"/>
                <a:sym typeface="Tahoma"/>
              </a:rPr>
              <a:t> function is most unique and versatile function.</a:t>
            </a:r>
            <a:endParaRPr sz="1800">
              <a:latin typeface="Tahoma"/>
              <a:ea typeface="Tahoma"/>
              <a:cs typeface="Tahoma"/>
              <a:sym typeface="Tahoma"/>
            </a:endParaRPr>
          </a:p>
          <a:p>
            <a:pPr indent="-342900" lvl="0" marL="457200" rtl="0" algn="just">
              <a:spcBef>
                <a:spcPts val="0"/>
              </a:spcBef>
              <a:spcAft>
                <a:spcPts val="0"/>
              </a:spcAft>
              <a:buSzPts val="1800"/>
              <a:buFont typeface="Verdana"/>
              <a:buChar char="➢"/>
            </a:pPr>
            <a:r>
              <a:rPr lang="en-US" sz="1800">
                <a:latin typeface="Tahoma"/>
                <a:ea typeface="Tahoma"/>
                <a:cs typeface="Tahoma"/>
                <a:sym typeface="Tahoma"/>
              </a:rPr>
              <a:t>The syntax of </a:t>
            </a:r>
            <a:r>
              <a:rPr b="1" lang="en-US" sz="1800">
                <a:latin typeface="Tahoma"/>
                <a:ea typeface="Tahoma"/>
                <a:cs typeface="Tahoma"/>
                <a:sym typeface="Tahoma"/>
              </a:rPr>
              <a:t>print()</a:t>
            </a:r>
            <a:r>
              <a:rPr lang="en-US" sz="1800">
                <a:latin typeface="Tahoma"/>
                <a:ea typeface="Tahoma"/>
                <a:cs typeface="Tahoma"/>
                <a:sym typeface="Tahoma"/>
              </a:rPr>
              <a:t> function is given below.</a:t>
            </a:r>
            <a:endParaRPr sz="1800">
              <a:latin typeface="Tahoma"/>
              <a:ea typeface="Tahoma"/>
              <a:cs typeface="Tahoma"/>
              <a:sym typeface="Tahoma"/>
            </a:endParaRPr>
          </a:p>
          <a:p>
            <a:pPr indent="-342900" lvl="0" marL="914400" rtl="0" algn="just">
              <a:spcBef>
                <a:spcPts val="0"/>
              </a:spcBef>
              <a:spcAft>
                <a:spcPts val="0"/>
              </a:spcAft>
              <a:buClr>
                <a:schemeClr val="lt1"/>
              </a:buClr>
              <a:buSzPts val="1800"/>
              <a:buFont typeface="Tahoma"/>
              <a:buChar char="★"/>
            </a:pPr>
            <a:r>
              <a:rPr lang="en-US" sz="1800">
                <a:latin typeface="Tahoma"/>
                <a:ea typeface="Tahoma"/>
                <a:cs typeface="Tahoma"/>
                <a:sym typeface="Tahoma"/>
              </a:rPr>
              <a:t>print(*objects, sep=</a:t>
            </a:r>
            <a:r>
              <a:rPr lang="en-US" sz="1800">
                <a:solidFill>
                  <a:srgbClr val="0000FF"/>
                </a:solidFill>
                <a:latin typeface="Tahoma"/>
                <a:ea typeface="Tahoma"/>
                <a:cs typeface="Tahoma"/>
                <a:sym typeface="Tahoma"/>
              </a:rPr>
              <a:t>' '</a:t>
            </a:r>
            <a:r>
              <a:rPr lang="en-US" sz="1800">
                <a:latin typeface="Tahoma"/>
                <a:ea typeface="Tahoma"/>
                <a:cs typeface="Tahoma"/>
                <a:sym typeface="Tahoma"/>
              </a:rPr>
              <a:t>, end=</a:t>
            </a:r>
            <a:r>
              <a:rPr lang="en-US" sz="1800">
                <a:solidFill>
                  <a:srgbClr val="0000FF"/>
                </a:solidFill>
                <a:latin typeface="Tahoma"/>
                <a:ea typeface="Tahoma"/>
                <a:cs typeface="Tahoma"/>
                <a:sym typeface="Tahoma"/>
              </a:rPr>
              <a:t>'\n'</a:t>
            </a:r>
            <a:r>
              <a:rPr lang="en-US" sz="1800">
                <a:latin typeface="Tahoma"/>
                <a:ea typeface="Tahoma"/>
                <a:cs typeface="Tahoma"/>
                <a:sym typeface="Tahoma"/>
              </a:rPr>
              <a:t>, file=sys.stdout, flush=False)  </a:t>
            </a:r>
            <a:endParaRPr sz="1800">
              <a:latin typeface="Tahoma"/>
              <a:ea typeface="Tahoma"/>
              <a:cs typeface="Tahoma"/>
              <a:sym typeface="Tahoma"/>
            </a:endParaRPr>
          </a:p>
          <a:p>
            <a:pPr indent="-342900" lvl="0" marL="914400" rtl="0" algn="just">
              <a:spcBef>
                <a:spcPts val="0"/>
              </a:spcBef>
              <a:spcAft>
                <a:spcPts val="0"/>
              </a:spcAft>
              <a:buClr>
                <a:schemeClr val="lt1"/>
              </a:buClr>
              <a:buSzPts val="1800"/>
              <a:buFont typeface="Tahoma"/>
              <a:buChar char="★"/>
            </a:pPr>
            <a:r>
              <a:t/>
            </a:r>
            <a:endParaRPr sz="1800">
              <a:latin typeface="Tahoma"/>
              <a:ea typeface="Tahoma"/>
              <a:cs typeface="Tahoma"/>
              <a:sym typeface="Tahoma"/>
            </a:endParaRPr>
          </a:p>
          <a:p>
            <a:pPr indent="-342900" lvl="1" marL="914400" marR="25400" rtl="0" algn="just">
              <a:spcBef>
                <a:spcPts val="0"/>
              </a:spcBef>
              <a:spcAft>
                <a:spcPts val="0"/>
              </a:spcAft>
              <a:buSzPts val="1800"/>
              <a:buChar char="○"/>
            </a:pPr>
            <a:r>
              <a:rPr b="1" lang="en-US" sz="1800">
                <a:latin typeface="Tahoma"/>
                <a:ea typeface="Tahoma"/>
                <a:cs typeface="Tahoma"/>
                <a:sym typeface="Tahoma"/>
              </a:rPr>
              <a:t>objects -</a:t>
            </a:r>
            <a:r>
              <a:rPr lang="en-US" sz="1800">
                <a:latin typeface="Tahoma"/>
                <a:ea typeface="Tahoma"/>
                <a:cs typeface="Tahoma"/>
                <a:sym typeface="Tahoma"/>
              </a:rPr>
              <a:t> An object is nothing but a statement that to be printed. The * sign    represents that there can be multiple statements.</a:t>
            </a:r>
            <a:endParaRPr sz="1800">
              <a:latin typeface="Tahoma"/>
              <a:ea typeface="Tahoma"/>
              <a:cs typeface="Tahoma"/>
              <a:sym typeface="Tahoma"/>
            </a:endParaRPr>
          </a:p>
          <a:p>
            <a:pPr indent="-342900" lvl="1" marL="914400" marR="25400" rtl="0" algn="just">
              <a:spcBef>
                <a:spcPts val="0"/>
              </a:spcBef>
              <a:spcAft>
                <a:spcPts val="0"/>
              </a:spcAft>
              <a:buSzPts val="1800"/>
              <a:buChar char="○"/>
            </a:pPr>
            <a:r>
              <a:rPr b="1" lang="en-US" sz="1800">
                <a:latin typeface="Tahoma"/>
                <a:ea typeface="Tahoma"/>
                <a:cs typeface="Tahoma"/>
                <a:sym typeface="Tahoma"/>
              </a:rPr>
              <a:t>sep -</a:t>
            </a:r>
            <a:r>
              <a:rPr lang="en-US" sz="1800">
                <a:latin typeface="Tahoma"/>
                <a:ea typeface="Tahoma"/>
                <a:cs typeface="Tahoma"/>
                <a:sym typeface="Tahoma"/>
              </a:rPr>
              <a:t> The </a:t>
            </a:r>
            <a:r>
              <a:rPr b="1" lang="en-US" sz="1800">
                <a:latin typeface="Tahoma"/>
                <a:ea typeface="Tahoma"/>
                <a:cs typeface="Tahoma"/>
                <a:sym typeface="Tahoma"/>
              </a:rPr>
              <a:t>sep</a:t>
            </a:r>
            <a:r>
              <a:rPr lang="en-US" sz="1800">
                <a:latin typeface="Tahoma"/>
                <a:ea typeface="Tahoma"/>
                <a:cs typeface="Tahoma"/>
                <a:sym typeface="Tahoma"/>
              </a:rPr>
              <a:t> parameter separates the print values. Default values is ' '.</a:t>
            </a:r>
            <a:endParaRPr sz="1800">
              <a:latin typeface="Tahoma"/>
              <a:ea typeface="Tahoma"/>
              <a:cs typeface="Tahoma"/>
              <a:sym typeface="Tahoma"/>
            </a:endParaRPr>
          </a:p>
          <a:p>
            <a:pPr indent="-342900" lvl="1" marL="914400" marR="25400" rtl="0" algn="just">
              <a:spcBef>
                <a:spcPts val="0"/>
              </a:spcBef>
              <a:spcAft>
                <a:spcPts val="0"/>
              </a:spcAft>
              <a:buSzPts val="1800"/>
              <a:buChar char="○"/>
            </a:pPr>
            <a:r>
              <a:rPr b="1" lang="en-US" sz="1800">
                <a:latin typeface="Tahoma"/>
                <a:ea typeface="Tahoma"/>
                <a:cs typeface="Tahoma"/>
                <a:sym typeface="Tahoma"/>
              </a:rPr>
              <a:t>end -</a:t>
            </a:r>
            <a:r>
              <a:rPr lang="en-US" sz="1800">
                <a:latin typeface="Tahoma"/>
                <a:ea typeface="Tahoma"/>
                <a:cs typeface="Tahoma"/>
                <a:sym typeface="Tahoma"/>
              </a:rPr>
              <a:t> The </a:t>
            </a:r>
            <a:r>
              <a:rPr b="1" lang="en-US" sz="1800">
                <a:latin typeface="Tahoma"/>
                <a:ea typeface="Tahoma"/>
                <a:cs typeface="Tahoma"/>
                <a:sym typeface="Tahoma"/>
              </a:rPr>
              <a:t>end</a:t>
            </a:r>
            <a:r>
              <a:rPr lang="en-US" sz="1800">
                <a:latin typeface="Tahoma"/>
                <a:ea typeface="Tahoma"/>
                <a:cs typeface="Tahoma"/>
                <a:sym typeface="Tahoma"/>
              </a:rPr>
              <a:t> is printed at last in the statement.</a:t>
            </a:r>
            <a:endParaRPr sz="1800">
              <a:latin typeface="Tahoma"/>
              <a:ea typeface="Tahoma"/>
              <a:cs typeface="Tahoma"/>
              <a:sym typeface="Tahoma"/>
            </a:endParaRPr>
          </a:p>
          <a:p>
            <a:pPr indent="-342900" lvl="1" marL="914400" marR="25400" rtl="0" algn="just">
              <a:spcBef>
                <a:spcPts val="0"/>
              </a:spcBef>
              <a:spcAft>
                <a:spcPts val="0"/>
              </a:spcAft>
              <a:buSzPts val="1800"/>
              <a:buChar char="○"/>
            </a:pPr>
            <a:r>
              <a:rPr b="1" lang="en-US" sz="1800">
                <a:latin typeface="Tahoma"/>
                <a:ea typeface="Tahoma"/>
                <a:cs typeface="Tahoma"/>
                <a:sym typeface="Tahoma"/>
              </a:rPr>
              <a:t>file -</a:t>
            </a:r>
            <a:r>
              <a:rPr lang="en-US" sz="1800">
                <a:latin typeface="Tahoma"/>
                <a:ea typeface="Tahoma"/>
                <a:cs typeface="Tahoma"/>
                <a:sym typeface="Tahoma"/>
              </a:rPr>
              <a:t> It must be an object with a write(string) method.</a:t>
            </a:r>
            <a:endParaRPr sz="1800">
              <a:latin typeface="Tahoma"/>
              <a:ea typeface="Tahoma"/>
              <a:cs typeface="Tahoma"/>
              <a:sym typeface="Tahoma"/>
            </a:endParaRPr>
          </a:p>
          <a:p>
            <a:pPr indent="-342900" lvl="1" marL="914400" marR="25400" rtl="0" algn="just">
              <a:spcBef>
                <a:spcPts val="0"/>
              </a:spcBef>
              <a:spcAft>
                <a:spcPts val="0"/>
              </a:spcAft>
              <a:buSzPts val="1800"/>
              <a:buChar char="○"/>
            </a:pPr>
            <a:r>
              <a:rPr b="1" lang="en-US" sz="1800">
                <a:latin typeface="Tahoma"/>
                <a:ea typeface="Tahoma"/>
                <a:cs typeface="Tahoma"/>
                <a:sym typeface="Tahoma"/>
              </a:rPr>
              <a:t>flush -</a:t>
            </a:r>
            <a:r>
              <a:rPr lang="en-US" sz="1800">
                <a:latin typeface="Tahoma"/>
                <a:ea typeface="Tahoma"/>
                <a:cs typeface="Tahoma"/>
                <a:sym typeface="Tahoma"/>
              </a:rPr>
              <a:t> The stream or file is forcibly flushed if it is true. By default, its value is false</a:t>
            </a:r>
            <a:endParaRPr sz="1800">
              <a:latin typeface="Tahoma"/>
              <a:ea typeface="Tahoma"/>
              <a:cs typeface="Tahoma"/>
              <a:sym typeface="Tahoma"/>
            </a:endParaRPr>
          </a:p>
        </p:txBody>
      </p:sp>
      <p:sp>
        <p:nvSpPr>
          <p:cNvPr id="213" name="Google Shape;213;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8" name="Shape 218"/>
        <p:cNvGrpSpPr/>
        <p:nvPr/>
      </p:nvGrpSpPr>
      <p:grpSpPr>
        <a:xfrm>
          <a:off x="0" y="0"/>
          <a:ext cx="0" cy="0"/>
          <a:chOff x="0" y="0"/>
          <a:chExt cx="0" cy="0"/>
        </a:xfrm>
      </p:grpSpPr>
      <p:sp>
        <p:nvSpPr>
          <p:cNvPr id="219" name="Google Shape;219;p30"/>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Output Formatting in Python</a:t>
            </a:r>
            <a:endParaRPr b="1" sz="3000">
              <a:solidFill>
                <a:srgbClr val="1C3678"/>
              </a:solidFill>
              <a:latin typeface="Trebuchet MS"/>
              <a:ea typeface="Trebuchet MS"/>
              <a:cs typeface="Trebuchet MS"/>
              <a:sym typeface="Trebuchet MS"/>
            </a:endParaRPr>
          </a:p>
        </p:txBody>
      </p:sp>
      <p:sp>
        <p:nvSpPr>
          <p:cNvPr id="220" name="Google Shape;220;p30"/>
          <p:cNvSpPr txBox="1"/>
          <p:nvPr/>
        </p:nvSpPr>
        <p:spPr>
          <a:xfrm>
            <a:off x="688425" y="793125"/>
            <a:ext cx="8107500" cy="1234500"/>
          </a:xfrm>
          <a:prstGeom prst="rect">
            <a:avLst/>
          </a:prstGeom>
          <a:noFill/>
          <a:ln>
            <a:noFill/>
          </a:ln>
        </p:spPr>
        <p:txBody>
          <a:bodyPr anchorCtr="0" anchor="t" bIns="0" lIns="0" spcFirstLastPara="1" rIns="0" wrap="square" tIns="125075">
            <a:spAutoFit/>
          </a:bodyPr>
          <a:lstStyle/>
          <a:p>
            <a:pPr indent="-342900" lvl="0" marL="457200" rtl="0" algn="just">
              <a:spcBef>
                <a:spcPts val="0"/>
              </a:spcBef>
              <a:spcAft>
                <a:spcPts val="0"/>
              </a:spcAft>
              <a:buClr>
                <a:srgbClr val="000000"/>
              </a:buClr>
              <a:buSzPts val="1800"/>
              <a:buFont typeface="Tahoma"/>
              <a:buChar char="➢"/>
            </a:pPr>
            <a:r>
              <a:rPr lang="en-US" sz="1800">
                <a:latin typeface="Tahoma"/>
                <a:ea typeface="Tahoma"/>
                <a:cs typeface="Tahoma"/>
                <a:sym typeface="Tahoma"/>
              </a:rPr>
              <a:t>str.format() Method:</a:t>
            </a:r>
            <a:endParaRPr sz="1800">
              <a:latin typeface="Tahoma"/>
              <a:ea typeface="Tahoma"/>
              <a:cs typeface="Tahoma"/>
              <a:sym typeface="Tahoma"/>
            </a:endParaRPr>
          </a:p>
          <a:p>
            <a:pPr indent="-342900" lvl="1" marL="914400" rtl="0" algn="just">
              <a:spcBef>
                <a:spcPts val="0"/>
              </a:spcBef>
              <a:spcAft>
                <a:spcPts val="0"/>
              </a:spcAft>
              <a:buClr>
                <a:srgbClr val="000000"/>
              </a:buClr>
              <a:buSzPts val="1800"/>
              <a:buFont typeface="Tahoma"/>
              <a:buChar char="○"/>
            </a:pPr>
            <a:r>
              <a:rPr lang="en-US" sz="1800">
                <a:latin typeface="Tahoma"/>
                <a:ea typeface="Tahoma"/>
                <a:cs typeface="Tahoma"/>
                <a:sym typeface="Tahoma"/>
              </a:rPr>
              <a:t>The str.format() method allows you to format strings using placeholders {} and positional or keyword arguments.</a:t>
            </a:r>
            <a:endParaRPr sz="1800">
              <a:latin typeface="Tahoma"/>
              <a:ea typeface="Tahoma"/>
              <a:cs typeface="Tahoma"/>
              <a:sym typeface="Tahoma"/>
            </a:endParaRPr>
          </a:p>
          <a:p>
            <a:pPr indent="0" lvl="0" marL="457200" rtl="0" algn="just">
              <a:spcBef>
                <a:spcPts val="0"/>
              </a:spcBef>
              <a:spcAft>
                <a:spcPts val="0"/>
              </a:spcAft>
              <a:buNone/>
            </a:pPr>
            <a:r>
              <a:rPr lang="en-US" sz="1800">
                <a:latin typeface="Tahoma"/>
                <a:ea typeface="Tahoma"/>
                <a:cs typeface="Tahoma"/>
                <a:sym typeface="Tahoma"/>
              </a:rPr>
              <a:t>Example:</a:t>
            </a:r>
            <a:endParaRPr sz="1800">
              <a:latin typeface="Tahoma"/>
              <a:ea typeface="Tahoma"/>
              <a:cs typeface="Tahoma"/>
              <a:sym typeface="Tahoma"/>
            </a:endParaRPr>
          </a:p>
        </p:txBody>
      </p:sp>
      <p:sp>
        <p:nvSpPr>
          <p:cNvPr id="221" name="Google Shape;221;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222" name="Google Shape;222;p30"/>
          <p:cNvSpPr/>
          <p:nvPr/>
        </p:nvSpPr>
        <p:spPr>
          <a:xfrm>
            <a:off x="1120050" y="2240100"/>
            <a:ext cx="6246300" cy="9876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US" sz="1800">
                <a:latin typeface="Times"/>
                <a:ea typeface="Times"/>
                <a:cs typeface="Times"/>
                <a:sym typeface="Times"/>
              </a:rPr>
              <a:t>name = "Alice"</a:t>
            </a:r>
            <a:endParaRPr i="1" sz="1800">
              <a:latin typeface="Times"/>
              <a:ea typeface="Times"/>
              <a:cs typeface="Times"/>
              <a:sym typeface="Times"/>
            </a:endParaRPr>
          </a:p>
          <a:p>
            <a:pPr indent="0" lvl="0" marL="0" rtl="0" algn="l">
              <a:spcBef>
                <a:spcPts val="0"/>
              </a:spcBef>
              <a:spcAft>
                <a:spcPts val="0"/>
              </a:spcAft>
              <a:buNone/>
            </a:pPr>
            <a:r>
              <a:rPr i="1" lang="en-US" sz="1800">
                <a:latin typeface="Times"/>
                <a:ea typeface="Times"/>
                <a:cs typeface="Times"/>
                <a:sym typeface="Times"/>
              </a:rPr>
              <a:t>age = 30</a:t>
            </a:r>
            <a:endParaRPr i="1" sz="1800">
              <a:latin typeface="Times"/>
              <a:ea typeface="Times"/>
              <a:cs typeface="Times"/>
              <a:sym typeface="Times"/>
            </a:endParaRPr>
          </a:p>
          <a:p>
            <a:pPr indent="0" lvl="0" marL="0" rtl="0" algn="l">
              <a:spcBef>
                <a:spcPts val="0"/>
              </a:spcBef>
              <a:spcAft>
                <a:spcPts val="0"/>
              </a:spcAft>
              <a:buNone/>
            </a:pPr>
            <a:r>
              <a:rPr i="1" lang="en-US" sz="1800">
                <a:latin typeface="Times"/>
                <a:ea typeface="Times"/>
                <a:cs typeface="Times"/>
                <a:sym typeface="Times"/>
              </a:rPr>
              <a:t>print("My name is {} and I am {} years old.".format(name, age))</a:t>
            </a:r>
            <a:endParaRPr i="1" sz="1800">
              <a:latin typeface="Times"/>
              <a:ea typeface="Times"/>
              <a:cs typeface="Times"/>
              <a:sym typeface="Time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 name="Shape 227"/>
        <p:cNvGrpSpPr/>
        <p:nvPr/>
      </p:nvGrpSpPr>
      <p:grpSpPr>
        <a:xfrm>
          <a:off x="0" y="0"/>
          <a:ext cx="0" cy="0"/>
          <a:chOff x="0" y="0"/>
          <a:chExt cx="0" cy="0"/>
        </a:xfrm>
      </p:grpSpPr>
      <p:sp>
        <p:nvSpPr>
          <p:cNvPr id="228" name="Google Shape;228;p31"/>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Output Formatting in Python</a:t>
            </a:r>
            <a:endParaRPr b="1" sz="3000">
              <a:solidFill>
                <a:srgbClr val="1C3678"/>
              </a:solidFill>
              <a:latin typeface="Trebuchet MS"/>
              <a:ea typeface="Trebuchet MS"/>
              <a:cs typeface="Trebuchet MS"/>
              <a:sym typeface="Trebuchet MS"/>
            </a:endParaRPr>
          </a:p>
        </p:txBody>
      </p:sp>
      <p:sp>
        <p:nvSpPr>
          <p:cNvPr id="229" name="Google Shape;229;p31"/>
          <p:cNvSpPr txBox="1"/>
          <p:nvPr/>
        </p:nvSpPr>
        <p:spPr>
          <a:xfrm>
            <a:off x="688425" y="793125"/>
            <a:ext cx="8107500" cy="1511700"/>
          </a:xfrm>
          <a:prstGeom prst="rect">
            <a:avLst/>
          </a:prstGeom>
          <a:noFill/>
          <a:ln>
            <a:noFill/>
          </a:ln>
        </p:spPr>
        <p:txBody>
          <a:bodyPr anchorCtr="0" anchor="t" bIns="0" lIns="0" spcFirstLastPara="1" rIns="0" wrap="square" tIns="125075">
            <a:spAutoFit/>
          </a:bodyPr>
          <a:lstStyle/>
          <a:p>
            <a:pPr indent="-342900" lvl="0" marL="457200" rtl="0" algn="just">
              <a:spcBef>
                <a:spcPts val="0"/>
              </a:spcBef>
              <a:spcAft>
                <a:spcPts val="0"/>
              </a:spcAft>
              <a:buClr>
                <a:srgbClr val="000000"/>
              </a:buClr>
              <a:buSzPts val="1800"/>
              <a:buFont typeface="Tahoma"/>
              <a:buChar char="➢"/>
            </a:pPr>
            <a:r>
              <a:rPr lang="en-US" sz="1800">
                <a:latin typeface="Tahoma"/>
                <a:ea typeface="Tahoma"/>
                <a:cs typeface="Tahoma"/>
                <a:sym typeface="Tahoma"/>
              </a:rPr>
              <a:t>Formatted String Literals (f-strings):</a:t>
            </a:r>
            <a:endParaRPr sz="1800">
              <a:latin typeface="Tahoma"/>
              <a:ea typeface="Tahoma"/>
              <a:cs typeface="Tahoma"/>
              <a:sym typeface="Tahoma"/>
            </a:endParaRPr>
          </a:p>
          <a:p>
            <a:pPr indent="0" lvl="0" marL="457200" rtl="0" algn="just">
              <a:spcBef>
                <a:spcPts val="0"/>
              </a:spcBef>
              <a:spcAft>
                <a:spcPts val="0"/>
              </a:spcAft>
              <a:buNone/>
            </a:pPr>
            <a:r>
              <a:rPr lang="en-US" sz="1800">
                <a:latin typeface="Tahoma"/>
                <a:ea typeface="Tahoma"/>
                <a:cs typeface="Tahoma"/>
                <a:sym typeface="Tahoma"/>
              </a:rPr>
              <a:t>Introduced in Python 3.6, f-strings provide a concise and readable way to format strings by embedding expressions inside curly braces {}.</a:t>
            </a:r>
            <a:endParaRPr sz="1800">
              <a:latin typeface="Tahoma"/>
              <a:ea typeface="Tahoma"/>
              <a:cs typeface="Tahoma"/>
              <a:sym typeface="Tahoma"/>
            </a:endParaRPr>
          </a:p>
          <a:p>
            <a:pPr indent="0" lvl="0" marL="457200" rtl="0" algn="just">
              <a:spcBef>
                <a:spcPts val="0"/>
              </a:spcBef>
              <a:spcAft>
                <a:spcPts val="0"/>
              </a:spcAft>
              <a:buNone/>
            </a:pPr>
            <a:r>
              <a:rPr lang="en-US" sz="1800">
                <a:latin typeface="Tahoma"/>
                <a:ea typeface="Tahoma"/>
                <a:cs typeface="Tahoma"/>
                <a:sym typeface="Tahoma"/>
              </a:rPr>
              <a:t>Example:</a:t>
            </a:r>
            <a:endParaRPr i="1" sz="1800">
              <a:latin typeface="Tahoma"/>
              <a:ea typeface="Tahoma"/>
              <a:cs typeface="Tahoma"/>
              <a:sym typeface="Tahoma"/>
            </a:endParaRPr>
          </a:p>
          <a:p>
            <a:pPr indent="0" lvl="0" marL="457200" rtl="0" algn="just">
              <a:spcBef>
                <a:spcPts val="0"/>
              </a:spcBef>
              <a:spcAft>
                <a:spcPts val="0"/>
              </a:spcAft>
              <a:buNone/>
            </a:pPr>
            <a:r>
              <a:t/>
            </a:r>
            <a:endParaRPr sz="1800">
              <a:latin typeface="Tahoma"/>
              <a:ea typeface="Tahoma"/>
              <a:cs typeface="Tahoma"/>
              <a:sym typeface="Tahoma"/>
            </a:endParaRPr>
          </a:p>
        </p:txBody>
      </p:sp>
      <p:sp>
        <p:nvSpPr>
          <p:cNvPr id="230" name="Google Shape;230;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231" name="Google Shape;231;p31"/>
          <p:cNvSpPr/>
          <p:nvPr/>
        </p:nvSpPr>
        <p:spPr>
          <a:xfrm>
            <a:off x="1120050" y="2240100"/>
            <a:ext cx="5849700" cy="9876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US" sz="1800">
                <a:latin typeface="Times"/>
                <a:ea typeface="Times"/>
                <a:cs typeface="Times"/>
                <a:sym typeface="Times"/>
              </a:rPr>
              <a:t>name = "Alice"</a:t>
            </a:r>
            <a:endParaRPr i="1" sz="1800">
              <a:latin typeface="Times"/>
              <a:ea typeface="Times"/>
              <a:cs typeface="Times"/>
              <a:sym typeface="Times"/>
            </a:endParaRPr>
          </a:p>
          <a:p>
            <a:pPr indent="0" lvl="0" marL="0" rtl="0" algn="l">
              <a:spcBef>
                <a:spcPts val="0"/>
              </a:spcBef>
              <a:spcAft>
                <a:spcPts val="0"/>
              </a:spcAft>
              <a:buNone/>
            </a:pPr>
            <a:r>
              <a:rPr i="1" lang="en-US" sz="1800">
                <a:latin typeface="Times"/>
                <a:ea typeface="Times"/>
                <a:cs typeface="Times"/>
                <a:sym typeface="Times"/>
              </a:rPr>
              <a:t>age = 30</a:t>
            </a:r>
            <a:endParaRPr i="1" sz="1800">
              <a:latin typeface="Times"/>
              <a:ea typeface="Times"/>
              <a:cs typeface="Times"/>
              <a:sym typeface="Times"/>
            </a:endParaRPr>
          </a:p>
          <a:p>
            <a:pPr indent="0" lvl="0" marL="0" rtl="0" algn="l">
              <a:spcBef>
                <a:spcPts val="0"/>
              </a:spcBef>
              <a:spcAft>
                <a:spcPts val="0"/>
              </a:spcAft>
              <a:buNone/>
            </a:pPr>
            <a:r>
              <a:rPr i="1" lang="en-US" sz="1800">
                <a:latin typeface="Times"/>
                <a:ea typeface="Times"/>
                <a:cs typeface="Times"/>
                <a:sym typeface="Times"/>
              </a:rPr>
              <a:t>print("My name is {</a:t>
            </a:r>
            <a:r>
              <a:rPr i="1" lang="en-US" sz="1800">
                <a:latin typeface="Times"/>
                <a:ea typeface="Times"/>
                <a:cs typeface="Times"/>
                <a:sym typeface="Times"/>
              </a:rPr>
              <a:t>name</a:t>
            </a:r>
            <a:r>
              <a:rPr i="1" lang="en-US" sz="1800">
                <a:latin typeface="Times"/>
                <a:ea typeface="Times"/>
                <a:cs typeface="Times"/>
                <a:sym typeface="Times"/>
              </a:rPr>
              <a:t>} and I am {</a:t>
            </a:r>
            <a:r>
              <a:rPr i="1" lang="en-US" sz="1800">
                <a:latin typeface="Times"/>
                <a:ea typeface="Times"/>
                <a:cs typeface="Times"/>
                <a:sym typeface="Times"/>
              </a:rPr>
              <a:t>age</a:t>
            </a:r>
            <a:r>
              <a:rPr i="1" lang="en-US" sz="1800">
                <a:latin typeface="Times"/>
                <a:ea typeface="Times"/>
                <a:cs typeface="Times"/>
                <a:sym typeface="Times"/>
              </a:rPr>
              <a:t>} years old.")</a:t>
            </a:r>
            <a:endParaRPr i="1" sz="1800">
              <a:latin typeface="Times"/>
              <a:ea typeface="Times"/>
              <a:cs typeface="Times"/>
              <a:sym typeface="Time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6" name="Shape 236"/>
        <p:cNvGrpSpPr/>
        <p:nvPr/>
      </p:nvGrpSpPr>
      <p:grpSpPr>
        <a:xfrm>
          <a:off x="0" y="0"/>
          <a:ext cx="0" cy="0"/>
          <a:chOff x="0" y="0"/>
          <a:chExt cx="0" cy="0"/>
        </a:xfrm>
      </p:grpSpPr>
      <p:sp>
        <p:nvSpPr>
          <p:cNvPr id="237" name="Google Shape;237;p32"/>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Indentation</a:t>
            </a:r>
            <a:r>
              <a:rPr b="1" lang="en-US" sz="3000">
                <a:solidFill>
                  <a:srgbClr val="1C3678"/>
                </a:solidFill>
                <a:latin typeface="Trebuchet MS"/>
                <a:ea typeface="Trebuchet MS"/>
                <a:cs typeface="Trebuchet MS"/>
                <a:sym typeface="Trebuchet MS"/>
              </a:rPr>
              <a:t> in Python</a:t>
            </a:r>
            <a:endParaRPr b="1" sz="3000">
              <a:solidFill>
                <a:srgbClr val="1C3678"/>
              </a:solidFill>
              <a:latin typeface="Trebuchet MS"/>
              <a:ea typeface="Trebuchet MS"/>
              <a:cs typeface="Trebuchet MS"/>
              <a:sym typeface="Trebuchet MS"/>
            </a:endParaRPr>
          </a:p>
        </p:txBody>
      </p:sp>
      <p:sp>
        <p:nvSpPr>
          <p:cNvPr id="238" name="Google Shape;238;p32"/>
          <p:cNvSpPr txBox="1"/>
          <p:nvPr/>
        </p:nvSpPr>
        <p:spPr>
          <a:xfrm>
            <a:off x="688425" y="793125"/>
            <a:ext cx="8107500" cy="957600"/>
          </a:xfrm>
          <a:prstGeom prst="rect">
            <a:avLst/>
          </a:prstGeom>
          <a:noFill/>
          <a:ln>
            <a:noFill/>
          </a:ln>
        </p:spPr>
        <p:txBody>
          <a:bodyPr anchorCtr="0" anchor="t" bIns="0" lIns="0" spcFirstLastPara="1" rIns="0" wrap="square" tIns="125075">
            <a:spAutoFit/>
          </a:bodyPr>
          <a:lstStyle/>
          <a:p>
            <a:pPr indent="-342900" lvl="0" marL="457200" rtl="0" algn="just">
              <a:spcBef>
                <a:spcPts val="0"/>
              </a:spcBef>
              <a:spcAft>
                <a:spcPts val="0"/>
              </a:spcAft>
              <a:buSzPts val="1800"/>
              <a:buFont typeface="Tahoma"/>
              <a:buChar char="➢"/>
            </a:pPr>
            <a:r>
              <a:rPr lang="en-US" sz="1800">
                <a:latin typeface="Tahoma"/>
                <a:ea typeface="Tahoma"/>
                <a:cs typeface="Tahoma"/>
                <a:sym typeface="Tahoma"/>
              </a:rPr>
              <a:t>Python indentation defines the particular group of statements belongs to the particular blocks.</a:t>
            </a:r>
            <a:endParaRPr sz="1800">
              <a:latin typeface="Tahoma"/>
              <a:ea typeface="Tahoma"/>
              <a:cs typeface="Tahoma"/>
              <a:sym typeface="Tahoma"/>
            </a:endParaRPr>
          </a:p>
          <a:p>
            <a:pPr indent="-342900" lvl="0" marL="457200" rtl="0" algn="just">
              <a:spcBef>
                <a:spcPts val="0"/>
              </a:spcBef>
              <a:spcAft>
                <a:spcPts val="0"/>
              </a:spcAft>
              <a:buSzPts val="1800"/>
              <a:buFont typeface="Tahoma"/>
              <a:buChar char="➢"/>
            </a:pPr>
            <a:r>
              <a:rPr lang="en-US" sz="1800">
                <a:latin typeface="Tahoma"/>
                <a:ea typeface="Tahoma"/>
                <a:cs typeface="Tahoma"/>
                <a:sym typeface="Tahoma"/>
              </a:rPr>
              <a:t>Indentation is four white space or one tab.</a:t>
            </a:r>
            <a:endParaRPr sz="1800">
              <a:latin typeface="Tahoma"/>
              <a:ea typeface="Tahoma"/>
              <a:cs typeface="Tahoma"/>
              <a:sym typeface="Tahoma"/>
            </a:endParaRPr>
          </a:p>
        </p:txBody>
      </p:sp>
      <p:sp>
        <p:nvSpPr>
          <p:cNvPr id="239" name="Google Shape;239;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240" name="Google Shape;240;p32"/>
          <p:cNvSpPr/>
          <p:nvPr/>
        </p:nvSpPr>
        <p:spPr>
          <a:xfrm>
            <a:off x="1120050" y="2240100"/>
            <a:ext cx="5849700" cy="22704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290"/>
              </a:spcBef>
              <a:spcAft>
                <a:spcPts val="0"/>
              </a:spcAft>
              <a:buNone/>
            </a:pPr>
            <a:r>
              <a:rPr i="1" lang="en-US" sz="1800">
                <a:latin typeface="Times"/>
                <a:ea typeface="Times"/>
                <a:cs typeface="Times"/>
                <a:sym typeface="Times"/>
              </a:rPr>
              <a:t>def add(a, b):</a:t>
            </a:r>
            <a:endParaRPr i="1" sz="1800">
              <a:latin typeface="Times"/>
              <a:ea typeface="Times"/>
              <a:cs typeface="Times"/>
              <a:sym typeface="Times"/>
            </a:endParaRPr>
          </a:p>
          <a:p>
            <a:pPr indent="457200" lvl="0" marL="0" rtl="0" algn="just">
              <a:spcBef>
                <a:spcPts val="290"/>
              </a:spcBef>
              <a:spcAft>
                <a:spcPts val="0"/>
              </a:spcAft>
              <a:buNone/>
            </a:pPr>
            <a:r>
              <a:rPr i="1" lang="en-US" sz="1800">
                <a:latin typeface="Times"/>
                <a:ea typeface="Times"/>
                <a:cs typeface="Times"/>
                <a:sym typeface="Times"/>
              </a:rPr>
              <a:t>print(f"Adding {a} and {b}") </a:t>
            </a:r>
            <a:endParaRPr i="1" sz="1800">
              <a:latin typeface="Times"/>
              <a:ea typeface="Times"/>
              <a:cs typeface="Times"/>
              <a:sym typeface="Times"/>
            </a:endParaRPr>
          </a:p>
          <a:p>
            <a:pPr indent="0" lvl="0" marL="0" rtl="0" algn="just">
              <a:spcBef>
                <a:spcPts val="290"/>
              </a:spcBef>
              <a:spcAft>
                <a:spcPts val="0"/>
              </a:spcAft>
              <a:buNone/>
            </a:pPr>
            <a:r>
              <a:rPr i="1" lang="en-US" sz="1800">
                <a:latin typeface="Times"/>
                <a:ea typeface="Times"/>
                <a:cs typeface="Times"/>
                <a:sym typeface="Times"/>
              </a:rPr>
              <a:t>    return a + b</a:t>
            </a:r>
            <a:endParaRPr i="1" sz="1800">
              <a:latin typeface="Times"/>
              <a:ea typeface="Times"/>
              <a:cs typeface="Times"/>
              <a:sym typeface="Times"/>
            </a:endParaRPr>
          </a:p>
          <a:p>
            <a:pPr indent="0" lvl="0" marL="0" rtl="0" algn="just">
              <a:spcBef>
                <a:spcPts val="290"/>
              </a:spcBef>
              <a:spcAft>
                <a:spcPts val="0"/>
              </a:spcAft>
              <a:buNone/>
            </a:pPr>
            <a:r>
              <a:rPr i="1" lang="en-US" sz="1800">
                <a:latin typeface="Times"/>
                <a:ea typeface="Times"/>
                <a:cs typeface="Times"/>
                <a:sym typeface="Times"/>
              </a:rPr>
              <a:t>result = add(3, 5)</a:t>
            </a:r>
            <a:endParaRPr i="1" sz="1800">
              <a:latin typeface="Times"/>
              <a:ea typeface="Times"/>
              <a:cs typeface="Times"/>
              <a:sym typeface="Times"/>
            </a:endParaRPr>
          </a:p>
          <a:p>
            <a:pPr indent="0" lvl="0" marL="0" rtl="0" algn="just">
              <a:spcBef>
                <a:spcPts val="290"/>
              </a:spcBef>
              <a:spcAft>
                <a:spcPts val="0"/>
              </a:spcAft>
              <a:buNone/>
            </a:pPr>
            <a:r>
              <a:rPr i="1" lang="en-US" sz="1800">
                <a:latin typeface="Times"/>
                <a:ea typeface="Times"/>
                <a:cs typeface="Times"/>
                <a:sym typeface="Times"/>
              </a:rPr>
              <a:t>print(f"Result: {result}")</a:t>
            </a:r>
            <a:endParaRPr i="1" sz="1800">
              <a:latin typeface="Times"/>
              <a:ea typeface="Times"/>
              <a:cs typeface="Times"/>
              <a:sym typeface="Times"/>
            </a:endParaRPr>
          </a:p>
          <a:p>
            <a:pPr indent="0" lvl="0" marL="0" rtl="0" algn="just">
              <a:spcBef>
                <a:spcPts val="290"/>
              </a:spcBef>
              <a:spcAft>
                <a:spcPts val="0"/>
              </a:spcAft>
              <a:buNone/>
            </a:pPr>
            <a:r>
              <a:t/>
            </a:r>
            <a:endParaRPr i="1" sz="1800">
              <a:latin typeface="Tahoma"/>
              <a:ea typeface="Tahoma"/>
              <a:cs typeface="Tahoma"/>
              <a:sym typeface="Tahom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33"/>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Comment</a:t>
            </a:r>
            <a:r>
              <a:rPr b="1" lang="en-US" sz="3000">
                <a:solidFill>
                  <a:srgbClr val="1C3678"/>
                </a:solidFill>
                <a:latin typeface="Trebuchet MS"/>
                <a:ea typeface="Trebuchet MS"/>
                <a:cs typeface="Trebuchet MS"/>
                <a:sym typeface="Trebuchet MS"/>
              </a:rPr>
              <a:t> in Python</a:t>
            </a:r>
            <a:endParaRPr b="1" sz="3000">
              <a:solidFill>
                <a:srgbClr val="1C3678"/>
              </a:solidFill>
              <a:latin typeface="Trebuchet MS"/>
              <a:ea typeface="Trebuchet MS"/>
              <a:cs typeface="Trebuchet MS"/>
              <a:sym typeface="Trebuchet MS"/>
            </a:endParaRPr>
          </a:p>
        </p:txBody>
      </p:sp>
      <p:sp>
        <p:nvSpPr>
          <p:cNvPr id="247" name="Google Shape;247;p33"/>
          <p:cNvSpPr txBox="1"/>
          <p:nvPr/>
        </p:nvSpPr>
        <p:spPr>
          <a:xfrm>
            <a:off x="688425" y="793125"/>
            <a:ext cx="8107500" cy="42129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0"/>
              </a:spcBef>
              <a:spcAft>
                <a:spcPts val="0"/>
              </a:spcAft>
              <a:buClr>
                <a:srgbClr val="000000"/>
              </a:buClr>
              <a:buSzPts val="1800"/>
              <a:buFont typeface="Times"/>
              <a:buChar char="➢"/>
            </a:pPr>
            <a:r>
              <a:rPr lang="en-US" sz="1800">
                <a:uFill>
                  <a:noFill/>
                </a:uFill>
                <a:latin typeface="Times"/>
                <a:ea typeface="Times"/>
                <a:cs typeface="Times"/>
                <a:sym typeface="Times"/>
                <a:hlinkClick r:id="rId3"/>
              </a:rPr>
              <a:t>Comments</a:t>
            </a:r>
            <a:r>
              <a:rPr lang="en-US" sz="1800">
                <a:latin typeface="Times"/>
                <a:ea typeface="Times"/>
                <a:cs typeface="Times"/>
                <a:sym typeface="Times"/>
              </a:rPr>
              <a:t> are essential for defining the code and help us and other to understand the code. By looking the comment, we can easily understand the intention of every line that we have written in code. We can also find the error very easily, fix them, and use in other applications.</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We use # symbol to comment in python.</a:t>
            </a:r>
            <a:endParaRPr sz="1800">
              <a:latin typeface="Times"/>
              <a:ea typeface="Times"/>
              <a:cs typeface="Times"/>
              <a:sym typeface="Times"/>
            </a:endParaRPr>
          </a:p>
          <a:p>
            <a:pPr indent="-342900" lvl="1" marL="914400" rtl="0" algn="l">
              <a:lnSpc>
                <a:spcPct val="100000"/>
              </a:lnSpc>
              <a:spcBef>
                <a:spcPts val="0"/>
              </a:spcBef>
              <a:spcAft>
                <a:spcPts val="0"/>
              </a:spcAft>
              <a:buClr>
                <a:schemeClr val="lt1"/>
              </a:buClr>
              <a:buSzPts val="1800"/>
              <a:buFont typeface="Times"/>
              <a:buChar char="○"/>
            </a:pPr>
            <a:r>
              <a:rPr i="1" lang="en-US" sz="1800">
                <a:latin typeface="Times"/>
                <a:ea typeface="Times"/>
                <a:cs typeface="Times"/>
                <a:sym typeface="Times"/>
              </a:rPr>
              <a:t># Python Programming do not need main function to execute the program.</a:t>
            </a:r>
            <a:endParaRPr i="1" sz="1800">
              <a:latin typeface="Times"/>
              <a:ea typeface="Times"/>
              <a:cs typeface="Times"/>
              <a:sym typeface="Times"/>
            </a:endParaRPr>
          </a:p>
          <a:p>
            <a:pPr indent="-342900" lvl="1" marL="914400" rtl="0" algn="l">
              <a:lnSpc>
                <a:spcPct val="100000"/>
              </a:lnSpc>
              <a:spcBef>
                <a:spcPts val="0"/>
              </a:spcBef>
              <a:spcAft>
                <a:spcPts val="0"/>
              </a:spcAft>
              <a:buClr>
                <a:schemeClr val="lt1"/>
              </a:buClr>
              <a:buSzPts val="1800"/>
              <a:buFont typeface="Times"/>
              <a:buChar char="○"/>
            </a:pPr>
            <a:r>
              <a:rPr i="1" lang="en-US" sz="1800">
                <a:latin typeface="Times"/>
                <a:ea typeface="Times"/>
                <a:cs typeface="Times"/>
                <a:sym typeface="Times"/>
              </a:rPr>
              <a:t>"""</a:t>
            </a:r>
            <a:endParaRPr i="1" sz="1800">
              <a:latin typeface="Times"/>
              <a:ea typeface="Times"/>
              <a:cs typeface="Times"/>
              <a:sym typeface="Times"/>
            </a:endParaRPr>
          </a:p>
          <a:p>
            <a:pPr indent="-342900" lvl="1" marL="914400" rtl="0" algn="l">
              <a:lnSpc>
                <a:spcPct val="100000"/>
              </a:lnSpc>
              <a:spcBef>
                <a:spcPts val="0"/>
              </a:spcBef>
              <a:spcAft>
                <a:spcPts val="0"/>
              </a:spcAft>
              <a:buClr>
                <a:schemeClr val="lt1"/>
              </a:buClr>
              <a:buSzPts val="1800"/>
              <a:buFont typeface="Times"/>
              <a:buChar char="○"/>
            </a:pPr>
            <a:r>
              <a:rPr i="1" lang="en-US" sz="1800">
                <a:latin typeface="Times"/>
                <a:ea typeface="Times"/>
                <a:cs typeface="Times"/>
                <a:sym typeface="Times"/>
              </a:rPr>
              <a:t>Python Programming </a:t>
            </a:r>
            <a:endParaRPr i="1" sz="1800">
              <a:latin typeface="Times"/>
              <a:ea typeface="Times"/>
              <a:cs typeface="Times"/>
              <a:sym typeface="Times"/>
            </a:endParaRPr>
          </a:p>
          <a:p>
            <a:pPr indent="-342900" lvl="1" marL="914400" rtl="0" algn="l">
              <a:lnSpc>
                <a:spcPct val="100000"/>
              </a:lnSpc>
              <a:spcBef>
                <a:spcPts val="0"/>
              </a:spcBef>
              <a:spcAft>
                <a:spcPts val="0"/>
              </a:spcAft>
              <a:buClr>
                <a:schemeClr val="lt1"/>
              </a:buClr>
              <a:buSzPts val="1800"/>
              <a:buFont typeface="Times"/>
              <a:buChar char="○"/>
            </a:pPr>
            <a:r>
              <a:rPr i="1" lang="en-US" sz="1800">
                <a:latin typeface="Times"/>
                <a:ea typeface="Times"/>
                <a:cs typeface="Times"/>
                <a:sym typeface="Times"/>
              </a:rPr>
              <a:t>do not need main function to execute the program</a:t>
            </a:r>
            <a:endParaRPr i="1" sz="1800">
              <a:latin typeface="Times"/>
              <a:ea typeface="Times"/>
              <a:cs typeface="Times"/>
              <a:sym typeface="Times"/>
            </a:endParaRPr>
          </a:p>
          <a:p>
            <a:pPr indent="-342900" lvl="1" marL="914400" rtl="0" algn="l">
              <a:lnSpc>
                <a:spcPct val="100000"/>
              </a:lnSpc>
              <a:spcBef>
                <a:spcPts val="0"/>
              </a:spcBef>
              <a:spcAft>
                <a:spcPts val="0"/>
              </a:spcAft>
              <a:buClr>
                <a:schemeClr val="lt1"/>
              </a:buClr>
              <a:buSzPts val="1800"/>
              <a:buFont typeface="Times"/>
              <a:buChar char="○"/>
            </a:pPr>
            <a:r>
              <a:rPr i="1" lang="en-US" sz="1800">
                <a:latin typeface="Times"/>
                <a:ea typeface="Times"/>
                <a:cs typeface="Times"/>
                <a:sym typeface="Times"/>
              </a:rPr>
              <a:t>"""</a:t>
            </a:r>
            <a:endParaRPr i="1" sz="1800">
              <a:latin typeface="Times"/>
              <a:ea typeface="Times"/>
              <a:cs typeface="Times"/>
              <a:sym typeface="Times"/>
            </a:endParaRPr>
          </a:p>
          <a:p>
            <a:pPr indent="-342900" lvl="1" marL="914400" rtl="0" algn="l">
              <a:lnSpc>
                <a:spcPct val="100000"/>
              </a:lnSpc>
              <a:spcBef>
                <a:spcPts val="0"/>
              </a:spcBef>
              <a:spcAft>
                <a:spcPts val="0"/>
              </a:spcAft>
              <a:buClr>
                <a:schemeClr val="lt1"/>
              </a:buClr>
              <a:buSzPts val="1800"/>
              <a:buFont typeface="Times"/>
              <a:buChar char="○"/>
            </a:pPr>
            <a:r>
              <a:rPr i="1" lang="en-US" sz="1800">
                <a:latin typeface="Times"/>
                <a:ea typeface="Times"/>
                <a:cs typeface="Times"/>
                <a:sym typeface="Times"/>
              </a:rPr>
              <a:t>'''</a:t>
            </a:r>
            <a:endParaRPr i="1" sz="1800">
              <a:latin typeface="Times"/>
              <a:ea typeface="Times"/>
              <a:cs typeface="Times"/>
              <a:sym typeface="Times"/>
            </a:endParaRPr>
          </a:p>
          <a:p>
            <a:pPr indent="-342900" lvl="1" marL="914400" rtl="0" algn="l">
              <a:lnSpc>
                <a:spcPct val="100000"/>
              </a:lnSpc>
              <a:spcBef>
                <a:spcPts val="0"/>
              </a:spcBef>
              <a:spcAft>
                <a:spcPts val="0"/>
              </a:spcAft>
              <a:buClr>
                <a:schemeClr val="lt1"/>
              </a:buClr>
              <a:buSzPts val="1800"/>
              <a:buFont typeface="Times"/>
              <a:buChar char="○"/>
            </a:pPr>
            <a:r>
              <a:rPr i="1" lang="en-US" sz="1800">
                <a:latin typeface="Times"/>
                <a:ea typeface="Times"/>
                <a:cs typeface="Times"/>
                <a:sym typeface="Times"/>
              </a:rPr>
              <a:t>Python Programming </a:t>
            </a:r>
            <a:endParaRPr i="1" sz="1800">
              <a:latin typeface="Times"/>
              <a:ea typeface="Times"/>
              <a:cs typeface="Times"/>
              <a:sym typeface="Times"/>
            </a:endParaRPr>
          </a:p>
          <a:p>
            <a:pPr indent="-342900" lvl="1" marL="914400" rtl="0" algn="l">
              <a:lnSpc>
                <a:spcPct val="100000"/>
              </a:lnSpc>
              <a:spcBef>
                <a:spcPts val="0"/>
              </a:spcBef>
              <a:spcAft>
                <a:spcPts val="0"/>
              </a:spcAft>
              <a:buClr>
                <a:schemeClr val="lt1"/>
              </a:buClr>
              <a:buSzPts val="1800"/>
              <a:buFont typeface="Times"/>
              <a:buChar char="○"/>
            </a:pPr>
            <a:r>
              <a:rPr i="1" lang="en-US" sz="1800">
                <a:latin typeface="Times"/>
                <a:ea typeface="Times"/>
                <a:cs typeface="Times"/>
                <a:sym typeface="Times"/>
              </a:rPr>
              <a:t>do not need main function to execute the program</a:t>
            </a:r>
            <a:endParaRPr i="1" sz="1800">
              <a:latin typeface="Times"/>
              <a:ea typeface="Times"/>
              <a:cs typeface="Times"/>
              <a:sym typeface="Times"/>
            </a:endParaRPr>
          </a:p>
          <a:p>
            <a:pPr indent="-342900" lvl="1" marL="914400" rtl="0" algn="l">
              <a:lnSpc>
                <a:spcPct val="100000"/>
              </a:lnSpc>
              <a:spcBef>
                <a:spcPts val="0"/>
              </a:spcBef>
              <a:spcAft>
                <a:spcPts val="0"/>
              </a:spcAft>
              <a:buClr>
                <a:schemeClr val="lt1"/>
              </a:buClr>
              <a:buSzPts val="1800"/>
              <a:buFont typeface="Times"/>
              <a:buChar char="○"/>
            </a:pPr>
            <a:r>
              <a:rPr i="1" lang="en-US" sz="1800">
                <a:latin typeface="Times"/>
                <a:ea typeface="Times"/>
                <a:cs typeface="Times"/>
                <a:sym typeface="Times"/>
              </a:rPr>
              <a:t>'''</a:t>
            </a:r>
            <a:endParaRPr i="1" sz="1800">
              <a:latin typeface="Times"/>
              <a:ea typeface="Times"/>
              <a:cs typeface="Times"/>
              <a:sym typeface="Times"/>
            </a:endParaRPr>
          </a:p>
        </p:txBody>
      </p:sp>
      <p:sp>
        <p:nvSpPr>
          <p:cNvPr id="248" name="Google Shape;248;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 name="Shape 253"/>
        <p:cNvGrpSpPr/>
        <p:nvPr/>
      </p:nvGrpSpPr>
      <p:grpSpPr>
        <a:xfrm>
          <a:off x="0" y="0"/>
          <a:ext cx="0" cy="0"/>
          <a:chOff x="0" y="0"/>
          <a:chExt cx="0" cy="0"/>
        </a:xfrm>
      </p:grpSpPr>
      <p:sp>
        <p:nvSpPr>
          <p:cNvPr id="254" name="Google Shape;254;p34"/>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Script mode in Python</a:t>
            </a:r>
            <a:endParaRPr b="1" sz="3000">
              <a:solidFill>
                <a:srgbClr val="1C3678"/>
              </a:solidFill>
              <a:latin typeface="Trebuchet MS"/>
              <a:ea typeface="Trebuchet MS"/>
              <a:cs typeface="Trebuchet MS"/>
              <a:sym typeface="Trebuchet MS"/>
            </a:endParaRPr>
          </a:p>
        </p:txBody>
      </p:sp>
      <p:sp>
        <p:nvSpPr>
          <p:cNvPr id="255" name="Google Shape;255;p34"/>
          <p:cNvSpPr txBox="1"/>
          <p:nvPr/>
        </p:nvSpPr>
        <p:spPr>
          <a:xfrm>
            <a:off x="688425" y="793125"/>
            <a:ext cx="8107500" cy="3270900"/>
          </a:xfrm>
          <a:prstGeom prst="rect">
            <a:avLst/>
          </a:prstGeom>
          <a:noFill/>
          <a:ln>
            <a:noFill/>
          </a:ln>
        </p:spPr>
        <p:txBody>
          <a:bodyPr anchorCtr="0" anchor="t" bIns="0" lIns="0" spcFirstLastPara="1" rIns="0" wrap="square" tIns="125075">
            <a:spAutoFit/>
          </a:bodyPr>
          <a:lstStyle/>
          <a:p>
            <a:pPr indent="-330200" lvl="0" marL="457200" rtl="0" algn="just">
              <a:lnSpc>
                <a:spcPct val="115000"/>
              </a:lnSpc>
              <a:spcBef>
                <a:spcPts val="0"/>
              </a:spcBef>
              <a:spcAft>
                <a:spcPts val="0"/>
              </a:spcAft>
              <a:buSzPts val="1600"/>
              <a:buFont typeface="Verdana"/>
              <a:buChar char="➢"/>
            </a:pPr>
            <a:r>
              <a:rPr b="1" lang="en-US" sz="1800">
                <a:latin typeface="Times"/>
                <a:ea typeface="Times"/>
                <a:cs typeface="Times"/>
                <a:sym typeface="Times"/>
              </a:rPr>
              <a:t>Execution of Code</a:t>
            </a:r>
            <a:r>
              <a:rPr lang="en-US" sz="1800">
                <a:latin typeface="Times"/>
                <a:ea typeface="Times"/>
                <a:cs typeface="Times"/>
                <a:sym typeface="Times"/>
              </a:rPr>
              <a:t>: Python code is written in a file with a .py extension and is executed all at once.</a:t>
            </a:r>
            <a:endParaRPr sz="1800">
              <a:latin typeface="Times"/>
              <a:ea typeface="Times"/>
              <a:cs typeface="Times"/>
              <a:sym typeface="Times"/>
            </a:endParaRPr>
          </a:p>
          <a:p>
            <a:pPr indent="-330200" lvl="0" marL="457200" rtl="0" algn="just">
              <a:lnSpc>
                <a:spcPct val="115000"/>
              </a:lnSpc>
              <a:spcBef>
                <a:spcPts val="0"/>
              </a:spcBef>
              <a:spcAft>
                <a:spcPts val="0"/>
              </a:spcAft>
              <a:buSzPts val="1600"/>
              <a:buFont typeface="Verdana"/>
              <a:buChar char="➢"/>
            </a:pPr>
            <a:r>
              <a:rPr b="1" lang="en-US" sz="1800">
                <a:latin typeface="Times"/>
                <a:ea typeface="Times"/>
                <a:cs typeface="Times"/>
                <a:sym typeface="Times"/>
              </a:rPr>
              <a:t>Efficiency for Larger Programs</a:t>
            </a:r>
            <a:r>
              <a:rPr lang="en-US" sz="1800">
                <a:latin typeface="Times"/>
                <a:ea typeface="Times"/>
                <a:cs typeface="Times"/>
                <a:sym typeface="Times"/>
              </a:rPr>
              <a:t>: Script mode is more efficient for running larger programs since it allows you to write and organize complex code in files, which can be executed as a whole.</a:t>
            </a:r>
            <a:endParaRPr sz="1800">
              <a:latin typeface="Times"/>
              <a:ea typeface="Times"/>
              <a:cs typeface="Times"/>
              <a:sym typeface="Times"/>
            </a:endParaRPr>
          </a:p>
          <a:p>
            <a:pPr indent="-330200" lvl="0" marL="457200" rtl="0" algn="just">
              <a:lnSpc>
                <a:spcPct val="115000"/>
              </a:lnSpc>
              <a:spcBef>
                <a:spcPts val="0"/>
              </a:spcBef>
              <a:spcAft>
                <a:spcPts val="0"/>
              </a:spcAft>
              <a:buSzPts val="1600"/>
              <a:buFont typeface="Verdana"/>
              <a:buChar char="➢"/>
            </a:pPr>
            <a:r>
              <a:rPr b="1" lang="en-US" sz="1800">
                <a:latin typeface="Times"/>
                <a:ea typeface="Times"/>
                <a:cs typeface="Times"/>
                <a:sym typeface="Times"/>
              </a:rPr>
              <a:t>Reusability</a:t>
            </a:r>
            <a:r>
              <a:rPr lang="en-US" sz="1800">
                <a:latin typeface="Times"/>
                <a:ea typeface="Times"/>
                <a:cs typeface="Times"/>
                <a:sym typeface="Times"/>
              </a:rPr>
              <a:t>: Python scripts can be saved, reused, and shared. Once a script is written and debugged, it can be run multiple times without needing to re-enter the code, making it a great tool for automation and repetitive tasks.</a:t>
            </a:r>
            <a:endParaRPr sz="1800">
              <a:latin typeface="Times"/>
              <a:ea typeface="Times"/>
              <a:cs typeface="Times"/>
              <a:sym typeface="Times"/>
            </a:endParaRPr>
          </a:p>
          <a:p>
            <a:pPr indent="-330200" lvl="0" marL="457200" rtl="0" algn="just">
              <a:lnSpc>
                <a:spcPct val="115000"/>
              </a:lnSpc>
              <a:spcBef>
                <a:spcPts val="0"/>
              </a:spcBef>
              <a:spcAft>
                <a:spcPts val="0"/>
              </a:spcAft>
              <a:buSzPts val="1600"/>
              <a:buFont typeface="Verdana"/>
              <a:buChar char="➢"/>
            </a:pPr>
            <a:r>
              <a:rPr b="1" lang="en-US" sz="1800">
                <a:latin typeface="Times"/>
                <a:ea typeface="Times"/>
                <a:cs typeface="Times"/>
                <a:sym typeface="Times"/>
              </a:rPr>
              <a:t>Command Line Execution</a:t>
            </a:r>
            <a:r>
              <a:rPr lang="en-US" sz="1800">
                <a:latin typeface="Times"/>
                <a:ea typeface="Times"/>
                <a:cs typeface="Times"/>
                <a:sym typeface="Times"/>
              </a:rPr>
              <a:t>: To run a Python script, you typically use the command line or terminal.</a:t>
            </a:r>
            <a:endParaRPr sz="1800">
              <a:latin typeface="Times"/>
              <a:ea typeface="Times"/>
              <a:cs typeface="Times"/>
              <a:sym typeface="Times"/>
            </a:endParaRPr>
          </a:p>
        </p:txBody>
      </p:sp>
      <p:sp>
        <p:nvSpPr>
          <p:cNvPr id="256" name="Google Shape;256;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1" name="Shape 261"/>
        <p:cNvGrpSpPr/>
        <p:nvPr/>
      </p:nvGrpSpPr>
      <p:grpSpPr>
        <a:xfrm>
          <a:off x="0" y="0"/>
          <a:ext cx="0" cy="0"/>
          <a:chOff x="0" y="0"/>
          <a:chExt cx="0" cy="0"/>
        </a:xfrm>
      </p:grpSpPr>
      <p:sp>
        <p:nvSpPr>
          <p:cNvPr id="262" name="Google Shape;262;p35"/>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Script mode in Python</a:t>
            </a:r>
            <a:endParaRPr b="1" sz="3000">
              <a:solidFill>
                <a:srgbClr val="1C3678"/>
              </a:solidFill>
              <a:latin typeface="Trebuchet MS"/>
              <a:ea typeface="Trebuchet MS"/>
              <a:cs typeface="Trebuchet MS"/>
              <a:sym typeface="Trebuchet MS"/>
            </a:endParaRPr>
          </a:p>
        </p:txBody>
      </p:sp>
      <p:sp>
        <p:nvSpPr>
          <p:cNvPr id="263" name="Google Shape;263;p35"/>
          <p:cNvSpPr txBox="1"/>
          <p:nvPr/>
        </p:nvSpPr>
        <p:spPr>
          <a:xfrm>
            <a:off x="688425" y="793125"/>
            <a:ext cx="8107500" cy="2776800"/>
          </a:xfrm>
          <a:prstGeom prst="rect">
            <a:avLst/>
          </a:prstGeom>
          <a:noFill/>
          <a:ln>
            <a:noFill/>
          </a:ln>
        </p:spPr>
        <p:txBody>
          <a:bodyPr anchorCtr="0" anchor="t" bIns="0" lIns="0" spcFirstLastPara="1" rIns="0" wrap="square" tIns="125075">
            <a:spAutoFit/>
          </a:bodyPr>
          <a:lstStyle/>
          <a:p>
            <a:pPr indent="0" lvl="0" marL="0" rtl="0" algn="l">
              <a:lnSpc>
                <a:spcPct val="115000"/>
              </a:lnSpc>
              <a:spcBef>
                <a:spcPts val="0"/>
              </a:spcBef>
              <a:spcAft>
                <a:spcPts val="0"/>
              </a:spcAft>
              <a:buNone/>
            </a:pPr>
            <a:r>
              <a:rPr b="1" lang="en-US" sz="1800">
                <a:latin typeface="Times"/>
                <a:ea typeface="Times"/>
                <a:cs typeface="Times"/>
                <a:sym typeface="Times"/>
              </a:rPr>
              <a:t>Advantages of the script mode.</a:t>
            </a:r>
            <a:endParaRPr b="1" sz="1800">
              <a:latin typeface="Times"/>
              <a:ea typeface="Times"/>
              <a:cs typeface="Times"/>
              <a:sym typeface="Times"/>
            </a:endParaRPr>
          </a:p>
          <a:p>
            <a:pPr indent="-342900" lvl="0" marL="457200" marR="25400" rtl="0" algn="l">
              <a:lnSpc>
                <a:spcPct val="115000"/>
              </a:lnSpc>
              <a:spcBef>
                <a:spcPts val="1300"/>
              </a:spcBef>
              <a:spcAft>
                <a:spcPts val="0"/>
              </a:spcAft>
              <a:buSzPts val="1800"/>
              <a:buFont typeface="Times"/>
              <a:buChar char="➢"/>
            </a:pPr>
            <a:r>
              <a:rPr lang="en-US" sz="1800">
                <a:latin typeface="Times"/>
                <a:ea typeface="Times"/>
                <a:cs typeface="Times"/>
                <a:sym typeface="Times"/>
              </a:rPr>
              <a:t>We can run multiple lines of code.</a:t>
            </a:r>
            <a:endParaRPr sz="1800">
              <a:latin typeface="Times"/>
              <a:ea typeface="Times"/>
              <a:cs typeface="Times"/>
              <a:sym typeface="Times"/>
            </a:endParaRPr>
          </a:p>
          <a:p>
            <a:pPr indent="-342900" lvl="0" marL="457200" marR="25400" rtl="0" algn="l">
              <a:lnSpc>
                <a:spcPct val="115000"/>
              </a:lnSpc>
              <a:spcBef>
                <a:spcPts val="0"/>
              </a:spcBef>
              <a:spcAft>
                <a:spcPts val="0"/>
              </a:spcAft>
              <a:buSzPts val="1800"/>
              <a:buFont typeface="Times"/>
              <a:buChar char="➢"/>
            </a:pPr>
            <a:r>
              <a:rPr lang="en-US" sz="1800">
                <a:latin typeface="Times"/>
                <a:ea typeface="Times"/>
                <a:cs typeface="Times"/>
                <a:sym typeface="Times"/>
              </a:rPr>
              <a:t>Debugging is easy in script mode.</a:t>
            </a:r>
            <a:endParaRPr sz="1800">
              <a:latin typeface="Times"/>
              <a:ea typeface="Times"/>
              <a:cs typeface="Times"/>
              <a:sym typeface="Times"/>
            </a:endParaRPr>
          </a:p>
          <a:p>
            <a:pPr indent="-342900" lvl="0" marL="457200" marR="25400" rtl="0" algn="l">
              <a:lnSpc>
                <a:spcPct val="115000"/>
              </a:lnSpc>
              <a:spcBef>
                <a:spcPts val="0"/>
              </a:spcBef>
              <a:spcAft>
                <a:spcPts val="0"/>
              </a:spcAft>
              <a:buSzPts val="1800"/>
              <a:buFont typeface="Times"/>
              <a:buChar char="➢"/>
            </a:pPr>
            <a:r>
              <a:rPr lang="en-US" sz="1800">
                <a:latin typeface="Times"/>
                <a:ea typeface="Times"/>
                <a:cs typeface="Times"/>
                <a:sym typeface="Times"/>
              </a:rPr>
              <a:t>It is appropriate for beginners and also for experts.</a:t>
            </a:r>
            <a:endParaRPr sz="1800">
              <a:latin typeface="Times"/>
              <a:ea typeface="Times"/>
              <a:cs typeface="Times"/>
              <a:sym typeface="Times"/>
            </a:endParaRPr>
          </a:p>
          <a:p>
            <a:pPr indent="0" lvl="0" marL="0" rtl="0" algn="l">
              <a:lnSpc>
                <a:spcPct val="115000"/>
              </a:lnSpc>
              <a:spcBef>
                <a:spcPts val="1000"/>
              </a:spcBef>
              <a:spcAft>
                <a:spcPts val="0"/>
              </a:spcAft>
              <a:buNone/>
            </a:pPr>
            <a:r>
              <a:rPr b="1" lang="en-US" sz="1800">
                <a:latin typeface="Times"/>
                <a:ea typeface="Times"/>
                <a:cs typeface="Times"/>
                <a:sym typeface="Times"/>
              </a:rPr>
              <a:t>Disadvantages of the script mode.</a:t>
            </a:r>
            <a:endParaRPr b="1" sz="1800">
              <a:latin typeface="Times"/>
              <a:ea typeface="Times"/>
              <a:cs typeface="Times"/>
              <a:sym typeface="Times"/>
            </a:endParaRPr>
          </a:p>
          <a:p>
            <a:pPr indent="-342900" lvl="0" marL="457200" marR="25400" rtl="0" algn="l">
              <a:lnSpc>
                <a:spcPct val="115000"/>
              </a:lnSpc>
              <a:spcBef>
                <a:spcPts val="1300"/>
              </a:spcBef>
              <a:spcAft>
                <a:spcPts val="0"/>
              </a:spcAft>
              <a:buSzPts val="1800"/>
              <a:buFont typeface="Times"/>
              <a:buChar char="➢"/>
            </a:pPr>
            <a:r>
              <a:rPr lang="en-US" sz="1800">
                <a:latin typeface="Times"/>
                <a:ea typeface="Times"/>
                <a:cs typeface="Times"/>
                <a:sym typeface="Times"/>
              </a:rPr>
              <a:t>We have to save the code every time if we make any change in the code.</a:t>
            </a:r>
            <a:endParaRPr sz="1800">
              <a:latin typeface="Times"/>
              <a:ea typeface="Times"/>
              <a:cs typeface="Times"/>
              <a:sym typeface="Times"/>
            </a:endParaRPr>
          </a:p>
          <a:p>
            <a:pPr indent="-342900" lvl="0" marL="457200" marR="25400" rtl="0" algn="l">
              <a:lnSpc>
                <a:spcPct val="115000"/>
              </a:lnSpc>
              <a:spcBef>
                <a:spcPts val="0"/>
              </a:spcBef>
              <a:spcAft>
                <a:spcPts val="0"/>
              </a:spcAft>
              <a:buSzPts val="1800"/>
              <a:buFont typeface="Times"/>
              <a:buChar char="➢"/>
            </a:pPr>
            <a:r>
              <a:rPr lang="en-US" sz="1800">
                <a:latin typeface="Times"/>
                <a:ea typeface="Times"/>
                <a:cs typeface="Times"/>
                <a:sym typeface="Times"/>
              </a:rPr>
              <a:t>It can be tedious when we run a single or a few lines of code.</a:t>
            </a:r>
            <a:endParaRPr sz="1800">
              <a:latin typeface="Times"/>
              <a:ea typeface="Times"/>
              <a:cs typeface="Times"/>
              <a:sym typeface="Times"/>
            </a:endParaRPr>
          </a:p>
        </p:txBody>
      </p:sp>
      <p:sp>
        <p:nvSpPr>
          <p:cNvPr id="264" name="Google Shape;264;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sp>
        <p:nvSpPr>
          <p:cNvPr id="270" name="Google Shape;270;p36"/>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Token</a:t>
            </a:r>
            <a:r>
              <a:rPr b="1" lang="en-US" sz="3000">
                <a:solidFill>
                  <a:srgbClr val="1C3678"/>
                </a:solidFill>
                <a:latin typeface="Trebuchet MS"/>
                <a:ea typeface="Trebuchet MS"/>
                <a:cs typeface="Trebuchet MS"/>
                <a:sym typeface="Trebuchet MS"/>
              </a:rPr>
              <a:t> in Python</a:t>
            </a:r>
            <a:endParaRPr b="1" sz="3000">
              <a:solidFill>
                <a:srgbClr val="1C3678"/>
              </a:solidFill>
              <a:latin typeface="Trebuchet MS"/>
              <a:ea typeface="Trebuchet MS"/>
              <a:cs typeface="Trebuchet MS"/>
              <a:sym typeface="Trebuchet MS"/>
            </a:endParaRPr>
          </a:p>
        </p:txBody>
      </p:sp>
      <p:sp>
        <p:nvSpPr>
          <p:cNvPr id="271" name="Google Shape;271;p36"/>
          <p:cNvSpPr txBox="1"/>
          <p:nvPr/>
        </p:nvSpPr>
        <p:spPr>
          <a:xfrm>
            <a:off x="688425" y="793125"/>
            <a:ext cx="8107500" cy="2633700"/>
          </a:xfrm>
          <a:prstGeom prst="rect">
            <a:avLst/>
          </a:prstGeom>
          <a:noFill/>
          <a:ln>
            <a:noFill/>
          </a:ln>
        </p:spPr>
        <p:txBody>
          <a:bodyPr anchorCtr="0" anchor="t" bIns="0" lIns="0" spcFirstLastPara="1" rIns="0" wrap="square" tIns="125075">
            <a:spAutoFit/>
          </a:bodyPr>
          <a:lstStyle/>
          <a:p>
            <a:pPr indent="-342900" lvl="0" marL="457200" marR="25400" rtl="0" algn="just">
              <a:lnSpc>
                <a:spcPct val="115000"/>
              </a:lnSpc>
              <a:spcBef>
                <a:spcPts val="1300"/>
              </a:spcBef>
              <a:spcAft>
                <a:spcPts val="0"/>
              </a:spcAft>
              <a:buSzPts val="1800"/>
              <a:buFont typeface="Times"/>
              <a:buChar char="➢"/>
            </a:pPr>
            <a:r>
              <a:rPr lang="en-US" sz="1800">
                <a:latin typeface="Times"/>
                <a:ea typeface="Times"/>
                <a:cs typeface="Times"/>
                <a:sym typeface="Times"/>
              </a:rPr>
              <a:t>The tokens can be defined as a punctuation mark, reserved words, and each word in a statement.</a:t>
            </a:r>
            <a:endParaRPr sz="1800">
              <a:latin typeface="Times"/>
              <a:ea typeface="Times"/>
              <a:cs typeface="Times"/>
              <a:sym typeface="Times"/>
            </a:endParaRPr>
          </a:p>
          <a:p>
            <a:pPr indent="-342900" lvl="0" marL="457200" marR="25400" rtl="0" algn="just">
              <a:lnSpc>
                <a:spcPct val="115000"/>
              </a:lnSpc>
              <a:spcBef>
                <a:spcPts val="0"/>
              </a:spcBef>
              <a:spcAft>
                <a:spcPts val="0"/>
              </a:spcAft>
              <a:buSzPts val="1800"/>
              <a:buFont typeface="Times"/>
              <a:buChar char="➢"/>
            </a:pPr>
            <a:r>
              <a:rPr lang="en-US" sz="1800">
                <a:latin typeface="Times"/>
                <a:ea typeface="Times"/>
                <a:cs typeface="Times"/>
                <a:sym typeface="Times"/>
              </a:rPr>
              <a:t>The token is the smallest unit inside the given program.</a:t>
            </a:r>
            <a:endParaRPr sz="1800">
              <a:latin typeface="Times"/>
              <a:ea typeface="Times"/>
              <a:cs typeface="Times"/>
              <a:sym typeface="Times"/>
            </a:endParaRPr>
          </a:p>
          <a:p>
            <a:pPr indent="-342900" lvl="0" marL="457200" marR="25400" rtl="0" algn="just">
              <a:lnSpc>
                <a:spcPct val="115000"/>
              </a:lnSpc>
              <a:spcBef>
                <a:spcPts val="0"/>
              </a:spcBef>
              <a:spcAft>
                <a:spcPts val="0"/>
              </a:spcAft>
              <a:buSzPts val="1800"/>
              <a:buFont typeface="Times"/>
              <a:buChar char="➢"/>
            </a:pPr>
            <a:r>
              <a:rPr lang="en-US" sz="1800">
                <a:latin typeface="Times"/>
                <a:ea typeface="Times"/>
                <a:cs typeface="Times"/>
                <a:sym typeface="Times"/>
              </a:rPr>
              <a:t>There are following tokens in Python:</a:t>
            </a:r>
            <a:endParaRPr sz="1800">
              <a:latin typeface="Times"/>
              <a:ea typeface="Times"/>
              <a:cs typeface="Times"/>
              <a:sym typeface="Times"/>
            </a:endParaRPr>
          </a:p>
          <a:p>
            <a:pPr indent="-342900" lvl="1" marL="914400" marR="25400" rtl="0" algn="just">
              <a:lnSpc>
                <a:spcPct val="115000"/>
              </a:lnSpc>
              <a:spcBef>
                <a:spcPts val="0"/>
              </a:spcBef>
              <a:spcAft>
                <a:spcPts val="0"/>
              </a:spcAft>
              <a:buSzPts val="1800"/>
              <a:buFont typeface="Times"/>
              <a:buChar char="○"/>
            </a:pPr>
            <a:r>
              <a:rPr lang="en-US" sz="1800">
                <a:latin typeface="Times"/>
                <a:ea typeface="Times"/>
                <a:cs typeface="Times"/>
                <a:sym typeface="Times"/>
              </a:rPr>
              <a:t>Keywords</a:t>
            </a:r>
            <a:endParaRPr sz="1800">
              <a:latin typeface="Times"/>
              <a:ea typeface="Times"/>
              <a:cs typeface="Times"/>
              <a:sym typeface="Times"/>
            </a:endParaRPr>
          </a:p>
          <a:p>
            <a:pPr indent="-342900" lvl="1" marL="914400" marR="25400" rtl="0" algn="just">
              <a:lnSpc>
                <a:spcPct val="115000"/>
              </a:lnSpc>
              <a:spcBef>
                <a:spcPts val="0"/>
              </a:spcBef>
              <a:spcAft>
                <a:spcPts val="0"/>
              </a:spcAft>
              <a:buSzPts val="1800"/>
              <a:buFont typeface="Times"/>
              <a:buChar char="○"/>
            </a:pPr>
            <a:r>
              <a:rPr lang="en-US" sz="1800">
                <a:latin typeface="Times"/>
                <a:ea typeface="Times"/>
                <a:cs typeface="Times"/>
                <a:sym typeface="Times"/>
              </a:rPr>
              <a:t>Identifiers</a:t>
            </a:r>
            <a:endParaRPr sz="1800">
              <a:latin typeface="Times"/>
              <a:ea typeface="Times"/>
              <a:cs typeface="Times"/>
              <a:sym typeface="Times"/>
            </a:endParaRPr>
          </a:p>
          <a:p>
            <a:pPr indent="-342900" lvl="1" marL="914400" marR="25400" rtl="0" algn="just">
              <a:lnSpc>
                <a:spcPct val="115000"/>
              </a:lnSpc>
              <a:spcBef>
                <a:spcPts val="0"/>
              </a:spcBef>
              <a:spcAft>
                <a:spcPts val="0"/>
              </a:spcAft>
              <a:buSzPts val="1800"/>
              <a:buFont typeface="Times"/>
              <a:buChar char="○"/>
            </a:pPr>
            <a:r>
              <a:rPr lang="en-US" sz="1800">
                <a:latin typeface="Times"/>
                <a:ea typeface="Times"/>
                <a:cs typeface="Times"/>
                <a:sym typeface="Times"/>
              </a:rPr>
              <a:t>Literals</a:t>
            </a:r>
            <a:endParaRPr sz="1800">
              <a:latin typeface="Times"/>
              <a:ea typeface="Times"/>
              <a:cs typeface="Times"/>
              <a:sym typeface="Times"/>
            </a:endParaRPr>
          </a:p>
          <a:p>
            <a:pPr indent="-342900" lvl="1" marL="914400" marR="25400" rtl="0" algn="just">
              <a:lnSpc>
                <a:spcPct val="115000"/>
              </a:lnSpc>
              <a:spcBef>
                <a:spcPts val="0"/>
              </a:spcBef>
              <a:spcAft>
                <a:spcPts val="0"/>
              </a:spcAft>
              <a:buSzPts val="1800"/>
              <a:buFont typeface="Times"/>
              <a:buChar char="○"/>
            </a:pPr>
            <a:r>
              <a:rPr lang="en-US" sz="1800">
                <a:latin typeface="Times"/>
                <a:ea typeface="Times"/>
                <a:cs typeface="Times"/>
                <a:sym typeface="Times"/>
              </a:rPr>
              <a:t>Operators</a:t>
            </a:r>
            <a:endParaRPr sz="1800">
              <a:latin typeface="Times"/>
              <a:ea typeface="Times"/>
              <a:cs typeface="Times"/>
              <a:sym typeface="Times"/>
            </a:endParaRPr>
          </a:p>
        </p:txBody>
      </p:sp>
      <p:sp>
        <p:nvSpPr>
          <p:cNvPr id="272" name="Google Shape;272;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 name="Shape 277"/>
        <p:cNvGrpSpPr/>
        <p:nvPr/>
      </p:nvGrpSpPr>
      <p:grpSpPr>
        <a:xfrm>
          <a:off x="0" y="0"/>
          <a:ext cx="0" cy="0"/>
          <a:chOff x="0" y="0"/>
          <a:chExt cx="0" cy="0"/>
        </a:xfrm>
      </p:grpSpPr>
      <p:sp>
        <p:nvSpPr>
          <p:cNvPr id="278" name="Google Shape;278;p37"/>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Keywords in Python</a:t>
            </a:r>
            <a:endParaRPr b="1" sz="3000">
              <a:solidFill>
                <a:srgbClr val="1C3678"/>
              </a:solidFill>
              <a:latin typeface="Trebuchet MS"/>
              <a:ea typeface="Trebuchet MS"/>
              <a:cs typeface="Trebuchet MS"/>
              <a:sym typeface="Trebuchet MS"/>
            </a:endParaRPr>
          </a:p>
        </p:txBody>
      </p:sp>
      <p:sp>
        <p:nvSpPr>
          <p:cNvPr id="279" name="Google Shape;279;p37"/>
          <p:cNvSpPr txBox="1"/>
          <p:nvPr/>
        </p:nvSpPr>
        <p:spPr>
          <a:xfrm>
            <a:off x="688425" y="793125"/>
            <a:ext cx="8107500" cy="1511700"/>
          </a:xfrm>
          <a:prstGeom prst="rect">
            <a:avLst/>
          </a:prstGeom>
          <a:noFill/>
          <a:ln>
            <a:noFill/>
          </a:ln>
        </p:spPr>
        <p:txBody>
          <a:bodyPr anchorCtr="0" anchor="t" bIns="0" lIns="0" spcFirstLastPara="1" rIns="0" wrap="square" tIns="125075">
            <a:spAutoFit/>
          </a:bodyPr>
          <a:lstStyle/>
          <a:p>
            <a:pPr indent="-342900" lvl="0" marL="457200" rtl="0" algn="just">
              <a:lnSpc>
                <a:spcPct val="100000"/>
              </a:lnSpc>
              <a:spcBef>
                <a:spcPts val="0"/>
              </a:spcBef>
              <a:spcAft>
                <a:spcPts val="0"/>
              </a:spcAft>
              <a:buSzPts val="1800"/>
              <a:buFont typeface="Times"/>
              <a:buChar char="●"/>
            </a:pPr>
            <a:r>
              <a:rPr lang="en-US" sz="1800">
                <a:latin typeface="Times"/>
                <a:ea typeface="Times"/>
                <a:cs typeface="Times"/>
                <a:sym typeface="Times"/>
              </a:rPr>
              <a:t>Keyword is a reserved word that has a specific meaning in the language and cannot be used as an identifier (such as a variable name, function name, or any other identifier).</a:t>
            </a:r>
            <a:endParaRPr sz="1800">
              <a:latin typeface="Times"/>
              <a:ea typeface="Times"/>
              <a:cs typeface="Times"/>
              <a:sym typeface="Times"/>
            </a:endParaRPr>
          </a:p>
          <a:p>
            <a:pPr indent="-342900" lvl="0" marL="457200" rtl="0" algn="just">
              <a:lnSpc>
                <a:spcPct val="100000"/>
              </a:lnSpc>
              <a:spcBef>
                <a:spcPts val="0"/>
              </a:spcBef>
              <a:spcAft>
                <a:spcPts val="0"/>
              </a:spcAft>
              <a:buSzPts val="1800"/>
              <a:buFont typeface="Times"/>
              <a:buChar char="●"/>
            </a:pPr>
            <a:r>
              <a:rPr lang="en-US" sz="1800">
                <a:latin typeface="Times"/>
                <a:ea typeface="Times"/>
                <a:cs typeface="Times"/>
                <a:sym typeface="Times"/>
              </a:rPr>
              <a:t>Keywords define the syntax and structure of Python programming and are used to represent core concepts like loops, conditionals, or data types.</a:t>
            </a:r>
            <a:endParaRPr sz="1800">
              <a:latin typeface="Times"/>
              <a:ea typeface="Times"/>
              <a:cs typeface="Times"/>
              <a:sym typeface="Times"/>
            </a:endParaRPr>
          </a:p>
        </p:txBody>
      </p:sp>
      <p:sp>
        <p:nvSpPr>
          <p:cNvPr id="280" name="Google Shape;280;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81" name="Google Shape;281;p37"/>
          <p:cNvGraphicFramePr/>
          <p:nvPr/>
        </p:nvGraphicFramePr>
        <p:xfrm>
          <a:off x="914925" y="2287050"/>
          <a:ext cx="3000000" cy="3000000"/>
        </p:xfrm>
        <a:graphic>
          <a:graphicData uri="http://schemas.openxmlformats.org/drawingml/2006/table">
            <a:tbl>
              <a:tblPr>
                <a:solidFill>
                  <a:srgbClr val="FFFFFF"/>
                </a:solidFill>
                <a:tableStyleId>{AA8DEC8E-D9F2-4F9D-87C7-2DA8E40E3EE3}</a:tableStyleId>
              </a:tblPr>
              <a:tblGrid>
                <a:gridCol w="1733675"/>
                <a:gridCol w="1367300"/>
                <a:gridCol w="1251100"/>
                <a:gridCol w="1787300"/>
                <a:gridCol w="1626425"/>
              </a:tblGrid>
              <a:tr h="323650">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True</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False</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None</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and</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as</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r>
              <a:tr h="323650">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asset</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def</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class</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continue</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break</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r>
              <a:tr h="323650">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else</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finally</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elif</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del</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except</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r>
              <a:tr h="323650">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global</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for</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if</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from</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import</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r>
              <a:tr h="323650">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raise</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try</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or</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return</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pass</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r>
              <a:tr h="323650">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nonlocal</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in</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not</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is</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c>
                  <a:txBody>
                    <a:bodyPr/>
                    <a:lstStyle/>
                    <a:p>
                      <a:pPr indent="0" lvl="0" marL="190500" rtl="0" algn="l">
                        <a:lnSpc>
                          <a:spcPct val="172500"/>
                        </a:lnSpc>
                        <a:spcBef>
                          <a:spcPts val="0"/>
                        </a:spcBef>
                        <a:spcAft>
                          <a:spcPts val="0"/>
                        </a:spcAft>
                        <a:buNone/>
                      </a:pPr>
                      <a:r>
                        <a:rPr b="1" lang="en-US" sz="1100">
                          <a:latin typeface="Tahoma"/>
                          <a:ea typeface="Tahoma"/>
                          <a:cs typeface="Tahoma"/>
                          <a:sym typeface="Tahoma"/>
                        </a:rPr>
                        <a:t>lambda</a:t>
                      </a:r>
                      <a:endParaRPr b="1" sz="1100">
                        <a:latin typeface="Tahoma"/>
                        <a:ea typeface="Tahoma"/>
                        <a:cs typeface="Tahoma"/>
                        <a:sym typeface="Tahoma"/>
                      </a:endParaRPr>
                    </a:p>
                  </a:txBody>
                  <a:tcPr marT="76200" marB="76200" marR="76200" marL="76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6" name="Shape 286"/>
        <p:cNvGrpSpPr/>
        <p:nvPr/>
      </p:nvGrpSpPr>
      <p:grpSpPr>
        <a:xfrm>
          <a:off x="0" y="0"/>
          <a:ext cx="0" cy="0"/>
          <a:chOff x="0" y="0"/>
          <a:chExt cx="0" cy="0"/>
        </a:xfrm>
      </p:grpSpPr>
      <p:sp>
        <p:nvSpPr>
          <p:cNvPr id="287" name="Google Shape;287;p38"/>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Keywords in Python</a:t>
            </a:r>
            <a:endParaRPr b="1" sz="3000">
              <a:solidFill>
                <a:srgbClr val="1C3678"/>
              </a:solidFill>
              <a:latin typeface="Trebuchet MS"/>
              <a:ea typeface="Trebuchet MS"/>
              <a:cs typeface="Trebuchet MS"/>
              <a:sym typeface="Trebuchet MS"/>
            </a:endParaRPr>
          </a:p>
        </p:txBody>
      </p:sp>
      <p:sp>
        <p:nvSpPr>
          <p:cNvPr id="288" name="Google Shape;288;p38"/>
          <p:cNvSpPr txBox="1"/>
          <p:nvPr/>
        </p:nvSpPr>
        <p:spPr>
          <a:xfrm>
            <a:off x="688425" y="2057400"/>
            <a:ext cx="8107500" cy="1773300"/>
          </a:xfrm>
          <a:prstGeom prst="rect">
            <a:avLst/>
          </a:prstGeom>
          <a:noFill/>
          <a:ln>
            <a:noFill/>
          </a:ln>
        </p:spPr>
        <p:txBody>
          <a:bodyPr anchorCtr="0" anchor="t" bIns="0" lIns="0" spcFirstLastPara="1" rIns="0" wrap="square" tIns="125075">
            <a:spAutoFit/>
          </a:bodyPr>
          <a:lstStyle/>
          <a:p>
            <a:pPr indent="0" lvl="0" marL="0" rtl="0" algn="l">
              <a:spcBef>
                <a:spcPts val="0"/>
              </a:spcBef>
              <a:spcAft>
                <a:spcPts val="0"/>
              </a:spcAft>
              <a:buNone/>
            </a:pPr>
            <a:r>
              <a:rPr i="1" lang="en-US" sz="1800">
                <a:latin typeface="Times"/>
                <a:ea typeface="Times"/>
                <a:cs typeface="Times"/>
                <a:sym typeface="Times"/>
              </a:rPr>
              <a:t>"""</a:t>
            </a:r>
            <a:endParaRPr i="1" sz="1800">
              <a:latin typeface="Times"/>
              <a:ea typeface="Times"/>
              <a:cs typeface="Times"/>
              <a:sym typeface="Times"/>
            </a:endParaRPr>
          </a:p>
          <a:p>
            <a:pPr indent="0" lvl="0" marL="0" rtl="0" algn="l">
              <a:spcBef>
                <a:spcPts val="0"/>
              </a:spcBef>
              <a:spcAft>
                <a:spcPts val="0"/>
              </a:spcAft>
              <a:buNone/>
            </a:pPr>
            <a:r>
              <a:rPr i="1" lang="en-US" sz="1800">
                <a:latin typeface="Times"/>
                <a:ea typeface="Times"/>
                <a:cs typeface="Times"/>
                <a:sym typeface="Times"/>
              </a:rPr>
              <a:t>['False', 'None', 'True', 'and', 'as', 'assert', 'async', 'await', 'break', 'class', 'continue', 'def', 'del', 'elif', 'else', 'except', 'finally', 'for', 'from', 'global', 'if', 'import', 'in', 'is', 'lambda', 'nonlocal', 'not', 'or', 'pass', 'raise', 'return', 'try', 'while', 'with', 'yield']</a:t>
            </a:r>
            <a:endParaRPr i="1" sz="1800">
              <a:latin typeface="Times"/>
              <a:ea typeface="Times"/>
              <a:cs typeface="Times"/>
              <a:sym typeface="Times"/>
            </a:endParaRPr>
          </a:p>
          <a:p>
            <a:pPr indent="0" lvl="0" marL="0" rtl="0" algn="l">
              <a:spcBef>
                <a:spcPts val="0"/>
              </a:spcBef>
              <a:spcAft>
                <a:spcPts val="0"/>
              </a:spcAft>
              <a:buNone/>
            </a:pPr>
            <a:r>
              <a:rPr i="1" lang="en-US" sz="1800">
                <a:latin typeface="Times"/>
                <a:ea typeface="Times"/>
                <a:cs typeface="Times"/>
                <a:sym typeface="Times"/>
              </a:rPr>
              <a:t>"""</a:t>
            </a:r>
            <a:endParaRPr i="1" sz="1800">
              <a:latin typeface="Times"/>
              <a:ea typeface="Times"/>
              <a:cs typeface="Times"/>
              <a:sym typeface="Times"/>
            </a:endParaRPr>
          </a:p>
          <a:p>
            <a:pPr indent="0" lvl="0" marL="457200" rtl="0" algn="just">
              <a:spcBef>
                <a:spcPts val="0"/>
              </a:spcBef>
              <a:spcAft>
                <a:spcPts val="0"/>
              </a:spcAft>
              <a:buNone/>
            </a:pPr>
            <a:r>
              <a:t/>
            </a:r>
            <a:endParaRPr sz="1700">
              <a:latin typeface="Tahoma"/>
              <a:ea typeface="Tahoma"/>
              <a:cs typeface="Tahoma"/>
              <a:sym typeface="Tahoma"/>
            </a:endParaRPr>
          </a:p>
        </p:txBody>
      </p:sp>
      <p:sp>
        <p:nvSpPr>
          <p:cNvPr id="289" name="Google Shape;289;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290" name="Google Shape;290;p38"/>
          <p:cNvSpPr/>
          <p:nvPr/>
        </p:nvSpPr>
        <p:spPr>
          <a:xfrm>
            <a:off x="688425" y="873325"/>
            <a:ext cx="5849700" cy="9876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US" sz="1800">
                <a:latin typeface="Times"/>
                <a:ea typeface="Times"/>
                <a:cs typeface="Times"/>
                <a:sym typeface="Times"/>
              </a:rPr>
              <a:t>import keyword</a:t>
            </a:r>
            <a:endParaRPr i="1" sz="1800">
              <a:latin typeface="Times"/>
              <a:ea typeface="Times"/>
              <a:cs typeface="Times"/>
              <a:sym typeface="Times"/>
            </a:endParaRPr>
          </a:p>
          <a:p>
            <a:pPr indent="0" lvl="0" marL="0" rtl="0" algn="l">
              <a:spcBef>
                <a:spcPts val="0"/>
              </a:spcBef>
              <a:spcAft>
                <a:spcPts val="0"/>
              </a:spcAft>
              <a:buNone/>
            </a:pPr>
            <a:r>
              <a:rPr i="1" lang="en-US" sz="1800">
                <a:latin typeface="Times"/>
                <a:ea typeface="Times"/>
                <a:cs typeface="Times"/>
                <a:sym typeface="Times"/>
              </a:rPr>
              <a:t>print(keyword.kwlist)</a:t>
            </a:r>
            <a:endParaRPr i="1" sz="1800">
              <a:latin typeface="Times"/>
              <a:ea typeface="Times"/>
              <a:cs typeface="Times"/>
              <a:sym typeface="Time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5" name="Shape 295"/>
        <p:cNvGrpSpPr/>
        <p:nvPr/>
      </p:nvGrpSpPr>
      <p:grpSpPr>
        <a:xfrm>
          <a:off x="0" y="0"/>
          <a:ext cx="0" cy="0"/>
          <a:chOff x="0" y="0"/>
          <a:chExt cx="0" cy="0"/>
        </a:xfrm>
      </p:grpSpPr>
      <p:sp>
        <p:nvSpPr>
          <p:cNvPr id="296" name="Google Shape;296;p39"/>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Identifier in </a:t>
            </a:r>
            <a:r>
              <a:rPr b="1" lang="en-US" sz="3000">
                <a:solidFill>
                  <a:srgbClr val="1C3678"/>
                </a:solidFill>
                <a:latin typeface="Trebuchet MS"/>
                <a:ea typeface="Trebuchet MS"/>
                <a:cs typeface="Trebuchet MS"/>
                <a:sym typeface="Trebuchet MS"/>
              </a:rPr>
              <a:t>Python</a:t>
            </a:r>
            <a:endParaRPr b="1" sz="3000">
              <a:solidFill>
                <a:srgbClr val="1C3678"/>
              </a:solidFill>
              <a:latin typeface="Trebuchet MS"/>
              <a:ea typeface="Trebuchet MS"/>
              <a:cs typeface="Trebuchet MS"/>
              <a:sym typeface="Trebuchet MS"/>
            </a:endParaRPr>
          </a:p>
        </p:txBody>
      </p:sp>
      <p:sp>
        <p:nvSpPr>
          <p:cNvPr id="297" name="Google Shape;297;p39"/>
          <p:cNvSpPr txBox="1"/>
          <p:nvPr/>
        </p:nvSpPr>
        <p:spPr>
          <a:xfrm>
            <a:off x="688425" y="793125"/>
            <a:ext cx="8107500" cy="16779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An identifier is a name used to identify a variable, function, class, module, or other object. </a:t>
            </a:r>
            <a:endParaRPr sz="1800">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Identifiers are important in Python because they allow you to label data and functions in your code so that they can be referenced and used later.</a:t>
            </a:r>
            <a:endParaRPr sz="1800">
              <a:latin typeface="Times"/>
              <a:ea typeface="Times"/>
              <a:cs typeface="Times"/>
              <a:sym typeface="Times"/>
            </a:endParaRPr>
          </a:p>
          <a:p>
            <a:pPr indent="0" lvl="0" marL="457200" rtl="0" algn="just">
              <a:lnSpc>
                <a:spcPct val="115000"/>
              </a:lnSpc>
              <a:spcBef>
                <a:spcPts val="0"/>
              </a:spcBef>
              <a:spcAft>
                <a:spcPts val="0"/>
              </a:spcAft>
              <a:buNone/>
            </a:pPr>
            <a:r>
              <a:t/>
            </a:r>
            <a:endParaRPr sz="1800">
              <a:latin typeface="Times"/>
              <a:ea typeface="Times"/>
              <a:cs typeface="Times"/>
              <a:sym typeface="Times"/>
            </a:endParaRPr>
          </a:p>
        </p:txBody>
      </p:sp>
      <p:sp>
        <p:nvSpPr>
          <p:cNvPr id="298" name="Google Shape;298;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3" name="Shape 303"/>
        <p:cNvGrpSpPr/>
        <p:nvPr/>
      </p:nvGrpSpPr>
      <p:grpSpPr>
        <a:xfrm>
          <a:off x="0" y="0"/>
          <a:ext cx="0" cy="0"/>
          <a:chOff x="0" y="0"/>
          <a:chExt cx="0" cy="0"/>
        </a:xfrm>
      </p:grpSpPr>
      <p:sp>
        <p:nvSpPr>
          <p:cNvPr id="304" name="Google Shape;304;p40"/>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Variables</a:t>
            </a:r>
            <a:r>
              <a:rPr b="1" lang="en-US" sz="3000">
                <a:solidFill>
                  <a:srgbClr val="1C3678"/>
                </a:solidFill>
                <a:latin typeface="Trebuchet MS"/>
                <a:ea typeface="Trebuchet MS"/>
                <a:cs typeface="Trebuchet MS"/>
                <a:sym typeface="Trebuchet MS"/>
              </a:rPr>
              <a:t> in Python</a:t>
            </a:r>
            <a:endParaRPr b="1" sz="3000">
              <a:solidFill>
                <a:srgbClr val="1C3678"/>
              </a:solidFill>
              <a:latin typeface="Trebuchet MS"/>
              <a:ea typeface="Trebuchet MS"/>
              <a:cs typeface="Trebuchet MS"/>
              <a:sym typeface="Trebuchet MS"/>
            </a:endParaRPr>
          </a:p>
        </p:txBody>
      </p:sp>
      <p:sp>
        <p:nvSpPr>
          <p:cNvPr id="305" name="Google Shape;305;p40"/>
          <p:cNvSpPr txBox="1"/>
          <p:nvPr/>
        </p:nvSpPr>
        <p:spPr>
          <a:xfrm>
            <a:off x="688425" y="793125"/>
            <a:ext cx="8107500" cy="4227000"/>
          </a:xfrm>
          <a:prstGeom prst="rect">
            <a:avLst/>
          </a:prstGeom>
          <a:noFill/>
          <a:ln>
            <a:noFill/>
          </a:ln>
        </p:spPr>
        <p:txBody>
          <a:bodyPr anchorCtr="0" anchor="t" bIns="0" lIns="0" spcFirstLastPara="1" rIns="0" wrap="square" tIns="125075">
            <a:spAutoFit/>
          </a:bodyPr>
          <a:lstStyle/>
          <a:p>
            <a:pPr indent="0" lvl="0" marL="0" rtl="0" algn="just">
              <a:lnSpc>
                <a:spcPct val="115000"/>
              </a:lnSpc>
              <a:spcBef>
                <a:spcPts val="0"/>
              </a:spcBef>
              <a:spcAft>
                <a:spcPts val="0"/>
              </a:spcAft>
              <a:buNone/>
            </a:pPr>
            <a:r>
              <a:rPr lang="en-US" sz="1800">
                <a:latin typeface="Times"/>
                <a:ea typeface="Times"/>
                <a:cs typeface="Times"/>
                <a:sym typeface="Times"/>
              </a:rPr>
              <a:t>Rules for Naming variables:</a:t>
            </a:r>
            <a:endParaRPr sz="1800">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Allowed Characters: variables can consist of letters (a-z, A-Z), digits (0-9), and underscores (_). They must start with a letter or an underscore.</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Valid examples: my_variable, ClassName, _private_var, var2</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Invalid examples: 2ndVar (cannot start with a digit), my-var (hyphens are not allowed)</a:t>
            </a:r>
            <a:endParaRPr sz="1800">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Case Sensitivity: Identifiers are case-sensitive, meaning myVar and myvar are considered different identifiers.</a:t>
            </a:r>
            <a:endParaRPr sz="1800">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Cannot Use Keywords: Python keywords (like if, for, while, class, etc.) cannot be used as identifiers, as they are reserved for specific syntax in the language.</a:t>
            </a:r>
            <a:endParaRPr sz="1800">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No Special Characters: Special characters like !, @, #, $, etc., are not allowed in identifiers.</a:t>
            </a:r>
            <a:endParaRPr sz="1800">
              <a:latin typeface="Times"/>
              <a:ea typeface="Times"/>
              <a:cs typeface="Times"/>
              <a:sym typeface="Times"/>
            </a:endParaRPr>
          </a:p>
          <a:p>
            <a:pPr indent="0" lvl="0" marL="0" rtl="0" algn="just">
              <a:lnSpc>
                <a:spcPct val="115000"/>
              </a:lnSpc>
              <a:spcBef>
                <a:spcPts val="0"/>
              </a:spcBef>
              <a:spcAft>
                <a:spcPts val="0"/>
              </a:spcAft>
              <a:buNone/>
            </a:pPr>
            <a:r>
              <a:t/>
            </a:r>
            <a:endParaRPr sz="1800">
              <a:latin typeface="Times"/>
              <a:ea typeface="Times"/>
              <a:cs typeface="Times"/>
              <a:sym typeface="Times"/>
            </a:endParaRPr>
          </a:p>
        </p:txBody>
      </p:sp>
      <p:sp>
        <p:nvSpPr>
          <p:cNvPr id="306" name="Google Shape;306;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1" name="Shape 311"/>
        <p:cNvGrpSpPr/>
        <p:nvPr/>
      </p:nvGrpSpPr>
      <p:grpSpPr>
        <a:xfrm>
          <a:off x="0" y="0"/>
          <a:ext cx="0" cy="0"/>
          <a:chOff x="0" y="0"/>
          <a:chExt cx="0" cy="0"/>
        </a:xfrm>
      </p:grpSpPr>
      <p:sp>
        <p:nvSpPr>
          <p:cNvPr id="312" name="Google Shape;312;p41"/>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Variables in </a:t>
            </a:r>
            <a:r>
              <a:rPr b="1" lang="en-US" sz="3000">
                <a:solidFill>
                  <a:srgbClr val="1C3678"/>
                </a:solidFill>
                <a:latin typeface="Trebuchet MS"/>
                <a:ea typeface="Trebuchet MS"/>
                <a:cs typeface="Trebuchet MS"/>
                <a:sym typeface="Trebuchet MS"/>
              </a:rPr>
              <a:t>Python</a:t>
            </a:r>
            <a:endParaRPr b="1" sz="3000">
              <a:solidFill>
                <a:srgbClr val="1C3678"/>
              </a:solidFill>
              <a:latin typeface="Trebuchet MS"/>
              <a:ea typeface="Trebuchet MS"/>
              <a:cs typeface="Trebuchet MS"/>
              <a:sym typeface="Trebuchet MS"/>
            </a:endParaRPr>
          </a:p>
        </p:txBody>
      </p:sp>
      <p:sp>
        <p:nvSpPr>
          <p:cNvPr id="313" name="Google Shape;313;p41"/>
          <p:cNvSpPr txBox="1"/>
          <p:nvPr/>
        </p:nvSpPr>
        <p:spPr>
          <a:xfrm>
            <a:off x="688425" y="793125"/>
            <a:ext cx="8107500" cy="3871800"/>
          </a:xfrm>
          <a:prstGeom prst="rect">
            <a:avLst/>
          </a:prstGeom>
          <a:noFill/>
          <a:ln>
            <a:noFill/>
          </a:ln>
        </p:spPr>
        <p:txBody>
          <a:bodyPr anchorCtr="0" anchor="t" bIns="0" lIns="0" spcFirstLastPara="1" rIns="0" wrap="square" tIns="125075">
            <a:spAutoFit/>
          </a:bodyPr>
          <a:lstStyle/>
          <a:p>
            <a:pPr indent="0" lvl="0" marL="0" rtl="0" algn="just">
              <a:lnSpc>
                <a:spcPct val="115000"/>
              </a:lnSpc>
              <a:spcBef>
                <a:spcPts val="1400"/>
              </a:spcBef>
              <a:spcAft>
                <a:spcPts val="0"/>
              </a:spcAft>
              <a:buNone/>
            </a:pPr>
            <a:r>
              <a:rPr b="1" lang="en-US" sz="1800">
                <a:latin typeface="Times"/>
                <a:ea typeface="Times"/>
                <a:cs typeface="Times"/>
                <a:sym typeface="Times"/>
              </a:rPr>
              <a:t>Local Variable</a:t>
            </a:r>
            <a:endParaRPr b="1" sz="1800">
              <a:latin typeface="Times"/>
              <a:ea typeface="Times"/>
              <a:cs typeface="Times"/>
              <a:sym typeface="Times"/>
            </a:endParaRPr>
          </a:p>
          <a:p>
            <a:pPr indent="-342900" lvl="0" marL="457200" rtl="0" algn="just">
              <a:lnSpc>
                <a:spcPct val="115000"/>
              </a:lnSpc>
              <a:spcBef>
                <a:spcPts val="400"/>
              </a:spcBef>
              <a:spcAft>
                <a:spcPts val="0"/>
              </a:spcAft>
              <a:buClr>
                <a:srgbClr val="000000"/>
              </a:buClr>
              <a:buSzPts val="1800"/>
              <a:buFont typeface="Times"/>
              <a:buChar char="➢"/>
            </a:pPr>
            <a:r>
              <a:rPr lang="en-US" sz="1800">
                <a:latin typeface="Times"/>
                <a:ea typeface="Times"/>
                <a:cs typeface="Times"/>
                <a:sym typeface="Times"/>
              </a:rPr>
              <a:t>Local variables are the variables that declared inside the function and have scope within the function.</a:t>
            </a:r>
            <a:endParaRPr sz="1800">
              <a:latin typeface="Times"/>
              <a:ea typeface="Times"/>
              <a:cs typeface="Times"/>
              <a:sym typeface="Times"/>
            </a:endParaRPr>
          </a:p>
          <a:p>
            <a:pPr indent="0" lvl="0" marL="0" rtl="0" algn="just">
              <a:lnSpc>
                <a:spcPct val="115000"/>
              </a:lnSpc>
              <a:spcBef>
                <a:spcPts val="1400"/>
              </a:spcBef>
              <a:spcAft>
                <a:spcPts val="0"/>
              </a:spcAft>
              <a:buNone/>
            </a:pPr>
            <a:r>
              <a:rPr b="1" lang="en-US" sz="1800">
                <a:latin typeface="Times"/>
                <a:ea typeface="Times"/>
                <a:cs typeface="Times"/>
                <a:sym typeface="Times"/>
              </a:rPr>
              <a:t>Global Variables</a:t>
            </a:r>
            <a:endParaRPr b="1" sz="1800">
              <a:latin typeface="Times"/>
              <a:ea typeface="Times"/>
              <a:cs typeface="Times"/>
              <a:sym typeface="Times"/>
            </a:endParaRPr>
          </a:p>
          <a:p>
            <a:pPr indent="-342900" lvl="0" marL="457200" rtl="0" algn="just">
              <a:lnSpc>
                <a:spcPct val="115000"/>
              </a:lnSpc>
              <a:spcBef>
                <a:spcPts val="400"/>
              </a:spcBef>
              <a:spcAft>
                <a:spcPts val="0"/>
              </a:spcAft>
              <a:buClr>
                <a:srgbClr val="000000"/>
              </a:buClr>
              <a:buSzPts val="1800"/>
              <a:buFont typeface="Times"/>
              <a:buChar char="➢"/>
            </a:pPr>
            <a:r>
              <a:rPr lang="en-US" sz="1800">
                <a:latin typeface="Times"/>
                <a:ea typeface="Times"/>
                <a:cs typeface="Times"/>
                <a:sym typeface="Times"/>
              </a:rPr>
              <a:t>Global variables can be used throughout the program, and its scope is in the entire program. </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We can use global variables inside or outside the function</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A variable declared outside the function is the global variable by default. </a:t>
            </a:r>
            <a:endParaRPr sz="1800">
              <a:latin typeface="Times"/>
              <a:ea typeface="Times"/>
              <a:cs typeface="Times"/>
              <a:sym typeface="Times"/>
            </a:endParaRPr>
          </a:p>
          <a:p>
            <a:pPr indent="-342900" lvl="0" marL="457200" rtl="0" algn="just">
              <a:lnSpc>
                <a:spcPct val="115000"/>
              </a:lnSpc>
              <a:spcBef>
                <a:spcPts val="0"/>
              </a:spcBef>
              <a:spcAft>
                <a:spcPts val="0"/>
              </a:spcAft>
              <a:buClr>
                <a:srgbClr val="000000"/>
              </a:buClr>
              <a:buSzPts val="1800"/>
              <a:buFont typeface="Verdana"/>
              <a:buChar char="➢"/>
            </a:pPr>
            <a:r>
              <a:rPr lang="en-US" sz="1800">
                <a:latin typeface="Times"/>
                <a:ea typeface="Times"/>
                <a:cs typeface="Times"/>
                <a:sym typeface="Times"/>
              </a:rPr>
              <a:t>Python provides the </a:t>
            </a:r>
            <a:r>
              <a:rPr b="1" lang="en-US" sz="1800">
                <a:latin typeface="Times"/>
                <a:ea typeface="Times"/>
                <a:cs typeface="Times"/>
                <a:sym typeface="Times"/>
              </a:rPr>
              <a:t>global</a:t>
            </a:r>
            <a:r>
              <a:rPr lang="en-US" sz="1800">
                <a:latin typeface="Times"/>
                <a:ea typeface="Times"/>
                <a:cs typeface="Times"/>
                <a:sym typeface="Times"/>
              </a:rPr>
              <a:t> keyword to use global variable inside the function.</a:t>
            </a:r>
            <a:endParaRPr sz="1800">
              <a:latin typeface="Times"/>
              <a:ea typeface="Times"/>
              <a:cs typeface="Times"/>
              <a:sym typeface="Times"/>
            </a:endParaRPr>
          </a:p>
          <a:p>
            <a:pPr indent="0" lvl="0" marL="0" rtl="0" algn="just">
              <a:lnSpc>
                <a:spcPct val="115000"/>
              </a:lnSpc>
              <a:spcBef>
                <a:spcPts val="0"/>
              </a:spcBef>
              <a:spcAft>
                <a:spcPts val="0"/>
              </a:spcAft>
              <a:buNone/>
            </a:pPr>
            <a:r>
              <a:rPr lang="en-US" sz="1800">
                <a:latin typeface="Times"/>
                <a:ea typeface="Times"/>
                <a:cs typeface="Times"/>
                <a:sym typeface="Times"/>
              </a:rPr>
              <a:t>	</a:t>
            </a:r>
            <a:r>
              <a:rPr lang="en-US" sz="1800">
                <a:solidFill>
                  <a:srgbClr val="424242"/>
                </a:solidFill>
                <a:latin typeface="Times"/>
                <a:ea typeface="Times"/>
                <a:cs typeface="Times"/>
                <a:sym typeface="Times"/>
              </a:rPr>
              <a:t>global global_variable</a:t>
            </a:r>
            <a:endParaRPr sz="1800">
              <a:solidFill>
                <a:srgbClr val="424242"/>
              </a:solidFill>
              <a:latin typeface="Times"/>
              <a:ea typeface="Times"/>
              <a:cs typeface="Times"/>
              <a:sym typeface="Times"/>
            </a:endParaRPr>
          </a:p>
          <a:p>
            <a:pPr indent="0" lvl="0" marL="0" rtl="0" algn="just">
              <a:lnSpc>
                <a:spcPct val="115000"/>
              </a:lnSpc>
              <a:spcBef>
                <a:spcPts val="0"/>
              </a:spcBef>
              <a:spcAft>
                <a:spcPts val="0"/>
              </a:spcAft>
              <a:buNone/>
            </a:pPr>
            <a:r>
              <a:t/>
            </a:r>
            <a:endParaRPr sz="1800">
              <a:latin typeface="Times"/>
              <a:ea typeface="Times"/>
              <a:cs typeface="Times"/>
              <a:sym typeface="Times"/>
            </a:endParaRPr>
          </a:p>
        </p:txBody>
      </p:sp>
      <p:sp>
        <p:nvSpPr>
          <p:cNvPr id="314" name="Google Shape;314;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9" name="Shape 319"/>
        <p:cNvGrpSpPr/>
        <p:nvPr/>
      </p:nvGrpSpPr>
      <p:grpSpPr>
        <a:xfrm>
          <a:off x="0" y="0"/>
          <a:ext cx="0" cy="0"/>
          <a:chOff x="0" y="0"/>
          <a:chExt cx="0" cy="0"/>
        </a:xfrm>
      </p:grpSpPr>
      <p:sp>
        <p:nvSpPr>
          <p:cNvPr id="320" name="Google Shape;320;p42"/>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Variables</a:t>
            </a:r>
            <a:r>
              <a:rPr b="1" lang="en-US" sz="3000">
                <a:solidFill>
                  <a:srgbClr val="1C3678"/>
                </a:solidFill>
                <a:latin typeface="Trebuchet MS"/>
                <a:ea typeface="Trebuchet MS"/>
                <a:cs typeface="Trebuchet MS"/>
                <a:sym typeface="Trebuchet MS"/>
              </a:rPr>
              <a:t> in Python</a:t>
            </a:r>
            <a:endParaRPr b="1" sz="3000">
              <a:solidFill>
                <a:srgbClr val="1C3678"/>
              </a:solidFill>
              <a:latin typeface="Trebuchet MS"/>
              <a:ea typeface="Trebuchet MS"/>
              <a:cs typeface="Trebuchet MS"/>
              <a:sym typeface="Trebuchet MS"/>
            </a:endParaRPr>
          </a:p>
        </p:txBody>
      </p:sp>
      <p:sp>
        <p:nvSpPr>
          <p:cNvPr id="321" name="Google Shape;321;p42"/>
          <p:cNvSpPr txBox="1"/>
          <p:nvPr/>
        </p:nvSpPr>
        <p:spPr>
          <a:xfrm>
            <a:off x="688425" y="793125"/>
            <a:ext cx="8107500" cy="19965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Variable is a name that is used to refer to memory location. Python variable is also known as an identifier and used to hold value.</a:t>
            </a:r>
            <a:endParaRPr sz="1800">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Examples:</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i="1" lang="en-US" sz="1800">
                <a:latin typeface="Times"/>
                <a:ea typeface="Times"/>
                <a:cs typeface="Times"/>
                <a:sym typeface="Times"/>
              </a:rPr>
              <a:t>x = 10 # x is an integer </a:t>
            </a:r>
            <a:endParaRPr i="1"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i="1" lang="en-US" sz="1800">
                <a:latin typeface="Times"/>
                <a:ea typeface="Times"/>
                <a:cs typeface="Times"/>
                <a:sym typeface="Times"/>
              </a:rPr>
              <a:t>z = 10.0 # z is an float </a:t>
            </a:r>
            <a:endParaRPr i="1"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i="1" lang="en-US" sz="1800">
                <a:latin typeface="Times"/>
                <a:ea typeface="Times"/>
                <a:cs typeface="Times"/>
                <a:sym typeface="Times"/>
              </a:rPr>
              <a:t>y = "Hello" # y is a string</a:t>
            </a:r>
            <a:endParaRPr i="1" sz="1800">
              <a:latin typeface="Times"/>
              <a:ea typeface="Times"/>
              <a:cs typeface="Times"/>
              <a:sym typeface="Times"/>
            </a:endParaRPr>
          </a:p>
        </p:txBody>
      </p:sp>
      <p:sp>
        <p:nvSpPr>
          <p:cNvPr id="322" name="Google Shape;322;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7" name="Shape 327"/>
        <p:cNvGrpSpPr/>
        <p:nvPr/>
      </p:nvGrpSpPr>
      <p:grpSpPr>
        <a:xfrm>
          <a:off x="0" y="0"/>
          <a:ext cx="0" cy="0"/>
          <a:chOff x="0" y="0"/>
          <a:chExt cx="0" cy="0"/>
        </a:xfrm>
      </p:grpSpPr>
      <p:sp>
        <p:nvSpPr>
          <p:cNvPr id="328" name="Google Shape;328;p43"/>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Casing in </a:t>
            </a:r>
            <a:r>
              <a:rPr b="1" lang="en-US" sz="3000">
                <a:solidFill>
                  <a:srgbClr val="1C3678"/>
                </a:solidFill>
                <a:latin typeface="Trebuchet MS"/>
                <a:ea typeface="Trebuchet MS"/>
                <a:cs typeface="Trebuchet MS"/>
                <a:sym typeface="Trebuchet MS"/>
              </a:rPr>
              <a:t>Python</a:t>
            </a:r>
            <a:endParaRPr b="1" sz="3000">
              <a:solidFill>
                <a:srgbClr val="1C3678"/>
              </a:solidFill>
              <a:latin typeface="Trebuchet MS"/>
              <a:ea typeface="Trebuchet MS"/>
              <a:cs typeface="Trebuchet MS"/>
              <a:sym typeface="Trebuchet MS"/>
            </a:endParaRPr>
          </a:p>
        </p:txBody>
      </p:sp>
      <p:sp>
        <p:nvSpPr>
          <p:cNvPr id="329" name="Google Shape;329;p43"/>
          <p:cNvSpPr txBox="1"/>
          <p:nvPr/>
        </p:nvSpPr>
        <p:spPr>
          <a:xfrm>
            <a:off x="688425" y="793125"/>
            <a:ext cx="8107500" cy="3285900"/>
          </a:xfrm>
          <a:prstGeom prst="rect">
            <a:avLst/>
          </a:prstGeom>
          <a:noFill/>
          <a:ln>
            <a:noFill/>
          </a:ln>
        </p:spPr>
        <p:txBody>
          <a:bodyPr anchorCtr="0" anchor="t" bIns="0" lIns="0" spcFirstLastPara="1" rIns="0" wrap="square" tIns="125075">
            <a:spAutoFit/>
          </a:bodyPr>
          <a:lstStyle/>
          <a:p>
            <a:pPr indent="0" lvl="0" marL="0" rtl="0" algn="just">
              <a:lnSpc>
                <a:spcPct val="115000"/>
              </a:lnSpc>
              <a:spcBef>
                <a:spcPts val="0"/>
              </a:spcBef>
              <a:spcAft>
                <a:spcPts val="0"/>
              </a:spcAft>
              <a:buNone/>
            </a:pPr>
            <a:r>
              <a:rPr lang="en-US" sz="1800">
                <a:latin typeface="Times"/>
                <a:ea typeface="Times"/>
                <a:cs typeface="Times"/>
                <a:sym typeface="Times"/>
              </a:rPr>
              <a:t>The multi-word keywords can be created by the following method.</a:t>
            </a:r>
            <a:endParaRPr sz="1800">
              <a:latin typeface="Times"/>
              <a:ea typeface="Times"/>
              <a:cs typeface="Times"/>
              <a:sym typeface="Times"/>
            </a:endParaRPr>
          </a:p>
          <a:p>
            <a:pPr indent="-342900" lvl="0" marL="457200" marR="25400" rtl="0" algn="just">
              <a:lnSpc>
                <a:spcPct val="115000"/>
              </a:lnSpc>
              <a:spcBef>
                <a:spcPts val="1300"/>
              </a:spcBef>
              <a:spcAft>
                <a:spcPts val="0"/>
              </a:spcAft>
              <a:buSzPts val="1800"/>
              <a:buFont typeface="Verdana"/>
              <a:buChar char="➢"/>
            </a:pPr>
            <a:r>
              <a:rPr b="1" lang="en-US" sz="1800">
                <a:latin typeface="Times"/>
                <a:ea typeface="Times"/>
                <a:cs typeface="Times"/>
                <a:sym typeface="Times"/>
              </a:rPr>
              <a:t>Camel Case -</a:t>
            </a:r>
            <a:r>
              <a:rPr lang="en-US" sz="1800">
                <a:latin typeface="Times"/>
                <a:ea typeface="Times"/>
                <a:cs typeface="Times"/>
                <a:sym typeface="Times"/>
              </a:rPr>
              <a:t> In the camel case, each word or abbreviation in the middle of begins with a capital letter. There is no intervention of whitespace. For example - nameOfStudent, valueOfVaraible, etc.</a:t>
            </a:r>
            <a:endParaRPr sz="1800">
              <a:latin typeface="Times"/>
              <a:ea typeface="Times"/>
              <a:cs typeface="Times"/>
              <a:sym typeface="Times"/>
            </a:endParaRPr>
          </a:p>
          <a:p>
            <a:pPr indent="-342900" lvl="0" marL="457200" marR="25400" rtl="0" algn="just">
              <a:lnSpc>
                <a:spcPct val="115000"/>
              </a:lnSpc>
              <a:spcBef>
                <a:spcPts val="0"/>
              </a:spcBef>
              <a:spcAft>
                <a:spcPts val="0"/>
              </a:spcAft>
              <a:buSzPts val="1800"/>
              <a:buFont typeface="Verdana"/>
              <a:buChar char="➢"/>
            </a:pPr>
            <a:r>
              <a:rPr b="1" lang="en-US" sz="1800">
                <a:latin typeface="Times"/>
                <a:ea typeface="Times"/>
                <a:cs typeface="Times"/>
                <a:sym typeface="Times"/>
              </a:rPr>
              <a:t>Pascal Case -</a:t>
            </a:r>
            <a:r>
              <a:rPr lang="en-US" sz="1800">
                <a:latin typeface="Times"/>
                <a:ea typeface="Times"/>
                <a:cs typeface="Times"/>
                <a:sym typeface="Times"/>
              </a:rPr>
              <a:t> It is the same as the Camel Case, but here the first word is also capital. For example - NameOfStudent, etc.</a:t>
            </a:r>
            <a:endParaRPr sz="1800">
              <a:latin typeface="Times"/>
              <a:ea typeface="Times"/>
              <a:cs typeface="Times"/>
              <a:sym typeface="Times"/>
            </a:endParaRPr>
          </a:p>
          <a:p>
            <a:pPr indent="-342900" lvl="0" marL="457200" marR="25400" rtl="0" algn="just">
              <a:lnSpc>
                <a:spcPct val="115000"/>
              </a:lnSpc>
              <a:spcBef>
                <a:spcPts val="0"/>
              </a:spcBef>
              <a:spcAft>
                <a:spcPts val="0"/>
              </a:spcAft>
              <a:buSzPts val="1800"/>
              <a:buFont typeface="Verdana"/>
              <a:buChar char="➢"/>
            </a:pPr>
            <a:r>
              <a:rPr b="1" lang="en-US" sz="1800">
                <a:latin typeface="Times"/>
                <a:ea typeface="Times"/>
                <a:cs typeface="Times"/>
                <a:sym typeface="Times"/>
              </a:rPr>
              <a:t>Snake Case -</a:t>
            </a:r>
            <a:r>
              <a:rPr lang="en-US" sz="1800">
                <a:latin typeface="Times"/>
                <a:ea typeface="Times"/>
                <a:cs typeface="Times"/>
                <a:sym typeface="Times"/>
              </a:rPr>
              <a:t> In the snake case, Words are separated by the underscore. For example - name_of_student, etc.</a:t>
            </a:r>
            <a:endParaRPr sz="1800">
              <a:latin typeface="Times"/>
              <a:ea typeface="Times"/>
              <a:cs typeface="Times"/>
              <a:sym typeface="Times"/>
            </a:endParaRPr>
          </a:p>
          <a:p>
            <a:pPr indent="0" lvl="0" marL="457200" marR="25400" rtl="0" algn="just">
              <a:lnSpc>
                <a:spcPct val="115000"/>
              </a:lnSpc>
              <a:spcBef>
                <a:spcPts val="1300"/>
              </a:spcBef>
              <a:spcAft>
                <a:spcPts val="1000"/>
              </a:spcAft>
              <a:buNone/>
            </a:pPr>
            <a:r>
              <a:t/>
            </a:r>
            <a:endParaRPr sz="1800">
              <a:latin typeface="Times"/>
              <a:ea typeface="Times"/>
              <a:cs typeface="Times"/>
              <a:sym typeface="Times"/>
            </a:endParaRPr>
          </a:p>
        </p:txBody>
      </p:sp>
      <p:sp>
        <p:nvSpPr>
          <p:cNvPr id="330" name="Google Shape;330;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5" name="Shape 335"/>
        <p:cNvGrpSpPr/>
        <p:nvPr/>
      </p:nvGrpSpPr>
      <p:grpSpPr>
        <a:xfrm>
          <a:off x="0" y="0"/>
          <a:ext cx="0" cy="0"/>
          <a:chOff x="0" y="0"/>
          <a:chExt cx="0" cy="0"/>
        </a:xfrm>
      </p:grpSpPr>
      <p:sp>
        <p:nvSpPr>
          <p:cNvPr id="336" name="Google Shape;336;p44"/>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Multiple Assignment</a:t>
            </a:r>
            <a:r>
              <a:rPr b="1" lang="en-US" sz="3000">
                <a:solidFill>
                  <a:srgbClr val="1C3678"/>
                </a:solidFill>
                <a:latin typeface="Trebuchet MS"/>
                <a:ea typeface="Trebuchet MS"/>
                <a:cs typeface="Trebuchet MS"/>
                <a:sym typeface="Trebuchet MS"/>
              </a:rPr>
              <a:t> in Python</a:t>
            </a:r>
            <a:endParaRPr b="1" sz="3000">
              <a:solidFill>
                <a:srgbClr val="1C3678"/>
              </a:solidFill>
              <a:latin typeface="Trebuchet MS"/>
              <a:ea typeface="Trebuchet MS"/>
              <a:cs typeface="Trebuchet MS"/>
              <a:sym typeface="Trebuchet MS"/>
            </a:endParaRPr>
          </a:p>
        </p:txBody>
      </p:sp>
      <p:sp>
        <p:nvSpPr>
          <p:cNvPr id="337" name="Google Shape;337;p44"/>
          <p:cNvSpPr txBox="1"/>
          <p:nvPr/>
        </p:nvSpPr>
        <p:spPr>
          <a:xfrm>
            <a:off x="688425" y="793125"/>
            <a:ext cx="8107500" cy="3172500"/>
          </a:xfrm>
          <a:prstGeom prst="rect">
            <a:avLst/>
          </a:prstGeom>
          <a:noFill/>
          <a:ln>
            <a:noFill/>
          </a:ln>
        </p:spPr>
        <p:txBody>
          <a:bodyPr anchorCtr="0" anchor="t" bIns="0" lIns="0" spcFirstLastPara="1" rIns="0" wrap="square" tIns="125075">
            <a:spAutoFit/>
          </a:bodyPr>
          <a:lstStyle/>
          <a:p>
            <a:pPr indent="0" lvl="0" marL="0" rtl="0" algn="just">
              <a:lnSpc>
                <a:spcPct val="115000"/>
              </a:lnSpc>
              <a:spcBef>
                <a:spcPts val="0"/>
              </a:spcBef>
              <a:spcAft>
                <a:spcPts val="0"/>
              </a:spcAft>
              <a:buNone/>
            </a:pPr>
            <a:r>
              <a:rPr lang="en-US" sz="1800">
                <a:latin typeface="Times"/>
                <a:ea typeface="Times"/>
                <a:cs typeface="Times"/>
                <a:sym typeface="Times"/>
              </a:rPr>
              <a:t>Python allows us to assign a value to multiple variables in a single statement, which is also known as multiple assignments.</a:t>
            </a:r>
            <a:endParaRPr sz="1800">
              <a:latin typeface="Times"/>
              <a:ea typeface="Times"/>
              <a:cs typeface="Times"/>
              <a:sym typeface="Times"/>
            </a:endParaRPr>
          </a:p>
          <a:p>
            <a:pPr indent="0" lvl="0" marL="0" rtl="0" algn="l">
              <a:lnSpc>
                <a:spcPct val="115000"/>
              </a:lnSpc>
              <a:spcBef>
                <a:spcPts val="1000"/>
              </a:spcBef>
              <a:spcAft>
                <a:spcPts val="0"/>
              </a:spcAft>
              <a:buNone/>
            </a:pPr>
            <a:r>
              <a:rPr b="1" lang="en-US" sz="1800">
                <a:latin typeface="Times"/>
                <a:ea typeface="Times"/>
                <a:cs typeface="Times"/>
                <a:sym typeface="Times"/>
              </a:rPr>
              <a:t>1. Assigning single value to multiple variables</a:t>
            </a:r>
            <a:endParaRPr b="1" sz="1800">
              <a:latin typeface="Times"/>
              <a:ea typeface="Times"/>
              <a:cs typeface="Times"/>
              <a:sym typeface="Times"/>
            </a:endParaRPr>
          </a:p>
          <a:p>
            <a:pPr indent="0" lvl="0" marL="457200" rtl="0" algn="l">
              <a:lnSpc>
                <a:spcPct val="115000"/>
              </a:lnSpc>
              <a:spcBef>
                <a:spcPts val="1000"/>
              </a:spcBef>
              <a:spcAft>
                <a:spcPts val="0"/>
              </a:spcAft>
              <a:buNone/>
            </a:pPr>
            <a:r>
              <a:rPr i="1" lang="en-US" sz="1800">
                <a:solidFill>
                  <a:srgbClr val="424242"/>
                </a:solidFill>
                <a:latin typeface="Times"/>
                <a:ea typeface="Times"/>
                <a:cs typeface="Times"/>
                <a:sym typeface="Times"/>
              </a:rPr>
              <a:t>x=y=z=50    </a:t>
            </a:r>
            <a:endParaRPr i="1" sz="1800">
              <a:solidFill>
                <a:srgbClr val="424242"/>
              </a:solidFill>
              <a:latin typeface="Times"/>
              <a:ea typeface="Times"/>
              <a:cs typeface="Times"/>
              <a:sym typeface="Times"/>
            </a:endParaRPr>
          </a:p>
          <a:p>
            <a:pPr indent="0" lvl="0" marL="457200" rtl="0" algn="l">
              <a:lnSpc>
                <a:spcPct val="115000"/>
              </a:lnSpc>
              <a:spcBef>
                <a:spcPts val="300"/>
              </a:spcBef>
              <a:spcAft>
                <a:spcPts val="0"/>
              </a:spcAft>
              <a:buNone/>
            </a:pPr>
            <a:r>
              <a:rPr i="1" lang="en-US" sz="1800">
                <a:solidFill>
                  <a:srgbClr val="424242"/>
                </a:solidFill>
                <a:latin typeface="Times"/>
                <a:ea typeface="Times"/>
                <a:cs typeface="Times"/>
                <a:sym typeface="Times"/>
              </a:rPr>
              <a:t>print(x)</a:t>
            </a:r>
            <a:r>
              <a:rPr lang="en-US" sz="1800">
                <a:solidFill>
                  <a:srgbClr val="424242"/>
                </a:solidFill>
                <a:latin typeface="Times"/>
                <a:ea typeface="Times"/>
                <a:cs typeface="Times"/>
                <a:sym typeface="Times"/>
              </a:rPr>
              <a:t>  </a:t>
            </a:r>
            <a:endParaRPr sz="1800">
              <a:solidFill>
                <a:srgbClr val="424242"/>
              </a:solidFill>
              <a:latin typeface="Times"/>
              <a:ea typeface="Times"/>
              <a:cs typeface="Times"/>
              <a:sym typeface="Times"/>
            </a:endParaRPr>
          </a:p>
          <a:p>
            <a:pPr indent="0" lvl="0" marL="0" rtl="0" algn="l">
              <a:lnSpc>
                <a:spcPct val="115000"/>
              </a:lnSpc>
              <a:spcBef>
                <a:spcPts val="0"/>
              </a:spcBef>
              <a:spcAft>
                <a:spcPts val="0"/>
              </a:spcAft>
              <a:buNone/>
            </a:pPr>
            <a:r>
              <a:rPr b="1" lang="en-US" sz="1800">
                <a:latin typeface="Times"/>
                <a:ea typeface="Times"/>
                <a:cs typeface="Times"/>
                <a:sym typeface="Times"/>
              </a:rPr>
              <a:t>2. Assigning multiple values to multiple variables</a:t>
            </a:r>
            <a:endParaRPr b="1" sz="1800">
              <a:latin typeface="Times"/>
              <a:ea typeface="Times"/>
              <a:cs typeface="Times"/>
              <a:sym typeface="Times"/>
            </a:endParaRPr>
          </a:p>
          <a:p>
            <a:pPr indent="0" lvl="0" marL="457200" rtl="0" algn="l">
              <a:lnSpc>
                <a:spcPct val="115000"/>
              </a:lnSpc>
              <a:spcBef>
                <a:spcPts val="1000"/>
              </a:spcBef>
              <a:spcAft>
                <a:spcPts val="0"/>
              </a:spcAft>
              <a:buNone/>
            </a:pPr>
            <a:r>
              <a:rPr i="1" lang="en-US" sz="1800">
                <a:solidFill>
                  <a:srgbClr val="424242"/>
                </a:solidFill>
                <a:latin typeface="Times"/>
                <a:ea typeface="Times"/>
                <a:cs typeface="Times"/>
                <a:sym typeface="Times"/>
              </a:rPr>
              <a:t>a,b,c=5,10,15    </a:t>
            </a:r>
            <a:endParaRPr i="1" sz="1800">
              <a:solidFill>
                <a:srgbClr val="424242"/>
              </a:solidFill>
              <a:latin typeface="Times"/>
              <a:ea typeface="Times"/>
              <a:cs typeface="Times"/>
              <a:sym typeface="Times"/>
            </a:endParaRPr>
          </a:p>
          <a:p>
            <a:pPr indent="0" lvl="0" marL="457200" rtl="0" algn="l">
              <a:lnSpc>
                <a:spcPct val="115000"/>
              </a:lnSpc>
              <a:spcBef>
                <a:spcPts val="900"/>
              </a:spcBef>
              <a:spcAft>
                <a:spcPts val="600"/>
              </a:spcAft>
              <a:buNone/>
            </a:pPr>
            <a:r>
              <a:rPr i="1" lang="en-US" sz="1800">
                <a:solidFill>
                  <a:srgbClr val="424242"/>
                </a:solidFill>
                <a:latin typeface="Times"/>
                <a:ea typeface="Times"/>
                <a:cs typeface="Times"/>
                <a:sym typeface="Times"/>
              </a:rPr>
              <a:t>print( a,b,c)</a:t>
            </a:r>
            <a:endParaRPr i="1" sz="1800">
              <a:solidFill>
                <a:srgbClr val="424242"/>
              </a:solidFill>
              <a:latin typeface="Times"/>
              <a:ea typeface="Times"/>
              <a:cs typeface="Times"/>
              <a:sym typeface="Times"/>
            </a:endParaRPr>
          </a:p>
        </p:txBody>
      </p:sp>
      <p:sp>
        <p:nvSpPr>
          <p:cNvPr id="338" name="Google Shape;338;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3" name="Shape 343"/>
        <p:cNvGrpSpPr/>
        <p:nvPr/>
      </p:nvGrpSpPr>
      <p:grpSpPr>
        <a:xfrm>
          <a:off x="0" y="0"/>
          <a:ext cx="0" cy="0"/>
          <a:chOff x="0" y="0"/>
          <a:chExt cx="0" cy="0"/>
        </a:xfrm>
      </p:grpSpPr>
      <p:sp>
        <p:nvSpPr>
          <p:cNvPr id="344" name="Google Shape;344;p45"/>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Data Types in Python</a:t>
            </a:r>
            <a:endParaRPr b="1" sz="3000">
              <a:solidFill>
                <a:srgbClr val="1C3678"/>
              </a:solidFill>
              <a:latin typeface="Trebuchet MS"/>
              <a:ea typeface="Trebuchet MS"/>
              <a:cs typeface="Trebuchet MS"/>
              <a:sym typeface="Trebuchet MS"/>
            </a:endParaRPr>
          </a:p>
        </p:txBody>
      </p:sp>
      <p:sp>
        <p:nvSpPr>
          <p:cNvPr id="345" name="Google Shape;345;p45"/>
          <p:cNvSpPr txBox="1"/>
          <p:nvPr/>
        </p:nvSpPr>
        <p:spPr>
          <a:xfrm>
            <a:off x="688425" y="793125"/>
            <a:ext cx="8107500" cy="42270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Python Data Types are essential components of Python programming, as they determine the type of data a variable can hold and the operations that can be performed on that data. </a:t>
            </a:r>
            <a:endParaRPr sz="1800">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Classification of Data types:</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Numeric Data Types:</a:t>
            </a:r>
            <a:endParaRPr sz="1800">
              <a:latin typeface="Times"/>
              <a:ea typeface="Times"/>
              <a:cs typeface="Times"/>
              <a:sym typeface="Times"/>
            </a:endParaRPr>
          </a:p>
          <a:p>
            <a:pPr indent="-342900" lvl="2" marL="1371600" rtl="0" algn="just">
              <a:lnSpc>
                <a:spcPct val="115000"/>
              </a:lnSpc>
              <a:spcBef>
                <a:spcPts val="0"/>
              </a:spcBef>
              <a:spcAft>
                <a:spcPts val="0"/>
              </a:spcAft>
              <a:buSzPts val="1800"/>
              <a:buFont typeface="Times"/>
              <a:buChar char="■"/>
            </a:pPr>
            <a:r>
              <a:rPr lang="en-US" sz="1800">
                <a:latin typeface="Times"/>
                <a:ea typeface="Times"/>
                <a:cs typeface="Times"/>
                <a:sym typeface="Times"/>
              </a:rPr>
              <a:t>int: Represents integer numbers (e.g., 1, 10, -20).</a:t>
            </a:r>
            <a:endParaRPr sz="1800">
              <a:latin typeface="Times"/>
              <a:ea typeface="Times"/>
              <a:cs typeface="Times"/>
              <a:sym typeface="Times"/>
            </a:endParaRPr>
          </a:p>
          <a:p>
            <a:pPr indent="-342900" lvl="2" marL="1371600" rtl="0" algn="just">
              <a:lnSpc>
                <a:spcPct val="115000"/>
              </a:lnSpc>
              <a:spcBef>
                <a:spcPts val="0"/>
              </a:spcBef>
              <a:spcAft>
                <a:spcPts val="0"/>
              </a:spcAft>
              <a:buSzPts val="1800"/>
              <a:buFont typeface="Times"/>
              <a:buChar char="■"/>
            </a:pPr>
            <a:r>
              <a:rPr lang="en-US" sz="1800">
                <a:latin typeface="Times"/>
                <a:ea typeface="Times"/>
                <a:cs typeface="Times"/>
                <a:sym typeface="Times"/>
              </a:rPr>
              <a:t>float: Represents floating-point numbers (e.g., 3.14, 0.0, -2.5).</a:t>
            </a:r>
            <a:endParaRPr sz="1800">
              <a:latin typeface="Times"/>
              <a:ea typeface="Times"/>
              <a:cs typeface="Times"/>
              <a:sym typeface="Times"/>
            </a:endParaRPr>
          </a:p>
          <a:p>
            <a:pPr indent="-342900" lvl="2" marL="1371600" rtl="0" algn="just">
              <a:lnSpc>
                <a:spcPct val="115000"/>
              </a:lnSpc>
              <a:spcBef>
                <a:spcPts val="0"/>
              </a:spcBef>
              <a:spcAft>
                <a:spcPts val="0"/>
              </a:spcAft>
              <a:buSzPts val="1800"/>
              <a:buFont typeface="Times"/>
              <a:buChar char="■"/>
            </a:pPr>
            <a:r>
              <a:rPr lang="en-US" sz="1800">
                <a:latin typeface="Times"/>
                <a:ea typeface="Times"/>
                <a:cs typeface="Times"/>
                <a:sym typeface="Times"/>
              </a:rPr>
              <a:t>complex: Represents complex numbers (e.g., 2+3j, 1j, -5j).</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Textual Data Type:</a:t>
            </a:r>
            <a:endParaRPr sz="1800">
              <a:latin typeface="Times"/>
              <a:ea typeface="Times"/>
              <a:cs typeface="Times"/>
              <a:sym typeface="Times"/>
            </a:endParaRPr>
          </a:p>
          <a:p>
            <a:pPr indent="-342900" lvl="2" marL="1371600" rtl="0" algn="just">
              <a:lnSpc>
                <a:spcPct val="115000"/>
              </a:lnSpc>
              <a:spcBef>
                <a:spcPts val="0"/>
              </a:spcBef>
              <a:spcAft>
                <a:spcPts val="0"/>
              </a:spcAft>
              <a:buSzPts val="1800"/>
              <a:buFont typeface="Times"/>
              <a:buChar char="■"/>
            </a:pPr>
            <a:r>
              <a:rPr lang="en-US" sz="1800">
                <a:latin typeface="Times"/>
                <a:ea typeface="Times"/>
                <a:cs typeface="Times"/>
                <a:sym typeface="Times"/>
              </a:rPr>
              <a:t>str: Represents string data, which are sequences of Unicode characters enclosed in single (') or double (") quotes (e.g., ‘Hello’, “World!”).</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Boolean Data Type:</a:t>
            </a:r>
            <a:endParaRPr sz="1800">
              <a:latin typeface="Times"/>
              <a:ea typeface="Times"/>
              <a:cs typeface="Times"/>
              <a:sym typeface="Times"/>
            </a:endParaRPr>
          </a:p>
          <a:p>
            <a:pPr indent="-342900" lvl="2" marL="1371600" rtl="0" algn="just">
              <a:lnSpc>
                <a:spcPct val="115000"/>
              </a:lnSpc>
              <a:spcBef>
                <a:spcPts val="0"/>
              </a:spcBef>
              <a:spcAft>
                <a:spcPts val="0"/>
              </a:spcAft>
              <a:buSzPts val="1800"/>
              <a:buFont typeface="Times"/>
              <a:buChar char="■"/>
            </a:pPr>
            <a:r>
              <a:rPr lang="en-US" sz="1800">
                <a:latin typeface="Times"/>
                <a:ea typeface="Times"/>
                <a:cs typeface="Times"/>
                <a:sym typeface="Times"/>
              </a:rPr>
              <a:t>bool: Represents boolean values, either True or False.</a:t>
            </a:r>
            <a:endParaRPr sz="1800">
              <a:latin typeface="Times"/>
              <a:ea typeface="Times"/>
              <a:cs typeface="Times"/>
              <a:sym typeface="Times"/>
            </a:endParaRPr>
          </a:p>
        </p:txBody>
      </p:sp>
      <p:sp>
        <p:nvSpPr>
          <p:cNvPr id="346" name="Google Shape;346;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1" name="Shape 351"/>
        <p:cNvGrpSpPr/>
        <p:nvPr/>
      </p:nvGrpSpPr>
      <p:grpSpPr>
        <a:xfrm>
          <a:off x="0" y="0"/>
          <a:ext cx="0" cy="0"/>
          <a:chOff x="0" y="0"/>
          <a:chExt cx="0" cy="0"/>
        </a:xfrm>
      </p:grpSpPr>
      <p:sp>
        <p:nvSpPr>
          <p:cNvPr id="352" name="Google Shape;352;p46"/>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Data Types in Python</a:t>
            </a:r>
            <a:endParaRPr b="1" sz="3000">
              <a:solidFill>
                <a:srgbClr val="1C3678"/>
              </a:solidFill>
              <a:latin typeface="Trebuchet MS"/>
              <a:ea typeface="Trebuchet MS"/>
              <a:cs typeface="Trebuchet MS"/>
              <a:sym typeface="Trebuchet MS"/>
            </a:endParaRPr>
          </a:p>
        </p:txBody>
      </p:sp>
      <p:sp>
        <p:nvSpPr>
          <p:cNvPr id="353" name="Google Shape;353;p46"/>
          <p:cNvSpPr txBox="1"/>
          <p:nvPr/>
        </p:nvSpPr>
        <p:spPr>
          <a:xfrm>
            <a:off x="688425" y="793125"/>
            <a:ext cx="8107500" cy="4299900"/>
          </a:xfrm>
          <a:prstGeom prst="rect">
            <a:avLst/>
          </a:prstGeom>
          <a:noFill/>
          <a:ln>
            <a:noFill/>
          </a:ln>
        </p:spPr>
        <p:txBody>
          <a:bodyPr anchorCtr="0" anchor="t" bIns="0" lIns="0" spcFirstLastPara="1" rIns="0" wrap="square" tIns="125075">
            <a:spAutoFit/>
          </a:bodyPr>
          <a:lstStyle/>
          <a:p>
            <a:pPr indent="-336550" lvl="0" marL="457200" rtl="0" algn="just">
              <a:lnSpc>
                <a:spcPct val="115000"/>
              </a:lnSpc>
              <a:spcBef>
                <a:spcPts val="0"/>
              </a:spcBef>
              <a:spcAft>
                <a:spcPts val="0"/>
              </a:spcAft>
              <a:buSzPts val="1700"/>
              <a:buFont typeface="Times"/>
              <a:buChar char="➢"/>
            </a:pPr>
            <a:r>
              <a:rPr lang="en-US" sz="1700">
                <a:latin typeface="Times"/>
                <a:ea typeface="Times"/>
                <a:cs typeface="Times"/>
                <a:sym typeface="Times"/>
              </a:rPr>
              <a:t>Classification of Data types:</a:t>
            </a:r>
            <a:endParaRPr sz="1700">
              <a:latin typeface="Times"/>
              <a:ea typeface="Times"/>
              <a:cs typeface="Times"/>
              <a:sym typeface="Times"/>
            </a:endParaRPr>
          </a:p>
          <a:p>
            <a:pPr indent="-336550" lvl="1" marL="914400" rtl="0" algn="just">
              <a:lnSpc>
                <a:spcPct val="115000"/>
              </a:lnSpc>
              <a:spcBef>
                <a:spcPts val="0"/>
              </a:spcBef>
              <a:spcAft>
                <a:spcPts val="0"/>
              </a:spcAft>
              <a:buSzPts val="1700"/>
              <a:buFont typeface="Times"/>
              <a:buChar char="○"/>
            </a:pPr>
            <a:r>
              <a:rPr lang="en-US" sz="1700">
                <a:latin typeface="Times"/>
                <a:ea typeface="Times"/>
                <a:cs typeface="Times"/>
                <a:sym typeface="Times"/>
              </a:rPr>
              <a:t>Collection Data Types:</a:t>
            </a:r>
            <a:endParaRPr sz="1700">
              <a:latin typeface="Times"/>
              <a:ea typeface="Times"/>
              <a:cs typeface="Times"/>
              <a:sym typeface="Times"/>
            </a:endParaRPr>
          </a:p>
          <a:p>
            <a:pPr indent="-336550" lvl="2" marL="1371600" rtl="0" algn="just">
              <a:lnSpc>
                <a:spcPct val="115000"/>
              </a:lnSpc>
              <a:spcBef>
                <a:spcPts val="0"/>
              </a:spcBef>
              <a:spcAft>
                <a:spcPts val="0"/>
              </a:spcAft>
              <a:buSzPts val="1700"/>
              <a:buFont typeface="Times"/>
              <a:buChar char="■"/>
            </a:pPr>
            <a:r>
              <a:rPr lang="en-US" sz="1700">
                <a:latin typeface="Times"/>
                <a:ea typeface="Times"/>
                <a:cs typeface="Times"/>
                <a:sym typeface="Times"/>
              </a:rPr>
              <a:t>list: Represents an ordered, mutable collection of elements, enclosed in square brackets. E.g., [1, 2, 3, 4]</a:t>
            </a:r>
            <a:endParaRPr sz="1700">
              <a:latin typeface="Times"/>
              <a:ea typeface="Times"/>
              <a:cs typeface="Times"/>
              <a:sym typeface="Times"/>
            </a:endParaRPr>
          </a:p>
          <a:p>
            <a:pPr indent="-336550" lvl="2" marL="1371600" rtl="0" algn="just">
              <a:lnSpc>
                <a:spcPct val="115000"/>
              </a:lnSpc>
              <a:spcBef>
                <a:spcPts val="0"/>
              </a:spcBef>
              <a:spcAft>
                <a:spcPts val="0"/>
              </a:spcAft>
              <a:buSzPts val="1700"/>
              <a:buFont typeface="Times"/>
              <a:buChar char="■"/>
            </a:pPr>
            <a:r>
              <a:rPr lang="en-US" sz="1700">
                <a:latin typeface="Times"/>
                <a:ea typeface="Times"/>
                <a:cs typeface="Times"/>
                <a:sym typeface="Times"/>
              </a:rPr>
              <a:t>tuple: Represents an ordered, immutable collection of elements, enclosed in parentheses. E.g., (1, 2, 3, 4)</a:t>
            </a:r>
            <a:endParaRPr sz="1700">
              <a:latin typeface="Times"/>
              <a:ea typeface="Times"/>
              <a:cs typeface="Times"/>
              <a:sym typeface="Times"/>
            </a:endParaRPr>
          </a:p>
          <a:p>
            <a:pPr indent="-336550" lvl="2" marL="1371600" rtl="0" algn="just">
              <a:lnSpc>
                <a:spcPct val="115000"/>
              </a:lnSpc>
              <a:spcBef>
                <a:spcPts val="0"/>
              </a:spcBef>
              <a:spcAft>
                <a:spcPts val="0"/>
              </a:spcAft>
              <a:buSzPts val="1700"/>
              <a:buFont typeface="Times"/>
              <a:buChar char="■"/>
            </a:pPr>
            <a:r>
              <a:rPr lang="en-US" sz="1700">
                <a:latin typeface="Times"/>
                <a:ea typeface="Times"/>
                <a:cs typeface="Times"/>
                <a:sym typeface="Times"/>
              </a:rPr>
              <a:t>dict: Represents an unordered collection of key-value pairs, enclosed in curly braces. E.g., {‘name’: ‘John’, ‘age’: 30}</a:t>
            </a:r>
            <a:endParaRPr sz="1700">
              <a:latin typeface="Times"/>
              <a:ea typeface="Times"/>
              <a:cs typeface="Times"/>
              <a:sym typeface="Times"/>
            </a:endParaRPr>
          </a:p>
          <a:p>
            <a:pPr indent="-336550" lvl="2" marL="1371600" rtl="0" algn="just">
              <a:lnSpc>
                <a:spcPct val="115000"/>
              </a:lnSpc>
              <a:spcBef>
                <a:spcPts val="0"/>
              </a:spcBef>
              <a:spcAft>
                <a:spcPts val="0"/>
              </a:spcAft>
              <a:buSzPts val="1700"/>
              <a:buFont typeface="Times"/>
              <a:buChar char="■"/>
            </a:pPr>
            <a:r>
              <a:rPr lang="en-US" sz="1700">
                <a:latin typeface="Times"/>
                <a:ea typeface="Times"/>
                <a:cs typeface="Times"/>
                <a:sym typeface="Times"/>
              </a:rPr>
              <a:t>set: Represents an unordered collection of unique elements, enclosed in curly braces or created using the set() function </a:t>
            </a:r>
            <a:endParaRPr sz="1700">
              <a:latin typeface="Times"/>
              <a:ea typeface="Times"/>
              <a:cs typeface="Times"/>
              <a:sym typeface="Times"/>
            </a:endParaRPr>
          </a:p>
          <a:p>
            <a:pPr indent="0" lvl="0" marL="1371600" rtl="0" algn="just">
              <a:lnSpc>
                <a:spcPct val="115000"/>
              </a:lnSpc>
              <a:spcBef>
                <a:spcPts val="0"/>
              </a:spcBef>
              <a:spcAft>
                <a:spcPts val="0"/>
              </a:spcAft>
              <a:buNone/>
            </a:pPr>
            <a:r>
              <a:rPr lang="en-US" sz="1700">
                <a:latin typeface="Times"/>
                <a:ea typeface="Times"/>
                <a:cs typeface="Times"/>
                <a:sym typeface="Times"/>
              </a:rPr>
              <a:t>E.g., {1, 2, 3, 4}</a:t>
            </a:r>
            <a:endParaRPr sz="1700">
              <a:latin typeface="Times"/>
              <a:ea typeface="Times"/>
              <a:cs typeface="Times"/>
              <a:sym typeface="Times"/>
            </a:endParaRPr>
          </a:p>
          <a:p>
            <a:pPr indent="-336550" lvl="2" marL="1371600" rtl="0" algn="just">
              <a:lnSpc>
                <a:spcPct val="115000"/>
              </a:lnSpc>
              <a:spcBef>
                <a:spcPts val="0"/>
              </a:spcBef>
              <a:spcAft>
                <a:spcPts val="0"/>
              </a:spcAft>
              <a:buSzPts val="1700"/>
              <a:buFont typeface="Times"/>
              <a:buChar char="■"/>
            </a:pPr>
            <a:r>
              <a:rPr lang="en-US" sz="1700">
                <a:latin typeface="Times"/>
                <a:ea typeface="Times"/>
                <a:cs typeface="Times"/>
                <a:sym typeface="Times"/>
              </a:rPr>
              <a:t>frozenset: Represents an immutable version of the set data type, created using the frozenset() function.</a:t>
            </a:r>
            <a:endParaRPr sz="1700">
              <a:latin typeface="Times"/>
              <a:ea typeface="Times"/>
              <a:cs typeface="Times"/>
              <a:sym typeface="Times"/>
            </a:endParaRPr>
          </a:p>
          <a:p>
            <a:pPr indent="0" lvl="0" marL="1371600" rtl="0" algn="just">
              <a:lnSpc>
                <a:spcPct val="115000"/>
              </a:lnSpc>
              <a:spcBef>
                <a:spcPts val="0"/>
              </a:spcBef>
              <a:spcAft>
                <a:spcPts val="0"/>
              </a:spcAft>
              <a:buNone/>
            </a:pPr>
            <a:r>
              <a:rPr lang="en-US" sz="1700">
                <a:latin typeface="Times"/>
                <a:ea typeface="Times"/>
                <a:cs typeface="Times"/>
                <a:sym typeface="Times"/>
              </a:rPr>
              <a:t>E.g., frozenset({1, 2, 3, 4})</a:t>
            </a:r>
            <a:endParaRPr sz="1700">
              <a:latin typeface="Times"/>
              <a:ea typeface="Times"/>
              <a:cs typeface="Times"/>
              <a:sym typeface="Times"/>
            </a:endParaRPr>
          </a:p>
        </p:txBody>
      </p:sp>
      <p:sp>
        <p:nvSpPr>
          <p:cNvPr id="354" name="Google Shape;354;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9" name="Shape 359"/>
        <p:cNvGrpSpPr/>
        <p:nvPr/>
      </p:nvGrpSpPr>
      <p:grpSpPr>
        <a:xfrm>
          <a:off x="0" y="0"/>
          <a:ext cx="0" cy="0"/>
          <a:chOff x="0" y="0"/>
          <a:chExt cx="0" cy="0"/>
        </a:xfrm>
      </p:grpSpPr>
      <p:sp>
        <p:nvSpPr>
          <p:cNvPr id="360" name="Google Shape;360;p47"/>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Literals in </a:t>
            </a:r>
            <a:r>
              <a:rPr b="1" lang="en-US" sz="3000">
                <a:solidFill>
                  <a:srgbClr val="1C3678"/>
                </a:solidFill>
                <a:latin typeface="Trebuchet MS"/>
                <a:ea typeface="Trebuchet MS"/>
                <a:cs typeface="Trebuchet MS"/>
                <a:sym typeface="Trebuchet MS"/>
              </a:rPr>
              <a:t>Python</a:t>
            </a:r>
            <a:endParaRPr b="1" sz="3000">
              <a:solidFill>
                <a:srgbClr val="1C3678"/>
              </a:solidFill>
              <a:latin typeface="Trebuchet MS"/>
              <a:ea typeface="Trebuchet MS"/>
              <a:cs typeface="Trebuchet MS"/>
              <a:sym typeface="Trebuchet MS"/>
            </a:endParaRPr>
          </a:p>
        </p:txBody>
      </p:sp>
      <p:sp>
        <p:nvSpPr>
          <p:cNvPr id="361" name="Google Shape;361;p47"/>
          <p:cNvSpPr txBox="1"/>
          <p:nvPr/>
        </p:nvSpPr>
        <p:spPr>
          <a:xfrm>
            <a:off x="688425" y="793125"/>
            <a:ext cx="8107500" cy="29523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A literal is a fixed value that is directly written in the code. </a:t>
            </a:r>
            <a:endParaRPr sz="1800">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These are the most basic elements of a program and represent specific values. </a:t>
            </a:r>
            <a:endParaRPr sz="1800">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Python supports several types of literals:</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String Literals</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Numeric Literals</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Boolean Literals</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Special Literal</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Collection Literals</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Literal Collections</a:t>
            </a:r>
            <a:endParaRPr sz="1800">
              <a:latin typeface="Times"/>
              <a:ea typeface="Times"/>
              <a:cs typeface="Times"/>
              <a:sym typeface="Times"/>
            </a:endParaRPr>
          </a:p>
        </p:txBody>
      </p:sp>
      <p:sp>
        <p:nvSpPr>
          <p:cNvPr id="362" name="Google Shape;362;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7" name="Shape 367"/>
        <p:cNvGrpSpPr/>
        <p:nvPr/>
      </p:nvGrpSpPr>
      <p:grpSpPr>
        <a:xfrm>
          <a:off x="0" y="0"/>
          <a:ext cx="0" cy="0"/>
          <a:chOff x="0" y="0"/>
          <a:chExt cx="0" cy="0"/>
        </a:xfrm>
      </p:grpSpPr>
      <p:sp>
        <p:nvSpPr>
          <p:cNvPr id="368" name="Google Shape;368;p48"/>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Literals in Python</a:t>
            </a:r>
            <a:endParaRPr b="1" sz="3000">
              <a:solidFill>
                <a:srgbClr val="1C3678"/>
              </a:solidFill>
              <a:latin typeface="Trebuchet MS"/>
              <a:ea typeface="Trebuchet MS"/>
              <a:cs typeface="Trebuchet MS"/>
              <a:sym typeface="Trebuchet MS"/>
            </a:endParaRPr>
          </a:p>
        </p:txBody>
      </p:sp>
      <p:sp>
        <p:nvSpPr>
          <p:cNvPr id="369" name="Google Shape;369;p48"/>
          <p:cNvSpPr txBox="1"/>
          <p:nvPr/>
        </p:nvSpPr>
        <p:spPr>
          <a:xfrm>
            <a:off x="688425" y="640250"/>
            <a:ext cx="8107500" cy="26337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String Literals</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String literals are sequences of characters enclosed in single quotes ('...'), double quotes ("..."), triple single quotes ('''...'''), or triple double quotes ("""...""").</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Examples:</a:t>
            </a:r>
            <a:endParaRPr sz="1800">
              <a:latin typeface="Times"/>
              <a:ea typeface="Times"/>
              <a:cs typeface="Times"/>
              <a:sym typeface="Times"/>
            </a:endParaRPr>
          </a:p>
          <a:p>
            <a:pPr indent="-342900" lvl="2" marL="1371600" rtl="0" algn="just">
              <a:lnSpc>
                <a:spcPct val="115000"/>
              </a:lnSpc>
              <a:spcBef>
                <a:spcPts val="0"/>
              </a:spcBef>
              <a:spcAft>
                <a:spcPts val="0"/>
              </a:spcAft>
              <a:buSzPts val="1800"/>
              <a:buFont typeface="Times"/>
              <a:buChar char="■"/>
            </a:pPr>
            <a:r>
              <a:rPr lang="en-US" sz="1800">
                <a:latin typeface="Times"/>
                <a:ea typeface="Times"/>
                <a:cs typeface="Times"/>
                <a:sym typeface="Times"/>
              </a:rPr>
              <a:t>'Hello, World!'</a:t>
            </a:r>
            <a:endParaRPr sz="1800">
              <a:latin typeface="Times"/>
              <a:ea typeface="Times"/>
              <a:cs typeface="Times"/>
              <a:sym typeface="Times"/>
            </a:endParaRPr>
          </a:p>
          <a:p>
            <a:pPr indent="-342900" lvl="2" marL="1371600" rtl="0" algn="just">
              <a:lnSpc>
                <a:spcPct val="115000"/>
              </a:lnSpc>
              <a:spcBef>
                <a:spcPts val="0"/>
              </a:spcBef>
              <a:spcAft>
                <a:spcPts val="0"/>
              </a:spcAft>
              <a:buSzPts val="1800"/>
              <a:buFont typeface="Times"/>
              <a:buChar char="■"/>
            </a:pPr>
            <a:r>
              <a:rPr lang="en-US" sz="1800">
                <a:latin typeface="Times"/>
                <a:ea typeface="Times"/>
                <a:cs typeface="Times"/>
                <a:sym typeface="Times"/>
              </a:rPr>
              <a:t>"Python is awesome!"</a:t>
            </a:r>
            <a:endParaRPr sz="1800">
              <a:latin typeface="Times"/>
              <a:ea typeface="Times"/>
              <a:cs typeface="Times"/>
              <a:sym typeface="Times"/>
            </a:endParaRPr>
          </a:p>
          <a:p>
            <a:pPr indent="-342900" lvl="2" marL="1371600" rtl="0" algn="just">
              <a:lnSpc>
                <a:spcPct val="115000"/>
              </a:lnSpc>
              <a:spcBef>
                <a:spcPts val="0"/>
              </a:spcBef>
              <a:spcAft>
                <a:spcPts val="0"/>
              </a:spcAft>
              <a:buSzPts val="1800"/>
              <a:buFont typeface="Times"/>
              <a:buChar char="■"/>
            </a:pPr>
            <a:r>
              <a:rPr lang="en-US" sz="1800">
                <a:latin typeface="Times"/>
                <a:ea typeface="Times"/>
                <a:cs typeface="Times"/>
                <a:sym typeface="Times"/>
              </a:rPr>
              <a:t>'''This is a multi-line string'''</a:t>
            </a:r>
            <a:endParaRPr sz="1800">
              <a:latin typeface="Times"/>
              <a:ea typeface="Times"/>
              <a:cs typeface="Times"/>
              <a:sym typeface="Times"/>
            </a:endParaRPr>
          </a:p>
        </p:txBody>
      </p:sp>
      <p:sp>
        <p:nvSpPr>
          <p:cNvPr id="370" name="Google Shape;370;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5" name="Shape 375"/>
        <p:cNvGrpSpPr/>
        <p:nvPr/>
      </p:nvGrpSpPr>
      <p:grpSpPr>
        <a:xfrm>
          <a:off x="0" y="0"/>
          <a:ext cx="0" cy="0"/>
          <a:chOff x="0" y="0"/>
          <a:chExt cx="0" cy="0"/>
        </a:xfrm>
      </p:grpSpPr>
      <p:sp>
        <p:nvSpPr>
          <p:cNvPr id="376" name="Google Shape;376;p49"/>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Literals in Python</a:t>
            </a:r>
            <a:endParaRPr b="1" sz="3000">
              <a:solidFill>
                <a:srgbClr val="1C3678"/>
              </a:solidFill>
              <a:latin typeface="Trebuchet MS"/>
              <a:ea typeface="Trebuchet MS"/>
              <a:cs typeface="Trebuchet MS"/>
              <a:sym typeface="Trebuchet MS"/>
            </a:endParaRPr>
          </a:p>
        </p:txBody>
      </p:sp>
      <p:sp>
        <p:nvSpPr>
          <p:cNvPr id="377" name="Google Shape;377;p49"/>
          <p:cNvSpPr txBox="1"/>
          <p:nvPr/>
        </p:nvSpPr>
        <p:spPr>
          <a:xfrm>
            <a:off x="688425" y="640250"/>
            <a:ext cx="8107500" cy="29523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Numeric Literals</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Integer Literals: Represent whole numbers without a fractional part.</a:t>
            </a:r>
            <a:endParaRPr sz="1800">
              <a:latin typeface="Times"/>
              <a:ea typeface="Times"/>
              <a:cs typeface="Times"/>
              <a:sym typeface="Times"/>
            </a:endParaRPr>
          </a:p>
          <a:p>
            <a:pPr indent="-342900" lvl="2" marL="1371600" rtl="0" algn="just">
              <a:lnSpc>
                <a:spcPct val="115000"/>
              </a:lnSpc>
              <a:spcBef>
                <a:spcPts val="0"/>
              </a:spcBef>
              <a:spcAft>
                <a:spcPts val="0"/>
              </a:spcAft>
              <a:buSzPts val="1800"/>
              <a:buFont typeface="Times"/>
              <a:buChar char="■"/>
            </a:pPr>
            <a:r>
              <a:rPr lang="en-US" sz="1800">
                <a:latin typeface="Times"/>
                <a:ea typeface="Times"/>
                <a:cs typeface="Times"/>
                <a:sym typeface="Times"/>
              </a:rPr>
              <a:t>Examples: 10, -5, 0</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Floating-Point Literals: Represent numbers with a fractional part, or in exponential form.</a:t>
            </a:r>
            <a:endParaRPr sz="1800">
              <a:latin typeface="Times"/>
              <a:ea typeface="Times"/>
              <a:cs typeface="Times"/>
              <a:sym typeface="Times"/>
            </a:endParaRPr>
          </a:p>
          <a:p>
            <a:pPr indent="-342900" lvl="2" marL="1371600" rtl="0" algn="just">
              <a:lnSpc>
                <a:spcPct val="115000"/>
              </a:lnSpc>
              <a:spcBef>
                <a:spcPts val="0"/>
              </a:spcBef>
              <a:spcAft>
                <a:spcPts val="0"/>
              </a:spcAft>
              <a:buSzPts val="1800"/>
              <a:buFont typeface="Times"/>
              <a:buChar char="■"/>
            </a:pPr>
            <a:r>
              <a:rPr lang="en-US" sz="1800">
                <a:latin typeface="Times"/>
                <a:ea typeface="Times"/>
                <a:cs typeface="Times"/>
                <a:sym typeface="Times"/>
              </a:rPr>
              <a:t>Examples: 3.14, -0.001, 1.5e2 (which is 150.0)</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Complex Literals: Represent complex numbers with a real part and an imaginary part.</a:t>
            </a:r>
            <a:endParaRPr sz="1800">
              <a:latin typeface="Times"/>
              <a:ea typeface="Times"/>
              <a:cs typeface="Times"/>
              <a:sym typeface="Times"/>
            </a:endParaRPr>
          </a:p>
          <a:p>
            <a:pPr indent="-342900" lvl="2" marL="1371600" rtl="0" algn="just">
              <a:lnSpc>
                <a:spcPct val="115000"/>
              </a:lnSpc>
              <a:spcBef>
                <a:spcPts val="0"/>
              </a:spcBef>
              <a:spcAft>
                <a:spcPts val="0"/>
              </a:spcAft>
              <a:buSzPts val="1800"/>
              <a:buFont typeface="Times"/>
              <a:buChar char="■"/>
            </a:pPr>
            <a:r>
              <a:rPr lang="en-US" sz="1800">
                <a:latin typeface="Times"/>
                <a:ea typeface="Times"/>
                <a:cs typeface="Times"/>
                <a:sym typeface="Times"/>
              </a:rPr>
              <a:t>Examples: 3 + 4j, -1j</a:t>
            </a:r>
            <a:endParaRPr sz="1800">
              <a:latin typeface="Times"/>
              <a:ea typeface="Times"/>
              <a:cs typeface="Times"/>
              <a:sym typeface="Times"/>
            </a:endParaRPr>
          </a:p>
        </p:txBody>
      </p:sp>
      <p:sp>
        <p:nvSpPr>
          <p:cNvPr id="378" name="Google Shape;378;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3" name="Shape 383"/>
        <p:cNvGrpSpPr/>
        <p:nvPr/>
      </p:nvGrpSpPr>
      <p:grpSpPr>
        <a:xfrm>
          <a:off x="0" y="0"/>
          <a:ext cx="0" cy="0"/>
          <a:chOff x="0" y="0"/>
          <a:chExt cx="0" cy="0"/>
        </a:xfrm>
      </p:grpSpPr>
      <p:sp>
        <p:nvSpPr>
          <p:cNvPr id="384" name="Google Shape;384;p50"/>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Literals in Python</a:t>
            </a:r>
            <a:endParaRPr b="1" sz="3000">
              <a:solidFill>
                <a:srgbClr val="1C3678"/>
              </a:solidFill>
              <a:latin typeface="Trebuchet MS"/>
              <a:ea typeface="Trebuchet MS"/>
              <a:cs typeface="Trebuchet MS"/>
              <a:sym typeface="Trebuchet MS"/>
            </a:endParaRPr>
          </a:p>
        </p:txBody>
      </p:sp>
      <p:sp>
        <p:nvSpPr>
          <p:cNvPr id="385" name="Google Shape;385;p50"/>
          <p:cNvSpPr txBox="1"/>
          <p:nvPr/>
        </p:nvSpPr>
        <p:spPr>
          <a:xfrm>
            <a:off x="688425" y="793125"/>
            <a:ext cx="8107500" cy="32709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Boolean Literals</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Boolean literals represent one of two truth values: True or False.</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Examples:</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is_active = True</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is_logged_in = False</a:t>
            </a:r>
            <a:endParaRPr sz="1800">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Special Literal</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Python has a special literal, None, which represents the absence of a value or a null value.</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Example:</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result = None</a:t>
            </a:r>
            <a:endParaRPr sz="1800">
              <a:latin typeface="Times"/>
              <a:ea typeface="Times"/>
              <a:cs typeface="Times"/>
              <a:sym typeface="Times"/>
            </a:endParaRPr>
          </a:p>
        </p:txBody>
      </p:sp>
      <p:sp>
        <p:nvSpPr>
          <p:cNvPr id="386" name="Google Shape;386;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1" name="Shape 391"/>
        <p:cNvGrpSpPr/>
        <p:nvPr/>
      </p:nvGrpSpPr>
      <p:grpSpPr>
        <a:xfrm>
          <a:off x="0" y="0"/>
          <a:ext cx="0" cy="0"/>
          <a:chOff x="0" y="0"/>
          <a:chExt cx="0" cy="0"/>
        </a:xfrm>
      </p:grpSpPr>
      <p:sp>
        <p:nvSpPr>
          <p:cNvPr id="392" name="Google Shape;392;p51"/>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Literals in Python</a:t>
            </a:r>
            <a:endParaRPr b="1" sz="3000">
              <a:solidFill>
                <a:srgbClr val="1C3678"/>
              </a:solidFill>
              <a:latin typeface="Trebuchet MS"/>
              <a:ea typeface="Trebuchet MS"/>
              <a:cs typeface="Trebuchet MS"/>
              <a:sym typeface="Trebuchet MS"/>
            </a:endParaRPr>
          </a:p>
        </p:txBody>
      </p:sp>
      <p:sp>
        <p:nvSpPr>
          <p:cNvPr id="393" name="Google Shape;393;p51"/>
          <p:cNvSpPr txBox="1"/>
          <p:nvPr/>
        </p:nvSpPr>
        <p:spPr>
          <a:xfrm>
            <a:off x="688425" y="793125"/>
            <a:ext cx="8107500" cy="39081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Collection Literals</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Python has several built-in collection types that can be initialized using literals:</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List Literals: [1, 2, 3], ["apple", "banana", "cherry"]</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Tuple Literals: (1, 2, 3), ("a", "b", "c")</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Dictionary Literals: {"key1": "value1", "key2": "value2"}</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Set Literals: {1, 2, 3}, {"apple", "banana", "cherry"}</a:t>
            </a:r>
            <a:endParaRPr sz="1800">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Literal Collections</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List: [1, 2, 3], [‘a’, ‘b’, ‘c’]</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Tuple: (1, 2, 3), (‘a’, ‘b’, ‘c’)</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Set: {1, 2, 3}, {‘a’, ‘b’, ‘c’}</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Dictionary: {'name': 'Alice', 'age': 25}</a:t>
            </a:r>
            <a:endParaRPr sz="1800">
              <a:latin typeface="Times"/>
              <a:ea typeface="Times"/>
              <a:cs typeface="Times"/>
              <a:sym typeface="Times"/>
            </a:endParaRPr>
          </a:p>
        </p:txBody>
      </p:sp>
      <p:sp>
        <p:nvSpPr>
          <p:cNvPr id="394" name="Google Shape;394;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9" name="Shape 399"/>
        <p:cNvGrpSpPr/>
        <p:nvPr/>
      </p:nvGrpSpPr>
      <p:grpSpPr>
        <a:xfrm>
          <a:off x="0" y="0"/>
          <a:ext cx="0" cy="0"/>
          <a:chOff x="0" y="0"/>
          <a:chExt cx="0" cy="0"/>
        </a:xfrm>
      </p:grpSpPr>
      <p:sp>
        <p:nvSpPr>
          <p:cNvPr id="400" name="Google Shape;400;p52"/>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Operators in </a:t>
            </a:r>
            <a:r>
              <a:rPr b="1" lang="en-US" sz="3000">
                <a:solidFill>
                  <a:srgbClr val="1C3678"/>
                </a:solidFill>
                <a:latin typeface="Trebuchet MS"/>
                <a:ea typeface="Trebuchet MS"/>
                <a:cs typeface="Trebuchet MS"/>
                <a:sym typeface="Trebuchet MS"/>
              </a:rPr>
              <a:t>Python</a:t>
            </a:r>
            <a:endParaRPr b="1" sz="3000">
              <a:solidFill>
                <a:srgbClr val="1C3678"/>
              </a:solidFill>
              <a:latin typeface="Trebuchet MS"/>
              <a:ea typeface="Trebuchet MS"/>
              <a:cs typeface="Trebuchet MS"/>
              <a:sym typeface="Trebuchet MS"/>
            </a:endParaRPr>
          </a:p>
        </p:txBody>
      </p:sp>
      <p:sp>
        <p:nvSpPr>
          <p:cNvPr id="401" name="Google Shape;401;p52"/>
          <p:cNvSpPr txBox="1"/>
          <p:nvPr/>
        </p:nvSpPr>
        <p:spPr>
          <a:xfrm>
            <a:off x="688425" y="793125"/>
            <a:ext cx="8107500" cy="35895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The operator can be defined as a symbol which is responsible for a particular operation between two operands. </a:t>
            </a:r>
            <a:endParaRPr sz="1800">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Operators are the pillars of a program on which the logic is built in a specific programming language.</a:t>
            </a:r>
            <a:endParaRPr sz="1800">
              <a:latin typeface="Times"/>
              <a:ea typeface="Times"/>
              <a:cs typeface="Times"/>
              <a:sym typeface="Times"/>
            </a:endParaRPr>
          </a:p>
          <a:p>
            <a:pPr indent="-342900" lvl="1" marL="914400" marR="25400" rtl="0" algn="just">
              <a:lnSpc>
                <a:spcPct val="115000"/>
              </a:lnSpc>
              <a:spcBef>
                <a:spcPts val="0"/>
              </a:spcBef>
              <a:spcAft>
                <a:spcPts val="0"/>
              </a:spcAft>
              <a:buSzPts val="1800"/>
              <a:buFont typeface="Times"/>
              <a:buChar char="○"/>
            </a:pPr>
            <a:r>
              <a:rPr lang="en-US" sz="1800">
                <a:latin typeface="Times"/>
                <a:ea typeface="Times"/>
                <a:cs typeface="Times"/>
                <a:sym typeface="Times"/>
              </a:rPr>
              <a:t>Arithmetic operators</a:t>
            </a:r>
            <a:endParaRPr sz="1800">
              <a:latin typeface="Times"/>
              <a:ea typeface="Times"/>
              <a:cs typeface="Times"/>
              <a:sym typeface="Times"/>
            </a:endParaRPr>
          </a:p>
          <a:p>
            <a:pPr indent="-342900" lvl="1" marL="914400" marR="25400" rtl="0" algn="just">
              <a:lnSpc>
                <a:spcPct val="115000"/>
              </a:lnSpc>
              <a:spcBef>
                <a:spcPts val="0"/>
              </a:spcBef>
              <a:spcAft>
                <a:spcPts val="0"/>
              </a:spcAft>
              <a:buSzPts val="1800"/>
              <a:buFont typeface="Times"/>
              <a:buChar char="○"/>
            </a:pPr>
            <a:r>
              <a:rPr lang="en-US" sz="1800">
                <a:latin typeface="Times"/>
                <a:ea typeface="Times"/>
                <a:cs typeface="Times"/>
                <a:sym typeface="Times"/>
              </a:rPr>
              <a:t>Comparison operators</a:t>
            </a:r>
            <a:endParaRPr sz="1800">
              <a:latin typeface="Times"/>
              <a:ea typeface="Times"/>
              <a:cs typeface="Times"/>
              <a:sym typeface="Times"/>
            </a:endParaRPr>
          </a:p>
          <a:p>
            <a:pPr indent="-342900" lvl="1" marL="914400" marR="25400" rtl="0" algn="just">
              <a:lnSpc>
                <a:spcPct val="115000"/>
              </a:lnSpc>
              <a:spcBef>
                <a:spcPts val="0"/>
              </a:spcBef>
              <a:spcAft>
                <a:spcPts val="0"/>
              </a:spcAft>
              <a:buSzPts val="1800"/>
              <a:buFont typeface="Times"/>
              <a:buChar char="○"/>
            </a:pPr>
            <a:r>
              <a:rPr lang="en-US" sz="1800">
                <a:latin typeface="Times"/>
                <a:ea typeface="Times"/>
                <a:cs typeface="Times"/>
                <a:sym typeface="Times"/>
              </a:rPr>
              <a:t>Assignment Operators</a:t>
            </a:r>
            <a:endParaRPr sz="1800">
              <a:latin typeface="Times"/>
              <a:ea typeface="Times"/>
              <a:cs typeface="Times"/>
              <a:sym typeface="Times"/>
            </a:endParaRPr>
          </a:p>
          <a:p>
            <a:pPr indent="-342900" lvl="1" marL="914400" marR="25400" rtl="0" algn="just">
              <a:lnSpc>
                <a:spcPct val="115000"/>
              </a:lnSpc>
              <a:spcBef>
                <a:spcPts val="0"/>
              </a:spcBef>
              <a:spcAft>
                <a:spcPts val="0"/>
              </a:spcAft>
              <a:buSzPts val="1800"/>
              <a:buFont typeface="Times"/>
              <a:buChar char="○"/>
            </a:pPr>
            <a:r>
              <a:rPr lang="en-US" sz="1800">
                <a:latin typeface="Times"/>
                <a:ea typeface="Times"/>
                <a:cs typeface="Times"/>
                <a:sym typeface="Times"/>
              </a:rPr>
              <a:t>Logical Operators</a:t>
            </a:r>
            <a:endParaRPr sz="1800">
              <a:latin typeface="Times"/>
              <a:ea typeface="Times"/>
              <a:cs typeface="Times"/>
              <a:sym typeface="Times"/>
            </a:endParaRPr>
          </a:p>
          <a:p>
            <a:pPr indent="-342900" lvl="1" marL="914400" marR="25400" rtl="0" algn="just">
              <a:lnSpc>
                <a:spcPct val="115000"/>
              </a:lnSpc>
              <a:spcBef>
                <a:spcPts val="0"/>
              </a:spcBef>
              <a:spcAft>
                <a:spcPts val="0"/>
              </a:spcAft>
              <a:buSzPts val="1800"/>
              <a:buFont typeface="Times"/>
              <a:buChar char="○"/>
            </a:pPr>
            <a:r>
              <a:rPr lang="en-US" sz="1800">
                <a:latin typeface="Times"/>
                <a:ea typeface="Times"/>
                <a:cs typeface="Times"/>
                <a:sym typeface="Times"/>
              </a:rPr>
              <a:t>Bitwise Operators</a:t>
            </a:r>
            <a:endParaRPr sz="1800">
              <a:latin typeface="Times"/>
              <a:ea typeface="Times"/>
              <a:cs typeface="Times"/>
              <a:sym typeface="Times"/>
            </a:endParaRPr>
          </a:p>
          <a:p>
            <a:pPr indent="-342900" lvl="1" marL="914400" marR="25400" rtl="0" algn="just">
              <a:lnSpc>
                <a:spcPct val="115000"/>
              </a:lnSpc>
              <a:spcBef>
                <a:spcPts val="0"/>
              </a:spcBef>
              <a:spcAft>
                <a:spcPts val="0"/>
              </a:spcAft>
              <a:buSzPts val="1800"/>
              <a:buFont typeface="Times"/>
              <a:buChar char="○"/>
            </a:pPr>
            <a:r>
              <a:rPr lang="en-US" sz="1800">
                <a:latin typeface="Times"/>
                <a:ea typeface="Times"/>
                <a:cs typeface="Times"/>
                <a:sym typeface="Times"/>
              </a:rPr>
              <a:t>Membership Operators</a:t>
            </a:r>
            <a:endParaRPr sz="1800">
              <a:latin typeface="Times"/>
              <a:ea typeface="Times"/>
              <a:cs typeface="Times"/>
              <a:sym typeface="Times"/>
            </a:endParaRPr>
          </a:p>
          <a:p>
            <a:pPr indent="-342900" lvl="1" marL="914400" marR="25400" rtl="0" algn="just">
              <a:lnSpc>
                <a:spcPct val="115000"/>
              </a:lnSpc>
              <a:spcBef>
                <a:spcPts val="0"/>
              </a:spcBef>
              <a:spcAft>
                <a:spcPts val="0"/>
              </a:spcAft>
              <a:buSzPts val="1800"/>
              <a:buFont typeface="Times"/>
              <a:buChar char="○"/>
            </a:pPr>
            <a:r>
              <a:rPr lang="en-US" sz="1800">
                <a:latin typeface="Times"/>
                <a:ea typeface="Times"/>
                <a:cs typeface="Times"/>
                <a:sym typeface="Times"/>
              </a:rPr>
              <a:t>Identity Operators</a:t>
            </a:r>
            <a:endParaRPr sz="1800">
              <a:latin typeface="Times"/>
              <a:ea typeface="Times"/>
              <a:cs typeface="Times"/>
              <a:sym typeface="Times"/>
            </a:endParaRPr>
          </a:p>
        </p:txBody>
      </p:sp>
      <p:sp>
        <p:nvSpPr>
          <p:cNvPr id="402" name="Google Shape;402;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7" name="Shape 407"/>
        <p:cNvGrpSpPr/>
        <p:nvPr/>
      </p:nvGrpSpPr>
      <p:grpSpPr>
        <a:xfrm>
          <a:off x="0" y="0"/>
          <a:ext cx="0" cy="0"/>
          <a:chOff x="0" y="0"/>
          <a:chExt cx="0" cy="0"/>
        </a:xfrm>
      </p:grpSpPr>
      <p:sp>
        <p:nvSpPr>
          <p:cNvPr id="408" name="Google Shape;408;p53"/>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Arithmetic</a:t>
            </a:r>
            <a:r>
              <a:rPr b="1" lang="en-US" sz="3000">
                <a:solidFill>
                  <a:srgbClr val="1C3678"/>
                </a:solidFill>
                <a:latin typeface="Trebuchet MS"/>
                <a:ea typeface="Trebuchet MS"/>
                <a:cs typeface="Trebuchet MS"/>
                <a:sym typeface="Trebuchet MS"/>
              </a:rPr>
              <a:t> Operators</a:t>
            </a:r>
            <a:endParaRPr b="1" sz="3000">
              <a:solidFill>
                <a:srgbClr val="1C3678"/>
              </a:solidFill>
              <a:latin typeface="Trebuchet MS"/>
              <a:ea typeface="Trebuchet MS"/>
              <a:cs typeface="Trebuchet MS"/>
              <a:sym typeface="Trebuchet MS"/>
            </a:endParaRPr>
          </a:p>
        </p:txBody>
      </p:sp>
      <p:sp>
        <p:nvSpPr>
          <p:cNvPr id="409" name="Google Shape;409;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410" name="Google Shape;410;p53"/>
          <p:cNvPicPr preferRelativeResize="0"/>
          <p:nvPr/>
        </p:nvPicPr>
        <p:blipFill>
          <a:blip r:embed="rId3">
            <a:alphaModFix/>
          </a:blip>
          <a:stretch>
            <a:fillRect/>
          </a:stretch>
        </p:blipFill>
        <p:spPr>
          <a:xfrm>
            <a:off x="843000" y="793125"/>
            <a:ext cx="7789449" cy="40194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5" name="Shape 415"/>
        <p:cNvGrpSpPr/>
        <p:nvPr/>
      </p:nvGrpSpPr>
      <p:grpSpPr>
        <a:xfrm>
          <a:off x="0" y="0"/>
          <a:ext cx="0" cy="0"/>
          <a:chOff x="0" y="0"/>
          <a:chExt cx="0" cy="0"/>
        </a:xfrm>
      </p:grpSpPr>
      <p:sp>
        <p:nvSpPr>
          <p:cNvPr id="416" name="Google Shape;416;p54"/>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Assignment</a:t>
            </a:r>
            <a:r>
              <a:rPr b="1" lang="en-US" sz="3000">
                <a:solidFill>
                  <a:srgbClr val="1C3678"/>
                </a:solidFill>
                <a:latin typeface="Trebuchet MS"/>
                <a:ea typeface="Trebuchet MS"/>
                <a:cs typeface="Trebuchet MS"/>
                <a:sym typeface="Trebuchet MS"/>
              </a:rPr>
              <a:t> Operators</a:t>
            </a:r>
            <a:endParaRPr b="1" sz="3000">
              <a:solidFill>
                <a:srgbClr val="1C3678"/>
              </a:solidFill>
              <a:latin typeface="Trebuchet MS"/>
              <a:ea typeface="Trebuchet MS"/>
              <a:cs typeface="Trebuchet MS"/>
              <a:sym typeface="Trebuchet MS"/>
            </a:endParaRPr>
          </a:p>
        </p:txBody>
      </p:sp>
      <p:sp>
        <p:nvSpPr>
          <p:cNvPr id="417" name="Google Shape;417;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418" name="Google Shape;418;p54"/>
          <p:cNvPicPr preferRelativeResize="0"/>
          <p:nvPr/>
        </p:nvPicPr>
        <p:blipFill>
          <a:blip r:embed="rId3">
            <a:alphaModFix/>
          </a:blip>
          <a:stretch>
            <a:fillRect/>
          </a:stretch>
        </p:blipFill>
        <p:spPr>
          <a:xfrm>
            <a:off x="913600" y="793125"/>
            <a:ext cx="7709576" cy="397629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3" name="Shape 423"/>
        <p:cNvGrpSpPr/>
        <p:nvPr/>
      </p:nvGrpSpPr>
      <p:grpSpPr>
        <a:xfrm>
          <a:off x="0" y="0"/>
          <a:ext cx="0" cy="0"/>
          <a:chOff x="0" y="0"/>
          <a:chExt cx="0" cy="0"/>
        </a:xfrm>
      </p:grpSpPr>
      <p:sp>
        <p:nvSpPr>
          <p:cNvPr id="424" name="Google Shape;424;p55"/>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Assignment</a:t>
            </a:r>
            <a:r>
              <a:rPr b="1" lang="en-US" sz="3000">
                <a:solidFill>
                  <a:srgbClr val="1C3678"/>
                </a:solidFill>
                <a:latin typeface="Trebuchet MS"/>
                <a:ea typeface="Trebuchet MS"/>
                <a:cs typeface="Trebuchet MS"/>
                <a:sym typeface="Trebuchet MS"/>
              </a:rPr>
              <a:t> Operators</a:t>
            </a:r>
            <a:endParaRPr b="1" sz="3000">
              <a:solidFill>
                <a:srgbClr val="1C3678"/>
              </a:solidFill>
              <a:latin typeface="Trebuchet MS"/>
              <a:ea typeface="Trebuchet MS"/>
              <a:cs typeface="Trebuchet MS"/>
              <a:sym typeface="Trebuchet MS"/>
            </a:endParaRPr>
          </a:p>
        </p:txBody>
      </p:sp>
      <p:sp>
        <p:nvSpPr>
          <p:cNvPr id="425" name="Google Shape;425;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426" name="Google Shape;426;p55"/>
          <p:cNvPicPr preferRelativeResize="0"/>
          <p:nvPr/>
        </p:nvPicPr>
        <p:blipFill>
          <a:blip r:embed="rId3">
            <a:alphaModFix/>
          </a:blip>
          <a:stretch>
            <a:fillRect/>
          </a:stretch>
        </p:blipFill>
        <p:spPr>
          <a:xfrm>
            <a:off x="900550" y="793125"/>
            <a:ext cx="7780174" cy="3976299"/>
          </a:xfrm>
          <a:prstGeom prst="rect">
            <a:avLst/>
          </a:prstGeom>
          <a:noFill/>
          <a:ln>
            <a:noFill/>
          </a:ln>
        </p:spPr>
      </p:pic>
      <p:pic>
        <p:nvPicPr>
          <p:cNvPr id="427" name="Google Shape;427;p55"/>
          <p:cNvPicPr preferRelativeResize="0"/>
          <p:nvPr/>
        </p:nvPicPr>
        <p:blipFill>
          <a:blip r:embed="rId4">
            <a:alphaModFix/>
          </a:blip>
          <a:stretch>
            <a:fillRect/>
          </a:stretch>
        </p:blipFill>
        <p:spPr>
          <a:xfrm>
            <a:off x="900550" y="1167975"/>
            <a:ext cx="7780175" cy="36576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2" name="Shape 432"/>
        <p:cNvGrpSpPr/>
        <p:nvPr/>
      </p:nvGrpSpPr>
      <p:grpSpPr>
        <a:xfrm>
          <a:off x="0" y="0"/>
          <a:ext cx="0" cy="0"/>
          <a:chOff x="0" y="0"/>
          <a:chExt cx="0" cy="0"/>
        </a:xfrm>
      </p:grpSpPr>
      <p:sp>
        <p:nvSpPr>
          <p:cNvPr id="433" name="Google Shape;433;p56"/>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Comparison</a:t>
            </a:r>
            <a:r>
              <a:rPr b="1" lang="en-US" sz="3000">
                <a:solidFill>
                  <a:srgbClr val="1C3678"/>
                </a:solidFill>
                <a:latin typeface="Trebuchet MS"/>
                <a:ea typeface="Trebuchet MS"/>
                <a:cs typeface="Trebuchet MS"/>
                <a:sym typeface="Trebuchet MS"/>
              </a:rPr>
              <a:t> Operators</a:t>
            </a:r>
            <a:endParaRPr b="1" sz="3000">
              <a:solidFill>
                <a:srgbClr val="1C3678"/>
              </a:solidFill>
              <a:latin typeface="Trebuchet MS"/>
              <a:ea typeface="Trebuchet MS"/>
              <a:cs typeface="Trebuchet MS"/>
              <a:sym typeface="Trebuchet MS"/>
            </a:endParaRPr>
          </a:p>
        </p:txBody>
      </p:sp>
      <p:sp>
        <p:nvSpPr>
          <p:cNvPr id="434" name="Google Shape;434;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435" name="Google Shape;435;p56"/>
          <p:cNvPicPr preferRelativeResize="0"/>
          <p:nvPr/>
        </p:nvPicPr>
        <p:blipFill>
          <a:blip r:embed="rId3">
            <a:alphaModFix/>
          </a:blip>
          <a:stretch>
            <a:fillRect/>
          </a:stretch>
        </p:blipFill>
        <p:spPr>
          <a:xfrm>
            <a:off x="914925" y="859200"/>
            <a:ext cx="7765800" cy="39390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0" name="Shape 440"/>
        <p:cNvGrpSpPr/>
        <p:nvPr/>
      </p:nvGrpSpPr>
      <p:grpSpPr>
        <a:xfrm>
          <a:off x="0" y="0"/>
          <a:ext cx="0" cy="0"/>
          <a:chOff x="0" y="0"/>
          <a:chExt cx="0" cy="0"/>
        </a:xfrm>
      </p:grpSpPr>
      <p:sp>
        <p:nvSpPr>
          <p:cNvPr id="441" name="Google Shape;441;p57"/>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Logical Operators</a:t>
            </a:r>
            <a:endParaRPr b="1" sz="3000">
              <a:solidFill>
                <a:srgbClr val="1C3678"/>
              </a:solidFill>
              <a:latin typeface="Trebuchet MS"/>
              <a:ea typeface="Trebuchet MS"/>
              <a:cs typeface="Trebuchet MS"/>
              <a:sym typeface="Trebuchet MS"/>
            </a:endParaRPr>
          </a:p>
        </p:txBody>
      </p:sp>
      <p:sp>
        <p:nvSpPr>
          <p:cNvPr id="442" name="Google Shape;442;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443" name="Google Shape;443;p57"/>
          <p:cNvPicPr preferRelativeResize="0"/>
          <p:nvPr/>
        </p:nvPicPr>
        <p:blipFill>
          <a:blip r:embed="rId3">
            <a:alphaModFix/>
          </a:blip>
          <a:stretch>
            <a:fillRect/>
          </a:stretch>
        </p:blipFill>
        <p:spPr>
          <a:xfrm>
            <a:off x="907725" y="945525"/>
            <a:ext cx="7772999" cy="35653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8" name="Shape 448"/>
        <p:cNvGrpSpPr/>
        <p:nvPr/>
      </p:nvGrpSpPr>
      <p:grpSpPr>
        <a:xfrm>
          <a:off x="0" y="0"/>
          <a:ext cx="0" cy="0"/>
          <a:chOff x="0" y="0"/>
          <a:chExt cx="0" cy="0"/>
        </a:xfrm>
      </p:grpSpPr>
      <p:sp>
        <p:nvSpPr>
          <p:cNvPr id="449" name="Google Shape;449;p58"/>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Bitwise</a:t>
            </a:r>
            <a:r>
              <a:rPr b="1" lang="en-US" sz="3000">
                <a:solidFill>
                  <a:srgbClr val="1C3678"/>
                </a:solidFill>
                <a:latin typeface="Trebuchet MS"/>
                <a:ea typeface="Trebuchet MS"/>
                <a:cs typeface="Trebuchet MS"/>
                <a:sym typeface="Trebuchet MS"/>
              </a:rPr>
              <a:t> Operators</a:t>
            </a:r>
            <a:endParaRPr b="1" sz="3000">
              <a:solidFill>
                <a:srgbClr val="1C3678"/>
              </a:solidFill>
              <a:latin typeface="Trebuchet MS"/>
              <a:ea typeface="Trebuchet MS"/>
              <a:cs typeface="Trebuchet MS"/>
              <a:sym typeface="Trebuchet MS"/>
            </a:endParaRPr>
          </a:p>
        </p:txBody>
      </p:sp>
      <p:sp>
        <p:nvSpPr>
          <p:cNvPr id="450" name="Google Shape;450;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451" name="Google Shape;451;p58"/>
          <p:cNvPicPr preferRelativeResize="0"/>
          <p:nvPr/>
        </p:nvPicPr>
        <p:blipFill>
          <a:blip r:embed="rId3">
            <a:alphaModFix/>
          </a:blip>
          <a:stretch>
            <a:fillRect/>
          </a:stretch>
        </p:blipFill>
        <p:spPr>
          <a:xfrm>
            <a:off x="900525" y="887975"/>
            <a:ext cx="7780200" cy="392462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6" name="Shape 456"/>
        <p:cNvGrpSpPr/>
        <p:nvPr/>
      </p:nvGrpSpPr>
      <p:grpSpPr>
        <a:xfrm>
          <a:off x="0" y="0"/>
          <a:ext cx="0" cy="0"/>
          <a:chOff x="0" y="0"/>
          <a:chExt cx="0" cy="0"/>
        </a:xfrm>
      </p:grpSpPr>
      <p:sp>
        <p:nvSpPr>
          <p:cNvPr id="457" name="Google Shape;457;p59"/>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Membership</a:t>
            </a:r>
            <a:r>
              <a:rPr b="1" lang="en-US" sz="3000">
                <a:solidFill>
                  <a:srgbClr val="1C3678"/>
                </a:solidFill>
                <a:latin typeface="Trebuchet MS"/>
                <a:ea typeface="Trebuchet MS"/>
                <a:cs typeface="Trebuchet MS"/>
                <a:sym typeface="Trebuchet MS"/>
              </a:rPr>
              <a:t> Operators</a:t>
            </a:r>
            <a:endParaRPr b="1" sz="3000">
              <a:solidFill>
                <a:srgbClr val="1C3678"/>
              </a:solidFill>
              <a:latin typeface="Trebuchet MS"/>
              <a:ea typeface="Trebuchet MS"/>
              <a:cs typeface="Trebuchet MS"/>
              <a:sym typeface="Trebuchet MS"/>
            </a:endParaRPr>
          </a:p>
        </p:txBody>
      </p:sp>
      <p:sp>
        <p:nvSpPr>
          <p:cNvPr id="458" name="Google Shape;458;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459" name="Google Shape;459;p59"/>
          <p:cNvPicPr preferRelativeResize="0"/>
          <p:nvPr/>
        </p:nvPicPr>
        <p:blipFill>
          <a:blip r:embed="rId3">
            <a:alphaModFix/>
          </a:blip>
          <a:stretch>
            <a:fillRect/>
          </a:stretch>
        </p:blipFill>
        <p:spPr>
          <a:xfrm>
            <a:off x="913625" y="923925"/>
            <a:ext cx="7767100" cy="32956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4" name="Shape 464"/>
        <p:cNvGrpSpPr/>
        <p:nvPr/>
      </p:nvGrpSpPr>
      <p:grpSpPr>
        <a:xfrm>
          <a:off x="0" y="0"/>
          <a:ext cx="0" cy="0"/>
          <a:chOff x="0" y="0"/>
          <a:chExt cx="0" cy="0"/>
        </a:xfrm>
      </p:grpSpPr>
      <p:sp>
        <p:nvSpPr>
          <p:cNvPr id="465" name="Google Shape;465;p60"/>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Identity</a:t>
            </a:r>
            <a:r>
              <a:rPr b="1" lang="en-US" sz="3000">
                <a:solidFill>
                  <a:srgbClr val="1C3678"/>
                </a:solidFill>
                <a:latin typeface="Trebuchet MS"/>
                <a:ea typeface="Trebuchet MS"/>
                <a:cs typeface="Trebuchet MS"/>
                <a:sym typeface="Trebuchet MS"/>
              </a:rPr>
              <a:t> Operators</a:t>
            </a:r>
            <a:endParaRPr b="1" sz="3000">
              <a:solidFill>
                <a:srgbClr val="1C3678"/>
              </a:solidFill>
              <a:latin typeface="Trebuchet MS"/>
              <a:ea typeface="Trebuchet MS"/>
              <a:cs typeface="Trebuchet MS"/>
              <a:sym typeface="Trebuchet MS"/>
            </a:endParaRPr>
          </a:p>
        </p:txBody>
      </p:sp>
      <p:sp>
        <p:nvSpPr>
          <p:cNvPr id="466" name="Google Shape;466;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467" name="Google Shape;467;p60"/>
          <p:cNvPicPr preferRelativeResize="0"/>
          <p:nvPr/>
        </p:nvPicPr>
        <p:blipFill>
          <a:blip r:embed="rId3">
            <a:alphaModFix/>
          </a:blip>
          <a:stretch>
            <a:fillRect/>
          </a:stretch>
        </p:blipFill>
        <p:spPr>
          <a:xfrm>
            <a:off x="907725" y="887400"/>
            <a:ext cx="7773000" cy="317887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2" name="Shape 472"/>
        <p:cNvGrpSpPr/>
        <p:nvPr/>
      </p:nvGrpSpPr>
      <p:grpSpPr>
        <a:xfrm>
          <a:off x="0" y="0"/>
          <a:ext cx="0" cy="0"/>
          <a:chOff x="0" y="0"/>
          <a:chExt cx="0" cy="0"/>
        </a:xfrm>
      </p:grpSpPr>
      <p:sp>
        <p:nvSpPr>
          <p:cNvPr id="473" name="Google Shape;473;p61"/>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Operators </a:t>
            </a:r>
            <a:r>
              <a:rPr b="1" lang="en-US" sz="3000">
                <a:solidFill>
                  <a:srgbClr val="1C3678"/>
                </a:solidFill>
                <a:latin typeface="Trebuchet MS"/>
                <a:ea typeface="Trebuchet MS"/>
                <a:cs typeface="Trebuchet MS"/>
                <a:sym typeface="Trebuchet MS"/>
              </a:rPr>
              <a:t>Precedence</a:t>
            </a:r>
            <a:endParaRPr b="1" sz="3000">
              <a:solidFill>
                <a:srgbClr val="1C3678"/>
              </a:solidFill>
              <a:latin typeface="Trebuchet MS"/>
              <a:ea typeface="Trebuchet MS"/>
              <a:cs typeface="Trebuchet MS"/>
              <a:sym typeface="Trebuchet MS"/>
            </a:endParaRPr>
          </a:p>
        </p:txBody>
      </p:sp>
      <p:sp>
        <p:nvSpPr>
          <p:cNvPr id="474" name="Google Shape;474;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475" name="Google Shape;475;p61"/>
          <p:cNvSpPr txBox="1"/>
          <p:nvPr/>
        </p:nvSpPr>
        <p:spPr>
          <a:xfrm>
            <a:off x="688425" y="793125"/>
            <a:ext cx="8107500" cy="3961500"/>
          </a:xfrm>
          <a:prstGeom prst="rect">
            <a:avLst/>
          </a:prstGeom>
          <a:noFill/>
          <a:ln>
            <a:noFill/>
          </a:ln>
        </p:spPr>
        <p:txBody>
          <a:bodyPr anchorCtr="0" anchor="t" bIns="0" lIns="0" spcFirstLastPara="1" rIns="0" wrap="square" tIns="125075">
            <a:spAutoFit/>
          </a:bodyPr>
          <a:lstStyle/>
          <a:p>
            <a:pPr indent="0" lvl="0" marL="0" rtl="0" algn="just">
              <a:lnSpc>
                <a:spcPct val="115000"/>
              </a:lnSpc>
              <a:spcBef>
                <a:spcPts val="290"/>
              </a:spcBef>
              <a:spcAft>
                <a:spcPts val="0"/>
              </a:spcAft>
              <a:buNone/>
            </a:pPr>
            <a:r>
              <a:rPr b="1" lang="en-US" sz="1800">
                <a:highlight>
                  <a:srgbClr val="FFFFFF"/>
                </a:highlight>
                <a:latin typeface="Times"/>
                <a:ea typeface="Times"/>
                <a:cs typeface="Times"/>
                <a:sym typeface="Times"/>
              </a:rPr>
              <a:t>Operator				Description</a:t>
            </a:r>
            <a:endParaRPr b="1" sz="1800">
              <a:highlight>
                <a:srgbClr val="FFFFFF"/>
              </a:highlight>
              <a:latin typeface="Times"/>
              <a:ea typeface="Times"/>
              <a:cs typeface="Times"/>
              <a:sym typeface="Times"/>
            </a:endParaRPr>
          </a:p>
          <a:p>
            <a:pPr indent="0" lvl="0" marL="0" rtl="0" algn="just">
              <a:lnSpc>
                <a:spcPct val="115000"/>
              </a:lnSpc>
              <a:spcBef>
                <a:spcPts val="290"/>
              </a:spcBef>
              <a:spcAft>
                <a:spcPts val="0"/>
              </a:spcAft>
              <a:buNone/>
            </a:pPr>
            <a:r>
              <a:rPr lang="en-US" sz="1800">
                <a:highlight>
                  <a:srgbClr val="FFFFFF"/>
                </a:highlight>
                <a:latin typeface="Times"/>
                <a:ea typeface="Times"/>
                <a:cs typeface="Times"/>
                <a:sym typeface="Times"/>
              </a:rPr>
              <a:t>()						Parentheses	</a:t>
            </a:r>
            <a:endParaRPr sz="1800">
              <a:highlight>
                <a:srgbClr val="FFFFFF"/>
              </a:highlight>
              <a:latin typeface="Times"/>
              <a:ea typeface="Times"/>
              <a:cs typeface="Times"/>
              <a:sym typeface="Times"/>
            </a:endParaRPr>
          </a:p>
          <a:p>
            <a:pPr indent="0" lvl="0" marL="0" rtl="0" algn="just">
              <a:lnSpc>
                <a:spcPct val="115000"/>
              </a:lnSpc>
              <a:spcBef>
                <a:spcPts val="290"/>
              </a:spcBef>
              <a:spcAft>
                <a:spcPts val="0"/>
              </a:spcAft>
              <a:buNone/>
            </a:pPr>
            <a:r>
              <a:rPr lang="en-US" sz="1800">
                <a:highlight>
                  <a:srgbClr val="FFFFFF"/>
                </a:highlight>
                <a:latin typeface="Times"/>
                <a:ea typeface="Times"/>
                <a:cs typeface="Times"/>
                <a:sym typeface="Times"/>
              </a:rPr>
              <a:t>**						Exponentiation	</a:t>
            </a:r>
            <a:endParaRPr sz="1800">
              <a:highlight>
                <a:srgbClr val="FFFFFF"/>
              </a:highlight>
              <a:latin typeface="Times"/>
              <a:ea typeface="Times"/>
              <a:cs typeface="Times"/>
              <a:sym typeface="Times"/>
            </a:endParaRPr>
          </a:p>
          <a:p>
            <a:pPr indent="0" lvl="0" marL="0" rtl="0" algn="just">
              <a:lnSpc>
                <a:spcPct val="115000"/>
              </a:lnSpc>
              <a:spcBef>
                <a:spcPts val="290"/>
              </a:spcBef>
              <a:spcAft>
                <a:spcPts val="0"/>
              </a:spcAft>
              <a:buNone/>
            </a:pPr>
            <a:r>
              <a:rPr lang="en-US" sz="1800">
                <a:highlight>
                  <a:srgbClr val="FFFFFF"/>
                </a:highlight>
                <a:latin typeface="Times"/>
                <a:ea typeface="Times"/>
                <a:cs typeface="Times"/>
                <a:sym typeface="Times"/>
              </a:rPr>
              <a:t>+x,  -x,  ~x				Unary plus, unary minus, and bitwise NOT	</a:t>
            </a:r>
            <a:endParaRPr sz="1800">
              <a:highlight>
                <a:srgbClr val="FFFFFF"/>
              </a:highlight>
              <a:latin typeface="Times"/>
              <a:ea typeface="Times"/>
              <a:cs typeface="Times"/>
              <a:sym typeface="Times"/>
            </a:endParaRPr>
          </a:p>
          <a:p>
            <a:pPr indent="0" lvl="0" marL="0" rtl="0" algn="just">
              <a:lnSpc>
                <a:spcPct val="115000"/>
              </a:lnSpc>
              <a:spcBef>
                <a:spcPts val="290"/>
              </a:spcBef>
              <a:spcAft>
                <a:spcPts val="0"/>
              </a:spcAft>
              <a:buNone/>
            </a:pPr>
            <a:r>
              <a:rPr lang="en-US" sz="1800">
                <a:highlight>
                  <a:srgbClr val="FFFFFF"/>
                </a:highlight>
                <a:latin typeface="Times"/>
                <a:ea typeface="Times"/>
                <a:cs typeface="Times"/>
                <a:sym typeface="Times"/>
              </a:rPr>
              <a:t>*,  /,  //,  %</a:t>
            </a:r>
            <a:r>
              <a:rPr lang="en-US" sz="1800">
                <a:highlight>
                  <a:srgbClr val="FFFFFF"/>
                </a:highlight>
                <a:latin typeface="Times"/>
                <a:ea typeface="Times"/>
                <a:cs typeface="Times"/>
                <a:sym typeface="Times"/>
              </a:rPr>
              <a:t>	</a:t>
            </a:r>
            <a:r>
              <a:rPr lang="en-US" sz="1800">
                <a:highlight>
                  <a:srgbClr val="FFFFFF"/>
                </a:highlight>
                <a:latin typeface="Times"/>
                <a:ea typeface="Times"/>
                <a:cs typeface="Times"/>
                <a:sym typeface="Times"/>
              </a:rPr>
              <a:t>		        Multiplication, division, floor division, and modulus</a:t>
            </a:r>
            <a:endParaRPr sz="1800">
              <a:highlight>
                <a:srgbClr val="FFFFFF"/>
              </a:highlight>
              <a:latin typeface="Times"/>
              <a:ea typeface="Times"/>
              <a:cs typeface="Times"/>
              <a:sym typeface="Times"/>
            </a:endParaRPr>
          </a:p>
          <a:p>
            <a:pPr indent="0" lvl="0" marL="0" rtl="0" algn="just">
              <a:lnSpc>
                <a:spcPct val="115000"/>
              </a:lnSpc>
              <a:spcBef>
                <a:spcPts val="290"/>
              </a:spcBef>
              <a:spcAft>
                <a:spcPts val="0"/>
              </a:spcAft>
              <a:buNone/>
            </a:pPr>
            <a:r>
              <a:rPr lang="en-US" sz="1800">
                <a:highlight>
                  <a:srgbClr val="FFFFFF"/>
                </a:highlight>
                <a:latin typeface="Times"/>
                <a:ea typeface="Times"/>
                <a:cs typeface="Times"/>
                <a:sym typeface="Times"/>
              </a:rPr>
              <a:t>+,  - 						Addition and subtraction</a:t>
            </a:r>
            <a:r>
              <a:rPr lang="en-US" sz="1800">
                <a:highlight>
                  <a:srgbClr val="FFFFFF"/>
                </a:highlight>
                <a:latin typeface="Times"/>
                <a:ea typeface="Times"/>
                <a:cs typeface="Times"/>
                <a:sym typeface="Times"/>
              </a:rPr>
              <a:t>				</a:t>
            </a:r>
            <a:endParaRPr sz="1800">
              <a:highlight>
                <a:srgbClr val="FFFFFF"/>
              </a:highlight>
              <a:latin typeface="Times"/>
              <a:ea typeface="Times"/>
              <a:cs typeface="Times"/>
              <a:sym typeface="Times"/>
            </a:endParaRPr>
          </a:p>
          <a:p>
            <a:pPr indent="0" lvl="0" marL="0" rtl="0" algn="just">
              <a:lnSpc>
                <a:spcPct val="115000"/>
              </a:lnSpc>
              <a:spcBef>
                <a:spcPts val="290"/>
              </a:spcBef>
              <a:spcAft>
                <a:spcPts val="0"/>
              </a:spcAft>
              <a:buNone/>
            </a:pPr>
            <a:r>
              <a:rPr lang="en-US" sz="1800">
                <a:highlight>
                  <a:srgbClr val="FFFFFF"/>
                </a:highlight>
                <a:latin typeface="Times"/>
                <a:ea typeface="Times"/>
                <a:cs typeface="Times"/>
                <a:sym typeface="Times"/>
              </a:rPr>
              <a:t>&lt;&lt;,  &gt;&gt;, </a:t>
            </a:r>
            <a:r>
              <a:rPr lang="en-US" sz="1800">
                <a:highlight>
                  <a:srgbClr val="FFFFFF"/>
                </a:highlight>
                <a:latin typeface="Times"/>
                <a:ea typeface="Times"/>
                <a:cs typeface="Times"/>
                <a:sym typeface="Times"/>
              </a:rPr>
              <a:t>&amp;, ^, |	</a:t>
            </a:r>
            <a:r>
              <a:rPr lang="en-US" sz="1800">
                <a:highlight>
                  <a:srgbClr val="FFFFFF"/>
                </a:highlight>
                <a:latin typeface="Times"/>
                <a:ea typeface="Times"/>
                <a:cs typeface="Times"/>
                <a:sym typeface="Times"/>
              </a:rPr>
              <a:t>		Bitwise left and right shifts </a:t>
            </a:r>
            <a:r>
              <a:rPr lang="en-US" sz="1800">
                <a:highlight>
                  <a:srgbClr val="FFFFFF"/>
                </a:highlight>
                <a:latin typeface="Times"/>
                <a:ea typeface="Times"/>
                <a:cs typeface="Times"/>
                <a:sym typeface="Times"/>
              </a:rPr>
              <a:t>AND XOR OR</a:t>
            </a:r>
            <a:endParaRPr sz="1800">
              <a:highlight>
                <a:srgbClr val="FFFFFF"/>
              </a:highlight>
              <a:latin typeface="Times"/>
              <a:ea typeface="Times"/>
              <a:cs typeface="Times"/>
              <a:sym typeface="Times"/>
            </a:endParaRPr>
          </a:p>
          <a:p>
            <a:pPr indent="0" lvl="0" marL="0" rtl="0" algn="just">
              <a:lnSpc>
                <a:spcPct val="115000"/>
              </a:lnSpc>
              <a:spcBef>
                <a:spcPts val="290"/>
              </a:spcBef>
              <a:spcAft>
                <a:spcPts val="0"/>
              </a:spcAft>
              <a:buNone/>
            </a:pPr>
            <a:r>
              <a:rPr lang="en-US" sz="1800">
                <a:highlight>
                  <a:srgbClr val="FFFFFF"/>
                </a:highlight>
                <a:latin typeface="Times"/>
                <a:ea typeface="Times"/>
                <a:cs typeface="Times"/>
                <a:sym typeface="Times"/>
              </a:rPr>
              <a:t>==, !=, &gt;, &gt;=, &lt;, &lt;=   		Comparison </a:t>
            </a:r>
            <a:r>
              <a:rPr lang="en-US" sz="1800">
                <a:highlight>
                  <a:srgbClr val="FFFFFF"/>
                </a:highlight>
                <a:latin typeface="Times"/>
                <a:ea typeface="Times"/>
                <a:cs typeface="Times"/>
                <a:sym typeface="Times"/>
              </a:rPr>
              <a:t>operators	</a:t>
            </a:r>
            <a:endParaRPr sz="1800">
              <a:highlight>
                <a:srgbClr val="FFFFFF"/>
              </a:highlight>
              <a:latin typeface="Times"/>
              <a:ea typeface="Times"/>
              <a:cs typeface="Times"/>
              <a:sym typeface="Times"/>
            </a:endParaRPr>
          </a:p>
          <a:p>
            <a:pPr indent="0" lvl="0" marL="0" rtl="0" algn="just">
              <a:lnSpc>
                <a:spcPct val="115000"/>
              </a:lnSpc>
              <a:spcBef>
                <a:spcPts val="290"/>
              </a:spcBef>
              <a:spcAft>
                <a:spcPts val="0"/>
              </a:spcAft>
              <a:buNone/>
            </a:pPr>
            <a:r>
              <a:rPr lang="en-US" sz="1800">
                <a:highlight>
                  <a:srgbClr val="FFFFFF"/>
                </a:highlight>
                <a:latin typeface="Times"/>
                <a:ea typeface="Times"/>
                <a:cs typeface="Times"/>
                <a:sym typeface="Times"/>
              </a:rPr>
              <a:t>is,  is not  				I</a:t>
            </a:r>
            <a:r>
              <a:rPr lang="en-US" sz="1800">
                <a:highlight>
                  <a:srgbClr val="FFFFFF"/>
                </a:highlight>
                <a:latin typeface="Times"/>
                <a:ea typeface="Times"/>
                <a:cs typeface="Times"/>
                <a:sym typeface="Times"/>
              </a:rPr>
              <a:t>dentity operators</a:t>
            </a:r>
            <a:endParaRPr sz="1800">
              <a:highlight>
                <a:srgbClr val="FFFFFF"/>
              </a:highlight>
              <a:latin typeface="Times"/>
              <a:ea typeface="Times"/>
              <a:cs typeface="Times"/>
              <a:sym typeface="Times"/>
            </a:endParaRPr>
          </a:p>
          <a:p>
            <a:pPr indent="0" lvl="0" marL="0" rtl="0" algn="just">
              <a:lnSpc>
                <a:spcPct val="115000"/>
              </a:lnSpc>
              <a:spcBef>
                <a:spcPts val="290"/>
              </a:spcBef>
              <a:spcAft>
                <a:spcPts val="0"/>
              </a:spcAft>
              <a:buNone/>
            </a:pPr>
            <a:r>
              <a:rPr lang="en-US" sz="1800">
                <a:highlight>
                  <a:srgbClr val="FFFFFF"/>
                </a:highlight>
                <a:latin typeface="Times"/>
                <a:ea typeface="Times"/>
                <a:cs typeface="Times"/>
                <a:sym typeface="Times"/>
              </a:rPr>
              <a:t>in,  not in 				M</a:t>
            </a:r>
            <a:r>
              <a:rPr lang="en-US" sz="1800">
                <a:highlight>
                  <a:srgbClr val="FFFFFF"/>
                </a:highlight>
                <a:latin typeface="Times"/>
                <a:ea typeface="Times"/>
                <a:cs typeface="Times"/>
                <a:sym typeface="Times"/>
              </a:rPr>
              <a:t>embership operators	</a:t>
            </a:r>
            <a:endParaRPr sz="1800">
              <a:highlight>
                <a:srgbClr val="FFFFFF"/>
              </a:highlight>
              <a:latin typeface="Times"/>
              <a:ea typeface="Times"/>
              <a:cs typeface="Times"/>
              <a:sym typeface="Times"/>
            </a:endParaRPr>
          </a:p>
          <a:p>
            <a:pPr indent="0" lvl="0" marL="0" rtl="0" algn="just">
              <a:lnSpc>
                <a:spcPct val="115000"/>
              </a:lnSpc>
              <a:spcBef>
                <a:spcPts val="290"/>
              </a:spcBef>
              <a:spcAft>
                <a:spcPts val="0"/>
              </a:spcAft>
              <a:buNone/>
            </a:pPr>
            <a:r>
              <a:rPr lang="en-US" sz="1800">
                <a:highlight>
                  <a:srgbClr val="FFFFFF"/>
                </a:highlight>
                <a:latin typeface="Times"/>
                <a:ea typeface="Times"/>
                <a:cs typeface="Times"/>
                <a:sym typeface="Times"/>
              </a:rPr>
              <a:t>not, and, or				Logical </a:t>
            </a:r>
            <a:r>
              <a:rPr lang="en-US" sz="1800">
                <a:highlight>
                  <a:srgbClr val="FFFFFF"/>
                </a:highlight>
                <a:latin typeface="Times"/>
                <a:ea typeface="Times"/>
                <a:cs typeface="Times"/>
                <a:sym typeface="Times"/>
              </a:rPr>
              <a:t>operators	</a:t>
            </a:r>
            <a:endParaRPr sz="1800">
              <a:highlight>
                <a:srgbClr val="FFFFFF"/>
              </a:highlight>
              <a:latin typeface="Times"/>
              <a:ea typeface="Times"/>
              <a:cs typeface="Times"/>
              <a:sym typeface="Time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0" name="Shape 480"/>
        <p:cNvGrpSpPr/>
        <p:nvPr/>
      </p:nvGrpSpPr>
      <p:grpSpPr>
        <a:xfrm>
          <a:off x="0" y="0"/>
          <a:ext cx="0" cy="0"/>
          <a:chOff x="0" y="0"/>
          <a:chExt cx="0" cy="0"/>
        </a:xfrm>
      </p:grpSpPr>
      <p:sp>
        <p:nvSpPr>
          <p:cNvPr id="481" name="Google Shape;481;p62"/>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Statements in Python</a:t>
            </a:r>
            <a:endParaRPr b="1" sz="3000">
              <a:solidFill>
                <a:srgbClr val="1C3678"/>
              </a:solidFill>
              <a:latin typeface="Trebuchet MS"/>
              <a:ea typeface="Trebuchet MS"/>
              <a:cs typeface="Trebuchet MS"/>
              <a:sym typeface="Trebuchet MS"/>
            </a:endParaRPr>
          </a:p>
        </p:txBody>
      </p:sp>
      <p:sp>
        <p:nvSpPr>
          <p:cNvPr id="482" name="Google Shape;482;p62"/>
          <p:cNvSpPr txBox="1"/>
          <p:nvPr/>
        </p:nvSpPr>
        <p:spPr>
          <a:xfrm>
            <a:off x="688425" y="793125"/>
            <a:ext cx="8107500" cy="32709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290"/>
              </a:spcBef>
              <a:spcAft>
                <a:spcPts val="0"/>
              </a:spcAft>
              <a:buSzPts val="1800"/>
              <a:buFont typeface="Times"/>
              <a:buChar char="➢"/>
            </a:pPr>
            <a:r>
              <a:rPr lang="en-US" sz="1800">
                <a:latin typeface="Times"/>
                <a:ea typeface="Times"/>
                <a:cs typeface="Times"/>
                <a:sym typeface="Times"/>
              </a:rPr>
              <a:t>A Python statement is an instruction that the Python interpreter can execute. </a:t>
            </a:r>
            <a:endParaRPr sz="1800">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There are different types of statements in Python language as Assignment statements, Conditional statements, Looping statements, etc. </a:t>
            </a:r>
            <a:endParaRPr sz="1800">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The token character NEWLINE is used to end a statement in Python. It signifies that </a:t>
            </a:r>
            <a:r>
              <a:rPr lang="en-US" sz="1800">
                <a:latin typeface="Times"/>
                <a:ea typeface="Times"/>
                <a:cs typeface="Times"/>
                <a:sym typeface="Times"/>
              </a:rPr>
              <a:t>e</a:t>
            </a:r>
            <a:r>
              <a:rPr lang="en-US" sz="1800">
                <a:latin typeface="Times"/>
                <a:ea typeface="Times"/>
                <a:cs typeface="Times"/>
                <a:sym typeface="Times"/>
              </a:rPr>
              <a:t>ach line of a Python script contains a statement. These all help the user to get the required output.</a:t>
            </a:r>
            <a:endParaRPr sz="1800">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The different types of Python statements are listed below:</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Multi-Line Statements</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Conditional </a:t>
            </a:r>
            <a:r>
              <a:rPr lang="en-US" sz="1800">
                <a:latin typeface="Times"/>
                <a:ea typeface="Times"/>
                <a:cs typeface="Times"/>
                <a:sym typeface="Times"/>
              </a:rPr>
              <a:t>Statements</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Loop Statements</a:t>
            </a:r>
            <a:endParaRPr sz="1800">
              <a:latin typeface="Times"/>
              <a:ea typeface="Times"/>
              <a:cs typeface="Times"/>
              <a:sym typeface="Times"/>
            </a:endParaRPr>
          </a:p>
        </p:txBody>
      </p:sp>
      <p:sp>
        <p:nvSpPr>
          <p:cNvPr id="483" name="Google Shape;483;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8" name="Shape 488"/>
        <p:cNvGrpSpPr/>
        <p:nvPr/>
      </p:nvGrpSpPr>
      <p:grpSpPr>
        <a:xfrm>
          <a:off x="0" y="0"/>
          <a:ext cx="0" cy="0"/>
          <a:chOff x="0" y="0"/>
          <a:chExt cx="0" cy="0"/>
        </a:xfrm>
      </p:grpSpPr>
      <p:sp>
        <p:nvSpPr>
          <p:cNvPr id="489" name="Google Shape;489;p63"/>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Multi-Line</a:t>
            </a:r>
            <a:r>
              <a:rPr b="1" lang="en-US" sz="3000">
                <a:solidFill>
                  <a:srgbClr val="1C3678"/>
                </a:solidFill>
                <a:latin typeface="Trebuchet MS"/>
                <a:ea typeface="Trebuchet MS"/>
                <a:cs typeface="Trebuchet MS"/>
                <a:sym typeface="Trebuchet MS"/>
              </a:rPr>
              <a:t> Statements</a:t>
            </a:r>
            <a:endParaRPr b="1" sz="3000">
              <a:solidFill>
                <a:srgbClr val="1C3678"/>
              </a:solidFill>
              <a:latin typeface="Trebuchet MS"/>
              <a:ea typeface="Trebuchet MS"/>
              <a:cs typeface="Trebuchet MS"/>
              <a:sym typeface="Trebuchet MS"/>
            </a:endParaRPr>
          </a:p>
        </p:txBody>
      </p:sp>
      <p:sp>
        <p:nvSpPr>
          <p:cNvPr id="490" name="Google Shape;490;p63"/>
          <p:cNvSpPr txBox="1"/>
          <p:nvPr/>
        </p:nvSpPr>
        <p:spPr>
          <a:xfrm>
            <a:off x="688425" y="793125"/>
            <a:ext cx="8107500" cy="42057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290"/>
              </a:spcBef>
              <a:spcAft>
                <a:spcPts val="0"/>
              </a:spcAft>
              <a:buSzPts val="1800"/>
              <a:buFont typeface="Times"/>
              <a:buChar char="➢"/>
            </a:pPr>
            <a:r>
              <a:rPr lang="en-US" sz="1800">
                <a:latin typeface="Times"/>
                <a:ea typeface="Times"/>
                <a:cs typeface="Times"/>
                <a:sym typeface="Times"/>
              </a:rPr>
              <a:t>To extend the statement to one or more lines we can use braces {}, parentheses (), square [], semi-colon “;”, and continuation character slash “\”. </a:t>
            </a:r>
            <a:endParaRPr sz="1800">
              <a:latin typeface="Times"/>
              <a:ea typeface="Times"/>
              <a:cs typeface="Times"/>
              <a:sym typeface="Times"/>
            </a:endParaRPr>
          </a:p>
          <a:p>
            <a:pPr indent="0" lvl="0" marL="914400" rtl="0" algn="just">
              <a:lnSpc>
                <a:spcPct val="115000"/>
              </a:lnSpc>
              <a:spcBef>
                <a:spcPts val="290"/>
              </a:spcBef>
              <a:spcAft>
                <a:spcPts val="0"/>
              </a:spcAft>
              <a:buNone/>
            </a:pPr>
            <a:r>
              <a:rPr i="1" lang="en-US" sz="1800">
                <a:latin typeface="Times"/>
                <a:ea typeface="Times"/>
                <a:cs typeface="Times"/>
                <a:sym typeface="Times"/>
              </a:rPr>
              <a:t># Initialize the lines using continuation character</a:t>
            </a:r>
            <a:endParaRPr i="1" sz="1800">
              <a:latin typeface="Times"/>
              <a:ea typeface="Times"/>
              <a:cs typeface="Times"/>
              <a:sym typeface="Times"/>
            </a:endParaRPr>
          </a:p>
          <a:p>
            <a:pPr indent="0" lvl="0" marL="914400" rtl="0" algn="just">
              <a:lnSpc>
                <a:spcPct val="115000"/>
              </a:lnSpc>
              <a:spcBef>
                <a:spcPts val="290"/>
              </a:spcBef>
              <a:spcAft>
                <a:spcPts val="0"/>
              </a:spcAft>
              <a:buNone/>
            </a:pPr>
            <a:r>
              <a:rPr i="1" lang="en-US" sz="1800">
                <a:latin typeface="Times"/>
                <a:ea typeface="Times"/>
                <a:cs typeface="Times"/>
                <a:sym typeface="Times"/>
              </a:rPr>
              <a:t>message = "Hello\</a:t>
            </a:r>
            <a:endParaRPr i="1" sz="1800">
              <a:latin typeface="Times"/>
              <a:ea typeface="Times"/>
              <a:cs typeface="Times"/>
              <a:sym typeface="Times"/>
            </a:endParaRPr>
          </a:p>
          <a:p>
            <a:pPr indent="0" lvl="0" marL="914400" rtl="0" algn="just">
              <a:lnSpc>
                <a:spcPct val="115000"/>
              </a:lnSpc>
              <a:spcBef>
                <a:spcPts val="290"/>
              </a:spcBef>
              <a:spcAft>
                <a:spcPts val="0"/>
              </a:spcAft>
              <a:buNone/>
            </a:pPr>
            <a:r>
              <a:rPr i="1" lang="en-US" sz="1800">
                <a:latin typeface="Times"/>
                <a:ea typeface="Times"/>
                <a:cs typeface="Times"/>
                <a:sym typeface="Times"/>
              </a:rPr>
              <a:t>My\</a:t>
            </a:r>
            <a:endParaRPr i="1" sz="1800">
              <a:latin typeface="Times"/>
              <a:ea typeface="Times"/>
              <a:cs typeface="Times"/>
              <a:sym typeface="Times"/>
            </a:endParaRPr>
          </a:p>
          <a:p>
            <a:pPr indent="0" lvl="0" marL="914400" rtl="0" algn="just">
              <a:lnSpc>
                <a:spcPct val="115000"/>
              </a:lnSpc>
              <a:spcBef>
                <a:spcPts val="290"/>
              </a:spcBef>
              <a:spcAft>
                <a:spcPts val="0"/>
              </a:spcAft>
              <a:buNone/>
            </a:pPr>
            <a:r>
              <a:rPr i="1" lang="en-US" sz="1800">
                <a:latin typeface="Times"/>
                <a:ea typeface="Times"/>
                <a:cs typeface="Times"/>
                <a:sym typeface="Times"/>
              </a:rPr>
              <a:t>Name is Baburam Shrestha"</a:t>
            </a:r>
            <a:endParaRPr i="1" sz="1800">
              <a:latin typeface="Times"/>
              <a:ea typeface="Times"/>
              <a:cs typeface="Times"/>
              <a:sym typeface="Times"/>
            </a:endParaRPr>
          </a:p>
          <a:p>
            <a:pPr indent="0" lvl="0" marL="914400" rtl="0" algn="just">
              <a:lnSpc>
                <a:spcPct val="115000"/>
              </a:lnSpc>
              <a:spcBef>
                <a:spcPts val="290"/>
              </a:spcBef>
              <a:spcAft>
                <a:spcPts val="0"/>
              </a:spcAft>
              <a:buNone/>
            </a:pPr>
            <a:r>
              <a:rPr i="1" lang="en-US" sz="1800">
                <a:latin typeface="Times"/>
                <a:ea typeface="Times"/>
                <a:cs typeface="Times"/>
                <a:sym typeface="Times"/>
              </a:rPr>
              <a:t>print(message)</a:t>
            </a:r>
            <a:endParaRPr i="1" sz="1800">
              <a:latin typeface="Times"/>
              <a:ea typeface="Times"/>
              <a:cs typeface="Times"/>
              <a:sym typeface="Times"/>
            </a:endParaRPr>
          </a:p>
          <a:p>
            <a:pPr indent="0" lvl="0" marL="914400" rtl="0" algn="just">
              <a:lnSpc>
                <a:spcPct val="115000"/>
              </a:lnSpc>
              <a:spcBef>
                <a:spcPts val="290"/>
              </a:spcBef>
              <a:spcAft>
                <a:spcPts val="0"/>
              </a:spcAft>
              <a:buNone/>
            </a:pPr>
            <a:r>
              <a:t/>
            </a:r>
            <a:endParaRPr i="1" sz="1800">
              <a:latin typeface="Times"/>
              <a:ea typeface="Times"/>
              <a:cs typeface="Times"/>
              <a:sym typeface="Times"/>
            </a:endParaRPr>
          </a:p>
          <a:p>
            <a:pPr indent="-342900" lvl="0" marL="457200" rtl="0" algn="just">
              <a:lnSpc>
                <a:spcPct val="115000"/>
              </a:lnSpc>
              <a:spcBef>
                <a:spcPts val="290"/>
              </a:spcBef>
              <a:spcAft>
                <a:spcPts val="0"/>
              </a:spcAft>
              <a:buSzPts val="1800"/>
              <a:buFont typeface="Times"/>
              <a:buChar char="➔"/>
            </a:pPr>
            <a:r>
              <a:rPr lang="en-US" sz="1800">
                <a:latin typeface="Times"/>
                <a:ea typeface="Times"/>
                <a:cs typeface="Times"/>
                <a:sym typeface="Times"/>
              </a:rPr>
              <a:t>Line continuation are divided into two different ways:</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Explicit line continuation</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Implicit line continuation</a:t>
            </a:r>
            <a:endParaRPr sz="1800">
              <a:latin typeface="Times"/>
              <a:ea typeface="Times"/>
              <a:cs typeface="Times"/>
              <a:sym typeface="Times"/>
            </a:endParaRPr>
          </a:p>
          <a:p>
            <a:pPr indent="0" lvl="0" marL="0" rtl="0" algn="just">
              <a:lnSpc>
                <a:spcPct val="115000"/>
              </a:lnSpc>
              <a:spcBef>
                <a:spcPts val="290"/>
              </a:spcBef>
              <a:spcAft>
                <a:spcPts val="0"/>
              </a:spcAft>
              <a:buNone/>
            </a:pPr>
            <a:r>
              <a:t/>
            </a:r>
            <a:endParaRPr sz="1800">
              <a:latin typeface="Times"/>
              <a:ea typeface="Times"/>
              <a:cs typeface="Times"/>
              <a:sym typeface="Times"/>
            </a:endParaRPr>
          </a:p>
        </p:txBody>
      </p:sp>
      <p:sp>
        <p:nvSpPr>
          <p:cNvPr id="491" name="Google Shape;491;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6" name="Shape 496"/>
        <p:cNvGrpSpPr/>
        <p:nvPr/>
      </p:nvGrpSpPr>
      <p:grpSpPr>
        <a:xfrm>
          <a:off x="0" y="0"/>
          <a:ext cx="0" cy="0"/>
          <a:chOff x="0" y="0"/>
          <a:chExt cx="0" cy="0"/>
        </a:xfrm>
      </p:grpSpPr>
      <p:sp>
        <p:nvSpPr>
          <p:cNvPr id="497" name="Google Shape;497;p64"/>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Explicit Line Continuation (using ‘\’)</a:t>
            </a:r>
            <a:endParaRPr b="1" sz="3000">
              <a:solidFill>
                <a:srgbClr val="1C3678"/>
              </a:solidFill>
              <a:latin typeface="Trebuchet MS"/>
              <a:ea typeface="Trebuchet MS"/>
              <a:cs typeface="Trebuchet MS"/>
              <a:sym typeface="Trebuchet MS"/>
            </a:endParaRPr>
          </a:p>
        </p:txBody>
      </p:sp>
      <p:sp>
        <p:nvSpPr>
          <p:cNvPr id="498" name="Google Shape;498;p64"/>
          <p:cNvSpPr txBox="1"/>
          <p:nvPr/>
        </p:nvSpPr>
        <p:spPr>
          <a:xfrm>
            <a:off x="688425" y="793125"/>
            <a:ext cx="8107500" cy="28569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290"/>
              </a:spcBef>
              <a:spcAft>
                <a:spcPts val="0"/>
              </a:spcAft>
              <a:buSzPts val="1800"/>
              <a:buFont typeface="Times"/>
              <a:buChar char="➢"/>
            </a:pPr>
            <a:r>
              <a:rPr lang="en-US" sz="1800">
                <a:latin typeface="Times"/>
                <a:ea typeface="Times"/>
                <a:cs typeface="Times"/>
                <a:sym typeface="Times"/>
              </a:rPr>
              <a:t>We will be using the line continuation character (\) to split a statement into multiple lines.</a:t>
            </a:r>
            <a:endParaRPr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message = """ACME Engineering College,\</a:t>
            </a:r>
            <a:endParaRPr i="1"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Affiliated to </a:t>
            </a:r>
            <a:r>
              <a:rPr i="1" lang="en-US" sz="1800">
                <a:latin typeface="Times"/>
                <a:ea typeface="Times"/>
                <a:cs typeface="Times"/>
                <a:sym typeface="Times"/>
              </a:rPr>
              <a:t>Purvanchal</a:t>
            </a:r>
            <a:r>
              <a:rPr i="1" lang="en-US" sz="1800">
                <a:latin typeface="Times"/>
                <a:ea typeface="Times"/>
                <a:cs typeface="Times"/>
                <a:sym typeface="Times"/>
              </a:rPr>
              <a:t> University,\</a:t>
            </a:r>
            <a:endParaRPr i="1"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Provides Undergraduate and Graduate Degree Program\</a:t>
            </a:r>
            <a:endParaRPr i="1"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like Computer Engineering,\</a:t>
            </a:r>
            <a:endParaRPr i="1"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CIVIL Engineering,\</a:t>
            </a:r>
            <a:endParaRPr i="1"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Architecture."""</a:t>
            </a:r>
            <a:endParaRPr i="1" sz="1800">
              <a:latin typeface="Times"/>
              <a:ea typeface="Times"/>
              <a:cs typeface="Times"/>
              <a:sym typeface="Times"/>
            </a:endParaRPr>
          </a:p>
        </p:txBody>
      </p:sp>
      <p:sp>
        <p:nvSpPr>
          <p:cNvPr id="499" name="Google Shape;499;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4" name="Shape 504"/>
        <p:cNvGrpSpPr/>
        <p:nvPr/>
      </p:nvGrpSpPr>
      <p:grpSpPr>
        <a:xfrm>
          <a:off x="0" y="0"/>
          <a:ext cx="0" cy="0"/>
          <a:chOff x="0" y="0"/>
          <a:chExt cx="0" cy="0"/>
        </a:xfrm>
      </p:grpSpPr>
      <p:sp>
        <p:nvSpPr>
          <p:cNvPr id="505" name="Google Shape;505;p65"/>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Im</a:t>
            </a:r>
            <a:r>
              <a:rPr b="1" lang="en-US" sz="3000">
                <a:solidFill>
                  <a:srgbClr val="1C3678"/>
                </a:solidFill>
                <a:latin typeface="Trebuchet MS"/>
                <a:ea typeface="Trebuchet MS"/>
                <a:cs typeface="Trebuchet MS"/>
                <a:sym typeface="Trebuchet MS"/>
              </a:rPr>
              <a:t>plicit Line Continuation using Parenthesis</a:t>
            </a:r>
            <a:endParaRPr b="1" sz="3000">
              <a:solidFill>
                <a:srgbClr val="1C3678"/>
              </a:solidFill>
              <a:latin typeface="Trebuchet MS"/>
              <a:ea typeface="Trebuchet MS"/>
              <a:cs typeface="Trebuchet MS"/>
              <a:sym typeface="Trebuchet MS"/>
            </a:endParaRPr>
          </a:p>
        </p:txBody>
      </p:sp>
      <p:sp>
        <p:nvSpPr>
          <p:cNvPr id="506" name="Google Shape;506;p65"/>
          <p:cNvSpPr txBox="1"/>
          <p:nvPr/>
        </p:nvSpPr>
        <p:spPr>
          <a:xfrm>
            <a:off x="688425" y="793125"/>
            <a:ext cx="8107500" cy="28569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290"/>
              </a:spcBef>
              <a:spcAft>
                <a:spcPts val="0"/>
              </a:spcAft>
              <a:buSzPts val="1800"/>
              <a:buFont typeface="Times"/>
              <a:buChar char="➔"/>
            </a:pPr>
            <a:r>
              <a:rPr lang="en-US" sz="1800">
                <a:latin typeface="Times"/>
                <a:ea typeface="Times"/>
                <a:cs typeface="Times"/>
                <a:sym typeface="Times"/>
              </a:rPr>
              <a:t>It is used when you split a statement using either parenthesis ( ), brackets [ ], and braces { }. </a:t>
            </a:r>
            <a:endParaRPr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 using </a:t>
            </a:r>
            <a:r>
              <a:rPr i="1" lang="en-US" sz="1800">
                <a:latin typeface="Times"/>
                <a:ea typeface="Times"/>
                <a:cs typeface="Times"/>
                <a:sym typeface="Times"/>
              </a:rPr>
              <a:t>parentheses</a:t>
            </a:r>
            <a:r>
              <a:rPr i="1" lang="en-US" sz="1800">
                <a:latin typeface="Times"/>
                <a:ea typeface="Times"/>
                <a:cs typeface="Times"/>
                <a:sym typeface="Times"/>
              </a:rPr>
              <a:t> "()"</a:t>
            </a:r>
            <a:endParaRPr i="1"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message = (f"Hi,"</a:t>
            </a:r>
            <a:endParaRPr i="1"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     f"I am"</a:t>
            </a:r>
            <a:endParaRPr i="1"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     f"Baburam Shrestha")</a:t>
            </a:r>
            <a:endParaRPr i="1"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print(</a:t>
            </a:r>
            <a:r>
              <a:rPr i="1" lang="en-US" sz="1800">
                <a:latin typeface="Times"/>
                <a:ea typeface="Times"/>
                <a:cs typeface="Times"/>
                <a:sym typeface="Times"/>
              </a:rPr>
              <a:t>message</a:t>
            </a:r>
            <a:r>
              <a:rPr i="1" lang="en-US" sz="1800">
                <a:latin typeface="Times"/>
                <a:ea typeface="Times"/>
                <a:cs typeface="Times"/>
                <a:sym typeface="Times"/>
              </a:rPr>
              <a:t>)</a:t>
            </a:r>
            <a:endParaRPr i="1"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 </a:t>
            </a:r>
            <a:endParaRPr i="1" sz="1800">
              <a:latin typeface="Times"/>
              <a:ea typeface="Times"/>
              <a:cs typeface="Times"/>
              <a:sym typeface="Times"/>
            </a:endParaRPr>
          </a:p>
        </p:txBody>
      </p:sp>
      <p:sp>
        <p:nvSpPr>
          <p:cNvPr id="507" name="Google Shape;507;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2" name="Shape 512"/>
        <p:cNvGrpSpPr/>
        <p:nvPr/>
      </p:nvGrpSpPr>
      <p:grpSpPr>
        <a:xfrm>
          <a:off x="0" y="0"/>
          <a:ext cx="0" cy="0"/>
          <a:chOff x="0" y="0"/>
          <a:chExt cx="0" cy="0"/>
        </a:xfrm>
      </p:grpSpPr>
      <p:sp>
        <p:nvSpPr>
          <p:cNvPr id="513" name="Google Shape;513;p66"/>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Implicit Line Continuation using Parenthesis</a:t>
            </a:r>
            <a:endParaRPr b="1" sz="3000">
              <a:solidFill>
                <a:srgbClr val="1C3678"/>
              </a:solidFill>
              <a:latin typeface="Trebuchet MS"/>
              <a:ea typeface="Trebuchet MS"/>
              <a:cs typeface="Trebuchet MS"/>
              <a:sym typeface="Trebuchet MS"/>
            </a:endParaRPr>
          </a:p>
        </p:txBody>
      </p:sp>
      <p:sp>
        <p:nvSpPr>
          <p:cNvPr id="514" name="Google Shape;514;p66"/>
          <p:cNvSpPr txBox="1"/>
          <p:nvPr/>
        </p:nvSpPr>
        <p:spPr>
          <a:xfrm>
            <a:off x="688425" y="793125"/>
            <a:ext cx="8107500" cy="3961500"/>
          </a:xfrm>
          <a:prstGeom prst="rect">
            <a:avLst/>
          </a:prstGeom>
          <a:noFill/>
          <a:ln>
            <a:noFill/>
          </a:ln>
        </p:spPr>
        <p:txBody>
          <a:bodyPr anchorCtr="0" anchor="t" bIns="0" lIns="0" spcFirstLastPara="1" rIns="0" wrap="square" tIns="125075">
            <a:spAutoFit/>
          </a:bodyPr>
          <a:lstStyle/>
          <a:p>
            <a:pPr indent="0" lvl="0" marL="457200" rtl="0" algn="just">
              <a:lnSpc>
                <a:spcPct val="115000"/>
              </a:lnSpc>
              <a:spcBef>
                <a:spcPts val="290"/>
              </a:spcBef>
              <a:spcAft>
                <a:spcPts val="0"/>
              </a:spcAft>
              <a:buNone/>
            </a:pPr>
            <a:r>
              <a:rPr i="1" lang="en-US" sz="1800">
                <a:latin typeface="Times"/>
                <a:ea typeface="Times"/>
                <a:cs typeface="Times"/>
                <a:sym typeface="Times"/>
              </a:rPr>
              <a:t># using parentheses "{}"</a:t>
            </a:r>
            <a:endParaRPr i="1"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my_list = {5,</a:t>
            </a:r>
            <a:endParaRPr i="1"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        4, 3, 2, </a:t>
            </a:r>
            <a:endParaRPr i="1" sz="1800">
              <a:latin typeface="Times"/>
              <a:ea typeface="Times"/>
              <a:cs typeface="Times"/>
              <a:sym typeface="Times"/>
            </a:endParaRPr>
          </a:p>
          <a:p>
            <a:pPr indent="0" lvl="0" marL="914400" rtl="0" algn="just">
              <a:lnSpc>
                <a:spcPct val="115000"/>
              </a:lnSpc>
              <a:spcBef>
                <a:spcPts val="290"/>
              </a:spcBef>
              <a:spcAft>
                <a:spcPts val="0"/>
              </a:spcAft>
              <a:buNone/>
            </a:pPr>
            <a:r>
              <a:rPr i="1" lang="en-US" sz="1800">
                <a:latin typeface="Times"/>
                <a:ea typeface="Times"/>
                <a:cs typeface="Times"/>
                <a:sym typeface="Times"/>
              </a:rPr>
              <a:t>1</a:t>
            </a:r>
            <a:endParaRPr i="1"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        }</a:t>
            </a:r>
            <a:endParaRPr i="1"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 using parentheses "[]"</a:t>
            </a:r>
            <a:endParaRPr i="1"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numbers = [50,23</a:t>
            </a:r>
            <a:endParaRPr i="1"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       40 ,qw</a:t>
            </a:r>
            <a:endParaRPr i="1"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       52</a:t>
            </a:r>
            <a:endParaRPr i="1"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print(numbers)</a:t>
            </a:r>
            <a:endParaRPr i="1" sz="1800">
              <a:latin typeface="Times"/>
              <a:ea typeface="Times"/>
              <a:cs typeface="Times"/>
              <a:sym typeface="Times"/>
            </a:endParaRPr>
          </a:p>
          <a:p>
            <a:pPr indent="0" lvl="0" marL="457200" rtl="0" algn="just">
              <a:spcBef>
                <a:spcPts val="290"/>
              </a:spcBef>
              <a:spcAft>
                <a:spcPts val="0"/>
              </a:spcAft>
              <a:buNone/>
            </a:pPr>
            <a:r>
              <a:t/>
            </a:r>
            <a:endParaRPr i="1" sz="1800">
              <a:latin typeface="Times"/>
              <a:ea typeface="Times"/>
              <a:cs typeface="Times"/>
              <a:sym typeface="Times"/>
            </a:endParaRPr>
          </a:p>
        </p:txBody>
      </p:sp>
      <p:sp>
        <p:nvSpPr>
          <p:cNvPr id="515" name="Google Shape;515;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0" name="Shape 520"/>
        <p:cNvGrpSpPr/>
        <p:nvPr/>
      </p:nvGrpSpPr>
      <p:grpSpPr>
        <a:xfrm>
          <a:off x="0" y="0"/>
          <a:ext cx="0" cy="0"/>
          <a:chOff x="0" y="0"/>
          <a:chExt cx="0" cy="0"/>
        </a:xfrm>
      </p:grpSpPr>
      <p:sp>
        <p:nvSpPr>
          <p:cNvPr id="521" name="Google Shape;521;p67"/>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Implicit Line Continuation using triple quote</a:t>
            </a:r>
            <a:endParaRPr b="1" sz="3000">
              <a:solidFill>
                <a:srgbClr val="1C3678"/>
              </a:solidFill>
              <a:latin typeface="Trebuchet MS"/>
              <a:ea typeface="Trebuchet MS"/>
              <a:cs typeface="Trebuchet MS"/>
              <a:sym typeface="Trebuchet MS"/>
            </a:endParaRPr>
          </a:p>
        </p:txBody>
      </p:sp>
      <p:sp>
        <p:nvSpPr>
          <p:cNvPr id="522" name="Google Shape;522;p67"/>
          <p:cNvSpPr txBox="1"/>
          <p:nvPr/>
        </p:nvSpPr>
        <p:spPr>
          <a:xfrm>
            <a:off x="688425" y="793125"/>
            <a:ext cx="7951200" cy="3231600"/>
          </a:xfrm>
          <a:prstGeom prst="rect">
            <a:avLst/>
          </a:prstGeom>
          <a:noFill/>
          <a:ln>
            <a:noFill/>
          </a:ln>
        </p:spPr>
        <p:txBody>
          <a:bodyPr anchorCtr="0" anchor="t" bIns="0" lIns="0" spcFirstLastPara="1" rIns="0" wrap="square" tIns="125075">
            <a:spAutoFit/>
          </a:bodyPr>
          <a:lstStyle/>
          <a:p>
            <a:pPr indent="0" lvl="0" marL="457200" rtl="0" algn="just">
              <a:spcBef>
                <a:spcPts val="290"/>
              </a:spcBef>
              <a:spcAft>
                <a:spcPts val="0"/>
              </a:spcAft>
              <a:buNone/>
            </a:pPr>
            <a:r>
              <a:rPr i="1" lang="en-US" sz="1800">
                <a:latin typeface="Times"/>
                <a:ea typeface="Times"/>
                <a:cs typeface="Times"/>
                <a:sym typeface="Times"/>
              </a:rPr>
              <a:t>message = """</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ACME Engineering College</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Affiliated to Purvanchal University</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Provides Undergraduate and Graduate Degree Program</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like Computer Engineering</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CIVIL Engineering</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Architecture.</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print(message)</a:t>
            </a:r>
            <a:endParaRPr i="1" sz="1800">
              <a:latin typeface="Times"/>
              <a:ea typeface="Times"/>
              <a:cs typeface="Times"/>
              <a:sym typeface="Times"/>
            </a:endParaRPr>
          </a:p>
          <a:p>
            <a:pPr indent="0" lvl="0" marL="457200" rtl="0" algn="just">
              <a:spcBef>
                <a:spcPts val="290"/>
              </a:spcBef>
              <a:spcAft>
                <a:spcPts val="0"/>
              </a:spcAft>
              <a:buNone/>
            </a:pPr>
            <a:r>
              <a:t/>
            </a:r>
            <a:endParaRPr i="1" sz="1800">
              <a:latin typeface="Times"/>
              <a:ea typeface="Times"/>
              <a:cs typeface="Times"/>
              <a:sym typeface="Times"/>
            </a:endParaRPr>
          </a:p>
        </p:txBody>
      </p:sp>
      <p:sp>
        <p:nvSpPr>
          <p:cNvPr id="523" name="Google Shape;523;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8" name="Shape 528"/>
        <p:cNvGrpSpPr/>
        <p:nvPr/>
      </p:nvGrpSpPr>
      <p:grpSpPr>
        <a:xfrm>
          <a:off x="0" y="0"/>
          <a:ext cx="0" cy="0"/>
          <a:chOff x="0" y="0"/>
          <a:chExt cx="0" cy="0"/>
        </a:xfrm>
      </p:grpSpPr>
      <p:sp>
        <p:nvSpPr>
          <p:cNvPr id="529" name="Google Shape;529;p68"/>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Control Statements</a:t>
            </a:r>
            <a:endParaRPr b="1" sz="3000">
              <a:solidFill>
                <a:srgbClr val="1C3678"/>
              </a:solidFill>
              <a:latin typeface="Trebuchet MS"/>
              <a:ea typeface="Trebuchet MS"/>
              <a:cs typeface="Trebuchet MS"/>
              <a:sym typeface="Trebuchet MS"/>
            </a:endParaRPr>
          </a:p>
        </p:txBody>
      </p:sp>
      <p:sp>
        <p:nvSpPr>
          <p:cNvPr id="530" name="Google Shape;530;p68"/>
          <p:cNvSpPr txBox="1"/>
          <p:nvPr/>
        </p:nvSpPr>
        <p:spPr>
          <a:xfrm>
            <a:off x="688425" y="793125"/>
            <a:ext cx="8107500" cy="42270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290"/>
              </a:spcBef>
              <a:spcAft>
                <a:spcPts val="0"/>
              </a:spcAft>
              <a:buSzPts val="1800"/>
              <a:buFont typeface="Times"/>
              <a:buChar char="➔"/>
            </a:pPr>
            <a:r>
              <a:rPr lang="en-US" sz="1800">
                <a:latin typeface="Times"/>
                <a:ea typeface="Times"/>
                <a:cs typeface="Times"/>
                <a:sym typeface="Times"/>
              </a:rPr>
              <a:t>Types of Control Statements</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Conditional Statements:</a:t>
            </a:r>
            <a:endParaRPr sz="1800">
              <a:latin typeface="Times"/>
              <a:ea typeface="Times"/>
              <a:cs typeface="Times"/>
              <a:sym typeface="Times"/>
            </a:endParaRPr>
          </a:p>
          <a:p>
            <a:pPr indent="-342900" lvl="2" marL="1371600" rtl="0" algn="just">
              <a:lnSpc>
                <a:spcPct val="115000"/>
              </a:lnSpc>
              <a:spcBef>
                <a:spcPts val="0"/>
              </a:spcBef>
              <a:spcAft>
                <a:spcPts val="0"/>
              </a:spcAft>
              <a:buSzPts val="1800"/>
              <a:buFont typeface="Times"/>
              <a:buChar char="●"/>
            </a:pPr>
            <a:r>
              <a:rPr lang="en-US" sz="1800">
                <a:latin typeface="Times"/>
                <a:ea typeface="Times"/>
                <a:cs typeface="Times"/>
                <a:sym typeface="Times"/>
              </a:rPr>
              <a:t>if Statement</a:t>
            </a:r>
            <a:endParaRPr sz="1800">
              <a:latin typeface="Times"/>
              <a:ea typeface="Times"/>
              <a:cs typeface="Times"/>
              <a:sym typeface="Times"/>
            </a:endParaRPr>
          </a:p>
          <a:p>
            <a:pPr indent="-342900" lvl="2" marL="1371600" rtl="0" algn="just">
              <a:lnSpc>
                <a:spcPct val="115000"/>
              </a:lnSpc>
              <a:spcBef>
                <a:spcPts val="0"/>
              </a:spcBef>
              <a:spcAft>
                <a:spcPts val="0"/>
              </a:spcAft>
              <a:buSzPts val="1800"/>
              <a:buFont typeface="Times"/>
              <a:buChar char="●"/>
            </a:pPr>
            <a:r>
              <a:rPr lang="en-US" sz="1800">
                <a:latin typeface="Times"/>
                <a:ea typeface="Times"/>
                <a:cs typeface="Times"/>
                <a:sym typeface="Times"/>
              </a:rPr>
              <a:t>if-else Statement</a:t>
            </a:r>
            <a:endParaRPr sz="1800">
              <a:latin typeface="Times"/>
              <a:ea typeface="Times"/>
              <a:cs typeface="Times"/>
              <a:sym typeface="Times"/>
            </a:endParaRPr>
          </a:p>
          <a:p>
            <a:pPr indent="-342900" lvl="2" marL="1371600" rtl="0" algn="just">
              <a:lnSpc>
                <a:spcPct val="115000"/>
              </a:lnSpc>
              <a:spcBef>
                <a:spcPts val="0"/>
              </a:spcBef>
              <a:spcAft>
                <a:spcPts val="0"/>
              </a:spcAft>
              <a:buSzPts val="1800"/>
              <a:buFont typeface="Times"/>
              <a:buChar char="●"/>
            </a:pPr>
            <a:r>
              <a:rPr lang="en-US" sz="1800">
                <a:latin typeface="Times"/>
                <a:ea typeface="Times"/>
                <a:cs typeface="Times"/>
                <a:sym typeface="Times"/>
              </a:rPr>
              <a:t>if-elif-else Statement</a:t>
            </a:r>
            <a:endParaRPr sz="1800">
              <a:latin typeface="Times"/>
              <a:ea typeface="Times"/>
              <a:cs typeface="Times"/>
              <a:sym typeface="Times"/>
            </a:endParaRPr>
          </a:p>
          <a:p>
            <a:pPr indent="-342900" lvl="2" marL="1371600" rtl="0" algn="just">
              <a:lnSpc>
                <a:spcPct val="115000"/>
              </a:lnSpc>
              <a:spcBef>
                <a:spcPts val="0"/>
              </a:spcBef>
              <a:spcAft>
                <a:spcPts val="0"/>
              </a:spcAft>
              <a:buSzPts val="1800"/>
              <a:buFont typeface="Times"/>
              <a:buChar char="●"/>
            </a:pPr>
            <a:r>
              <a:rPr lang="en-US" sz="1800">
                <a:latin typeface="Times"/>
                <a:ea typeface="Times"/>
                <a:cs typeface="Times"/>
                <a:sym typeface="Times"/>
              </a:rPr>
              <a:t>match Statement</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Looping Statements:</a:t>
            </a:r>
            <a:endParaRPr sz="1800">
              <a:latin typeface="Times"/>
              <a:ea typeface="Times"/>
              <a:cs typeface="Times"/>
              <a:sym typeface="Times"/>
            </a:endParaRPr>
          </a:p>
          <a:p>
            <a:pPr indent="-342900" lvl="2" marL="1371600" rtl="0" algn="just">
              <a:lnSpc>
                <a:spcPct val="115000"/>
              </a:lnSpc>
              <a:spcBef>
                <a:spcPts val="0"/>
              </a:spcBef>
              <a:spcAft>
                <a:spcPts val="0"/>
              </a:spcAft>
              <a:buSzPts val="1800"/>
              <a:buFont typeface="Times"/>
              <a:buChar char="●"/>
            </a:pPr>
            <a:r>
              <a:rPr lang="en-US" sz="1800">
                <a:latin typeface="Times"/>
                <a:ea typeface="Times"/>
                <a:cs typeface="Times"/>
                <a:sym typeface="Times"/>
              </a:rPr>
              <a:t>for Loop</a:t>
            </a:r>
            <a:endParaRPr sz="1800">
              <a:latin typeface="Times"/>
              <a:ea typeface="Times"/>
              <a:cs typeface="Times"/>
              <a:sym typeface="Times"/>
            </a:endParaRPr>
          </a:p>
          <a:p>
            <a:pPr indent="-342900" lvl="2" marL="1371600" rtl="0" algn="just">
              <a:lnSpc>
                <a:spcPct val="115000"/>
              </a:lnSpc>
              <a:spcBef>
                <a:spcPts val="0"/>
              </a:spcBef>
              <a:spcAft>
                <a:spcPts val="0"/>
              </a:spcAft>
              <a:buSzPts val="1800"/>
              <a:buFont typeface="Times"/>
              <a:buChar char="●"/>
            </a:pPr>
            <a:r>
              <a:rPr lang="en-US" sz="1800">
                <a:latin typeface="Times"/>
                <a:ea typeface="Times"/>
                <a:cs typeface="Times"/>
                <a:sym typeface="Times"/>
              </a:rPr>
              <a:t>while Loop</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Control Flow Modifiers:</a:t>
            </a:r>
            <a:endParaRPr sz="1800">
              <a:latin typeface="Times"/>
              <a:ea typeface="Times"/>
              <a:cs typeface="Times"/>
              <a:sym typeface="Times"/>
            </a:endParaRPr>
          </a:p>
          <a:p>
            <a:pPr indent="-342900" lvl="2" marL="1371600" rtl="0" algn="just">
              <a:lnSpc>
                <a:spcPct val="115000"/>
              </a:lnSpc>
              <a:spcBef>
                <a:spcPts val="0"/>
              </a:spcBef>
              <a:spcAft>
                <a:spcPts val="0"/>
              </a:spcAft>
              <a:buSzPts val="1800"/>
              <a:buFont typeface="Times"/>
              <a:buChar char="●"/>
            </a:pPr>
            <a:r>
              <a:rPr lang="en-US" sz="1800">
                <a:latin typeface="Times"/>
                <a:ea typeface="Times"/>
                <a:cs typeface="Times"/>
                <a:sym typeface="Times"/>
              </a:rPr>
              <a:t>break Statement</a:t>
            </a:r>
            <a:endParaRPr sz="1800">
              <a:latin typeface="Times"/>
              <a:ea typeface="Times"/>
              <a:cs typeface="Times"/>
              <a:sym typeface="Times"/>
            </a:endParaRPr>
          </a:p>
          <a:p>
            <a:pPr indent="-342900" lvl="2" marL="1371600" rtl="0" algn="just">
              <a:lnSpc>
                <a:spcPct val="115000"/>
              </a:lnSpc>
              <a:spcBef>
                <a:spcPts val="0"/>
              </a:spcBef>
              <a:spcAft>
                <a:spcPts val="0"/>
              </a:spcAft>
              <a:buSzPts val="1800"/>
              <a:buFont typeface="Times"/>
              <a:buChar char="●"/>
            </a:pPr>
            <a:r>
              <a:rPr lang="en-US" sz="1800">
                <a:latin typeface="Times"/>
                <a:ea typeface="Times"/>
                <a:cs typeface="Times"/>
                <a:sym typeface="Times"/>
              </a:rPr>
              <a:t>continue Statement</a:t>
            </a:r>
            <a:endParaRPr sz="1800">
              <a:latin typeface="Times"/>
              <a:ea typeface="Times"/>
              <a:cs typeface="Times"/>
              <a:sym typeface="Times"/>
            </a:endParaRPr>
          </a:p>
          <a:p>
            <a:pPr indent="-342900" lvl="2" marL="1371600" rtl="0" algn="just">
              <a:lnSpc>
                <a:spcPct val="115000"/>
              </a:lnSpc>
              <a:spcBef>
                <a:spcPts val="0"/>
              </a:spcBef>
              <a:spcAft>
                <a:spcPts val="0"/>
              </a:spcAft>
              <a:buSzPts val="1800"/>
              <a:buFont typeface="Times"/>
              <a:buChar char="●"/>
            </a:pPr>
            <a:r>
              <a:rPr lang="en-US" sz="1800">
                <a:latin typeface="Times"/>
                <a:ea typeface="Times"/>
                <a:cs typeface="Times"/>
                <a:sym typeface="Times"/>
              </a:rPr>
              <a:t>pass Statement</a:t>
            </a:r>
            <a:endParaRPr sz="1800">
              <a:latin typeface="Times"/>
              <a:ea typeface="Times"/>
              <a:cs typeface="Times"/>
              <a:sym typeface="Times"/>
            </a:endParaRPr>
          </a:p>
        </p:txBody>
      </p:sp>
      <p:sp>
        <p:nvSpPr>
          <p:cNvPr id="531" name="Google Shape;531;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6" name="Shape 536"/>
        <p:cNvGrpSpPr/>
        <p:nvPr/>
      </p:nvGrpSpPr>
      <p:grpSpPr>
        <a:xfrm>
          <a:off x="0" y="0"/>
          <a:ext cx="0" cy="0"/>
          <a:chOff x="0" y="0"/>
          <a:chExt cx="0" cy="0"/>
        </a:xfrm>
      </p:grpSpPr>
      <p:sp>
        <p:nvSpPr>
          <p:cNvPr id="537" name="Google Shape;537;p69"/>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i</a:t>
            </a:r>
            <a:r>
              <a:rPr b="1" lang="en-US" sz="3000">
                <a:solidFill>
                  <a:srgbClr val="1C3678"/>
                </a:solidFill>
                <a:latin typeface="Trebuchet MS"/>
                <a:ea typeface="Trebuchet MS"/>
                <a:cs typeface="Trebuchet MS"/>
                <a:sym typeface="Trebuchet MS"/>
              </a:rPr>
              <a:t>f Statements</a:t>
            </a:r>
            <a:endParaRPr b="1" sz="3000">
              <a:solidFill>
                <a:srgbClr val="1C3678"/>
              </a:solidFill>
              <a:latin typeface="Trebuchet MS"/>
              <a:ea typeface="Trebuchet MS"/>
              <a:cs typeface="Trebuchet MS"/>
              <a:sym typeface="Trebuchet MS"/>
            </a:endParaRPr>
          </a:p>
        </p:txBody>
      </p:sp>
      <p:sp>
        <p:nvSpPr>
          <p:cNvPr id="538" name="Google Shape;538;p69"/>
          <p:cNvSpPr txBox="1"/>
          <p:nvPr/>
        </p:nvSpPr>
        <p:spPr>
          <a:xfrm>
            <a:off x="688425" y="793125"/>
            <a:ext cx="5361600" cy="42285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latin typeface="Times"/>
                <a:ea typeface="Times"/>
                <a:cs typeface="Times"/>
                <a:sym typeface="Times"/>
              </a:rPr>
              <a:t>The if statement is the most simple decision-making statement. </a:t>
            </a:r>
            <a:endParaRPr sz="1800">
              <a:latin typeface="Times"/>
              <a:ea typeface="Times"/>
              <a:cs typeface="Times"/>
              <a:sym typeface="Times"/>
            </a:endParaRPr>
          </a:p>
          <a:p>
            <a:pPr indent="-342900" lvl="0" marL="457200" rtl="0" algn="just">
              <a:spcBef>
                <a:spcPts val="0"/>
              </a:spcBef>
              <a:spcAft>
                <a:spcPts val="0"/>
              </a:spcAft>
              <a:buSzPts val="1800"/>
              <a:buFont typeface="Times"/>
              <a:buChar char="➢"/>
            </a:pPr>
            <a:r>
              <a:rPr lang="en-US" sz="1800">
                <a:latin typeface="Times"/>
                <a:ea typeface="Times"/>
                <a:cs typeface="Times"/>
                <a:sym typeface="Times"/>
              </a:rPr>
              <a:t>It is used to decide whether a certain statement or block of statements will be executed or not.</a:t>
            </a:r>
            <a:endParaRPr sz="1800">
              <a:latin typeface="Times"/>
              <a:ea typeface="Times"/>
              <a:cs typeface="Times"/>
              <a:sym typeface="Times"/>
            </a:endParaRPr>
          </a:p>
          <a:p>
            <a:pPr indent="-342900" lvl="0" marL="457200" rtl="0" algn="just">
              <a:spcBef>
                <a:spcPts val="0"/>
              </a:spcBef>
              <a:spcAft>
                <a:spcPts val="0"/>
              </a:spcAft>
              <a:buSzPts val="1800"/>
              <a:buFont typeface="Times"/>
              <a:buChar char="➢"/>
            </a:pPr>
            <a:r>
              <a:rPr lang="en-US" sz="1800">
                <a:latin typeface="Times"/>
                <a:ea typeface="Times"/>
                <a:cs typeface="Times"/>
                <a:sym typeface="Times"/>
              </a:rPr>
              <a:t>Syntax of if Statement in Python</a:t>
            </a:r>
            <a:endParaRPr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if condition:</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 Statements to execute if condition is true</a:t>
            </a:r>
            <a:endParaRPr i="1" sz="1800">
              <a:latin typeface="Times"/>
              <a:ea typeface="Times"/>
              <a:cs typeface="Times"/>
              <a:sym typeface="Times"/>
            </a:endParaRPr>
          </a:p>
          <a:p>
            <a:pPr indent="0" lvl="0" marL="457200" rtl="0" algn="just">
              <a:spcBef>
                <a:spcPts val="290"/>
              </a:spcBef>
              <a:spcAft>
                <a:spcPts val="0"/>
              </a:spcAft>
              <a:buNone/>
            </a:pPr>
            <a:r>
              <a:t/>
            </a:r>
            <a:endParaRPr i="1" sz="1800">
              <a:latin typeface="Times"/>
              <a:ea typeface="Times"/>
              <a:cs typeface="Times"/>
              <a:sym typeface="Times"/>
            </a:endParaRPr>
          </a:p>
          <a:p>
            <a:pPr indent="0" lvl="0" marL="457200" rtl="0" algn="just">
              <a:spcBef>
                <a:spcPts val="290"/>
              </a:spcBef>
              <a:spcAft>
                <a:spcPts val="0"/>
              </a:spcAft>
              <a:buNone/>
            </a:pPr>
            <a:r>
              <a:rPr lang="en-US" sz="1800">
                <a:latin typeface="Times"/>
                <a:ea typeface="Times"/>
                <a:cs typeface="Times"/>
                <a:sym typeface="Times"/>
              </a:rPr>
              <a:t>Here, the condition after evaluation will be either true or false. if the statement accepts boolean values – if the value is true then it will execute the block of statements below it otherwise not.</a:t>
            </a:r>
            <a:endParaRPr sz="1800">
              <a:latin typeface="Times"/>
              <a:ea typeface="Times"/>
              <a:cs typeface="Times"/>
              <a:sym typeface="Times"/>
            </a:endParaRPr>
          </a:p>
          <a:p>
            <a:pPr indent="0" lvl="0" marL="457200" rtl="0" algn="just">
              <a:spcBef>
                <a:spcPts val="290"/>
              </a:spcBef>
              <a:spcAft>
                <a:spcPts val="0"/>
              </a:spcAft>
              <a:buNone/>
            </a:pPr>
            <a:r>
              <a:t/>
            </a:r>
            <a:endParaRPr i="1" sz="1800">
              <a:latin typeface="Times"/>
              <a:ea typeface="Times"/>
              <a:cs typeface="Times"/>
              <a:sym typeface="Times"/>
            </a:endParaRPr>
          </a:p>
          <a:p>
            <a:pPr indent="0" lvl="0" marL="0" rtl="0" algn="just">
              <a:spcBef>
                <a:spcPts val="290"/>
              </a:spcBef>
              <a:spcAft>
                <a:spcPts val="0"/>
              </a:spcAft>
              <a:buNone/>
            </a:pPr>
            <a:r>
              <a:t/>
            </a:r>
            <a:endParaRPr sz="1800">
              <a:latin typeface="Times"/>
              <a:ea typeface="Times"/>
              <a:cs typeface="Times"/>
              <a:sym typeface="Times"/>
            </a:endParaRPr>
          </a:p>
        </p:txBody>
      </p:sp>
      <p:sp>
        <p:nvSpPr>
          <p:cNvPr id="539" name="Google Shape;539;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540" name="Google Shape;540;p69"/>
          <p:cNvPicPr preferRelativeResize="0"/>
          <p:nvPr/>
        </p:nvPicPr>
        <p:blipFill>
          <a:blip r:embed="rId3">
            <a:alphaModFix/>
          </a:blip>
          <a:stretch>
            <a:fillRect/>
          </a:stretch>
        </p:blipFill>
        <p:spPr>
          <a:xfrm>
            <a:off x="6082750" y="617650"/>
            <a:ext cx="2597970" cy="4045576"/>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5" name="Shape 545"/>
        <p:cNvGrpSpPr/>
        <p:nvPr/>
      </p:nvGrpSpPr>
      <p:grpSpPr>
        <a:xfrm>
          <a:off x="0" y="0"/>
          <a:ext cx="0" cy="0"/>
          <a:chOff x="0" y="0"/>
          <a:chExt cx="0" cy="0"/>
        </a:xfrm>
      </p:grpSpPr>
      <p:sp>
        <p:nvSpPr>
          <p:cNvPr id="546" name="Google Shape;546;p70"/>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i</a:t>
            </a:r>
            <a:r>
              <a:rPr b="1" lang="en-US" sz="3000">
                <a:solidFill>
                  <a:srgbClr val="1C3678"/>
                </a:solidFill>
                <a:latin typeface="Trebuchet MS"/>
                <a:ea typeface="Trebuchet MS"/>
                <a:cs typeface="Trebuchet MS"/>
                <a:sym typeface="Trebuchet MS"/>
              </a:rPr>
              <a:t>f Statements Example</a:t>
            </a:r>
            <a:endParaRPr b="1" sz="3000">
              <a:solidFill>
                <a:srgbClr val="1C3678"/>
              </a:solidFill>
              <a:latin typeface="Trebuchet MS"/>
              <a:ea typeface="Trebuchet MS"/>
              <a:cs typeface="Trebuchet MS"/>
              <a:sym typeface="Trebuchet MS"/>
            </a:endParaRPr>
          </a:p>
        </p:txBody>
      </p:sp>
      <p:sp>
        <p:nvSpPr>
          <p:cNvPr id="547" name="Google Shape;547;p70"/>
          <p:cNvSpPr txBox="1"/>
          <p:nvPr/>
        </p:nvSpPr>
        <p:spPr>
          <a:xfrm>
            <a:off x="688425" y="793125"/>
            <a:ext cx="8107500" cy="3860400"/>
          </a:xfrm>
          <a:prstGeom prst="rect">
            <a:avLst/>
          </a:prstGeom>
          <a:noFill/>
          <a:ln>
            <a:noFill/>
          </a:ln>
        </p:spPr>
        <p:txBody>
          <a:bodyPr anchorCtr="0" anchor="t" bIns="0" lIns="0" spcFirstLastPara="1" rIns="0" wrap="square" tIns="125075">
            <a:spAutoFit/>
          </a:bodyPr>
          <a:lstStyle/>
          <a:p>
            <a:pPr indent="0" lvl="0" marL="0" rtl="0" algn="just">
              <a:spcBef>
                <a:spcPts val="290"/>
              </a:spcBef>
              <a:spcAft>
                <a:spcPts val="0"/>
              </a:spcAft>
              <a:buNone/>
            </a:pPr>
            <a:r>
              <a:rPr lang="en-US" sz="1800">
                <a:latin typeface="Times"/>
                <a:ea typeface="Times"/>
                <a:cs typeface="Times"/>
                <a:sym typeface="Times"/>
              </a:rPr>
              <a:t>Example 1: Validation</a:t>
            </a:r>
            <a:endParaRPr sz="1800">
              <a:latin typeface="Times"/>
              <a:ea typeface="Times"/>
              <a:cs typeface="Times"/>
              <a:sym typeface="Times"/>
            </a:endParaRPr>
          </a:p>
          <a:p>
            <a:pPr indent="457200" lvl="0" marL="0" rtl="0" algn="just">
              <a:spcBef>
                <a:spcPts val="290"/>
              </a:spcBef>
              <a:spcAft>
                <a:spcPts val="0"/>
              </a:spcAft>
              <a:buNone/>
            </a:pPr>
            <a:r>
              <a:rPr i="1" lang="en-US" sz="1800">
                <a:latin typeface="Times"/>
                <a:ea typeface="Times"/>
                <a:cs typeface="Times"/>
                <a:sym typeface="Times"/>
              </a:rPr>
              <a:t>age = 20</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if age &gt;0 :</a:t>
            </a:r>
            <a:endParaRPr i="1" sz="1800">
              <a:latin typeface="Times"/>
              <a:ea typeface="Times"/>
              <a:cs typeface="Times"/>
              <a:sym typeface="Times"/>
            </a:endParaRPr>
          </a:p>
          <a:p>
            <a:pPr indent="457200" lvl="0" marL="457200" rtl="0" algn="just">
              <a:spcBef>
                <a:spcPts val="290"/>
              </a:spcBef>
              <a:spcAft>
                <a:spcPts val="0"/>
              </a:spcAft>
              <a:buNone/>
            </a:pPr>
            <a:r>
              <a:rPr i="1" lang="en-US" sz="1800">
                <a:latin typeface="Times"/>
                <a:ea typeface="Times"/>
                <a:cs typeface="Times"/>
                <a:sym typeface="Times"/>
              </a:rPr>
              <a:t>print("Valid age")</a:t>
            </a:r>
            <a:endParaRPr sz="1800">
              <a:latin typeface="Times"/>
              <a:ea typeface="Times"/>
              <a:cs typeface="Times"/>
              <a:sym typeface="Times"/>
            </a:endParaRPr>
          </a:p>
          <a:p>
            <a:pPr indent="0" lvl="0" marL="0" rtl="0" algn="just">
              <a:spcBef>
                <a:spcPts val="290"/>
              </a:spcBef>
              <a:spcAft>
                <a:spcPts val="0"/>
              </a:spcAft>
              <a:buNone/>
            </a:pPr>
            <a:r>
              <a:rPr lang="en-US" sz="1800">
                <a:latin typeface="Times"/>
                <a:ea typeface="Times"/>
                <a:cs typeface="Times"/>
                <a:sym typeface="Times"/>
              </a:rPr>
              <a:t>Example 2: Eligibility</a:t>
            </a:r>
            <a:endParaRPr sz="1800">
              <a:latin typeface="Times"/>
              <a:ea typeface="Times"/>
              <a:cs typeface="Times"/>
              <a:sym typeface="Times"/>
            </a:endParaRPr>
          </a:p>
          <a:p>
            <a:pPr indent="457200" lvl="0" marL="0" rtl="0" algn="just">
              <a:spcBef>
                <a:spcPts val="290"/>
              </a:spcBef>
              <a:spcAft>
                <a:spcPts val="0"/>
              </a:spcAft>
              <a:buNone/>
            </a:pPr>
            <a:r>
              <a:rPr i="1" lang="en-US" sz="1800">
                <a:latin typeface="Times"/>
                <a:ea typeface="Times"/>
                <a:cs typeface="Times"/>
                <a:sym typeface="Times"/>
              </a:rPr>
              <a:t>age = 10</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if age &lt; 18:</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print("You cannot vote.")</a:t>
            </a:r>
            <a:endParaRPr sz="1800">
              <a:latin typeface="Times"/>
              <a:ea typeface="Times"/>
              <a:cs typeface="Times"/>
              <a:sym typeface="Times"/>
            </a:endParaRPr>
          </a:p>
          <a:p>
            <a:pPr indent="0" lvl="0" marL="0" rtl="0" algn="just">
              <a:spcBef>
                <a:spcPts val="290"/>
              </a:spcBef>
              <a:spcAft>
                <a:spcPts val="0"/>
              </a:spcAft>
              <a:buNone/>
            </a:pPr>
            <a:r>
              <a:rPr lang="en-US" sz="1800">
                <a:latin typeface="Times"/>
                <a:ea typeface="Times"/>
                <a:cs typeface="Times"/>
                <a:sym typeface="Times"/>
              </a:rPr>
              <a:t>Example 3: Checking different s</a:t>
            </a:r>
            <a:r>
              <a:rPr lang="en-US" sz="1800">
                <a:latin typeface="Times"/>
                <a:ea typeface="Times"/>
                <a:cs typeface="Times"/>
                <a:sym typeface="Times"/>
              </a:rPr>
              <a:t>cenario</a:t>
            </a:r>
            <a:endParaRPr sz="1800">
              <a:latin typeface="Times"/>
              <a:ea typeface="Times"/>
              <a:cs typeface="Times"/>
              <a:sym typeface="Times"/>
            </a:endParaRPr>
          </a:p>
          <a:p>
            <a:pPr indent="457200" lvl="0" marL="0" rtl="0" algn="just">
              <a:spcBef>
                <a:spcPts val="290"/>
              </a:spcBef>
              <a:spcAft>
                <a:spcPts val="0"/>
              </a:spcAft>
              <a:buNone/>
            </a:pPr>
            <a:r>
              <a:rPr i="1" lang="en-US" sz="1800">
                <a:latin typeface="Times"/>
                <a:ea typeface="Times"/>
                <a:cs typeface="Times"/>
                <a:sym typeface="Times"/>
              </a:rPr>
              <a:t>number = 20</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if number % 2 == 0:</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print("Even Number")</a:t>
            </a:r>
            <a:endParaRPr i="1" sz="1800">
              <a:latin typeface="Times"/>
              <a:ea typeface="Times"/>
              <a:cs typeface="Times"/>
              <a:sym typeface="Times"/>
            </a:endParaRPr>
          </a:p>
        </p:txBody>
      </p:sp>
      <p:sp>
        <p:nvSpPr>
          <p:cNvPr id="548" name="Google Shape;548;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3" name="Shape 553"/>
        <p:cNvGrpSpPr/>
        <p:nvPr/>
      </p:nvGrpSpPr>
      <p:grpSpPr>
        <a:xfrm>
          <a:off x="0" y="0"/>
          <a:ext cx="0" cy="0"/>
          <a:chOff x="0" y="0"/>
          <a:chExt cx="0" cy="0"/>
        </a:xfrm>
      </p:grpSpPr>
      <p:sp>
        <p:nvSpPr>
          <p:cNvPr id="554" name="Google Shape;554;p71"/>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i</a:t>
            </a:r>
            <a:r>
              <a:rPr b="1" lang="en-US" sz="3000">
                <a:solidFill>
                  <a:srgbClr val="1C3678"/>
                </a:solidFill>
                <a:latin typeface="Trebuchet MS"/>
                <a:ea typeface="Trebuchet MS"/>
                <a:cs typeface="Trebuchet MS"/>
                <a:sym typeface="Trebuchet MS"/>
              </a:rPr>
              <a:t>f-else Statements</a:t>
            </a:r>
            <a:endParaRPr b="1" sz="3000">
              <a:solidFill>
                <a:srgbClr val="1C3678"/>
              </a:solidFill>
              <a:latin typeface="Trebuchet MS"/>
              <a:ea typeface="Trebuchet MS"/>
              <a:cs typeface="Trebuchet MS"/>
              <a:sym typeface="Trebuchet MS"/>
            </a:endParaRPr>
          </a:p>
        </p:txBody>
      </p:sp>
      <p:sp>
        <p:nvSpPr>
          <p:cNvPr id="555" name="Google Shape;555;p71"/>
          <p:cNvSpPr txBox="1"/>
          <p:nvPr/>
        </p:nvSpPr>
        <p:spPr>
          <a:xfrm>
            <a:off x="688425" y="793125"/>
            <a:ext cx="5577300" cy="36372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latin typeface="Times"/>
                <a:ea typeface="Times"/>
                <a:cs typeface="Times"/>
                <a:sym typeface="Times"/>
              </a:rPr>
              <a:t>The if statement alone tells us that if a condition is true it will execute a block of statements and if the condition is false it won’t. But if we want to do something else if the condition is false, we can use the else statement with the if statement Python to execute a block of code when the Python if condition is false. </a:t>
            </a:r>
            <a:endParaRPr sz="1800">
              <a:latin typeface="Times"/>
              <a:ea typeface="Times"/>
              <a:cs typeface="Times"/>
              <a:sym typeface="Times"/>
            </a:endParaRPr>
          </a:p>
          <a:p>
            <a:pPr indent="-342900" lvl="0" marL="457200" rtl="0" algn="just">
              <a:spcBef>
                <a:spcPts val="0"/>
              </a:spcBef>
              <a:spcAft>
                <a:spcPts val="0"/>
              </a:spcAft>
              <a:buSzPts val="1800"/>
              <a:buFont typeface="Times"/>
              <a:buChar char="➢"/>
            </a:pPr>
            <a:r>
              <a:rPr lang="en-US" sz="1800">
                <a:latin typeface="Times"/>
                <a:ea typeface="Times"/>
                <a:cs typeface="Times"/>
                <a:sym typeface="Times"/>
              </a:rPr>
              <a:t>Syntax of if-else Statement in Python</a:t>
            </a:r>
            <a:endParaRPr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if condition:</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 Statements to execute if condition is true</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else:</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a:t>
            </a:r>
            <a:r>
              <a:rPr i="1" lang="en-US" sz="1800">
                <a:latin typeface="Times"/>
                <a:ea typeface="Times"/>
                <a:cs typeface="Times"/>
                <a:sym typeface="Times"/>
              </a:rPr>
              <a:t># Statements to execute if condition is false</a:t>
            </a:r>
            <a:endParaRPr i="1" sz="1800">
              <a:latin typeface="Times"/>
              <a:ea typeface="Times"/>
              <a:cs typeface="Times"/>
              <a:sym typeface="Times"/>
            </a:endParaRPr>
          </a:p>
          <a:p>
            <a:pPr indent="0" lvl="0" marL="0" rtl="0" algn="just">
              <a:spcBef>
                <a:spcPts val="290"/>
              </a:spcBef>
              <a:spcAft>
                <a:spcPts val="0"/>
              </a:spcAft>
              <a:buNone/>
            </a:pPr>
            <a:r>
              <a:t/>
            </a:r>
            <a:endParaRPr sz="1800">
              <a:latin typeface="Times"/>
              <a:ea typeface="Times"/>
              <a:cs typeface="Times"/>
              <a:sym typeface="Times"/>
            </a:endParaRPr>
          </a:p>
        </p:txBody>
      </p:sp>
      <p:sp>
        <p:nvSpPr>
          <p:cNvPr id="556" name="Google Shape;556;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557" name="Google Shape;557;p71"/>
          <p:cNvPicPr preferRelativeResize="0"/>
          <p:nvPr/>
        </p:nvPicPr>
        <p:blipFill>
          <a:blip r:embed="rId3">
            <a:alphaModFix/>
          </a:blip>
          <a:stretch>
            <a:fillRect/>
          </a:stretch>
        </p:blipFill>
        <p:spPr>
          <a:xfrm>
            <a:off x="6454750" y="945525"/>
            <a:ext cx="2290700" cy="3565292"/>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2" name="Shape 562"/>
        <p:cNvGrpSpPr/>
        <p:nvPr/>
      </p:nvGrpSpPr>
      <p:grpSpPr>
        <a:xfrm>
          <a:off x="0" y="0"/>
          <a:ext cx="0" cy="0"/>
          <a:chOff x="0" y="0"/>
          <a:chExt cx="0" cy="0"/>
        </a:xfrm>
      </p:grpSpPr>
      <p:sp>
        <p:nvSpPr>
          <p:cNvPr id="563" name="Google Shape;563;p72"/>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if-else</a:t>
            </a:r>
            <a:r>
              <a:rPr b="1" lang="en-US" sz="3000">
                <a:solidFill>
                  <a:srgbClr val="1C3678"/>
                </a:solidFill>
                <a:latin typeface="Trebuchet MS"/>
                <a:ea typeface="Trebuchet MS"/>
                <a:cs typeface="Trebuchet MS"/>
                <a:sym typeface="Trebuchet MS"/>
              </a:rPr>
              <a:t> Statements Example</a:t>
            </a:r>
            <a:endParaRPr b="1" sz="3000">
              <a:solidFill>
                <a:srgbClr val="1C3678"/>
              </a:solidFill>
              <a:latin typeface="Trebuchet MS"/>
              <a:ea typeface="Trebuchet MS"/>
              <a:cs typeface="Trebuchet MS"/>
              <a:sym typeface="Trebuchet MS"/>
            </a:endParaRPr>
          </a:p>
        </p:txBody>
      </p:sp>
      <p:sp>
        <p:nvSpPr>
          <p:cNvPr id="564" name="Google Shape;564;p72"/>
          <p:cNvSpPr txBox="1"/>
          <p:nvPr/>
        </p:nvSpPr>
        <p:spPr>
          <a:xfrm>
            <a:off x="688425" y="793125"/>
            <a:ext cx="8107500" cy="4488900"/>
          </a:xfrm>
          <a:prstGeom prst="rect">
            <a:avLst/>
          </a:prstGeom>
          <a:noFill/>
          <a:ln>
            <a:noFill/>
          </a:ln>
        </p:spPr>
        <p:txBody>
          <a:bodyPr anchorCtr="0" anchor="t" bIns="0" lIns="0" spcFirstLastPara="1" rIns="0" wrap="square" tIns="125075">
            <a:spAutoFit/>
          </a:bodyPr>
          <a:lstStyle/>
          <a:p>
            <a:pPr indent="0" lvl="0" marL="0" rtl="0" algn="just">
              <a:spcBef>
                <a:spcPts val="290"/>
              </a:spcBef>
              <a:spcAft>
                <a:spcPts val="0"/>
              </a:spcAft>
              <a:buNone/>
            </a:pPr>
            <a:r>
              <a:rPr lang="en-US" sz="1800">
                <a:latin typeface="Times"/>
                <a:ea typeface="Times"/>
                <a:cs typeface="Times"/>
                <a:sym typeface="Times"/>
              </a:rPr>
              <a:t>Example 1:</a:t>
            </a:r>
            <a:endParaRPr sz="1800">
              <a:latin typeface="Times"/>
              <a:ea typeface="Times"/>
              <a:cs typeface="Times"/>
              <a:sym typeface="Times"/>
            </a:endParaRPr>
          </a:p>
          <a:p>
            <a:pPr indent="457200" lvl="0" marL="0" rtl="0" algn="just">
              <a:spcBef>
                <a:spcPts val="290"/>
              </a:spcBef>
              <a:spcAft>
                <a:spcPts val="0"/>
              </a:spcAft>
              <a:buNone/>
            </a:pPr>
            <a:r>
              <a:rPr i="1" lang="en-US" sz="1800">
                <a:latin typeface="Times"/>
                <a:ea typeface="Times"/>
                <a:cs typeface="Times"/>
                <a:sym typeface="Times"/>
              </a:rPr>
              <a:t>age = 20</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if age &gt;= 18:</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print("You can vote.")</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else:</a:t>
            </a:r>
            <a:endParaRPr i="1" sz="1800">
              <a:latin typeface="Times"/>
              <a:ea typeface="Times"/>
              <a:cs typeface="Times"/>
              <a:sym typeface="Times"/>
            </a:endParaRPr>
          </a:p>
          <a:p>
            <a:pPr indent="457200" lvl="0" marL="457200" rtl="0" algn="just">
              <a:spcBef>
                <a:spcPts val="290"/>
              </a:spcBef>
              <a:spcAft>
                <a:spcPts val="0"/>
              </a:spcAft>
              <a:buNone/>
            </a:pPr>
            <a:r>
              <a:rPr i="1" lang="en-US" sz="1800">
                <a:latin typeface="Times"/>
                <a:ea typeface="Times"/>
                <a:cs typeface="Times"/>
                <a:sym typeface="Times"/>
              </a:rPr>
              <a:t>print("You cannot vote.")</a:t>
            </a:r>
            <a:endParaRPr i="1" sz="1800">
              <a:latin typeface="Times"/>
              <a:ea typeface="Times"/>
              <a:cs typeface="Times"/>
              <a:sym typeface="Times"/>
            </a:endParaRPr>
          </a:p>
          <a:p>
            <a:pPr indent="0" lvl="0" marL="457200" rtl="0" algn="just">
              <a:spcBef>
                <a:spcPts val="290"/>
              </a:spcBef>
              <a:spcAft>
                <a:spcPts val="0"/>
              </a:spcAft>
              <a:buNone/>
            </a:pPr>
            <a:r>
              <a:t/>
            </a:r>
            <a:endParaRPr sz="1800">
              <a:latin typeface="Times"/>
              <a:ea typeface="Times"/>
              <a:cs typeface="Times"/>
              <a:sym typeface="Times"/>
            </a:endParaRPr>
          </a:p>
          <a:p>
            <a:pPr indent="0" lvl="0" marL="0" rtl="0" algn="just">
              <a:spcBef>
                <a:spcPts val="290"/>
              </a:spcBef>
              <a:spcAft>
                <a:spcPts val="0"/>
              </a:spcAft>
              <a:buNone/>
            </a:pPr>
            <a:r>
              <a:rPr lang="en-US" sz="1800">
                <a:latin typeface="Times"/>
                <a:ea typeface="Times"/>
                <a:cs typeface="Times"/>
                <a:sym typeface="Times"/>
              </a:rPr>
              <a:t>Example 3:</a:t>
            </a:r>
            <a:endParaRPr sz="1800">
              <a:latin typeface="Times"/>
              <a:ea typeface="Times"/>
              <a:cs typeface="Times"/>
              <a:sym typeface="Times"/>
            </a:endParaRPr>
          </a:p>
          <a:p>
            <a:pPr indent="457200" lvl="0" marL="0" rtl="0" algn="just">
              <a:spcBef>
                <a:spcPts val="290"/>
              </a:spcBef>
              <a:spcAft>
                <a:spcPts val="0"/>
              </a:spcAft>
              <a:buNone/>
            </a:pPr>
            <a:r>
              <a:rPr i="1" lang="en-US" sz="1800">
                <a:latin typeface="Times"/>
                <a:ea typeface="Times"/>
                <a:cs typeface="Times"/>
                <a:sym typeface="Times"/>
              </a:rPr>
              <a:t>number = 20</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if number // 2 == 0:</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print("Even Number")</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else:</a:t>
            </a:r>
            <a:endParaRPr i="1" sz="1800">
              <a:latin typeface="Times"/>
              <a:ea typeface="Times"/>
              <a:cs typeface="Times"/>
              <a:sym typeface="Times"/>
            </a:endParaRPr>
          </a:p>
          <a:p>
            <a:pPr indent="457200" lvl="0" marL="457200" rtl="0" algn="just">
              <a:spcBef>
                <a:spcPts val="290"/>
              </a:spcBef>
              <a:spcAft>
                <a:spcPts val="0"/>
              </a:spcAft>
              <a:buNone/>
            </a:pPr>
            <a:r>
              <a:rPr i="1" lang="en-US" sz="1800">
                <a:latin typeface="Times"/>
                <a:ea typeface="Times"/>
                <a:cs typeface="Times"/>
                <a:sym typeface="Times"/>
              </a:rPr>
              <a:t>print("Odd Number")</a:t>
            </a:r>
            <a:endParaRPr i="1" sz="1800">
              <a:latin typeface="Times"/>
              <a:ea typeface="Times"/>
              <a:cs typeface="Times"/>
              <a:sym typeface="Times"/>
            </a:endParaRPr>
          </a:p>
          <a:p>
            <a:pPr indent="0" lvl="0" marL="457200" rtl="0" algn="just">
              <a:spcBef>
                <a:spcPts val="290"/>
              </a:spcBef>
              <a:spcAft>
                <a:spcPts val="0"/>
              </a:spcAft>
              <a:buNone/>
            </a:pPr>
            <a:r>
              <a:t/>
            </a:r>
            <a:endParaRPr i="1" sz="1800">
              <a:latin typeface="Times"/>
              <a:ea typeface="Times"/>
              <a:cs typeface="Times"/>
              <a:sym typeface="Times"/>
            </a:endParaRPr>
          </a:p>
        </p:txBody>
      </p:sp>
      <p:sp>
        <p:nvSpPr>
          <p:cNvPr id="565" name="Google Shape;565;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0" name="Shape 570"/>
        <p:cNvGrpSpPr/>
        <p:nvPr/>
      </p:nvGrpSpPr>
      <p:grpSpPr>
        <a:xfrm>
          <a:off x="0" y="0"/>
          <a:ext cx="0" cy="0"/>
          <a:chOff x="0" y="0"/>
          <a:chExt cx="0" cy="0"/>
        </a:xfrm>
      </p:grpSpPr>
      <p:sp>
        <p:nvSpPr>
          <p:cNvPr id="571" name="Google Shape;571;p73"/>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Nested </a:t>
            </a:r>
            <a:r>
              <a:rPr b="1" lang="en-US" sz="3000">
                <a:solidFill>
                  <a:srgbClr val="1C3678"/>
                </a:solidFill>
                <a:latin typeface="Trebuchet MS"/>
                <a:ea typeface="Trebuchet MS"/>
                <a:cs typeface="Trebuchet MS"/>
                <a:sym typeface="Trebuchet MS"/>
              </a:rPr>
              <a:t>if-else Statements</a:t>
            </a:r>
            <a:endParaRPr b="1" sz="3000">
              <a:solidFill>
                <a:srgbClr val="1C3678"/>
              </a:solidFill>
              <a:latin typeface="Trebuchet MS"/>
              <a:ea typeface="Trebuchet MS"/>
              <a:cs typeface="Trebuchet MS"/>
              <a:sym typeface="Trebuchet MS"/>
            </a:endParaRPr>
          </a:p>
        </p:txBody>
      </p:sp>
      <p:sp>
        <p:nvSpPr>
          <p:cNvPr id="572" name="Google Shape;572;p73"/>
          <p:cNvSpPr txBox="1"/>
          <p:nvPr/>
        </p:nvSpPr>
        <p:spPr>
          <a:xfrm>
            <a:off x="688425" y="793125"/>
            <a:ext cx="7992300" cy="41685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290"/>
              </a:spcBef>
              <a:spcAft>
                <a:spcPts val="0"/>
              </a:spcAft>
              <a:buSzPts val="1800"/>
              <a:buFont typeface="Times"/>
              <a:buChar char="➢"/>
            </a:pPr>
            <a:r>
              <a:rPr lang="en-US" sz="1800">
                <a:latin typeface="Times"/>
                <a:ea typeface="Times"/>
                <a:cs typeface="Times"/>
                <a:sym typeface="Times"/>
              </a:rPr>
              <a:t>A nested if is an if statement that is the target of another if statement. Nested if statements mean an if statement inside another if statement.</a:t>
            </a:r>
            <a:endParaRPr sz="1800">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Yes, Python allows us to nest if statements within if statements. i.e., we can place an if statement inside another if statement.</a:t>
            </a:r>
            <a:endParaRPr sz="1800">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Syntax of nested if-else Statement in Python</a:t>
            </a:r>
            <a:endParaRPr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if condition1:</a:t>
            </a:r>
            <a:endParaRPr i="1"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	if condition2</a:t>
            </a:r>
            <a:endParaRPr i="1"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   		# Statements to execute if condition2 is true</a:t>
            </a:r>
            <a:endParaRPr i="1" sz="1800">
              <a:latin typeface="Times"/>
              <a:ea typeface="Times"/>
              <a:cs typeface="Times"/>
              <a:sym typeface="Times"/>
            </a:endParaRPr>
          </a:p>
          <a:p>
            <a:pPr indent="457200" lvl="0" marL="457200" rtl="0" algn="just">
              <a:lnSpc>
                <a:spcPct val="115000"/>
              </a:lnSpc>
              <a:spcBef>
                <a:spcPts val="290"/>
              </a:spcBef>
              <a:spcAft>
                <a:spcPts val="0"/>
              </a:spcAft>
              <a:buNone/>
            </a:pPr>
            <a:r>
              <a:rPr i="1" lang="en-US" sz="1800">
                <a:latin typeface="Times"/>
                <a:ea typeface="Times"/>
                <a:cs typeface="Times"/>
                <a:sym typeface="Times"/>
              </a:rPr>
              <a:t>else:</a:t>
            </a:r>
            <a:endParaRPr i="1"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		# Statements to execute if condition2 is false</a:t>
            </a:r>
            <a:endParaRPr i="1"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else:</a:t>
            </a:r>
            <a:endParaRPr i="1" sz="1800">
              <a:latin typeface="Times"/>
              <a:ea typeface="Times"/>
              <a:cs typeface="Times"/>
              <a:sym typeface="Times"/>
            </a:endParaRPr>
          </a:p>
          <a:p>
            <a:pPr indent="0" lvl="0" marL="457200" rtl="0" algn="just">
              <a:lnSpc>
                <a:spcPct val="115000"/>
              </a:lnSpc>
              <a:spcBef>
                <a:spcPts val="290"/>
              </a:spcBef>
              <a:spcAft>
                <a:spcPts val="0"/>
              </a:spcAft>
              <a:buNone/>
            </a:pPr>
            <a:r>
              <a:rPr i="1" lang="en-US" sz="1800">
                <a:latin typeface="Times"/>
                <a:ea typeface="Times"/>
                <a:cs typeface="Times"/>
                <a:sym typeface="Times"/>
              </a:rPr>
              <a:t>	# Statements to execute if condition1 is false</a:t>
            </a:r>
            <a:endParaRPr sz="1800">
              <a:latin typeface="Times"/>
              <a:ea typeface="Times"/>
              <a:cs typeface="Times"/>
              <a:sym typeface="Times"/>
            </a:endParaRPr>
          </a:p>
        </p:txBody>
      </p:sp>
      <p:sp>
        <p:nvSpPr>
          <p:cNvPr id="573" name="Google Shape;573;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8" name="Shape 578"/>
        <p:cNvGrpSpPr/>
        <p:nvPr/>
      </p:nvGrpSpPr>
      <p:grpSpPr>
        <a:xfrm>
          <a:off x="0" y="0"/>
          <a:ext cx="0" cy="0"/>
          <a:chOff x="0" y="0"/>
          <a:chExt cx="0" cy="0"/>
        </a:xfrm>
      </p:grpSpPr>
      <p:sp>
        <p:nvSpPr>
          <p:cNvPr id="579" name="Google Shape;579;p74"/>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Nested </a:t>
            </a:r>
            <a:r>
              <a:rPr b="1" lang="en-US" sz="3000">
                <a:solidFill>
                  <a:srgbClr val="1C3678"/>
                </a:solidFill>
                <a:latin typeface="Trebuchet MS"/>
                <a:ea typeface="Trebuchet MS"/>
                <a:cs typeface="Trebuchet MS"/>
                <a:sym typeface="Trebuchet MS"/>
              </a:rPr>
              <a:t>if-else Statements</a:t>
            </a:r>
            <a:endParaRPr b="1" sz="3000">
              <a:solidFill>
                <a:srgbClr val="1C3678"/>
              </a:solidFill>
              <a:latin typeface="Trebuchet MS"/>
              <a:ea typeface="Trebuchet MS"/>
              <a:cs typeface="Trebuchet MS"/>
              <a:sym typeface="Trebuchet MS"/>
            </a:endParaRPr>
          </a:p>
        </p:txBody>
      </p:sp>
      <p:sp>
        <p:nvSpPr>
          <p:cNvPr id="580" name="Google Shape;580;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581" name="Google Shape;581;p74"/>
          <p:cNvPicPr preferRelativeResize="0"/>
          <p:nvPr/>
        </p:nvPicPr>
        <p:blipFill>
          <a:blip r:embed="rId3">
            <a:alphaModFix/>
          </a:blip>
          <a:stretch>
            <a:fillRect/>
          </a:stretch>
        </p:blipFill>
        <p:spPr>
          <a:xfrm>
            <a:off x="2058750" y="793125"/>
            <a:ext cx="5796801" cy="428745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6" name="Shape 586"/>
        <p:cNvGrpSpPr/>
        <p:nvPr/>
      </p:nvGrpSpPr>
      <p:grpSpPr>
        <a:xfrm>
          <a:off x="0" y="0"/>
          <a:ext cx="0" cy="0"/>
          <a:chOff x="0" y="0"/>
          <a:chExt cx="0" cy="0"/>
        </a:xfrm>
      </p:grpSpPr>
      <p:sp>
        <p:nvSpPr>
          <p:cNvPr id="587" name="Google Shape;587;p75"/>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Nested </a:t>
            </a:r>
            <a:r>
              <a:rPr b="1" lang="en-US" sz="3000">
                <a:solidFill>
                  <a:srgbClr val="1C3678"/>
                </a:solidFill>
                <a:latin typeface="Trebuchet MS"/>
                <a:ea typeface="Trebuchet MS"/>
                <a:cs typeface="Trebuchet MS"/>
                <a:sym typeface="Trebuchet MS"/>
              </a:rPr>
              <a:t>If Statements Example</a:t>
            </a:r>
            <a:endParaRPr b="1" sz="3000">
              <a:solidFill>
                <a:srgbClr val="1C3678"/>
              </a:solidFill>
              <a:latin typeface="Trebuchet MS"/>
              <a:ea typeface="Trebuchet MS"/>
              <a:cs typeface="Trebuchet MS"/>
              <a:sym typeface="Trebuchet MS"/>
            </a:endParaRPr>
          </a:p>
        </p:txBody>
      </p:sp>
      <p:sp>
        <p:nvSpPr>
          <p:cNvPr id="588" name="Google Shape;588;p75"/>
          <p:cNvSpPr txBox="1"/>
          <p:nvPr/>
        </p:nvSpPr>
        <p:spPr>
          <a:xfrm>
            <a:off x="688425" y="793125"/>
            <a:ext cx="8107500" cy="4174500"/>
          </a:xfrm>
          <a:prstGeom prst="rect">
            <a:avLst/>
          </a:prstGeom>
          <a:noFill/>
          <a:ln>
            <a:noFill/>
          </a:ln>
        </p:spPr>
        <p:txBody>
          <a:bodyPr anchorCtr="0" anchor="t" bIns="0" lIns="0" spcFirstLastPara="1" rIns="0" wrap="square" tIns="125075">
            <a:spAutoFit/>
          </a:bodyPr>
          <a:lstStyle/>
          <a:p>
            <a:pPr indent="0" lvl="0" marL="0" rtl="0" algn="just">
              <a:spcBef>
                <a:spcPts val="290"/>
              </a:spcBef>
              <a:spcAft>
                <a:spcPts val="0"/>
              </a:spcAft>
              <a:buNone/>
            </a:pPr>
            <a:r>
              <a:rPr lang="en-US" sz="1800">
                <a:latin typeface="Times"/>
                <a:ea typeface="Times"/>
                <a:cs typeface="Times"/>
                <a:sym typeface="Times"/>
              </a:rPr>
              <a:t>Example 1:</a:t>
            </a:r>
            <a:endParaRPr sz="1800">
              <a:latin typeface="Times"/>
              <a:ea typeface="Times"/>
              <a:cs typeface="Times"/>
              <a:sym typeface="Times"/>
            </a:endParaRPr>
          </a:p>
          <a:p>
            <a:pPr indent="457200" lvl="0" marL="0" rtl="0" algn="just">
              <a:spcBef>
                <a:spcPts val="290"/>
              </a:spcBef>
              <a:spcAft>
                <a:spcPts val="0"/>
              </a:spcAft>
              <a:buNone/>
            </a:pPr>
            <a:r>
              <a:rPr i="1" lang="en-US" sz="1800">
                <a:latin typeface="Times"/>
                <a:ea typeface="Times"/>
                <a:cs typeface="Times"/>
                <a:sym typeface="Times"/>
              </a:rPr>
              <a:t>i = 10</a:t>
            </a:r>
            <a:endParaRPr i="1" sz="1800">
              <a:latin typeface="Times"/>
              <a:ea typeface="Times"/>
              <a:cs typeface="Times"/>
              <a:sym typeface="Times"/>
            </a:endParaRPr>
          </a:p>
          <a:p>
            <a:pPr indent="457200" lvl="0" marL="0" rtl="0" algn="just">
              <a:spcBef>
                <a:spcPts val="290"/>
              </a:spcBef>
              <a:spcAft>
                <a:spcPts val="0"/>
              </a:spcAft>
              <a:buNone/>
            </a:pPr>
            <a:r>
              <a:rPr i="1" lang="en-US" sz="1800">
                <a:latin typeface="Times"/>
                <a:ea typeface="Times"/>
                <a:cs typeface="Times"/>
                <a:sym typeface="Times"/>
              </a:rPr>
              <a:t># if statement</a:t>
            </a:r>
            <a:endParaRPr i="1" sz="1800">
              <a:latin typeface="Times"/>
              <a:ea typeface="Times"/>
              <a:cs typeface="Times"/>
              <a:sym typeface="Times"/>
            </a:endParaRPr>
          </a:p>
          <a:p>
            <a:pPr indent="457200" lvl="0" marL="0" rtl="0" algn="just">
              <a:spcBef>
                <a:spcPts val="290"/>
              </a:spcBef>
              <a:spcAft>
                <a:spcPts val="0"/>
              </a:spcAft>
              <a:buNone/>
            </a:pPr>
            <a:r>
              <a:rPr i="1" lang="en-US" sz="1800">
                <a:latin typeface="Times"/>
                <a:ea typeface="Times"/>
                <a:cs typeface="Times"/>
                <a:sym typeface="Times"/>
              </a:rPr>
              <a:t>if (i == 10):</a:t>
            </a:r>
            <a:endParaRPr i="1" sz="1800">
              <a:latin typeface="Times"/>
              <a:ea typeface="Times"/>
              <a:cs typeface="Times"/>
              <a:sym typeface="Times"/>
            </a:endParaRPr>
          </a:p>
          <a:p>
            <a:pPr indent="457200" lvl="0" marL="457200" rtl="0" algn="just">
              <a:spcBef>
                <a:spcPts val="290"/>
              </a:spcBef>
              <a:spcAft>
                <a:spcPts val="0"/>
              </a:spcAft>
              <a:buNone/>
            </a:pPr>
            <a:r>
              <a:rPr i="1" lang="en-US" sz="1800">
                <a:latin typeface="Times"/>
                <a:ea typeface="Times"/>
                <a:cs typeface="Times"/>
                <a:sym typeface="Times"/>
              </a:rPr>
              <a:t>#  First if statement</a:t>
            </a:r>
            <a:endParaRPr i="1" sz="1800">
              <a:latin typeface="Times"/>
              <a:ea typeface="Times"/>
              <a:cs typeface="Times"/>
              <a:sym typeface="Times"/>
            </a:endParaRPr>
          </a:p>
          <a:p>
            <a:pPr indent="457200" lvl="0" marL="0" rtl="0" algn="just">
              <a:spcBef>
                <a:spcPts val="290"/>
              </a:spcBef>
              <a:spcAft>
                <a:spcPts val="0"/>
              </a:spcAft>
              <a:buNone/>
            </a:pPr>
            <a:r>
              <a:rPr i="1" lang="en-US" sz="1800">
                <a:latin typeface="Times"/>
                <a:ea typeface="Times"/>
                <a:cs typeface="Times"/>
                <a:sym typeface="Times"/>
              </a:rPr>
              <a:t>    	if (i &lt; 15):</a:t>
            </a:r>
            <a:endParaRPr i="1" sz="1800">
              <a:latin typeface="Times"/>
              <a:ea typeface="Times"/>
              <a:cs typeface="Times"/>
              <a:sym typeface="Times"/>
            </a:endParaRPr>
          </a:p>
          <a:p>
            <a:pPr indent="457200" lvl="0" marL="0" rtl="0" algn="just">
              <a:spcBef>
                <a:spcPts val="290"/>
              </a:spcBef>
              <a:spcAft>
                <a:spcPts val="0"/>
              </a:spcAft>
              <a:buNone/>
            </a:pPr>
            <a:r>
              <a:rPr i="1" lang="en-US" sz="1800">
                <a:latin typeface="Times"/>
                <a:ea typeface="Times"/>
                <a:cs typeface="Times"/>
                <a:sym typeface="Times"/>
              </a:rPr>
              <a:t>    		print("i is smaller than 15")</a:t>
            </a:r>
            <a:endParaRPr i="1" sz="1800">
              <a:latin typeface="Times"/>
              <a:ea typeface="Times"/>
              <a:cs typeface="Times"/>
              <a:sym typeface="Times"/>
            </a:endParaRPr>
          </a:p>
          <a:p>
            <a:pPr indent="457200" lvl="0" marL="457200" rtl="0" algn="just">
              <a:spcBef>
                <a:spcPts val="290"/>
              </a:spcBef>
              <a:spcAft>
                <a:spcPts val="0"/>
              </a:spcAft>
              <a:buNone/>
            </a:pPr>
            <a:r>
              <a:rPr i="1" lang="en-US" sz="1800">
                <a:latin typeface="Times"/>
                <a:ea typeface="Times"/>
                <a:cs typeface="Times"/>
                <a:sym typeface="Times"/>
              </a:rPr>
              <a:t>    # Nested - if statement</a:t>
            </a:r>
            <a:endParaRPr i="1" sz="1800">
              <a:latin typeface="Times"/>
              <a:ea typeface="Times"/>
              <a:cs typeface="Times"/>
              <a:sym typeface="Times"/>
            </a:endParaRPr>
          </a:p>
          <a:p>
            <a:pPr indent="457200" lvl="0" marL="457200" rtl="0" algn="just">
              <a:spcBef>
                <a:spcPts val="290"/>
              </a:spcBef>
              <a:spcAft>
                <a:spcPts val="0"/>
              </a:spcAft>
              <a:buNone/>
            </a:pPr>
            <a:r>
              <a:rPr i="1" lang="en-US" sz="1800">
                <a:latin typeface="Times"/>
                <a:ea typeface="Times"/>
                <a:cs typeface="Times"/>
                <a:sym typeface="Times"/>
              </a:rPr>
              <a:t>    # Will only be executed if statement above it is true</a:t>
            </a:r>
            <a:endParaRPr i="1" sz="1800">
              <a:latin typeface="Times"/>
              <a:ea typeface="Times"/>
              <a:cs typeface="Times"/>
              <a:sym typeface="Times"/>
            </a:endParaRPr>
          </a:p>
          <a:p>
            <a:pPr indent="457200" lvl="0" marL="457200" rtl="0" algn="just">
              <a:spcBef>
                <a:spcPts val="290"/>
              </a:spcBef>
              <a:spcAft>
                <a:spcPts val="0"/>
              </a:spcAft>
              <a:buNone/>
            </a:pPr>
            <a:r>
              <a:rPr i="1" lang="en-US" sz="1800">
                <a:latin typeface="Times"/>
                <a:ea typeface="Times"/>
                <a:cs typeface="Times"/>
                <a:sym typeface="Times"/>
              </a:rPr>
              <a:t>    if (i &lt; 12):</a:t>
            </a:r>
            <a:endParaRPr i="1" sz="1800">
              <a:latin typeface="Times"/>
              <a:ea typeface="Times"/>
              <a:cs typeface="Times"/>
              <a:sym typeface="Times"/>
            </a:endParaRPr>
          </a:p>
          <a:p>
            <a:pPr indent="457200" lvl="0" marL="1371600" rtl="0" algn="just">
              <a:spcBef>
                <a:spcPts val="290"/>
              </a:spcBef>
              <a:spcAft>
                <a:spcPts val="0"/>
              </a:spcAft>
              <a:buNone/>
            </a:pPr>
            <a:r>
              <a:rPr i="1" lang="en-US" sz="1800">
                <a:latin typeface="Times"/>
                <a:ea typeface="Times"/>
                <a:cs typeface="Times"/>
                <a:sym typeface="Times"/>
              </a:rPr>
              <a:t>print("i is smaller than 12 too")</a:t>
            </a:r>
            <a:endParaRPr i="1" sz="1800">
              <a:latin typeface="Times"/>
              <a:ea typeface="Times"/>
              <a:cs typeface="Times"/>
              <a:sym typeface="Times"/>
            </a:endParaRPr>
          </a:p>
          <a:p>
            <a:pPr indent="457200" lvl="0" marL="457200" rtl="0" algn="just">
              <a:spcBef>
                <a:spcPts val="290"/>
              </a:spcBef>
              <a:spcAft>
                <a:spcPts val="0"/>
              </a:spcAft>
              <a:buNone/>
            </a:pPr>
            <a:r>
              <a:rPr i="1" lang="en-US" sz="1800">
                <a:latin typeface="Times"/>
                <a:ea typeface="Times"/>
                <a:cs typeface="Times"/>
                <a:sym typeface="Times"/>
              </a:rPr>
              <a:t>    else:</a:t>
            </a:r>
            <a:endParaRPr i="1" sz="1800">
              <a:latin typeface="Times"/>
              <a:ea typeface="Times"/>
              <a:cs typeface="Times"/>
              <a:sym typeface="Times"/>
            </a:endParaRPr>
          </a:p>
          <a:p>
            <a:pPr indent="457200" lvl="0" marL="457200" rtl="0" algn="just">
              <a:spcBef>
                <a:spcPts val="290"/>
              </a:spcBef>
              <a:spcAft>
                <a:spcPts val="0"/>
              </a:spcAft>
              <a:buNone/>
            </a:pPr>
            <a:r>
              <a:rPr i="1" lang="en-US" sz="1800">
                <a:latin typeface="Times"/>
                <a:ea typeface="Times"/>
                <a:cs typeface="Times"/>
                <a:sym typeface="Times"/>
              </a:rPr>
              <a:t>        	print("i is greater than 15")</a:t>
            </a:r>
            <a:endParaRPr i="1" sz="1800">
              <a:latin typeface="Times"/>
              <a:ea typeface="Times"/>
              <a:cs typeface="Times"/>
              <a:sym typeface="Times"/>
            </a:endParaRPr>
          </a:p>
        </p:txBody>
      </p:sp>
      <p:sp>
        <p:nvSpPr>
          <p:cNvPr id="589" name="Google Shape;589;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4" name="Shape 594"/>
        <p:cNvGrpSpPr/>
        <p:nvPr/>
      </p:nvGrpSpPr>
      <p:grpSpPr>
        <a:xfrm>
          <a:off x="0" y="0"/>
          <a:ext cx="0" cy="0"/>
          <a:chOff x="0" y="0"/>
          <a:chExt cx="0" cy="0"/>
        </a:xfrm>
      </p:grpSpPr>
      <p:sp>
        <p:nvSpPr>
          <p:cNvPr id="595" name="Google Shape;595;p76"/>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if-el</a:t>
            </a:r>
            <a:r>
              <a:rPr b="1" lang="en-US" sz="3000">
                <a:solidFill>
                  <a:srgbClr val="1C3678"/>
                </a:solidFill>
                <a:latin typeface="Trebuchet MS"/>
                <a:ea typeface="Trebuchet MS"/>
                <a:cs typeface="Trebuchet MS"/>
                <a:sym typeface="Trebuchet MS"/>
              </a:rPr>
              <a:t>if-else Ladder</a:t>
            </a:r>
            <a:endParaRPr b="1" sz="3000">
              <a:solidFill>
                <a:srgbClr val="1C3678"/>
              </a:solidFill>
              <a:latin typeface="Trebuchet MS"/>
              <a:ea typeface="Trebuchet MS"/>
              <a:cs typeface="Trebuchet MS"/>
              <a:sym typeface="Trebuchet MS"/>
            </a:endParaRPr>
          </a:p>
        </p:txBody>
      </p:sp>
      <p:sp>
        <p:nvSpPr>
          <p:cNvPr id="596" name="Google Shape;596;p76"/>
          <p:cNvSpPr txBox="1"/>
          <p:nvPr/>
        </p:nvSpPr>
        <p:spPr>
          <a:xfrm>
            <a:off x="688425" y="793125"/>
            <a:ext cx="7992300" cy="46170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latin typeface="Times"/>
                <a:ea typeface="Times"/>
                <a:cs typeface="Times"/>
                <a:sym typeface="Times"/>
              </a:rPr>
              <a:t>User can decide among multiple options. The if statements are executed from the top down.</a:t>
            </a:r>
            <a:endParaRPr sz="1800">
              <a:latin typeface="Times"/>
              <a:ea typeface="Times"/>
              <a:cs typeface="Times"/>
              <a:sym typeface="Times"/>
            </a:endParaRPr>
          </a:p>
          <a:p>
            <a:pPr indent="-342900" lvl="0" marL="457200" rtl="0" algn="just">
              <a:spcBef>
                <a:spcPts val="0"/>
              </a:spcBef>
              <a:spcAft>
                <a:spcPts val="0"/>
              </a:spcAft>
              <a:buSzPts val="1800"/>
              <a:buFont typeface="Times"/>
              <a:buChar char="●"/>
            </a:pPr>
            <a:r>
              <a:rPr lang="en-US" sz="1800">
                <a:latin typeface="Times"/>
                <a:ea typeface="Times"/>
                <a:cs typeface="Times"/>
                <a:sym typeface="Times"/>
              </a:rPr>
              <a:t>As soon as one of the conditions controlling the if is true, the statement associated with that if is executed, and the rest of the ladder is bypassed. If none of the conditions is true, then the final “else” statement will be executed.</a:t>
            </a:r>
            <a:endParaRPr sz="1800">
              <a:latin typeface="Times"/>
              <a:ea typeface="Times"/>
              <a:cs typeface="Times"/>
              <a:sym typeface="Times"/>
            </a:endParaRPr>
          </a:p>
          <a:p>
            <a:pPr indent="-342900" lvl="0" marL="457200" rtl="0" algn="just">
              <a:spcBef>
                <a:spcPts val="0"/>
              </a:spcBef>
              <a:spcAft>
                <a:spcPts val="0"/>
              </a:spcAft>
              <a:buSzPts val="1800"/>
              <a:buFont typeface="Times"/>
              <a:buChar char="●"/>
            </a:pPr>
            <a:r>
              <a:rPr lang="en-US" sz="1800">
                <a:latin typeface="Times"/>
                <a:ea typeface="Times"/>
                <a:cs typeface="Times"/>
                <a:sym typeface="Times"/>
              </a:rPr>
              <a:t>Syntax for </a:t>
            </a:r>
            <a:r>
              <a:rPr lang="en-US" sz="1800">
                <a:latin typeface="Times"/>
                <a:ea typeface="Times"/>
                <a:cs typeface="Times"/>
                <a:sym typeface="Times"/>
              </a:rPr>
              <a:t>if-elif-else ladder</a:t>
            </a:r>
            <a:r>
              <a:rPr lang="en-US" sz="1800">
                <a:latin typeface="Times"/>
                <a:ea typeface="Times"/>
                <a:cs typeface="Times"/>
                <a:sym typeface="Times"/>
              </a:rPr>
              <a:t>: </a:t>
            </a:r>
            <a:endParaRPr sz="1800">
              <a:latin typeface="Times"/>
              <a:ea typeface="Times"/>
              <a:cs typeface="Times"/>
              <a:sym typeface="Times"/>
            </a:endParaRPr>
          </a:p>
          <a:p>
            <a:pPr indent="0" lvl="0" marL="914400" rtl="0" algn="just">
              <a:spcBef>
                <a:spcPts val="290"/>
              </a:spcBef>
              <a:spcAft>
                <a:spcPts val="0"/>
              </a:spcAft>
              <a:buNone/>
            </a:pPr>
            <a:r>
              <a:rPr i="1" lang="en-US" sz="1800">
                <a:latin typeface="Times"/>
                <a:ea typeface="Times"/>
                <a:cs typeface="Times"/>
                <a:sym typeface="Times"/>
              </a:rPr>
              <a:t>if (condition1):</a:t>
            </a:r>
            <a:endParaRPr i="1" sz="1800">
              <a:latin typeface="Times"/>
              <a:ea typeface="Times"/>
              <a:cs typeface="Times"/>
              <a:sym typeface="Times"/>
            </a:endParaRPr>
          </a:p>
          <a:p>
            <a:pPr indent="0" lvl="0" marL="914400" rtl="0" algn="just">
              <a:spcBef>
                <a:spcPts val="290"/>
              </a:spcBef>
              <a:spcAft>
                <a:spcPts val="0"/>
              </a:spcAft>
              <a:buNone/>
            </a:pPr>
            <a:r>
              <a:rPr i="1" lang="en-US" sz="1800">
                <a:latin typeface="Times"/>
                <a:ea typeface="Times"/>
                <a:cs typeface="Times"/>
                <a:sym typeface="Times"/>
              </a:rPr>
              <a:t>    # statement</a:t>
            </a:r>
            <a:endParaRPr i="1" sz="1800">
              <a:latin typeface="Times"/>
              <a:ea typeface="Times"/>
              <a:cs typeface="Times"/>
              <a:sym typeface="Times"/>
            </a:endParaRPr>
          </a:p>
          <a:p>
            <a:pPr indent="0" lvl="0" marL="914400" rtl="0" algn="just">
              <a:spcBef>
                <a:spcPts val="290"/>
              </a:spcBef>
              <a:spcAft>
                <a:spcPts val="0"/>
              </a:spcAft>
              <a:buNone/>
            </a:pPr>
            <a:r>
              <a:rPr i="1" lang="en-US" sz="1800">
                <a:latin typeface="Times"/>
                <a:ea typeface="Times"/>
                <a:cs typeface="Times"/>
                <a:sym typeface="Times"/>
              </a:rPr>
              <a:t>elif (condition2):</a:t>
            </a:r>
            <a:endParaRPr i="1" sz="1800">
              <a:latin typeface="Times"/>
              <a:ea typeface="Times"/>
              <a:cs typeface="Times"/>
              <a:sym typeface="Times"/>
            </a:endParaRPr>
          </a:p>
          <a:p>
            <a:pPr indent="0" lvl="0" marL="914400" rtl="0" algn="just">
              <a:spcBef>
                <a:spcPts val="290"/>
              </a:spcBef>
              <a:spcAft>
                <a:spcPts val="0"/>
              </a:spcAft>
              <a:buNone/>
            </a:pPr>
            <a:r>
              <a:rPr i="1" lang="en-US" sz="1800">
                <a:latin typeface="Times"/>
                <a:ea typeface="Times"/>
                <a:cs typeface="Times"/>
                <a:sym typeface="Times"/>
              </a:rPr>
              <a:t>    # statement</a:t>
            </a:r>
            <a:endParaRPr i="1" sz="1800">
              <a:latin typeface="Times"/>
              <a:ea typeface="Times"/>
              <a:cs typeface="Times"/>
              <a:sym typeface="Times"/>
            </a:endParaRPr>
          </a:p>
          <a:p>
            <a:pPr indent="0" lvl="0" marL="914400" rtl="0" algn="just">
              <a:spcBef>
                <a:spcPts val="290"/>
              </a:spcBef>
              <a:spcAft>
                <a:spcPts val="0"/>
              </a:spcAft>
              <a:buNone/>
            </a:pPr>
            <a:r>
              <a:rPr i="1" lang="en-US" sz="1800">
                <a:latin typeface="Times"/>
                <a:ea typeface="Times"/>
                <a:cs typeface="Times"/>
                <a:sym typeface="Times"/>
              </a:rPr>
              <a:t>elif (condition3):</a:t>
            </a:r>
            <a:endParaRPr i="1" sz="1800">
              <a:latin typeface="Times"/>
              <a:ea typeface="Times"/>
              <a:cs typeface="Times"/>
              <a:sym typeface="Times"/>
            </a:endParaRPr>
          </a:p>
          <a:p>
            <a:pPr indent="0" lvl="0" marL="914400" rtl="0" algn="just">
              <a:spcBef>
                <a:spcPts val="290"/>
              </a:spcBef>
              <a:spcAft>
                <a:spcPts val="0"/>
              </a:spcAft>
              <a:buNone/>
            </a:pPr>
            <a:r>
              <a:rPr i="1" lang="en-US" sz="1800">
                <a:latin typeface="Times"/>
                <a:ea typeface="Times"/>
                <a:cs typeface="Times"/>
                <a:sym typeface="Times"/>
              </a:rPr>
              <a:t>    # statement</a:t>
            </a:r>
            <a:endParaRPr i="1" sz="1800">
              <a:latin typeface="Times"/>
              <a:ea typeface="Times"/>
              <a:cs typeface="Times"/>
              <a:sym typeface="Times"/>
            </a:endParaRPr>
          </a:p>
          <a:p>
            <a:pPr indent="0" lvl="0" marL="914400" rtl="0" algn="just">
              <a:spcBef>
                <a:spcPts val="290"/>
              </a:spcBef>
              <a:spcAft>
                <a:spcPts val="0"/>
              </a:spcAft>
              <a:buNone/>
            </a:pPr>
            <a:r>
              <a:rPr i="1" lang="en-US" sz="1800">
                <a:latin typeface="Times"/>
                <a:ea typeface="Times"/>
                <a:cs typeface="Times"/>
                <a:sym typeface="Times"/>
              </a:rPr>
              <a:t>else:</a:t>
            </a:r>
            <a:endParaRPr i="1" sz="1800">
              <a:latin typeface="Times"/>
              <a:ea typeface="Times"/>
              <a:cs typeface="Times"/>
              <a:sym typeface="Times"/>
            </a:endParaRPr>
          </a:p>
          <a:p>
            <a:pPr indent="0" lvl="0" marL="914400" rtl="0" algn="just">
              <a:spcBef>
                <a:spcPts val="290"/>
              </a:spcBef>
              <a:spcAft>
                <a:spcPts val="0"/>
              </a:spcAft>
              <a:buNone/>
            </a:pPr>
            <a:r>
              <a:rPr i="1" lang="en-US" sz="1800">
                <a:latin typeface="Times"/>
                <a:ea typeface="Times"/>
                <a:cs typeface="Times"/>
                <a:sym typeface="Times"/>
              </a:rPr>
              <a:t>    # statement</a:t>
            </a:r>
            <a:endParaRPr i="1" sz="1800">
              <a:latin typeface="Times"/>
              <a:ea typeface="Times"/>
              <a:cs typeface="Times"/>
              <a:sym typeface="Times"/>
            </a:endParaRPr>
          </a:p>
          <a:p>
            <a:pPr indent="0" lvl="0" marL="0" rtl="0" algn="just">
              <a:spcBef>
                <a:spcPts val="290"/>
              </a:spcBef>
              <a:spcAft>
                <a:spcPts val="0"/>
              </a:spcAft>
              <a:buNone/>
            </a:pPr>
            <a:r>
              <a:t/>
            </a:r>
            <a:endParaRPr sz="1800">
              <a:latin typeface="Times"/>
              <a:ea typeface="Times"/>
              <a:cs typeface="Times"/>
              <a:sym typeface="Times"/>
            </a:endParaRPr>
          </a:p>
        </p:txBody>
      </p:sp>
      <p:sp>
        <p:nvSpPr>
          <p:cNvPr id="597" name="Google Shape;597;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2" name="Shape 602"/>
        <p:cNvGrpSpPr/>
        <p:nvPr/>
      </p:nvGrpSpPr>
      <p:grpSpPr>
        <a:xfrm>
          <a:off x="0" y="0"/>
          <a:ext cx="0" cy="0"/>
          <a:chOff x="0" y="0"/>
          <a:chExt cx="0" cy="0"/>
        </a:xfrm>
      </p:grpSpPr>
      <p:sp>
        <p:nvSpPr>
          <p:cNvPr id="603" name="Google Shape;603;p77"/>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if-elif-else Ladder</a:t>
            </a:r>
            <a:endParaRPr b="1" sz="3000">
              <a:solidFill>
                <a:srgbClr val="1C3678"/>
              </a:solidFill>
              <a:latin typeface="Trebuchet MS"/>
              <a:ea typeface="Trebuchet MS"/>
              <a:cs typeface="Trebuchet MS"/>
              <a:sym typeface="Trebuchet MS"/>
            </a:endParaRPr>
          </a:p>
        </p:txBody>
      </p:sp>
      <p:sp>
        <p:nvSpPr>
          <p:cNvPr id="604" name="Google Shape;604;p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605" name="Google Shape;605;p77"/>
          <p:cNvPicPr preferRelativeResize="0"/>
          <p:nvPr/>
        </p:nvPicPr>
        <p:blipFill>
          <a:blip r:embed="rId3">
            <a:alphaModFix/>
          </a:blip>
          <a:stretch>
            <a:fillRect/>
          </a:stretch>
        </p:blipFill>
        <p:spPr>
          <a:xfrm>
            <a:off x="929425" y="823250"/>
            <a:ext cx="7751300" cy="3888624"/>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0" name="Shape 610"/>
        <p:cNvGrpSpPr/>
        <p:nvPr/>
      </p:nvGrpSpPr>
      <p:grpSpPr>
        <a:xfrm>
          <a:off x="0" y="0"/>
          <a:ext cx="0" cy="0"/>
          <a:chOff x="0" y="0"/>
          <a:chExt cx="0" cy="0"/>
        </a:xfrm>
      </p:grpSpPr>
      <p:sp>
        <p:nvSpPr>
          <p:cNvPr id="611" name="Google Shape;611;p78"/>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if-elif-else Ladder </a:t>
            </a:r>
            <a:r>
              <a:rPr b="1" lang="en-US" sz="3000">
                <a:solidFill>
                  <a:srgbClr val="1C3678"/>
                </a:solidFill>
                <a:latin typeface="Trebuchet MS"/>
                <a:ea typeface="Trebuchet MS"/>
                <a:cs typeface="Trebuchet MS"/>
                <a:sym typeface="Trebuchet MS"/>
              </a:rPr>
              <a:t>Example</a:t>
            </a:r>
            <a:endParaRPr b="1" sz="3000">
              <a:solidFill>
                <a:srgbClr val="1C3678"/>
              </a:solidFill>
              <a:latin typeface="Trebuchet MS"/>
              <a:ea typeface="Trebuchet MS"/>
              <a:cs typeface="Trebuchet MS"/>
              <a:sym typeface="Trebuchet MS"/>
            </a:endParaRPr>
          </a:p>
        </p:txBody>
      </p:sp>
      <p:sp>
        <p:nvSpPr>
          <p:cNvPr id="612" name="Google Shape;612;p78"/>
          <p:cNvSpPr txBox="1"/>
          <p:nvPr/>
        </p:nvSpPr>
        <p:spPr>
          <a:xfrm>
            <a:off x="688425" y="793125"/>
            <a:ext cx="8107500" cy="3546000"/>
          </a:xfrm>
          <a:prstGeom prst="rect">
            <a:avLst/>
          </a:prstGeom>
          <a:noFill/>
          <a:ln>
            <a:noFill/>
          </a:ln>
        </p:spPr>
        <p:txBody>
          <a:bodyPr anchorCtr="0" anchor="t" bIns="0" lIns="0" spcFirstLastPara="1" rIns="0" wrap="square" tIns="125075">
            <a:spAutoFit/>
          </a:bodyPr>
          <a:lstStyle/>
          <a:p>
            <a:pPr indent="0" lvl="0" marL="0" rtl="0" algn="just">
              <a:spcBef>
                <a:spcPts val="290"/>
              </a:spcBef>
              <a:spcAft>
                <a:spcPts val="0"/>
              </a:spcAft>
              <a:buNone/>
            </a:pPr>
            <a:r>
              <a:rPr lang="en-US" sz="1800">
                <a:latin typeface="Times"/>
                <a:ea typeface="Times"/>
                <a:cs typeface="Times"/>
                <a:sym typeface="Times"/>
              </a:rPr>
              <a:t>Example:</a:t>
            </a:r>
            <a:endParaRPr sz="1800">
              <a:latin typeface="Times"/>
              <a:ea typeface="Times"/>
              <a:cs typeface="Times"/>
              <a:sym typeface="Times"/>
            </a:endParaRPr>
          </a:p>
          <a:p>
            <a:pPr indent="0" lvl="0" marL="914400" rtl="0" algn="just">
              <a:spcBef>
                <a:spcPts val="290"/>
              </a:spcBef>
              <a:spcAft>
                <a:spcPts val="0"/>
              </a:spcAft>
              <a:buNone/>
            </a:pPr>
            <a:r>
              <a:rPr i="1" lang="en-US" sz="1800">
                <a:latin typeface="Times"/>
                <a:ea typeface="Times"/>
                <a:cs typeface="Times"/>
                <a:sym typeface="Times"/>
              </a:rPr>
              <a:t>i = 25</a:t>
            </a:r>
            <a:endParaRPr i="1" sz="1800">
              <a:latin typeface="Times"/>
              <a:ea typeface="Times"/>
              <a:cs typeface="Times"/>
              <a:sym typeface="Times"/>
            </a:endParaRPr>
          </a:p>
          <a:p>
            <a:pPr indent="0" lvl="0" marL="914400" rtl="0" algn="just">
              <a:spcBef>
                <a:spcPts val="290"/>
              </a:spcBef>
              <a:spcAft>
                <a:spcPts val="0"/>
              </a:spcAft>
              <a:buNone/>
            </a:pPr>
            <a:r>
              <a:rPr i="1" lang="en-US" sz="1800">
                <a:latin typeface="Times"/>
                <a:ea typeface="Times"/>
                <a:cs typeface="Times"/>
                <a:sym typeface="Times"/>
              </a:rPr>
              <a:t>if (i == 10):</a:t>
            </a:r>
            <a:endParaRPr i="1" sz="1800">
              <a:latin typeface="Times"/>
              <a:ea typeface="Times"/>
              <a:cs typeface="Times"/>
              <a:sym typeface="Times"/>
            </a:endParaRPr>
          </a:p>
          <a:p>
            <a:pPr indent="0" lvl="0" marL="914400" rtl="0" algn="just">
              <a:spcBef>
                <a:spcPts val="290"/>
              </a:spcBef>
              <a:spcAft>
                <a:spcPts val="0"/>
              </a:spcAft>
              <a:buNone/>
            </a:pPr>
            <a:r>
              <a:rPr i="1" lang="en-US" sz="1800">
                <a:latin typeface="Times"/>
                <a:ea typeface="Times"/>
                <a:cs typeface="Times"/>
                <a:sym typeface="Times"/>
              </a:rPr>
              <a:t>    	print("i is 10")</a:t>
            </a:r>
            <a:endParaRPr i="1" sz="1800">
              <a:latin typeface="Times"/>
              <a:ea typeface="Times"/>
              <a:cs typeface="Times"/>
              <a:sym typeface="Times"/>
            </a:endParaRPr>
          </a:p>
          <a:p>
            <a:pPr indent="0" lvl="0" marL="914400" rtl="0" algn="just">
              <a:spcBef>
                <a:spcPts val="290"/>
              </a:spcBef>
              <a:spcAft>
                <a:spcPts val="0"/>
              </a:spcAft>
              <a:buNone/>
            </a:pPr>
            <a:r>
              <a:rPr i="1" lang="en-US" sz="1800">
                <a:latin typeface="Times"/>
                <a:ea typeface="Times"/>
                <a:cs typeface="Times"/>
                <a:sym typeface="Times"/>
              </a:rPr>
              <a:t>elif (i == 15):</a:t>
            </a:r>
            <a:endParaRPr i="1" sz="1800">
              <a:latin typeface="Times"/>
              <a:ea typeface="Times"/>
              <a:cs typeface="Times"/>
              <a:sym typeface="Times"/>
            </a:endParaRPr>
          </a:p>
          <a:p>
            <a:pPr indent="0" lvl="0" marL="914400" rtl="0" algn="just">
              <a:spcBef>
                <a:spcPts val="290"/>
              </a:spcBef>
              <a:spcAft>
                <a:spcPts val="0"/>
              </a:spcAft>
              <a:buNone/>
            </a:pPr>
            <a:r>
              <a:rPr i="1" lang="en-US" sz="1800">
                <a:latin typeface="Times"/>
                <a:ea typeface="Times"/>
                <a:cs typeface="Times"/>
                <a:sym typeface="Times"/>
              </a:rPr>
              <a:t>    	print("i is 15")</a:t>
            </a:r>
            <a:endParaRPr i="1" sz="1800">
              <a:latin typeface="Times"/>
              <a:ea typeface="Times"/>
              <a:cs typeface="Times"/>
              <a:sym typeface="Times"/>
            </a:endParaRPr>
          </a:p>
          <a:p>
            <a:pPr indent="0" lvl="0" marL="914400" rtl="0" algn="just">
              <a:spcBef>
                <a:spcPts val="290"/>
              </a:spcBef>
              <a:spcAft>
                <a:spcPts val="0"/>
              </a:spcAft>
              <a:buNone/>
            </a:pPr>
            <a:r>
              <a:rPr i="1" lang="en-US" sz="1800">
                <a:latin typeface="Times"/>
                <a:ea typeface="Times"/>
                <a:cs typeface="Times"/>
                <a:sym typeface="Times"/>
              </a:rPr>
              <a:t>elif (i == 20):</a:t>
            </a:r>
            <a:endParaRPr i="1" sz="1800">
              <a:latin typeface="Times"/>
              <a:ea typeface="Times"/>
              <a:cs typeface="Times"/>
              <a:sym typeface="Times"/>
            </a:endParaRPr>
          </a:p>
          <a:p>
            <a:pPr indent="0" lvl="0" marL="914400" rtl="0" algn="just">
              <a:spcBef>
                <a:spcPts val="290"/>
              </a:spcBef>
              <a:spcAft>
                <a:spcPts val="0"/>
              </a:spcAft>
              <a:buNone/>
            </a:pPr>
            <a:r>
              <a:rPr i="1" lang="en-US" sz="1800">
                <a:latin typeface="Times"/>
                <a:ea typeface="Times"/>
                <a:cs typeface="Times"/>
                <a:sym typeface="Times"/>
              </a:rPr>
              <a:t>    	print("i is 20")</a:t>
            </a:r>
            <a:endParaRPr i="1" sz="1800">
              <a:latin typeface="Times"/>
              <a:ea typeface="Times"/>
              <a:cs typeface="Times"/>
              <a:sym typeface="Times"/>
            </a:endParaRPr>
          </a:p>
          <a:p>
            <a:pPr indent="0" lvl="0" marL="914400" rtl="0" algn="just">
              <a:spcBef>
                <a:spcPts val="290"/>
              </a:spcBef>
              <a:spcAft>
                <a:spcPts val="0"/>
              </a:spcAft>
              <a:buNone/>
            </a:pPr>
            <a:r>
              <a:rPr i="1" lang="en-US" sz="1800">
                <a:latin typeface="Times"/>
                <a:ea typeface="Times"/>
                <a:cs typeface="Times"/>
                <a:sym typeface="Times"/>
              </a:rPr>
              <a:t>else:</a:t>
            </a:r>
            <a:endParaRPr i="1" sz="1800">
              <a:latin typeface="Times"/>
              <a:ea typeface="Times"/>
              <a:cs typeface="Times"/>
              <a:sym typeface="Times"/>
            </a:endParaRPr>
          </a:p>
          <a:p>
            <a:pPr indent="0" lvl="0" marL="914400" rtl="0" algn="just">
              <a:spcBef>
                <a:spcPts val="290"/>
              </a:spcBef>
              <a:spcAft>
                <a:spcPts val="0"/>
              </a:spcAft>
              <a:buNone/>
            </a:pPr>
            <a:r>
              <a:rPr i="1" lang="en-US" sz="1800">
                <a:latin typeface="Times"/>
                <a:ea typeface="Times"/>
                <a:cs typeface="Times"/>
                <a:sym typeface="Times"/>
              </a:rPr>
              <a:t>    	print("i is not present")</a:t>
            </a:r>
            <a:endParaRPr i="1" sz="1800">
              <a:latin typeface="Times"/>
              <a:ea typeface="Times"/>
              <a:cs typeface="Times"/>
              <a:sym typeface="Times"/>
            </a:endParaRPr>
          </a:p>
          <a:p>
            <a:pPr indent="0" lvl="0" marL="0" rtl="0" algn="just">
              <a:spcBef>
                <a:spcPts val="290"/>
              </a:spcBef>
              <a:spcAft>
                <a:spcPts val="0"/>
              </a:spcAft>
              <a:buNone/>
            </a:pPr>
            <a:r>
              <a:t/>
            </a:r>
            <a:endParaRPr sz="1800">
              <a:latin typeface="Times"/>
              <a:ea typeface="Times"/>
              <a:cs typeface="Times"/>
              <a:sym typeface="Times"/>
            </a:endParaRPr>
          </a:p>
        </p:txBody>
      </p:sp>
      <p:sp>
        <p:nvSpPr>
          <p:cNvPr id="613" name="Google Shape;613;p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8" name="Shape 618"/>
        <p:cNvGrpSpPr/>
        <p:nvPr/>
      </p:nvGrpSpPr>
      <p:grpSpPr>
        <a:xfrm>
          <a:off x="0" y="0"/>
          <a:ext cx="0" cy="0"/>
          <a:chOff x="0" y="0"/>
          <a:chExt cx="0" cy="0"/>
        </a:xfrm>
      </p:grpSpPr>
      <p:sp>
        <p:nvSpPr>
          <p:cNvPr id="619" name="Google Shape;619;p79"/>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Multiple Conditions</a:t>
            </a:r>
            <a:endParaRPr b="1" sz="3000">
              <a:solidFill>
                <a:srgbClr val="1C3678"/>
              </a:solidFill>
              <a:latin typeface="Trebuchet MS"/>
              <a:ea typeface="Trebuchet MS"/>
              <a:cs typeface="Trebuchet MS"/>
              <a:sym typeface="Trebuchet MS"/>
            </a:endParaRPr>
          </a:p>
        </p:txBody>
      </p:sp>
      <p:sp>
        <p:nvSpPr>
          <p:cNvPr id="620" name="Google Shape;620;p79"/>
          <p:cNvSpPr txBox="1"/>
          <p:nvPr/>
        </p:nvSpPr>
        <p:spPr>
          <a:xfrm>
            <a:off x="688425" y="793125"/>
            <a:ext cx="8107500" cy="42657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latin typeface="Times"/>
                <a:ea typeface="Times"/>
                <a:cs typeface="Times"/>
                <a:sym typeface="Times"/>
              </a:rPr>
              <a:t>To test multiple conditions in Python, you can use logical operators like and, or, and not. These operators allow you to combine or negate conditions within an if statement.</a:t>
            </a:r>
            <a:endParaRPr sz="1800">
              <a:latin typeface="Times"/>
              <a:ea typeface="Times"/>
              <a:cs typeface="Times"/>
              <a:sym typeface="Times"/>
            </a:endParaRPr>
          </a:p>
          <a:p>
            <a:pPr indent="-342900" lvl="0" marL="457200" rtl="0" algn="just">
              <a:spcBef>
                <a:spcPts val="0"/>
              </a:spcBef>
              <a:spcAft>
                <a:spcPts val="0"/>
              </a:spcAft>
              <a:buSzPts val="1800"/>
              <a:buFont typeface="Times"/>
              <a:buChar char="●"/>
            </a:pPr>
            <a:r>
              <a:rPr lang="en-US" sz="1800">
                <a:latin typeface="Times"/>
                <a:ea typeface="Times"/>
                <a:cs typeface="Times"/>
                <a:sym typeface="Times"/>
              </a:rPr>
              <a:t>Using </a:t>
            </a:r>
            <a:r>
              <a:rPr i="1" lang="en-US" sz="1800">
                <a:latin typeface="Times"/>
                <a:ea typeface="Times"/>
                <a:cs typeface="Times"/>
                <a:sym typeface="Times"/>
              </a:rPr>
              <a:t>and</a:t>
            </a:r>
            <a:endParaRPr i="1"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The and operator allows you to check if multiple conditions are true at the same time. All conditions must be true for the block of code to execute.</a:t>
            </a:r>
            <a:endParaRPr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age = 25</a:t>
            </a:r>
            <a:endParaRPr i="1"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has_id = True</a:t>
            </a:r>
            <a:endParaRPr i="1"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if age &gt;= 18 and has_id:</a:t>
            </a:r>
            <a:endParaRPr i="1"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    print("You are allowed to enter.")</a:t>
            </a:r>
            <a:endParaRPr i="1"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else:</a:t>
            </a:r>
            <a:endParaRPr i="1"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    print(“You cannot enter.")</a:t>
            </a:r>
            <a:endParaRPr i="1" sz="1800">
              <a:latin typeface="Times"/>
              <a:ea typeface="Times"/>
              <a:cs typeface="Times"/>
              <a:sym typeface="Times"/>
            </a:endParaRPr>
          </a:p>
          <a:p>
            <a:pPr indent="0" lvl="0" marL="0" rtl="0" algn="just">
              <a:spcBef>
                <a:spcPts val="290"/>
              </a:spcBef>
              <a:spcAft>
                <a:spcPts val="0"/>
              </a:spcAft>
              <a:buNone/>
            </a:pPr>
            <a:r>
              <a:rPr lang="en-US" sz="1800">
                <a:latin typeface="Times"/>
                <a:ea typeface="Times"/>
                <a:cs typeface="Times"/>
                <a:sym typeface="Times"/>
              </a:rPr>
              <a:t>In this example, both conditions (age &gt;= 18 and has_id) must be true for the message "You are allowed to enter." to be printed.</a:t>
            </a:r>
            <a:endParaRPr sz="1800">
              <a:latin typeface="Times"/>
              <a:ea typeface="Times"/>
              <a:cs typeface="Times"/>
              <a:sym typeface="Times"/>
            </a:endParaRPr>
          </a:p>
        </p:txBody>
      </p:sp>
      <p:sp>
        <p:nvSpPr>
          <p:cNvPr id="621" name="Google Shape;621;p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6" name="Shape 626"/>
        <p:cNvGrpSpPr/>
        <p:nvPr/>
      </p:nvGrpSpPr>
      <p:grpSpPr>
        <a:xfrm>
          <a:off x="0" y="0"/>
          <a:ext cx="0" cy="0"/>
          <a:chOff x="0" y="0"/>
          <a:chExt cx="0" cy="0"/>
        </a:xfrm>
      </p:grpSpPr>
      <p:sp>
        <p:nvSpPr>
          <p:cNvPr id="627" name="Google Shape;627;p80"/>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Multiple Conditions</a:t>
            </a:r>
            <a:endParaRPr b="1" sz="3000">
              <a:solidFill>
                <a:srgbClr val="1C3678"/>
              </a:solidFill>
              <a:latin typeface="Trebuchet MS"/>
              <a:ea typeface="Trebuchet MS"/>
              <a:cs typeface="Trebuchet MS"/>
              <a:sym typeface="Trebuchet MS"/>
            </a:endParaRPr>
          </a:p>
        </p:txBody>
      </p:sp>
      <p:sp>
        <p:nvSpPr>
          <p:cNvPr id="628" name="Google Shape;628;p80"/>
          <p:cNvSpPr txBox="1"/>
          <p:nvPr/>
        </p:nvSpPr>
        <p:spPr>
          <a:xfrm>
            <a:off x="688425" y="793125"/>
            <a:ext cx="8107500" cy="37488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latin typeface="Times"/>
                <a:ea typeface="Times"/>
                <a:cs typeface="Times"/>
                <a:sym typeface="Times"/>
              </a:rPr>
              <a:t>Using or</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The or operator allows you to check if at least one of multiple conditions is true. The block of code executes if at least one condition is true.</a:t>
            </a:r>
            <a:endParaRPr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temperature = 15</a:t>
            </a:r>
            <a:endParaRPr i="1"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raining = False</a:t>
            </a:r>
            <a:endParaRPr i="1"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if temperature &gt; 20 or not raining:</a:t>
            </a:r>
            <a:endParaRPr i="1"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    print("It's a good day for a walk.")</a:t>
            </a:r>
            <a:endParaRPr i="1"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else:</a:t>
            </a:r>
            <a:endParaRPr i="1"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    print("Better stay indoors.")</a:t>
            </a:r>
            <a:endParaRPr i="1" sz="1800">
              <a:latin typeface="Times"/>
              <a:ea typeface="Times"/>
              <a:cs typeface="Times"/>
              <a:sym typeface="Times"/>
            </a:endParaRPr>
          </a:p>
          <a:p>
            <a:pPr indent="0" lvl="0" marL="1371600" rtl="0" algn="just">
              <a:spcBef>
                <a:spcPts val="290"/>
              </a:spcBef>
              <a:spcAft>
                <a:spcPts val="0"/>
              </a:spcAft>
              <a:buNone/>
            </a:pPr>
            <a:r>
              <a:t/>
            </a:r>
            <a:endParaRPr i="1" sz="1800">
              <a:latin typeface="Times"/>
              <a:ea typeface="Times"/>
              <a:cs typeface="Times"/>
              <a:sym typeface="Times"/>
            </a:endParaRPr>
          </a:p>
          <a:p>
            <a:pPr indent="0" lvl="0" marL="0" rtl="0" algn="just">
              <a:spcBef>
                <a:spcPts val="290"/>
              </a:spcBef>
              <a:spcAft>
                <a:spcPts val="0"/>
              </a:spcAft>
              <a:buNone/>
            </a:pPr>
            <a:r>
              <a:rPr lang="en-US" sz="1800">
                <a:latin typeface="Times"/>
                <a:ea typeface="Times"/>
                <a:cs typeface="Times"/>
                <a:sym typeface="Times"/>
              </a:rPr>
              <a:t>Here, the message "It's a good day for a walk." is printed if either the temperature is greater than 20 or if it is not raining.</a:t>
            </a:r>
            <a:endParaRPr sz="1800">
              <a:latin typeface="Times"/>
              <a:ea typeface="Times"/>
              <a:cs typeface="Times"/>
              <a:sym typeface="Times"/>
            </a:endParaRPr>
          </a:p>
        </p:txBody>
      </p:sp>
      <p:sp>
        <p:nvSpPr>
          <p:cNvPr id="629" name="Google Shape;629;p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4" name="Shape 634"/>
        <p:cNvGrpSpPr/>
        <p:nvPr/>
      </p:nvGrpSpPr>
      <p:grpSpPr>
        <a:xfrm>
          <a:off x="0" y="0"/>
          <a:ext cx="0" cy="0"/>
          <a:chOff x="0" y="0"/>
          <a:chExt cx="0" cy="0"/>
        </a:xfrm>
      </p:grpSpPr>
      <p:sp>
        <p:nvSpPr>
          <p:cNvPr id="635" name="Google Shape;635;p81"/>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Multiple Conditions</a:t>
            </a:r>
            <a:endParaRPr b="1" sz="3000">
              <a:solidFill>
                <a:srgbClr val="1C3678"/>
              </a:solidFill>
              <a:latin typeface="Trebuchet MS"/>
              <a:ea typeface="Trebuchet MS"/>
              <a:cs typeface="Trebuchet MS"/>
              <a:sym typeface="Trebuchet MS"/>
            </a:endParaRPr>
          </a:p>
        </p:txBody>
      </p:sp>
      <p:sp>
        <p:nvSpPr>
          <p:cNvPr id="636" name="Google Shape;636;p81"/>
          <p:cNvSpPr txBox="1"/>
          <p:nvPr/>
        </p:nvSpPr>
        <p:spPr>
          <a:xfrm>
            <a:off x="688425" y="793125"/>
            <a:ext cx="8107500" cy="34716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latin typeface="Times"/>
                <a:ea typeface="Times"/>
                <a:cs typeface="Times"/>
                <a:sym typeface="Times"/>
              </a:rPr>
              <a:t>Using not</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The not operator negates a condition, turning it true if it was false, and vice versa.</a:t>
            </a:r>
            <a:endParaRPr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is_sunny = False</a:t>
            </a:r>
            <a:endParaRPr i="1"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if not is_sunny:</a:t>
            </a:r>
            <a:endParaRPr i="1"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    print("It might rain today.")</a:t>
            </a:r>
            <a:endParaRPr i="1"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else:</a:t>
            </a:r>
            <a:endParaRPr i="1"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    print("It's sunny today.")</a:t>
            </a:r>
            <a:endParaRPr i="1" sz="1800">
              <a:latin typeface="Times"/>
              <a:ea typeface="Times"/>
              <a:cs typeface="Times"/>
              <a:sym typeface="Times"/>
            </a:endParaRPr>
          </a:p>
          <a:p>
            <a:pPr indent="0" lvl="0" marL="0" rtl="0" algn="just">
              <a:spcBef>
                <a:spcPts val="290"/>
              </a:spcBef>
              <a:spcAft>
                <a:spcPts val="0"/>
              </a:spcAft>
              <a:buNone/>
            </a:pPr>
            <a:r>
              <a:t/>
            </a:r>
            <a:endParaRPr sz="1800">
              <a:latin typeface="Times"/>
              <a:ea typeface="Times"/>
              <a:cs typeface="Times"/>
              <a:sym typeface="Times"/>
            </a:endParaRPr>
          </a:p>
          <a:p>
            <a:pPr indent="0" lvl="0" marL="0" rtl="0" algn="just">
              <a:spcBef>
                <a:spcPts val="290"/>
              </a:spcBef>
              <a:spcAft>
                <a:spcPts val="0"/>
              </a:spcAft>
              <a:buNone/>
            </a:pPr>
            <a:r>
              <a:rPr lang="en-US" sz="1800">
                <a:latin typeface="Times"/>
                <a:ea typeface="Times"/>
                <a:cs typeface="Times"/>
                <a:sym typeface="Times"/>
              </a:rPr>
              <a:t>In this case, the message "It might rain today." is printed if is_sunny is false.</a:t>
            </a:r>
            <a:endParaRPr sz="1800">
              <a:latin typeface="Times"/>
              <a:ea typeface="Times"/>
              <a:cs typeface="Times"/>
              <a:sym typeface="Times"/>
            </a:endParaRPr>
          </a:p>
          <a:p>
            <a:pPr indent="0" lvl="0" marL="0" rtl="0" algn="just">
              <a:spcBef>
                <a:spcPts val="290"/>
              </a:spcBef>
              <a:spcAft>
                <a:spcPts val="0"/>
              </a:spcAft>
              <a:buNone/>
            </a:pPr>
            <a:r>
              <a:t/>
            </a:r>
            <a:endParaRPr sz="1800">
              <a:latin typeface="Times"/>
              <a:ea typeface="Times"/>
              <a:cs typeface="Times"/>
              <a:sym typeface="Times"/>
            </a:endParaRPr>
          </a:p>
        </p:txBody>
      </p:sp>
      <p:sp>
        <p:nvSpPr>
          <p:cNvPr id="637" name="Google Shape;637;p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2" name="Shape 642"/>
        <p:cNvGrpSpPr/>
        <p:nvPr/>
      </p:nvGrpSpPr>
      <p:grpSpPr>
        <a:xfrm>
          <a:off x="0" y="0"/>
          <a:ext cx="0" cy="0"/>
          <a:chOff x="0" y="0"/>
          <a:chExt cx="0" cy="0"/>
        </a:xfrm>
      </p:grpSpPr>
      <p:sp>
        <p:nvSpPr>
          <p:cNvPr id="643" name="Google Shape;643;p82"/>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Multiple Conditions</a:t>
            </a:r>
            <a:endParaRPr b="1" sz="3000">
              <a:solidFill>
                <a:srgbClr val="1C3678"/>
              </a:solidFill>
              <a:latin typeface="Trebuchet MS"/>
              <a:ea typeface="Trebuchet MS"/>
              <a:cs typeface="Trebuchet MS"/>
              <a:sym typeface="Trebuchet MS"/>
            </a:endParaRPr>
          </a:p>
        </p:txBody>
      </p:sp>
      <p:sp>
        <p:nvSpPr>
          <p:cNvPr id="644" name="Google Shape;644;p82"/>
          <p:cNvSpPr txBox="1"/>
          <p:nvPr/>
        </p:nvSpPr>
        <p:spPr>
          <a:xfrm>
            <a:off x="688425" y="793125"/>
            <a:ext cx="8107500" cy="38232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latin typeface="Times"/>
                <a:ea typeface="Times"/>
                <a:cs typeface="Times"/>
                <a:sym typeface="Times"/>
              </a:rPr>
              <a:t>Combining Logical Operators</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You can combine multiple logical operators to test complex conditions.</a:t>
            </a:r>
            <a:endParaRPr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age = 20</a:t>
            </a:r>
            <a:endParaRPr i="1"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has_ticket = True</a:t>
            </a:r>
            <a:endParaRPr i="1"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is_student = False</a:t>
            </a:r>
            <a:endParaRPr i="1"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if age &gt;= 18 and has_ticket and not is_student:</a:t>
            </a:r>
            <a:endParaRPr i="1"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    print("You can enter, but no discount is available.")</a:t>
            </a:r>
            <a:endParaRPr i="1"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elif age &gt;= 18 and has_ticket and is_student:</a:t>
            </a:r>
            <a:endParaRPr i="1"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    print("You can enter and get a student discount.")</a:t>
            </a:r>
            <a:endParaRPr i="1"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else:</a:t>
            </a:r>
            <a:endParaRPr i="1" sz="1800">
              <a:latin typeface="Times"/>
              <a:ea typeface="Times"/>
              <a:cs typeface="Times"/>
              <a:sym typeface="Times"/>
            </a:endParaRPr>
          </a:p>
          <a:p>
            <a:pPr indent="0" lvl="0" marL="1371600" rtl="0" algn="just">
              <a:spcBef>
                <a:spcPts val="290"/>
              </a:spcBef>
              <a:spcAft>
                <a:spcPts val="0"/>
              </a:spcAft>
              <a:buNone/>
            </a:pPr>
            <a:r>
              <a:rPr i="1" lang="en-US" sz="1800">
                <a:latin typeface="Times"/>
                <a:ea typeface="Times"/>
                <a:cs typeface="Times"/>
                <a:sym typeface="Times"/>
              </a:rPr>
              <a:t>    print("Entry not allowed.")</a:t>
            </a:r>
            <a:endParaRPr i="1" sz="1800">
              <a:latin typeface="Times"/>
              <a:ea typeface="Times"/>
              <a:cs typeface="Times"/>
              <a:sym typeface="Times"/>
            </a:endParaRPr>
          </a:p>
          <a:p>
            <a:pPr indent="0" lvl="0" marL="0" rtl="0" algn="just">
              <a:spcBef>
                <a:spcPts val="290"/>
              </a:spcBef>
              <a:spcAft>
                <a:spcPts val="0"/>
              </a:spcAft>
              <a:buNone/>
            </a:pPr>
            <a:r>
              <a:t/>
            </a:r>
            <a:endParaRPr sz="1800">
              <a:latin typeface="Times"/>
              <a:ea typeface="Times"/>
              <a:cs typeface="Times"/>
              <a:sym typeface="Times"/>
            </a:endParaRPr>
          </a:p>
        </p:txBody>
      </p:sp>
      <p:sp>
        <p:nvSpPr>
          <p:cNvPr id="645" name="Google Shape;645;p8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0" name="Shape 650"/>
        <p:cNvGrpSpPr/>
        <p:nvPr/>
      </p:nvGrpSpPr>
      <p:grpSpPr>
        <a:xfrm>
          <a:off x="0" y="0"/>
          <a:ext cx="0" cy="0"/>
          <a:chOff x="0" y="0"/>
          <a:chExt cx="0" cy="0"/>
        </a:xfrm>
      </p:grpSpPr>
      <p:sp>
        <p:nvSpPr>
          <p:cNvPr id="651" name="Google Shape;651;p83"/>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match Statement</a:t>
            </a:r>
            <a:endParaRPr b="1" sz="3000">
              <a:solidFill>
                <a:srgbClr val="1C3678"/>
              </a:solidFill>
              <a:latin typeface="Trebuchet MS"/>
              <a:ea typeface="Trebuchet MS"/>
              <a:cs typeface="Trebuchet MS"/>
              <a:sym typeface="Trebuchet MS"/>
            </a:endParaRPr>
          </a:p>
        </p:txBody>
      </p:sp>
      <p:sp>
        <p:nvSpPr>
          <p:cNvPr id="652" name="Google Shape;652;p83"/>
          <p:cNvSpPr txBox="1"/>
          <p:nvPr/>
        </p:nvSpPr>
        <p:spPr>
          <a:xfrm>
            <a:off x="688425" y="793125"/>
            <a:ext cx="8107500" cy="32709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290"/>
              </a:spcBef>
              <a:spcAft>
                <a:spcPts val="0"/>
              </a:spcAft>
              <a:buSzPts val="1800"/>
              <a:buFont typeface="Times"/>
              <a:buChar char="➔"/>
            </a:pPr>
            <a:r>
              <a:rPr lang="en-US" sz="1800">
                <a:latin typeface="Times"/>
                <a:ea typeface="Times"/>
                <a:cs typeface="Times"/>
                <a:sym typeface="Times"/>
              </a:rPr>
              <a:t>Introduced in Python 3.10, it provides pattern matching capabilities similar to switch-case statements in other languages.</a:t>
            </a:r>
            <a:endParaRPr sz="1800">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Pattern matching can make code more readable and concise, especially when dealing with multiple conditions or complex data structures.</a:t>
            </a:r>
            <a:endParaRPr sz="1800">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It supports matching complex data structures, such as lists, tuples, and custom classes, allowing for more expressive and detailed conditional checks.</a:t>
            </a:r>
            <a:endParaRPr sz="1800">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It provides a way to destructure and unpack data while matching, making it easier to handle and extract values from complex objects.</a:t>
            </a:r>
            <a:endParaRPr sz="1800">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It can simplify code maintenance by centralizing condition handling in a single place, making it easier to understand and modify.</a:t>
            </a:r>
            <a:endParaRPr sz="1800">
              <a:latin typeface="Times"/>
              <a:ea typeface="Times"/>
              <a:cs typeface="Times"/>
              <a:sym typeface="Times"/>
            </a:endParaRPr>
          </a:p>
        </p:txBody>
      </p:sp>
      <p:sp>
        <p:nvSpPr>
          <p:cNvPr id="653" name="Google Shape;653;p8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8" name="Shape 658"/>
        <p:cNvGrpSpPr/>
        <p:nvPr/>
      </p:nvGrpSpPr>
      <p:grpSpPr>
        <a:xfrm>
          <a:off x="0" y="0"/>
          <a:ext cx="0" cy="0"/>
          <a:chOff x="0" y="0"/>
          <a:chExt cx="0" cy="0"/>
        </a:xfrm>
      </p:grpSpPr>
      <p:sp>
        <p:nvSpPr>
          <p:cNvPr id="659" name="Google Shape;659;p84"/>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match Statement</a:t>
            </a:r>
            <a:endParaRPr b="1" sz="3000">
              <a:solidFill>
                <a:srgbClr val="1C3678"/>
              </a:solidFill>
              <a:latin typeface="Trebuchet MS"/>
              <a:ea typeface="Trebuchet MS"/>
              <a:cs typeface="Trebuchet MS"/>
              <a:sym typeface="Trebuchet MS"/>
            </a:endParaRPr>
          </a:p>
        </p:txBody>
      </p:sp>
      <p:sp>
        <p:nvSpPr>
          <p:cNvPr id="660" name="Google Shape;660;p84"/>
          <p:cNvSpPr txBox="1"/>
          <p:nvPr/>
        </p:nvSpPr>
        <p:spPr>
          <a:xfrm>
            <a:off x="688425" y="793125"/>
            <a:ext cx="8107500" cy="4341300"/>
          </a:xfrm>
          <a:prstGeom prst="rect">
            <a:avLst/>
          </a:prstGeom>
          <a:noFill/>
          <a:ln>
            <a:noFill/>
          </a:ln>
        </p:spPr>
        <p:txBody>
          <a:bodyPr anchorCtr="0" anchor="t" bIns="0" lIns="0" spcFirstLastPara="1" rIns="0" wrap="square" tIns="125075">
            <a:spAutoFit/>
          </a:bodyPr>
          <a:lstStyle/>
          <a:p>
            <a:pPr indent="0" lvl="0" marL="0" rtl="0" algn="just">
              <a:spcBef>
                <a:spcPts val="290"/>
              </a:spcBef>
              <a:spcAft>
                <a:spcPts val="0"/>
              </a:spcAft>
              <a:buNone/>
            </a:pPr>
            <a:r>
              <a:rPr i="1" lang="en-US" sz="1600">
                <a:latin typeface="Times"/>
                <a:ea typeface="Times"/>
                <a:cs typeface="Times"/>
                <a:sym typeface="Times"/>
              </a:rPr>
              <a:t>def is_weekend(day):</a:t>
            </a:r>
            <a:endParaRPr i="1" sz="1600">
              <a:latin typeface="Times"/>
              <a:ea typeface="Times"/>
              <a:cs typeface="Times"/>
              <a:sym typeface="Times"/>
            </a:endParaRPr>
          </a:p>
          <a:p>
            <a:pPr indent="0" lvl="0" marL="0" rtl="0" algn="just">
              <a:spcBef>
                <a:spcPts val="290"/>
              </a:spcBef>
              <a:spcAft>
                <a:spcPts val="0"/>
              </a:spcAft>
              <a:buNone/>
            </a:pPr>
            <a:r>
              <a:rPr i="1" lang="en-US" sz="1600">
                <a:latin typeface="Times"/>
                <a:ea typeface="Times"/>
                <a:cs typeface="Times"/>
                <a:sym typeface="Times"/>
              </a:rPr>
              <a:t>    return day in ["Saturday", "Sunday"]</a:t>
            </a:r>
            <a:endParaRPr i="1" sz="1600">
              <a:latin typeface="Times"/>
              <a:ea typeface="Times"/>
              <a:cs typeface="Times"/>
              <a:sym typeface="Times"/>
            </a:endParaRPr>
          </a:p>
          <a:p>
            <a:pPr indent="0" lvl="0" marL="0" rtl="0" algn="just">
              <a:spcBef>
                <a:spcPts val="290"/>
              </a:spcBef>
              <a:spcAft>
                <a:spcPts val="0"/>
              </a:spcAft>
              <a:buNone/>
            </a:pPr>
            <a:r>
              <a:rPr i="1" lang="en-US" sz="1600">
                <a:latin typeface="Times"/>
                <a:ea typeface="Times"/>
                <a:cs typeface="Times"/>
                <a:sym typeface="Times"/>
              </a:rPr>
              <a:t>def describe_day(day):</a:t>
            </a:r>
            <a:endParaRPr i="1" sz="1600">
              <a:latin typeface="Times"/>
              <a:ea typeface="Times"/>
              <a:cs typeface="Times"/>
              <a:sym typeface="Times"/>
            </a:endParaRPr>
          </a:p>
          <a:p>
            <a:pPr indent="0" lvl="0" marL="0" rtl="0" algn="just">
              <a:spcBef>
                <a:spcPts val="290"/>
              </a:spcBef>
              <a:spcAft>
                <a:spcPts val="0"/>
              </a:spcAft>
              <a:buNone/>
            </a:pPr>
            <a:r>
              <a:rPr i="1" lang="en-US" sz="1600">
                <a:latin typeface="Times"/>
                <a:ea typeface="Times"/>
                <a:cs typeface="Times"/>
                <a:sym typeface="Times"/>
              </a:rPr>
              <a:t>    match day:</a:t>
            </a:r>
            <a:endParaRPr i="1" sz="1600">
              <a:latin typeface="Times"/>
              <a:ea typeface="Times"/>
              <a:cs typeface="Times"/>
              <a:sym typeface="Times"/>
            </a:endParaRPr>
          </a:p>
          <a:p>
            <a:pPr indent="0" lvl="0" marL="0" rtl="0" algn="just">
              <a:spcBef>
                <a:spcPts val="290"/>
              </a:spcBef>
              <a:spcAft>
                <a:spcPts val="0"/>
              </a:spcAft>
              <a:buNone/>
            </a:pPr>
            <a:r>
              <a:rPr i="1" lang="en-US" sz="1600">
                <a:latin typeface="Times"/>
                <a:ea typeface="Times"/>
                <a:cs typeface="Times"/>
                <a:sym typeface="Times"/>
              </a:rPr>
              <a:t>        case "Monday":</a:t>
            </a:r>
            <a:endParaRPr i="1" sz="1600">
              <a:latin typeface="Times"/>
              <a:ea typeface="Times"/>
              <a:cs typeface="Times"/>
              <a:sym typeface="Times"/>
            </a:endParaRPr>
          </a:p>
          <a:p>
            <a:pPr indent="0" lvl="0" marL="0" rtl="0" algn="just">
              <a:spcBef>
                <a:spcPts val="290"/>
              </a:spcBef>
              <a:spcAft>
                <a:spcPts val="0"/>
              </a:spcAft>
              <a:buNone/>
            </a:pPr>
            <a:r>
              <a:rPr i="1" lang="en-US" sz="1600">
                <a:latin typeface="Times"/>
                <a:ea typeface="Times"/>
                <a:cs typeface="Times"/>
                <a:sym typeface="Times"/>
              </a:rPr>
              <a:t>            return "Start of the work week."</a:t>
            </a:r>
            <a:endParaRPr i="1" sz="1600">
              <a:latin typeface="Times"/>
              <a:ea typeface="Times"/>
              <a:cs typeface="Times"/>
              <a:sym typeface="Times"/>
            </a:endParaRPr>
          </a:p>
          <a:p>
            <a:pPr indent="0" lvl="0" marL="0" rtl="0" algn="just">
              <a:spcBef>
                <a:spcPts val="290"/>
              </a:spcBef>
              <a:spcAft>
                <a:spcPts val="0"/>
              </a:spcAft>
              <a:buNone/>
            </a:pPr>
            <a:r>
              <a:rPr i="1" lang="en-US" sz="1600">
                <a:latin typeface="Times"/>
                <a:ea typeface="Times"/>
                <a:cs typeface="Times"/>
                <a:sym typeface="Times"/>
              </a:rPr>
              <a:t>        case "Friday":</a:t>
            </a:r>
            <a:endParaRPr i="1" sz="1600">
              <a:latin typeface="Times"/>
              <a:ea typeface="Times"/>
              <a:cs typeface="Times"/>
              <a:sym typeface="Times"/>
            </a:endParaRPr>
          </a:p>
          <a:p>
            <a:pPr indent="0" lvl="0" marL="0" rtl="0" algn="just">
              <a:spcBef>
                <a:spcPts val="290"/>
              </a:spcBef>
              <a:spcAft>
                <a:spcPts val="0"/>
              </a:spcAft>
              <a:buNone/>
            </a:pPr>
            <a:r>
              <a:rPr i="1" lang="en-US" sz="1600">
                <a:latin typeface="Times"/>
                <a:ea typeface="Times"/>
                <a:cs typeface="Times"/>
                <a:sym typeface="Times"/>
              </a:rPr>
              <a:t>            return "End of the work week."</a:t>
            </a:r>
            <a:endParaRPr i="1" sz="1600">
              <a:latin typeface="Times"/>
              <a:ea typeface="Times"/>
              <a:cs typeface="Times"/>
              <a:sym typeface="Times"/>
            </a:endParaRPr>
          </a:p>
          <a:p>
            <a:pPr indent="0" lvl="0" marL="0" rtl="0" algn="just">
              <a:spcBef>
                <a:spcPts val="290"/>
              </a:spcBef>
              <a:spcAft>
                <a:spcPts val="0"/>
              </a:spcAft>
              <a:buNone/>
            </a:pPr>
            <a:r>
              <a:rPr i="1" lang="en-US" sz="1600">
                <a:latin typeface="Times"/>
                <a:ea typeface="Times"/>
                <a:cs typeface="Times"/>
                <a:sym typeface="Times"/>
              </a:rPr>
              <a:t>        case day if is_weekend(day):</a:t>
            </a:r>
            <a:endParaRPr i="1" sz="1600">
              <a:latin typeface="Times"/>
              <a:ea typeface="Times"/>
              <a:cs typeface="Times"/>
              <a:sym typeface="Times"/>
            </a:endParaRPr>
          </a:p>
          <a:p>
            <a:pPr indent="0" lvl="0" marL="0" rtl="0" algn="just">
              <a:spcBef>
                <a:spcPts val="290"/>
              </a:spcBef>
              <a:spcAft>
                <a:spcPts val="0"/>
              </a:spcAft>
              <a:buNone/>
            </a:pPr>
            <a:r>
              <a:rPr i="1" lang="en-US" sz="1600">
                <a:latin typeface="Times"/>
                <a:ea typeface="Times"/>
                <a:cs typeface="Times"/>
                <a:sym typeface="Times"/>
              </a:rPr>
              <a:t>            return "Weekend!"</a:t>
            </a:r>
            <a:endParaRPr i="1" sz="1600">
              <a:latin typeface="Times"/>
              <a:ea typeface="Times"/>
              <a:cs typeface="Times"/>
              <a:sym typeface="Times"/>
            </a:endParaRPr>
          </a:p>
          <a:p>
            <a:pPr indent="0" lvl="0" marL="0" rtl="0" algn="just">
              <a:spcBef>
                <a:spcPts val="290"/>
              </a:spcBef>
              <a:spcAft>
                <a:spcPts val="0"/>
              </a:spcAft>
              <a:buNone/>
            </a:pPr>
            <a:r>
              <a:rPr i="1" lang="en-US" sz="1600">
                <a:latin typeface="Times"/>
                <a:ea typeface="Times"/>
                <a:cs typeface="Times"/>
                <a:sym typeface="Times"/>
              </a:rPr>
              <a:t>        case _:</a:t>
            </a:r>
            <a:endParaRPr i="1" sz="1600">
              <a:latin typeface="Times"/>
              <a:ea typeface="Times"/>
              <a:cs typeface="Times"/>
              <a:sym typeface="Times"/>
            </a:endParaRPr>
          </a:p>
          <a:p>
            <a:pPr indent="0" lvl="0" marL="0" rtl="0" algn="just">
              <a:spcBef>
                <a:spcPts val="290"/>
              </a:spcBef>
              <a:spcAft>
                <a:spcPts val="0"/>
              </a:spcAft>
              <a:buNone/>
            </a:pPr>
            <a:r>
              <a:rPr i="1" lang="en-US" sz="1600">
                <a:latin typeface="Times"/>
                <a:ea typeface="Times"/>
                <a:cs typeface="Times"/>
                <a:sym typeface="Times"/>
              </a:rPr>
              <a:t>            return "It's just another day."</a:t>
            </a:r>
            <a:endParaRPr i="1" sz="1600">
              <a:latin typeface="Times"/>
              <a:ea typeface="Times"/>
              <a:cs typeface="Times"/>
              <a:sym typeface="Times"/>
            </a:endParaRPr>
          </a:p>
          <a:p>
            <a:pPr indent="0" lvl="0" marL="0" rtl="0" algn="just">
              <a:spcBef>
                <a:spcPts val="290"/>
              </a:spcBef>
              <a:spcAft>
                <a:spcPts val="0"/>
              </a:spcAft>
              <a:buNone/>
            </a:pPr>
            <a:r>
              <a:rPr i="1" lang="en-US" sz="1600">
                <a:latin typeface="Times"/>
                <a:ea typeface="Times"/>
                <a:cs typeface="Times"/>
                <a:sym typeface="Times"/>
              </a:rPr>
              <a:t>print(describe_day("Monday")) </a:t>
            </a:r>
            <a:endParaRPr i="1" sz="1600">
              <a:latin typeface="Times"/>
              <a:ea typeface="Times"/>
              <a:cs typeface="Times"/>
              <a:sym typeface="Times"/>
            </a:endParaRPr>
          </a:p>
          <a:p>
            <a:pPr indent="0" lvl="0" marL="0" rtl="0" algn="just">
              <a:spcBef>
                <a:spcPts val="290"/>
              </a:spcBef>
              <a:spcAft>
                <a:spcPts val="0"/>
              </a:spcAft>
              <a:buNone/>
            </a:pPr>
            <a:r>
              <a:rPr i="1" lang="en-US" sz="1600">
                <a:latin typeface="Times"/>
                <a:ea typeface="Times"/>
                <a:cs typeface="Times"/>
                <a:sym typeface="Times"/>
              </a:rPr>
              <a:t>print(describe_day("Saturday"))</a:t>
            </a:r>
            <a:endParaRPr i="1" sz="1600">
              <a:latin typeface="Times"/>
              <a:ea typeface="Times"/>
              <a:cs typeface="Times"/>
              <a:sym typeface="Times"/>
            </a:endParaRPr>
          </a:p>
          <a:p>
            <a:pPr indent="0" lvl="0" marL="0" rtl="0" algn="just">
              <a:spcBef>
                <a:spcPts val="290"/>
              </a:spcBef>
              <a:spcAft>
                <a:spcPts val="0"/>
              </a:spcAft>
              <a:buNone/>
            </a:pPr>
            <a:r>
              <a:rPr i="1" lang="en-US" sz="1600">
                <a:latin typeface="Times"/>
                <a:ea typeface="Times"/>
                <a:cs typeface="Times"/>
                <a:sym typeface="Times"/>
              </a:rPr>
              <a:t>print(describe_day("Wednesday"))</a:t>
            </a:r>
            <a:endParaRPr sz="1500">
              <a:latin typeface="Tahoma"/>
              <a:ea typeface="Tahoma"/>
              <a:cs typeface="Tahoma"/>
              <a:sym typeface="Tahoma"/>
            </a:endParaRPr>
          </a:p>
        </p:txBody>
      </p:sp>
      <p:sp>
        <p:nvSpPr>
          <p:cNvPr id="661" name="Google Shape;661;p8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6" name="Shape 666"/>
        <p:cNvGrpSpPr/>
        <p:nvPr/>
      </p:nvGrpSpPr>
      <p:grpSpPr>
        <a:xfrm>
          <a:off x="0" y="0"/>
          <a:ext cx="0" cy="0"/>
          <a:chOff x="0" y="0"/>
          <a:chExt cx="0" cy="0"/>
        </a:xfrm>
      </p:grpSpPr>
      <p:sp>
        <p:nvSpPr>
          <p:cNvPr id="667" name="Google Shape;667;p85"/>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Looping Statements</a:t>
            </a:r>
            <a:endParaRPr b="1" sz="3000">
              <a:solidFill>
                <a:srgbClr val="1C3678"/>
              </a:solidFill>
              <a:latin typeface="Trebuchet MS"/>
              <a:ea typeface="Trebuchet MS"/>
              <a:cs typeface="Trebuchet MS"/>
              <a:sym typeface="Trebuchet MS"/>
            </a:endParaRPr>
          </a:p>
        </p:txBody>
      </p:sp>
      <p:sp>
        <p:nvSpPr>
          <p:cNvPr id="668" name="Google Shape;668;p85"/>
          <p:cNvSpPr txBox="1"/>
          <p:nvPr/>
        </p:nvSpPr>
        <p:spPr>
          <a:xfrm>
            <a:off x="688425" y="793125"/>
            <a:ext cx="8107500" cy="17886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latin typeface="Times"/>
                <a:ea typeface="Times"/>
                <a:cs typeface="Times"/>
                <a:sym typeface="Times"/>
              </a:rPr>
              <a:t>Looping Statements:</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for Loop</a:t>
            </a:r>
            <a:endParaRPr sz="1800">
              <a:latin typeface="Times"/>
              <a:ea typeface="Times"/>
              <a:cs typeface="Times"/>
              <a:sym typeface="Times"/>
            </a:endParaRPr>
          </a:p>
          <a:p>
            <a:pPr indent="-342900" lvl="2" marL="1371600" rtl="0" algn="just">
              <a:spcBef>
                <a:spcPts val="0"/>
              </a:spcBef>
              <a:spcAft>
                <a:spcPts val="0"/>
              </a:spcAft>
              <a:buSzPts val="1800"/>
              <a:buFont typeface="Times"/>
              <a:buChar char="■"/>
            </a:pPr>
            <a:r>
              <a:rPr lang="en-US" sz="1800">
                <a:latin typeface="Times"/>
                <a:ea typeface="Times"/>
                <a:cs typeface="Times"/>
                <a:sym typeface="Times"/>
              </a:rPr>
              <a:t>Iterates over a sequence (like a list, tuple, dictionary, set, or string) or a range of numbers.</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while Loop</a:t>
            </a:r>
            <a:endParaRPr sz="1800">
              <a:latin typeface="Times"/>
              <a:ea typeface="Times"/>
              <a:cs typeface="Times"/>
              <a:sym typeface="Times"/>
            </a:endParaRPr>
          </a:p>
          <a:p>
            <a:pPr indent="-342900" lvl="2" marL="1371600" rtl="0" algn="just">
              <a:spcBef>
                <a:spcPts val="0"/>
              </a:spcBef>
              <a:spcAft>
                <a:spcPts val="0"/>
              </a:spcAft>
              <a:buSzPts val="1800"/>
              <a:buFont typeface="Times"/>
              <a:buChar char="■"/>
            </a:pPr>
            <a:r>
              <a:rPr lang="en-US" sz="1800">
                <a:latin typeface="Times"/>
                <a:ea typeface="Times"/>
                <a:cs typeface="Times"/>
                <a:sym typeface="Times"/>
              </a:rPr>
              <a:t>Repeats a block of code as long as a specified condition is true.</a:t>
            </a:r>
            <a:endParaRPr sz="1800">
              <a:latin typeface="Times"/>
              <a:ea typeface="Times"/>
              <a:cs typeface="Times"/>
              <a:sym typeface="Times"/>
            </a:endParaRPr>
          </a:p>
        </p:txBody>
      </p:sp>
      <p:sp>
        <p:nvSpPr>
          <p:cNvPr id="669" name="Google Shape;669;p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4" name="Shape 674"/>
        <p:cNvGrpSpPr/>
        <p:nvPr/>
      </p:nvGrpSpPr>
      <p:grpSpPr>
        <a:xfrm>
          <a:off x="0" y="0"/>
          <a:ext cx="0" cy="0"/>
          <a:chOff x="0" y="0"/>
          <a:chExt cx="0" cy="0"/>
        </a:xfrm>
      </p:grpSpPr>
      <p:sp>
        <p:nvSpPr>
          <p:cNvPr id="675" name="Google Shape;675;p86"/>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for Loop</a:t>
            </a:r>
            <a:endParaRPr b="1" sz="3000">
              <a:solidFill>
                <a:srgbClr val="1C3678"/>
              </a:solidFill>
              <a:latin typeface="Trebuchet MS"/>
              <a:ea typeface="Trebuchet MS"/>
              <a:cs typeface="Trebuchet MS"/>
              <a:sym typeface="Trebuchet MS"/>
            </a:endParaRPr>
          </a:p>
        </p:txBody>
      </p:sp>
      <p:sp>
        <p:nvSpPr>
          <p:cNvPr id="676" name="Google Shape;676;p86"/>
          <p:cNvSpPr txBox="1"/>
          <p:nvPr/>
        </p:nvSpPr>
        <p:spPr>
          <a:xfrm>
            <a:off x="688425" y="793125"/>
            <a:ext cx="8107500" cy="10320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latin typeface="Times"/>
                <a:ea typeface="Times"/>
                <a:cs typeface="Times"/>
                <a:sym typeface="Times"/>
              </a:rPr>
              <a:t>Syntax of Python for Loop</a:t>
            </a:r>
            <a:endParaRPr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for iterating_var in sequence:</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 statement(s)</a:t>
            </a:r>
            <a:endParaRPr sz="1800">
              <a:latin typeface="Times"/>
              <a:ea typeface="Times"/>
              <a:cs typeface="Times"/>
              <a:sym typeface="Times"/>
            </a:endParaRPr>
          </a:p>
        </p:txBody>
      </p:sp>
      <p:sp>
        <p:nvSpPr>
          <p:cNvPr id="677" name="Google Shape;677;p8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678" name="Google Shape;678;p86"/>
          <p:cNvPicPr preferRelativeResize="0"/>
          <p:nvPr/>
        </p:nvPicPr>
        <p:blipFill>
          <a:blip r:embed="rId3">
            <a:alphaModFix/>
          </a:blip>
          <a:stretch>
            <a:fillRect/>
          </a:stretch>
        </p:blipFill>
        <p:spPr>
          <a:xfrm>
            <a:off x="3229975" y="1517125"/>
            <a:ext cx="5352124" cy="3338625"/>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3" name="Shape 683"/>
        <p:cNvGrpSpPr/>
        <p:nvPr/>
      </p:nvGrpSpPr>
      <p:grpSpPr>
        <a:xfrm>
          <a:off x="0" y="0"/>
          <a:ext cx="0" cy="0"/>
          <a:chOff x="0" y="0"/>
          <a:chExt cx="0" cy="0"/>
        </a:xfrm>
      </p:grpSpPr>
      <p:sp>
        <p:nvSpPr>
          <p:cNvPr id="684" name="Google Shape;684;p87"/>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for Loop Example</a:t>
            </a:r>
            <a:endParaRPr b="1" sz="3000">
              <a:solidFill>
                <a:srgbClr val="1C3678"/>
              </a:solidFill>
              <a:latin typeface="Trebuchet MS"/>
              <a:ea typeface="Trebuchet MS"/>
              <a:cs typeface="Trebuchet MS"/>
              <a:sym typeface="Trebuchet MS"/>
            </a:endParaRPr>
          </a:p>
        </p:txBody>
      </p:sp>
      <p:sp>
        <p:nvSpPr>
          <p:cNvPr id="685" name="Google Shape;685;p87"/>
          <p:cNvSpPr txBox="1"/>
          <p:nvPr/>
        </p:nvSpPr>
        <p:spPr>
          <a:xfrm>
            <a:off x="688425" y="793125"/>
            <a:ext cx="8107500" cy="4317000"/>
          </a:xfrm>
          <a:prstGeom prst="rect">
            <a:avLst/>
          </a:prstGeom>
          <a:noFill/>
          <a:ln>
            <a:noFill/>
          </a:ln>
        </p:spPr>
        <p:txBody>
          <a:bodyPr anchorCtr="0" anchor="t" bIns="0" lIns="0" spcFirstLastPara="1" rIns="0" wrap="square" tIns="125075">
            <a:spAutoFit/>
          </a:bodyPr>
          <a:lstStyle/>
          <a:p>
            <a:pPr indent="-323850" lvl="0" marL="457200" rtl="0" algn="just">
              <a:spcBef>
                <a:spcPts val="290"/>
              </a:spcBef>
              <a:spcAft>
                <a:spcPts val="0"/>
              </a:spcAft>
              <a:buSzPts val="1500"/>
              <a:buFont typeface="Times"/>
              <a:buChar char="●"/>
            </a:pPr>
            <a:r>
              <a:rPr lang="en-US" sz="1500">
                <a:latin typeface="Times"/>
                <a:ea typeface="Times"/>
                <a:cs typeface="Times"/>
                <a:sym typeface="Times"/>
              </a:rPr>
              <a:t>Example 1:</a:t>
            </a:r>
            <a:endParaRPr sz="1500">
              <a:latin typeface="Times"/>
              <a:ea typeface="Times"/>
              <a:cs typeface="Times"/>
              <a:sym typeface="Times"/>
            </a:endParaRPr>
          </a:p>
          <a:p>
            <a:pPr indent="0" lvl="0" marL="914400" rtl="0" algn="just">
              <a:spcBef>
                <a:spcPts val="290"/>
              </a:spcBef>
              <a:spcAft>
                <a:spcPts val="0"/>
              </a:spcAft>
              <a:buNone/>
            </a:pPr>
            <a:r>
              <a:rPr i="1" lang="en-US" sz="1500">
                <a:latin typeface="Times"/>
                <a:ea typeface="Times"/>
                <a:cs typeface="Times"/>
                <a:sym typeface="Times"/>
              </a:rPr>
              <a:t>numbers = [34,54,67,21,78,97,45,44,80,19]</a:t>
            </a:r>
            <a:endParaRPr i="1" sz="1500">
              <a:latin typeface="Times"/>
              <a:ea typeface="Times"/>
              <a:cs typeface="Times"/>
              <a:sym typeface="Times"/>
            </a:endParaRPr>
          </a:p>
          <a:p>
            <a:pPr indent="0" lvl="0" marL="914400" rtl="0" algn="just">
              <a:spcBef>
                <a:spcPts val="290"/>
              </a:spcBef>
              <a:spcAft>
                <a:spcPts val="0"/>
              </a:spcAft>
              <a:buNone/>
            </a:pPr>
            <a:r>
              <a:rPr i="1" lang="en-US" sz="1500">
                <a:latin typeface="Times"/>
                <a:ea typeface="Times"/>
                <a:cs typeface="Times"/>
                <a:sym typeface="Times"/>
              </a:rPr>
              <a:t>total = 0</a:t>
            </a:r>
            <a:endParaRPr i="1" sz="1500">
              <a:latin typeface="Times"/>
              <a:ea typeface="Times"/>
              <a:cs typeface="Times"/>
              <a:sym typeface="Times"/>
            </a:endParaRPr>
          </a:p>
          <a:p>
            <a:pPr indent="0" lvl="0" marL="914400" rtl="0" algn="just">
              <a:spcBef>
                <a:spcPts val="290"/>
              </a:spcBef>
              <a:spcAft>
                <a:spcPts val="0"/>
              </a:spcAft>
              <a:buNone/>
            </a:pPr>
            <a:r>
              <a:rPr i="1" lang="en-US" sz="1500">
                <a:latin typeface="Times"/>
                <a:ea typeface="Times"/>
                <a:cs typeface="Times"/>
                <a:sym typeface="Times"/>
              </a:rPr>
              <a:t>for num in numbers:</a:t>
            </a:r>
            <a:endParaRPr i="1" sz="1500">
              <a:latin typeface="Times"/>
              <a:ea typeface="Times"/>
              <a:cs typeface="Times"/>
              <a:sym typeface="Times"/>
            </a:endParaRPr>
          </a:p>
          <a:p>
            <a:pPr indent="0" lvl="0" marL="914400" rtl="0" algn="just">
              <a:spcBef>
                <a:spcPts val="290"/>
              </a:spcBef>
              <a:spcAft>
                <a:spcPts val="0"/>
              </a:spcAft>
              <a:buNone/>
            </a:pPr>
            <a:r>
              <a:rPr i="1" lang="en-US" sz="1500">
                <a:latin typeface="Times"/>
                <a:ea typeface="Times"/>
                <a:cs typeface="Times"/>
                <a:sym typeface="Times"/>
              </a:rPr>
              <a:t>   if num%2 == 0:</a:t>
            </a:r>
            <a:endParaRPr i="1" sz="1500">
              <a:latin typeface="Times"/>
              <a:ea typeface="Times"/>
              <a:cs typeface="Times"/>
              <a:sym typeface="Times"/>
            </a:endParaRPr>
          </a:p>
          <a:p>
            <a:pPr indent="0" lvl="0" marL="914400" rtl="0" algn="just">
              <a:spcBef>
                <a:spcPts val="290"/>
              </a:spcBef>
              <a:spcAft>
                <a:spcPts val="0"/>
              </a:spcAft>
              <a:buNone/>
            </a:pPr>
            <a:r>
              <a:rPr i="1" lang="en-US" sz="1500">
                <a:latin typeface="Times"/>
                <a:ea typeface="Times"/>
                <a:cs typeface="Times"/>
                <a:sym typeface="Times"/>
              </a:rPr>
              <a:t>      print (num)</a:t>
            </a:r>
            <a:endParaRPr i="1" sz="1500">
              <a:latin typeface="Times"/>
              <a:ea typeface="Times"/>
              <a:cs typeface="Times"/>
              <a:sym typeface="Times"/>
            </a:endParaRPr>
          </a:p>
          <a:p>
            <a:pPr indent="-323850" lvl="0" marL="457200" rtl="0" algn="just">
              <a:spcBef>
                <a:spcPts val="290"/>
              </a:spcBef>
              <a:spcAft>
                <a:spcPts val="0"/>
              </a:spcAft>
              <a:buSzPts val="1500"/>
              <a:buFont typeface="Times"/>
              <a:buChar char="●"/>
            </a:pPr>
            <a:r>
              <a:rPr lang="en-US" sz="1500">
                <a:latin typeface="Times"/>
                <a:ea typeface="Times"/>
                <a:cs typeface="Times"/>
                <a:sym typeface="Times"/>
              </a:rPr>
              <a:t>Example 2:</a:t>
            </a:r>
            <a:r>
              <a:rPr lang="en-US" sz="1500">
                <a:latin typeface="Times"/>
                <a:ea typeface="Times"/>
                <a:cs typeface="Times"/>
                <a:sym typeface="Times"/>
              </a:rPr>
              <a:t>    </a:t>
            </a:r>
            <a:endParaRPr sz="1500">
              <a:latin typeface="Times"/>
              <a:ea typeface="Times"/>
              <a:cs typeface="Times"/>
              <a:sym typeface="Times"/>
            </a:endParaRPr>
          </a:p>
          <a:p>
            <a:pPr indent="0" lvl="0" marL="914400" rtl="0" algn="just">
              <a:spcBef>
                <a:spcPts val="290"/>
              </a:spcBef>
              <a:spcAft>
                <a:spcPts val="0"/>
              </a:spcAft>
              <a:buNone/>
            </a:pPr>
            <a:r>
              <a:rPr i="1" lang="en-US" sz="1500">
                <a:latin typeface="Times"/>
                <a:ea typeface="Times"/>
                <a:cs typeface="Times"/>
                <a:sym typeface="Times"/>
              </a:rPr>
              <a:t>numbers = (34,54,67,21,78,97,45,44,80,19)</a:t>
            </a:r>
            <a:endParaRPr i="1" sz="1500">
              <a:latin typeface="Times"/>
              <a:ea typeface="Times"/>
              <a:cs typeface="Times"/>
              <a:sym typeface="Times"/>
            </a:endParaRPr>
          </a:p>
          <a:p>
            <a:pPr indent="0" lvl="0" marL="914400" rtl="0" algn="just">
              <a:spcBef>
                <a:spcPts val="290"/>
              </a:spcBef>
              <a:spcAft>
                <a:spcPts val="0"/>
              </a:spcAft>
              <a:buNone/>
            </a:pPr>
            <a:r>
              <a:rPr i="1" lang="en-US" sz="1500">
                <a:latin typeface="Times"/>
                <a:ea typeface="Times"/>
                <a:cs typeface="Times"/>
                <a:sym typeface="Times"/>
              </a:rPr>
              <a:t>total = 0</a:t>
            </a:r>
            <a:endParaRPr i="1" sz="1500">
              <a:latin typeface="Times"/>
              <a:ea typeface="Times"/>
              <a:cs typeface="Times"/>
              <a:sym typeface="Times"/>
            </a:endParaRPr>
          </a:p>
          <a:p>
            <a:pPr indent="0" lvl="0" marL="914400" rtl="0" algn="just">
              <a:spcBef>
                <a:spcPts val="290"/>
              </a:spcBef>
              <a:spcAft>
                <a:spcPts val="0"/>
              </a:spcAft>
              <a:buNone/>
            </a:pPr>
            <a:r>
              <a:rPr i="1" lang="en-US" sz="1500">
                <a:latin typeface="Times"/>
                <a:ea typeface="Times"/>
                <a:cs typeface="Times"/>
                <a:sym typeface="Times"/>
              </a:rPr>
              <a:t>for num in numbers:</a:t>
            </a:r>
            <a:endParaRPr i="1" sz="1500">
              <a:latin typeface="Times"/>
              <a:ea typeface="Times"/>
              <a:cs typeface="Times"/>
              <a:sym typeface="Times"/>
            </a:endParaRPr>
          </a:p>
          <a:p>
            <a:pPr indent="0" lvl="0" marL="914400" rtl="0" algn="just">
              <a:spcBef>
                <a:spcPts val="290"/>
              </a:spcBef>
              <a:spcAft>
                <a:spcPts val="0"/>
              </a:spcAft>
              <a:buNone/>
            </a:pPr>
            <a:r>
              <a:rPr i="1" lang="en-US" sz="1500">
                <a:latin typeface="Times"/>
                <a:ea typeface="Times"/>
                <a:cs typeface="Times"/>
                <a:sym typeface="Times"/>
              </a:rPr>
              <a:t>   total += num</a:t>
            </a:r>
            <a:endParaRPr i="1" sz="1500">
              <a:latin typeface="Times"/>
              <a:ea typeface="Times"/>
              <a:cs typeface="Times"/>
              <a:sym typeface="Times"/>
            </a:endParaRPr>
          </a:p>
          <a:p>
            <a:pPr indent="0" lvl="0" marL="914400" rtl="0" algn="just">
              <a:spcBef>
                <a:spcPts val="290"/>
              </a:spcBef>
              <a:spcAft>
                <a:spcPts val="0"/>
              </a:spcAft>
              <a:buNone/>
            </a:pPr>
            <a:r>
              <a:rPr i="1" lang="en-US" sz="1500">
                <a:latin typeface="Times"/>
                <a:ea typeface="Times"/>
                <a:cs typeface="Times"/>
                <a:sym typeface="Times"/>
              </a:rPr>
              <a:t>print ("Total =", total)</a:t>
            </a:r>
            <a:endParaRPr i="1" sz="1500">
              <a:latin typeface="Times"/>
              <a:ea typeface="Times"/>
              <a:cs typeface="Times"/>
              <a:sym typeface="Times"/>
            </a:endParaRPr>
          </a:p>
          <a:p>
            <a:pPr indent="-317500" lvl="0" marL="457200" rtl="0" algn="just">
              <a:spcBef>
                <a:spcPts val="290"/>
              </a:spcBef>
              <a:spcAft>
                <a:spcPts val="0"/>
              </a:spcAft>
              <a:buSzPts val="1400"/>
              <a:buFont typeface="Times"/>
              <a:buChar char="●"/>
            </a:pPr>
            <a:r>
              <a:rPr lang="en-US">
                <a:latin typeface="Times"/>
                <a:ea typeface="Times"/>
                <a:cs typeface="Times"/>
                <a:sym typeface="Times"/>
              </a:rPr>
              <a:t>Example 3:</a:t>
            </a:r>
            <a:endParaRPr>
              <a:latin typeface="Times"/>
              <a:ea typeface="Times"/>
              <a:cs typeface="Times"/>
              <a:sym typeface="Times"/>
            </a:endParaRPr>
          </a:p>
          <a:p>
            <a:pPr indent="0" lvl="0" marL="457200" rtl="0" algn="just">
              <a:spcBef>
                <a:spcPts val="290"/>
              </a:spcBef>
              <a:spcAft>
                <a:spcPts val="0"/>
              </a:spcAft>
              <a:buNone/>
            </a:pPr>
            <a:r>
              <a:rPr lang="en-US">
                <a:latin typeface="Times"/>
                <a:ea typeface="Times"/>
                <a:cs typeface="Times"/>
                <a:sym typeface="Times"/>
              </a:rPr>
              <a:t>	numbers = {10:"Ten", 20:"Twenty", 30:"Thirty",40:"Forty"}</a:t>
            </a:r>
            <a:endParaRPr>
              <a:latin typeface="Times"/>
              <a:ea typeface="Times"/>
              <a:cs typeface="Times"/>
              <a:sym typeface="Times"/>
            </a:endParaRPr>
          </a:p>
          <a:p>
            <a:pPr indent="0" lvl="0" marL="914400" rtl="0" algn="just">
              <a:spcBef>
                <a:spcPts val="290"/>
              </a:spcBef>
              <a:spcAft>
                <a:spcPts val="0"/>
              </a:spcAft>
              <a:buNone/>
            </a:pPr>
            <a:r>
              <a:rPr lang="en-US">
                <a:latin typeface="Times"/>
                <a:ea typeface="Times"/>
                <a:cs typeface="Times"/>
                <a:sym typeface="Times"/>
              </a:rPr>
              <a:t>for x in numbers:</a:t>
            </a:r>
            <a:endParaRPr>
              <a:latin typeface="Times"/>
              <a:ea typeface="Times"/>
              <a:cs typeface="Times"/>
              <a:sym typeface="Times"/>
            </a:endParaRPr>
          </a:p>
          <a:p>
            <a:pPr indent="0" lvl="0" marL="914400" rtl="0" algn="just">
              <a:spcBef>
                <a:spcPts val="290"/>
              </a:spcBef>
              <a:spcAft>
                <a:spcPts val="0"/>
              </a:spcAft>
              <a:buNone/>
            </a:pPr>
            <a:r>
              <a:rPr lang="en-US">
                <a:latin typeface="Times"/>
                <a:ea typeface="Times"/>
                <a:cs typeface="Times"/>
                <a:sym typeface="Times"/>
              </a:rPr>
              <a:t>   print (x)</a:t>
            </a:r>
            <a:endParaRPr i="1" sz="1800">
              <a:latin typeface="Times"/>
              <a:ea typeface="Times"/>
              <a:cs typeface="Times"/>
              <a:sym typeface="Times"/>
            </a:endParaRPr>
          </a:p>
        </p:txBody>
      </p:sp>
      <p:sp>
        <p:nvSpPr>
          <p:cNvPr id="686" name="Google Shape;686;p8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1" name="Shape 691"/>
        <p:cNvGrpSpPr/>
        <p:nvPr/>
      </p:nvGrpSpPr>
      <p:grpSpPr>
        <a:xfrm>
          <a:off x="0" y="0"/>
          <a:ext cx="0" cy="0"/>
          <a:chOff x="0" y="0"/>
          <a:chExt cx="0" cy="0"/>
        </a:xfrm>
      </p:grpSpPr>
      <p:sp>
        <p:nvSpPr>
          <p:cNvPr id="692" name="Google Shape;692;p88"/>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for Loop with Range Objects</a:t>
            </a:r>
            <a:endParaRPr b="1" sz="3000">
              <a:solidFill>
                <a:srgbClr val="1C3678"/>
              </a:solidFill>
              <a:latin typeface="Trebuchet MS"/>
              <a:ea typeface="Trebuchet MS"/>
              <a:cs typeface="Trebuchet MS"/>
              <a:sym typeface="Trebuchet MS"/>
            </a:endParaRPr>
          </a:p>
        </p:txBody>
      </p:sp>
      <p:sp>
        <p:nvSpPr>
          <p:cNvPr id="693" name="Google Shape;693;p88"/>
          <p:cNvSpPr txBox="1"/>
          <p:nvPr/>
        </p:nvSpPr>
        <p:spPr>
          <a:xfrm>
            <a:off x="688425" y="793125"/>
            <a:ext cx="8107500" cy="3228000"/>
          </a:xfrm>
          <a:prstGeom prst="rect">
            <a:avLst/>
          </a:prstGeom>
          <a:noFill/>
          <a:ln>
            <a:noFill/>
          </a:ln>
        </p:spPr>
        <p:txBody>
          <a:bodyPr anchorCtr="0" anchor="t" bIns="0" lIns="0" spcFirstLastPara="1" rIns="0" wrap="square" tIns="125075">
            <a:spAutoFit/>
          </a:bodyPr>
          <a:lstStyle/>
          <a:p>
            <a:pPr indent="-336550" lvl="0" marL="457200" rtl="0" algn="just">
              <a:spcBef>
                <a:spcPts val="290"/>
              </a:spcBef>
              <a:spcAft>
                <a:spcPts val="0"/>
              </a:spcAft>
              <a:buSzPts val="1700"/>
              <a:buFont typeface="Times"/>
              <a:buChar char="●"/>
            </a:pPr>
            <a:r>
              <a:rPr lang="en-US" sz="1700">
                <a:latin typeface="Times"/>
                <a:ea typeface="Times"/>
                <a:cs typeface="Times"/>
                <a:sym typeface="Times"/>
              </a:rPr>
              <a:t>Python's built-in range() function returns an iterator object that streams a sequence of numbers. </a:t>
            </a:r>
            <a:endParaRPr sz="1700">
              <a:latin typeface="Times"/>
              <a:ea typeface="Times"/>
              <a:cs typeface="Times"/>
              <a:sym typeface="Times"/>
            </a:endParaRPr>
          </a:p>
          <a:p>
            <a:pPr indent="-336550" lvl="0" marL="457200" rtl="0" algn="just">
              <a:spcBef>
                <a:spcPts val="0"/>
              </a:spcBef>
              <a:spcAft>
                <a:spcPts val="0"/>
              </a:spcAft>
              <a:buSzPts val="1700"/>
              <a:buFont typeface="Times"/>
              <a:buChar char="●"/>
            </a:pPr>
            <a:r>
              <a:rPr lang="en-US" sz="1700">
                <a:latin typeface="Times"/>
                <a:ea typeface="Times"/>
                <a:cs typeface="Times"/>
                <a:sym typeface="Times"/>
              </a:rPr>
              <a:t>This object contains integers from start to stop, separated by step parameter. You can run a for loop with range as well.</a:t>
            </a:r>
            <a:endParaRPr sz="1700">
              <a:latin typeface="Times"/>
              <a:ea typeface="Times"/>
              <a:cs typeface="Times"/>
              <a:sym typeface="Times"/>
            </a:endParaRPr>
          </a:p>
          <a:p>
            <a:pPr indent="-336550" lvl="0" marL="457200" rtl="0" algn="just">
              <a:spcBef>
                <a:spcPts val="0"/>
              </a:spcBef>
              <a:spcAft>
                <a:spcPts val="0"/>
              </a:spcAft>
              <a:buSzPts val="1700"/>
              <a:buFont typeface="Times"/>
              <a:buChar char="●"/>
            </a:pPr>
            <a:r>
              <a:rPr lang="en-US" sz="1700">
                <a:latin typeface="Times"/>
                <a:ea typeface="Times"/>
                <a:cs typeface="Times"/>
                <a:sym typeface="Times"/>
              </a:rPr>
              <a:t>The range() function has the following syntax −</a:t>
            </a:r>
            <a:endParaRPr sz="1700">
              <a:latin typeface="Times"/>
              <a:ea typeface="Times"/>
              <a:cs typeface="Times"/>
              <a:sym typeface="Times"/>
            </a:endParaRPr>
          </a:p>
          <a:p>
            <a:pPr indent="0" lvl="0" marL="457200" rtl="0" algn="just">
              <a:spcBef>
                <a:spcPts val="290"/>
              </a:spcBef>
              <a:spcAft>
                <a:spcPts val="0"/>
              </a:spcAft>
              <a:buNone/>
            </a:pPr>
            <a:r>
              <a:rPr i="1" lang="en-US" sz="1700">
                <a:latin typeface="Times"/>
                <a:ea typeface="Times"/>
                <a:cs typeface="Times"/>
                <a:sym typeface="Times"/>
              </a:rPr>
              <a:t>range(start, stop, step)</a:t>
            </a:r>
            <a:endParaRPr i="1" sz="1700">
              <a:latin typeface="Times"/>
              <a:ea typeface="Times"/>
              <a:cs typeface="Times"/>
              <a:sym typeface="Times"/>
            </a:endParaRPr>
          </a:p>
          <a:p>
            <a:pPr indent="457200" lvl="0" marL="457200" rtl="0" algn="just">
              <a:spcBef>
                <a:spcPts val="290"/>
              </a:spcBef>
              <a:spcAft>
                <a:spcPts val="0"/>
              </a:spcAft>
              <a:buNone/>
            </a:pPr>
            <a:r>
              <a:rPr lang="en-US" sz="1700">
                <a:latin typeface="Times"/>
                <a:ea typeface="Times"/>
                <a:cs typeface="Times"/>
                <a:sym typeface="Times"/>
              </a:rPr>
              <a:t>Where, </a:t>
            </a:r>
            <a:endParaRPr sz="1700">
              <a:latin typeface="Times"/>
              <a:ea typeface="Times"/>
              <a:cs typeface="Times"/>
              <a:sym typeface="Times"/>
            </a:endParaRPr>
          </a:p>
          <a:p>
            <a:pPr indent="0" lvl="0" marL="1371600" rtl="0" algn="just">
              <a:spcBef>
                <a:spcPts val="290"/>
              </a:spcBef>
              <a:spcAft>
                <a:spcPts val="0"/>
              </a:spcAft>
              <a:buNone/>
            </a:pPr>
            <a:r>
              <a:rPr lang="en-US" sz="1700">
                <a:latin typeface="Times"/>
                <a:ea typeface="Times"/>
                <a:cs typeface="Times"/>
                <a:sym typeface="Times"/>
              </a:rPr>
              <a:t>Start − Starting value of the range. Optional. Default is 0</a:t>
            </a:r>
            <a:endParaRPr sz="1700">
              <a:latin typeface="Times"/>
              <a:ea typeface="Times"/>
              <a:cs typeface="Times"/>
              <a:sym typeface="Times"/>
            </a:endParaRPr>
          </a:p>
          <a:p>
            <a:pPr indent="0" lvl="0" marL="1371600" rtl="0" algn="just">
              <a:spcBef>
                <a:spcPts val="290"/>
              </a:spcBef>
              <a:spcAft>
                <a:spcPts val="0"/>
              </a:spcAft>
              <a:buNone/>
            </a:pPr>
            <a:r>
              <a:rPr lang="en-US" sz="1700">
                <a:latin typeface="Times"/>
                <a:ea typeface="Times"/>
                <a:cs typeface="Times"/>
                <a:sym typeface="Times"/>
              </a:rPr>
              <a:t>Stop − The range goes upto stop-1</a:t>
            </a:r>
            <a:endParaRPr sz="1700">
              <a:latin typeface="Times"/>
              <a:ea typeface="Times"/>
              <a:cs typeface="Times"/>
              <a:sym typeface="Times"/>
            </a:endParaRPr>
          </a:p>
          <a:p>
            <a:pPr indent="0" lvl="0" marL="1371600" rtl="0" algn="just">
              <a:spcBef>
                <a:spcPts val="290"/>
              </a:spcBef>
              <a:spcAft>
                <a:spcPts val="0"/>
              </a:spcAft>
              <a:buNone/>
            </a:pPr>
            <a:r>
              <a:rPr lang="en-US" sz="1700">
                <a:latin typeface="Times"/>
                <a:ea typeface="Times"/>
                <a:cs typeface="Times"/>
                <a:sym typeface="Times"/>
              </a:rPr>
              <a:t>Step − Integers in the range increment by the step value. </a:t>
            </a:r>
            <a:endParaRPr sz="1700">
              <a:latin typeface="Times"/>
              <a:ea typeface="Times"/>
              <a:cs typeface="Times"/>
              <a:sym typeface="Times"/>
            </a:endParaRPr>
          </a:p>
          <a:p>
            <a:pPr indent="0" lvl="0" marL="1828800" rtl="0" algn="just">
              <a:spcBef>
                <a:spcPts val="290"/>
              </a:spcBef>
              <a:spcAft>
                <a:spcPts val="0"/>
              </a:spcAft>
              <a:buNone/>
            </a:pPr>
            <a:r>
              <a:rPr lang="en-US" sz="1700">
                <a:latin typeface="Times"/>
                <a:ea typeface="Times"/>
                <a:cs typeface="Times"/>
                <a:sym typeface="Times"/>
              </a:rPr>
              <a:t>    Option, default is 1.</a:t>
            </a:r>
            <a:endParaRPr i="1" sz="1800">
              <a:latin typeface="Times"/>
              <a:ea typeface="Times"/>
              <a:cs typeface="Times"/>
              <a:sym typeface="Times"/>
            </a:endParaRPr>
          </a:p>
        </p:txBody>
      </p:sp>
      <p:sp>
        <p:nvSpPr>
          <p:cNvPr id="694" name="Google Shape;694;p8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9" name="Shape 699"/>
        <p:cNvGrpSpPr/>
        <p:nvPr/>
      </p:nvGrpSpPr>
      <p:grpSpPr>
        <a:xfrm>
          <a:off x="0" y="0"/>
          <a:ext cx="0" cy="0"/>
          <a:chOff x="0" y="0"/>
          <a:chExt cx="0" cy="0"/>
        </a:xfrm>
      </p:grpSpPr>
      <p:sp>
        <p:nvSpPr>
          <p:cNvPr id="700" name="Google Shape;700;p89"/>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for Loop with Range Objects Example</a:t>
            </a:r>
            <a:endParaRPr b="1" sz="3000">
              <a:solidFill>
                <a:srgbClr val="1C3678"/>
              </a:solidFill>
              <a:latin typeface="Trebuchet MS"/>
              <a:ea typeface="Trebuchet MS"/>
              <a:cs typeface="Trebuchet MS"/>
              <a:sym typeface="Trebuchet MS"/>
            </a:endParaRPr>
          </a:p>
        </p:txBody>
      </p:sp>
      <p:sp>
        <p:nvSpPr>
          <p:cNvPr id="701" name="Google Shape;701;p89"/>
          <p:cNvSpPr txBox="1"/>
          <p:nvPr/>
        </p:nvSpPr>
        <p:spPr>
          <a:xfrm>
            <a:off x="688425" y="793125"/>
            <a:ext cx="8107500" cy="3376800"/>
          </a:xfrm>
          <a:prstGeom prst="rect">
            <a:avLst/>
          </a:prstGeom>
          <a:noFill/>
          <a:ln>
            <a:noFill/>
          </a:ln>
        </p:spPr>
        <p:txBody>
          <a:bodyPr anchorCtr="0" anchor="t" bIns="0" lIns="0" spcFirstLastPara="1" rIns="0" wrap="square" tIns="125075">
            <a:spAutoFit/>
          </a:bodyPr>
          <a:lstStyle/>
          <a:p>
            <a:pPr indent="-336550" lvl="0" marL="457200" rtl="0" algn="just">
              <a:spcBef>
                <a:spcPts val="290"/>
              </a:spcBef>
              <a:spcAft>
                <a:spcPts val="0"/>
              </a:spcAft>
              <a:buSzPts val="1700"/>
              <a:buFont typeface="Times"/>
              <a:buChar char="●"/>
            </a:pPr>
            <a:r>
              <a:rPr lang="en-US" sz="1700">
                <a:latin typeface="Times"/>
                <a:ea typeface="Times"/>
                <a:cs typeface="Times"/>
                <a:sym typeface="Times"/>
              </a:rPr>
              <a:t>Example 1:</a:t>
            </a:r>
            <a:endParaRPr sz="1700">
              <a:latin typeface="Times"/>
              <a:ea typeface="Times"/>
              <a:cs typeface="Times"/>
              <a:sym typeface="Times"/>
            </a:endParaRPr>
          </a:p>
          <a:p>
            <a:pPr indent="457200" lvl="0" marL="457200" rtl="0" algn="just">
              <a:spcBef>
                <a:spcPts val="290"/>
              </a:spcBef>
              <a:spcAft>
                <a:spcPts val="0"/>
              </a:spcAft>
              <a:buNone/>
            </a:pPr>
            <a:r>
              <a:rPr i="1" lang="en-US" sz="1700">
                <a:latin typeface="Times"/>
                <a:ea typeface="Times"/>
                <a:cs typeface="Times"/>
                <a:sym typeface="Times"/>
              </a:rPr>
              <a:t>for num in range(5):</a:t>
            </a:r>
            <a:endParaRPr i="1" sz="1700">
              <a:latin typeface="Times"/>
              <a:ea typeface="Times"/>
              <a:cs typeface="Times"/>
              <a:sym typeface="Times"/>
            </a:endParaRPr>
          </a:p>
          <a:p>
            <a:pPr indent="0" lvl="0" marL="1371600" rtl="0" algn="just">
              <a:spcBef>
                <a:spcPts val="290"/>
              </a:spcBef>
              <a:spcAft>
                <a:spcPts val="0"/>
              </a:spcAft>
              <a:buNone/>
            </a:pPr>
            <a:r>
              <a:rPr i="1" lang="en-US" sz="1700">
                <a:latin typeface="Times"/>
                <a:ea typeface="Times"/>
                <a:cs typeface="Times"/>
                <a:sym typeface="Times"/>
              </a:rPr>
              <a:t>print (num, end=' ')</a:t>
            </a:r>
            <a:endParaRPr i="1" sz="1700">
              <a:latin typeface="Times"/>
              <a:ea typeface="Times"/>
              <a:cs typeface="Times"/>
              <a:sym typeface="Times"/>
            </a:endParaRPr>
          </a:p>
          <a:p>
            <a:pPr indent="0" lvl="0" marL="1371600" rtl="0" algn="just">
              <a:spcBef>
                <a:spcPts val="290"/>
              </a:spcBef>
              <a:spcAft>
                <a:spcPts val="0"/>
              </a:spcAft>
              <a:buNone/>
            </a:pPr>
            <a:r>
              <a:t/>
            </a:r>
            <a:endParaRPr sz="1700">
              <a:latin typeface="Times"/>
              <a:ea typeface="Times"/>
              <a:cs typeface="Times"/>
              <a:sym typeface="Times"/>
            </a:endParaRPr>
          </a:p>
          <a:p>
            <a:pPr indent="-336550" lvl="0" marL="457200" rtl="0" algn="just">
              <a:spcBef>
                <a:spcPts val="290"/>
              </a:spcBef>
              <a:spcAft>
                <a:spcPts val="0"/>
              </a:spcAft>
              <a:buSzPts val="1700"/>
              <a:buFont typeface="Times"/>
              <a:buChar char="●"/>
            </a:pPr>
            <a:r>
              <a:rPr lang="en-US" sz="1700">
                <a:latin typeface="Times"/>
                <a:ea typeface="Times"/>
                <a:cs typeface="Times"/>
                <a:sym typeface="Times"/>
              </a:rPr>
              <a:t>Example 2:</a:t>
            </a:r>
            <a:endParaRPr sz="1700">
              <a:latin typeface="Times"/>
              <a:ea typeface="Times"/>
              <a:cs typeface="Times"/>
              <a:sym typeface="Times"/>
            </a:endParaRPr>
          </a:p>
          <a:p>
            <a:pPr indent="457200" lvl="0" marL="457200" rtl="0" algn="just">
              <a:spcBef>
                <a:spcPts val="290"/>
              </a:spcBef>
              <a:spcAft>
                <a:spcPts val="0"/>
              </a:spcAft>
              <a:buNone/>
            </a:pPr>
            <a:r>
              <a:rPr i="1" lang="en-US" sz="1700">
                <a:latin typeface="Times"/>
                <a:ea typeface="Times"/>
                <a:cs typeface="Times"/>
                <a:sym typeface="Times"/>
              </a:rPr>
              <a:t>for num in range(10, 20):</a:t>
            </a:r>
            <a:endParaRPr i="1" sz="1700">
              <a:latin typeface="Times"/>
              <a:ea typeface="Times"/>
              <a:cs typeface="Times"/>
              <a:sym typeface="Times"/>
            </a:endParaRPr>
          </a:p>
          <a:p>
            <a:pPr indent="457200" lvl="0" marL="914400" rtl="0" algn="just">
              <a:spcBef>
                <a:spcPts val="290"/>
              </a:spcBef>
              <a:spcAft>
                <a:spcPts val="0"/>
              </a:spcAft>
              <a:buNone/>
            </a:pPr>
            <a:r>
              <a:rPr i="1" lang="en-US" sz="1700">
                <a:latin typeface="Times"/>
                <a:ea typeface="Times"/>
                <a:cs typeface="Times"/>
                <a:sym typeface="Times"/>
              </a:rPr>
              <a:t>print (num, end=' ')</a:t>
            </a:r>
            <a:endParaRPr i="1" sz="1700">
              <a:latin typeface="Times"/>
              <a:ea typeface="Times"/>
              <a:cs typeface="Times"/>
              <a:sym typeface="Times"/>
            </a:endParaRPr>
          </a:p>
          <a:p>
            <a:pPr indent="457200" lvl="0" marL="914400" rtl="0" algn="just">
              <a:spcBef>
                <a:spcPts val="290"/>
              </a:spcBef>
              <a:spcAft>
                <a:spcPts val="0"/>
              </a:spcAft>
              <a:buNone/>
            </a:pPr>
            <a:r>
              <a:t/>
            </a:r>
            <a:endParaRPr sz="1700">
              <a:latin typeface="Times"/>
              <a:ea typeface="Times"/>
              <a:cs typeface="Times"/>
              <a:sym typeface="Times"/>
            </a:endParaRPr>
          </a:p>
          <a:p>
            <a:pPr indent="-336550" lvl="0" marL="457200" rtl="0" algn="just">
              <a:spcBef>
                <a:spcPts val="290"/>
              </a:spcBef>
              <a:spcAft>
                <a:spcPts val="0"/>
              </a:spcAft>
              <a:buSzPts val="1700"/>
              <a:buFont typeface="Times"/>
              <a:buChar char="●"/>
            </a:pPr>
            <a:r>
              <a:rPr lang="en-US" sz="1700">
                <a:latin typeface="Times"/>
                <a:ea typeface="Times"/>
                <a:cs typeface="Times"/>
                <a:sym typeface="Times"/>
              </a:rPr>
              <a:t>Example 3:</a:t>
            </a:r>
            <a:endParaRPr sz="1700">
              <a:latin typeface="Times"/>
              <a:ea typeface="Times"/>
              <a:cs typeface="Times"/>
              <a:sym typeface="Times"/>
            </a:endParaRPr>
          </a:p>
          <a:p>
            <a:pPr indent="457200" lvl="0" marL="457200" rtl="0" algn="just">
              <a:spcBef>
                <a:spcPts val="290"/>
              </a:spcBef>
              <a:spcAft>
                <a:spcPts val="0"/>
              </a:spcAft>
              <a:buNone/>
            </a:pPr>
            <a:r>
              <a:rPr i="1" lang="en-US" sz="1700">
                <a:latin typeface="Times"/>
                <a:ea typeface="Times"/>
                <a:cs typeface="Times"/>
                <a:sym typeface="Times"/>
              </a:rPr>
              <a:t>for num in range(1, 10, 2):</a:t>
            </a:r>
            <a:endParaRPr i="1" sz="1700">
              <a:latin typeface="Times"/>
              <a:ea typeface="Times"/>
              <a:cs typeface="Times"/>
              <a:sym typeface="Times"/>
            </a:endParaRPr>
          </a:p>
          <a:p>
            <a:pPr indent="457200" lvl="0" marL="914400" rtl="0" algn="just">
              <a:spcBef>
                <a:spcPts val="290"/>
              </a:spcBef>
              <a:spcAft>
                <a:spcPts val="0"/>
              </a:spcAft>
              <a:buNone/>
            </a:pPr>
            <a:r>
              <a:rPr i="1" lang="en-US" sz="1700">
                <a:latin typeface="Times"/>
                <a:ea typeface="Times"/>
                <a:cs typeface="Times"/>
                <a:sym typeface="Times"/>
              </a:rPr>
              <a:t>print (num, end=' ')</a:t>
            </a:r>
            <a:endParaRPr i="1" sz="1800">
              <a:latin typeface="Times"/>
              <a:ea typeface="Times"/>
              <a:cs typeface="Times"/>
              <a:sym typeface="Times"/>
            </a:endParaRPr>
          </a:p>
        </p:txBody>
      </p:sp>
      <p:sp>
        <p:nvSpPr>
          <p:cNvPr id="702" name="Google Shape;702;p8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7" name="Shape 707"/>
        <p:cNvGrpSpPr/>
        <p:nvPr/>
      </p:nvGrpSpPr>
      <p:grpSpPr>
        <a:xfrm>
          <a:off x="0" y="0"/>
          <a:ext cx="0" cy="0"/>
          <a:chOff x="0" y="0"/>
          <a:chExt cx="0" cy="0"/>
        </a:xfrm>
      </p:grpSpPr>
      <p:sp>
        <p:nvSpPr>
          <p:cNvPr id="708" name="Google Shape;708;p90"/>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for</a:t>
            </a:r>
            <a:r>
              <a:rPr b="1" lang="en-US" sz="3000">
                <a:solidFill>
                  <a:srgbClr val="1C3678"/>
                </a:solidFill>
                <a:latin typeface="Trebuchet MS"/>
                <a:ea typeface="Trebuchet MS"/>
                <a:cs typeface="Trebuchet MS"/>
                <a:sym typeface="Trebuchet MS"/>
              </a:rPr>
              <a:t>-else Loop</a:t>
            </a:r>
            <a:endParaRPr b="1" sz="3000">
              <a:solidFill>
                <a:srgbClr val="1C3678"/>
              </a:solidFill>
              <a:latin typeface="Trebuchet MS"/>
              <a:ea typeface="Trebuchet MS"/>
              <a:cs typeface="Trebuchet MS"/>
              <a:sym typeface="Trebuchet MS"/>
            </a:endParaRPr>
          </a:p>
        </p:txBody>
      </p:sp>
      <p:sp>
        <p:nvSpPr>
          <p:cNvPr id="709" name="Google Shape;709;p90"/>
          <p:cNvSpPr txBox="1"/>
          <p:nvPr/>
        </p:nvSpPr>
        <p:spPr>
          <a:xfrm>
            <a:off x="688425" y="793125"/>
            <a:ext cx="5043000" cy="4312800"/>
          </a:xfrm>
          <a:prstGeom prst="rect">
            <a:avLst/>
          </a:prstGeom>
          <a:noFill/>
          <a:ln>
            <a:noFill/>
          </a:ln>
        </p:spPr>
        <p:txBody>
          <a:bodyPr anchorCtr="0" anchor="t" bIns="0" lIns="0" spcFirstLastPara="1" rIns="0" wrap="square" tIns="125075">
            <a:spAutoFit/>
          </a:bodyPr>
          <a:lstStyle/>
          <a:p>
            <a:pPr indent="-336550" lvl="0" marL="457200" rtl="0" algn="just">
              <a:lnSpc>
                <a:spcPct val="115000"/>
              </a:lnSpc>
              <a:spcBef>
                <a:spcPts val="900"/>
              </a:spcBef>
              <a:spcAft>
                <a:spcPts val="0"/>
              </a:spcAft>
              <a:buSzPts val="1700"/>
              <a:buFont typeface="Times"/>
              <a:buChar char="●"/>
            </a:pPr>
            <a:r>
              <a:rPr lang="en-US" sz="1700">
                <a:highlight>
                  <a:srgbClr val="FFFFFF"/>
                </a:highlight>
                <a:latin typeface="Times"/>
                <a:ea typeface="Times"/>
                <a:cs typeface="Times"/>
                <a:sym typeface="Times"/>
              </a:rPr>
              <a:t>Python supports an optional else block to be associated with a for loop. If a else block is used with a for loop, it is executed only when the for loop terminates normally.</a:t>
            </a:r>
            <a:endParaRPr sz="1700">
              <a:highlight>
                <a:srgbClr val="FFFFFF"/>
              </a:highlight>
              <a:latin typeface="Times"/>
              <a:ea typeface="Times"/>
              <a:cs typeface="Times"/>
              <a:sym typeface="Times"/>
            </a:endParaRPr>
          </a:p>
          <a:p>
            <a:pPr indent="-336550" lvl="0" marL="457200" rtl="0" algn="just">
              <a:lnSpc>
                <a:spcPct val="115000"/>
              </a:lnSpc>
              <a:spcBef>
                <a:spcPts val="0"/>
              </a:spcBef>
              <a:spcAft>
                <a:spcPts val="0"/>
              </a:spcAft>
              <a:buSzPts val="1700"/>
              <a:buFont typeface="Times"/>
              <a:buChar char="●"/>
            </a:pPr>
            <a:r>
              <a:rPr lang="en-US" sz="1700">
                <a:highlight>
                  <a:srgbClr val="FFFFFF"/>
                </a:highlight>
                <a:latin typeface="Times"/>
                <a:ea typeface="Times"/>
                <a:cs typeface="Times"/>
                <a:sym typeface="Times"/>
              </a:rPr>
              <a:t>The for loop terminates normally when it completes all its iterations without encountering a break statement, which allows us to exit the loop when a certain condition is met.</a:t>
            </a:r>
            <a:endParaRPr sz="1700">
              <a:highlight>
                <a:srgbClr val="FFFFFF"/>
              </a:highlight>
              <a:latin typeface="Times"/>
              <a:ea typeface="Times"/>
              <a:cs typeface="Times"/>
              <a:sym typeface="Times"/>
            </a:endParaRPr>
          </a:p>
          <a:p>
            <a:pPr indent="0" lvl="0" marL="0" rtl="0" algn="just">
              <a:spcBef>
                <a:spcPts val="900"/>
              </a:spcBef>
              <a:spcAft>
                <a:spcPts val="0"/>
              </a:spcAft>
              <a:buNone/>
            </a:pPr>
            <a:r>
              <a:rPr lang="en-US" sz="1600">
                <a:latin typeface="Times"/>
                <a:ea typeface="Times"/>
                <a:cs typeface="Times"/>
                <a:sym typeface="Times"/>
              </a:rPr>
              <a:t>Example 1:</a:t>
            </a:r>
            <a:endParaRPr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for count in range(6):</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   print ("Iteration no. {}".format(count))</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else:</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   print ("for loop over. Now in else block")</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print ("End of for loop")</a:t>
            </a:r>
            <a:endParaRPr sz="1600">
              <a:highlight>
                <a:srgbClr val="FFFFFF"/>
              </a:highlight>
              <a:latin typeface="Times"/>
              <a:ea typeface="Times"/>
              <a:cs typeface="Times"/>
              <a:sym typeface="Times"/>
            </a:endParaRPr>
          </a:p>
        </p:txBody>
      </p:sp>
      <p:sp>
        <p:nvSpPr>
          <p:cNvPr id="710" name="Google Shape;710;p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711" name="Google Shape;711;p90"/>
          <p:cNvPicPr preferRelativeResize="0"/>
          <p:nvPr/>
        </p:nvPicPr>
        <p:blipFill rotWithShape="1">
          <a:blip r:embed="rId3">
            <a:alphaModFix/>
          </a:blip>
          <a:srcRect b="2374" l="16122" r="17503" t="6684"/>
          <a:stretch/>
        </p:blipFill>
        <p:spPr>
          <a:xfrm>
            <a:off x="5731300" y="936950"/>
            <a:ext cx="2949424" cy="358245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6" name="Shape 716"/>
        <p:cNvGrpSpPr/>
        <p:nvPr/>
      </p:nvGrpSpPr>
      <p:grpSpPr>
        <a:xfrm>
          <a:off x="0" y="0"/>
          <a:ext cx="0" cy="0"/>
          <a:chOff x="0" y="0"/>
          <a:chExt cx="0" cy="0"/>
        </a:xfrm>
      </p:grpSpPr>
      <p:sp>
        <p:nvSpPr>
          <p:cNvPr id="717" name="Google Shape;717;p91"/>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w</a:t>
            </a:r>
            <a:r>
              <a:rPr b="1" lang="en-US" sz="3000">
                <a:solidFill>
                  <a:srgbClr val="1C3678"/>
                </a:solidFill>
                <a:latin typeface="Trebuchet MS"/>
                <a:ea typeface="Trebuchet MS"/>
                <a:cs typeface="Trebuchet MS"/>
                <a:sym typeface="Trebuchet MS"/>
              </a:rPr>
              <a:t>hile Loop</a:t>
            </a:r>
            <a:endParaRPr b="1" sz="3000">
              <a:solidFill>
                <a:srgbClr val="1C3678"/>
              </a:solidFill>
              <a:latin typeface="Trebuchet MS"/>
              <a:ea typeface="Trebuchet MS"/>
              <a:cs typeface="Trebuchet MS"/>
              <a:sym typeface="Trebuchet MS"/>
            </a:endParaRPr>
          </a:p>
        </p:txBody>
      </p:sp>
      <p:sp>
        <p:nvSpPr>
          <p:cNvPr id="718" name="Google Shape;718;p91"/>
          <p:cNvSpPr txBox="1"/>
          <p:nvPr/>
        </p:nvSpPr>
        <p:spPr>
          <a:xfrm>
            <a:off x="688425" y="793125"/>
            <a:ext cx="4340100" cy="3645000"/>
          </a:xfrm>
          <a:prstGeom prst="rect">
            <a:avLst/>
          </a:prstGeom>
          <a:noFill/>
          <a:ln>
            <a:noFill/>
          </a:ln>
        </p:spPr>
        <p:txBody>
          <a:bodyPr anchorCtr="0" anchor="t" bIns="0" lIns="0" spcFirstLastPara="1" rIns="0" wrap="square" tIns="125075">
            <a:spAutoFit/>
          </a:bodyPr>
          <a:lstStyle/>
          <a:p>
            <a:pPr indent="-342900" lvl="0" marL="457200" rtl="0" algn="just">
              <a:lnSpc>
                <a:spcPct val="125000"/>
              </a:lnSpc>
              <a:spcBef>
                <a:spcPts val="1400"/>
              </a:spcBef>
              <a:spcAft>
                <a:spcPts val="0"/>
              </a:spcAft>
              <a:buSzPts val="1800"/>
              <a:buFont typeface="Times"/>
              <a:buChar char="●"/>
            </a:pPr>
            <a:r>
              <a:rPr lang="en-US" sz="1800">
                <a:latin typeface="Times"/>
                <a:ea typeface="Times"/>
                <a:cs typeface="Times"/>
                <a:sym typeface="Times"/>
              </a:rPr>
              <a:t>Syntax of while Loop</a:t>
            </a:r>
            <a:endParaRPr sz="1800">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The syntax of a while loop:</a:t>
            </a:r>
            <a:endParaRPr sz="1800">
              <a:latin typeface="Times"/>
              <a:ea typeface="Times"/>
              <a:cs typeface="Times"/>
              <a:sym typeface="Times"/>
            </a:endParaRPr>
          </a:p>
          <a:p>
            <a:pPr indent="0" lvl="0" marL="914400" rtl="0" algn="just">
              <a:lnSpc>
                <a:spcPct val="115000"/>
              </a:lnSpc>
              <a:spcBef>
                <a:spcPts val="900"/>
              </a:spcBef>
              <a:spcAft>
                <a:spcPts val="0"/>
              </a:spcAft>
              <a:buNone/>
            </a:pPr>
            <a:r>
              <a:rPr i="1" lang="en-US" sz="1800">
                <a:latin typeface="Times"/>
                <a:ea typeface="Times"/>
                <a:cs typeface="Times"/>
                <a:sym typeface="Times"/>
              </a:rPr>
              <a:t>while</a:t>
            </a:r>
            <a:r>
              <a:rPr i="1" lang="en-US" sz="1800">
                <a:latin typeface="Times"/>
                <a:ea typeface="Times"/>
                <a:cs typeface="Times"/>
                <a:sym typeface="Times"/>
              </a:rPr>
              <a:t> expression:</a:t>
            </a:r>
            <a:endParaRPr i="1" sz="1800">
              <a:latin typeface="Times"/>
              <a:ea typeface="Times"/>
              <a:cs typeface="Times"/>
              <a:sym typeface="Times"/>
            </a:endParaRPr>
          </a:p>
          <a:p>
            <a:pPr indent="0" lvl="0" marL="1371600" rtl="0" algn="just">
              <a:lnSpc>
                <a:spcPct val="115000"/>
              </a:lnSpc>
              <a:spcBef>
                <a:spcPts val="900"/>
              </a:spcBef>
              <a:spcAft>
                <a:spcPts val="0"/>
              </a:spcAft>
              <a:buNone/>
            </a:pPr>
            <a:r>
              <a:rPr i="1" lang="en-US" sz="1800">
                <a:latin typeface="Times"/>
                <a:ea typeface="Times"/>
                <a:cs typeface="Times"/>
                <a:sym typeface="Times"/>
              </a:rPr>
              <a:t>#statement(s)</a:t>
            </a:r>
            <a:endParaRPr i="1" sz="1800">
              <a:solidFill>
                <a:srgbClr val="CCCCCC"/>
              </a:solidFill>
              <a:highlight>
                <a:srgbClr val="2D2D2D"/>
              </a:highlight>
              <a:latin typeface="Times"/>
              <a:ea typeface="Times"/>
              <a:cs typeface="Times"/>
              <a:sym typeface="Times"/>
            </a:endParaRPr>
          </a:p>
          <a:p>
            <a:pPr indent="-342900" lvl="0" marL="457200" rtl="0" algn="just">
              <a:lnSpc>
                <a:spcPct val="115000"/>
              </a:lnSpc>
              <a:spcBef>
                <a:spcPts val="900"/>
              </a:spcBef>
              <a:spcAft>
                <a:spcPts val="0"/>
              </a:spcAft>
              <a:buSzPts val="1800"/>
              <a:buFont typeface="Times"/>
              <a:buChar char="●"/>
            </a:pPr>
            <a:r>
              <a:rPr lang="en-US" sz="1800">
                <a:latin typeface="Times"/>
                <a:ea typeface="Times"/>
                <a:cs typeface="Times"/>
                <a:sym typeface="Times"/>
              </a:rPr>
              <a:t>A</a:t>
            </a:r>
            <a:r>
              <a:rPr lang="en-US" sz="1800">
                <a:latin typeface="Times"/>
                <a:ea typeface="Times"/>
                <a:cs typeface="Times"/>
                <a:sym typeface="Times"/>
              </a:rPr>
              <a:t>ll the statements indented by the same number of character spaces after a programming construct are considered to be part of a single block of code. </a:t>
            </a:r>
            <a:endParaRPr sz="1800">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Python uses indentation as its method of grouping statements.</a:t>
            </a:r>
            <a:endParaRPr sz="1800">
              <a:latin typeface="Times"/>
              <a:ea typeface="Times"/>
              <a:cs typeface="Times"/>
              <a:sym typeface="Times"/>
            </a:endParaRPr>
          </a:p>
        </p:txBody>
      </p:sp>
      <p:sp>
        <p:nvSpPr>
          <p:cNvPr id="719" name="Google Shape;719;p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720" name="Google Shape;720;p91"/>
          <p:cNvPicPr preferRelativeResize="0"/>
          <p:nvPr/>
        </p:nvPicPr>
        <p:blipFill>
          <a:blip r:embed="rId3">
            <a:alphaModFix/>
          </a:blip>
          <a:stretch>
            <a:fillRect/>
          </a:stretch>
        </p:blipFill>
        <p:spPr>
          <a:xfrm>
            <a:off x="5028525" y="1258900"/>
            <a:ext cx="4115475" cy="321100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5" name="Shape 725"/>
        <p:cNvGrpSpPr/>
        <p:nvPr/>
      </p:nvGrpSpPr>
      <p:grpSpPr>
        <a:xfrm>
          <a:off x="0" y="0"/>
          <a:ext cx="0" cy="0"/>
          <a:chOff x="0" y="0"/>
          <a:chExt cx="0" cy="0"/>
        </a:xfrm>
      </p:grpSpPr>
      <p:sp>
        <p:nvSpPr>
          <p:cNvPr id="726" name="Google Shape;726;p92"/>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w</a:t>
            </a:r>
            <a:r>
              <a:rPr b="1" lang="en-US" sz="3000">
                <a:solidFill>
                  <a:srgbClr val="1C3678"/>
                </a:solidFill>
                <a:latin typeface="Trebuchet MS"/>
                <a:ea typeface="Trebuchet MS"/>
                <a:cs typeface="Trebuchet MS"/>
                <a:sym typeface="Trebuchet MS"/>
              </a:rPr>
              <a:t>hile Loop Example</a:t>
            </a:r>
            <a:endParaRPr b="1" sz="3000">
              <a:solidFill>
                <a:srgbClr val="1C3678"/>
              </a:solidFill>
              <a:latin typeface="Trebuchet MS"/>
              <a:ea typeface="Trebuchet MS"/>
              <a:cs typeface="Trebuchet MS"/>
              <a:sym typeface="Trebuchet MS"/>
            </a:endParaRPr>
          </a:p>
        </p:txBody>
      </p:sp>
      <p:sp>
        <p:nvSpPr>
          <p:cNvPr id="727" name="Google Shape;727;p92"/>
          <p:cNvSpPr txBox="1"/>
          <p:nvPr/>
        </p:nvSpPr>
        <p:spPr>
          <a:xfrm>
            <a:off x="688425" y="793125"/>
            <a:ext cx="4462200" cy="25737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900"/>
              </a:spcBef>
              <a:spcAft>
                <a:spcPts val="0"/>
              </a:spcAft>
              <a:buSzPts val="1800"/>
              <a:buFont typeface="Times"/>
              <a:buChar char="●"/>
            </a:pPr>
            <a:r>
              <a:rPr lang="en-US" sz="1800">
                <a:latin typeface="Times"/>
                <a:ea typeface="Times"/>
                <a:cs typeface="Times"/>
                <a:sym typeface="Times"/>
              </a:rPr>
              <a:t>Example 1:</a:t>
            </a:r>
            <a:endParaRPr sz="1800">
              <a:latin typeface="Times"/>
              <a:ea typeface="Times"/>
              <a:cs typeface="Times"/>
              <a:sym typeface="Times"/>
            </a:endParaRPr>
          </a:p>
          <a:p>
            <a:pPr indent="0" lvl="0" marL="457200" rtl="0" algn="just">
              <a:lnSpc>
                <a:spcPct val="115000"/>
              </a:lnSpc>
              <a:spcBef>
                <a:spcPts val="900"/>
              </a:spcBef>
              <a:spcAft>
                <a:spcPts val="0"/>
              </a:spcAft>
              <a:buNone/>
            </a:pPr>
            <a:r>
              <a:rPr i="1" lang="en-US" sz="1800">
                <a:latin typeface="Times"/>
                <a:ea typeface="Times"/>
                <a:cs typeface="Times"/>
                <a:sym typeface="Times"/>
              </a:rPr>
              <a:t>count=0</a:t>
            </a:r>
            <a:endParaRPr i="1" sz="1800">
              <a:latin typeface="Times"/>
              <a:ea typeface="Times"/>
              <a:cs typeface="Times"/>
              <a:sym typeface="Times"/>
            </a:endParaRPr>
          </a:p>
          <a:p>
            <a:pPr indent="0" lvl="0" marL="457200" rtl="0" algn="just">
              <a:lnSpc>
                <a:spcPct val="115000"/>
              </a:lnSpc>
              <a:spcBef>
                <a:spcPts val="900"/>
              </a:spcBef>
              <a:spcAft>
                <a:spcPts val="0"/>
              </a:spcAft>
              <a:buNone/>
            </a:pPr>
            <a:r>
              <a:rPr i="1" lang="en-US" sz="1800">
                <a:latin typeface="Times"/>
                <a:ea typeface="Times"/>
                <a:cs typeface="Times"/>
                <a:sym typeface="Times"/>
              </a:rPr>
              <a:t>while count&lt;5:</a:t>
            </a:r>
            <a:endParaRPr i="1" sz="1800">
              <a:latin typeface="Times"/>
              <a:ea typeface="Times"/>
              <a:cs typeface="Times"/>
              <a:sym typeface="Times"/>
            </a:endParaRPr>
          </a:p>
          <a:p>
            <a:pPr indent="0" lvl="0" marL="457200" rtl="0" algn="just">
              <a:lnSpc>
                <a:spcPct val="115000"/>
              </a:lnSpc>
              <a:spcBef>
                <a:spcPts val="900"/>
              </a:spcBef>
              <a:spcAft>
                <a:spcPts val="0"/>
              </a:spcAft>
              <a:buNone/>
            </a:pPr>
            <a:r>
              <a:rPr i="1" lang="en-US" sz="1800">
                <a:latin typeface="Times"/>
                <a:ea typeface="Times"/>
                <a:cs typeface="Times"/>
                <a:sym typeface="Times"/>
              </a:rPr>
              <a:t>  	count+=1</a:t>
            </a:r>
            <a:endParaRPr i="1" sz="1800">
              <a:latin typeface="Times"/>
              <a:ea typeface="Times"/>
              <a:cs typeface="Times"/>
              <a:sym typeface="Times"/>
            </a:endParaRPr>
          </a:p>
          <a:p>
            <a:pPr indent="0" lvl="0" marL="457200" rtl="0" algn="just">
              <a:lnSpc>
                <a:spcPct val="115000"/>
              </a:lnSpc>
              <a:spcBef>
                <a:spcPts val="900"/>
              </a:spcBef>
              <a:spcAft>
                <a:spcPts val="0"/>
              </a:spcAft>
              <a:buNone/>
            </a:pPr>
            <a:r>
              <a:rPr i="1" lang="en-US" sz="1800">
                <a:latin typeface="Times"/>
                <a:ea typeface="Times"/>
                <a:cs typeface="Times"/>
                <a:sym typeface="Times"/>
              </a:rPr>
              <a:t> 	print ("Iteration:{}".format(count))</a:t>
            </a:r>
            <a:endParaRPr i="1" sz="1800">
              <a:latin typeface="Times"/>
              <a:ea typeface="Times"/>
              <a:cs typeface="Times"/>
              <a:sym typeface="Times"/>
            </a:endParaRPr>
          </a:p>
          <a:p>
            <a:pPr indent="0" lvl="0" marL="457200" rtl="0" algn="just">
              <a:lnSpc>
                <a:spcPct val="115000"/>
              </a:lnSpc>
              <a:spcBef>
                <a:spcPts val="900"/>
              </a:spcBef>
              <a:spcAft>
                <a:spcPts val="900"/>
              </a:spcAft>
              <a:buNone/>
            </a:pPr>
            <a:r>
              <a:rPr i="1" lang="en-US" sz="1800">
                <a:latin typeface="Times"/>
                <a:ea typeface="Times"/>
                <a:cs typeface="Times"/>
                <a:sym typeface="Times"/>
              </a:rPr>
              <a:t>print ("End of while loop")</a:t>
            </a:r>
            <a:endParaRPr sz="1800">
              <a:latin typeface="Times"/>
              <a:ea typeface="Times"/>
              <a:cs typeface="Times"/>
              <a:sym typeface="Times"/>
            </a:endParaRPr>
          </a:p>
        </p:txBody>
      </p:sp>
      <p:sp>
        <p:nvSpPr>
          <p:cNvPr id="728" name="Google Shape;728;p9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729" name="Google Shape;729;p92"/>
          <p:cNvSpPr txBox="1"/>
          <p:nvPr/>
        </p:nvSpPr>
        <p:spPr>
          <a:xfrm>
            <a:off x="5179475" y="945525"/>
            <a:ext cx="4009800" cy="30078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900"/>
              </a:spcBef>
              <a:spcAft>
                <a:spcPts val="0"/>
              </a:spcAft>
              <a:buSzPts val="1800"/>
              <a:buFont typeface="Times"/>
              <a:buChar char="●"/>
            </a:pPr>
            <a:r>
              <a:rPr lang="en-US" sz="1800">
                <a:latin typeface="Times"/>
                <a:ea typeface="Times"/>
                <a:cs typeface="Times"/>
                <a:sym typeface="Times"/>
              </a:rPr>
              <a:t>Example 2:</a:t>
            </a:r>
            <a:endParaRPr sz="1800">
              <a:latin typeface="Times"/>
              <a:ea typeface="Times"/>
              <a:cs typeface="Times"/>
              <a:sym typeface="Times"/>
            </a:endParaRPr>
          </a:p>
          <a:p>
            <a:pPr indent="0" lvl="0" marL="0" rtl="0" algn="just">
              <a:lnSpc>
                <a:spcPct val="115000"/>
              </a:lnSpc>
              <a:spcBef>
                <a:spcPts val="900"/>
              </a:spcBef>
              <a:spcAft>
                <a:spcPts val="0"/>
              </a:spcAft>
              <a:buNone/>
            </a:pPr>
            <a:r>
              <a:rPr lang="en-US" sz="1800">
                <a:latin typeface="Times"/>
                <a:ea typeface="Times"/>
                <a:cs typeface="Times"/>
                <a:sym typeface="Times"/>
              </a:rPr>
              <a:t>	</a:t>
            </a:r>
            <a:r>
              <a:rPr i="1" lang="en-US" sz="1800">
                <a:latin typeface="Times"/>
                <a:ea typeface="Times"/>
                <a:cs typeface="Times"/>
                <a:sym typeface="Times"/>
              </a:rPr>
              <a:t>var = '0'</a:t>
            </a:r>
            <a:endParaRPr i="1" sz="1800">
              <a:latin typeface="Times"/>
              <a:ea typeface="Times"/>
              <a:cs typeface="Times"/>
              <a:sym typeface="Times"/>
            </a:endParaRPr>
          </a:p>
          <a:p>
            <a:pPr indent="0" lvl="0" marL="457200" rtl="0" algn="just">
              <a:lnSpc>
                <a:spcPct val="115000"/>
              </a:lnSpc>
              <a:spcBef>
                <a:spcPts val="900"/>
              </a:spcBef>
              <a:spcAft>
                <a:spcPts val="0"/>
              </a:spcAft>
              <a:buNone/>
            </a:pPr>
            <a:r>
              <a:rPr i="1" lang="en-US" sz="1800">
                <a:latin typeface="Times"/>
                <a:ea typeface="Times"/>
                <a:cs typeface="Times"/>
                <a:sym typeface="Times"/>
              </a:rPr>
              <a:t>while var.isnumeric() == True:</a:t>
            </a:r>
            <a:endParaRPr i="1" sz="1800">
              <a:latin typeface="Times"/>
              <a:ea typeface="Times"/>
              <a:cs typeface="Times"/>
              <a:sym typeface="Times"/>
            </a:endParaRPr>
          </a:p>
          <a:p>
            <a:pPr indent="0" lvl="0" marL="457200" rtl="0" algn="just">
              <a:lnSpc>
                <a:spcPct val="115000"/>
              </a:lnSpc>
              <a:spcBef>
                <a:spcPts val="900"/>
              </a:spcBef>
              <a:spcAft>
                <a:spcPts val="0"/>
              </a:spcAft>
              <a:buNone/>
            </a:pPr>
            <a:r>
              <a:rPr i="1" lang="en-US" sz="1800">
                <a:latin typeface="Times"/>
                <a:ea typeface="Times"/>
                <a:cs typeface="Times"/>
                <a:sym typeface="Times"/>
              </a:rPr>
              <a:t>     var = "test"</a:t>
            </a:r>
            <a:endParaRPr i="1" sz="1800">
              <a:latin typeface="Times"/>
              <a:ea typeface="Times"/>
              <a:cs typeface="Times"/>
              <a:sym typeface="Times"/>
            </a:endParaRPr>
          </a:p>
          <a:p>
            <a:pPr indent="0" lvl="0" marL="457200" rtl="0" algn="just">
              <a:lnSpc>
                <a:spcPct val="115000"/>
              </a:lnSpc>
              <a:spcBef>
                <a:spcPts val="900"/>
              </a:spcBef>
              <a:spcAft>
                <a:spcPts val="0"/>
              </a:spcAft>
              <a:buNone/>
            </a:pPr>
            <a:r>
              <a:rPr i="1" lang="en-US" sz="1800">
                <a:latin typeface="Times"/>
                <a:ea typeface="Times"/>
                <a:cs typeface="Times"/>
                <a:sym typeface="Times"/>
              </a:rPr>
              <a:t>      if var.isnumeric() == True:</a:t>
            </a:r>
            <a:endParaRPr i="1" sz="1800">
              <a:latin typeface="Times"/>
              <a:ea typeface="Times"/>
              <a:cs typeface="Times"/>
              <a:sym typeface="Times"/>
            </a:endParaRPr>
          </a:p>
          <a:p>
            <a:pPr indent="0" lvl="0" marL="457200" rtl="0" algn="just">
              <a:lnSpc>
                <a:spcPct val="115000"/>
              </a:lnSpc>
              <a:spcBef>
                <a:spcPts val="900"/>
              </a:spcBef>
              <a:spcAft>
                <a:spcPts val="0"/>
              </a:spcAft>
              <a:buNone/>
            </a:pPr>
            <a:r>
              <a:rPr i="1" lang="en-US" sz="1800">
                <a:latin typeface="Times"/>
                <a:ea typeface="Times"/>
                <a:cs typeface="Times"/>
                <a:sym typeface="Times"/>
              </a:rPr>
              <a:t>      	     print ("Your input", var)</a:t>
            </a:r>
            <a:endParaRPr i="1" sz="1800">
              <a:latin typeface="Times"/>
              <a:ea typeface="Times"/>
              <a:cs typeface="Times"/>
              <a:sym typeface="Times"/>
            </a:endParaRPr>
          </a:p>
          <a:p>
            <a:pPr indent="0" lvl="0" marL="457200" rtl="0" algn="just">
              <a:lnSpc>
                <a:spcPct val="115000"/>
              </a:lnSpc>
              <a:spcBef>
                <a:spcPts val="900"/>
              </a:spcBef>
              <a:spcAft>
                <a:spcPts val="900"/>
              </a:spcAft>
              <a:buNone/>
            </a:pPr>
            <a:r>
              <a:rPr i="1" lang="en-US" sz="1800">
                <a:latin typeface="Times"/>
                <a:ea typeface="Times"/>
                <a:cs typeface="Times"/>
                <a:sym typeface="Times"/>
              </a:rPr>
              <a:t>print</a:t>
            </a:r>
            <a:r>
              <a:rPr lang="en-US" sz="1800">
                <a:latin typeface="Times"/>
                <a:ea typeface="Times"/>
                <a:cs typeface="Times"/>
                <a:sym typeface="Times"/>
              </a:rPr>
              <a:t> ("End of while loop")</a:t>
            </a:r>
            <a:endParaRPr sz="1800">
              <a:latin typeface="Times"/>
              <a:ea typeface="Times"/>
              <a:cs typeface="Times"/>
              <a:sym typeface="Times"/>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4" name="Shape 734"/>
        <p:cNvGrpSpPr/>
        <p:nvPr/>
      </p:nvGrpSpPr>
      <p:grpSpPr>
        <a:xfrm>
          <a:off x="0" y="0"/>
          <a:ext cx="0" cy="0"/>
          <a:chOff x="0" y="0"/>
          <a:chExt cx="0" cy="0"/>
        </a:xfrm>
      </p:grpSpPr>
      <p:sp>
        <p:nvSpPr>
          <p:cNvPr id="735" name="Google Shape;735;p93"/>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w</a:t>
            </a:r>
            <a:r>
              <a:rPr b="1" lang="en-US" sz="3000">
                <a:solidFill>
                  <a:srgbClr val="1C3678"/>
                </a:solidFill>
                <a:latin typeface="Trebuchet MS"/>
                <a:ea typeface="Trebuchet MS"/>
                <a:cs typeface="Trebuchet MS"/>
                <a:sym typeface="Trebuchet MS"/>
              </a:rPr>
              <a:t>hile-else Loop</a:t>
            </a:r>
            <a:endParaRPr b="1" sz="3000">
              <a:solidFill>
                <a:srgbClr val="1C3678"/>
              </a:solidFill>
              <a:latin typeface="Trebuchet MS"/>
              <a:ea typeface="Trebuchet MS"/>
              <a:cs typeface="Trebuchet MS"/>
              <a:sym typeface="Trebuchet MS"/>
            </a:endParaRPr>
          </a:p>
        </p:txBody>
      </p:sp>
      <p:sp>
        <p:nvSpPr>
          <p:cNvPr id="736" name="Google Shape;736;p93"/>
          <p:cNvSpPr txBox="1"/>
          <p:nvPr/>
        </p:nvSpPr>
        <p:spPr>
          <a:xfrm>
            <a:off x="688425" y="793125"/>
            <a:ext cx="5095200" cy="4205400"/>
          </a:xfrm>
          <a:prstGeom prst="rect">
            <a:avLst/>
          </a:prstGeom>
          <a:noFill/>
          <a:ln>
            <a:noFill/>
          </a:ln>
        </p:spPr>
        <p:txBody>
          <a:bodyPr anchorCtr="0" anchor="t" bIns="0" lIns="0" spcFirstLastPara="1" rIns="0" wrap="square" tIns="125075">
            <a:spAutoFit/>
          </a:bodyPr>
          <a:lstStyle/>
          <a:p>
            <a:pPr indent="-336550" lvl="0" marL="457200" rtl="0" algn="just">
              <a:lnSpc>
                <a:spcPct val="100000"/>
              </a:lnSpc>
              <a:spcBef>
                <a:spcPts val="900"/>
              </a:spcBef>
              <a:spcAft>
                <a:spcPts val="0"/>
              </a:spcAft>
              <a:buSzPts val="1700"/>
              <a:buFont typeface="Tahoma"/>
              <a:buChar char="●"/>
            </a:pPr>
            <a:r>
              <a:rPr lang="en-US" sz="1700">
                <a:highlight>
                  <a:srgbClr val="FFFFFF"/>
                </a:highlight>
                <a:latin typeface="Times"/>
                <a:ea typeface="Times"/>
                <a:cs typeface="Times"/>
                <a:sym typeface="Times"/>
              </a:rPr>
              <a:t>Python supports having an </a:t>
            </a:r>
            <a:r>
              <a:rPr b="1" lang="en-US" sz="1700">
                <a:highlight>
                  <a:srgbClr val="FFFFFF"/>
                </a:highlight>
                <a:latin typeface="Times"/>
                <a:ea typeface="Times"/>
                <a:cs typeface="Times"/>
                <a:sym typeface="Times"/>
              </a:rPr>
              <a:t>else statement</a:t>
            </a:r>
            <a:r>
              <a:rPr lang="en-US" sz="1700">
                <a:highlight>
                  <a:srgbClr val="FFFFFF"/>
                </a:highlight>
                <a:latin typeface="Times"/>
                <a:ea typeface="Times"/>
                <a:cs typeface="Times"/>
                <a:sym typeface="Times"/>
              </a:rPr>
              <a:t> associated with a </a:t>
            </a:r>
            <a:r>
              <a:rPr b="1" lang="en-US" sz="1700">
                <a:highlight>
                  <a:srgbClr val="FFFFFF"/>
                </a:highlight>
                <a:latin typeface="Times"/>
                <a:ea typeface="Times"/>
                <a:cs typeface="Times"/>
                <a:sym typeface="Times"/>
              </a:rPr>
              <a:t>while loop</a:t>
            </a:r>
            <a:r>
              <a:rPr lang="en-US" sz="1700">
                <a:highlight>
                  <a:srgbClr val="FFFFFF"/>
                </a:highlight>
                <a:latin typeface="Times"/>
                <a:ea typeface="Times"/>
                <a:cs typeface="Times"/>
                <a:sym typeface="Times"/>
              </a:rPr>
              <a:t>. If the </a:t>
            </a:r>
            <a:r>
              <a:rPr b="1" lang="en-US" sz="1700">
                <a:highlight>
                  <a:srgbClr val="FFFFFF"/>
                </a:highlight>
                <a:latin typeface="Times"/>
                <a:ea typeface="Times"/>
                <a:cs typeface="Times"/>
                <a:sym typeface="Times"/>
              </a:rPr>
              <a:t>else statement</a:t>
            </a:r>
            <a:r>
              <a:rPr lang="en-US" sz="1700">
                <a:highlight>
                  <a:srgbClr val="FFFFFF"/>
                </a:highlight>
                <a:latin typeface="Times"/>
                <a:ea typeface="Times"/>
                <a:cs typeface="Times"/>
                <a:sym typeface="Times"/>
              </a:rPr>
              <a:t> is used with a </a:t>
            </a:r>
            <a:r>
              <a:rPr b="1" lang="en-US" sz="1700">
                <a:highlight>
                  <a:srgbClr val="FFFFFF"/>
                </a:highlight>
                <a:latin typeface="Times"/>
                <a:ea typeface="Times"/>
                <a:cs typeface="Times"/>
                <a:sym typeface="Times"/>
              </a:rPr>
              <a:t>while loop</a:t>
            </a:r>
            <a:r>
              <a:rPr lang="en-US" sz="1700">
                <a:highlight>
                  <a:srgbClr val="FFFFFF"/>
                </a:highlight>
                <a:latin typeface="Times"/>
                <a:ea typeface="Times"/>
                <a:cs typeface="Times"/>
                <a:sym typeface="Times"/>
              </a:rPr>
              <a:t>, the </a:t>
            </a:r>
            <a:r>
              <a:rPr b="1" lang="en-US" sz="1700">
                <a:highlight>
                  <a:srgbClr val="FFFFFF"/>
                </a:highlight>
                <a:latin typeface="Times"/>
                <a:ea typeface="Times"/>
                <a:cs typeface="Times"/>
                <a:sym typeface="Times"/>
              </a:rPr>
              <a:t>else statement</a:t>
            </a:r>
            <a:r>
              <a:rPr lang="en-US" sz="1700">
                <a:highlight>
                  <a:srgbClr val="FFFFFF"/>
                </a:highlight>
                <a:latin typeface="Times"/>
                <a:ea typeface="Times"/>
                <a:cs typeface="Times"/>
                <a:sym typeface="Times"/>
              </a:rPr>
              <a:t> is executed when the condition becomes false before the control shifts to the main line of execution.</a:t>
            </a:r>
            <a:endParaRPr sz="1700">
              <a:highlight>
                <a:srgbClr val="FFFFFF"/>
              </a:highlight>
              <a:latin typeface="Times"/>
              <a:ea typeface="Times"/>
              <a:cs typeface="Times"/>
              <a:sym typeface="Times"/>
            </a:endParaRPr>
          </a:p>
          <a:p>
            <a:pPr indent="0" lvl="0" marL="0" rtl="0" algn="just">
              <a:lnSpc>
                <a:spcPct val="100000"/>
              </a:lnSpc>
              <a:spcBef>
                <a:spcPts val="900"/>
              </a:spcBef>
              <a:spcAft>
                <a:spcPts val="0"/>
              </a:spcAft>
              <a:buNone/>
            </a:pPr>
            <a:r>
              <a:rPr lang="en-US" sz="1500">
                <a:latin typeface="Times"/>
                <a:ea typeface="Times"/>
                <a:cs typeface="Times"/>
                <a:sym typeface="Times"/>
              </a:rPr>
              <a:t>Example 1:</a:t>
            </a:r>
            <a:endParaRPr sz="1500">
              <a:highlight>
                <a:srgbClr val="FFFFFF"/>
              </a:highlight>
              <a:latin typeface="Times"/>
              <a:ea typeface="Times"/>
              <a:cs typeface="Times"/>
              <a:sym typeface="Times"/>
            </a:endParaRPr>
          </a:p>
          <a:p>
            <a:pPr indent="0" lvl="0" marL="457200" rtl="0" algn="just">
              <a:lnSpc>
                <a:spcPct val="100000"/>
              </a:lnSpc>
              <a:spcBef>
                <a:spcPts val="900"/>
              </a:spcBef>
              <a:spcAft>
                <a:spcPts val="0"/>
              </a:spcAft>
              <a:buNone/>
            </a:pPr>
            <a:r>
              <a:rPr i="1" lang="en-US" sz="1500">
                <a:highlight>
                  <a:schemeClr val="lt1"/>
                </a:highlight>
                <a:latin typeface="Times"/>
                <a:ea typeface="Times"/>
                <a:cs typeface="Times"/>
                <a:sym typeface="Times"/>
              </a:rPr>
              <a:t>count=0</a:t>
            </a:r>
            <a:endParaRPr i="1" sz="1500">
              <a:highlight>
                <a:schemeClr val="lt1"/>
              </a:highlight>
              <a:latin typeface="Times"/>
              <a:ea typeface="Times"/>
              <a:cs typeface="Times"/>
              <a:sym typeface="Times"/>
            </a:endParaRPr>
          </a:p>
          <a:p>
            <a:pPr indent="0" lvl="0" marL="457200" rtl="0" algn="just">
              <a:lnSpc>
                <a:spcPct val="100000"/>
              </a:lnSpc>
              <a:spcBef>
                <a:spcPts val="900"/>
              </a:spcBef>
              <a:spcAft>
                <a:spcPts val="0"/>
              </a:spcAft>
              <a:buNone/>
            </a:pPr>
            <a:r>
              <a:rPr i="1" lang="en-US" sz="1500">
                <a:highlight>
                  <a:schemeClr val="lt1"/>
                </a:highlight>
                <a:latin typeface="Times"/>
                <a:ea typeface="Times"/>
                <a:cs typeface="Times"/>
                <a:sym typeface="Times"/>
              </a:rPr>
              <a:t>while count&lt;5:</a:t>
            </a:r>
            <a:endParaRPr i="1" sz="1500">
              <a:highlight>
                <a:schemeClr val="lt1"/>
              </a:highlight>
              <a:latin typeface="Times"/>
              <a:ea typeface="Times"/>
              <a:cs typeface="Times"/>
              <a:sym typeface="Times"/>
            </a:endParaRPr>
          </a:p>
          <a:p>
            <a:pPr indent="0" lvl="0" marL="457200" rtl="0" algn="just">
              <a:lnSpc>
                <a:spcPct val="100000"/>
              </a:lnSpc>
              <a:spcBef>
                <a:spcPts val="900"/>
              </a:spcBef>
              <a:spcAft>
                <a:spcPts val="0"/>
              </a:spcAft>
              <a:buNone/>
            </a:pPr>
            <a:r>
              <a:rPr i="1" lang="en-US" sz="1500">
                <a:highlight>
                  <a:schemeClr val="lt1"/>
                </a:highlight>
                <a:latin typeface="Times"/>
                <a:ea typeface="Times"/>
                <a:cs typeface="Times"/>
                <a:sym typeface="Times"/>
              </a:rPr>
              <a:t>count+=1</a:t>
            </a:r>
            <a:endParaRPr i="1" sz="1500">
              <a:highlight>
                <a:schemeClr val="lt1"/>
              </a:highlight>
              <a:latin typeface="Times"/>
              <a:ea typeface="Times"/>
              <a:cs typeface="Times"/>
              <a:sym typeface="Times"/>
            </a:endParaRPr>
          </a:p>
          <a:p>
            <a:pPr indent="0" lvl="0" marL="457200" rtl="0" algn="just">
              <a:lnSpc>
                <a:spcPct val="100000"/>
              </a:lnSpc>
              <a:spcBef>
                <a:spcPts val="900"/>
              </a:spcBef>
              <a:spcAft>
                <a:spcPts val="0"/>
              </a:spcAft>
              <a:buNone/>
            </a:pPr>
            <a:r>
              <a:rPr i="1" lang="en-US" sz="1500">
                <a:highlight>
                  <a:schemeClr val="lt1"/>
                </a:highlight>
                <a:latin typeface="Times"/>
                <a:ea typeface="Times"/>
                <a:cs typeface="Times"/>
                <a:sym typeface="Times"/>
              </a:rPr>
              <a:t>print ("Iteration no. {}".format(count))</a:t>
            </a:r>
            <a:endParaRPr i="1" sz="1500">
              <a:highlight>
                <a:schemeClr val="lt1"/>
              </a:highlight>
              <a:latin typeface="Times"/>
              <a:ea typeface="Times"/>
              <a:cs typeface="Times"/>
              <a:sym typeface="Times"/>
            </a:endParaRPr>
          </a:p>
          <a:p>
            <a:pPr indent="0" lvl="0" marL="457200" rtl="0" algn="just">
              <a:lnSpc>
                <a:spcPct val="100000"/>
              </a:lnSpc>
              <a:spcBef>
                <a:spcPts val="900"/>
              </a:spcBef>
              <a:spcAft>
                <a:spcPts val="0"/>
              </a:spcAft>
              <a:buNone/>
            </a:pPr>
            <a:r>
              <a:rPr i="1" lang="en-US" sz="1500">
                <a:highlight>
                  <a:schemeClr val="lt1"/>
                </a:highlight>
                <a:latin typeface="Times"/>
                <a:ea typeface="Times"/>
                <a:cs typeface="Times"/>
                <a:sym typeface="Times"/>
              </a:rPr>
              <a:t>else:</a:t>
            </a:r>
            <a:endParaRPr i="1" sz="1500">
              <a:highlight>
                <a:schemeClr val="lt1"/>
              </a:highlight>
              <a:latin typeface="Times"/>
              <a:ea typeface="Times"/>
              <a:cs typeface="Times"/>
              <a:sym typeface="Times"/>
            </a:endParaRPr>
          </a:p>
          <a:p>
            <a:pPr indent="0" lvl="0" marL="457200" rtl="0" algn="just">
              <a:lnSpc>
                <a:spcPct val="100000"/>
              </a:lnSpc>
              <a:spcBef>
                <a:spcPts val="900"/>
              </a:spcBef>
              <a:spcAft>
                <a:spcPts val="0"/>
              </a:spcAft>
              <a:buNone/>
            </a:pPr>
            <a:r>
              <a:rPr i="1" lang="en-US" sz="1500">
                <a:highlight>
                  <a:schemeClr val="lt1"/>
                </a:highlight>
                <a:latin typeface="Times"/>
                <a:ea typeface="Times"/>
                <a:cs typeface="Times"/>
                <a:sym typeface="Times"/>
              </a:rPr>
              <a:t>   	print ("While loop over. Now in else block")</a:t>
            </a:r>
            <a:endParaRPr i="1" sz="1500">
              <a:highlight>
                <a:schemeClr val="lt1"/>
              </a:highlight>
              <a:latin typeface="Times"/>
              <a:ea typeface="Times"/>
              <a:cs typeface="Times"/>
              <a:sym typeface="Times"/>
            </a:endParaRPr>
          </a:p>
          <a:p>
            <a:pPr indent="0" lvl="0" marL="457200" rtl="0" algn="just">
              <a:lnSpc>
                <a:spcPct val="100000"/>
              </a:lnSpc>
              <a:spcBef>
                <a:spcPts val="900"/>
              </a:spcBef>
              <a:spcAft>
                <a:spcPts val="900"/>
              </a:spcAft>
              <a:buNone/>
            </a:pPr>
            <a:r>
              <a:rPr i="1" lang="en-US" sz="1500">
                <a:highlight>
                  <a:schemeClr val="lt1"/>
                </a:highlight>
                <a:latin typeface="Times"/>
                <a:ea typeface="Times"/>
                <a:cs typeface="Times"/>
                <a:sym typeface="Times"/>
              </a:rPr>
              <a:t>print ("End of while loop")</a:t>
            </a:r>
            <a:endParaRPr sz="1500">
              <a:highlight>
                <a:srgbClr val="FFFFFF"/>
              </a:highlight>
              <a:latin typeface="Times"/>
              <a:ea typeface="Times"/>
              <a:cs typeface="Times"/>
              <a:sym typeface="Times"/>
            </a:endParaRPr>
          </a:p>
        </p:txBody>
      </p:sp>
      <p:sp>
        <p:nvSpPr>
          <p:cNvPr id="737" name="Google Shape;737;p9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738" name="Google Shape;738;p93"/>
          <p:cNvPicPr preferRelativeResize="0"/>
          <p:nvPr/>
        </p:nvPicPr>
        <p:blipFill rotWithShape="1">
          <a:blip r:embed="rId3">
            <a:alphaModFix/>
          </a:blip>
          <a:srcRect b="0" l="18691" r="17821" t="0"/>
          <a:stretch/>
        </p:blipFill>
        <p:spPr>
          <a:xfrm>
            <a:off x="5832025" y="463250"/>
            <a:ext cx="2848700" cy="393930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3" name="Shape 743"/>
        <p:cNvGrpSpPr/>
        <p:nvPr/>
      </p:nvGrpSpPr>
      <p:grpSpPr>
        <a:xfrm>
          <a:off x="0" y="0"/>
          <a:ext cx="0" cy="0"/>
          <a:chOff x="0" y="0"/>
          <a:chExt cx="0" cy="0"/>
        </a:xfrm>
      </p:grpSpPr>
      <p:sp>
        <p:nvSpPr>
          <p:cNvPr id="744" name="Google Shape;744;p94"/>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Control Flow Modifier</a:t>
            </a:r>
            <a:endParaRPr b="1" sz="3000">
              <a:solidFill>
                <a:srgbClr val="1C3678"/>
              </a:solidFill>
              <a:latin typeface="Trebuchet MS"/>
              <a:ea typeface="Trebuchet MS"/>
              <a:cs typeface="Trebuchet MS"/>
              <a:sym typeface="Trebuchet MS"/>
            </a:endParaRPr>
          </a:p>
        </p:txBody>
      </p:sp>
      <p:sp>
        <p:nvSpPr>
          <p:cNvPr id="745" name="Google Shape;745;p94"/>
          <p:cNvSpPr txBox="1"/>
          <p:nvPr/>
        </p:nvSpPr>
        <p:spPr>
          <a:xfrm>
            <a:off x="688425" y="793125"/>
            <a:ext cx="8107500" cy="26199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latin typeface="Times"/>
                <a:ea typeface="Times"/>
                <a:cs typeface="Times"/>
                <a:sym typeface="Times"/>
              </a:rPr>
              <a:t>Control Flow Modifiers:</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i="1" lang="en-US" sz="1800">
                <a:latin typeface="Times"/>
                <a:ea typeface="Times"/>
                <a:cs typeface="Times"/>
                <a:sym typeface="Times"/>
              </a:rPr>
              <a:t>break</a:t>
            </a:r>
            <a:r>
              <a:rPr lang="en-US" sz="1800">
                <a:latin typeface="Times"/>
                <a:ea typeface="Times"/>
                <a:cs typeface="Times"/>
                <a:sym typeface="Times"/>
              </a:rPr>
              <a:t> Statement</a:t>
            </a:r>
            <a:endParaRPr sz="1800">
              <a:latin typeface="Times"/>
              <a:ea typeface="Times"/>
              <a:cs typeface="Times"/>
              <a:sym typeface="Times"/>
            </a:endParaRPr>
          </a:p>
          <a:p>
            <a:pPr indent="-342900" lvl="2" marL="1371600" rtl="0" algn="just">
              <a:spcBef>
                <a:spcPts val="0"/>
              </a:spcBef>
              <a:spcAft>
                <a:spcPts val="0"/>
              </a:spcAft>
              <a:buSzPts val="1800"/>
              <a:buFont typeface="Times"/>
              <a:buChar char="■"/>
            </a:pPr>
            <a:r>
              <a:rPr lang="en-US" sz="1800">
                <a:latin typeface="Times"/>
                <a:ea typeface="Times"/>
                <a:cs typeface="Times"/>
                <a:sym typeface="Times"/>
              </a:rPr>
              <a:t>Exits the nearest enclosing loop prematurely.</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i="1" lang="en-US" sz="1800">
                <a:latin typeface="Times"/>
                <a:ea typeface="Times"/>
                <a:cs typeface="Times"/>
                <a:sym typeface="Times"/>
              </a:rPr>
              <a:t>continue</a:t>
            </a:r>
            <a:r>
              <a:rPr lang="en-US" sz="1800">
                <a:latin typeface="Times"/>
                <a:ea typeface="Times"/>
                <a:cs typeface="Times"/>
                <a:sym typeface="Times"/>
              </a:rPr>
              <a:t> Statement</a:t>
            </a:r>
            <a:endParaRPr sz="1800">
              <a:latin typeface="Times"/>
              <a:ea typeface="Times"/>
              <a:cs typeface="Times"/>
              <a:sym typeface="Times"/>
            </a:endParaRPr>
          </a:p>
          <a:p>
            <a:pPr indent="-342900" lvl="2" marL="1371600" rtl="0" algn="just">
              <a:spcBef>
                <a:spcPts val="0"/>
              </a:spcBef>
              <a:spcAft>
                <a:spcPts val="0"/>
              </a:spcAft>
              <a:buSzPts val="1800"/>
              <a:buFont typeface="Times"/>
              <a:buChar char="■"/>
            </a:pPr>
            <a:r>
              <a:rPr lang="en-US" sz="1800">
                <a:latin typeface="Times"/>
                <a:ea typeface="Times"/>
                <a:cs typeface="Times"/>
                <a:sym typeface="Times"/>
              </a:rPr>
              <a:t>Skips the rest of the code inside the current iteration of a loop and proceeds to the next iteration.</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i="1" lang="en-US" sz="1800">
                <a:latin typeface="Times"/>
                <a:ea typeface="Times"/>
                <a:cs typeface="Times"/>
                <a:sym typeface="Times"/>
              </a:rPr>
              <a:t>pass</a:t>
            </a:r>
            <a:r>
              <a:rPr lang="en-US" sz="1800">
                <a:latin typeface="Times"/>
                <a:ea typeface="Times"/>
                <a:cs typeface="Times"/>
                <a:sym typeface="Times"/>
              </a:rPr>
              <a:t> Statement</a:t>
            </a:r>
            <a:endParaRPr sz="1800">
              <a:latin typeface="Times"/>
              <a:ea typeface="Times"/>
              <a:cs typeface="Times"/>
              <a:sym typeface="Times"/>
            </a:endParaRPr>
          </a:p>
          <a:p>
            <a:pPr indent="-342900" lvl="2" marL="1371600" rtl="0" algn="just">
              <a:spcBef>
                <a:spcPts val="0"/>
              </a:spcBef>
              <a:spcAft>
                <a:spcPts val="0"/>
              </a:spcAft>
              <a:buSzPts val="1800"/>
              <a:buFont typeface="Times"/>
              <a:buChar char="■"/>
            </a:pPr>
            <a:r>
              <a:rPr lang="en-US" sz="1800">
                <a:latin typeface="Times"/>
                <a:ea typeface="Times"/>
                <a:cs typeface="Times"/>
                <a:sym typeface="Times"/>
              </a:rPr>
              <a:t>A placeholder that does nothing and is used where code is syntactically required but not yet implemented.</a:t>
            </a:r>
            <a:endParaRPr sz="1800">
              <a:latin typeface="Times"/>
              <a:ea typeface="Times"/>
              <a:cs typeface="Times"/>
              <a:sym typeface="Times"/>
            </a:endParaRPr>
          </a:p>
        </p:txBody>
      </p:sp>
      <p:sp>
        <p:nvSpPr>
          <p:cNvPr id="746" name="Google Shape;746;p9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1" name="Shape 751"/>
        <p:cNvGrpSpPr/>
        <p:nvPr/>
      </p:nvGrpSpPr>
      <p:grpSpPr>
        <a:xfrm>
          <a:off x="0" y="0"/>
          <a:ext cx="0" cy="0"/>
          <a:chOff x="0" y="0"/>
          <a:chExt cx="0" cy="0"/>
        </a:xfrm>
      </p:grpSpPr>
      <p:sp>
        <p:nvSpPr>
          <p:cNvPr id="752" name="Google Shape;752;p95"/>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0" rtl="0" algn="l">
              <a:spcBef>
                <a:spcPts val="0"/>
              </a:spcBef>
              <a:spcAft>
                <a:spcPts val="0"/>
              </a:spcAft>
              <a:buNone/>
            </a:pPr>
            <a:r>
              <a:rPr b="1" i="1" lang="en-US" sz="3000">
                <a:solidFill>
                  <a:srgbClr val="1C3678"/>
                </a:solidFill>
                <a:latin typeface="Trebuchet MS"/>
                <a:ea typeface="Trebuchet MS"/>
                <a:cs typeface="Trebuchet MS"/>
                <a:sym typeface="Trebuchet MS"/>
              </a:rPr>
              <a:t>break</a:t>
            </a:r>
            <a:r>
              <a:rPr b="1" lang="en-US" sz="3000">
                <a:solidFill>
                  <a:srgbClr val="1C3678"/>
                </a:solidFill>
                <a:latin typeface="Trebuchet MS"/>
                <a:ea typeface="Trebuchet MS"/>
                <a:cs typeface="Trebuchet MS"/>
                <a:sym typeface="Trebuchet MS"/>
              </a:rPr>
              <a:t> Statement</a:t>
            </a:r>
            <a:endParaRPr b="1" sz="3000">
              <a:solidFill>
                <a:srgbClr val="1C3678"/>
              </a:solidFill>
              <a:latin typeface="Trebuchet MS"/>
              <a:ea typeface="Trebuchet MS"/>
              <a:cs typeface="Trebuchet MS"/>
              <a:sym typeface="Trebuchet MS"/>
            </a:endParaRPr>
          </a:p>
        </p:txBody>
      </p:sp>
      <p:sp>
        <p:nvSpPr>
          <p:cNvPr id="753" name="Google Shape;753;p95"/>
          <p:cNvSpPr txBox="1"/>
          <p:nvPr/>
        </p:nvSpPr>
        <p:spPr>
          <a:xfrm>
            <a:off x="688425" y="793125"/>
            <a:ext cx="8107500" cy="23427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latin typeface="Times"/>
                <a:ea typeface="Times"/>
                <a:cs typeface="Times"/>
                <a:sym typeface="Times"/>
              </a:rPr>
              <a:t>The </a:t>
            </a:r>
            <a:r>
              <a:rPr i="1" lang="en-US" sz="1800">
                <a:latin typeface="Times"/>
                <a:ea typeface="Times"/>
                <a:cs typeface="Times"/>
                <a:sym typeface="Times"/>
              </a:rPr>
              <a:t>break</a:t>
            </a:r>
            <a:r>
              <a:rPr lang="en-US" sz="1800">
                <a:latin typeface="Times"/>
                <a:ea typeface="Times"/>
                <a:cs typeface="Times"/>
                <a:sym typeface="Times"/>
              </a:rPr>
              <a:t> statement in Python is used to terminate the execution of the current loop (either for or while) and resume execution at the next statement immediately after the end of that loop.</a:t>
            </a:r>
            <a:endParaRPr sz="1800">
              <a:latin typeface="Times"/>
              <a:ea typeface="Times"/>
              <a:cs typeface="Times"/>
              <a:sym typeface="Times"/>
            </a:endParaRPr>
          </a:p>
          <a:p>
            <a:pPr indent="-342900" lvl="0" marL="457200" rtl="0" algn="just">
              <a:spcBef>
                <a:spcPts val="0"/>
              </a:spcBef>
              <a:spcAft>
                <a:spcPts val="0"/>
              </a:spcAft>
              <a:buSzPts val="1800"/>
              <a:buFont typeface="Times"/>
              <a:buChar char="●"/>
            </a:pPr>
            <a:r>
              <a:rPr lang="en-US" sz="1800">
                <a:latin typeface="Times"/>
                <a:ea typeface="Times"/>
                <a:cs typeface="Times"/>
                <a:sym typeface="Times"/>
              </a:rPr>
              <a:t>Using </a:t>
            </a:r>
            <a:r>
              <a:rPr i="1" lang="en-US" sz="1800">
                <a:latin typeface="Times"/>
                <a:ea typeface="Times"/>
                <a:cs typeface="Times"/>
                <a:sym typeface="Times"/>
              </a:rPr>
              <a:t>break</a:t>
            </a:r>
            <a:r>
              <a:rPr lang="en-US" sz="1800">
                <a:latin typeface="Times"/>
                <a:ea typeface="Times"/>
                <a:cs typeface="Times"/>
                <a:sym typeface="Times"/>
              </a:rPr>
              <a:t>:</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Inside a loop</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Multiple loops</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Function usage</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else clause</a:t>
            </a:r>
            <a:endParaRPr sz="1800">
              <a:latin typeface="Times"/>
              <a:ea typeface="Times"/>
              <a:cs typeface="Times"/>
              <a:sym typeface="Times"/>
            </a:endParaRPr>
          </a:p>
        </p:txBody>
      </p:sp>
      <p:sp>
        <p:nvSpPr>
          <p:cNvPr id="754" name="Google Shape;754;p9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755" name="Google Shape;755;p95"/>
          <p:cNvPicPr preferRelativeResize="0"/>
          <p:nvPr/>
        </p:nvPicPr>
        <p:blipFill>
          <a:blip r:embed="rId3">
            <a:alphaModFix/>
          </a:blip>
          <a:stretch>
            <a:fillRect/>
          </a:stretch>
        </p:blipFill>
        <p:spPr>
          <a:xfrm>
            <a:off x="3898088" y="1736288"/>
            <a:ext cx="2714625" cy="3152775"/>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0" name="Shape 760"/>
        <p:cNvGrpSpPr/>
        <p:nvPr/>
      </p:nvGrpSpPr>
      <p:grpSpPr>
        <a:xfrm>
          <a:off x="0" y="0"/>
          <a:ext cx="0" cy="0"/>
          <a:chOff x="0" y="0"/>
          <a:chExt cx="0" cy="0"/>
        </a:xfrm>
      </p:grpSpPr>
      <p:sp>
        <p:nvSpPr>
          <p:cNvPr id="761" name="Google Shape;761;p96"/>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0" rtl="0" algn="l">
              <a:spcBef>
                <a:spcPts val="0"/>
              </a:spcBef>
              <a:spcAft>
                <a:spcPts val="0"/>
              </a:spcAft>
              <a:buNone/>
            </a:pPr>
            <a:r>
              <a:rPr b="1" i="1" lang="en-US" sz="3000">
                <a:solidFill>
                  <a:srgbClr val="1C3678"/>
                </a:solidFill>
                <a:latin typeface="Trebuchet MS"/>
                <a:ea typeface="Trebuchet MS"/>
                <a:cs typeface="Trebuchet MS"/>
                <a:sym typeface="Trebuchet MS"/>
              </a:rPr>
              <a:t>break</a:t>
            </a:r>
            <a:r>
              <a:rPr b="1" lang="en-US" sz="3000">
                <a:solidFill>
                  <a:srgbClr val="1C3678"/>
                </a:solidFill>
                <a:latin typeface="Trebuchet MS"/>
                <a:ea typeface="Trebuchet MS"/>
                <a:cs typeface="Trebuchet MS"/>
                <a:sym typeface="Trebuchet MS"/>
              </a:rPr>
              <a:t> Statement</a:t>
            </a:r>
            <a:endParaRPr b="1" sz="3000">
              <a:solidFill>
                <a:srgbClr val="1C3678"/>
              </a:solidFill>
              <a:latin typeface="Trebuchet MS"/>
              <a:ea typeface="Trebuchet MS"/>
              <a:cs typeface="Trebuchet MS"/>
              <a:sym typeface="Trebuchet MS"/>
            </a:endParaRPr>
          </a:p>
        </p:txBody>
      </p:sp>
      <p:sp>
        <p:nvSpPr>
          <p:cNvPr id="762" name="Google Shape;762;p96"/>
          <p:cNvSpPr txBox="1"/>
          <p:nvPr/>
        </p:nvSpPr>
        <p:spPr>
          <a:xfrm>
            <a:off x="688425" y="793125"/>
            <a:ext cx="3613500" cy="4198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25075">
            <a:noAutofit/>
          </a:bodyPr>
          <a:lstStyle/>
          <a:p>
            <a:pPr indent="-336550" lvl="0" marL="457200" rtl="0" algn="just">
              <a:spcBef>
                <a:spcPts val="290"/>
              </a:spcBef>
              <a:spcAft>
                <a:spcPts val="0"/>
              </a:spcAft>
              <a:buSzPts val="1700"/>
              <a:buFont typeface="Times"/>
              <a:buChar char="●"/>
            </a:pPr>
            <a:r>
              <a:rPr lang="en-US" sz="1700">
                <a:latin typeface="Times"/>
                <a:ea typeface="Times"/>
                <a:cs typeface="Times"/>
                <a:sym typeface="Times"/>
              </a:rPr>
              <a:t>Inside a loop</a:t>
            </a:r>
            <a:endParaRPr sz="1700">
              <a:latin typeface="Times"/>
              <a:ea typeface="Times"/>
              <a:cs typeface="Times"/>
              <a:sym typeface="Times"/>
            </a:endParaRPr>
          </a:p>
          <a:p>
            <a:pPr indent="-336550" lvl="1" marL="914400" rtl="0" algn="just">
              <a:spcBef>
                <a:spcPts val="0"/>
              </a:spcBef>
              <a:spcAft>
                <a:spcPts val="0"/>
              </a:spcAft>
              <a:buSzPts val="1700"/>
              <a:buFont typeface="Times"/>
              <a:buChar char="○"/>
            </a:pPr>
            <a:r>
              <a:rPr lang="en-US" sz="1700">
                <a:latin typeface="Times"/>
                <a:ea typeface="Times"/>
                <a:cs typeface="Times"/>
                <a:sym typeface="Times"/>
              </a:rPr>
              <a:t>If </a:t>
            </a:r>
            <a:r>
              <a:rPr i="1" lang="en-US" sz="1700">
                <a:latin typeface="Times"/>
                <a:ea typeface="Times"/>
                <a:cs typeface="Times"/>
                <a:sym typeface="Times"/>
              </a:rPr>
              <a:t>break</a:t>
            </a:r>
            <a:r>
              <a:rPr lang="en-US" sz="1700">
                <a:latin typeface="Times"/>
                <a:ea typeface="Times"/>
                <a:cs typeface="Times"/>
                <a:sym typeface="Times"/>
              </a:rPr>
              <a:t> is inside a nested loop, it will terminate the innermost loop.</a:t>
            </a:r>
            <a:endParaRPr sz="1700">
              <a:latin typeface="Times"/>
              <a:ea typeface="Times"/>
              <a:cs typeface="Times"/>
              <a:sym typeface="Times"/>
            </a:endParaRPr>
          </a:p>
          <a:p>
            <a:pPr indent="0" lvl="0" marL="914400" rtl="0" algn="just">
              <a:spcBef>
                <a:spcPts val="290"/>
              </a:spcBef>
              <a:spcAft>
                <a:spcPts val="0"/>
              </a:spcAft>
              <a:buNone/>
            </a:pPr>
            <a:r>
              <a:t/>
            </a:r>
            <a:endParaRPr sz="1700">
              <a:latin typeface="Times"/>
              <a:ea typeface="Times"/>
              <a:cs typeface="Times"/>
              <a:sym typeface="Times"/>
            </a:endParaRPr>
          </a:p>
          <a:p>
            <a:pPr indent="457200" lvl="0" marL="0" rtl="0" algn="just">
              <a:spcBef>
                <a:spcPts val="290"/>
              </a:spcBef>
              <a:spcAft>
                <a:spcPts val="0"/>
              </a:spcAft>
              <a:buNone/>
            </a:pPr>
            <a:r>
              <a:rPr lang="en-US" sz="1700">
                <a:latin typeface="Times"/>
                <a:ea typeface="Times"/>
                <a:cs typeface="Times"/>
                <a:sym typeface="Times"/>
              </a:rPr>
              <a:t>Example:</a:t>
            </a:r>
            <a:endParaRPr sz="1700">
              <a:latin typeface="Times"/>
              <a:ea typeface="Times"/>
              <a:cs typeface="Times"/>
              <a:sym typeface="Times"/>
            </a:endParaRPr>
          </a:p>
          <a:p>
            <a:pPr indent="0" lvl="0" marL="457200" rtl="0" algn="just">
              <a:spcBef>
                <a:spcPts val="290"/>
              </a:spcBef>
              <a:spcAft>
                <a:spcPts val="0"/>
              </a:spcAft>
              <a:buNone/>
            </a:pPr>
            <a:r>
              <a:rPr i="1" lang="en-US" sz="1700">
                <a:latin typeface="Times"/>
                <a:ea typeface="Times"/>
                <a:cs typeface="Times"/>
                <a:sym typeface="Times"/>
              </a:rPr>
              <a:t>letters = “Engineerings”</a:t>
            </a:r>
            <a:endParaRPr sz="1700">
              <a:latin typeface="Times"/>
              <a:ea typeface="Times"/>
              <a:cs typeface="Times"/>
              <a:sym typeface="Times"/>
            </a:endParaRPr>
          </a:p>
          <a:p>
            <a:pPr indent="0" lvl="0" marL="457200" rtl="0" algn="just">
              <a:spcBef>
                <a:spcPts val="290"/>
              </a:spcBef>
              <a:spcAft>
                <a:spcPts val="0"/>
              </a:spcAft>
              <a:buNone/>
            </a:pPr>
            <a:r>
              <a:rPr i="1" lang="en-US" sz="1700">
                <a:latin typeface="Times"/>
                <a:ea typeface="Times"/>
                <a:cs typeface="Times"/>
                <a:sym typeface="Times"/>
              </a:rPr>
              <a:t>for letter in letters:</a:t>
            </a:r>
            <a:endParaRPr i="1" sz="1700">
              <a:latin typeface="Times"/>
              <a:ea typeface="Times"/>
              <a:cs typeface="Times"/>
              <a:sym typeface="Times"/>
            </a:endParaRPr>
          </a:p>
          <a:p>
            <a:pPr indent="0" lvl="0" marL="457200" rtl="0" algn="just">
              <a:spcBef>
                <a:spcPts val="290"/>
              </a:spcBef>
              <a:spcAft>
                <a:spcPts val="0"/>
              </a:spcAft>
              <a:buNone/>
            </a:pPr>
            <a:r>
              <a:rPr i="1" lang="en-US" sz="1700">
                <a:latin typeface="Times"/>
                <a:ea typeface="Times"/>
                <a:cs typeface="Times"/>
                <a:sym typeface="Times"/>
              </a:rPr>
              <a:t>    print(letter)</a:t>
            </a:r>
            <a:endParaRPr i="1" sz="1700">
              <a:latin typeface="Times"/>
              <a:ea typeface="Times"/>
              <a:cs typeface="Times"/>
              <a:sym typeface="Times"/>
            </a:endParaRPr>
          </a:p>
          <a:p>
            <a:pPr indent="0" lvl="0" marL="457200" rtl="0" algn="just">
              <a:spcBef>
                <a:spcPts val="290"/>
              </a:spcBef>
              <a:spcAft>
                <a:spcPts val="0"/>
              </a:spcAft>
              <a:buNone/>
            </a:pPr>
            <a:r>
              <a:rPr i="1" lang="en-US" sz="1700">
                <a:latin typeface="Times"/>
                <a:ea typeface="Times"/>
                <a:cs typeface="Times"/>
                <a:sym typeface="Times"/>
              </a:rPr>
              <a:t>    if letter == 'e' or letter == 's':</a:t>
            </a:r>
            <a:endParaRPr i="1" sz="1700">
              <a:latin typeface="Times"/>
              <a:ea typeface="Times"/>
              <a:cs typeface="Times"/>
              <a:sym typeface="Times"/>
            </a:endParaRPr>
          </a:p>
          <a:p>
            <a:pPr indent="0" lvl="0" marL="457200" rtl="0" algn="just">
              <a:spcBef>
                <a:spcPts val="290"/>
              </a:spcBef>
              <a:spcAft>
                <a:spcPts val="0"/>
              </a:spcAft>
              <a:buNone/>
            </a:pPr>
            <a:r>
              <a:rPr i="1" lang="en-US" sz="1700">
                <a:latin typeface="Times"/>
                <a:ea typeface="Times"/>
                <a:cs typeface="Times"/>
                <a:sym typeface="Times"/>
              </a:rPr>
              <a:t>        break</a:t>
            </a:r>
            <a:endParaRPr i="1" sz="1700">
              <a:latin typeface="Times"/>
              <a:ea typeface="Times"/>
              <a:cs typeface="Times"/>
              <a:sym typeface="Times"/>
            </a:endParaRPr>
          </a:p>
          <a:p>
            <a:pPr indent="0" lvl="0" marL="457200" rtl="0" algn="just">
              <a:spcBef>
                <a:spcPts val="290"/>
              </a:spcBef>
              <a:spcAft>
                <a:spcPts val="0"/>
              </a:spcAft>
              <a:buNone/>
            </a:pPr>
            <a:r>
              <a:rPr i="1" lang="en-US" sz="1700">
                <a:latin typeface="Times"/>
                <a:ea typeface="Times"/>
                <a:cs typeface="Times"/>
                <a:sym typeface="Times"/>
              </a:rPr>
              <a:t>print("Out of for loop")</a:t>
            </a:r>
            <a:endParaRPr i="1" sz="1700">
              <a:latin typeface="Times"/>
              <a:ea typeface="Times"/>
              <a:cs typeface="Times"/>
              <a:sym typeface="Times"/>
            </a:endParaRPr>
          </a:p>
          <a:p>
            <a:pPr indent="0" lvl="0" marL="914400" rtl="0" algn="just">
              <a:spcBef>
                <a:spcPts val="290"/>
              </a:spcBef>
              <a:spcAft>
                <a:spcPts val="0"/>
              </a:spcAft>
              <a:buNone/>
            </a:pPr>
            <a:r>
              <a:t/>
            </a:r>
            <a:endParaRPr i="1" sz="1800">
              <a:latin typeface="Times"/>
              <a:ea typeface="Times"/>
              <a:cs typeface="Times"/>
              <a:sym typeface="Times"/>
            </a:endParaRPr>
          </a:p>
        </p:txBody>
      </p:sp>
      <p:sp>
        <p:nvSpPr>
          <p:cNvPr id="763" name="Google Shape;763;p9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764" name="Google Shape;764;p96"/>
          <p:cNvSpPr txBox="1"/>
          <p:nvPr/>
        </p:nvSpPr>
        <p:spPr>
          <a:xfrm>
            <a:off x="4388150" y="793125"/>
            <a:ext cx="4417200" cy="4198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25075">
            <a:spAutoFit/>
          </a:bodyPr>
          <a:lstStyle/>
          <a:p>
            <a:pPr indent="-336550" lvl="0" marL="457200" rtl="0" algn="just">
              <a:spcBef>
                <a:spcPts val="290"/>
              </a:spcBef>
              <a:spcAft>
                <a:spcPts val="0"/>
              </a:spcAft>
              <a:buSzPts val="1700"/>
              <a:buFont typeface="Times"/>
              <a:buChar char="●"/>
            </a:pPr>
            <a:r>
              <a:rPr lang="en-US" sz="1700">
                <a:latin typeface="Times"/>
                <a:ea typeface="Times"/>
                <a:cs typeface="Times"/>
                <a:sym typeface="Times"/>
              </a:rPr>
              <a:t>Multiple loops</a:t>
            </a:r>
            <a:endParaRPr sz="1700">
              <a:latin typeface="Times"/>
              <a:ea typeface="Times"/>
              <a:cs typeface="Times"/>
              <a:sym typeface="Times"/>
            </a:endParaRPr>
          </a:p>
          <a:p>
            <a:pPr indent="-336550" lvl="1" marL="914400" rtl="0" algn="just">
              <a:spcBef>
                <a:spcPts val="0"/>
              </a:spcBef>
              <a:spcAft>
                <a:spcPts val="0"/>
              </a:spcAft>
              <a:buSzPts val="1700"/>
              <a:buFont typeface="Times"/>
              <a:buChar char="○"/>
            </a:pPr>
            <a:r>
              <a:rPr lang="en-US" sz="1700">
                <a:latin typeface="Times"/>
                <a:ea typeface="Times"/>
                <a:cs typeface="Times"/>
                <a:sym typeface="Times"/>
              </a:rPr>
              <a:t>If </a:t>
            </a:r>
            <a:r>
              <a:rPr i="1" lang="en-US" sz="1700">
                <a:latin typeface="Times"/>
                <a:ea typeface="Times"/>
                <a:cs typeface="Times"/>
                <a:sym typeface="Times"/>
              </a:rPr>
              <a:t>break</a:t>
            </a:r>
            <a:r>
              <a:rPr lang="en-US" sz="1700">
                <a:latin typeface="Times"/>
                <a:ea typeface="Times"/>
                <a:cs typeface="Times"/>
                <a:sym typeface="Times"/>
              </a:rPr>
              <a:t> is inside a nested loop, it will terminate the innermost loop.</a:t>
            </a:r>
            <a:endParaRPr sz="1700">
              <a:latin typeface="Times"/>
              <a:ea typeface="Times"/>
              <a:cs typeface="Times"/>
              <a:sym typeface="Times"/>
            </a:endParaRPr>
          </a:p>
          <a:p>
            <a:pPr indent="457200" lvl="0" marL="0" rtl="0" algn="just">
              <a:spcBef>
                <a:spcPts val="290"/>
              </a:spcBef>
              <a:spcAft>
                <a:spcPts val="0"/>
              </a:spcAft>
              <a:buNone/>
            </a:pPr>
            <a:r>
              <a:rPr lang="en-US" sz="1700">
                <a:latin typeface="Times"/>
                <a:ea typeface="Times"/>
                <a:cs typeface="Times"/>
                <a:sym typeface="Times"/>
              </a:rPr>
              <a:t>Example:</a:t>
            </a:r>
            <a:endParaRPr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s = 'stringe'</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i = 0</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while i &lt; len(s)-1:</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while True:</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print(s[i])</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if s[i] == 'e':</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break</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i += 1</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i += 1</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print("Out of while loop")</a:t>
            </a:r>
            <a:endParaRPr i="1" sz="1700">
              <a:latin typeface="Times"/>
              <a:ea typeface="Times"/>
              <a:cs typeface="Times"/>
              <a:sym typeface="Times"/>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9" name="Shape 769"/>
        <p:cNvGrpSpPr/>
        <p:nvPr/>
      </p:nvGrpSpPr>
      <p:grpSpPr>
        <a:xfrm>
          <a:off x="0" y="0"/>
          <a:ext cx="0" cy="0"/>
          <a:chOff x="0" y="0"/>
          <a:chExt cx="0" cy="0"/>
        </a:xfrm>
      </p:grpSpPr>
      <p:sp>
        <p:nvSpPr>
          <p:cNvPr id="770" name="Google Shape;770;p97"/>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0" rtl="0" algn="l">
              <a:spcBef>
                <a:spcPts val="0"/>
              </a:spcBef>
              <a:spcAft>
                <a:spcPts val="0"/>
              </a:spcAft>
              <a:buNone/>
            </a:pPr>
            <a:r>
              <a:rPr b="1" i="1" lang="en-US" sz="3000">
                <a:solidFill>
                  <a:srgbClr val="1C3678"/>
                </a:solidFill>
                <a:latin typeface="Trebuchet MS"/>
                <a:ea typeface="Trebuchet MS"/>
                <a:cs typeface="Trebuchet MS"/>
                <a:sym typeface="Trebuchet MS"/>
              </a:rPr>
              <a:t>break</a:t>
            </a:r>
            <a:r>
              <a:rPr b="1" lang="en-US" sz="3000">
                <a:solidFill>
                  <a:srgbClr val="1C3678"/>
                </a:solidFill>
                <a:latin typeface="Trebuchet MS"/>
                <a:ea typeface="Trebuchet MS"/>
                <a:cs typeface="Trebuchet MS"/>
                <a:sym typeface="Trebuchet MS"/>
              </a:rPr>
              <a:t> Statement</a:t>
            </a:r>
            <a:endParaRPr b="1" sz="3000">
              <a:solidFill>
                <a:srgbClr val="1C3678"/>
              </a:solidFill>
              <a:latin typeface="Trebuchet MS"/>
              <a:ea typeface="Trebuchet MS"/>
              <a:cs typeface="Trebuchet MS"/>
              <a:sym typeface="Trebuchet MS"/>
            </a:endParaRPr>
          </a:p>
        </p:txBody>
      </p:sp>
      <p:sp>
        <p:nvSpPr>
          <p:cNvPr id="771" name="Google Shape;771;p97"/>
          <p:cNvSpPr txBox="1"/>
          <p:nvPr/>
        </p:nvSpPr>
        <p:spPr>
          <a:xfrm>
            <a:off x="688425" y="793125"/>
            <a:ext cx="4570200" cy="4198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25075">
            <a:noAutofit/>
          </a:bodyPr>
          <a:lstStyle/>
          <a:p>
            <a:pPr indent="-336550" lvl="0" marL="457200" rtl="0" algn="just">
              <a:spcBef>
                <a:spcPts val="290"/>
              </a:spcBef>
              <a:spcAft>
                <a:spcPts val="0"/>
              </a:spcAft>
              <a:buSzPts val="1700"/>
              <a:buFont typeface="Times"/>
              <a:buChar char="●"/>
            </a:pPr>
            <a:r>
              <a:rPr b="1" lang="en-US" sz="1700">
                <a:latin typeface="Times"/>
                <a:ea typeface="Times"/>
                <a:cs typeface="Times"/>
                <a:sym typeface="Times"/>
              </a:rPr>
              <a:t>Function usage:</a:t>
            </a:r>
            <a:r>
              <a:rPr lang="en-US" sz="1700">
                <a:latin typeface="Times"/>
                <a:ea typeface="Times"/>
                <a:cs typeface="Times"/>
                <a:sym typeface="Times"/>
              </a:rPr>
              <a:t> A function can’t break on behalf of its caller. Instead, use return to exit the function and control flow will be passed back to the caller.</a:t>
            </a:r>
            <a:endParaRPr sz="1700">
              <a:latin typeface="Times"/>
              <a:ea typeface="Times"/>
              <a:cs typeface="Times"/>
              <a:sym typeface="Times"/>
            </a:endParaRPr>
          </a:p>
          <a:p>
            <a:pPr indent="457200" lvl="0" marL="0" rtl="0" algn="just">
              <a:spcBef>
                <a:spcPts val="290"/>
              </a:spcBef>
              <a:spcAft>
                <a:spcPts val="0"/>
              </a:spcAft>
              <a:buNone/>
            </a:pPr>
            <a:r>
              <a:rPr lang="en-US" sz="1700">
                <a:latin typeface="Times"/>
                <a:ea typeface="Times"/>
                <a:cs typeface="Times"/>
                <a:sym typeface="Times"/>
              </a:rPr>
              <a:t>Example:</a:t>
            </a:r>
            <a:endParaRPr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def stop_if_zero(a):</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if int(a) == 0:</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return True</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else:</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return False</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while True:</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value = input('Number: ')</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if stop_if_zero(value):</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break</a:t>
            </a:r>
            <a:endParaRPr i="1" sz="1700">
              <a:latin typeface="Times"/>
              <a:ea typeface="Times"/>
              <a:cs typeface="Times"/>
              <a:sym typeface="Times"/>
            </a:endParaRPr>
          </a:p>
        </p:txBody>
      </p:sp>
      <p:sp>
        <p:nvSpPr>
          <p:cNvPr id="772" name="Google Shape;772;p9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773" name="Google Shape;773;p97"/>
          <p:cNvSpPr txBox="1"/>
          <p:nvPr/>
        </p:nvSpPr>
        <p:spPr>
          <a:xfrm>
            <a:off x="5359300" y="793125"/>
            <a:ext cx="3446100" cy="4198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25075">
            <a:noAutofit/>
          </a:bodyPr>
          <a:lstStyle/>
          <a:p>
            <a:pPr indent="-336550" lvl="0" marL="457200" rtl="0" algn="just">
              <a:spcBef>
                <a:spcPts val="290"/>
              </a:spcBef>
              <a:spcAft>
                <a:spcPts val="0"/>
              </a:spcAft>
              <a:buSzPts val="1700"/>
              <a:buFont typeface="Times"/>
              <a:buChar char="●"/>
            </a:pPr>
            <a:r>
              <a:rPr b="1" i="1" lang="en-US" sz="1700">
                <a:latin typeface="Times"/>
                <a:ea typeface="Times"/>
                <a:cs typeface="Times"/>
                <a:sym typeface="Times"/>
              </a:rPr>
              <a:t>else</a:t>
            </a:r>
            <a:r>
              <a:rPr b="1" lang="en-US" sz="1700">
                <a:latin typeface="Times"/>
                <a:ea typeface="Times"/>
                <a:cs typeface="Times"/>
                <a:sym typeface="Times"/>
              </a:rPr>
              <a:t> clause: </a:t>
            </a:r>
            <a:r>
              <a:rPr lang="en-US" sz="1700">
                <a:latin typeface="Times"/>
                <a:ea typeface="Times"/>
                <a:cs typeface="Times"/>
                <a:sym typeface="Times"/>
              </a:rPr>
              <a:t>If the loop is terminated by a </a:t>
            </a:r>
            <a:r>
              <a:rPr i="1" lang="en-US" sz="1700">
                <a:latin typeface="Times"/>
                <a:ea typeface="Times"/>
                <a:cs typeface="Times"/>
                <a:sym typeface="Times"/>
              </a:rPr>
              <a:t>break</a:t>
            </a:r>
            <a:r>
              <a:rPr lang="en-US" sz="1700">
                <a:latin typeface="Times"/>
                <a:ea typeface="Times"/>
                <a:cs typeface="Times"/>
                <a:sym typeface="Times"/>
              </a:rPr>
              <a:t>, the </a:t>
            </a:r>
            <a:r>
              <a:rPr i="1" lang="en-US" sz="1700">
                <a:latin typeface="Times"/>
                <a:ea typeface="Times"/>
                <a:cs typeface="Times"/>
                <a:sym typeface="Times"/>
              </a:rPr>
              <a:t>else</a:t>
            </a:r>
            <a:r>
              <a:rPr lang="en-US" sz="1700">
                <a:latin typeface="Times"/>
                <a:ea typeface="Times"/>
                <a:cs typeface="Times"/>
                <a:sym typeface="Times"/>
              </a:rPr>
              <a:t> clause will not be executed. </a:t>
            </a:r>
            <a:br>
              <a:rPr lang="en-US" sz="1700">
                <a:latin typeface="Times"/>
                <a:ea typeface="Times"/>
                <a:cs typeface="Times"/>
                <a:sym typeface="Times"/>
              </a:rPr>
            </a:br>
            <a:endParaRPr sz="1700">
              <a:latin typeface="Times"/>
              <a:ea typeface="Times"/>
              <a:cs typeface="Times"/>
              <a:sym typeface="Times"/>
            </a:endParaRPr>
          </a:p>
          <a:p>
            <a:pPr indent="457200" lvl="0" marL="0" rtl="0" algn="just">
              <a:spcBef>
                <a:spcPts val="290"/>
              </a:spcBef>
              <a:spcAft>
                <a:spcPts val="0"/>
              </a:spcAft>
              <a:buNone/>
            </a:pPr>
            <a:r>
              <a:rPr lang="en-US" sz="1700">
                <a:latin typeface="Times"/>
                <a:ea typeface="Times"/>
                <a:cs typeface="Times"/>
                <a:sym typeface="Times"/>
              </a:rPr>
              <a:t>Example:</a:t>
            </a:r>
            <a:endParaRPr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for i in range(5):</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if i == 3:</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break</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print(i)</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else:</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print("Loop completed </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normally")</a:t>
            </a:r>
            <a:endParaRPr sz="1600">
              <a:latin typeface="Times"/>
              <a:ea typeface="Times"/>
              <a:cs typeface="Times"/>
              <a:sym typeface="Times"/>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8" name="Shape 778"/>
        <p:cNvGrpSpPr/>
        <p:nvPr/>
      </p:nvGrpSpPr>
      <p:grpSpPr>
        <a:xfrm>
          <a:off x="0" y="0"/>
          <a:ext cx="0" cy="0"/>
          <a:chOff x="0" y="0"/>
          <a:chExt cx="0" cy="0"/>
        </a:xfrm>
      </p:grpSpPr>
      <p:sp>
        <p:nvSpPr>
          <p:cNvPr id="779" name="Google Shape;779;p98"/>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i="1" lang="en-US" sz="3000">
                <a:solidFill>
                  <a:srgbClr val="1C3678"/>
                </a:solidFill>
                <a:latin typeface="Trebuchet MS"/>
                <a:ea typeface="Trebuchet MS"/>
                <a:cs typeface="Trebuchet MS"/>
                <a:sym typeface="Trebuchet MS"/>
              </a:rPr>
              <a:t>continue</a:t>
            </a:r>
            <a:r>
              <a:rPr b="1" lang="en-US" sz="3000">
                <a:solidFill>
                  <a:srgbClr val="1C3678"/>
                </a:solidFill>
                <a:latin typeface="Trebuchet MS"/>
                <a:ea typeface="Trebuchet MS"/>
                <a:cs typeface="Trebuchet MS"/>
                <a:sym typeface="Trebuchet MS"/>
              </a:rPr>
              <a:t> Statement</a:t>
            </a:r>
            <a:endParaRPr b="1" sz="3000">
              <a:solidFill>
                <a:srgbClr val="1C3678"/>
              </a:solidFill>
              <a:latin typeface="Trebuchet MS"/>
              <a:ea typeface="Trebuchet MS"/>
              <a:cs typeface="Trebuchet MS"/>
              <a:sym typeface="Trebuchet MS"/>
            </a:endParaRPr>
          </a:p>
        </p:txBody>
      </p:sp>
      <p:sp>
        <p:nvSpPr>
          <p:cNvPr id="780" name="Google Shape;780;p98"/>
          <p:cNvSpPr txBox="1"/>
          <p:nvPr/>
        </p:nvSpPr>
        <p:spPr>
          <a:xfrm>
            <a:off x="688425" y="793125"/>
            <a:ext cx="8107500" cy="20658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latin typeface="Times"/>
                <a:ea typeface="Times"/>
                <a:cs typeface="Times"/>
                <a:sym typeface="Times"/>
              </a:rPr>
              <a:t>The </a:t>
            </a:r>
            <a:r>
              <a:rPr i="1" lang="en-US" sz="1800">
                <a:latin typeface="Times"/>
                <a:ea typeface="Times"/>
                <a:cs typeface="Times"/>
                <a:sym typeface="Times"/>
              </a:rPr>
              <a:t>continue</a:t>
            </a:r>
            <a:r>
              <a:rPr lang="en-US" sz="1800">
                <a:latin typeface="Times"/>
                <a:ea typeface="Times"/>
                <a:cs typeface="Times"/>
                <a:sym typeface="Times"/>
              </a:rPr>
              <a:t> statement in Python is used to skip the current iteration of a loop (either for or while) and immediately move to the next iteration of that loop.</a:t>
            </a:r>
            <a:endParaRPr sz="1800">
              <a:latin typeface="Times"/>
              <a:ea typeface="Times"/>
              <a:cs typeface="Times"/>
              <a:sym typeface="Times"/>
            </a:endParaRPr>
          </a:p>
          <a:p>
            <a:pPr indent="-342900" lvl="0" marL="457200" rtl="0" algn="just">
              <a:spcBef>
                <a:spcPts val="0"/>
              </a:spcBef>
              <a:spcAft>
                <a:spcPts val="0"/>
              </a:spcAft>
              <a:buSzPts val="1800"/>
              <a:buFont typeface="Times"/>
              <a:buChar char="●"/>
            </a:pPr>
            <a:r>
              <a:rPr lang="en-US" sz="1800">
                <a:latin typeface="Times"/>
                <a:ea typeface="Times"/>
                <a:cs typeface="Times"/>
                <a:sym typeface="Times"/>
              </a:rPr>
              <a:t>Using </a:t>
            </a:r>
            <a:r>
              <a:rPr i="1" lang="en-US" sz="1800">
                <a:latin typeface="Times"/>
                <a:ea typeface="Times"/>
                <a:cs typeface="Times"/>
                <a:sym typeface="Times"/>
              </a:rPr>
              <a:t>continue</a:t>
            </a:r>
            <a:r>
              <a:rPr lang="en-US" sz="1800">
                <a:latin typeface="Times"/>
                <a:ea typeface="Times"/>
                <a:cs typeface="Times"/>
                <a:sym typeface="Times"/>
              </a:rPr>
              <a:t>:</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Inside a loop</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Multiple loops</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Function usage</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else clause</a:t>
            </a:r>
            <a:endParaRPr sz="1800">
              <a:latin typeface="Times"/>
              <a:ea typeface="Times"/>
              <a:cs typeface="Times"/>
              <a:sym typeface="Times"/>
            </a:endParaRPr>
          </a:p>
        </p:txBody>
      </p:sp>
      <p:sp>
        <p:nvSpPr>
          <p:cNvPr id="781" name="Google Shape;781;p9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782" name="Google Shape;782;p98"/>
          <p:cNvPicPr preferRelativeResize="0"/>
          <p:nvPr/>
        </p:nvPicPr>
        <p:blipFill>
          <a:blip r:embed="rId3">
            <a:alphaModFix/>
          </a:blip>
          <a:stretch>
            <a:fillRect/>
          </a:stretch>
        </p:blipFill>
        <p:spPr>
          <a:xfrm>
            <a:off x="3590975" y="1511350"/>
            <a:ext cx="3718425" cy="3200525"/>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7" name="Shape 787"/>
        <p:cNvGrpSpPr/>
        <p:nvPr/>
      </p:nvGrpSpPr>
      <p:grpSpPr>
        <a:xfrm>
          <a:off x="0" y="0"/>
          <a:ext cx="0" cy="0"/>
          <a:chOff x="0" y="0"/>
          <a:chExt cx="0" cy="0"/>
        </a:xfrm>
      </p:grpSpPr>
      <p:sp>
        <p:nvSpPr>
          <p:cNvPr id="788" name="Google Shape;788;p99"/>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0" rtl="0" algn="l">
              <a:spcBef>
                <a:spcPts val="0"/>
              </a:spcBef>
              <a:spcAft>
                <a:spcPts val="0"/>
              </a:spcAft>
              <a:buNone/>
            </a:pPr>
            <a:r>
              <a:rPr b="1" i="1" lang="en-US" sz="3000">
                <a:solidFill>
                  <a:srgbClr val="1C3678"/>
                </a:solidFill>
                <a:latin typeface="Trebuchet MS"/>
                <a:ea typeface="Trebuchet MS"/>
                <a:cs typeface="Trebuchet MS"/>
                <a:sym typeface="Trebuchet MS"/>
              </a:rPr>
              <a:t>continue</a:t>
            </a:r>
            <a:r>
              <a:rPr b="1" lang="en-US" sz="3000">
                <a:solidFill>
                  <a:srgbClr val="1C3678"/>
                </a:solidFill>
                <a:latin typeface="Trebuchet MS"/>
                <a:ea typeface="Trebuchet MS"/>
                <a:cs typeface="Trebuchet MS"/>
                <a:sym typeface="Trebuchet MS"/>
              </a:rPr>
              <a:t> Statement</a:t>
            </a:r>
            <a:endParaRPr b="1" sz="3000">
              <a:solidFill>
                <a:srgbClr val="1C3678"/>
              </a:solidFill>
              <a:latin typeface="Trebuchet MS"/>
              <a:ea typeface="Trebuchet MS"/>
              <a:cs typeface="Trebuchet MS"/>
              <a:sym typeface="Trebuchet MS"/>
            </a:endParaRPr>
          </a:p>
        </p:txBody>
      </p:sp>
      <p:sp>
        <p:nvSpPr>
          <p:cNvPr id="789" name="Google Shape;789;p99"/>
          <p:cNvSpPr txBox="1"/>
          <p:nvPr/>
        </p:nvSpPr>
        <p:spPr>
          <a:xfrm>
            <a:off x="688425" y="793125"/>
            <a:ext cx="3613500" cy="39189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25075">
            <a:noAutofit/>
          </a:bodyPr>
          <a:lstStyle/>
          <a:p>
            <a:pPr indent="-336550" lvl="0" marL="457200" rtl="0" algn="just">
              <a:spcBef>
                <a:spcPts val="290"/>
              </a:spcBef>
              <a:spcAft>
                <a:spcPts val="0"/>
              </a:spcAft>
              <a:buSzPts val="1700"/>
              <a:buFont typeface="Times"/>
              <a:buChar char="●"/>
            </a:pPr>
            <a:r>
              <a:rPr b="1" lang="en-US" sz="1700">
                <a:latin typeface="Times"/>
                <a:ea typeface="Times"/>
                <a:cs typeface="Times"/>
                <a:sym typeface="Times"/>
              </a:rPr>
              <a:t>Inside a loop:</a:t>
            </a:r>
            <a:r>
              <a:rPr lang="en-US" sz="1700">
                <a:latin typeface="Times"/>
                <a:ea typeface="Times"/>
                <a:cs typeface="Times"/>
                <a:sym typeface="Times"/>
              </a:rPr>
              <a:t> </a:t>
            </a:r>
            <a:r>
              <a:rPr i="1" lang="en-US" sz="1700">
                <a:latin typeface="Times"/>
                <a:ea typeface="Times"/>
                <a:cs typeface="Times"/>
                <a:sym typeface="Times"/>
              </a:rPr>
              <a:t>continue</a:t>
            </a:r>
            <a:r>
              <a:rPr lang="en-US" sz="1700">
                <a:latin typeface="Times"/>
                <a:ea typeface="Times"/>
                <a:cs typeface="Times"/>
                <a:sym typeface="Times"/>
              </a:rPr>
              <a:t> must be syntactically inside the loop. When encountered, it skips the remaining code in the loop's body for the current iteration and proceeds to the next iteration.</a:t>
            </a:r>
            <a:endParaRPr sz="1700">
              <a:latin typeface="Times"/>
              <a:ea typeface="Times"/>
              <a:cs typeface="Times"/>
              <a:sym typeface="Times"/>
            </a:endParaRPr>
          </a:p>
          <a:p>
            <a:pPr indent="0" lvl="0" marL="0" rtl="0" algn="just">
              <a:spcBef>
                <a:spcPts val="290"/>
              </a:spcBef>
              <a:spcAft>
                <a:spcPts val="0"/>
              </a:spcAft>
              <a:buNone/>
            </a:pPr>
            <a:r>
              <a:rPr lang="en-US" sz="1700">
                <a:latin typeface="Times"/>
                <a:ea typeface="Times"/>
                <a:cs typeface="Times"/>
                <a:sym typeface="Times"/>
              </a:rPr>
              <a:t>Example:</a:t>
            </a:r>
            <a:endParaRPr sz="1700">
              <a:latin typeface="Times"/>
              <a:ea typeface="Times"/>
              <a:cs typeface="Times"/>
              <a:sym typeface="Times"/>
            </a:endParaRPr>
          </a:p>
          <a:p>
            <a:pPr indent="0" lvl="0" marL="457200" rtl="0" algn="just">
              <a:spcBef>
                <a:spcPts val="290"/>
              </a:spcBef>
              <a:spcAft>
                <a:spcPts val="0"/>
              </a:spcAft>
              <a:buNone/>
            </a:pPr>
            <a:r>
              <a:rPr i="1" lang="en-US" sz="1700">
                <a:latin typeface="Times"/>
                <a:ea typeface="Times"/>
                <a:cs typeface="Times"/>
                <a:sym typeface="Times"/>
              </a:rPr>
              <a:t>for letter in "advanced":</a:t>
            </a:r>
            <a:endParaRPr i="1" sz="1700">
              <a:latin typeface="Times"/>
              <a:ea typeface="Times"/>
              <a:cs typeface="Times"/>
              <a:sym typeface="Times"/>
            </a:endParaRPr>
          </a:p>
          <a:p>
            <a:pPr indent="0" lvl="0" marL="457200" rtl="0" algn="just">
              <a:spcBef>
                <a:spcPts val="290"/>
              </a:spcBef>
              <a:spcAft>
                <a:spcPts val="0"/>
              </a:spcAft>
              <a:buNone/>
            </a:pPr>
            <a:r>
              <a:rPr i="1" lang="en-US" sz="1700">
                <a:latin typeface="Times"/>
                <a:ea typeface="Times"/>
                <a:cs typeface="Times"/>
                <a:sym typeface="Times"/>
              </a:rPr>
              <a:t>    if letter == 'a':</a:t>
            </a:r>
            <a:endParaRPr i="1" sz="1700">
              <a:latin typeface="Times"/>
              <a:ea typeface="Times"/>
              <a:cs typeface="Times"/>
              <a:sym typeface="Times"/>
            </a:endParaRPr>
          </a:p>
          <a:p>
            <a:pPr indent="0" lvl="0" marL="457200" rtl="0" algn="just">
              <a:spcBef>
                <a:spcPts val="290"/>
              </a:spcBef>
              <a:spcAft>
                <a:spcPts val="0"/>
              </a:spcAft>
              <a:buNone/>
            </a:pPr>
            <a:r>
              <a:rPr i="1" lang="en-US" sz="1700">
                <a:latin typeface="Times"/>
                <a:ea typeface="Times"/>
                <a:cs typeface="Times"/>
                <a:sym typeface="Times"/>
              </a:rPr>
              <a:t>        continue</a:t>
            </a:r>
            <a:endParaRPr i="1" sz="1700">
              <a:latin typeface="Times"/>
              <a:ea typeface="Times"/>
              <a:cs typeface="Times"/>
              <a:sym typeface="Times"/>
            </a:endParaRPr>
          </a:p>
          <a:p>
            <a:pPr indent="0" lvl="0" marL="457200" rtl="0" algn="just">
              <a:spcBef>
                <a:spcPts val="290"/>
              </a:spcBef>
              <a:spcAft>
                <a:spcPts val="0"/>
              </a:spcAft>
              <a:buNone/>
            </a:pPr>
            <a:r>
              <a:rPr i="1" lang="en-US" sz="1700">
                <a:latin typeface="Times"/>
                <a:ea typeface="Times"/>
                <a:cs typeface="Times"/>
                <a:sym typeface="Times"/>
              </a:rPr>
              <a:t>    print(letter)</a:t>
            </a:r>
            <a:endParaRPr i="1" sz="1700">
              <a:latin typeface="Times"/>
              <a:ea typeface="Times"/>
              <a:cs typeface="Times"/>
              <a:sym typeface="Times"/>
            </a:endParaRPr>
          </a:p>
          <a:p>
            <a:pPr indent="0" lvl="0" marL="457200" rtl="0" algn="just">
              <a:spcBef>
                <a:spcPts val="290"/>
              </a:spcBef>
              <a:spcAft>
                <a:spcPts val="0"/>
              </a:spcAft>
              <a:buNone/>
            </a:pPr>
            <a:r>
              <a:rPr i="1" lang="en-US" sz="1700">
                <a:latin typeface="Times"/>
                <a:ea typeface="Times"/>
                <a:cs typeface="Times"/>
                <a:sym typeface="Times"/>
              </a:rPr>
              <a:t>print("Out of for loop")</a:t>
            </a:r>
            <a:endParaRPr sz="1600">
              <a:latin typeface="Times"/>
              <a:ea typeface="Times"/>
              <a:cs typeface="Times"/>
              <a:sym typeface="Times"/>
            </a:endParaRPr>
          </a:p>
          <a:p>
            <a:pPr indent="0" lvl="0" marL="914400" rtl="0" algn="just">
              <a:spcBef>
                <a:spcPts val="290"/>
              </a:spcBef>
              <a:spcAft>
                <a:spcPts val="0"/>
              </a:spcAft>
              <a:buNone/>
            </a:pPr>
            <a:r>
              <a:t/>
            </a:r>
            <a:endParaRPr i="1" sz="1800">
              <a:latin typeface="Times"/>
              <a:ea typeface="Times"/>
              <a:cs typeface="Times"/>
              <a:sym typeface="Times"/>
            </a:endParaRPr>
          </a:p>
        </p:txBody>
      </p:sp>
      <p:sp>
        <p:nvSpPr>
          <p:cNvPr id="790" name="Google Shape;790;p9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791" name="Google Shape;791;p99"/>
          <p:cNvSpPr txBox="1"/>
          <p:nvPr/>
        </p:nvSpPr>
        <p:spPr>
          <a:xfrm>
            <a:off x="4388150" y="793125"/>
            <a:ext cx="4417200" cy="39189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25075">
            <a:noAutofit/>
          </a:bodyPr>
          <a:lstStyle/>
          <a:p>
            <a:pPr indent="-342900" lvl="0" marL="457200" rtl="0" algn="just">
              <a:spcBef>
                <a:spcPts val="290"/>
              </a:spcBef>
              <a:spcAft>
                <a:spcPts val="0"/>
              </a:spcAft>
              <a:buSzPts val="1800"/>
              <a:buFont typeface="Times"/>
              <a:buChar char="●"/>
            </a:pPr>
            <a:r>
              <a:rPr b="1" lang="en-US" sz="1800">
                <a:latin typeface="Times"/>
                <a:ea typeface="Times"/>
                <a:cs typeface="Times"/>
                <a:sym typeface="Times"/>
              </a:rPr>
              <a:t>Multiple loops:</a:t>
            </a:r>
            <a:r>
              <a:rPr lang="en-US" sz="1800">
                <a:latin typeface="Times"/>
                <a:ea typeface="Times"/>
                <a:cs typeface="Times"/>
                <a:sym typeface="Times"/>
              </a:rPr>
              <a:t> If </a:t>
            </a:r>
            <a:r>
              <a:rPr i="1" lang="en-US" sz="1800">
                <a:latin typeface="Times"/>
                <a:ea typeface="Times"/>
                <a:cs typeface="Times"/>
                <a:sym typeface="Times"/>
              </a:rPr>
              <a:t>continue</a:t>
            </a:r>
            <a:r>
              <a:rPr lang="en-US" sz="1800">
                <a:latin typeface="Times"/>
                <a:ea typeface="Times"/>
                <a:cs typeface="Times"/>
                <a:sym typeface="Times"/>
              </a:rPr>
              <a:t> is inside a nested loop, it will only skip the current iteration of the innermost loop where it is called.</a:t>
            </a:r>
            <a:endParaRPr sz="1800">
              <a:latin typeface="Times"/>
              <a:ea typeface="Times"/>
              <a:cs typeface="Times"/>
              <a:sym typeface="Times"/>
            </a:endParaRPr>
          </a:p>
          <a:p>
            <a:pPr indent="0" lvl="0" marL="0" rtl="0" algn="just">
              <a:spcBef>
                <a:spcPts val="290"/>
              </a:spcBef>
              <a:spcAft>
                <a:spcPts val="0"/>
              </a:spcAft>
              <a:buNone/>
            </a:pPr>
            <a:r>
              <a:rPr lang="en-US" sz="1800">
                <a:latin typeface="Times"/>
                <a:ea typeface="Times"/>
                <a:cs typeface="Times"/>
                <a:sym typeface="Times"/>
              </a:rPr>
              <a:t>Example:</a:t>
            </a:r>
            <a:endParaRPr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for i in range(3):</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for j in range(3):</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if j == 1:</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continue</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print(f"i={i}, j={j}")</a:t>
            </a:r>
            <a:endParaRPr sz="1700">
              <a:latin typeface="Times"/>
              <a:ea typeface="Times"/>
              <a:cs typeface="Times"/>
              <a:sym typeface="Times"/>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6" name="Shape 796"/>
        <p:cNvGrpSpPr/>
        <p:nvPr/>
      </p:nvGrpSpPr>
      <p:grpSpPr>
        <a:xfrm>
          <a:off x="0" y="0"/>
          <a:ext cx="0" cy="0"/>
          <a:chOff x="0" y="0"/>
          <a:chExt cx="0" cy="0"/>
        </a:xfrm>
      </p:grpSpPr>
      <p:sp>
        <p:nvSpPr>
          <p:cNvPr id="797" name="Google Shape;797;p100"/>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0" rtl="0" algn="l">
              <a:spcBef>
                <a:spcPts val="0"/>
              </a:spcBef>
              <a:spcAft>
                <a:spcPts val="0"/>
              </a:spcAft>
              <a:buNone/>
            </a:pPr>
            <a:r>
              <a:rPr b="1" i="1" lang="en-US" sz="3000">
                <a:solidFill>
                  <a:srgbClr val="1C3678"/>
                </a:solidFill>
                <a:latin typeface="Trebuchet MS"/>
                <a:ea typeface="Trebuchet MS"/>
                <a:cs typeface="Trebuchet MS"/>
                <a:sym typeface="Trebuchet MS"/>
              </a:rPr>
              <a:t>continue</a:t>
            </a:r>
            <a:r>
              <a:rPr b="1" lang="en-US" sz="3000">
                <a:solidFill>
                  <a:srgbClr val="1C3678"/>
                </a:solidFill>
                <a:latin typeface="Trebuchet MS"/>
                <a:ea typeface="Trebuchet MS"/>
                <a:cs typeface="Trebuchet MS"/>
                <a:sym typeface="Trebuchet MS"/>
              </a:rPr>
              <a:t> Statement</a:t>
            </a:r>
            <a:endParaRPr b="1" sz="3000">
              <a:solidFill>
                <a:srgbClr val="1C3678"/>
              </a:solidFill>
              <a:latin typeface="Trebuchet MS"/>
              <a:ea typeface="Trebuchet MS"/>
              <a:cs typeface="Trebuchet MS"/>
              <a:sym typeface="Trebuchet MS"/>
            </a:endParaRPr>
          </a:p>
        </p:txBody>
      </p:sp>
      <p:sp>
        <p:nvSpPr>
          <p:cNvPr id="798" name="Google Shape;798;p100"/>
          <p:cNvSpPr txBox="1"/>
          <p:nvPr/>
        </p:nvSpPr>
        <p:spPr>
          <a:xfrm>
            <a:off x="688425" y="793125"/>
            <a:ext cx="4570200" cy="4198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25075">
            <a:noAutofit/>
          </a:bodyPr>
          <a:lstStyle/>
          <a:p>
            <a:pPr indent="-330200" lvl="0" marL="457200" rtl="0" algn="just">
              <a:spcBef>
                <a:spcPts val="290"/>
              </a:spcBef>
              <a:spcAft>
                <a:spcPts val="0"/>
              </a:spcAft>
              <a:buSzPts val="1600"/>
              <a:buFont typeface="Times"/>
              <a:buChar char="●"/>
            </a:pPr>
            <a:r>
              <a:rPr b="1" lang="en-US" sz="1600">
                <a:latin typeface="Times"/>
                <a:ea typeface="Times"/>
                <a:cs typeface="Times"/>
                <a:sym typeface="Times"/>
              </a:rPr>
              <a:t>Function usage: </a:t>
            </a:r>
            <a:r>
              <a:rPr i="1" lang="en-US" sz="1600">
                <a:latin typeface="Times"/>
                <a:ea typeface="Times"/>
                <a:cs typeface="Times"/>
                <a:sym typeface="Times"/>
              </a:rPr>
              <a:t>continue</a:t>
            </a:r>
            <a:r>
              <a:rPr lang="en-US" sz="1600">
                <a:latin typeface="Times"/>
                <a:ea typeface="Times"/>
                <a:cs typeface="Times"/>
                <a:sym typeface="Times"/>
              </a:rPr>
              <a:t> can be used within a loop inside a function, but it cannot affect the outer calling context. You must use return if you want to exit the function instead.</a:t>
            </a:r>
            <a:endParaRPr sz="1600">
              <a:latin typeface="Times"/>
              <a:ea typeface="Times"/>
              <a:cs typeface="Times"/>
              <a:sym typeface="Times"/>
            </a:endParaRPr>
          </a:p>
          <a:p>
            <a:pPr indent="0" lvl="0" marL="0" rtl="0" algn="just">
              <a:spcBef>
                <a:spcPts val="290"/>
              </a:spcBef>
              <a:spcAft>
                <a:spcPts val="0"/>
              </a:spcAft>
              <a:buNone/>
            </a:pPr>
            <a:r>
              <a:rPr lang="en-US" sz="1600">
                <a:latin typeface="Times"/>
                <a:ea typeface="Times"/>
                <a:cs typeface="Times"/>
                <a:sym typeface="Times"/>
              </a:rPr>
              <a:t>Example:</a:t>
            </a:r>
            <a:endParaRPr sz="16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def skip_if_zero(a):</a:t>
            </a:r>
            <a:endParaRPr i="1" sz="16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    if int(a) == 0:</a:t>
            </a:r>
            <a:endParaRPr i="1" sz="16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        return True</a:t>
            </a:r>
            <a:endParaRPr i="1" sz="16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    else:</a:t>
            </a:r>
            <a:endParaRPr i="1" sz="16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        return False</a:t>
            </a:r>
            <a:endParaRPr i="1" sz="16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for i in range(5):</a:t>
            </a:r>
            <a:endParaRPr i="1" sz="16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    value = input('Number: ')</a:t>
            </a:r>
            <a:endParaRPr i="1" sz="16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    if skip_if_zero(value):</a:t>
            </a:r>
            <a:endParaRPr i="1" sz="16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        continue</a:t>
            </a:r>
            <a:endParaRPr i="1" sz="16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    print(f"Processing {value}")</a:t>
            </a:r>
            <a:endParaRPr b="1" sz="1600">
              <a:latin typeface="Times"/>
              <a:ea typeface="Times"/>
              <a:cs typeface="Times"/>
              <a:sym typeface="Times"/>
            </a:endParaRPr>
          </a:p>
        </p:txBody>
      </p:sp>
      <p:sp>
        <p:nvSpPr>
          <p:cNvPr id="799" name="Google Shape;799;p10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800" name="Google Shape;800;p100"/>
          <p:cNvSpPr txBox="1"/>
          <p:nvPr/>
        </p:nvSpPr>
        <p:spPr>
          <a:xfrm>
            <a:off x="5359300" y="793125"/>
            <a:ext cx="3446100" cy="4198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25075">
            <a:noAutofit/>
          </a:bodyPr>
          <a:lstStyle/>
          <a:p>
            <a:pPr indent="-336550" lvl="0" marL="457200" rtl="0" algn="just">
              <a:spcBef>
                <a:spcPts val="290"/>
              </a:spcBef>
              <a:spcAft>
                <a:spcPts val="0"/>
              </a:spcAft>
              <a:buSzPts val="1700"/>
              <a:buFont typeface="Times"/>
              <a:buChar char="●"/>
            </a:pPr>
            <a:r>
              <a:rPr b="1" i="1" lang="en-US" sz="1700">
                <a:latin typeface="Times"/>
                <a:ea typeface="Times"/>
                <a:cs typeface="Times"/>
                <a:sym typeface="Times"/>
              </a:rPr>
              <a:t>else</a:t>
            </a:r>
            <a:r>
              <a:rPr b="1" lang="en-US" sz="1700">
                <a:latin typeface="Times"/>
                <a:ea typeface="Times"/>
                <a:cs typeface="Times"/>
                <a:sym typeface="Times"/>
              </a:rPr>
              <a:t> clause: </a:t>
            </a:r>
            <a:r>
              <a:rPr lang="en-US" sz="1800">
                <a:latin typeface="Times"/>
                <a:ea typeface="Times"/>
                <a:cs typeface="Times"/>
                <a:sym typeface="Times"/>
              </a:rPr>
              <a:t>The </a:t>
            </a:r>
            <a:r>
              <a:rPr i="1" lang="en-US" sz="1800">
                <a:latin typeface="Times"/>
                <a:ea typeface="Times"/>
                <a:cs typeface="Times"/>
                <a:sym typeface="Times"/>
              </a:rPr>
              <a:t>else</a:t>
            </a:r>
            <a:r>
              <a:rPr lang="en-US" sz="1800">
                <a:latin typeface="Times"/>
                <a:ea typeface="Times"/>
                <a:cs typeface="Times"/>
                <a:sym typeface="Times"/>
              </a:rPr>
              <a:t> clause after a loop executes only if the loop completes normally (i.e., it isn't terminated by a break statement). The </a:t>
            </a:r>
            <a:r>
              <a:rPr i="1" lang="en-US" sz="1800">
                <a:latin typeface="Times"/>
                <a:ea typeface="Times"/>
                <a:cs typeface="Times"/>
                <a:sym typeface="Times"/>
              </a:rPr>
              <a:t>continue</a:t>
            </a:r>
            <a:r>
              <a:rPr lang="en-US" sz="1800">
                <a:latin typeface="Times"/>
                <a:ea typeface="Times"/>
                <a:cs typeface="Times"/>
                <a:sym typeface="Times"/>
              </a:rPr>
              <a:t> statement does not prevent the else block from executing.</a:t>
            </a:r>
            <a:endParaRPr sz="1800">
              <a:latin typeface="Times"/>
              <a:ea typeface="Times"/>
              <a:cs typeface="Times"/>
              <a:sym typeface="Times"/>
            </a:endParaRPr>
          </a:p>
          <a:p>
            <a:pPr indent="0" lvl="0" marL="0" rtl="0" algn="just">
              <a:spcBef>
                <a:spcPts val="290"/>
              </a:spcBef>
              <a:spcAft>
                <a:spcPts val="0"/>
              </a:spcAft>
              <a:buNone/>
            </a:pPr>
            <a:r>
              <a:rPr lang="en-US" sz="1800">
                <a:latin typeface="Times"/>
                <a:ea typeface="Times"/>
                <a:cs typeface="Times"/>
                <a:sym typeface="Times"/>
              </a:rPr>
              <a:t>Example:</a:t>
            </a:r>
            <a:endParaRPr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for i in range(5):</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if i == 3:</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continue</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else:</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print("Completed normally")</a:t>
            </a:r>
            <a:endParaRPr sz="1700">
              <a:latin typeface="Times"/>
              <a:ea typeface="Times"/>
              <a:cs typeface="Times"/>
              <a:sym typeface="Times"/>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5" name="Shape 805"/>
        <p:cNvGrpSpPr/>
        <p:nvPr/>
      </p:nvGrpSpPr>
      <p:grpSpPr>
        <a:xfrm>
          <a:off x="0" y="0"/>
          <a:ext cx="0" cy="0"/>
          <a:chOff x="0" y="0"/>
          <a:chExt cx="0" cy="0"/>
        </a:xfrm>
      </p:grpSpPr>
      <p:sp>
        <p:nvSpPr>
          <p:cNvPr id="806" name="Google Shape;806;p101"/>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i="1" lang="en-US" sz="3000">
                <a:solidFill>
                  <a:srgbClr val="1C3678"/>
                </a:solidFill>
                <a:latin typeface="Trebuchet MS"/>
                <a:ea typeface="Trebuchet MS"/>
                <a:cs typeface="Trebuchet MS"/>
                <a:sym typeface="Trebuchet MS"/>
              </a:rPr>
              <a:t>pass</a:t>
            </a:r>
            <a:r>
              <a:rPr b="1" lang="en-US" sz="3000">
                <a:solidFill>
                  <a:srgbClr val="1C3678"/>
                </a:solidFill>
                <a:latin typeface="Trebuchet MS"/>
                <a:ea typeface="Trebuchet MS"/>
                <a:cs typeface="Trebuchet MS"/>
                <a:sym typeface="Trebuchet MS"/>
              </a:rPr>
              <a:t> Statement</a:t>
            </a:r>
            <a:endParaRPr b="1" sz="3000">
              <a:solidFill>
                <a:srgbClr val="1C3678"/>
              </a:solidFill>
              <a:latin typeface="Trebuchet MS"/>
              <a:ea typeface="Trebuchet MS"/>
              <a:cs typeface="Trebuchet MS"/>
              <a:sym typeface="Trebuchet MS"/>
            </a:endParaRPr>
          </a:p>
        </p:txBody>
      </p:sp>
      <p:sp>
        <p:nvSpPr>
          <p:cNvPr id="807" name="Google Shape;807;p101"/>
          <p:cNvSpPr txBox="1"/>
          <p:nvPr/>
        </p:nvSpPr>
        <p:spPr>
          <a:xfrm>
            <a:off x="688425" y="793125"/>
            <a:ext cx="8107500" cy="26199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latin typeface="Times"/>
                <a:ea typeface="Times"/>
                <a:cs typeface="Times"/>
                <a:sym typeface="Times"/>
              </a:rPr>
              <a:t>The </a:t>
            </a:r>
            <a:r>
              <a:rPr i="1" lang="en-US" sz="1800">
                <a:latin typeface="Times"/>
                <a:ea typeface="Times"/>
                <a:cs typeface="Times"/>
                <a:sym typeface="Times"/>
              </a:rPr>
              <a:t>pass</a:t>
            </a:r>
            <a:r>
              <a:rPr lang="en-US" sz="1800">
                <a:latin typeface="Times"/>
                <a:ea typeface="Times"/>
                <a:cs typeface="Times"/>
                <a:sym typeface="Times"/>
              </a:rPr>
              <a:t> statement in Python is a placeholder used when a statement is required syntactically but no code needs to be executed. </a:t>
            </a:r>
            <a:endParaRPr sz="1800">
              <a:latin typeface="Times"/>
              <a:ea typeface="Times"/>
              <a:cs typeface="Times"/>
              <a:sym typeface="Times"/>
            </a:endParaRPr>
          </a:p>
          <a:p>
            <a:pPr indent="-342900" lvl="0" marL="457200" rtl="0" algn="just">
              <a:spcBef>
                <a:spcPts val="0"/>
              </a:spcBef>
              <a:spcAft>
                <a:spcPts val="0"/>
              </a:spcAft>
              <a:buSzPts val="1800"/>
              <a:buFont typeface="Times"/>
              <a:buChar char="●"/>
            </a:pPr>
            <a:r>
              <a:rPr lang="en-US" sz="1800">
                <a:latin typeface="Times"/>
                <a:ea typeface="Times"/>
                <a:cs typeface="Times"/>
                <a:sym typeface="Times"/>
              </a:rPr>
              <a:t>It is essentially a "do nothing" statement and can be useful when writing code that is yet to be implemented or as a placeholder in control structures.</a:t>
            </a:r>
            <a:endParaRPr sz="1800">
              <a:latin typeface="Times"/>
              <a:ea typeface="Times"/>
              <a:cs typeface="Times"/>
              <a:sym typeface="Times"/>
            </a:endParaRPr>
          </a:p>
          <a:p>
            <a:pPr indent="-342900" lvl="0" marL="457200" rtl="0" algn="just">
              <a:spcBef>
                <a:spcPts val="0"/>
              </a:spcBef>
              <a:spcAft>
                <a:spcPts val="0"/>
              </a:spcAft>
              <a:buSzPts val="1800"/>
              <a:buFont typeface="Times"/>
              <a:buChar char="●"/>
            </a:pPr>
            <a:r>
              <a:rPr lang="en-US" sz="1800">
                <a:latin typeface="Times"/>
                <a:ea typeface="Times"/>
                <a:cs typeface="Times"/>
                <a:sym typeface="Times"/>
              </a:rPr>
              <a:t>Using </a:t>
            </a:r>
            <a:r>
              <a:rPr i="1" lang="en-US" sz="1800">
                <a:latin typeface="Times"/>
                <a:ea typeface="Times"/>
                <a:cs typeface="Times"/>
                <a:sym typeface="Times"/>
              </a:rPr>
              <a:t>pass</a:t>
            </a:r>
            <a:r>
              <a:rPr lang="en-US" sz="1800">
                <a:latin typeface="Times"/>
                <a:ea typeface="Times"/>
                <a:cs typeface="Times"/>
                <a:sym typeface="Times"/>
              </a:rPr>
              <a:t>:</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Inside a Loop or Conditional</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Function Usage</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Class Definition</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Exception Handling</a:t>
            </a:r>
            <a:endParaRPr sz="1800">
              <a:latin typeface="Times"/>
              <a:ea typeface="Times"/>
              <a:cs typeface="Times"/>
              <a:sym typeface="Times"/>
            </a:endParaRPr>
          </a:p>
        </p:txBody>
      </p:sp>
      <p:sp>
        <p:nvSpPr>
          <p:cNvPr id="808" name="Google Shape;808;p10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3" name="Shape 813"/>
        <p:cNvGrpSpPr/>
        <p:nvPr/>
      </p:nvGrpSpPr>
      <p:grpSpPr>
        <a:xfrm>
          <a:off x="0" y="0"/>
          <a:ext cx="0" cy="0"/>
          <a:chOff x="0" y="0"/>
          <a:chExt cx="0" cy="0"/>
        </a:xfrm>
      </p:grpSpPr>
      <p:sp>
        <p:nvSpPr>
          <p:cNvPr id="814" name="Google Shape;814;p102"/>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0" rtl="0" algn="l">
              <a:spcBef>
                <a:spcPts val="0"/>
              </a:spcBef>
              <a:spcAft>
                <a:spcPts val="0"/>
              </a:spcAft>
              <a:buNone/>
            </a:pPr>
            <a:r>
              <a:rPr b="1" i="1" lang="en-US" sz="3000">
                <a:solidFill>
                  <a:srgbClr val="1C3678"/>
                </a:solidFill>
                <a:latin typeface="Trebuchet MS"/>
                <a:ea typeface="Trebuchet MS"/>
                <a:cs typeface="Trebuchet MS"/>
                <a:sym typeface="Trebuchet MS"/>
              </a:rPr>
              <a:t>pass</a:t>
            </a:r>
            <a:r>
              <a:rPr b="1" lang="en-US" sz="3000">
                <a:solidFill>
                  <a:srgbClr val="1C3678"/>
                </a:solidFill>
                <a:latin typeface="Trebuchet MS"/>
                <a:ea typeface="Trebuchet MS"/>
                <a:cs typeface="Trebuchet MS"/>
                <a:sym typeface="Trebuchet MS"/>
              </a:rPr>
              <a:t> Statement</a:t>
            </a:r>
            <a:endParaRPr b="1" sz="3000">
              <a:solidFill>
                <a:srgbClr val="1C3678"/>
              </a:solidFill>
              <a:latin typeface="Trebuchet MS"/>
              <a:ea typeface="Trebuchet MS"/>
              <a:cs typeface="Trebuchet MS"/>
              <a:sym typeface="Trebuchet MS"/>
            </a:endParaRPr>
          </a:p>
        </p:txBody>
      </p:sp>
      <p:sp>
        <p:nvSpPr>
          <p:cNvPr id="815" name="Google Shape;815;p102"/>
          <p:cNvSpPr txBox="1"/>
          <p:nvPr/>
        </p:nvSpPr>
        <p:spPr>
          <a:xfrm>
            <a:off x="688425" y="793125"/>
            <a:ext cx="4785900" cy="4269300"/>
          </a:xfrm>
          <a:prstGeom prst="rect">
            <a:avLst/>
          </a:prstGeom>
          <a:noFill/>
          <a:ln cap="flat" cmpd="sng" w="9525">
            <a:solidFill>
              <a:srgbClr val="25265E"/>
            </a:solidFill>
            <a:prstDash val="solid"/>
            <a:round/>
            <a:headEnd len="sm" w="sm" type="none"/>
            <a:tailEnd len="sm" w="sm" type="none"/>
          </a:ln>
        </p:spPr>
        <p:txBody>
          <a:bodyPr anchorCtr="0" anchor="t" bIns="0" lIns="0" spcFirstLastPara="1" rIns="0" wrap="square" tIns="125075">
            <a:spAutoFit/>
          </a:bodyPr>
          <a:lstStyle/>
          <a:p>
            <a:pPr indent="-336550" lvl="0" marL="457200" rtl="0" algn="just">
              <a:spcBef>
                <a:spcPts val="290"/>
              </a:spcBef>
              <a:spcAft>
                <a:spcPts val="0"/>
              </a:spcAft>
              <a:buSzPts val="1700"/>
              <a:buFont typeface="Times"/>
              <a:buChar char="●"/>
            </a:pPr>
            <a:r>
              <a:rPr b="1" lang="en-US" sz="1700">
                <a:latin typeface="Times"/>
                <a:ea typeface="Times"/>
                <a:cs typeface="Times"/>
                <a:sym typeface="Times"/>
              </a:rPr>
              <a:t>Inside a Loop or Conditional:</a:t>
            </a:r>
            <a:r>
              <a:rPr lang="en-US" sz="1700">
                <a:latin typeface="Times"/>
                <a:ea typeface="Times"/>
                <a:cs typeface="Times"/>
                <a:sym typeface="Times"/>
              </a:rPr>
              <a:t> </a:t>
            </a:r>
            <a:r>
              <a:rPr i="1" lang="en-US" sz="1700">
                <a:latin typeface="Times"/>
                <a:ea typeface="Times"/>
                <a:cs typeface="Times"/>
                <a:sym typeface="Times"/>
              </a:rPr>
              <a:t>pass</a:t>
            </a:r>
            <a:r>
              <a:rPr lang="en-US" sz="1700">
                <a:latin typeface="Times"/>
                <a:ea typeface="Times"/>
                <a:cs typeface="Times"/>
                <a:sym typeface="Times"/>
              </a:rPr>
              <a:t> can be used inside loops or conditional statements when you don't want to perform any action but need to fulfill the syntactical requirement of having a statement</a:t>
            </a:r>
            <a:r>
              <a:rPr lang="en-US" sz="1700">
                <a:latin typeface="Times"/>
                <a:ea typeface="Times"/>
                <a:cs typeface="Times"/>
                <a:sym typeface="Times"/>
              </a:rPr>
              <a:t>.</a:t>
            </a:r>
            <a:endParaRPr sz="1700">
              <a:latin typeface="Times"/>
              <a:ea typeface="Times"/>
              <a:cs typeface="Times"/>
              <a:sym typeface="Times"/>
            </a:endParaRPr>
          </a:p>
          <a:p>
            <a:pPr indent="0" lvl="0" marL="0" rtl="0" algn="just">
              <a:spcBef>
                <a:spcPts val="290"/>
              </a:spcBef>
              <a:spcAft>
                <a:spcPts val="0"/>
              </a:spcAft>
              <a:buNone/>
            </a:pPr>
            <a:r>
              <a:rPr lang="en-US" sz="1600">
                <a:latin typeface="Times"/>
                <a:ea typeface="Times"/>
                <a:cs typeface="Times"/>
                <a:sym typeface="Times"/>
              </a:rPr>
              <a:t>Example 1:</a:t>
            </a:r>
            <a:endParaRPr sz="16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for letter in 'abc':</a:t>
            </a:r>
            <a:endParaRPr i="1" sz="16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    pass </a:t>
            </a:r>
            <a:endParaRPr i="1" sz="16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print("End of for loop")</a:t>
            </a:r>
            <a:endParaRPr sz="1600">
              <a:latin typeface="Times"/>
              <a:ea typeface="Times"/>
              <a:cs typeface="Times"/>
              <a:sym typeface="Times"/>
            </a:endParaRPr>
          </a:p>
          <a:p>
            <a:pPr indent="0" lvl="0" marL="0" rtl="0" algn="just">
              <a:spcBef>
                <a:spcPts val="290"/>
              </a:spcBef>
              <a:spcAft>
                <a:spcPts val="0"/>
              </a:spcAft>
              <a:buNone/>
            </a:pPr>
            <a:r>
              <a:rPr lang="en-US" sz="1600">
                <a:latin typeface="Times"/>
                <a:ea typeface="Times"/>
                <a:cs typeface="Times"/>
                <a:sym typeface="Times"/>
              </a:rPr>
              <a:t>Example 2:</a:t>
            </a:r>
            <a:endParaRPr i="1" sz="16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x = 5</a:t>
            </a:r>
            <a:endParaRPr i="1" sz="16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if x &gt; 0:</a:t>
            </a:r>
            <a:endParaRPr i="1" sz="16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    pass</a:t>
            </a:r>
            <a:endParaRPr i="1" sz="16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else:</a:t>
            </a:r>
            <a:endParaRPr i="1" sz="16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    print("x is not positive")</a:t>
            </a:r>
            <a:endParaRPr i="1" sz="1600">
              <a:latin typeface="Times"/>
              <a:ea typeface="Times"/>
              <a:cs typeface="Times"/>
              <a:sym typeface="Times"/>
            </a:endParaRPr>
          </a:p>
        </p:txBody>
      </p:sp>
      <p:sp>
        <p:nvSpPr>
          <p:cNvPr id="816" name="Google Shape;816;p10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817" name="Google Shape;817;p102"/>
          <p:cNvSpPr txBox="1"/>
          <p:nvPr/>
        </p:nvSpPr>
        <p:spPr>
          <a:xfrm>
            <a:off x="5517575" y="793125"/>
            <a:ext cx="3278400" cy="39141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b="1" lang="en-US" sz="1800">
                <a:latin typeface="Times"/>
                <a:ea typeface="Times"/>
                <a:cs typeface="Times"/>
                <a:sym typeface="Times"/>
              </a:rPr>
              <a:t>Function Usage:</a:t>
            </a:r>
            <a:r>
              <a:rPr lang="en-US" sz="1800">
                <a:latin typeface="Times"/>
                <a:ea typeface="Times"/>
                <a:cs typeface="Times"/>
                <a:sym typeface="Times"/>
              </a:rPr>
              <a:t> When defining a function that you haven't yet implemented, you can use </a:t>
            </a:r>
            <a:r>
              <a:rPr i="1" lang="en-US" sz="1800">
                <a:latin typeface="Times"/>
                <a:ea typeface="Times"/>
                <a:cs typeface="Times"/>
                <a:sym typeface="Times"/>
              </a:rPr>
              <a:t>pass</a:t>
            </a:r>
            <a:r>
              <a:rPr lang="en-US" sz="1800">
                <a:latin typeface="Times"/>
                <a:ea typeface="Times"/>
                <a:cs typeface="Times"/>
                <a:sym typeface="Times"/>
              </a:rPr>
              <a:t> to create the function without any code inside it.</a:t>
            </a:r>
            <a:endParaRPr sz="1800">
              <a:latin typeface="Times"/>
              <a:ea typeface="Times"/>
              <a:cs typeface="Times"/>
              <a:sym typeface="Times"/>
            </a:endParaRPr>
          </a:p>
          <a:p>
            <a:pPr indent="0" lvl="0" marL="0" rtl="0" algn="just">
              <a:spcBef>
                <a:spcPts val="290"/>
              </a:spcBef>
              <a:spcAft>
                <a:spcPts val="0"/>
              </a:spcAft>
              <a:buNone/>
            </a:pPr>
            <a:r>
              <a:rPr lang="en-US" sz="1800">
                <a:latin typeface="Times"/>
                <a:ea typeface="Times"/>
                <a:cs typeface="Times"/>
                <a:sym typeface="Times"/>
              </a:rPr>
              <a:t>Example:</a:t>
            </a:r>
            <a:endParaRPr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def my_function():</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pass</a:t>
            </a:r>
            <a:endParaRPr i="1" sz="1800">
              <a:latin typeface="Times"/>
              <a:ea typeface="Times"/>
              <a:cs typeface="Times"/>
              <a:sym typeface="Times"/>
            </a:endParaRPr>
          </a:p>
          <a:p>
            <a:pPr indent="0" lvl="0" marL="0" rtl="0" algn="just">
              <a:spcBef>
                <a:spcPts val="290"/>
              </a:spcBef>
              <a:spcAft>
                <a:spcPts val="0"/>
              </a:spcAft>
              <a:buNone/>
            </a:pPr>
            <a:r>
              <a:t/>
            </a:r>
            <a:endParaRPr sz="1800">
              <a:latin typeface="Times"/>
              <a:ea typeface="Times"/>
              <a:cs typeface="Times"/>
              <a:sym typeface="Times"/>
            </a:endParaRPr>
          </a:p>
          <a:p>
            <a:pPr indent="0" lvl="0" marL="0" rtl="0" algn="just">
              <a:spcBef>
                <a:spcPts val="290"/>
              </a:spcBef>
              <a:spcAft>
                <a:spcPts val="0"/>
              </a:spcAft>
              <a:buNone/>
            </a:pPr>
            <a:r>
              <a:rPr lang="en-US" sz="1800">
                <a:latin typeface="Times"/>
                <a:ea typeface="Times"/>
                <a:cs typeface="Times"/>
                <a:sym typeface="Times"/>
              </a:rPr>
              <a:t>Using </a:t>
            </a:r>
            <a:r>
              <a:rPr i="1" lang="en-US" sz="1800">
                <a:latin typeface="Times"/>
                <a:ea typeface="Times"/>
                <a:cs typeface="Times"/>
                <a:sym typeface="Times"/>
              </a:rPr>
              <a:t>pass</a:t>
            </a:r>
            <a:r>
              <a:rPr lang="en-US" sz="1800">
                <a:latin typeface="Times"/>
                <a:ea typeface="Times"/>
                <a:cs typeface="Times"/>
                <a:sym typeface="Times"/>
              </a:rPr>
              <a:t> in this way allows the function to be defined without raising a syntax error.</a:t>
            </a:r>
            <a:endParaRPr sz="1800">
              <a:latin typeface="Times"/>
              <a:ea typeface="Times"/>
              <a:cs typeface="Times"/>
              <a:sym typeface="Times"/>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2" name="Shape 822"/>
        <p:cNvGrpSpPr/>
        <p:nvPr/>
      </p:nvGrpSpPr>
      <p:grpSpPr>
        <a:xfrm>
          <a:off x="0" y="0"/>
          <a:ext cx="0" cy="0"/>
          <a:chOff x="0" y="0"/>
          <a:chExt cx="0" cy="0"/>
        </a:xfrm>
      </p:grpSpPr>
      <p:sp>
        <p:nvSpPr>
          <p:cNvPr id="823" name="Google Shape;823;p103"/>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0" rtl="0" algn="l">
              <a:spcBef>
                <a:spcPts val="0"/>
              </a:spcBef>
              <a:spcAft>
                <a:spcPts val="0"/>
              </a:spcAft>
              <a:buNone/>
            </a:pPr>
            <a:r>
              <a:rPr b="1" i="1" lang="en-US" sz="3000">
                <a:solidFill>
                  <a:srgbClr val="1C3678"/>
                </a:solidFill>
                <a:latin typeface="Trebuchet MS"/>
                <a:ea typeface="Trebuchet MS"/>
                <a:cs typeface="Trebuchet MS"/>
                <a:sym typeface="Trebuchet MS"/>
              </a:rPr>
              <a:t>pass</a:t>
            </a:r>
            <a:r>
              <a:rPr b="1" lang="en-US" sz="3000">
                <a:solidFill>
                  <a:srgbClr val="1C3678"/>
                </a:solidFill>
                <a:latin typeface="Trebuchet MS"/>
                <a:ea typeface="Trebuchet MS"/>
                <a:cs typeface="Trebuchet MS"/>
                <a:sym typeface="Trebuchet MS"/>
              </a:rPr>
              <a:t> Statement</a:t>
            </a:r>
            <a:endParaRPr b="1" sz="3000">
              <a:solidFill>
                <a:srgbClr val="1C3678"/>
              </a:solidFill>
              <a:latin typeface="Trebuchet MS"/>
              <a:ea typeface="Trebuchet MS"/>
              <a:cs typeface="Trebuchet MS"/>
              <a:sym typeface="Trebuchet MS"/>
            </a:endParaRPr>
          </a:p>
        </p:txBody>
      </p:sp>
      <p:sp>
        <p:nvSpPr>
          <p:cNvPr id="824" name="Google Shape;824;p103"/>
          <p:cNvSpPr txBox="1"/>
          <p:nvPr/>
        </p:nvSpPr>
        <p:spPr>
          <a:xfrm>
            <a:off x="688425" y="793125"/>
            <a:ext cx="3872400" cy="2012400"/>
          </a:xfrm>
          <a:prstGeom prst="rect">
            <a:avLst/>
          </a:prstGeom>
          <a:noFill/>
          <a:ln cap="flat" cmpd="sng" w="9525">
            <a:solidFill>
              <a:srgbClr val="2D2D2D"/>
            </a:solidFill>
            <a:prstDash val="solid"/>
            <a:round/>
            <a:headEnd len="sm" w="sm" type="none"/>
            <a:tailEnd len="sm" w="sm" type="none"/>
          </a:ln>
        </p:spPr>
        <p:txBody>
          <a:bodyPr anchorCtr="0" anchor="t" bIns="0" lIns="0" spcFirstLastPara="1" rIns="0" wrap="square" tIns="125075">
            <a:noAutofit/>
          </a:bodyPr>
          <a:lstStyle/>
          <a:p>
            <a:pPr indent="-342900" lvl="0" marL="457200" rtl="0" algn="just">
              <a:spcBef>
                <a:spcPts val="290"/>
              </a:spcBef>
              <a:spcAft>
                <a:spcPts val="0"/>
              </a:spcAft>
              <a:buSzPts val="1800"/>
              <a:buFont typeface="Times"/>
              <a:buChar char="●"/>
            </a:pPr>
            <a:r>
              <a:rPr b="1" lang="en-US" sz="1800">
                <a:latin typeface="Times"/>
                <a:ea typeface="Times"/>
                <a:cs typeface="Times"/>
                <a:sym typeface="Times"/>
              </a:rPr>
              <a:t>Class Definition:</a:t>
            </a:r>
            <a:r>
              <a:rPr lang="en-US" sz="1800">
                <a:latin typeface="Times"/>
                <a:ea typeface="Times"/>
                <a:cs typeface="Times"/>
                <a:sym typeface="Times"/>
              </a:rPr>
              <a:t> </a:t>
            </a:r>
            <a:r>
              <a:rPr i="1" lang="en-US" sz="1800">
                <a:latin typeface="Times"/>
                <a:ea typeface="Times"/>
                <a:cs typeface="Times"/>
                <a:sym typeface="Times"/>
              </a:rPr>
              <a:t>pass</a:t>
            </a:r>
            <a:r>
              <a:rPr lang="en-US" sz="1800">
                <a:latin typeface="Times"/>
                <a:ea typeface="Times"/>
                <a:cs typeface="Times"/>
                <a:sym typeface="Times"/>
              </a:rPr>
              <a:t> can be used when you want to define a minimal class without methods or attributes</a:t>
            </a:r>
            <a:r>
              <a:rPr lang="en-US" sz="1800">
                <a:latin typeface="Times"/>
                <a:ea typeface="Times"/>
                <a:cs typeface="Times"/>
                <a:sym typeface="Times"/>
              </a:rPr>
              <a:t>.</a:t>
            </a:r>
            <a:endParaRPr sz="1800">
              <a:latin typeface="Times"/>
              <a:ea typeface="Times"/>
              <a:cs typeface="Times"/>
              <a:sym typeface="Times"/>
            </a:endParaRPr>
          </a:p>
          <a:p>
            <a:pPr indent="0" lvl="0" marL="0" rtl="0" algn="just">
              <a:spcBef>
                <a:spcPts val="290"/>
              </a:spcBef>
              <a:spcAft>
                <a:spcPts val="0"/>
              </a:spcAft>
              <a:buNone/>
            </a:pPr>
            <a:r>
              <a:rPr lang="en-US" sz="1800">
                <a:latin typeface="Times"/>
                <a:ea typeface="Times"/>
                <a:cs typeface="Times"/>
                <a:sym typeface="Times"/>
              </a:rPr>
              <a:t>Example:</a:t>
            </a:r>
            <a:endParaRPr sz="18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class EmptyClass:</a:t>
            </a:r>
            <a:endParaRPr i="1" sz="16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    pass</a:t>
            </a:r>
            <a:endParaRPr i="1" sz="1600">
              <a:latin typeface="Times"/>
              <a:ea typeface="Times"/>
              <a:cs typeface="Times"/>
              <a:sym typeface="Times"/>
            </a:endParaRPr>
          </a:p>
          <a:p>
            <a:pPr indent="0" lvl="0" marL="914400" rtl="0" algn="just">
              <a:spcBef>
                <a:spcPts val="290"/>
              </a:spcBef>
              <a:spcAft>
                <a:spcPts val="0"/>
              </a:spcAft>
              <a:buNone/>
            </a:pPr>
            <a:r>
              <a:t/>
            </a:r>
            <a:endParaRPr sz="1800">
              <a:latin typeface="Times"/>
              <a:ea typeface="Times"/>
              <a:cs typeface="Times"/>
              <a:sym typeface="Times"/>
            </a:endParaRPr>
          </a:p>
        </p:txBody>
      </p:sp>
      <p:sp>
        <p:nvSpPr>
          <p:cNvPr id="825" name="Google Shape;825;p10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826" name="Google Shape;826;p103"/>
          <p:cNvSpPr txBox="1"/>
          <p:nvPr/>
        </p:nvSpPr>
        <p:spPr>
          <a:xfrm>
            <a:off x="4668725" y="812900"/>
            <a:ext cx="4028400" cy="2812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spcBef>
                <a:spcPts val="290"/>
              </a:spcBef>
              <a:spcAft>
                <a:spcPts val="0"/>
              </a:spcAft>
              <a:buSzPts val="1800"/>
              <a:buFont typeface="Times"/>
              <a:buChar char="●"/>
            </a:pPr>
            <a:r>
              <a:rPr b="1" lang="en-US" sz="1800">
                <a:latin typeface="Times"/>
                <a:ea typeface="Times"/>
                <a:cs typeface="Times"/>
                <a:sym typeface="Times"/>
              </a:rPr>
              <a:t>Exception Handling: </a:t>
            </a:r>
            <a:r>
              <a:rPr i="1" lang="en-US" sz="1800">
                <a:latin typeface="Times"/>
                <a:ea typeface="Times"/>
                <a:cs typeface="Times"/>
                <a:sym typeface="Times"/>
              </a:rPr>
              <a:t>pass</a:t>
            </a:r>
            <a:r>
              <a:rPr lang="en-US" sz="1800">
                <a:latin typeface="Times"/>
                <a:ea typeface="Times"/>
                <a:cs typeface="Times"/>
                <a:sym typeface="Times"/>
              </a:rPr>
              <a:t> can also be used in try...except blocks where you don't want to take any action for a particular exception.</a:t>
            </a:r>
            <a:endParaRPr sz="1800">
              <a:latin typeface="Times"/>
              <a:ea typeface="Times"/>
              <a:cs typeface="Times"/>
              <a:sym typeface="Times"/>
            </a:endParaRPr>
          </a:p>
          <a:p>
            <a:pPr indent="0" lvl="0" marL="0" rtl="0" algn="just">
              <a:spcBef>
                <a:spcPts val="290"/>
              </a:spcBef>
              <a:spcAft>
                <a:spcPts val="0"/>
              </a:spcAft>
              <a:buNone/>
            </a:pPr>
            <a:r>
              <a:rPr lang="en-US" sz="1800">
                <a:latin typeface="Times"/>
                <a:ea typeface="Times"/>
                <a:cs typeface="Times"/>
                <a:sym typeface="Times"/>
              </a:rPr>
              <a:t>Example:</a:t>
            </a:r>
            <a:endParaRPr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try:</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1 / 0</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except ZeroDivisionError:</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pass</a:t>
            </a:r>
            <a:endParaRPr sz="1800">
              <a:solidFill>
                <a:schemeClr val="dk2"/>
              </a:solidFill>
              <a:latin typeface="Times"/>
              <a:ea typeface="Times"/>
              <a:cs typeface="Times"/>
              <a:sym typeface="Times"/>
            </a:endParaRPr>
          </a:p>
        </p:txBody>
      </p:sp>
      <p:sp>
        <p:nvSpPr>
          <p:cNvPr id="827" name="Google Shape;827;p103"/>
          <p:cNvSpPr txBox="1"/>
          <p:nvPr/>
        </p:nvSpPr>
        <p:spPr>
          <a:xfrm>
            <a:off x="661825" y="3819850"/>
            <a:ext cx="8035200" cy="1129500"/>
          </a:xfrm>
          <a:prstGeom prst="rect">
            <a:avLst/>
          </a:prstGeom>
          <a:solidFill>
            <a:schemeClr val="accent5"/>
          </a:solidFill>
          <a:ln>
            <a:noFill/>
          </a:ln>
        </p:spPr>
        <p:txBody>
          <a:bodyPr anchorCtr="0" anchor="t" bIns="91425" lIns="91425" spcFirstLastPara="1" rIns="91425" wrap="square" tIns="91425">
            <a:noAutofit/>
          </a:bodyPr>
          <a:lstStyle/>
          <a:p>
            <a:pPr indent="-330200" lvl="0" marL="457200" rtl="0" algn="just">
              <a:spcBef>
                <a:spcPts val="290"/>
              </a:spcBef>
              <a:spcAft>
                <a:spcPts val="0"/>
              </a:spcAft>
              <a:buSzPts val="1600"/>
              <a:buFont typeface="Times"/>
              <a:buChar char="●"/>
            </a:pPr>
            <a:r>
              <a:rPr i="1" lang="en-US" sz="1600">
                <a:latin typeface="Times"/>
                <a:ea typeface="Times"/>
                <a:cs typeface="Times"/>
                <a:sym typeface="Times"/>
              </a:rPr>
              <a:t>pass</a:t>
            </a:r>
            <a:r>
              <a:rPr lang="en-US" sz="1600">
                <a:latin typeface="Times"/>
                <a:ea typeface="Times"/>
                <a:cs typeface="Times"/>
                <a:sym typeface="Times"/>
              </a:rPr>
              <a:t> is a null operation - it does nothing when executed.</a:t>
            </a:r>
            <a:endParaRPr sz="1600">
              <a:latin typeface="Times"/>
              <a:ea typeface="Times"/>
              <a:cs typeface="Times"/>
              <a:sym typeface="Times"/>
            </a:endParaRPr>
          </a:p>
          <a:p>
            <a:pPr indent="-330200" lvl="0" marL="457200" rtl="0" algn="just">
              <a:spcBef>
                <a:spcPts val="0"/>
              </a:spcBef>
              <a:spcAft>
                <a:spcPts val="0"/>
              </a:spcAft>
              <a:buSzPts val="1600"/>
              <a:buFont typeface="Times"/>
              <a:buChar char="●"/>
            </a:pPr>
            <a:r>
              <a:rPr lang="en-US" sz="1600">
                <a:latin typeface="Times"/>
                <a:ea typeface="Times"/>
                <a:cs typeface="Times"/>
                <a:sym typeface="Times"/>
              </a:rPr>
              <a:t>It is often used as a placeholder for code that will be written in the future.</a:t>
            </a:r>
            <a:endParaRPr sz="1600">
              <a:latin typeface="Times"/>
              <a:ea typeface="Times"/>
              <a:cs typeface="Times"/>
              <a:sym typeface="Times"/>
            </a:endParaRPr>
          </a:p>
          <a:p>
            <a:pPr indent="-330200" lvl="0" marL="457200" rtl="0" algn="just">
              <a:spcBef>
                <a:spcPts val="0"/>
              </a:spcBef>
              <a:spcAft>
                <a:spcPts val="0"/>
              </a:spcAft>
              <a:buSzPts val="1600"/>
              <a:buFont typeface="Times"/>
              <a:buChar char="●"/>
            </a:pPr>
            <a:r>
              <a:rPr lang="en-US" sz="1600">
                <a:latin typeface="Times"/>
                <a:ea typeface="Times"/>
                <a:cs typeface="Times"/>
                <a:sym typeface="Times"/>
              </a:rPr>
              <a:t>Useful in loops, conditionals, function definitions, class definitions, and exception handling where no action is needed but a statement is required syntactically.</a:t>
            </a:r>
            <a:endParaRPr sz="1600">
              <a:solidFill>
                <a:schemeClr val="dk2"/>
              </a:solidFill>
              <a:latin typeface="Times"/>
              <a:ea typeface="Times"/>
              <a:cs typeface="Times"/>
              <a:sym typeface="Times"/>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2" name="Shape 832"/>
        <p:cNvGrpSpPr/>
        <p:nvPr/>
      </p:nvGrpSpPr>
      <p:grpSpPr>
        <a:xfrm>
          <a:off x="0" y="0"/>
          <a:ext cx="0" cy="0"/>
          <a:chOff x="0" y="0"/>
          <a:chExt cx="0" cy="0"/>
        </a:xfrm>
      </p:grpSpPr>
      <p:sp>
        <p:nvSpPr>
          <p:cNvPr id="833" name="Google Shape;833;p104"/>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Functions in Python</a:t>
            </a:r>
            <a:endParaRPr b="1" sz="3000">
              <a:solidFill>
                <a:srgbClr val="1C3678"/>
              </a:solidFill>
              <a:latin typeface="Trebuchet MS"/>
              <a:ea typeface="Trebuchet MS"/>
              <a:cs typeface="Trebuchet MS"/>
              <a:sym typeface="Trebuchet MS"/>
            </a:endParaRPr>
          </a:p>
        </p:txBody>
      </p:sp>
      <p:sp>
        <p:nvSpPr>
          <p:cNvPr id="834" name="Google Shape;834;p104"/>
          <p:cNvSpPr txBox="1"/>
          <p:nvPr/>
        </p:nvSpPr>
        <p:spPr>
          <a:xfrm>
            <a:off x="688425" y="793125"/>
            <a:ext cx="8107500" cy="41313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290"/>
              </a:spcBef>
              <a:spcAft>
                <a:spcPts val="0"/>
              </a:spcAft>
              <a:buSzPts val="1800"/>
              <a:buFont typeface="Times"/>
              <a:buChar char="●"/>
            </a:pPr>
            <a:r>
              <a:rPr lang="en-US" sz="1800">
                <a:latin typeface="Times"/>
                <a:ea typeface="Times"/>
                <a:cs typeface="Times"/>
                <a:sym typeface="Times"/>
              </a:rPr>
              <a:t>Creating a Function in Python</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We can define a function in Python, using the def keyword. We can add any type of functionalities and properties to it as we require. </a:t>
            </a:r>
            <a:endParaRPr sz="1800">
              <a:latin typeface="Times"/>
              <a:ea typeface="Times"/>
              <a:cs typeface="Times"/>
              <a:sym typeface="Times"/>
            </a:endParaRPr>
          </a:p>
          <a:p>
            <a:pPr indent="0" lvl="0" marL="914400" rtl="0" algn="just">
              <a:lnSpc>
                <a:spcPct val="115000"/>
              </a:lnSpc>
              <a:spcBef>
                <a:spcPts val="290"/>
              </a:spcBef>
              <a:spcAft>
                <a:spcPts val="0"/>
              </a:spcAft>
              <a:buNone/>
            </a:pPr>
            <a:r>
              <a:rPr i="1" lang="en-US" sz="1800">
                <a:latin typeface="Times"/>
                <a:ea typeface="Times"/>
                <a:cs typeface="Times"/>
                <a:sym typeface="Times"/>
              </a:rPr>
              <a:t># A simple Python function</a:t>
            </a:r>
            <a:endParaRPr i="1" sz="1800">
              <a:latin typeface="Times"/>
              <a:ea typeface="Times"/>
              <a:cs typeface="Times"/>
              <a:sym typeface="Times"/>
            </a:endParaRPr>
          </a:p>
          <a:p>
            <a:pPr indent="0" lvl="0" marL="914400" rtl="0" algn="just">
              <a:lnSpc>
                <a:spcPct val="115000"/>
              </a:lnSpc>
              <a:spcBef>
                <a:spcPts val="290"/>
              </a:spcBef>
              <a:spcAft>
                <a:spcPts val="0"/>
              </a:spcAft>
              <a:buNone/>
            </a:pPr>
            <a:r>
              <a:rPr i="1" lang="en-US" sz="1800">
                <a:latin typeface="Times"/>
                <a:ea typeface="Times"/>
                <a:cs typeface="Times"/>
                <a:sym typeface="Times"/>
              </a:rPr>
              <a:t>def fun():</a:t>
            </a:r>
            <a:endParaRPr i="1" sz="1800">
              <a:latin typeface="Times"/>
              <a:ea typeface="Times"/>
              <a:cs typeface="Times"/>
              <a:sym typeface="Times"/>
            </a:endParaRPr>
          </a:p>
          <a:p>
            <a:pPr indent="0" lvl="0" marL="914400" rtl="0" algn="just">
              <a:lnSpc>
                <a:spcPct val="115000"/>
              </a:lnSpc>
              <a:spcBef>
                <a:spcPts val="290"/>
              </a:spcBef>
              <a:spcAft>
                <a:spcPts val="0"/>
              </a:spcAft>
              <a:buNone/>
            </a:pPr>
            <a:r>
              <a:rPr i="1" lang="en-US" sz="1800">
                <a:latin typeface="Times"/>
                <a:ea typeface="Times"/>
                <a:cs typeface="Times"/>
                <a:sym typeface="Times"/>
              </a:rPr>
              <a:t>    print("Welcome to ME-Computer Class")</a:t>
            </a:r>
            <a:endParaRPr i="1" sz="1800">
              <a:latin typeface="Times"/>
              <a:ea typeface="Times"/>
              <a:cs typeface="Times"/>
              <a:sym typeface="Times"/>
            </a:endParaRPr>
          </a:p>
          <a:p>
            <a:pPr indent="-342900" lvl="0" marL="457200" rtl="0" algn="just">
              <a:lnSpc>
                <a:spcPct val="115000"/>
              </a:lnSpc>
              <a:spcBef>
                <a:spcPts val="290"/>
              </a:spcBef>
              <a:spcAft>
                <a:spcPts val="0"/>
              </a:spcAft>
              <a:buSzPts val="1800"/>
              <a:buFont typeface="Times"/>
              <a:buChar char="●"/>
            </a:pPr>
            <a:r>
              <a:rPr lang="en-US" sz="1800">
                <a:latin typeface="Times"/>
                <a:ea typeface="Times"/>
                <a:cs typeface="Times"/>
                <a:sym typeface="Times"/>
              </a:rPr>
              <a:t>Calling a Function in Python</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After creating a function in Python we can call it by using the name of the functions Python followed by parenthesis containing parameters of that particular function</a:t>
            </a:r>
            <a:r>
              <a:rPr lang="en-US" sz="1800">
                <a:latin typeface="Times"/>
                <a:ea typeface="Times"/>
                <a:cs typeface="Times"/>
                <a:sym typeface="Times"/>
              </a:rPr>
              <a:t>.</a:t>
            </a:r>
            <a:endParaRPr sz="1800">
              <a:latin typeface="Times"/>
              <a:ea typeface="Times"/>
              <a:cs typeface="Times"/>
              <a:sym typeface="Times"/>
            </a:endParaRPr>
          </a:p>
          <a:p>
            <a:pPr indent="0" lvl="0" marL="914400" rtl="0" algn="just">
              <a:lnSpc>
                <a:spcPct val="115000"/>
              </a:lnSpc>
              <a:spcBef>
                <a:spcPts val="290"/>
              </a:spcBef>
              <a:spcAft>
                <a:spcPts val="0"/>
              </a:spcAft>
              <a:buNone/>
            </a:pPr>
            <a:r>
              <a:rPr i="1" lang="en-US" sz="1800">
                <a:latin typeface="Times"/>
                <a:ea typeface="Times"/>
                <a:cs typeface="Times"/>
                <a:sym typeface="Times"/>
              </a:rPr>
              <a:t># Driver code to cal</a:t>
            </a:r>
            <a:r>
              <a:rPr i="1" lang="en-US" sz="1800">
                <a:latin typeface="Times"/>
                <a:ea typeface="Times"/>
                <a:cs typeface="Times"/>
                <a:sym typeface="Times"/>
              </a:rPr>
              <a:t>l</a:t>
            </a:r>
            <a:r>
              <a:rPr i="1" lang="en-US" sz="1800">
                <a:latin typeface="Times"/>
                <a:ea typeface="Times"/>
                <a:cs typeface="Times"/>
                <a:sym typeface="Times"/>
              </a:rPr>
              <a:t> a function</a:t>
            </a:r>
            <a:endParaRPr i="1" sz="1800">
              <a:latin typeface="Times"/>
              <a:ea typeface="Times"/>
              <a:cs typeface="Times"/>
              <a:sym typeface="Times"/>
            </a:endParaRPr>
          </a:p>
          <a:p>
            <a:pPr indent="0" lvl="0" marL="914400" rtl="0" algn="just">
              <a:lnSpc>
                <a:spcPct val="115000"/>
              </a:lnSpc>
              <a:spcBef>
                <a:spcPts val="290"/>
              </a:spcBef>
              <a:spcAft>
                <a:spcPts val="0"/>
              </a:spcAft>
              <a:buNone/>
            </a:pPr>
            <a:r>
              <a:rPr i="1" lang="en-US" sz="1800">
                <a:latin typeface="Times"/>
                <a:ea typeface="Times"/>
                <a:cs typeface="Times"/>
                <a:sym typeface="Times"/>
              </a:rPr>
              <a:t>fun()</a:t>
            </a:r>
            <a:endParaRPr i="1" sz="1800">
              <a:latin typeface="Times"/>
              <a:ea typeface="Times"/>
              <a:cs typeface="Times"/>
              <a:sym typeface="Times"/>
            </a:endParaRPr>
          </a:p>
        </p:txBody>
      </p:sp>
      <p:sp>
        <p:nvSpPr>
          <p:cNvPr id="835" name="Google Shape;835;p10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0" name="Shape 840"/>
        <p:cNvGrpSpPr/>
        <p:nvPr/>
      </p:nvGrpSpPr>
      <p:grpSpPr>
        <a:xfrm>
          <a:off x="0" y="0"/>
          <a:ext cx="0" cy="0"/>
          <a:chOff x="0" y="0"/>
          <a:chExt cx="0" cy="0"/>
        </a:xfrm>
      </p:grpSpPr>
      <p:sp>
        <p:nvSpPr>
          <p:cNvPr id="841" name="Google Shape;841;p105"/>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Built In</a:t>
            </a:r>
            <a:r>
              <a:rPr b="1" lang="en-US" sz="3000">
                <a:solidFill>
                  <a:srgbClr val="1C3678"/>
                </a:solidFill>
                <a:latin typeface="Trebuchet MS"/>
                <a:ea typeface="Trebuchet MS"/>
                <a:cs typeface="Trebuchet MS"/>
                <a:sym typeface="Trebuchet MS"/>
              </a:rPr>
              <a:t> </a:t>
            </a:r>
            <a:r>
              <a:rPr b="1" lang="en-US" sz="3000">
                <a:solidFill>
                  <a:srgbClr val="1C3678"/>
                </a:solidFill>
                <a:latin typeface="Trebuchet MS"/>
                <a:ea typeface="Trebuchet MS"/>
                <a:cs typeface="Trebuchet MS"/>
                <a:sym typeface="Trebuchet MS"/>
              </a:rPr>
              <a:t>Functions in Python</a:t>
            </a:r>
            <a:endParaRPr b="1" sz="3000">
              <a:solidFill>
                <a:srgbClr val="1C3678"/>
              </a:solidFill>
              <a:latin typeface="Trebuchet MS"/>
              <a:ea typeface="Trebuchet MS"/>
              <a:cs typeface="Trebuchet MS"/>
              <a:sym typeface="Trebuchet MS"/>
            </a:endParaRPr>
          </a:p>
        </p:txBody>
      </p:sp>
      <p:sp>
        <p:nvSpPr>
          <p:cNvPr id="842" name="Google Shape;842;p105"/>
          <p:cNvSpPr txBox="1"/>
          <p:nvPr/>
        </p:nvSpPr>
        <p:spPr>
          <a:xfrm>
            <a:off x="688425" y="793125"/>
            <a:ext cx="8107500" cy="3982500"/>
          </a:xfrm>
          <a:prstGeom prst="rect">
            <a:avLst/>
          </a:prstGeom>
          <a:noFill/>
          <a:ln>
            <a:noFill/>
          </a:ln>
        </p:spPr>
        <p:txBody>
          <a:bodyPr anchorCtr="0" anchor="t" bIns="0" lIns="0" spcFirstLastPara="1" rIns="0" wrap="square" tIns="125075">
            <a:spAutoFit/>
          </a:bodyPr>
          <a:lstStyle/>
          <a:p>
            <a:pPr indent="0" lvl="0" marL="0" rtl="0" algn="just">
              <a:lnSpc>
                <a:spcPct val="115000"/>
              </a:lnSpc>
              <a:spcBef>
                <a:spcPts val="290"/>
              </a:spcBef>
              <a:spcAft>
                <a:spcPts val="0"/>
              </a:spcAft>
              <a:buNone/>
            </a:pPr>
            <a:r>
              <a:rPr lang="en-US" sz="1800">
                <a:latin typeface="Times"/>
                <a:ea typeface="Times"/>
                <a:cs typeface="Times"/>
                <a:sym typeface="Times"/>
              </a:rPr>
              <a:t>Functions provide efficiency and structure to a programming language. Python has many useful built-in functions to make programming easier, faster, and more powerful.</a:t>
            </a:r>
            <a:endParaRPr sz="1800">
              <a:latin typeface="Times"/>
              <a:ea typeface="Times"/>
              <a:cs typeface="Times"/>
              <a:sym typeface="Times"/>
            </a:endParaRPr>
          </a:p>
          <a:p>
            <a:pPr indent="-342900" lvl="0" marL="457200" rtl="0" algn="just">
              <a:lnSpc>
                <a:spcPct val="115000"/>
              </a:lnSpc>
              <a:spcBef>
                <a:spcPts val="290"/>
              </a:spcBef>
              <a:spcAft>
                <a:spcPts val="0"/>
              </a:spcAft>
              <a:buSzPts val="1800"/>
              <a:buFont typeface="Times"/>
              <a:buChar char="●"/>
            </a:pPr>
            <a:r>
              <a:rPr lang="en-US" sz="1800">
                <a:latin typeface="Times"/>
                <a:ea typeface="Times"/>
                <a:cs typeface="Times"/>
                <a:sym typeface="Times"/>
              </a:rPr>
              <a:t>The input() Function</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Programs usually require input that can come from different sources: keyboard, mouse clicks, database, another computer’s storage, or the internet.This function has an optional parameter called the prompt string.</a:t>
            </a:r>
            <a:endParaRPr sz="1800">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latin typeface="Times"/>
                <a:ea typeface="Times"/>
                <a:cs typeface="Times"/>
                <a:sym typeface="Times"/>
              </a:rPr>
              <a:t>The range() function</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Python has a more efficient way to handle a series of numbers and arithmetic progressions and this is by using one its built-in functions: range(). The range function is particularly useful in ‘for loops’.</a:t>
            </a:r>
            <a:endParaRPr sz="1800">
              <a:latin typeface="Times"/>
              <a:ea typeface="Times"/>
              <a:cs typeface="Times"/>
              <a:sym typeface="Times"/>
            </a:endParaRPr>
          </a:p>
          <a:p>
            <a:pPr indent="-342900" lvl="1" marL="914400" rtl="0" algn="just">
              <a:lnSpc>
                <a:spcPct val="115000"/>
              </a:lnSpc>
              <a:spcBef>
                <a:spcPts val="0"/>
              </a:spcBef>
              <a:spcAft>
                <a:spcPts val="0"/>
              </a:spcAft>
              <a:buSzPts val="1800"/>
              <a:buFont typeface="Times"/>
              <a:buChar char="○"/>
            </a:pPr>
            <a:r>
              <a:rPr lang="en-US" sz="1800">
                <a:latin typeface="Times"/>
                <a:ea typeface="Times"/>
                <a:cs typeface="Times"/>
                <a:sym typeface="Times"/>
              </a:rPr>
              <a:t>Example</a:t>
            </a:r>
            <a:endParaRPr sz="1800">
              <a:latin typeface="Times"/>
              <a:ea typeface="Times"/>
              <a:cs typeface="Times"/>
              <a:sym typeface="Times"/>
            </a:endParaRPr>
          </a:p>
          <a:p>
            <a:pPr indent="0" lvl="0" marL="914400" rtl="0" algn="just">
              <a:lnSpc>
                <a:spcPct val="115000"/>
              </a:lnSpc>
              <a:spcBef>
                <a:spcPts val="290"/>
              </a:spcBef>
              <a:spcAft>
                <a:spcPts val="0"/>
              </a:spcAft>
              <a:buNone/>
            </a:pPr>
            <a:r>
              <a:rPr i="1" lang="en-US" sz="1800">
                <a:latin typeface="Times"/>
                <a:ea typeface="Times"/>
                <a:cs typeface="Times"/>
                <a:sym typeface="Times"/>
              </a:rPr>
              <a:t>list(range(5))  # [0, 1, 2, 3, 4]</a:t>
            </a:r>
            <a:r>
              <a:rPr lang="en-US" sz="1800">
                <a:latin typeface="Times"/>
                <a:ea typeface="Times"/>
                <a:cs typeface="Times"/>
                <a:sym typeface="Times"/>
              </a:rPr>
              <a:t> </a:t>
            </a:r>
            <a:endParaRPr sz="1800">
              <a:latin typeface="Times"/>
              <a:ea typeface="Times"/>
              <a:cs typeface="Times"/>
              <a:sym typeface="Times"/>
            </a:endParaRPr>
          </a:p>
        </p:txBody>
      </p:sp>
      <p:sp>
        <p:nvSpPr>
          <p:cNvPr id="843" name="Google Shape;843;p10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8" name="Shape 848"/>
        <p:cNvGrpSpPr/>
        <p:nvPr/>
      </p:nvGrpSpPr>
      <p:grpSpPr>
        <a:xfrm>
          <a:off x="0" y="0"/>
          <a:ext cx="0" cy="0"/>
          <a:chOff x="0" y="0"/>
          <a:chExt cx="0" cy="0"/>
        </a:xfrm>
      </p:grpSpPr>
      <p:sp>
        <p:nvSpPr>
          <p:cNvPr id="849" name="Google Shape;849;p106"/>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Built In Functions in Python</a:t>
            </a:r>
            <a:endParaRPr b="1" sz="3000">
              <a:solidFill>
                <a:srgbClr val="1C3678"/>
              </a:solidFill>
              <a:latin typeface="Trebuchet MS"/>
              <a:ea typeface="Trebuchet MS"/>
              <a:cs typeface="Trebuchet MS"/>
              <a:sym typeface="Trebuchet MS"/>
            </a:endParaRPr>
          </a:p>
        </p:txBody>
      </p:sp>
      <p:sp>
        <p:nvSpPr>
          <p:cNvPr id="850" name="Google Shape;850;p106"/>
          <p:cNvSpPr txBox="1"/>
          <p:nvPr/>
        </p:nvSpPr>
        <p:spPr>
          <a:xfrm>
            <a:off x="688425" y="793125"/>
            <a:ext cx="8107500" cy="4155300"/>
          </a:xfrm>
          <a:prstGeom prst="rect">
            <a:avLst/>
          </a:prstGeom>
          <a:noFill/>
          <a:ln>
            <a:noFill/>
          </a:ln>
        </p:spPr>
        <p:txBody>
          <a:bodyPr anchorCtr="0" anchor="t" bIns="0" lIns="0" spcFirstLastPara="1" rIns="0" wrap="square" tIns="125075">
            <a:spAutoFit/>
          </a:bodyPr>
          <a:lstStyle/>
          <a:p>
            <a:pPr indent="-323850" lvl="0" marL="457200" rtl="0" algn="just">
              <a:lnSpc>
                <a:spcPct val="100000"/>
              </a:lnSpc>
              <a:spcBef>
                <a:spcPts val="290"/>
              </a:spcBef>
              <a:spcAft>
                <a:spcPts val="0"/>
              </a:spcAft>
              <a:buSzPts val="1500"/>
              <a:buFont typeface="Times"/>
              <a:buChar char="●"/>
            </a:pPr>
            <a:r>
              <a:rPr lang="en-US" sz="1500">
                <a:latin typeface="Times"/>
                <a:ea typeface="Times"/>
                <a:cs typeface="Times"/>
                <a:sym typeface="Times"/>
              </a:rPr>
              <a:t>abs()</a:t>
            </a:r>
            <a:endParaRPr sz="1500">
              <a:latin typeface="Times"/>
              <a:ea typeface="Times"/>
              <a:cs typeface="Times"/>
              <a:sym typeface="Times"/>
            </a:endParaRPr>
          </a:p>
          <a:p>
            <a:pPr indent="-323850" lvl="1" marL="914400" rtl="0" algn="just">
              <a:lnSpc>
                <a:spcPct val="100000"/>
              </a:lnSpc>
              <a:spcBef>
                <a:spcPts val="0"/>
              </a:spcBef>
              <a:spcAft>
                <a:spcPts val="0"/>
              </a:spcAft>
              <a:buSzPts val="1500"/>
              <a:buFont typeface="Times"/>
              <a:buChar char="○"/>
            </a:pPr>
            <a:r>
              <a:rPr lang="en-US" sz="1500">
                <a:latin typeface="Times"/>
                <a:ea typeface="Times"/>
                <a:cs typeface="Times"/>
                <a:sym typeface="Times"/>
              </a:rPr>
              <a:t>The abs() function returns the absolute value of a single number. It takes an integer or float number as argument and always returns a positive value.</a:t>
            </a:r>
            <a:endParaRPr sz="1500">
              <a:latin typeface="Times"/>
              <a:ea typeface="Times"/>
              <a:cs typeface="Times"/>
              <a:sym typeface="Times"/>
            </a:endParaRPr>
          </a:p>
          <a:p>
            <a:pPr indent="0" lvl="0" marL="914400" rtl="0" algn="just">
              <a:lnSpc>
                <a:spcPct val="100000"/>
              </a:lnSpc>
              <a:spcBef>
                <a:spcPts val="290"/>
              </a:spcBef>
              <a:spcAft>
                <a:spcPts val="0"/>
              </a:spcAft>
              <a:buNone/>
            </a:pPr>
            <a:r>
              <a:rPr i="1" lang="en-US" sz="1500">
                <a:latin typeface="Times"/>
                <a:ea typeface="Times"/>
                <a:cs typeface="Times"/>
                <a:sym typeface="Times"/>
              </a:rPr>
              <a:t>abs(-10)  # 10 </a:t>
            </a:r>
            <a:endParaRPr i="1" sz="1500">
              <a:latin typeface="Times"/>
              <a:ea typeface="Times"/>
              <a:cs typeface="Times"/>
              <a:sym typeface="Times"/>
            </a:endParaRPr>
          </a:p>
          <a:p>
            <a:pPr indent="-323850" lvl="0" marL="457200" rtl="0" algn="just">
              <a:lnSpc>
                <a:spcPct val="100000"/>
              </a:lnSpc>
              <a:spcBef>
                <a:spcPts val="290"/>
              </a:spcBef>
              <a:spcAft>
                <a:spcPts val="0"/>
              </a:spcAft>
              <a:buSzPts val="1500"/>
              <a:buFont typeface="Times"/>
              <a:buChar char="●"/>
            </a:pPr>
            <a:r>
              <a:rPr lang="en-US" sz="1500">
                <a:latin typeface="Times"/>
                <a:ea typeface="Times"/>
                <a:cs typeface="Times"/>
                <a:sym typeface="Times"/>
              </a:rPr>
              <a:t>max() </a:t>
            </a:r>
            <a:r>
              <a:rPr lang="en-US" sz="1500">
                <a:latin typeface="Times"/>
                <a:ea typeface="Times"/>
                <a:cs typeface="Times"/>
                <a:sym typeface="Times"/>
              </a:rPr>
              <a:t>/ min()</a:t>
            </a:r>
            <a:endParaRPr sz="1500">
              <a:latin typeface="Times"/>
              <a:ea typeface="Times"/>
              <a:cs typeface="Times"/>
              <a:sym typeface="Times"/>
            </a:endParaRPr>
          </a:p>
          <a:p>
            <a:pPr indent="-323850" lvl="1" marL="914400" rtl="0" algn="just">
              <a:lnSpc>
                <a:spcPct val="100000"/>
              </a:lnSpc>
              <a:spcBef>
                <a:spcPts val="0"/>
              </a:spcBef>
              <a:spcAft>
                <a:spcPts val="0"/>
              </a:spcAft>
              <a:buSzPts val="1500"/>
              <a:buFont typeface="Times"/>
              <a:buChar char="○"/>
            </a:pPr>
            <a:r>
              <a:rPr lang="en-US" sz="1500">
                <a:latin typeface="Times"/>
                <a:ea typeface="Times"/>
                <a:cs typeface="Times"/>
                <a:sym typeface="Times"/>
              </a:rPr>
              <a:t>The max() / min() function takes two or more arguments and returns the largest/smallest one.</a:t>
            </a:r>
            <a:endParaRPr sz="1500">
              <a:latin typeface="Times"/>
              <a:ea typeface="Times"/>
              <a:cs typeface="Times"/>
              <a:sym typeface="Times"/>
            </a:endParaRPr>
          </a:p>
          <a:p>
            <a:pPr indent="0" lvl="0" marL="914400" rtl="0" algn="just">
              <a:lnSpc>
                <a:spcPct val="100000"/>
              </a:lnSpc>
              <a:spcBef>
                <a:spcPts val="290"/>
              </a:spcBef>
              <a:spcAft>
                <a:spcPts val="0"/>
              </a:spcAft>
              <a:buNone/>
            </a:pPr>
            <a:r>
              <a:rPr i="1" lang="en-US" sz="1500">
                <a:latin typeface="Times"/>
                <a:ea typeface="Times"/>
                <a:cs typeface="Times"/>
                <a:sym typeface="Times"/>
              </a:rPr>
              <a:t>max(9, 12, 6, 15) # 15</a:t>
            </a:r>
            <a:endParaRPr i="1" sz="1500">
              <a:latin typeface="Times"/>
              <a:ea typeface="Times"/>
              <a:cs typeface="Times"/>
              <a:sym typeface="Times"/>
            </a:endParaRPr>
          </a:p>
          <a:p>
            <a:pPr indent="0" lvl="0" marL="914400" rtl="0" algn="just">
              <a:lnSpc>
                <a:spcPct val="100000"/>
              </a:lnSpc>
              <a:spcBef>
                <a:spcPts val="290"/>
              </a:spcBef>
              <a:spcAft>
                <a:spcPts val="0"/>
              </a:spcAft>
              <a:buNone/>
            </a:pPr>
            <a:r>
              <a:rPr i="1" lang="en-US" sz="1500">
                <a:latin typeface="Times"/>
                <a:ea typeface="Times"/>
                <a:cs typeface="Times"/>
                <a:sym typeface="Times"/>
              </a:rPr>
              <a:t>min(23, -109, 5, 2) # -109</a:t>
            </a:r>
            <a:endParaRPr i="1" sz="1500">
              <a:latin typeface="Times"/>
              <a:ea typeface="Times"/>
              <a:cs typeface="Times"/>
              <a:sym typeface="Times"/>
            </a:endParaRPr>
          </a:p>
          <a:p>
            <a:pPr indent="-323850" lvl="0" marL="457200" rtl="0" algn="just">
              <a:lnSpc>
                <a:spcPct val="100000"/>
              </a:lnSpc>
              <a:spcBef>
                <a:spcPts val="290"/>
              </a:spcBef>
              <a:spcAft>
                <a:spcPts val="0"/>
              </a:spcAft>
              <a:buSzPts val="1500"/>
              <a:buFont typeface="Times"/>
              <a:buChar char="●"/>
            </a:pPr>
            <a:r>
              <a:rPr lang="en-US" sz="1500">
                <a:latin typeface="Times"/>
                <a:ea typeface="Times"/>
                <a:cs typeface="Times"/>
                <a:sym typeface="Times"/>
              </a:rPr>
              <a:t>type()</a:t>
            </a:r>
            <a:endParaRPr sz="1500">
              <a:latin typeface="Times"/>
              <a:ea typeface="Times"/>
              <a:cs typeface="Times"/>
              <a:sym typeface="Times"/>
            </a:endParaRPr>
          </a:p>
          <a:p>
            <a:pPr indent="-323850" lvl="1" marL="914400" rtl="0" algn="just">
              <a:lnSpc>
                <a:spcPct val="100000"/>
              </a:lnSpc>
              <a:spcBef>
                <a:spcPts val="0"/>
              </a:spcBef>
              <a:spcAft>
                <a:spcPts val="0"/>
              </a:spcAft>
              <a:buSzPts val="1500"/>
              <a:buFont typeface="Times"/>
              <a:buChar char="○"/>
            </a:pPr>
            <a:r>
              <a:rPr lang="en-US" sz="1500">
                <a:latin typeface="Times"/>
                <a:ea typeface="Times"/>
                <a:cs typeface="Times"/>
                <a:sym typeface="Times"/>
              </a:rPr>
              <a:t>The type() function returns the data type of the given argument.</a:t>
            </a:r>
            <a:endParaRPr sz="1500">
              <a:latin typeface="Times"/>
              <a:ea typeface="Times"/>
              <a:cs typeface="Times"/>
              <a:sym typeface="Times"/>
            </a:endParaRPr>
          </a:p>
          <a:p>
            <a:pPr indent="0" lvl="0" marL="914400" rtl="0" algn="just">
              <a:lnSpc>
                <a:spcPct val="100000"/>
              </a:lnSpc>
              <a:spcBef>
                <a:spcPts val="290"/>
              </a:spcBef>
              <a:spcAft>
                <a:spcPts val="0"/>
              </a:spcAft>
              <a:buNone/>
            </a:pPr>
            <a:r>
              <a:rPr i="1" lang="en-US" sz="1500">
                <a:latin typeface="Times"/>
                <a:ea typeface="Times"/>
                <a:cs typeface="Times"/>
                <a:sym typeface="Times"/>
              </a:rPr>
              <a:t>type(12) #&lt;class 'int'&gt;</a:t>
            </a:r>
            <a:endParaRPr i="1" sz="1500">
              <a:latin typeface="Times"/>
              <a:ea typeface="Times"/>
              <a:cs typeface="Times"/>
              <a:sym typeface="Times"/>
            </a:endParaRPr>
          </a:p>
          <a:p>
            <a:pPr indent="0" lvl="0" marL="914400" rtl="0" algn="just">
              <a:lnSpc>
                <a:spcPct val="100000"/>
              </a:lnSpc>
              <a:spcBef>
                <a:spcPts val="290"/>
              </a:spcBef>
              <a:spcAft>
                <a:spcPts val="0"/>
              </a:spcAft>
              <a:buNone/>
            </a:pPr>
            <a:r>
              <a:rPr i="1" lang="en-US" sz="1500">
                <a:latin typeface="Times"/>
                <a:ea typeface="Times"/>
                <a:cs typeface="Times"/>
                <a:sym typeface="Times"/>
              </a:rPr>
              <a:t>type(12.5) #&lt;class 'float'&gt; </a:t>
            </a:r>
            <a:endParaRPr i="1" sz="1500">
              <a:latin typeface="Times"/>
              <a:ea typeface="Times"/>
              <a:cs typeface="Times"/>
              <a:sym typeface="Times"/>
            </a:endParaRPr>
          </a:p>
          <a:p>
            <a:pPr indent="-323850" lvl="0" marL="457200" rtl="0" algn="just">
              <a:lnSpc>
                <a:spcPct val="100000"/>
              </a:lnSpc>
              <a:spcBef>
                <a:spcPts val="290"/>
              </a:spcBef>
              <a:spcAft>
                <a:spcPts val="0"/>
              </a:spcAft>
              <a:buSzPts val="1500"/>
              <a:buFont typeface="Times"/>
              <a:buChar char="●"/>
            </a:pPr>
            <a:r>
              <a:rPr lang="en-US" sz="1500">
                <a:latin typeface="Times"/>
                <a:ea typeface="Times"/>
                <a:cs typeface="Times"/>
                <a:sym typeface="Times"/>
              </a:rPr>
              <a:t>len()</a:t>
            </a:r>
            <a:endParaRPr sz="1500">
              <a:latin typeface="Times"/>
              <a:ea typeface="Times"/>
              <a:cs typeface="Times"/>
              <a:sym typeface="Times"/>
            </a:endParaRPr>
          </a:p>
          <a:p>
            <a:pPr indent="-323850" lvl="1" marL="914400" rtl="0" algn="just">
              <a:lnSpc>
                <a:spcPct val="100000"/>
              </a:lnSpc>
              <a:spcBef>
                <a:spcPts val="0"/>
              </a:spcBef>
              <a:spcAft>
                <a:spcPts val="0"/>
              </a:spcAft>
              <a:buSzPts val="1500"/>
              <a:buFont typeface="Times"/>
              <a:buChar char="○"/>
            </a:pPr>
            <a:r>
              <a:rPr lang="en-US" sz="1500">
                <a:latin typeface="Times"/>
                <a:ea typeface="Times"/>
                <a:cs typeface="Times"/>
                <a:sym typeface="Times"/>
              </a:rPr>
              <a:t>The len() function returns the length of an object or the number of items in a list given as argument.</a:t>
            </a:r>
            <a:endParaRPr sz="1500">
              <a:latin typeface="Times"/>
              <a:ea typeface="Times"/>
              <a:cs typeface="Times"/>
              <a:sym typeface="Times"/>
            </a:endParaRPr>
          </a:p>
          <a:p>
            <a:pPr indent="0" lvl="0" marL="914400" rtl="0" algn="just">
              <a:lnSpc>
                <a:spcPct val="100000"/>
              </a:lnSpc>
              <a:spcBef>
                <a:spcPts val="290"/>
              </a:spcBef>
              <a:spcAft>
                <a:spcPts val="0"/>
              </a:spcAft>
              <a:buNone/>
            </a:pPr>
            <a:r>
              <a:rPr i="1" lang="en-US" sz="1500">
                <a:latin typeface="Times"/>
                <a:ea typeface="Times"/>
                <a:cs typeface="Times"/>
                <a:sym typeface="Times"/>
              </a:rPr>
              <a:t>len(“Cseworldonline”) #14</a:t>
            </a:r>
            <a:endParaRPr i="1" sz="1500">
              <a:latin typeface="Times"/>
              <a:ea typeface="Times"/>
              <a:cs typeface="Times"/>
              <a:sym typeface="Times"/>
            </a:endParaRPr>
          </a:p>
        </p:txBody>
      </p:sp>
      <p:sp>
        <p:nvSpPr>
          <p:cNvPr id="851" name="Google Shape;851;p10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6" name="Shape 856"/>
        <p:cNvGrpSpPr/>
        <p:nvPr/>
      </p:nvGrpSpPr>
      <p:grpSpPr>
        <a:xfrm>
          <a:off x="0" y="0"/>
          <a:ext cx="0" cy="0"/>
          <a:chOff x="0" y="0"/>
          <a:chExt cx="0" cy="0"/>
        </a:xfrm>
      </p:grpSpPr>
      <p:sp>
        <p:nvSpPr>
          <p:cNvPr id="857" name="Google Shape;857;p107"/>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User Defined Functions in Python</a:t>
            </a:r>
            <a:endParaRPr b="1" sz="3000">
              <a:solidFill>
                <a:srgbClr val="1C3678"/>
              </a:solidFill>
              <a:latin typeface="Trebuchet MS"/>
              <a:ea typeface="Trebuchet MS"/>
              <a:cs typeface="Trebuchet MS"/>
              <a:sym typeface="Trebuchet MS"/>
            </a:endParaRPr>
          </a:p>
        </p:txBody>
      </p:sp>
      <p:sp>
        <p:nvSpPr>
          <p:cNvPr id="858" name="Google Shape;858;p107"/>
          <p:cNvSpPr txBox="1"/>
          <p:nvPr/>
        </p:nvSpPr>
        <p:spPr>
          <a:xfrm>
            <a:off x="688425" y="793125"/>
            <a:ext cx="8107500" cy="20658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latin typeface="Times"/>
                <a:ea typeface="Times"/>
                <a:cs typeface="Times"/>
                <a:sym typeface="Times"/>
              </a:rPr>
              <a:t>Functions that we define ourselves to do certain specific task are referred as user-defined functions. The way in which we define and call functions in Python are already discussed.</a:t>
            </a:r>
            <a:endParaRPr sz="1800">
              <a:latin typeface="Times"/>
              <a:ea typeface="Times"/>
              <a:cs typeface="Times"/>
              <a:sym typeface="Times"/>
            </a:endParaRPr>
          </a:p>
          <a:p>
            <a:pPr indent="-342900" lvl="0" marL="457200" rtl="0" algn="just">
              <a:spcBef>
                <a:spcPts val="0"/>
              </a:spcBef>
              <a:spcAft>
                <a:spcPts val="0"/>
              </a:spcAft>
              <a:buSzPts val="1800"/>
              <a:buFont typeface="Times"/>
              <a:buChar char="●"/>
            </a:pPr>
            <a:r>
              <a:rPr lang="en-US" sz="1800">
                <a:latin typeface="Times"/>
                <a:ea typeface="Times"/>
                <a:cs typeface="Times"/>
                <a:sym typeface="Times"/>
              </a:rPr>
              <a:t>If we use functions written by others in the form of library, it can be termed as library functions.</a:t>
            </a:r>
            <a:endParaRPr sz="1800">
              <a:latin typeface="Times"/>
              <a:ea typeface="Times"/>
              <a:cs typeface="Times"/>
              <a:sym typeface="Times"/>
            </a:endParaRPr>
          </a:p>
          <a:p>
            <a:pPr indent="-342900" lvl="0" marL="457200" rtl="0" algn="just">
              <a:spcBef>
                <a:spcPts val="0"/>
              </a:spcBef>
              <a:spcAft>
                <a:spcPts val="0"/>
              </a:spcAft>
              <a:buSzPts val="1800"/>
              <a:buFont typeface="Times"/>
              <a:buChar char="●"/>
            </a:pPr>
            <a:r>
              <a:rPr lang="en-US" sz="1800">
                <a:latin typeface="Times"/>
                <a:ea typeface="Times"/>
                <a:cs typeface="Times"/>
                <a:sym typeface="Times"/>
              </a:rPr>
              <a:t>All the other functions that we write on our own fall under user-defined functions. So, our user-defined function could be a library function to someone else.</a:t>
            </a:r>
            <a:endParaRPr sz="1800">
              <a:latin typeface="Times"/>
              <a:ea typeface="Times"/>
              <a:cs typeface="Times"/>
              <a:sym typeface="Times"/>
            </a:endParaRPr>
          </a:p>
        </p:txBody>
      </p:sp>
      <p:sp>
        <p:nvSpPr>
          <p:cNvPr id="859" name="Google Shape;859;p10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4" name="Shape 864"/>
        <p:cNvGrpSpPr/>
        <p:nvPr/>
      </p:nvGrpSpPr>
      <p:grpSpPr>
        <a:xfrm>
          <a:off x="0" y="0"/>
          <a:ext cx="0" cy="0"/>
          <a:chOff x="0" y="0"/>
          <a:chExt cx="0" cy="0"/>
        </a:xfrm>
      </p:grpSpPr>
      <p:sp>
        <p:nvSpPr>
          <p:cNvPr id="865" name="Google Shape;865;p108"/>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User Defined Functions in Python</a:t>
            </a:r>
            <a:endParaRPr b="1" sz="3000">
              <a:solidFill>
                <a:srgbClr val="1C3678"/>
              </a:solidFill>
              <a:latin typeface="Trebuchet MS"/>
              <a:ea typeface="Trebuchet MS"/>
              <a:cs typeface="Trebuchet MS"/>
              <a:sym typeface="Trebuchet MS"/>
            </a:endParaRPr>
          </a:p>
        </p:txBody>
      </p:sp>
      <p:sp>
        <p:nvSpPr>
          <p:cNvPr id="866" name="Google Shape;866;p108"/>
          <p:cNvSpPr txBox="1"/>
          <p:nvPr/>
        </p:nvSpPr>
        <p:spPr>
          <a:xfrm>
            <a:off x="688425" y="793125"/>
            <a:ext cx="8107500" cy="3231600"/>
          </a:xfrm>
          <a:prstGeom prst="rect">
            <a:avLst/>
          </a:prstGeom>
          <a:noFill/>
          <a:ln>
            <a:noFill/>
          </a:ln>
        </p:spPr>
        <p:txBody>
          <a:bodyPr anchorCtr="0" anchor="t" bIns="0" lIns="0" spcFirstLastPara="1" rIns="0" wrap="square" tIns="125075">
            <a:spAutoFit/>
          </a:bodyPr>
          <a:lstStyle/>
          <a:p>
            <a:pPr indent="0" lvl="0" marL="114300" rtl="0" algn="just">
              <a:spcBef>
                <a:spcPts val="290"/>
              </a:spcBef>
              <a:spcAft>
                <a:spcPts val="0"/>
              </a:spcAft>
              <a:buNone/>
            </a:pPr>
            <a:r>
              <a:rPr i="1" lang="en-US" sz="1800">
                <a:latin typeface="Times"/>
                <a:ea typeface="Times"/>
                <a:cs typeface="Times"/>
                <a:sym typeface="Times"/>
              </a:rPr>
              <a:t># whether x is even or odd</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def evenOdd(x):</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if (x % 2 == 0):</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print("even")</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else:</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print("odd")</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Driver code to call the function</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evenOdd(2)</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evenOdd(3)</a:t>
            </a:r>
            <a:endParaRPr i="1" sz="1800">
              <a:latin typeface="Times"/>
              <a:ea typeface="Times"/>
              <a:cs typeface="Times"/>
              <a:sym typeface="Times"/>
            </a:endParaRPr>
          </a:p>
          <a:p>
            <a:pPr indent="0" lvl="0" marL="114300" rtl="0" algn="just">
              <a:spcBef>
                <a:spcPts val="290"/>
              </a:spcBef>
              <a:spcAft>
                <a:spcPts val="0"/>
              </a:spcAft>
              <a:buNone/>
            </a:pPr>
            <a:r>
              <a:t/>
            </a:r>
            <a:endParaRPr i="1" sz="1800">
              <a:latin typeface="Times"/>
              <a:ea typeface="Times"/>
              <a:cs typeface="Times"/>
              <a:sym typeface="Times"/>
            </a:endParaRPr>
          </a:p>
        </p:txBody>
      </p:sp>
      <p:sp>
        <p:nvSpPr>
          <p:cNvPr id="867" name="Google Shape;867;p10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2" name="Shape 872"/>
        <p:cNvGrpSpPr/>
        <p:nvPr/>
      </p:nvGrpSpPr>
      <p:grpSpPr>
        <a:xfrm>
          <a:off x="0" y="0"/>
          <a:ext cx="0" cy="0"/>
          <a:chOff x="0" y="0"/>
          <a:chExt cx="0" cy="0"/>
        </a:xfrm>
      </p:grpSpPr>
      <p:sp>
        <p:nvSpPr>
          <p:cNvPr id="873" name="Google Shape;873;p109"/>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User Defined Functions in Python</a:t>
            </a:r>
            <a:endParaRPr b="1" sz="3000">
              <a:solidFill>
                <a:srgbClr val="1C3678"/>
              </a:solidFill>
              <a:latin typeface="Trebuchet MS"/>
              <a:ea typeface="Trebuchet MS"/>
              <a:cs typeface="Trebuchet MS"/>
              <a:sym typeface="Trebuchet MS"/>
            </a:endParaRPr>
          </a:p>
        </p:txBody>
      </p:sp>
      <p:sp>
        <p:nvSpPr>
          <p:cNvPr id="874" name="Google Shape;874;p109"/>
          <p:cNvSpPr txBox="1"/>
          <p:nvPr/>
        </p:nvSpPr>
        <p:spPr>
          <a:xfrm>
            <a:off x="688425" y="793125"/>
            <a:ext cx="8107500" cy="3860400"/>
          </a:xfrm>
          <a:prstGeom prst="rect">
            <a:avLst/>
          </a:prstGeom>
          <a:noFill/>
          <a:ln>
            <a:noFill/>
          </a:ln>
        </p:spPr>
        <p:txBody>
          <a:bodyPr anchorCtr="0" anchor="t" bIns="0" lIns="0" spcFirstLastPara="1" rIns="0" wrap="square" tIns="125075">
            <a:spAutoFit/>
          </a:bodyPr>
          <a:lstStyle/>
          <a:p>
            <a:pPr indent="0" lvl="0" marL="114300" rtl="0" algn="just">
              <a:spcBef>
                <a:spcPts val="290"/>
              </a:spcBef>
              <a:spcAft>
                <a:spcPts val="0"/>
              </a:spcAft>
              <a:buNone/>
            </a:pPr>
            <a:r>
              <a:rPr i="1" lang="en-US" sz="1800">
                <a:latin typeface="Times"/>
                <a:ea typeface="Times"/>
                <a:cs typeface="Times"/>
                <a:sym typeface="Times"/>
              </a:rPr>
              <a:t>def is_prime(n):</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if n in [2, 3]:</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return True</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if (n == 1) or (n % 2 == 0):</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return False</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r = 3</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while r * r &lt;= n:</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if n % r == 0:</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return False</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r += 2</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return True</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print(is_prime(78), is_prime(79))</a:t>
            </a:r>
            <a:endParaRPr i="1" sz="1800">
              <a:latin typeface="Times"/>
              <a:ea typeface="Times"/>
              <a:cs typeface="Times"/>
              <a:sym typeface="Times"/>
            </a:endParaRPr>
          </a:p>
        </p:txBody>
      </p:sp>
      <p:sp>
        <p:nvSpPr>
          <p:cNvPr id="875" name="Google Shape;875;p10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0" name="Shape 880"/>
        <p:cNvGrpSpPr/>
        <p:nvPr/>
      </p:nvGrpSpPr>
      <p:grpSpPr>
        <a:xfrm>
          <a:off x="0" y="0"/>
          <a:ext cx="0" cy="0"/>
          <a:chOff x="0" y="0"/>
          <a:chExt cx="0" cy="0"/>
        </a:xfrm>
      </p:grpSpPr>
      <p:sp>
        <p:nvSpPr>
          <p:cNvPr id="881" name="Google Shape;881;p110"/>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Arguments and Parameters in </a:t>
            </a:r>
            <a:r>
              <a:rPr b="1" lang="en-US" sz="3000">
                <a:solidFill>
                  <a:srgbClr val="1C3678"/>
                </a:solidFill>
                <a:latin typeface="Trebuchet MS"/>
                <a:ea typeface="Trebuchet MS"/>
                <a:cs typeface="Trebuchet MS"/>
                <a:sym typeface="Trebuchet MS"/>
              </a:rPr>
              <a:t>Functions</a:t>
            </a:r>
            <a:endParaRPr b="1" sz="3000">
              <a:solidFill>
                <a:srgbClr val="1C3678"/>
              </a:solidFill>
              <a:latin typeface="Trebuchet MS"/>
              <a:ea typeface="Trebuchet MS"/>
              <a:cs typeface="Trebuchet MS"/>
              <a:sym typeface="Trebuchet MS"/>
            </a:endParaRPr>
          </a:p>
        </p:txBody>
      </p:sp>
      <p:sp>
        <p:nvSpPr>
          <p:cNvPr id="882" name="Google Shape;882;p110"/>
          <p:cNvSpPr txBox="1"/>
          <p:nvPr/>
        </p:nvSpPr>
        <p:spPr>
          <a:xfrm>
            <a:off x="688425" y="793125"/>
            <a:ext cx="8107500" cy="2379900"/>
          </a:xfrm>
          <a:prstGeom prst="rect">
            <a:avLst/>
          </a:prstGeom>
          <a:noFill/>
          <a:ln>
            <a:noFill/>
          </a:ln>
        </p:spPr>
        <p:txBody>
          <a:bodyPr anchorCtr="0" anchor="t" bIns="0" lIns="0" spcFirstLastPara="1" rIns="0" wrap="square" tIns="125075">
            <a:spAutoFit/>
          </a:bodyPr>
          <a:lstStyle/>
          <a:p>
            <a:pPr indent="-342900" lvl="1" marL="457200" rtl="0" algn="just">
              <a:spcBef>
                <a:spcPts val="290"/>
              </a:spcBef>
              <a:spcAft>
                <a:spcPts val="0"/>
              </a:spcAft>
              <a:buSzPts val="1800"/>
              <a:buFont typeface="Times"/>
              <a:buChar char="○"/>
            </a:pPr>
            <a:r>
              <a:rPr lang="en-US" sz="1800">
                <a:latin typeface="Times"/>
                <a:ea typeface="Times"/>
                <a:cs typeface="Times"/>
                <a:sym typeface="Times"/>
              </a:rPr>
              <a:t>Arguments and Parameters</a:t>
            </a:r>
            <a:endParaRPr sz="1800">
              <a:latin typeface="Times"/>
              <a:ea typeface="Times"/>
              <a:cs typeface="Times"/>
              <a:sym typeface="Times"/>
            </a:endParaRPr>
          </a:p>
          <a:p>
            <a:pPr indent="-342900" lvl="2" marL="914400" rtl="0" algn="just">
              <a:spcBef>
                <a:spcPts val="0"/>
              </a:spcBef>
              <a:spcAft>
                <a:spcPts val="0"/>
              </a:spcAft>
              <a:buSzPts val="1800"/>
              <a:buFont typeface="Times"/>
              <a:buChar char="■"/>
            </a:pPr>
            <a:r>
              <a:rPr lang="en-US" sz="1800">
                <a:latin typeface="Times"/>
                <a:ea typeface="Times"/>
                <a:cs typeface="Times"/>
                <a:sym typeface="Times"/>
              </a:rPr>
              <a:t>Arguments: Values provided when calling the function.</a:t>
            </a:r>
            <a:endParaRPr sz="1800">
              <a:latin typeface="Times"/>
              <a:ea typeface="Times"/>
              <a:cs typeface="Times"/>
              <a:sym typeface="Times"/>
            </a:endParaRPr>
          </a:p>
          <a:p>
            <a:pPr indent="-342900" lvl="2" marL="914400" rtl="0" algn="just">
              <a:spcBef>
                <a:spcPts val="0"/>
              </a:spcBef>
              <a:spcAft>
                <a:spcPts val="0"/>
              </a:spcAft>
              <a:buSzPts val="1800"/>
              <a:buFont typeface="Times"/>
              <a:buChar char="■"/>
            </a:pPr>
            <a:r>
              <a:rPr lang="en-US" sz="1800">
                <a:latin typeface="Times"/>
                <a:ea typeface="Times"/>
                <a:cs typeface="Times"/>
                <a:sym typeface="Times"/>
              </a:rPr>
              <a:t>Parameters: Variables in the function definition that hold argument</a:t>
            </a:r>
            <a:r>
              <a:rPr lang="en-US" sz="1800">
                <a:latin typeface="Times"/>
                <a:ea typeface="Times"/>
                <a:cs typeface="Times"/>
                <a:sym typeface="Times"/>
              </a:rPr>
              <a:t> values.</a:t>
            </a:r>
            <a:endParaRPr sz="1800">
              <a:latin typeface="Times"/>
              <a:ea typeface="Times"/>
              <a:cs typeface="Times"/>
              <a:sym typeface="Times"/>
            </a:endParaRPr>
          </a:p>
          <a:p>
            <a:pPr indent="-342900" lvl="1" marL="457200" rtl="0" algn="just">
              <a:spcBef>
                <a:spcPts val="0"/>
              </a:spcBef>
              <a:spcAft>
                <a:spcPts val="0"/>
              </a:spcAft>
              <a:buSzPts val="1800"/>
              <a:buFont typeface="Times"/>
              <a:buChar char="○"/>
            </a:pPr>
            <a:r>
              <a:rPr lang="en-US" sz="1800">
                <a:latin typeface="Times"/>
                <a:ea typeface="Times"/>
                <a:cs typeface="Times"/>
                <a:sym typeface="Times"/>
              </a:rPr>
              <a:t>Use Case: Dynamic data processing based on input.</a:t>
            </a:r>
            <a:endParaRPr sz="1800">
              <a:latin typeface="Times"/>
              <a:ea typeface="Times"/>
              <a:cs typeface="Times"/>
              <a:sym typeface="Times"/>
            </a:endParaRPr>
          </a:p>
          <a:p>
            <a:pPr indent="-342900" lvl="1" marL="457200" rtl="0" algn="just">
              <a:spcBef>
                <a:spcPts val="0"/>
              </a:spcBef>
              <a:spcAft>
                <a:spcPts val="0"/>
              </a:spcAft>
              <a:buSzPts val="1800"/>
              <a:buFont typeface="Times"/>
              <a:buChar char="○"/>
            </a:pPr>
            <a:r>
              <a:rPr lang="en-US" sz="1800">
                <a:latin typeface="Times"/>
                <a:ea typeface="Times"/>
                <a:cs typeface="Times"/>
                <a:sym typeface="Times"/>
              </a:rPr>
              <a:t>Features:</a:t>
            </a:r>
            <a:endParaRPr sz="1800">
              <a:latin typeface="Times"/>
              <a:ea typeface="Times"/>
              <a:cs typeface="Times"/>
              <a:sym typeface="Times"/>
            </a:endParaRPr>
          </a:p>
          <a:p>
            <a:pPr indent="-342900" lvl="2" marL="914400" rtl="0" algn="just">
              <a:spcBef>
                <a:spcPts val="0"/>
              </a:spcBef>
              <a:spcAft>
                <a:spcPts val="0"/>
              </a:spcAft>
              <a:buSzPts val="1800"/>
              <a:buFont typeface="Times"/>
              <a:buChar char="■"/>
            </a:pPr>
            <a:r>
              <a:rPr lang="en-US" sz="1800">
                <a:latin typeface="Times"/>
                <a:ea typeface="Times"/>
                <a:cs typeface="Times"/>
                <a:sym typeface="Times"/>
              </a:rPr>
              <a:t>Parameters are placeholders.</a:t>
            </a:r>
            <a:endParaRPr sz="1800">
              <a:latin typeface="Times"/>
              <a:ea typeface="Times"/>
              <a:cs typeface="Times"/>
              <a:sym typeface="Times"/>
            </a:endParaRPr>
          </a:p>
          <a:p>
            <a:pPr indent="-342900" lvl="2" marL="914400" rtl="0" algn="just">
              <a:spcBef>
                <a:spcPts val="0"/>
              </a:spcBef>
              <a:spcAft>
                <a:spcPts val="0"/>
              </a:spcAft>
              <a:buSzPts val="1800"/>
              <a:buFont typeface="Times"/>
              <a:buChar char="■"/>
            </a:pPr>
            <a:r>
              <a:rPr lang="en-US" sz="1800">
                <a:latin typeface="Times"/>
                <a:ea typeface="Times"/>
                <a:cs typeface="Times"/>
                <a:sym typeface="Times"/>
              </a:rPr>
              <a:t>Arguments are actual values passed.</a:t>
            </a:r>
            <a:endParaRPr sz="1800">
              <a:latin typeface="Times"/>
              <a:ea typeface="Times"/>
              <a:cs typeface="Times"/>
              <a:sym typeface="Times"/>
            </a:endParaRPr>
          </a:p>
          <a:p>
            <a:pPr indent="0" lvl="0" marL="0" rtl="0" algn="just">
              <a:spcBef>
                <a:spcPts val="290"/>
              </a:spcBef>
              <a:spcAft>
                <a:spcPts val="0"/>
              </a:spcAft>
              <a:buNone/>
            </a:pPr>
            <a:r>
              <a:t/>
            </a:r>
            <a:endParaRPr sz="1800">
              <a:latin typeface="Times"/>
              <a:ea typeface="Times"/>
              <a:cs typeface="Times"/>
              <a:sym typeface="Times"/>
            </a:endParaRPr>
          </a:p>
        </p:txBody>
      </p:sp>
      <p:sp>
        <p:nvSpPr>
          <p:cNvPr id="883" name="Google Shape;883;p1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8" name="Shape 888"/>
        <p:cNvGrpSpPr/>
        <p:nvPr/>
      </p:nvGrpSpPr>
      <p:grpSpPr>
        <a:xfrm>
          <a:off x="0" y="0"/>
          <a:ext cx="0" cy="0"/>
          <a:chOff x="0" y="0"/>
          <a:chExt cx="0" cy="0"/>
        </a:xfrm>
      </p:grpSpPr>
      <p:sp>
        <p:nvSpPr>
          <p:cNvPr id="889" name="Google Shape;889;p111"/>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Arguments and Parameters in Functions</a:t>
            </a:r>
            <a:endParaRPr b="1" sz="3000">
              <a:solidFill>
                <a:srgbClr val="1C3678"/>
              </a:solidFill>
              <a:latin typeface="Trebuchet MS"/>
              <a:ea typeface="Trebuchet MS"/>
              <a:cs typeface="Trebuchet MS"/>
              <a:sym typeface="Trebuchet MS"/>
            </a:endParaRPr>
          </a:p>
        </p:txBody>
      </p:sp>
      <p:sp>
        <p:nvSpPr>
          <p:cNvPr id="890" name="Google Shape;890;p111"/>
          <p:cNvSpPr txBox="1"/>
          <p:nvPr/>
        </p:nvSpPr>
        <p:spPr>
          <a:xfrm>
            <a:off x="688425" y="793125"/>
            <a:ext cx="8107500" cy="3860400"/>
          </a:xfrm>
          <a:prstGeom prst="rect">
            <a:avLst/>
          </a:prstGeom>
          <a:noFill/>
          <a:ln>
            <a:noFill/>
          </a:ln>
        </p:spPr>
        <p:txBody>
          <a:bodyPr anchorCtr="0" anchor="t" bIns="0" lIns="0" spcFirstLastPara="1" rIns="0" wrap="square" tIns="125075">
            <a:spAutoFit/>
          </a:bodyPr>
          <a:lstStyle/>
          <a:p>
            <a:pPr indent="0" lvl="0" marL="0" rtl="0" algn="just">
              <a:spcBef>
                <a:spcPts val="290"/>
              </a:spcBef>
              <a:spcAft>
                <a:spcPts val="0"/>
              </a:spcAft>
              <a:buNone/>
            </a:pPr>
            <a:r>
              <a:rPr i="1" lang="en-US" sz="1800">
                <a:latin typeface="Times"/>
                <a:ea typeface="Times"/>
                <a:cs typeface="Times"/>
                <a:sym typeface="Times"/>
              </a:rPr>
              <a:t>Syntax</a:t>
            </a:r>
            <a:r>
              <a:rPr i="1" lang="en-US" sz="1800">
                <a:latin typeface="Times"/>
                <a:ea typeface="Times"/>
                <a:cs typeface="Times"/>
                <a:sym typeface="Times"/>
              </a:rPr>
              <a:t>:</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def &lt;funcion_name&gt;(&lt;parameter(s)&gt; &lt;data types&gt;):</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 Statements</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&lt;funcion_name&gt;(&lt;values(s)&gt;)   # function calling with arguments</a:t>
            </a:r>
            <a:endParaRPr i="1" sz="1800">
              <a:latin typeface="Times"/>
              <a:ea typeface="Times"/>
              <a:cs typeface="Times"/>
              <a:sym typeface="Times"/>
            </a:endParaRPr>
          </a:p>
          <a:p>
            <a:pPr indent="0" lvl="0" marL="0" rtl="0" algn="just">
              <a:spcBef>
                <a:spcPts val="290"/>
              </a:spcBef>
              <a:spcAft>
                <a:spcPts val="0"/>
              </a:spcAft>
              <a:buNone/>
            </a:pPr>
            <a:r>
              <a:rPr i="1" lang="en-US" sz="1800">
                <a:latin typeface="Times"/>
                <a:ea typeface="Times"/>
                <a:cs typeface="Times"/>
                <a:sym typeface="Times"/>
              </a:rPr>
              <a:t>Examples:</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def multiply(x, y):  # x and y are parameters</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return x * y</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multiply(5, 10)  # 5 and 10 are arguments</a:t>
            </a:r>
            <a:endParaRPr i="1" sz="1800">
              <a:latin typeface="Times"/>
              <a:ea typeface="Times"/>
              <a:cs typeface="Times"/>
              <a:sym typeface="Times"/>
            </a:endParaRPr>
          </a:p>
          <a:p>
            <a:pPr indent="0" lvl="0" marL="457200" rtl="0" algn="just">
              <a:spcBef>
                <a:spcPts val="290"/>
              </a:spcBef>
              <a:spcAft>
                <a:spcPts val="0"/>
              </a:spcAft>
              <a:buNone/>
            </a:pPr>
            <a:r>
              <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def summation(a, b, c):  # a, b, and c are parameters</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    return a+b+c</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summation</a:t>
            </a:r>
            <a:r>
              <a:rPr i="1" lang="en-US" sz="1800">
                <a:latin typeface="Times"/>
                <a:ea typeface="Times"/>
                <a:cs typeface="Times"/>
                <a:sym typeface="Times"/>
              </a:rPr>
              <a:t>(50, 10, 500)  # 50,10, and 500 are arguments</a:t>
            </a:r>
            <a:endParaRPr i="1" sz="1800">
              <a:latin typeface="Times"/>
              <a:ea typeface="Times"/>
              <a:cs typeface="Times"/>
              <a:sym typeface="Times"/>
            </a:endParaRPr>
          </a:p>
        </p:txBody>
      </p:sp>
      <p:sp>
        <p:nvSpPr>
          <p:cNvPr id="891" name="Google Shape;891;p1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6" name="Shape 896"/>
        <p:cNvGrpSpPr/>
        <p:nvPr/>
      </p:nvGrpSpPr>
      <p:grpSpPr>
        <a:xfrm>
          <a:off x="0" y="0"/>
          <a:ext cx="0" cy="0"/>
          <a:chOff x="0" y="0"/>
          <a:chExt cx="0" cy="0"/>
        </a:xfrm>
      </p:grpSpPr>
      <p:sp>
        <p:nvSpPr>
          <p:cNvPr id="897" name="Google Shape;897;p112"/>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Python Functions Arguments</a:t>
            </a:r>
            <a:endParaRPr b="1" sz="3000">
              <a:solidFill>
                <a:srgbClr val="1C3678"/>
              </a:solidFill>
              <a:latin typeface="Trebuchet MS"/>
              <a:ea typeface="Trebuchet MS"/>
              <a:cs typeface="Trebuchet MS"/>
              <a:sym typeface="Trebuchet MS"/>
            </a:endParaRPr>
          </a:p>
        </p:txBody>
      </p:sp>
      <p:sp>
        <p:nvSpPr>
          <p:cNvPr id="898" name="Google Shape;898;p112"/>
          <p:cNvSpPr txBox="1"/>
          <p:nvPr/>
        </p:nvSpPr>
        <p:spPr>
          <a:xfrm>
            <a:off x="688425" y="793125"/>
            <a:ext cx="8107500" cy="15117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latin typeface="Times"/>
                <a:ea typeface="Times"/>
                <a:cs typeface="Times"/>
                <a:sym typeface="Times"/>
              </a:rPr>
              <a:t>Types of Python Function Arguments</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Default argument</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Keyword arguments (named arguments)</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Positional arguments</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Arbitrary arguments (variable-length arguments *args and **kwargs)</a:t>
            </a:r>
            <a:endParaRPr sz="1800">
              <a:latin typeface="Times"/>
              <a:ea typeface="Times"/>
              <a:cs typeface="Times"/>
              <a:sym typeface="Times"/>
            </a:endParaRPr>
          </a:p>
        </p:txBody>
      </p:sp>
      <p:sp>
        <p:nvSpPr>
          <p:cNvPr id="899" name="Google Shape;899;p1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4" name="Shape 904"/>
        <p:cNvGrpSpPr/>
        <p:nvPr/>
      </p:nvGrpSpPr>
      <p:grpSpPr>
        <a:xfrm>
          <a:off x="0" y="0"/>
          <a:ext cx="0" cy="0"/>
          <a:chOff x="0" y="0"/>
          <a:chExt cx="0" cy="0"/>
        </a:xfrm>
      </p:grpSpPr>
      <p:sp>
        <p:nvSpPr>
          <p:cNvPr id="905" name="Google Shape;905;p113"/>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Default Arguments</a:t>
            </a:r>
            <a:endParaRPr b="1" sz="3000">
              <a:solidFill>
                <a:srgbClr val="1C3678"/>
              </a:solidFill>
              <a:latin typeface="Trebuchet MS"/>
              <a:ea typeface="Trebuchet MS"/>
              <a:cs typeface="Trebuchet MS"/>
              <a:sym typeface="Trebuchet MS"/>
            </a:endParaRPr>
          </a:p>
        </p:txBody>
      </p:sp>
      <p:sp>
        <p:nvSpPr>
          <p:cNvPr id="906" name="Google Shape;906;p113"/>
          <p:cNvSpPr txBox="1"/>
          <p:nvPr/>
        </p:nvSpPr>
        <p:spPr>
          <a:xfrm>
            <a:off x="688425" y="793125"/>
            <a:ext cx="8107500" cy="3748800"/>
          </a:xfrm>
          <a:prstGeom prst="rect">
            <a:avLst/>
          </a:prstGeom>
          <a:noFill/>
          <a:ln>
            <a:noFill/>
          </a:ln>
        </p:spPr>
        <p:txBody>
          <a:bodyPr anchorCtr="0" anchor="t" bIns="0" lIns="0" spcFirstLastPara="1" rIns="0" wrap="square" tIns="125075">
            <a:spAutoFit/>
          </a:bodyPr>
          <a:lstStyle/>
          <a:p>
            <a:pPr indent="0" lvl="0" marL="114300" rtl="0" algn="just">
              <a:spcBef>
                <a:spcPts val="290"/>
              </a:spcBef>
              <a:spcAft>
                <a:spcPts val="0"/>
              </a:spcAft>
              <a:buNone/>
            </a:pPr>
            <a:r>
              <a:rPr lang="en-US" sz="1800">
                <a:latin typeface="Times"/>
                <a:ea typeface="Times"/>
                <a:cs typeface="Times"/>
                <a:sym typeface="Times"/>
              </a:rPr>
              <a:t>A default argument is a parameter that assumes a default value if a value is not provided in the function call for that argument.</a:t>
            </a:r>
            <a:endParaRPr sz="1800">
              <a:latin typeface="Times"/>
              <a:ea typeface="Times"/>
              <a:cs typeface="Times"/>
              <a:sym typeface="Times"/>
            </a:endParaRPr>
          </a:p>
          <a:p>
            <a:pPr indent="0" lvl="0" marL="114300" rtl="0" algn="just">
              <a:spcBef>
                <a:spcPts val="290"/>
              </a:spcBef>
              <a:spcAft>
                <a:spcPts val="0"/>
              </a:spcAft>
              <a:buNone/>
            </a:pPr>
            <a:r>
              <a:t/>
            </a:r>
            <a:endParaRPr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def myFun(x, y=50):</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    print("x: ", x)</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    print("y: ", y)</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 Driver code (We call myFun() with only argument)</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myFun(10)</a:t>
            </a:r>
            <a:endParaRPr i="1" sz="1800">
              <a:latin typeface="Times"/>
              <a:ea typeface="Times"/>
              <a:cs typeface="Times"/>
              <a:sym typeface="Times"/>
            </a:endParaRPr>
          </a:p>
          <a:p>
            <a:pPr indent="0" lvl="0" marL="571500" rtl="0" algn="just">
              <a:spcBef>
                <a:spcPts val="290"/>
              </a:spcBef>
              <a:spcAft>
                <a:spcPts val="0"/>
              </a:spcAft>
              <a:buNone/>
            </a:pPr>
            <a:r>
              <a:t/>
            </a:r>
            <a:endParaRPr i="1" sz="1800">
              <a:latin typeface="Times"/>
              <a:ea typeface="Times"/>
              <a:cs typeface="Times"/>
              <a:sym typeface="Times"/>
            </a:endParaRPr>
          </a:p>
          <a:p>
            <a:pPr indent="0" lvl="0" marL="114300" rtl="0" algn="just">
              <a:spcBef>
                <a:spcPts val="290"/>
              </a:spcBef>
              <a:spcAft>
                <a:spcPts val="0"/>
              </a:spcAft>
              <a:buNone/>
            </a:pPr>
            <a:r>
              <a:rPr lang="en-US" sz="1800">
                <a:latin typeface="Times"/>
                <a:ea typeface="Times"/>
                <a:cs typeface="Times"/>
                <a:sym typeface="Times"/>
              </a:rPr>
              <a:t>Like C++ default arguments, any number of arguments in a function can have a default value. But once we have a default argument, all the arguments to its right must also have default values.</a:t>
            </a:r>
            <a:endParaRPr sz="1800">
              <a:latin typeface="Times"/>
              <a:ea typeface="Times"/>
              <a:cs typeface="Times"/>
              <a:sym typeface="Times"/>
            </a:endParaRPr>
          </a:p>
        </p:txBody>
      </p:sp>
      <p:sp>
        <p:nvSpPr>
          <p:cNvPr id="907" name="Google Shape;907;p1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2" name="Shape 912"/>
        <p:cNvGrpSpPr/>
        <p:nvPr/>
      </p:nvGrpSpPr>
      <p:grpSpPr>
        <a:xfrm>
          <a:off x="0" y="0"/>
          <a:ext cx="0" cy="0"/>
          <a:chOff x="0" y="0"/>
          <a:chExt cx="0" cy="0"/>
        </a:xfrm>
      </p:grpSpPr>
      <p:sp>
        <p:nvSpPr>
          <p:cNvPr id="913" name="Google Shape;913;p114"/>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Keyword</a:t>
            </a:r>
            <a:r>
              <a:rPr b="1" lang="en-US" sz="3000">
                <a:solidFill>
                  <a:srgbClr val="1C3678"/>
                </a:solidFill>
                <a:latin typeface="Trebuchet MS"/>
                <a:ea typeface="Trebuchet MS"/>
                <a:cs typeface="Trebuchet MS"/>
                <a:sym typeface="Trebuchet MS"/>
              </a:rPr>
              <a:t> Arguments</a:t>
            </a:r>
            <a:endParaRPr b="1" sz="3000">
              <a:solidFill>
                <a:srgbClr val="1C3678"/>
              </a:solidFill>
              <a:latin typeface="Trebuchet MS"/>
              <a:ea typeface="Trebuchet MS"/>
              <a:cs typeface="Trebuchet MS"/>
              <a:sym typeface="Trebuchet MS"/>
            </a:endParaRPr>
          </a:p>
        </p:txBody>
      </p:sp>
      <p:sp>
        <p:nvSpPr>
          <p:cNvPr id="914" name="Google Shape;914;p114"/>
          <p:cNvSpPr txBox="1"/>
          <p:nvPr/>
        </p:nvSpPr>
        <p:spPr>
          <a:xfrm>
            <a:off x="688425" y="793125"/>
            <a:ext cx="8107500" cy="3194400"/>
          </a:xfrm>
          <a:prstGeom prst="rect">
            <a:avLst/>
          </a:prstGeom>
          <a:noFill/>
          <a:ln>
            <a:noFill/>
          </a:ln>
        </p:spPr>
        <p:txBody>
          <a:bodyPr anchorCtr="0" anchor="t" bIns="0" lIns="0" spcFirstLastPara="1" rIns="0" wrap="square" tIns="125075">
            <a:spAutoFit/>
          </a:bodyPr>
          <a:lstStyle/>
          <a:p>
            <a:pPr indent="0" lvl="0" marL="114300" rtl="0" algn="just">
              <a:spcBef>
                <a:spcPts val="290"/>
              </a:spcBef>
              <a:spcAft>
                <a:spcPts val="0"/>
              </a:spcAft>
              <a:buNone/>
            </a:pPr>
            <a:r>
              <a:rPr lang="en-US" sz="1800">
                <a:latin typeface="Times"/>
                <a:ea typeface="Times"/>
                <a:cs typeface="Times"/>
                <a:sym typeface="Times"/>
              </a:rPr>
              <a:t>The idea is to allow the caller to specify the argument name with values so that the caller does not need to remember the order of parameters.</a:t>
            </a:r>
            <a:endParaRPr sz="1800">
              <a:latin typeface="Times"/>
              <a:ea typeface="Times"/>
              <a:cs typeface="Times"/>
              <a:sym typeface="Times"/>
            </a:endParaRPr>
          </a:p>
          <a:p>
            <a:pPr indent="0" lvl="0" marL="114300" rtl="0" algn="just">
              <a:spcBef>
                <a:spcPts val="290"/>
              </a:spcBef>
              <a:spcAft>
                <a:spcPts val="0"/>
              </a:spcAft>
              <a:buNone/>
            </a:pPr>
            <a:r>
              <a:t/>
            </a:r>
            <a:endParaRPr sz="1800">
              <a:latin typeface="Times"/>
              <a:ea typeface="Times"/>
              <a:cs typeface="Times"/>
              <a:sym typeface="Times"/>
            </a:endParaRPr>
          </a:p>
          <a:p>
            <a:pPr indent="342900" lvl="0" marL="114300" rtl="0" algn="just">
              <a:spcBef>
                <a:spcPts val="290"/>
              </a:spcBef>
              <a:spcAft>
                <a:spcPts val="0"/>
              </a:spcAft>
              <a:buNone/>
            </a:pPr>
            <a:r>
              <a:rPr lang="en-US" sz="1800">
                <a:latin typeface="Times"/>
                <a:ea typeface="Times"/>
                <a:cs typeface="Times"/>
                <a:sym typeface="Times"/>
              </a:rPr>
              <a:t># Python program to demonstrate Keyword Arguments</a:t>
            </a:r>
            <a:endParaRPr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def student(firstname, lastname):</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    	print(firstname, lastname)</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 Keyword arguments</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student(firstname='Baburam', lastname='Shrestha')</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student(lastname='Shyam', firstname='Gayak')</a:t>
            </a:r>
            <a:endParaRPr i="1" sz="1800">
              <a:latin typeface="Times"/>
              <a:ea typeface="Times"/>
              <a:cs typeface="Times"/>
              <a:sym typeface="Times"/>
            </a:endParaRPr>
          </a:p>
          <a:p>
            <a:pPr indent="0" lvl="0" marL="114300" rtl="0" algn="just">
              <a:spcBef>
                <a:spcPts val="290"/>
              </a:spcBef>
              <a:spcAft>
                <a:spcPts val="0"/>
              </a:spcAft>
              <a:buNone/>
            </a:pPr>
            <a:r>
              <a:t/>
            </a:r>
            <a:endParaRPr sz="1800">
              <a:latin typeface="Times"/>
              <a:ea typeface="Times"/>
              <a:cs typeface="Times"/>
              <a:sym typeface="Times"/>
            </a:endParaRPr>
          </a:p>
        </p:txBody>
      </p:sp>
      <p:sp>
        <p:nvSpPr>
          <p:cNvPr id="915" name="Google Shape;915;p1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0" name="Shape 920"/>
        <p:cNvGrpSpPr/>
        <p:nvPr/>
      </p:nvGrpSpPr>
      <p:grpSpPr>
        <a:xfrm>
          <a:off x="0" y="0"/>
          <a:ext cx="0" cy="0"/>
          <a:chOff x="0" y="0"/>
          <a:chExt cx="0" cy="0"/>
        </a:xfrm>
      </p:grpSpPr>
      <p:sp>
        <p:nvSpPr>
          <p:cNvPr id="921" name="Google Shape;921;p115"/>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Positional</a:t>
            </a:r>
            <a:r>
              <a:rPr b="1" lang="en-US" sz="3000">
                <a:solidFill>
                  <a:srgbClr val="1C3678"/>
                </a:solidFill>
                <a:latin typeface="Trebuchet MS"/>
                <a:ea typeface="Trebuchet MS"/>
                <a:cs typeface="Trebuchet MS"/>
                <a:sym typeface="Trebuchet MS"/>
              </a:rPr>
              <a:t> Arguments</a:t>
            </a:r>
            <a:endParaRPr b="1" sz="3000">
              <a:solidFill>
                <a:srgbClr val="1C3678"/>
              </a:solidFill>
              <a:latin typeface="Trebuchet MS"/>
              <a:ea typeface="Trebuchet MS"/>
              <a:cs typeface="Trebuchet MS"/>
              <a:sym typeface="Trebuchet MS"/>
            </a:endParaRPr>
          </a:p>
        </p:txBody>
      </p:sp>
      <p:sp>
        <p:nvSpPr>
          <p:cNvPr id="922" name="Google Shape;922;p115"/>
          <p:cNvSpPr txBox="1"/>
          <p:nvPr/>
        </p:nvSpPr>
        <p:spPr>
          <a:xfrm>
            <a:off x="688425" y="793125"/>
            <a:ext cx="8107500" cy="4605600"/>
          </a:xfrm>
          <a:prstGeom prst="rect">
            <a:avLst/>
          </a:prstGeom>
          <a:noFill/>
          <a:ln>
            <a:noFill/>
          </a:ln>
        </p:spPr>
        <p:txBody>
          <a:bodyPr anchorCtr="0" anchor="t" bIns="0" lIns="0" spcFirstLastPara="1" rIns="0" wrap="square" tIns="125075">
            <a:spAutoFit/>
          </a:bodyPr>
          <a:lstStyle/>
          <a:p>
            <a:pPr indent="0" lvl="0" marL="114300" rtl="0" algn="just">
              <a:spcBef>
                <a:spcPts val="290"/>
              </a:spcBef>
              <a:spcAft>
                <a:spcPts val="0"/>
              </a:spcAft>
              <a:buNone/>
            </a:pPr>
            <a:r>
              <a:rPr lang="en-US" sz="1800">
                <a:latin typeface="Times"/>
                <a:ea typeface="Times"/>
                <a:cs typeface="Times"/>
                <a:sym typeface="Times"/>
              </a:rPr>
              <a:t>We used the Position argument during the function call so that the first argument (or value) is assigned to name and the second argument (or value) is assigned to age. </a:t>
            </a:r>
            <a:endParaRPr sz="1800">
              <a:latin typeface="Times"/>
              <a:ea typeface="Times"/>
              <a:cs typeface="Times"/>
              <a:sym typeface="Times"/>
            </a:endParaRPr>
          </a:p>
          <a:p>
            <a:pPr indent="0" lvl="0" marL="114300" rtl="0" algn="just">
              <a:spcBef>
                <a:spcPts val="290"/>
              </a:spcBef>
              <a:spcAft>
                <a:spcPts val="0"/>
              </a:spcAft>
              <a:buNone/>
            </a:pPr>
            <a:r>
              <a:rPr lang="en-US" sz="1800">
                <a:latin typeface="Times"/>
                <a:ea typeface="Times"/>
                <a:cs typeface="Times"/>
                <a:sym typeface="Times"/>
              </a:rPr>
              <a:t>By changing the position, or if you forget the order of the positions, the values can be used in the wrong places.</a:t>
            </a:r>
            <a:endParaRPr sz="1800">
              <a:latin typeface="Times"/>
              <a:ea typeface="Times"/>
              <a:cs typeface="Times"/>
              <a:sym typeface="Times"/>
            </a:endParaRPr>
          </a:p>
          <a:p>
            <a:pPr indent="0" lvl="0" marL="114300" rtl="0" algn="just">
              <a:spcBef>
                <a:spcPts val="290"/>
              </a:spcBef>
              <a:spcAft>
                <a:spcPts val="0"/>
              </a:spcAft>
              <a:buNone/>
            </a:pPr>
            <a:r>
              <a:t/>
            </a:r>
            <a:endParaRPr sz="1800">
              <a:latin typeface="Times"/>
              <a:ea typeface="Times"/>
              <a:cs typeface="Times"/>
              <a:sym typeface="Times"/>
            </a:endParaRPr>
          </a:p>
          <a:p>
            <a:pPr indent="0" lvl="0" marL="571500" rtl="0" algn="just">
              <a:spcBef>
                <a:spcPts val="290"/>
              </a:spcBef>
              <a:spcAft>
                <a:spcPts val="0"/>
              </a:spcAft>
              <a:buNone/>
            </a:pPr>
            <a:r>
              <a:rPr i="1" lang="en-US" sz="1700">
                <a:latin typeface="Times"/>
                <a:ea typeface="Times"/>
                <a:cs typeface="Times"/>
                <a:sym typeface="Times"/>
              </a:rPr>
              <a:t>def nameAge(name, age):</a:t>
            </a:r>
            <a:endParaRPr i="1" sz="1700">
              <a:latin typeface="Times"/>
              <a:ea typeface="Times"/>
              <a:cs typeface="Times"/>
              <a:sym typeface="Times"/>
            </a:endParaRPr>
          </a:p>
          <a:p>
            <a:pPr indent="0" lvl="0" marL="571500" rtl="0" algn="just">
              <a:spcBef>
                <a:spcPts val="290"/>
              </a:spcBef>
              <a:spcAft>
                <a:spcPts val="0"/>
              </a:spcAft>
              <a:buNone/>
            </a:pPr>
            <a:r>
              <a:rPr i="1" lang="en-US" sz="1700">
                <a:latin typeface="Times"/>
                <a:ea typeface="Times"/>
                <a:cs typeface="Times"/>
                <a:sym typeface="Times"/>
              </a:rPr>
              <a:t>    print("Hi, I am", name)</a:t>
            </a:r>
            <a:endParaRPr i="1" sz="1700">
              <a:latin typeface="Times"/>
              <a:ea typeface="Times"/>
              <a:cs typeface="Times"/>
              <a:sym typeface="Times"/>
            </a:endParaRPr>
          </a:p>
          <a:p>
            <a:pPr indent="0" lvl="0" marL="571500" rtl="0" algn="just">
              <a:spcBef>
                <a:spcPts val="290"/>
              </a:spcBef>
              <a:spcAft>
                <a:spcPts val="0"/>
              </a:spcAft>
              <a:buNone/>
            </a:pPr>
            <a:r>
              <a:rPr i="1" lang="en-US" sz="1700">
                <a:latin typeface="Times"/>
                <a:ea typeface="Times"/>
                <a:cs typeface="Times"/>
                <a:sym typeface="Times"/>
              </a:rPr>
              <a:t>    print("My age is ", age)</a:t>
            </a:r>
            <a:endParaRPr i="1" sz="1700">
              <a:latin typeface="Times"/>
              <a:ea typeface="Times"/>
              <a:cs typeface="Times"/>
              <a:sym typeface="Times"/>
            </a:endParaRPr>
          </a:p>
          <a:p>
            <a:pPr indent="0" lvl="0" marL="571500" rtl="0" algn="just">
              <a:spcBef>
                <a:spcPts val="290"/>
              </a:spcBef>
              <a:spcAft>
                <a:spcPts val="0"/>
              </a:spcAft>
              <a:buNone/>
            </a:pPr>
            <a:r>
              <a:t/>
            </a:r>
            <a:endParaRPr i="1" sz="1700">
              <a:latin typeface="Times"/>
              <a:ea typeface="Times"/>
              <a:cs typeface="Times"/>
              <a:sym typeface="Times"/>
            </a:endParaRPr>
          </a:p>
          <a:p>
            <a:pPr indent="0" lvl="0" marL="571500" rtl="0" algn="just">
              <a:spcBef>
                <a:spcPts val="290"/>
              </a:spcBef>
              <a:spcAft>
                <a:spcPts val="0"/>
              </a:spcAft>
              <a:buNone/>
            </a:pPr>
            <a:r>
              <a:rPr i="1" lang="en-US" sz="1700">
                <a:latin typeface="Times"/>
                <a:ea typeface="Times"/>
                <a:cs typeface="Times"/>
                <a:sym typeface="Times"/>
              </a:rPr>
              <a:t># You will get correct output because argument is given in order</a:t>
            </a:r>
            <a:endParaRPr i="1" sz="1700">
              <a:latin typeface="Times"/>
              <a:ea typeface="Times"/>
              <a:cs typeface="Times"/>
              <a:sym typeface="Times"/>
            </a:endParaRPr>
          </a:p>
          <a:p>
            <a:pPr indent="0" lvl="0" marL="571500" rtl="0" algn="just">
              <a:spcBef>
                <a:spcPts val="290"/>
              </a:spcBef>
              <a:spcAft>
                <a:spcPts val="0"/>
              </a:spcAft>
              <a:buNone/>
            </a:pPr>
            <a:r>
              <a:rPr i="1" lang="en-US" sz="1700">
                <a:latin typeface="Times"/>
                <a:ea typeface="Times"/>
                <a:cs typeface="Times"/>
                <a:sym typeface="Times"/>
              </a:rPr>
              <a:t>nameAge(name="Suraj", age=27)</a:t>
            </a:r>
            <a:endParaRPr i="1" sz="1700">
              <a:latin typeface="Times"/>
              <a:ea typeface="Times"/>
              <a:cs typeface="Times"/>
              <a:sym typeface="Times"/>
            </a:endParaRPr>
          </a:p>
          <a:p>
            <a:pPr indent="0" lvl="0" marL="571500" rtl="0" algn="just">
              <a:spcBef>
                <a:spcPts val="290"/>
              </a:spcBef>
              <a:spcAft>
                <a:spcPts val="0"/>
              </a:spcAft>
              <a:buNone/>
            </a:pPr>
            <a:r>
              <a:rPr i="1" lang="en-US" sz="1700">
                <a:latin typeface="Times"/>
                <a:ea typeface="Times"/>
                <a:cs typeface="Times"/>
                <a:sym typeface="Times"/>
              </a:rPr>
              <a:t># You will get correct output because argument is not in order</a:t>
            </a:r>
            <a:endParaRPr i="1" sz="1700">
              <a:latin typeface="Times"/>
              <a:ea typeface="Times"/>
              <a:cs typeface="Times"/>
              <a:sym typeface="Times"/>
            </a:endParaRPr>
          </a:p>
          <a:p>
            <a:pPr indent="0" lvl="0" marL="571500" rtl="0" algn="just">
              <a:spcBef>
                <a:spcPts val="290"/>
              </a:spcBef>
              <a:spcAft>
                <a:spcPts val="0"/>
              </a:spcAft>
              <a:buNone/>
            </a:pPr>
            <a:r>
              <a:rPr i="1" lang="en-US" sz="1700">
                <a:latin typeface="Times"/>
                <a:ea typeface="Times"/>
                <a:cs typeface="Times"/>
                <a:sym typeface="Times"/>
              </a:rPr>
              <a:t>nameAge(age=27, name="Suraj")</a:t>
            </a:r>
            <a:endParaRPr sz="1800">
              <a:latin typeface="Times"/>
              <a:ea typeface="Times"/>
              <a:cs typeface="Times"/>
              <a:sym typeface="Times"/>
            </a:endParaRPr>
          </a:p>
          <a:p>
            <a:pPr indent="0" lvl="0" marL="114300" rtl="0" algn="just">
              <a:spcBef>
                <a:spcPts val="290"/>
              </a:spcBef>
              <a:spcAft>
                <a:spcPts val="0"/>
              </a:spcAft>
              <a:buNone/>
            </a:pPr>
            <a:r>
              <a:t/>
            </a:r>
            <a:endParaRPr sz="1800">
              <a:latin typeface="Times"/>
              <a:ea typeface="Times"/>
              <a:cs typeface="Times"/>
              <a:sym typeface="Times"/>
            </a:endParaRPr>
          </a:p>
          <a:p>
            <a:pPr indent="0" lvl="0" marL="114300" rtl="0" algn="just">
              <a:spcBef>
                <a:spcPts val="290"/>
              </a:spcBef>
              <a:spcAft>
                <a:spcPts val="0"/>
              </a:spcAft>
              <a:buNone/>
            </a:pPr>
            <a:r>
              <a:t/>
            </a:r>
            <a:endParaRPr sz="1800">
              <a:latin typeface="Times"/>
              <a:ea typeface="Times"/>
              <a:cs typeface="Times"/>
              <a:sym typeface="Times"/>
            </a:endParaRPr>
          </a:p>
        </p:txBody>
      </p:sp>
      <p:sp>
        <p:nvSpPr>
          <p:cNvPr id="923" name="Google Shape;923;p1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8" name="Shape 928"/>
        <p:cNvGrpSpPr/>
        <p:nvPr/>
      </p:nvGrpSpPr>
      <p:grpSpPr>
        <a:xfrm>
          <a:off x="0" y="0"/>
          <a:ext cx="0" cy="0"/>
          <a:chOff x="0" y="0"/>
          <a:chExt cx="0" cy="0"/>
        </a:xfrm>
      </p:grpSpPr>
      <p:sp>
        <p:nvSpPr>
          <p:cNvPr id="929" name="Google Shape;929;p116"/>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Arbitrary</a:t>
            </a:r>
            <a:r>
              <a:rPr b="1" lang="en-US" sz="3000">
                <a:solidFill>
                  <a:srgbClr val="1C3678"/>
                </a:solidFill>
                <a:latin typeface="Trebuchet MS"/>
                <a:ea typeface="Trebuchet MS"/>
                <a:cs typeface="Trebuchet MS"/>
                <a:sym typeface="Trebuchet MS"/>
              </a:rPr>
              <a:t> Arguments( *args, **kwargs)</a:t>
            </a:r>
            <a:endParaRPr b="1" sz="3000">
              <a:solidFill>
                <a:srgbClr val="1C3678"/>
              </a:solidFill>
              <a:latin typeface="Trebuchet MS"/>
              <a:ea typeface="Trebuchet MS"/>
              <a:cs typeface="Trebuchet MS"/>
              <a:sym typeface="Trebuchet MS"/>
            </a:endParaRPr>
          </a:p>
        </p:txBody>
      </p:sp>
      <p:sp>
        <p:nvSpPr>
          <p:cNvPr id="930" name="Google Shape;930;p116"/>
          <p:cNvSpPr txBox="1"/>
          <p:nvPr/>
        </p:nvSpPr>
        <p:spPr>
          <a:xfrm>
            <a:off x="688425" y="793125"/>
            <a:ext cx="8107500" cy="1937400"/>
          </a:xfrm>
          <a:prstGeom prst="rect">
            <a:avLst/>
          </a:prstGeom>
          <a:noFill/>
          <a:ln>
            <a:noFill/>
          </a:ln>
        </p:spPr>
        <p:txBody>
          <a:bodyPr anchorCtr="0" anchor="t" bIns="0" lIns="0" spcFirstLastPara="1" rIns="0" wrap="square" tIns="125075">
            <a:spAutoFit/>
          </a:bodyPr>
          <a:lstStyle/>
          <a:p>
            <a:pPr indent="0" lvl="0" marL="114300" rtl="0" algn="just">
              <a:spcBef>
                <a:spcPts val="290"/>
              </a:spcBef>
              <a:spcAft>
                <a:spcPts val="0"/>
              </a:spcAft>
              <a:buNone/>
            </a:pPr>
            <a:r>
              <a:rPr lang="en-US" sz="1800">
                <a:latin typeface="Times"/>
                <a:ea typeface="Times"/>
                <a:cs typeface="Times"/>
                <a:sym typeface="Times"/>
              </a:rPr>
              <a:t>In Python Arbitrary Keyword Arguments, *args, and **kwargs can pass a variable number of arguments to a function using special symbols. </a:t>
            </a:r>
            <a:endParaRPr sz="1800">
              <a:latin typeface="Times"/>
              <a:ea typeface="Times"/>
              <a:cs typeface="Times"/>
              <a:sym typeface="Times"/>
            </a:endParaRPr>
          </a:p>
          <a:p>
            <a:pPr indent="0" lvl="0" marL="114300" rtl="0" algn="just">
              <a:spcBef>
                <a:spcPts val="290"/>
              </a:spcBef>
              <a:spcAft>
                <a:spcPts val="0"/>
              </a:spcAft>
              <a:buNone/>
            </a:pPr>
            <a:r>
              <a:t/>
            </a:r>
            <a:endParaRPr sz="1800">
              <a:latin typeface="Times"/>
              <a:ea typeface="Times"/>
              <a:cs typeface="Times"/>
              <a:sym typeface="Times"/>
            </a:endParaRPr>
          </a:p>
          <a:p>
            <a:pPr indent="0" lvl="0" marL="114300" rtl="0" algn="just">
              <a:spcBef>
                <a:spcPts val="290"/>
              </a:spcBef>
              <a:spcAft>
                <a:spcPts val="0"/>
              </a:spcAft>
              <a:buNone/>
            </a:pPr>
            <a:r>
              <a:rPr lang="en-US" sz="1800">
                <a:latin typeface="Times"/>
                <a:ea typeface="Times"/>
                <a:cs typeface="Times"/>
                <a:sym typeface="Times"/>
              </a:rPr>
              <a:t>There are two special symbols:</a:t>
            </a:r>
            <a:endParaRPr sz="1800">
              <a:latin typeface="Times"/>
              <a:ea typeface="Times"/>
              <a:cs typeface="Times"/>
              <a:sym typeface="Times"/>
            </a:endParaRPr>
          </a:p>
          <a:p>
            <a:pPr indent="0" lvl="0" marL="571500" rtl="0" algn="just">
              <a:spcBef>
                <a:spcPts val="290"/>
              </a:spcBef>
              <a:spcAft>
                <a:spcPts val="0"/>
              </a:spcAft>
              <a:buNone/>
            </a:pPr>
            <a:r>
              <a:rPr lang="en-US" sz="1800">
                <a:latin typeface="Times"/>
                <a:ea typeface="Times"/>
                <a:cs typeface="Times"/>
                <a:sym typeface="Times"/>
              </a:rPr>
              <a:t>*args in Python (Non-Keyword Arguments)</a:t>
            </a:r>
            <a:endParaRPr sz="1800">
              <a:latin typeface="Times"/>
              <a:ea typeface="Times"/>
              <a:cs typeface="Times"/>
              <a:sym typeface="Times"/>
            </a:endParaRPr>
          </a:p>
          <a:p>
            <a:pPr indent="0" lvl="0" marL="571500" rtl="0" algn="just">
              <a:spcBef>
                <a:spcPts val="290"/>
              </a:spcBef>
              <a:spcAft>
                <a:spcPts val="0"/>
              </a:spcAft>
              <a:buNone/>
            </a:pPr>
            <a:r>
              <a:rPr lang="en-US" sz="1800">
                <a:latin typeface="Times"/>
                <a:ea typeface="Times"/>
                <a:cs typeface="Times"/>
                <a:sym typeface="Times"/>
              </a:rPr>
              <a:t>**kwargs in Python (Keyword Arguments)</a:t>
            </a:r>
            <a:endParaRPr sz="1800">
              <a:latin typeface="Times"/>
              <a:ea typeface="Times"/>
              <a:cs typeface="Times"/>
              <a:sym typeface="Times"/>
            </a:endParaRPr>
          </a:p>
        </p:txBody>
      </p:sp>
      <p:sp>
        <p:nvSpPr>
          <p:cNvPr id="931" name="Google Shape;931;p1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6" name="Shape 936"/>
        <p:cNvGrpSpPr/>
        <p:nvPr/>
      </p:nvGrpSpPr>
      <p:grpSpPr>
        <a:xfrm>
          <a:off x="0" y="0"/>
          <a:ext cx="0" cy="0"/>
          <a:chOff x="0" y="0"/>
          <a:chExt cx="0" cy="0"/>
        </a:xfrm>
      </p:grpSpPr>
      <p:sp>
        <p:nvSpPr>
          <p:cNvPr id="937" name="Google Shape;937;p117"/>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Arbitrary Arguments( *args, **kwargs)</a:t>
            </a:r>
            <a:endParaRPr b="1" sz="3000">
              <a:solidFill>
                <a:srgbClr val="1C3678"/>
              </a:solidFill>
              <a:latin typeface="Trebuchet MS"/>
              <a:ea typeface="Trebuchet MS"/>
              <a:cs typeface="Trebuchet MS"/>
              <a:sym typeface="Trebuchet MS"/>
            </a:endParaRPr>
          </a:p>
        </p:txBody>
      </p:sp>
      <p:sp>
        <p:nvSpPr>
          <p:cNvPr id="938" name="Google Shape;938;p117"/>
          <p:cNvSpPr txBox="1"/>
          <p:nvPr/>
        </p:nvSpPr>
        <p:spPr>
          <a:xfrm>
            <a:off x="688425" y="793125"/>
            <a:ext cx="8107500" cy="40887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latin typeface="Times"/>
                <a:ea typeface="Times"/>
                <a:cs typeface="Times"/>
                <a:sym typeface="Times"/>
              </a:rPr>
              <a:t>Example 1: Variable length non-keywords argument</a:t>
            </a:r>
            <a:endParaRPr sz="18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 *args for variable number of arguments</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def myFun(*argv):</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    for arg in argv:</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        print(arg)</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 Driver code</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myFun('Hello', </a:t>
            </a:r>
            <a:r>
              <a:rPr i="1" lang="en-US" sz="1600">
                <a:latin typeface="Times"/>
                <a:ea typeface="Times"/>
                <a:cs typeface="Times"/>
                <a:sym typeface="Times"/>
              </a:rPr>
              <a:t>'I'</a:t>
            </a:r>
            <a:r>
              <a:rPr i="1" lang="en-US" sz="1600">
                <a:latin typeface="Times"/>
                <a:ea typeface="Times"/>
                <a:cs typeface="Times"/>
                <a:sym typeface="Times"/>
              </a:rPr>
              <a:t>, 'am', 'Baburam'</a:t>
            </a:r>
            <a:r>
              <a:rPr i="1" lang="en-US" sz="1600">
                <a:latin typeface="Times"/>
                <a:ea typeface="Times"/>
                <a:cs typeface="Times"/>
                <a:sym typeface="Times"/>
              </a:rPr>
              <a:t>, 'Shrestha'</a:t>
            </a:r>
            <a:r>
              <a:rPr i="1" lang="en-US" sz="1600">
                <a:latin typeface="Times"/>
                <a:ea typeface="Times"/>
                <a:cs typeface="Times"/>
                <a:sym typeface="Times"/>
              </a:rPr>
              <a:t>) </a:t>
            </a:r>
            <a:endParaRPr i="1" sz="1600">
              <a:latin typeface="Times"/>
              <a:ea typeface="Times"/>
              <a:cs typeface="Times"/>
              <a:sym typeface="Times"/>
            </a:endParaRPr>
          </a:p>
          <a:p>
            <a:pPr indent="0" lvl="0" marL="914400" rtl="0" algn="just">
              <a:spcBef>
                <a:spcPts val="290"/>
              </a:spcBef>
              <a:spcAft>
                <a:spcPts val="0"/>
              </a:spcAft>
              <a:buNone/>
            </a:pPr>
            <a:r>
              <a:t/>
            </a:r>
            <a:endParaRPr i="1" sz="1600">
              <a:latin typeface="Times"/>
              <a:ea typeface="Times"/>
              <a:cs typeface="Times"/>
              <a:sym typeface="Times"/>
            </a:endParaRPr>
          </a:p>
          <a:p>
            <a:pPr indent="457200" lvl="0" marL="0" rtl="0" algn="just">
              <a:spcBef>
                <a:spcPts val="290"/>
              </a:spcBef>
              <a:spcAft>
                <a:spcPts val="0"/>
              </a:spcAft>
              <a:buNone/>
            </a:pPr>
            <a:r>
              <a:rPr i="1" lang="en-US" sz="1600">
                <a:latin typeface="Times"/>
                <a:ea typeface="Times"/>
                <a:cs typeface="Times"/>
                <a:sym typeface="Times"/>
              </a:rPr>
              <a:t>Output:</a:t>
            </a:r>
            <a:endParaRPr i="1" sz="1600">
              <a:latin typeface="Times"/>
              <a:ea typeface="Times"/>
              <a:cs typeface="Times"/>
              <a:sym typeface="Times"/>
            </a:endParaRPr>
          </a:p>
          <a:p>
            <a:pPr indent="457200" lvl="0" marL="0" rtl="0" algn="just">
              <a:spcBef>
                <a:spcPts val="290"/>
              </a:spcBef>
              <a:spcAft>
                <a:spcPts val="0"/>
              </a:spcAft>
              <a:buNone/>
            </a:pPr>
            <a:r>
              <a:rPr i="1" lang="en-US" sz="1600">
                <a:latin typeface="Times"/>
                <a:ea typeface="Times"/>
                <a:cs typeface="Times"/>
                <a:sym typeface="Times"/>
              </a:rPr>
              <a:t> Hello</a:t>
            </a:r>
            <a:endParaRPr i="1" sz="1600">
              <a:latin typeface="Times"/>
              <a:ea typeface="Times"/>
              <a:cs typeface="Times"/>
              <a:sym typeface="Times"/>
            </a:endParaRPr>
          </a:p>
          <a:p>
            <a:pPr indent="457200" lvl="0" marL="0" rtl="0" algn="just">
              <a:spcBef>
                <a:spcPts val="290"/>
              </a:spcBef>
              <a:spcAft>
                <a:spcPts val="0"/>
              </a:spcAft>
              <a:buNone/>
            </a:pPr>
            <a:r>
              <a:rPr i="1" lang="en-US" sz="1600">
                <a:latin typeface="Times"/>
                <a:ea typeface="Times"/>
                <a:cs typeface="Times"/>
                <a:sym typeface="Times"/>
              </a:rPr>
              <a:t>I</a:t>
            </a:r>
            <a:endParaRPr i="1" sz="1600">
              <a:latin typeface="Times"/>
              <a:ea typeface="Times"/>
              <a:cs typeface="Times"/>
              <a:sym typeface="Times"/>
            </a:endParaRPr>
          </a:p>
          <a:p>
            <a:pPr indent="457200" lvl="0" marL="0" rtl="0" algn="just">
              <a:spcBef>
                <a:spcPts val="290"/>
              </a:spcBef>
              <a:spcAft>
                <a:spcPts val="0"/>
              </a:spcAft>
              <a:buNone/>
            </a:pPr>
            <a:r>
              <a:rPr i="1" lang="en-US" sz="1600">
                <a:latin typeface="Times"/>
                <a:ea typeface="Times"/>
                <a:cs typeface="Times"/>
                <a:sym typeface="Times"/>
              </a:rPr>
              <a:t>am</a:t>
            </a:r>
            <a:endParaRPr i="1" sz="1600">
              <a:latin typeface="Times"/>
              <a:ea typeface="Times"/>
              <a:cs typeface="Times"/>
              <a:sym typeface="Times"/>
            </a:endParaRPr>
          </a:p>
          <a:p>
            <a:pPr indent="457200" lvl="0" marL="0" rtl="0" algn="just">
              <a:spcBef>
                <a:spcPts val="290"/>
              </a:spcBef>
              <a:spcAft>
                <a:spcPts val="0"/>
              </a:spcAft>
              <a:buNone/>
            </a:pPr>
            <a:r>
              <a:rPr i="1" lang="en-US" sz="1600">
                <a:latin typeface="Times"/>
                <a:ea typeface="Times"/>
                <a:cs typeface="Times"/>
                <a:sym typeface="Times"/>
              </a:rPr>
              <a:t>Baburam</a:t>
            </a:r>
            <a:endParaRPr i="1" sz="1600">
              <a:latin typeface="Times"/>
              <a:ea typeface="Times"/>
              <a:cs typeface="Times"/>
              <a:sym typeface="Times"/>
            </a:endParaRPr>
          </a:p>
          <a:p>
            <a:pPr indent="457200" lvl="0" marL="0" rtl="0" algn="just">
              <a:spcBef>
                <a:spcPts val="290"/>
              </a:spcBef>
              <a:spcAft>
                <a:spcPts val="0"/>
              </a:spcAft>
              <a:buNone/>
            </a:pPr>
            <a:r>
              <a:rPr i="1" lang="en-US" sz="1600">
                <a:latin typeface="Times"/>
                <a:ea typeface="Times"/>
                <a:cs typeface="Times"/>
                <a:sym typeface="Times"/>
              </a:rPr>
              <a:t>Shrestha</a:t>
            </a:r>
            <a:endParaRPr i="1" sz="1600">
              <a:latin typeface="Times"/>
              <a:ea typeface="Times"/>
              <a:cs typeface="Times"/>
              <a:sym typeface="Times"/>
            </a:endParaRPr>
          </a:p>
        </p:txBody>
      </p:sp>
      <p:sp>
        <p:nvSpPr>
          <p:cNvPr id="939" name="Google Shape;939;p1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4" name="Shape 944"/>
        <p:cNvGrpSpPr/>
        <p:nvPr/>
      </p:nvGrpSpPr>
      <p:grpSpPr>
        <a:xfrm>
          <a:off x="0" y="0"/>
          <a:ext cx="0" cy="0"/>
          <a:chOff x="0" y="0"/>
          <a:chExt cx="0" cy="0"/>
        </a:xfrm>
      </p:grpSpPr>
      <p:sp>
        <p:nvSpPr>
          <p:cNvPr id="945" name="Google Shape;945;p118"/>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Arbitrary Arguments( *args, **kwargs)</a:t>
            </a:r>
            <a:endParaRPr b="1" sz="3000">
              <a:solidFill>
                <a:srgbClr val="1C3678"/>
              </a:solidFill>
              <a:latin typeface="Trebuchet MS"/>
              <a:ea typeface="Trebuchet MS"/>
              <a:cs typeface="Trebuchet MS"/>
              <a:sym typeface="Trebuchet MS"/>
            </a:endParaRPr>
          </a:p>
        </p:txBody>
      </p:sp>
      <p:sp>
        <p:nvSpPr>
          <p:cNvPr id="946" name="Google Shape;946;p118"/>
          <p:cNvSpPr txBox="1"/>
          <p:nvPr/>
        </p:nvSpPr>
        <p:spPr>
          <a:xfrm>
            <a:off x="688425" y="793125"/>
            <a:ext cx="8107500" cy="32382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latin typeface="Times"/>
                <a:ea typeface="Times"/>
                <a:cs typeface="Times"/>
                <a:sym typeface="Times"/>
              </a:rPr>
              <a:t>Example 2: Variable length keyword arguments</a:t>
            </a:r>
            <a:endParaRPr sz="18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 *kwargs for variable number of keyword arguments</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def myFun(**kwargs):</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    for key, value in kwargs.items():</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        print("%s == %s" % (key, value)) </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 Driver code</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myFun(first='Babu', mid='Ram', last='Shrestha')  </a:t>
            </a:r>
            <a:endParaRPr i="1" sz="1600">
              <a:latin typeface="Times"/>
              <a:ea typeface="Times"/>
              <a:cs typeface="Times"/>
              <a:sym typeface="Times"/>
            </a:endParaRPr>
          </a:p>
          <a:p>
            <a:pPr indent="0" lvl="0" marL="0" rtl="0" algn="just">
              <a:spcBef>
                <a:spcPts val="290"/>
              </a:spcBef>
              <a:spcAft>
                <a:spcPts val="0"/>
              </a:spcAft>
              <a:buNone/>
            </a:pPr>
            <a:r>
              <a:rPr i="1" lang="en-US" sz="1600">
                <a:latin typeface="Times"/>
                <a:ea typeface="Times"/>
                <a:cs typeface="Times"/>
                <a:sym typeface="Times"/>
              </a:rPr>
              <a:t>	Output:</a:t>
            </a:r>
            <a:endParaRPr i="1" sz="16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	first==Babu</a:t>
            </a:r>
            <a:endParaRPr i="1" sz="16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	mid==Ram</a:t>
            </a:r>
            <a:endParaRPr i="1" sz="16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	last==Shrestha</a:t>
            </a:r>
            <a:endParaRPr i="1" sz="1600">
              <a:latin typeface="Times"/>
              <a:ea typeface="Times"/>
              <a:cs typeface="Times"/>
              <a:sym typeface="Times"/>
            </a:endParaRPr>
          </a:p>
        </p:txBody>
      </p:sp>
      <p:sp>
        <p:nvSpPr>
          <p:cNvPr id="947" name="Google Shape;947;p1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2" name="Shape 952"/>
        <p:cNvGrpSpPr/>
        <p:nvPr/>
      </p:nvGrpSpPr>
      <p:grpSpPr>
        <a:xfrm>
          <a:off x="0" y="0"/>
          <a:ext cx="0" cy="0"/>
          <a:chOff x="0" y="0"/>
          <a:chExt cx="0" cy="0"/>
        </a:xfrm>
      </p:grpSpPr>
      <p:sp>
        <p:nvSpPr>
          <p:cNvPr id="953" name="Google Shape;953;p119"/>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Docstring</a:t>
            </a:r>
            <a:r>
              <a:rPr b="1" lang="en-US" sz="3000">
                <a:solidFill>
                  <a:srgbClr val="1C3678"/>
                </a:solidFill>
                <a:latin typeface="Trebuchet MS"/>
                <a:ea typeface="Trebuchet MS"/>
                <a:cs typeface="Trebuchet MS"/>
                <a:sym typeface="Trebuchet MS"/>
              </a:rPr>
              <a:t> in Python</a:t>
            </a:r>
            <a:endParaRPr b="1" sz="3000">
              <a:solidFill>
                <a:srgbClr val="1C3678"/>
              </a:solidFill>
              <a:latin typeface="Trebuchet MS"/>
              <a:ea typeface="Trebuchet MS"/>
              <a:cs typeface="Trebuchet MS"/>
              <a:sym typeface="Trebuchet MS"/>
            </a:endParaRPr>
          </a:p>
        </p:txBody>
      </p:sp>
      <p:sp>
        <p:nvSpPr>
          <p:cNvPr id="954" name="Google Shape;954;p119"/>
          <p:cNvSpPr txBox="1"/>
          <p:nvPr/>
        </p:nvSpPr>
        <p:spPr>
          <a:xfrm>
            <a:off x="688425" y="793125"/>
            <a:ext cx="8107500" cy="4611900"/>
          </a:xfrm>
          <a:prstGeom prst="rect">
            <a:avLst/>
          </a:prstGeom>
          <a:noFill/>
          <a:ln>
            <a:noFill/>
          </a:ln>
        </p:spPr>
        <p:txBody>
          <a:bodyPr anchorCtr="0" anchor="t" bIns="0" lIns="0" spcFirstLastPara="1" rIns="0" wrap="square" tIns="125075">
            <a:spAutoFit/>
          </a:bodyPr>
          <a:lstStyle/>
          <a:p>
            <a:pPr indent="0" lvl="0" marL="114300" rtl="0" algn="just">
              <a:spcBef>
                <a:spcPts val="290"/>
              </a:spcBef>
              <a:spcAft>
                <a:spcPts val="0"/>
              </a:spcAft>
              <a:buNone/>
            </a:pPr>
            <a:r>
              <a:rPr lang="en-US" sz="1800">
                <a:latin typeface="Times"/>
                <a:ea typeface="Times"/>
                <a:cs typeface="Times"/>
                <a:sym typeface="Times"/>
              </a:rPr>
              <a:t>The first string after the function is called the Document string or Docstring in short. This is used to describe the functionality of the function. The use of docstring in functions is optional but it is considered a good practice.</a:t>
            </a:r>
            <a:endParaRPr sz="1800">
              <a:latin typeface="Times"/>
              <a:ea typeface="Times"/>
              <a:cs typeface="Times"/>
              <a:sym typeface="Times"/>
            </a:endParaRPr>
          </a:p>
          <a:p>
            <a:pPr indent="0" lvl="0" marL="114300" rtl="0" algn="just">
              <a:spcBef>
                <a:spcPts val="290"/>
              </a:spcBef>
              <a:spcAft>
                <a:spcPts val="0"/>
              </a:spcAft>
              <a:buNone/>
            </a:pPr>
            <a:r>
              <a:rPr lang="en-US" sz="1800">
                <a:latin typeface="Times"/>
                <a:ea typeface="Times"/>
                <a:cs typeface="Times"/>
                <a:sym typeface="Times"/>
              </a:rPr>
              <a:t>Syntax: </a:t>
            </a:r>
            <a:endParaRPr sz="1800">
              <a:latin typeface="Times"/>
              <a:ea typeface="Times"/>
              <a:cs typeface="Times"/>
              <a:sym typeface="Times"/>
            </a:endParaRPr>
          </a:p>
          <a:p>
            <a:pPr indent="342900" lvl="0" marL="114300" rtl="0" algn="just">
              <a:spcBef>
                <a:spcPts val="290"/>
              </a:spcBef>
              <a:spcAft>
                <a:spcPts val="0"/>
              </a:spcAft>
              <a:buNone/>
            </a:pPr>
            <a:r>
              <a:rPr i="1" lang="en-US" sz="1600">
                <a:latin typeface="Times"/>
                <a:ea typeface="Times"/>
                <a:cs typeface="Times"/>
                <a:sym typeface="Times"/>
              </a:rPr>
              <a:t>print(function_name.__doc__)</a:t>
            </a:r>
            <a:endParaRPr i="1" sz="1600">
              <a:latin typeface="Times"/>
              <a:ea typeface="Times"/>
              <a:cs typeface="Times"/>
              <a:sym typeface="Times"/>
            </a:endParaRPr>
          </a:p>
          <a:p>
            <a:pPr indent="0" lvl="0" marL="114300" rtl="0" algn="just">
              <a:spcBef>
                <a:spcPts val="290"/>
              </a:spcBef>
              <a:spcAft>
                <a:spcPts val="0"/>
              </a:spcAft>
              <a:buNone/>
            </a:pPr>
            <a:r>
              <a:rPr lang="en-US" sz="1800">
                <a:latin typeface="Times"/>
                <a:ea typeface="Times"/>
                <a:cs typeface="Times"/>
                <a:sym typeface="Times"/>
              </a:rPr>
              <a:t>Example: </a:t>
            </a:r>
            <a:endParaRPr sz="1800">
              <a:latin typeface="Times"/>
              <a:ea typeface="Times"/>
              <a:cs typeface="Times"/>
              <a:sym typeface="Times"/>
            </a:endParaRPr>
          </a:p>
          <a:p>
            <a:pPr indent="342900" lvl="0" marL="114300" rtl="0" algn="just">
              <a:spcBef>
                <a:spcPts val="290"/>
              </a:spcBef>
              <a:spcAft>
                <a:spcPts val="0"/>
              </a:spcAft>
              <a:buNone/>
            </a:pPr>
            <a:r>
              <a:rPr lang="en-US" sz="1600">
                <a:latin typeface="Times"/>
                <a:ea typeface="Times"/>
                <a:cs typeface="Times"/>
                <a:sym typeface="Times"/>
              </a:rPr>
              <a:t>Adding Docstring to the function</a:t>
            </a:r>
            <a:endParaRPr sz="1600">
              <a:latin typeface="Times"/>
              <a:ea typeface="Times"/>
              <a:cs typeface="Times"/>
              <a:sym typeface="Times"/>
            </a:endParaRPr>
          </a:p>
          <a:p>
            <a:pPr indent="0" lvl="0" marL="571500" rtl="0" algn="just">
              <a:spcBef>
                <a:spcPts val="290"/>
              </a:spcBef>
              <a:spcAft>
                <a:spcPts val="0"/>
              </a:spcAft>
              <a:buNone/>
            </a:pPr>
            <a:r>
              <a:rPr i="1" lang="en-US" sz="1500">
                <a:latin typeface="Times"/>
                <a:ea typeface="Times"/>
                <a:cs typeface="Times"/>
                <a:sym typeface="Times"/>
              </a:rPr>
              <a:t>def even(x):</a:t>
            </a:r>
            <a:endParaRPr i="1" sz="1500">
              <a:latin typeface="Times"/>
              <a:ea typeface="Times"/>
              <a:cs typeface="Times"/>
              <a:sym typeface="Times"/>
            </a:endParaRPr>
          </a:p>
          <a:p>
            <a:pPr indent="0" lvl="0" marL="571500" rtl="0" algn="just">
              <a:spcBef>
                <a:spcPts val="290"/>
              </a:spcBef>
              <a:spcAft>
                <a:spcPts val="0"/>
              </a:spcAft>
              <a:buNone/>
            </a:pPr>
            <a:r>
              <a:rPr i="1" lang="en-US" sz="1500">
                <a:latin typeface="Times"/>
                <a:ea typeface="Times"/>
                <a:cs typeface="Times"/>
                <a:sym typeface="Times"/>
              </a:rPr>
              <a:t>    """Function to check if the number is even or odd"""</a:t>
            </a:r>
            <a:endParaRPr i="1" sz="1500">
              <a:latin typeface="Times"/>
              <a:ea typeface="Times"/>
              <a:cs typeface="Times"/>
              <a:sym typeface="Times"/>
            </a:endParaRPr>
          </a:p>
          <a:p>
            <a:pPr indent="0" lvl="0" marL="571500" rtl="0" algn="just">
              <a:spcBef>
                <a:spcPts val="290"/>
              </a:spcBef>
              <a:spcAft>
                <a:spcPts val="0"/>
              </a:spcAft>
              <a:buNone/>
            </a:pPr>
            <a:r>
              <a:rPr i="1" lang="en-US" sz="1500">
                <a:latin typeface="Times"/>
                <a:ea typeface="Times"/>
                <a:cs typeface="Times"/>
                <a:sym typeface="Times"/>
              </a:rPr>
              <a:t>    if (x % 2 == 0):</a:t>
            </a:r>
            <a:endParaRPr i="1" sz="1500">
              <a:latin typeface="Times"/>
              <a:ea typeface="Times"/>
              <a:cs typeface="Times"/>
              <a:sym typeface="Times"/>
            </a:endParaRPr>
          </a:p>
          <a:p>
            <a:pPr indent="0" lvl="0" marL="571500" rtl="0" algn="just">
              <a:spcBef>
                <a:spcPts val="290"/>
              </a:spcBef>
              <a:spcAft>
                <a:spcPts val="0"/>
              </a:spcAft>
              <a:buNone/>
            </a:pPr>
            <a:r>
              <a:rPr i="1" lang="en-US" sz="1500">
                <a:latin typeface="Times"/>
                <a:ea typeface="Times"/>
                <a:cs typeface="Times"/>
                <a:sym typeface="Times"/>
              </a:rPr>
              <a:t>        print("even")</a:t>
            </a:r>
            <a:endParaRPr i="1" sz="1500">
              <a:latin typeface="Times"/>
              <a:ea typeface="Times"/>
              <a:cs typeface="Times"/>
              <a:sym typeface="Times"/>
            </a:endParaRPr>
          </a:p>
          <a:p>
            <a:pPr indent="0" lvl="0" marL="571500" rtl="0" algn="just">
              <a:spcBef>
                <a:spcPts val="290"/>
              </a:spcBef>
              <a:spcAft>
                <a:spcPts val="0"/>
              </a:spcAft>
              <a:buNone/>
            </a:pPr>
            <a:r>
              <a:rPr i="1" lang="en-US" sz="1500">
                <a:latin typeface="Times"/>
                <a:ea typeface="Times"/>
                <a:cs typeface="Times"/>
                <a:sym typeface="Times"/>
              </a:rPr>
              <a:t># Driver code to call the function</a:t>
            </a:r>
            <a:endParaRPr i="1" sz="1500">
              <a:latin typeface="Times"/>
              <a:ea typeface="Times"/>
              <a:cs typeface="Times"/>
              <a:sym typeface="Times"/>
            </a:endParaRPr>
          </a:p>
          <a:p>
            <a:pPr indent="0" lvl="0" marL="571500" rtl="0" algn="just">
              <a:spcBef>
                <a:spcPts val="290"/>
              </a:spcBef>
              <a:spcAft>
                <a:spcPts val="0"/>
              </a:spcAft>
              <a:buNone/>
            </a:pPr>
            <a:r>
              <a:rPr i="1" lang="en-US" sz="1500">
                <a:latin typeface="Times"/>
                <a:ea typeface="Times"/>
                <a:cs typeface="Times"/>
                <a:sym typeface="Times"/>
              </a:rPr>
              <a:t>print(even.__doc__)</a:t>
            </a:r>
            <a:endParaRPr i="1" sz="1500">
              <a:latin typeface="Times"/>
              <a:ea typeface="Times"/>
              <a:cs typeface="Times"/>
              <a:sym typeface="Times"/>
            </a:endParaRPr>
          </a:p>
          <a:p>
            <a:pPr indent="457200" lvl="0" marL="0" rtl="0" algn="just">
              <a:spcBef>
                <a:spcPts val="290"/>
              </a:spcBef>
              <a:spcAft>
                <a:spcPts val="0"/>
              </a:spcAft>
              <a:buNone/>
            </a:pPr>
            <a:r>
              <a:rPr i="1" lang="en-US" sz="1500">
                <a:latin typeface="Times"/>
                <a:ea typeface="Times"/>
                <a:cs typeface="Times"/>
                <a:sym typeface="Times"/>
              </a:rPr>
              <a:t>Output:</a:t>
            </a:r>
            <a:endParaRPr i="1" sz="1500">
              <a:latin typeface="Times"/>
              <a:ea typeface="Times"/>
              <a:cs typeface="Times"/>
              <a:sym typeface="Times"/>
            </a:endParaRPr>
          </a:p>
          <a:p>
            <a:pPr indent="342900" lvl="0" marL="571500" rtl="0" algn="just">
              <a:spcBef>
                <a:spcPts val="290"/>
              </a:spcBef>
              <a:spcAft>
                <a:spcPts val="0"/>
              </a:spcAft>
              <a:buNone/>
            </a:pPr>
            <a:r>
              <a:rPr i="1" lang="en-US" sz="1500">
                <a:latin typeface="Times"/>
                <a:ea typeface="Times"/>
                <a:cs typeface="Times"/>
                <a:sym typeface="Times"/>
              </a:rPr>
              <a:t>Function to check if the number is even or odd</a:t>
            </a:r>
            <a:endParaRPr i="1" sz="1500">
              <a:latin typeface="Times"/>
              <a:ea typeface="Times"/>
              <a:cs typeface="Times"/>
              <a:sym typeface="Times"/>
            </a:endParaRPr>
          </a:p>
          <a:p>
            <a:pPr indent="0" lvl="0" marL="114300" rtl="0" algn="just">
              <a:spcBef>
                <a:spcPts val="290"/>
              </a:spcBef>
              <a:spcAft>
                <a:spcPts val="0"/>
              </a:spcAft>
              <a:buNone/>
            </a:pPr>
            <a:r>
              <a:t/>
            </a:r>
            <a:endParaRPr sz="1800">
              <a:latin typeface="Times"/>
              <a:ea typeface="Times"/>
              <a:cs typeface="Times"/>
              <a:sym typeface="Times"/>
            </a:endParaRPr>
          </a:p>
        </p:txBody>
      </p:sp>
      <p:sp>
        <p:nvSpPr>
          <p:cNvPr id="955" name="Google Shape;955;p1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0" name="Shape 960"/>
        <p:cNvGrpSpPr/>
        <p:nvPr/>
      </p:nvGrpSpPr>
      <p:grpSpPr>
        <a:xfrm>
          <a:off x="0" y="0"/>
          <a:ext cx="0" cy="0"/>
          <a:chOff x="0" y="0"/>
          <a:chExt cx="0" cy="0"/>
        </a:xfrm>
      </p:grpSpPr>
      <p:sp>
        <p:nvSpPr>
          <p:cNvPr id="961" name="Google Shape;961;p120"/>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Docstring in Python</a:t>
            </a:r>
            <a:endParaRPr b="1" sz="3000">
              <a:solidFill>
                <a:srgbClr val="1C3678"/>
              </a:solidFill>
              <a:latin typeface="Trebuchet MS"/>
              <a:ea typeface="Trebuchet MS"/>
              <a:cs typeface="Trebuchet MS"/>
              <a:sym typeface="Trebuchet MS"/>
            </a:endParaRPr>
          </a:p>
        </p:txBody>
      </p:sp>
      <p:sp>
        <p:nvSpPr>
          <p:cNvPr id="962" name="Google Shape;962;p120"/>
          <p:cNvSpPr txBox="1"/>
          <p:nvPr/>
        </p:nvSpPr>
        <p:spPr>
          <a:xfrm>
            <a:off x="688425" y="793125"/>
            <a:ext cx="8107500" cy="3860400"/>
          </a:xfrm>
          <a:prstGeom prst="rect">
            <a:avLst/>
          </a:prstGeom>
          <a:noFill/>
          <a:ln>
            <a:noFill/>
          </a:ln>
        </p:spPr>
        <p:txBody>
          <a:bodyPr anchorCtr="0" anchor="t" bIns="0" lIns="0" spcFirstLastPara="1" rIns="0" wrap="square" tIns="125075">
            <a:spAutoFit/>
          </a:bodyPr>
          <a:lstStyle/>
          <a:p>
            <a:pPr indent="0" lvl="0" marL="571500" rtl="0" algn="just">
              <a:spcBef>
                <a:spcPts val="290"/>
              </a:spcBef>
              <a:spcAft>
                <a:spcPts val="0"/>
              </a:spcAft>
              <a:buNone/>
            </a:pPr>
            <a:r>
              <a:rPr i="1" lang="en-US" sz="1800">
                <a:latin typeface="Times"/>
                <a:ea typeface="Times"/>
                <a:cs typeface="Times"/>
                <a:sym typeface="Times"/>
              </a:rPr>
              <a:t>def add_numbers(a: int, b: int) -&gt; int:</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    """</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    Adds two numbers and returns the result.</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    Parameters:</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    a (int): The first number.</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    b (int): The second number.</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    Returns:</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    int: The sum of a and b.</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    </a:t>
            </a:r>
            <a:r>
              <a:rPr i="1" lang="en-US" sz="1800">
                <a:latin typeface="Times"/>
                <a:ea typeface="Times"/>
                <a:cs typeface="Times"/>
                <a:sym typeface="Times"/>
              </a:rPr>
              <a:t>"""</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    return a + b</a:t>
            </a:r>
            <a:endParaRPr i="1" sz="1800">
              <a:latin typeface="Times"/>
              <a:ea typeface="Times"/>
              <a:cs typeface="Times"/>
              <a:sym typeface="Times"/>
            </a:endParaRPr>
          </a:p>
          <a:p>
            <a:pPr indent="0" lvl="0" marL="571500" rtl="0" algn="just">
              <a:spcBef>
                <a:spcPts val="290"/>
              </a:spcBef>
              <a:spcAft>
                <a:spcPts val="0"/>
              </a:spcAft>
              <a:buNone/>
            </a:pPr>
            <a:r>
              <a:t/>
            </a:r>
            <a:endParaRPr i="1" sz="1800">
              <a:latin typeface="Times"/>
              <a:ea typeface="Times"/>
              <a:cs typeface="Times"/>
              <a:sym typeface="Times"/>
            </a:endParaRPr>
          </a:p>
          <a:p>
            <a:pPr indent="0" lvl="0" marL="571500" rtl="0" algn="just">
              <a:spcBef>
                <a:spcPts val="290"/>
              </a:spcBef>
              <a:spcAft>
                <a:spcPts val="0"/>
              </a:spcAft>
              <a:buNone/>
            </a:pPr>
            <a:r>
              <a:t/>
            </a:r>
            <a:endParaRPr i="1" sz="1800">
              <a:latin typeface="Times"/>
              <a:ea typeface="Times"/>
              <a:cs typeface="Times"/>
              <a:sym typeface="Times"/>
            </a:endParaRPr>
          </a:p>
        </p:txBody>
      </p:sp>
      <p:sp>
        <p:nvSpPr>
          <p:cNvPr id="963" name="Google Shape;963;p1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8" name="Shape 968"/>
        <p:cNvGrpSpPr/>
        <p:nvPr/>
      </p:nvGrpSpPr>
      <p:grpSpPr>
        <a:xfrm>
          <a:off x="0" y="0"/>
          <a:ext cx="0" cy="0"/>
          <a:chOff x="0" y="0"/>
          <a:chExt cx="0" cy="0"/>
        </a:xfrm>
      </p:grpSpPr>
      <p:sp>
        <p:nvSpPr>
          <p:cNvPr id="969" name="Google Shape;969;p121"/>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Functions within Function</a:t>
            </a:r>
            <a:endParaRPr b="1" sz="3000">
              <a:solidFill>
                <a:srgbClr val="1C3678"/>
              </a:solidFill>
              <a:latin typeface="Trebuchet MS"/>
              <a:ea typeface="Trebuchet MS"/>
              <a:cs typeface="Trebuchet MS"/>
              <a:sym typeface="Trebuchet MS"/>
            </a:endParaRPr>
          </a:p>
        </p:txBody>
      </p:sp>
      <p:sp>
        <p:nvSpPr>
          <p:cNvPr id="970" name="Google Shape;970;p121"/>
          <p:cNvSpPr txBox="1"/>
          <p:nvPr/>
        </p:nvSpPr>
        <p:spPr>
          <a:xfrm>
            <a:off x="688425" y="793125"/>
            <a:ext cx="8107500" cy="4062900"/>
          </a:xfrm>
          <a:prstGeom prst="rect">
            <a:avLst/>
          </a:prstGeom>
          <a:noFill/>
          <a:ln>
            <a:noFill/>
          </a:ln>
        </p:spPr>
        <p:txBody>
          <a:bodyPr anchorCtr="0" anchor="t" bIns="0" lIns="0" spcFirstLastPara="1" rIns="0" wrap="square" tIns="125075">
            <a:spAutoFit/>
          </a:bodyPr>
          <a:lstStyle/>
          <a:p>
            <a:pPr indent="0" lvl="0" marL="114300" rtl="0" algn="just">
              <a:spcBef>
                <a:spcPts val="290"/>
              </a:spcBef>
              <a:spcAft>
                <a:spcPts val="0"/>
              </a:spcAft>
              <a:buNone/>
            </a:pPr>
            <a:r>
              <a:rPr lang="en-US" sz="1800">
                <a:latin typeface="Times"/>
                <a:ea typeface="Times"/>
                <a:cs typeface="Times"/>
                <a:sym typeface="Times"/>
              </a:rPr>
              <a:t>A function that is defined inside another function is known as the inner function or nested function. Nested functions can access variables of the enclosing scope. Inner functions are used so that they can be protected from everything happening outside the function.</a:t>
            </a:r>
            <a:endParaRPr sz="1800">
              <a:latin typeface="Times"/>
              <a:ea typeface="Times"/>
              <a:cs typeface="Times"/>
              <a:sym typeface="Times"/>
            </a:endParaRPr>
          </a:p>
          <a:p>
            <a:pPr indent="0" lvl="0" marL="114300" rtl="0" algn="just">
              <a:spcBef>
                <a:spcPts val="290"/>
              </a:spcBef>
              <a:spcAft>
                <a:spcPts val="0"/>
              </a:spcAft>
              <a:buNone/>
            </a:pPr>
            <a:r>
              <a:t/>
            </a:r>
            <a:endParaRPr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Python program to demonstrate accessing of variables of nested functions</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def f1():</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    s = 'Hi, My Name is Baburam Shrestha'</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    def f2():</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        print(s)</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    f2()</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 Driver's code</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f1()</a:t>
            </a:r>
            <a:endParaRPr i="1" sz="1800">
              <a:latin typeface="Times"/>
              <a:ea typeface="Times"/>
              <a:cs typeface="Times"/>
              <a:sym typeface="Times"/>
            </a:endParaRPr>
          </a:p>
        </p:txBody>
      </p:sp>
      <p:sp>
        <p:nvSpPr>
          <p:cNvPr id="971" name="Google Shape;971;p1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6" name="Shape 976"/>
        <p:cNvGrpSpPr/>
        <p:nvPr/>
      </p:nvGrpSpPr>
      <p:grpSpPr>
        <a:xfrm>
          <a:off x="0" y="0"/>
          <a:ext cx="0" cy="0"/>
          <a:chOff x="0" y="0"/>
          <a:chExt cx="0" cy="0"/>
        </a:xfrm>
      </p:grpSpPr>
      <p:sp>
        <p:nvSpPr>
          <p:cNvPr id="977" name="Google Shape;977;p122"/>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Recursive</a:t>
            </a:r>
            <a:r>
              <a:rPr b="1" lang="en-US" sz="3000">
                <a:solidFill>
                  <a:srgbClr val="1C3678"/>
                </a:solidFill>
                <a:latin typeface="Trebuchet MS"/>
                <a:ea typeface="Trebuchet MS"/>
                <a:cs typeface="Trebuchet MS"/>
                <a:sym typeface="Trebuchet MS"/>
              </a:rPr>
              <a:t> </a:t>
            </a:r>
            <a:r>
              <a:rPr b="1" lang="en-US" sz="3000">
                <a:solidFill>
                  <a:srgbClr val="1C3678"/>
                </a:solidFill>
                <a:latin typeface="Trebuchet MS"/>
                <a:ea typeface="Trebuchet MS"/>
                <a:cs typeface="Trebuchet MS"/>
                <a:sym typeface="Trebuchet MS"/>
              </a:rPr>
              <a:t>Functions in Python</a:t>
            </a:r>
            <a:endParaRPr b="1" sz="3000">
              <a:solidFill>
                <a:srgbClr val="1C3678"/>
              </a:solidFill>
              <a:latin typeface="Trebuchet MS"/>
              <a:ea typeface="Trebuchet MS"/>
              <a:cs typeface="Trebuchet MS"/>
              <a:sym typeface="Trebuchet MS"/>
            </a:endParaRPr>
          </a:p>
        </p:txBody>
      </p:sp>
      <p:sp>
        <p:nvSpPr>
          <p:cNvPr id="978" name="Google Shape;978;p122"/>
          <p:cNvSpPr txBox="1"/>
          <p:nvPr/>
        </p:nvSpPr>
        <p:spPr>
          <a:xfrm>
            <a:off x="688425" y="793125"/>
            <a:ext cx="8107500" cy="4340100"/>
          </a:xfrm>
          <a:prstGeom prst="rect">
            <a:avLst/>
          </a:prstGeom>
          <a:noFill/>
          <a:ln>
            <a:noFill/>
          </a:ln>
        </p:spPr>
        <p:txBody>
          <a:bodyPr anchorCtr="0" anchor="t" bIns="0" lIns="0" spcFirstLastPara="1" rIns="0" wrap="square" tIns="125075">
            <a:spAutoFit/>
          </a:bodyPr>
          <a:lstStyle/>
          <a:p>
            <a:pPr indent="0" lvl="0" marL="114300" rtl="0" algn="just">
              <a:spcBef>
                <a:spcPts val="290"/>
              </a:spcBef>
              <a:spcAft>
                <a:spcPts val="0"/>
              </a:spcAft>
              <a:buNone/>
            </a:pPr>
            <a:r>
              <a:rPr lang="en-US" sz="1800">
                <a:latin typeface="Times"/>
                <a:ea typeface="Times"/>
                <a:cs typeface="Times"/>
                <a:sym typeface="Times"/>
              </a:rPr>
              <a:t>Recursion in Python refers to when a function calls itself. There are many instances when you have to build a recursive function to solve Mathematical and Recursive Problems.</a:t>
            </a:r>
            <a:endParaRPr sz="1800">
              <a:latin typeface="Times"/>
              <a:ea typeface="Times"/>
              <a:cs typeface="Times"/>
              <a:sym typeface="Times"/>
            </a:endParaRPr>
          </a:p>
          <a:p>
            <a:pPr indent="0" lvl="0" marL="114300" rtl="0" algn="just">
              <a:spcBef>
                <a:spcPts val="290"/>
              </a:spcBef>
              <a:spcAft>
                <a:spcPts val="0"/>
              </a:spcAft>
              <a:buNone/>
            </a:pPr>
            <a:r>
              <a:rPr lang="en-US" sz="1800">
                <a:latin typeface="Times"/>
                <a:ea typeface="Times"/>
                <a:cs typeface="Times"/>
                <a:sym typeface="Times"/>
              </a:rPr>
              <a:t>Using a recursive function should be done with caution, as a recursive function can become like a non-terminating loop. It is better to check your exit statement while creating a recursive function.</a:t>
            </a:r>
            <a:endParaRPr sz="1800">
              <a:latin typeface="Times"/>
              <a:ea typeface="Times"/>
              <a:cs typeface="Times"/>
              <a:sym typeface="Times"/>
            </a:endParaRPr>
          </a:p>
          <a:p>
            <a:pPr indent="0" lvl="0" marL="0" rtl="0" algn="just">
              <a:spcBef>
                <a:spcPts val="290"/>
              </a:spcBef>
              <a:spcAft>
                <a:spcPts val="0"/>
              </a:spcAft>
              <a:buNone/>
            </a:pPr>
            <a:r>
              <a:rPr lang="en-US" sz="1800">
                <a:latin typeface="Times"/>
                <a:ea typeface="Times"/>
                <a:cs typeface="Times"/>
                <a:sym typeface="Times"/>
              </a:rPr>
              <a:t>Example 1:</a:t>
            </a:r>
            <a:endParaRPr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def factorial(n):</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    if n == 0:  </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        return 1</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    else:</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        return n * factorial(n - 1) </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print(factorial(4))</a:t>
            </a:r>
            <a:endParaRPr i="1" sz="1800">
              <a:latin typeface="Times"/>
              <a:ea typeface="Times"/>
              <a:cs typeface="Times"/>
              <a:sym typeface="Times"/>
            </a:endParaRPr>
          </a:p>
          <a:p>
            <a:pPr indent="0" lvl="0" marL="0" rtl="0" algn="just">
              <a:spcBef>
                <a:spcPts val="290"/>
              </a:spcBef>
              <a:spcAft>
                <a:spcPts val="0"/>
              </a:spcAft>
              <a:buNone/>
            </a:pPr>
            <a:r>
              <a:t/>
            </a:r>
            <a:endParaRPr sz="1800">
              <a:latin typeface="Times"/>
              <a:ea typeface="Times"/>
              <a:cs typeface="Times"/>
              <a:sym typeface="Times"/>
            </a:endParaRPr>
          </a:p>
        </p:txBody>
      </p:sp>
      <p:sp>
        <p:nvSpPr>
          <p:cNvPr id="979" name="Google Shape;979;p1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4" name="Shape 984"/>
        <p:cNvGrpSpPr/>
        <p:nvPr/>
      </p:nvGrpSpPr>
      <p:grpSpPr>
        <a:xfrm>
          <a:off x="0" y="0"/>
          <a:ext cx="0" cy="0"/>
          <a:chOff x="0" y="0"/>
          <a:chExt cx="0" cy="0"/>
        </a:xfrm>
      </p:grpSpPr>
      <p:sp>
        <p:nvSpPr>
          <p:cNvPr id="985" name="Google Shape;985;p123"/>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Lambda</a:t>
            </a:r>
            <a:r>
              <a:rPr b="1" lang="en-US" sz="3000">
                <a:solidFill>
                  <a:srgbClr val="1C3678"/>
                </a:solidFill>
                <a:latin typeface="Trebuchet MS"/>
                <a:ea typeface="Trebuchet MS"/>
                <a:cs typeface="Trebuchet MS"/>
                <a:sym typeface="Trebuchet MS"/>
              </a:rPr>
              <a:t> Functions in Python</a:t>
            </a:r>
            <a:endParaRPr b="1" sz="3000">
              <a:solidFill>
                <a:srgbClr val="1C3678"/>
              </a:solidFill>
              <a:latin typeface="Trebuchet MS"/>
              <a:ea typeface="Trebuchet MS"/>
              <a:cs typeface="Trebuchet MS"/>
              <a:sym typeface="Trebuchet MS"/>
            </a:endParaRPr>
          </a:p>
        </p:txBody>
      </p:sp>
      <p:sp>
        <p:nvSpPr>
          <p:cNvPr id="986" name="Google Shape;986;p123"/>
          <p:cNvSpPr txBox="1"/>
          <p:nvPr/>
        </p:nvSpPr>
        <p:spPr>
          <a:xfrm>
            <a:off x="688425" y="793125"/>
            <a:ext cx="8107500" cy="35256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b="1" lang="en-US" sz="1800">
                <a:latin typeface="Times"/>
                <a:ea typeface="Times"/>
                <a:cs typeface="Times"/>
                <a:sym typeface="Times"/>
              </a:rPr>
              <a:t>Anonymous Function</a:t>
            </a:r>
            <a:r>
              <a:rPr lang="en-US" sz="1800">
                <a:latin typeface="Times"/>
                <a:ea typeface="Times"/>
                <a:cs typeface="Times"/>
                <a:sym typeface="Times"/>
              </a:rPr>
              <a:t>: A lambda function is a small, unnamed (anonymous) function that is defined using the lambda keyword.</a:t>
            </a:r>
            <a:endParaRPr sz="1800">
              <a:latin typeface="Times"/>
              <a:ea typeface="Times"/>
              <a:cs typeface="Times"/>
              <a:sym typeface="Times"/>
            </a:endParaRPr>
          </a:p>
          <a:p>
            <a:pPr indent="-342900" lvl="0" marL="457200" rtl="0" algn="just">
              <a:spcBef>
                <a:spcPts val="0"/>
              </a:spcBef>
              <a:spcAft>
                <a:spcPts val="0"/>
              </a:spcAft>
              <a:buSzPts val="1800"/>
              <a:buFont typeface="Times"/>
              <a:buChar char="➔"/>
            </a:pPr>
            <a:r>
              <a:rPr b="1" lang="en-US" sz="1800">
                <a:latin typeface="Times"/>
                <a:ea typeface="Times"/>
                <a:cs typeface="Times"/>
                <a:sym typeface="Times"/>
              </a:rPr>
              <a:t>Single Expression</a:t>
            </a:r>
            <a:r>
              <a:rPr lang="en-US" sz="1800">
                <a:latin typeface="Times"/>
                <a:ea typeface="Times"/>
                <a:cs typeface="Times"/>
                <a:sym typeface="Times"/>
              </a:rPr>
              <a:t>: It can have any number of arguments but only one expression, which is evaluated and returned.</a:t>
            </a:r>
            <a:endParaRPr sz="1800">
              <a:latin typeface="Times"/>
              <a:ea typeface="Times"/>
              <a:cs typeface="Times"/>
              <a:sym typeface="Times"/>
            </a:endParaRPr>
          </a:p>
          <a:p>
            <a:pPr indent="-342900" lvl="0" marL="457200" rtl="0" algn="just">
              <a:spcBef>
                <a:spcPts val="0"/>
              </a:spcBef>
              <a:spcAft>
                <a:spcPts val="0"/>
              </a:spcAft>
              <a:buSzPts val="1800"/>
              <a:buFont typeface="Times"/>
              <a:buChar char="➔"/>
            </a:pPr>
            <a:r>
              <a:rPr b="1" lang="en-US" sz="1800">
                <a:latin typeface="Times"/>
                <a:ea typeface="Times"/>
                <a:cs typeface="Times"/>
                <a:sym typeface="Times"/>
              </a:rPr>
              <a:t>Compact &amp; Readable</a:t>
            </a:r>
            <a:r>
              <a:rPr lang="en-US" sz="1800">
                <a:latin typeface="Times"/>
                <a:ea typeface="Times"/>
                <a:cs typeface="Times"/>
                <a:sym typeface="Times"/>
              </a:rPr>
              <a:t>: Lambda functions are often used for short, simple operations where defining a full function is unnecessary.</a:t>
            </a:r>
            <a:endParaRPr sz="1800">
              <a:latin typeface="Times"/>
              <a:ea typeface="Times"/>
              <a:cs typeface="Times"/>
              <a:sym typeface="Times"/>
            </a:endParaRPr>
          </a:p>
          <a:p>
            <a:pPr indent="-342900" lvl="0" marL="457200" rtl="0" algn="just">
              <a:spcBef>
                <a:spcPts val="0"/>
              </a:spcBef>
              <a:spcAft>
                <a:spcPts val="0"/>
              </a:spcAft>
              <a:buSzPts val="1800"/>
              <a:buFont typeface="Times"/>
              <a:buChar char="➔"/>
            </a:pPr>
            <a:r>
              <a:rPr b="1" lang="en-US" sz="1800">
                <a:latin typeface="Times"/>
                <a:ea typeface="Times"/>
                <a:cs typeface="Times"/>
                <a:sym typeface="Times"/>
              </a:rPr>
              <a:t>Used in Higher-Order Functions</a:t>
            </a:r>
            <a:r>
              <a:rPr lang="en-US" sz="1800">
                <a:latin typeface="Times"/>
                <a:ea typeface="Times"/>
                <a:cs typeface="Times"/>
                <a:sym typeface="Times"/>
              </a:rPr>
              <a:t>: They are commonly used with functions like </a:t>
            </a:r>
            <a:r>
              <a:rPr i="1" lang="en-US" sz="1800">
                <a:latin typeface="Times"/>
                <a:ea typeface="Times"/>
                <a:cs typeface="Times"/>
                <a:sym typeface="Times"/>
              </a:rPr>
              <a:t>map()</a:t>
            </a:r>
            <a:r>
              <a:rPr lang="en-US" sz="1800">
                <a:latin typeface="Times"/>
                <a:ea typeface="Times"/>
                <a:cs typeface="Times"/>
                <a:sym typeface="Times"/>
              </a:rPr>
              <a:t>, </a:t>
            </a:r>
            <a:r>
              <a:rPr i="1" lang="en-US" sz="1800">
                <a:latin typeface="Times"/>
                <a:ea typeface="Times"/>
                <a:cs typeface="Times"/>
                <a:sym typeface="Times"/>
              </a:rPr>
              <a:t>filter()</a:t>
            </a:r>
            <a:r>
              <a:rPr lang="en-US" sz="1800">
                <a:latin typeface="Times"/>
                <a:ea typeface="Times"/>
                <a:cs typeface="Times"/>
                <a:sym typeface="Times"/>
              </a:rPr>
              <a:t>, and </a:t>
            </a:r>
            <a:r>
              <a:rPr i="1" lang="en-US" sz="1800">
                <a:latin typeface="Times"/>
                <a:ea typeface="Times"/>
                <a:cs typeface="Times"/>
                <a:sym typeface="Times"/>
              </a:rPr>
              <a:t>reduce()</a:t>
            </a:r>
            <a:r>
              <a:rPr lang="en-US" sz="1800">
                <a:latin typeface="Times"/>
                <a:ea typeface="Times"/>
                <a:cs typeface="Times"/>
                <a:sym typeface="Times"/>
              </a:rPr>
              <a:t>.</a:t>
            </a:r>
            <a:endParaRPr sz="1800">
              <a:latin typeface="Times"/>
              <a:ea typeface="Times"/>
              <a:cs typeface="Times"/>
              <a:sym typeface="Times"/>
            </a:endParaRPr>
          </a:p>
          <a:p>
            <a:pPr indent="-342900" lvl="0" marL="457200" rtl="0" algn="just">
              <a:spcBef>
                <a:spcPts val="0"/>
              </a:spcBef>
              <a:spcAft>
                <a:spcPts val="0"/>
              </a:spcAft>
              <a:buSzPts val="1800"/>
              <a:buFont typeface="Times"/>
              <a:buChar char="➔"/>
            </a:pPr>
            <a:r>
              <a:rPr b="1" lang="en-US" sz="1800">
                <a:latin typeface="Times"/>
                <a:ea typeface="Times"/>
                <a:cs typeface="Times"/>
                <a:sym typeface="Times"/>
              </a:rPr>
              <a:t>No Return Keyword</a:t>
            </a:r>
            <a:r>
              <a:rPr lang="en-US" sz="1800">
                <a:latin typeface="Times"/>
                <a:ea typeface="Times"/>
                <a:cs typeface="Times"/>
                <a:sym typeface="Times"/>
              </a:rPr>
              <a:t>: The result of the expression is implicitly returned, meaning there's no need for an explicit return statement.</a:t>
            </a:r>
            <a:endParaRPr sz="1800">
              <a:latin typeface="Times"/>
              <a:ea typeface="Times"/>
              <a:cs typeface="Times"/>
              <a:sym typeface="Times"/>
            </a:endParaRPr>
          </a:p>
          <a:p>
            <a:pPr indent="0" lvl="0" marL="0" rtl="0" algn="just">
              <a:spcBef>
                <a:spcPts val="290"/>
              </a:spcBef>
              <a:spcAft>
                <a:spcPts val="0"/>
              </a:spcAft>
              <a:buNone/>
            </a:pPr>
            <a:r>
              <a:rPr lang="en-US" sz="1800">
                <a:latin typeface="Times"/>
                <a:ea typeface="Times"/>
                <a:cs typeface="Times"/>
                <a:sym typeface="Times"/>
              </a:rPr>
              <a:t>Syntax</a:t>
            </a:r>
            <a:r>
              <a:rPr lang="en-US" sz="1800">
                <a:latin typeface="Times"/>
                <a:ea typeface="Times"/>
                <a:cs typeface="Times"/>
                <a:sym typeface="Times"/>
              </a:rPr>
              <a:t>:</a:t>
            </a:r>
            <a:endParaRPr sz="1800">
              <a:latin typeface="Times"/>
              <a:ea typeface="Times"/>
              <a:cs typeface="Times"/>
              <a:sym typeface="Times"/>
            </a:endParaRPr>
          </a:p>
          <a:p>
            <a:pPr indent="0" lvl="0" marL="0" rtl="0" algn="just">
              <a:spcBef>
                <a:spcPts val="290"/>
              </a:spcBef>
              <a:spcAft>
                <a:spcPts val="0"/>
              </a:spcAft>
              <a:buNone/>
            </a:pPr>
            <a:r>
              <a:rPr lang="en-US" sz="1800">
                <a:latin typeface="Times"/>
                <a:ea typeface="Times"/>
                <a:cs typeface="Times"/>
                <a:sym typeface="Times"/>
              </a:rPr>
              <a:t>	</a:t>
            </a:r>
            <a:r>
              <a:rPr i="1" lang="en-US" sz="1800">
                <a:latin typeface="Times"/>
                <a:ea typeface="Times"/>
                <a:cs typeface="Times"/>
                <a:sym typeface="Times"/>
              </a:rPr>
              <a:t>variable_to_hold_value</a:t>
            </a:r>
            <a:r>
              <a:rPr i="1" lang="en-US" sz="1800">
                <a:latin typeface="Times"/>
                <a:ea typeface="Times"/>
                <a:cs typeface="Times"/>
                <a:sym typeface="Times"/>
              </a:rPr>
              <a:t> = lambda parameter(s) : operations on parameter(s)</a:t>
            </a:r>
            <a:endParaRPr sz="1800">
              <a:latin typeface="Times"/>
              <a:ea typeface="Times"/>
              <a:cs typeface="Times"/>
              <a:sym typeface="Times"/>
            </a:endParaRPr>
          </a:p>
        </p:txBody>
      </p:sp>
      <p:sp>
        <p:nvSpPr>
          <p:cNvPr id="987" name="Google Shape;987;p1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2" name="Shape 992"/>
        <p:cNvGrpSpPr/>
        <p:nvPr/>
      </p:nvGrpSpPr>
      <p:grpSpPr>
        <a:xfrm>
          <a:off x="0" y="0"/>
          <a:ext cx="0" cy="0"/>
          <a:chOff x="0" y="0"/>
          <a:chExt cx="0" cy="0"/>
        </a:xfrm>
      </p:grpSpPr>
      <p:sp>
        <p:nvSpPr>
          <p:cNvPr id="993" name="Google Shape;993;p124"/>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Anonymous</a:t>
            </a:r>
            <a:r>
              <a:rPr b="1" lang="en-US" sz="3000">
                <a:solidFill>
                  <a:srgbClr val="1C3678"/>
                </a:solidFill>
                <a:latin typeface="Trebuchet MS"/>
                <a:ea typeface="Trebuchet MS"/>
                <a:cs typeface="Trebuchet MS"/>
                <a:sym typeface="Trebuchet MS"/>
              </a:rPr>
              <a:t> </a:t>
            </a:r>
            <a:r>
              <a:rPr b="1" lang="en-US" sz="3000">
                <a:solidFill>
                  <a:srgbClr val="1C3678"/>
                </a:solidFill>
                <a:latin typeface="Trebuchet MS"/>
                <a:ea typeface="Trebuchet MS"/>
                <a:cs typeface="Trebuchet MS"/>
                <a:sym typeface="Trebuchet MS"/>
              </a:rPr>
              <a:t>Functions in Python</a:t>
            </a:r>
            <a:endParaRPr b="1" sz="3000">
              <a:solidFill>
                <a:srgbClr val="1C3678"/>
              </a:solidFill>
              <a:latin typeface="Trebuchet MS"/>
              <a:ea typeface="Trebuchet MS"/>
              <a:cs typeface="Trebuchet MS"/>
              <a:sym typeface="Trebuchet MS"/>
            </a:endParaRPr>
          </a:p>
        </p:txBody>
      </p:sp>
      <p:sp>
        <p:nvSpPr>
          <p:cNvPr id="994" name="Google Shape;994;p124"/>
          <p:cNvSpPr txBox="1"/>
          <p:nvPr/>
        </p:nvSpPr>
        <p:spPr>
          <a:xfrm>
            <a:off x="688425" y="793125"/>
            <a:ext cx="8107500" cy="4098600"/>
          </a:xfrm>
          <a:prstGeom prst="rect">
            <a:avLst/>
          </a:prstGeom>
          <a:noFill/>
          <a:ln>
            <a:noFill/>
          </a:ln>
        </p:spPr>
        <p:txBody>
          <a:bodyPr anchorCtr="0" anchor="t" bIns="0" lIns="0" spcFirstLastPara="1" rIns="0" wrap="square" tIns="125075">
            <a:noAutofit/>
          </a:bodyPr>
          <a:lstStyle/>
          <a:p>
            <a:pPr indent="0" lvl="0" marL="0" rtl="0" algn="just">
              <a:spcBef>
                <a:spcPts val="290"/>
              </a:spcBef>
              <a:spcAft>
                <a:spcPts val="0"/>
              </a:spcAft>
              <a:buNone/>
            </a:pPr>
            <a:r>
              <a:rPr lang="en-US" sz="1800">
                <a:latin typeface="Times"/>
                <a:ea typeface="Times"/>
                <a:cs typeface="Times"/>
                <a:sym typeface="Times"/>
              </a:rPr>
              <a:t>Example 1:</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def cube(x): </a:t>
            </a:r>
            <a:endParaRPr i="1" sz="1800">
              <a:latin typeface="Times"/>
              <a:ea typeface="Times"/>
              <a:cs typeface="Times"/>
              <a:sym typeface="Times"/>
            </a:endParaRPr>
          </a:p>
          <a:p>
            <a:pPr indent="342900" lvl="0" marL="571500" rtl="0" algn="just">
              <a:spcBef>
                <a:spcPts val="290"/>
              </a:spcBef>
              <a:spcAft>
                <a:spcPts val="0"/>
              </a:spcAft>
              <a:buNone/>
            </a:pPr>
            <a:r>
              <a:rPr i="1" lang="en-US" sz="1800">
                <a:latin typeface="Times"/>
                <a:ea typeface="Times"/>
                <a:cs typeface="Times"/>
                <a:sym typeface="Times"/>
              </a:rPr>
              <a:t>return x*x*x</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print(cube(7))</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cube_v2 = lambda x : x*x*x</a:t>
            </a:r>
            <a:endParaRPr i="1" sz="1800">
              <a:latin typeface="Times"/>
              <a:ea typeface="Times"/>
              <a:cs typeface="Times"/>
              <a:sym typeface="Times"/>
            </a:endParaRPr>
          </a:p>
          <a:p>
            <a:pPr indent="0" lvl="0" marL="571500" rtl="0" algn="just">
              <a:spcBef>
                <a:spcPts val="290"/>
              </a:spcBef>
              <a:spcAft>
                <a:spcPts val="0"/>
              </a:spcAft>
              <a:buNone/>
            </a:pPr>
            <a:r>
              <a:rPr i="1" lang="en-US" sz="1800">
                <a:latin typeface="Times"/>
                <a:ea typeface="Times"/>
                <a:cs typeface="Times"/>
                <a:sym typeface="Times"/>
              </a:rPr>
              <a:t>print(cube_v2(7))</a:t>
            </a:r>
            <a:endParaRPr i="1" sz="1800">
              <a:latin typeface="Times"/>
              <a:ea typeface="Times"/>
              <a:cs typeface="Times"/>
              <a:sym typeface="Times"/>
            </a:endParaRPr>
          </a:p>
          <a:p>
            <a:pPr indent="0" lvl="0" marL="0" rtl="0" algn="just">
              <a:spcBef>
                <a:spcPts val="290"/>
              </a:spcBef>
              <a:spcAft>
                <a:spcPts val="0"/>
              </a:spcAft>
              <a:buNone/>
            </a:pPr>
            <a:r>
              <a:rPr lang="en-US" sz="1800">
                <a:latin typeface="Times"/>
                <a:ea typeface="Times"/>
                <a:cs typeface="Times"/>
                <a:sym typeface="Times"/>
              </a:rPr>
              <a:t>Example 2:</a:t>
            </a:r>
            <a:endParaRPr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add = lambda a, b: a + b</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print(add(3, 7))</a:t>
            </a:r>
            <a:endParaRPr i="1" sz="1800">
              <a:latin typeface="Times"/>
              <a:ea typeface="Times"/>
              <a:cs typeface="Times"/>
              <a:sym typeface="Times"/>
            </a:endParaRPr>
          </a:p>
          <a:p>
            <a:pPr indent="0" lvl="0" marL="0" rtl="0" algn="just">
              <a:spcBef>
                <a:spcPts val="290"/>
              </a:spcBef>
              <a:spcAft>
                <a:spcPts val="0"/>
              </a:spcAft>
              <a:buNone/>
            </a:pPr>
            <a:r>
              <a:rPr lang="en-US" sz="1800">
                <a:latin typeface="Times"/>
                <a:ea typeface="Times"/>
                <a:cs typeface="Times"/>
                <a:sym typeface="Times"/>
              </a:rPr>
              <a:t>Example 3:</a:t>
            </a:r>
            <a:endParaRPr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numbers = [1, 2, 3, 4, 5, 6]</a:t>
            </a:r>
            <a:endParaRPr i="1" sz="1800">
              <a:latin typeface="Times"/>
              <a:ea typeface="Times"/>
              <a:cs typeface="Times"/>
              <a:sym typeface="Times"/>
            </a:endParaRPr>
          </a:p>
          <a:p>
            <a:pPr indent="0" lvl="0" marL="457200" rtl="0" algn="just">
              <a:spcBef>
                <a:spcPts val="290"/>
              </a:spcBef>
              <a:spcAft>
                <a:spcPts val="0"/>
              </a:spcAft>
              <a:buNone/>
            </a:pPr>
            <a:r>
              <a:rPr i="1" lang="en-US" sz="1800">
                <a:latin typeface="Times"/>
                <a:ea typeface="Times"/>
                <a:cs typeface="Times"/>
                <a:sym typeface="Times"/>
              </a:rPr>
              <a:t>even_numbers = list(filter(lambda x: x % 2 == 0, numbers))</a:t>
            </a:r>
            <a:endParaRPr i="1" sz="1800">
              <a:latin typeface="Times"/>
              <a:ea typeface="Times"/>
              <a:cs typeface="Times"/>
              <a:sym typeface="Times"/>
            </a:endParaRPr>
          </a:p>
          <a:p>
            <a:pPr indent="0" lvl="0" marL="457200" rtl="0" algn="l">
              <a:lnSpc>
                <a:spcPct val="115000"/>
              </a:lnSpc>
              <a:spcBef>
                <a:spcPts val="0"/>
              </a:spcBef>
              <a:spcAft>
                <a:spcPts val="0"/>
              </a:spcAft>
              <a:buNone/>
            </a:pPr>
            <a:r>
              <a:rPr i="1" lang="en-US" sz="1800">
                <a:latin typeface="Times"/>
                <a:ea typeface="Times"/>
                <a:cs typeface="Times"/>
                <a:sym typeface="Times"/>
              </a:rPr>
              <a:t>print(even_numbers)</a:t>
            </a:r>
            <a:endParaRPr i="1" sz="1800">
              <a:latin typeface="Times"/>
              <a:ea typeface="Times"/>
              <a:cs typeface="Times"/>
              <a:sym typeface="Times"/>
            </a:endParaRPr>
          </a:p>
          <a:p>
            <a:pPr indent="0" lvl="0" marL="0" rtl="0" algn="just">
              <a:spcBef>
                <a:spcPts val="290"/>
              </a:spcBef>
              <a:spcAft>
                <a:spcPts val="0"/>
              </a:spcAft>
              <a:buNone/>
            </a:pPr>
            <a:r>
              <a:t/>
            </a:r>
            <a:endParaRPr sz="1800">
              <a:latin typeface="Times"/>
              <a:ea typeface="Times"/>
              <a:cs typeface="Times"/>
              <a:sym typeface="Times"/>
            </a:endParaRPr>
          </a:p>
        </p:txBody>
      </p:sp>
      <p:sp>
        <p:nvSpPr>
          <p:cNvPr id="995" name="Google Shape;995;p1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0" name="Shape 1000"/>
        <p:cNvGrpSpPr/>
        <p:nvPr/>
      </p:nvGrpSpPr>
      <p:grpSpPr>
        <a:xfrm>
          <a:off x="0" y="0"/>
          <a:ext cx="0" cy="0"/>
          <a:chOff x="0" y="0"/>
          <a:chExt cx="0" cy="0"/>
        </a:xfrm>
      </p:grpSpPr>
      <p:sp>
        <p:nvSpPr>
          <p:cNvPr id="1001" name="Google Shape;1001;p125"/>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List in </a:t>
            </a:r>
            <a:r>
              <a:rPr b="1" lang="en-US" sz="3000">
                <a:solidFill>
                  <a:srgbClr val="1C3678"/>
                </a:solidFill>
                <a:latin typeface="Trebuchet MS"/>
                <a:ea typeface="Trebuchet MS"/>
                <a:cs typeface="Trebuchet MS"/>
                <a:sym typeface="Trebuchet MS"/>
              </a:rPr>
              <a:t>Functions</a:t>
            </a:r>
            <a:endParaRPr b="1" sz="3000">
              <a:solidFill>
                <a:srgbClr val="1C3678"/>
              </a:solidFill>
              <a:latin typeface="Trebuchet MS"/>
              <a:ea typeface="Trebuchet MS"/>
              <a:cs typeface="Trebuchet MS"/>
              <a:sym typeface="Trebuchet MS"/>
            </a:endParaRPr>
          </a:p>
        </p:txBody>
      </p:sp>
      <p:sp>
        <p:nvSpPr>
          <p:cNvPr id="1002" name="Google Shape;1002;p125"/>
          <p:cNvSpPr txBox="1"/>
          <p:nvPr/>
        </p:nvSpPr>
        <p:spPr>
          <a:xfrm>
            <a:off x="688425" y="793125"/>
            <a:ext cx="8107500" cy="30459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latin typeface="Times"/>
                <a:ea typeface="Times"/>
                <a:cs typeface="Times"/>
                <a:sym typeface="Times"/>
              </a:rPr>
              <a:t>We can define a function that accepts a list as an argument and returns a new list based on the input.</a:t>
            </a:r>
            <a:endParaRPr sz="1800">
              <a:latin typeface="Times"/>
              <a:ea typeface="Times"/>
              <a:cs typeface="Times"/>
              <a:sym typeface="Times"/>
            </a:endParaRPr>
          </a:p>
          <a:p>
            <a:pPr indent="0" lvl="0" marL="457200" rtl="0" algn="just">
              <a:spcBef>
                <a:spcPts val="290"/>
              </a:spcBef>
              <a:spcAft>
                <a:spcPts val="0"/>
              </a:spcAft>
              <a:buNone/>
            </a:pPr>
            <a:r>
              <a:t/>
            </a:r>
            <a:endParaRPr sz="1800">
              <a:latin typeface="Times"/>
              <a:ea typeface="Times"/>
              <a:cs typeface="Times"/>
              <a:sym typeface="Times"/>
            </a:endParaRPr>
          </a:p>
          <a:p>
            <a:pPr indent="-342900" lvl="1" marL="914400" rtl="0" algn="just">
              <a:spcBef>
                <a:spcPts val="290"/>
              </a:spcBef>
              <a:spcAft>
                <a:spcPts val="0"/>
              </a:spcAft>
              <a:buSzPts val="1800"/>
              <a:buFont typeface="Times"/>
              <a:buChar char="○"/>
            </a:pPr>
            <a:r>
              <a:rPr lang="en-US" sz="1800">
                <a:latin typeface="Times"/>
                <a:ea typeface="Times"/>
                <a:cs typeface="Times"/>
                <a:sym typeface="Times"/>
              </a:rPr>
              <a:t>Accepting a List as an Argument</a:t>
            </a:r>
            <a:endParaRPr sz="1800">
              <a:latin typeface="Times"/>
              <a:ea typeface="Times"/>
              <a:cs typeface="Times"/>
              <a:sym typeface="Times"/>
            </a:endParaRPr>
          </a:p>
          <a:p>
            <a:pPr indent="-342900" lvl="2" marL="1371600" rtl="0" algn="just">
              <a:spcBef>
                <a:spcPts val="0"/>
              </a:spcBef>
              <a:spcAft>
                <a:spcPts val="0"/>
              </a:spcAft>
              <a:buSzPts val="1800"/>
              <a:buFont typeface="Times"/>
              <a:buChar char="■"/>
            </a:pPr>
            <a:r>
              <a:rPr lang="en-US" sz="1800">
                <a:latin typeface="Times"/>
                <a:ea typeface="Times"/>
                <a:cs typeface="Times"/>
                <a:sym typeface="Times"/>
              </a:rPr>
              <a:t>The function that takes a list as a parameter. Within the function, you can perform various operations on the list.</a:t>
            </a:r>
            <a:endParaRPr sz="1800">
              <a:latin typeface="Times"/>
              <a:ea typeface="Times"/>
              <a:cs typeface="Times"/>
              <a:sym typeface="Times"/>
            </a:endParaRPr>
          </a:p>
          <a:p>
            <a:pPr indent="0" lvl="0" marL="1371600" rtl="0" algn="just">
              <a:spcBef>
                <a:spcPts val="290"/>
              </a:spcBef>
              <a:spcAft>
                <a:spcPts val="0"/>
              </a:spcAft>
              <a:buNone/>
            </a:pPr>
            <a:r>
              <a:t/>
            </a:r>
            <a:endParaRPr sz="1800">
              <a:latin typeface="Times"/>
              <a:ea typeface="Times"/>
              <a:cs typeface="Times"/>
              <a:sym typeface="Times"/>
            </a:endParaRPr>
          </a:p>
          <a:p>
            <a:pPr indent="-342900" lvl="1" marL="914400" rtl="0" algn="just">
              <a:spcBef>
                <a:spcPts val="290"/>
              </a:spcBef>
              <a:spcAft>
                <a:spcPts val="0"/>
              </a:spcAft>
              <a:buSzPts val="1800"/>
              <a:buFont typeface="Times"/>
              <a:buChar char="○"/>
            </a:pPr>
            <a:r>
              <a:rPr lang="en-US" sz="1800">
                <a:latin typeface="Times"/>
                <a:ea typeface="Times"/>
                <a:cs typeface="Times"/>
                <a:sym typeface="Times"/>
              </a:rPr>
              <a:t>Returning a List</a:t>
            </a:r>
            <a:endParaRPr sz="1800">
              <a:latin typeface="Times"/>
              <a:ea typeface="Times"/>
              <a:cs typeface="Times"/>
              <a:sym typeface="Times"/>
            </a:endParaRPr>
          </a:p>
          <a:p>
            <a:pPr indent="-342900" lvl="2" marL="1371600" rtl="0" algn="just">
              <a:spcBef>
                <a:spcPts val="0"/>
              </a:spcBef>
              <a:spcAft>
                <a:spcPts val="0"/>
              </a:spcAft>
              <a:buSzPts val="1800"/>
              <a:buFont typeface="Times"/>
              <a:buChar char="■"/>
            </a:pPr>
            <a:r>
              <a:rPr lang="en-US" sz="1800">
                <a:latin typeface="Times"/>
                <a:ea typeface="Times"/>
                <a:cs typeface="Times"/>
                <a:sym typeface="Times"/>
              </a:rPr>
              <a:t>The function can return a new list, which can be a modified version of the input list or a completely new list created from it.</a:t>
            </a:r>
            <a:endParaRPr sz="1800">
              <a:latin typeface="Times"/>
              <a:ea typeface="Times"/>
              <a:cs typeface="Times"/>
              <a:sym typeface="Times"/>
            </a:endParaRPr>
          </a:p>
        </p:txBody>
      </p:sp>
      <p:sp>
        <p:nvSpPr>
          <p:cNvPr id="1003" name="Google Shape;1003;p1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8" name="Shape 1008"/>
        <p:cNvGrpSpPr/>
        <p:nvPr/>
      </p:nvGrpSpPr>
      <p:grpSpPr>
        <a:xfrm>
          <a:off x="0" y="0"/>
          <a:ext cx="0" cy="0"/>
          <a:chOff x="0" y="0"/>
          <a:chExt cx="0" cy="0"/>
        </a:xfrm>
      </p:grpSpPr>
      <p:sp>
        <p:nvSpPr>
          <p:cNvPr id="1009" name="Google Shape;1009;p126"/>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List in Functions</a:t>
            </a:r>
            <a:endParaRPr b="1" sz="3000">
              <a:solidFill>
                <a:srgbClr val="1C3678"/>
              </a:solidFill>
              <a:latin typeface="Trebuchet MS"/>
              <a:ea typeface="Trebuchet MS"/>
              <a:cs typeface="Trebuchet MS"/>
              <a:sym typeface="Trebuchet MS"/>
            </a:endParaRPr>
          </a:p>
        </p:txBody>
      </p:sp>
      <p:sp>
        <p:nvSpPr>
          <p:cNvPr id="1010" name="Google Shape;1010;p126"/>
          <p:cNvSpPr txBox="1"/>
          <p:nvPr/>
        </p:nvSpPr>
        <p:spPr>
          <a:xfrm>
            <a:off x="688425" y="793125"/>
            <a:ext cx="8107500" cy="4113000"/>
          </a:xfrm>
          <a:prstGeom prst="rect">
            <a:avLst/>
          </a:prstGeom>
          <a:noFill/>
          <a:ln>
            <a:noFill/>
          </a:ln>
        </p:spPr>
        <p:txBody>
          <a:bodyPr anchorCtr="0" anchor="t" bIns="0" lIns="0" spcFirstLastPara="1" rIns="0" wrap="square" tIns="125075">
            <a:spAutoFit/>
          </a:bodyPr>
          <a:lstStyle/>
          <a:p>
            <a:pPr indent="0" lvl="0" marL="114300" rtl="0" algn="just">
              <a:spcBef>
                <a:spcPts val="290"/>
              </a:spcBef>
              <a:spcAft>
                <a:spcPts val="0"/>
              </a:spcAft>
              <a:buNone/>
            </a:pPr>
            <a:r>
              <a:rPr lang="en-US" sz="1800">
                <a:latin typeface="Times"/>
                <a:ea typeface="Times"/>
                <a:cs typeface="Times"/>
                <a:sym typeface="Times"/>
              </a:rPr>
              <a:t>Example 1: Sum of</a:t>
            </a:r>
            <a:r>
              <a:rPr lang="en-US" sz="1800">
                <a:latin typeface="Times"/>
                <a:ea typeface="Times"/>
                <a:cs typeface="Times"/>
                <a:sym typeface="Times"/>
              </a:rPr>
              <a:t> Elements of a List</a:t>
            </a:r>
            <a:endParaRPr sz="1800">
              <a:latin typeface="Times"/>
              <a:ea typeface="Times"/>
              <a:cs typeface="Times"/>
              <a:sym typeface="Times"/>
            </a:endParaRPr>
          </a:p>
          <a:p>
            <a:pPr indent="-342900" lvl="0" marL="457200" rtl="0" algn="just">
              <a:spcBef>
                <a:spcPts val="290"/>
              </a:spcBef>
              <a:spcAft>
                <a:spcPts val="0"/>
              </a:spcAft>
              <a:buSzPts val="1800"/>
              <a:buFont typeface="Times"/>
              <a:buChar char="●"/>
            </a:pPr>
            <a:r>
              <a:rPr lang="en-US" sz="1800">
                <a:latin typeface="Times"/>
                <a:ea typeface="Times"/>
                <a:cs typeface="Times"/>
                <a:sym typeface="Times"/>
              </a:rPr>
              <a:t>Let's create a function that accepts a list of numbers and returns a sum of elements of list.</a:t>
            </a:r>
            <a:endParaRPr sz="1800">
              <a:latin typeface="Times"/>
              <a:ea typeface="Times"/>
              <a:cs typeface="Times"/>
              <a:sym typeface="Times"/>
            </a:endParaRPr>
          </a:p>
          <a:p>
            <a:pPr indent="0" lvl="0" marL="1028700" rtl="0" algn="just">
              <a:spcBef>
                <a:spcPts val="290"/>
              </a:spcBef>
              <a:spcAft>
                <a:spcPts val="0"/>
              </a:spcAft>
              <a:buNone/>
            </a:pPr>
            <a:r>
              <a:rPr i="1" lang="en-US" sz="1600">
                <a:latin typeface="Times"/>
                <a:ea typeface="Times"/>
                <a:cs typeface="Times"/>
                <a:sym typeface="Times"/>
              </a:rPr>
              <a:t>def sum_elements(input_list):</a:t>
            </a:r>
            <a:endParaRPr i="1" sz="1600">
              <a:latin typeface="Times"/>
              <a:ea typeface="Times"/>
              <a:cs typeface="Times"/>
              <a:sym typeface="Times"/>
            </a:endParaRPr>
          </a:p>
          <a:p>
            <a:pPr indent="0" lvl="0" marL="1028700" rtl="0" algn="just">
              <a:spcBef>
                <a:spcPts val="290"/>
              </a:spcBef>
              <a:spcAft>
                <a:spcPts val="0"/>
              </a:spcAft>
              <a:buNone/>
            </a:pPr>
            <a:r>
              <a:rPr i="1" lang="en-US" sz="1600">
                <a:latin typeface="Times"/>
                <a:ea typeface="Times"/>
                <a:cs typeface="Times"/>
                <a:sym typeface="Times"/>
              </a:rPr>
              <a:t>	sum = 0</a:t>
            </a:r>
            <a:endParaRPr i="1" sz="1600">
              <a:latin typeface="Times"/>
              <a:ea typeface="Times"/>
              <a:cs typeface="Times"/>
              <a:sym typeface="Times"/>
            </a:endParaRPr>
          </a:p>
          <a:p>
            <a:pPr indent="342900" lvl="0" marL="1028700" rtl="0" algn="just">
              <a:spcBef>
                <a:spcPts val="290"/>
              </a:spcBef>
              <a:spcAft>
                <a:spcPts val="0"/>
              </a:spcAft>
              <a:buNone/>
            </a:pPr>
            <a:r>
              <a:rPr i="1" lang="en-US" sz="1600">
                <a:latin typeface="Times"/>
                <a:ea typeface="Times"/>
                <a:cs typeface="Times"/>
                <a:sym typeface="Times"/>
              </a:rPr>
              <a:t>for x in input_list:</a:t>
            </a:r>
            <a:endParaRPr i="1" sz="1600">
              <a:latin typeface="Times"/>
              <a:ea typeface="Times"/>
              <a:cs typeface="Times"/>
              <a:sym typeface="Times"/>
            </a:endParaRPr>
          </a:p>
          <a:p>
            <a:pPr indent="0" lvl="0" marL="1028700" rtl="0" algn="just">
              <a:spcBef>
                <a:spcPts val="290"/>
              </a:spcBef>
              <a:spcAft>
                <a:spcPts val="0"/>
              </a:spcAft>
              <a:buNone/>
            </a:pPr>
            <a:r>
              <a:rPr i="1" lang="en-US" sz="1600">
                <a:latin typeface="Times"/>
                <a:ea typeface="Times"/>
                <a:cs typeface="Times"/>
                <a:sym typeface="Times"/>
              </a:rPr>
              <a:t>    		sum += x </a:t>
            </a:r>
            <a:endParaRPr i="1" sz="1600">
              <a:latin typeface="Times"/>
              <a:ea typeface="Times"/>
              <a:cs typeface="Times"/>
              <a:sym typeface="Times"/>
            </a:endParaRPr>
          </a:p>
          <a:p>
            <a:pPr indent="0" lvl="0" marL="1028700" rtl="0" algn="just">
              <a:spcBef>
                <a:spcPts val="290"/>
              </a:spcBef>
              <a:spcAft>
                <a:spcPts val="0"/>
              </a:spcAft>
              <a:buNone/>
            </a:pPr>
            <a:r>
              <a:rPr i="1" lang="en-US" sz="1600">
                <a:latin typeface="Times"/>
                <a:ea typeface="Times"/>
                <a:cs typeface="Times"/>
                <a:sym typeface="Times"/>
              </a:rPr>
              <a:t>    return sum</a:t>
            </a:r>
            <a:endParaRPr i="1" sz="1600">
              <a:latin typeface="Times"/>
              <a:ea typeface="Times"/>
              <a:cs typeface="Times"/>
              <a:sym typeface="Times"/>
            </a:endParaRPr>
          </a:p>
          <a:p>
            <a:pPr indent="0" lvl="0" marL="1028700" rtl="0" algn="just">
              <a:spcBef>
                <a:spcPts val="290"/>
              </a:spcBef>
              <a:spcAft>
                <a:spcPts val="0"/>
              </a:spcAft>
              <a:buNone/>
            </a:pPr>
            <a:r>
              <a:t/>
            </a:r>
            <a:endParaRPr i="1" sz="1600">
              <a:latin typeface="Times"/>
              <a:ea typeface="Times"/>
              <a:cs typeface="Times"/>
              <a:sym typeface="Times"/>
            </a:endParaRPr>
          </a:p>
          <a:p>
            <a:pPr indent="0" lvl="0" marL="1028700" rtl="0" algn="just">
              <a:spcBef>
                <a:spcPts val="290"/>
              </a:spcBef>
              <a:spcAft>
                <a:spcPts val="0"/>
              </a:spcAft>
              <a:buNone/>
            </a:pPr>
            <a:r>
              <a:rPr i="1" lang="en-US" sz="1600">
                <a:latin typeface="Times"/>
                <a:ea typeface="Times"/>
                <a:cs typeface="Times"/>
                <a:sym typeface="Times"/>
              </a:rPr>
              <a:t># Example usage:</a:t>
            </a:r>
            <a:endParaRPr i="1" sz="1600">
              <a:latin typeface="Times"/>
              <a:ea typeface="Times"/>
              <a:cs typeface="Times"/>
              <a:sym typeface="Times"/>
            </a:endParaRPr>
          </a:p>
          <a:p>
            <a:pPr indent="0" lvl="0" marL="1028700" rtl="0" algn="just">
              <a:spcBef>
                <a:spcPts val="290"/>
              </a:spcBef>
              <a:spcAft>
                <a:spcPts val="0"/>
              </a:spcAft>
              <a:buNone/>
            </a:pPr>
            <a:r>
              <a:rPr i="1" lang="en-US" sz="1600">
                <a:latin typeface="Times"/>
                <a:ea typeface="Times"/>
                <a:cs typeface="Times"/>
                <a:sym typeface="Times"/>
              </a:rPr>
              <a:t>original_list = [1, 2, 3, 4, 5]</a:t>
            </a:r>
            <a:endParaRPr i="1" sz="1600">
              <a:latin typeface="Times"/>
              <a:ea typeface="Times"/>
              <a:cs typeface="Times"/>
              <a:sym typeface="Times"/>
            </a:endParaRPr>
          </a:p>
          <a:p>
            <a:pPr indent="0" lvl="0" marL="1028700" rtl="0" algn="just">
              <a:spcBef>
                <a:spcPts val="290"/>
              </a:spcBef>
              <a:spcAft>
                <a:spcPts val="0"/>
              </a:spcAft>
              <a:buNone/>
            </a:pPr>
            <a:r>
              <a:rPr i="1" lang="en-US" sz="1600">
                <a:latin typeface="Times"/>
                <a:ea typeface="Times"/>
                <a:cs typeface="Times"/>
                <a:sym typeface="Times"/>
              </a:rPr>
              <a:t>result = sum_elements(original_list)</a:t>
            </a:r>
            <a:endParaRPr i="1" sz="1600">
              <a:latin typeface="Times"/>
              <a:ea typeface="Times"/>
              <a:cs typeface="Times"/>
              <a:sym typeface="Times"/>
            </a:endParaRPr>
          </a:p>
          <a:p>
            <a:pPr indent="0" lvl="0" marL="1028700" rtl="0" algn="just">
              <a:spcBef>
                <a:spcPts val="290"/>
              </a:spcBef>
              <a:spcAft>
                <a:spcPts val="0"/>
              </a:spcAft>
              <a:buNone/>
            </a:pPr>
            <a:r>
              <a:rPr i="1" lang="en-US" sz="1600">
                <a:latin typeface="Times"/>
                <a:ea typeface="Times"/>
                <a:cs typeface="Times"/>
                <a:sym typeface="Times"/>
              </a:rPr>
              <a:t>print("Original List:", original_list)</a:t>
            </a:r>
            <a:endParaRPr i="1" sz="1600">
              <a:latin typeface="Times"/>
              <a:ea typeface="Times"/>
              <a:cs typeface="Times"/>
              <a:sym typeface="Times"/>
            </a:endParaRPr>
          </a:p>
          <a:p>
            <a:pPr indent="0" lvl="0" marL="1028700" rtl="0" algn="just">
              <a:spcBef>
                <a:spcPts val="290"/>
              </a:spcBef>
              <a:spcAft>
                <a:spcPts val="0"/>
              </a:spcAft>
              <a:buNone/>
            </a:pPr>
            <a:r>
              <a:rPr i="1" lang="en-US" sz="1600">
                <a:latin typeface="Times"/>
                <a:ea typeface="Times"/>
                <a:cs typeface="Times"/>
                <a:sym typeface="Times"/>
              </a:rPr>
              <a:t>print("Sum of Elements in List:", result)</a:t>
            </a:r>
            <a:endParaRPr i="1" sz="1600">
              <a:latin typeface="Times"/>
              <a:ea typeface="Times"/>
              <a:cs typeface="Times"/>
              <a:sym typeface="Times"/>
            </a:endParaRPr>
          </a:p>
        </p:txBody>
      </p:sp>
      <p:sp>
        <p:nvSpPr>
          <p:cNvPr id="1011" name="Google Shape;1011;p1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6" name="Shape 1016"/>
        <p:cNvGrpSpPr/>
        <p:nvPr/>
      </p:nvGrpSpPr>
      <p:grpSpPr>
        <a:xfrm>
          <a:off x="0" y="0"/>
          <a:ext cx="0" cy="0"/>
          <a:chOff x="0" y="0"/>
          <a:chExt cx="0" cy="0"/>
        </a:xfrm>
      </p:grpSpPr>
      <p:sp>
        <p:nvSpPr>
          <p:cNvPr id="1017" name="Google Shape;1017;p127"/>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Tuple</a:t>
            </a:r>
            <a:r>
              <a:rPr b="1" lang="en-US" sz="3000">
                <a:solidFill>
                  <a:srgbClr val="1C3678"/>
                </a:solidFill>
                <a:latin typeface="Trebuchet MS"/>
                <a:ea typeface="Trebuchet MS"/>
                <a:cs typeface="Trebuchet MS"/>
                <a:sym typeface="Trebuchet MS"/>
              </a:rPr>
              <a:t> in Functions</a:t>
            </a:r>
            <a:endParaRPr b="1" sz="3000">
              <a:solidFill>
                <a:srgbClr val="1C3678"/>
              </a:solidFill>
              <a:latin typeface="Trebuchet MS"/>
              <a:ea typeface="Trebuchet MS"/>
              <a:cs typeface="Trebuchet MS"/>
              <a:sym typeface="Trebuchet MS"/>
            </a:endParaRPr>
          </a:p>
        </p:txBody>
      </p:sp>
      <p:sp>
        <p:nvSpPr>
          <p:cNvPr id="1018" name="Google Shape;1018;p127"/>
          <p:cNvSpPr txBox="1"/>
          <p:nvPr/>
        </p:nvSpPr>
        <p:spPr>
          <a:xfrm>
            <a:off x="688425" y="793125"/>
            <a:ext cx="8107500" cy="33228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latin typeface="Times"/>
                <a:ea typeface="Times"/>
                <a:cs typeface="Times"/>
                <a:sym typeface="Times"/>
              </a:rPr>
              <a:t>A tuple is an immutable sequence type that can store a collection of items. Tuples can be used as function arguments, allowing you to pass multiple values to a function and also to return multiple values from a function.</a:t>
            </a:r>
            <a:endParaRPr sz="1800">
              <a:latin typeface="Times"/>
              <a:ea typeface="Times"/>
              <a:cs typeface="Times"/>
              <a:sym typeface="Times"/>
            </a:endParaRPr>
          </a:p>
          <a:p>
            <a:pPr indent="0" lvl="0" marL="457200" rtl="0" algn="just">
              <a:spcBef>
                <a:spcPts val="290"/>
              </a:spcBef>
              <a:spcAft>
                <a:spcPts val="0"/>
              </a:spcAft>
              <a:buNone/>
            </a:pPr>
            <a:r>
              <a:t/>
            </a:r>
            <a:endParaRPr sz="1800">
              <a:latin typeface="Times"/>
              <a:ea typeface="Times"/>
              <a:cs typeface="Times"/>
              <a:sym typeface="Times"/>
            </a:endParaRPr>
          </a:p>
          <a:p>
            <a:pPr indent="-342900" lvl="1" marL="914400" rtl="0" algn="just">
              <a:spcBef>
                <a:spcPts val="290"/>
              </a:spcBef>
              <a:spcAft>
                <a:spcPts val="0"/>
              </a:spcAft>
              <a:buSzPts val="1800"/>
              <a:buFont typeface="Times"/>
              <a:buChar char="○"/>
            </a:pPr>
            <a:r>
              <a:rPr lang="en-US" sz="1800">
                <a:latin typeface="Times"/>
                <a:ea typeface="Times"/>
                <a:cs typeface="Times"/>
                <a:sym typeface="Times"/>
              </a:rPr>
              <a:t>Function that Accepts a Tuple and Returns single value</a:t>
            </a:r>
            <a:endParaRPr sz="1800">
              <a:latin typeface="Times"/>
              <a:ea typeface="Times"/>
              <a:cs typeface="Times"/>
              <a:sym typeface="Times"/>
            </a:endParaRPr>
          </a:p>
          <a:p>
            <a:pPr indent="-342900" lvl="2" marL="1371600" rtl="0" algn="just">
              <a:spcBef>
                <a:spcPts val="0"/>
              </a:spcBef>
              <a:spcAft>
                <a:spcPts val="0"/>
              </a:spcAft>
              <a:buSzPts val="1800"/>
              <a:buFont typeface="Times"/>
              <a:buChar char="■"/>
            </a:pPr>
            <a:r>
              <a:rPr lang="en-US" sz="1800">
                <a:latin typeface="Times"/>
                <a:ea typeface="Times"/>
                <a:cs typeface="Times"/>
                <a:sym typeface="Times"/>
              </a:rPr>
              <a:t>A function that accepts a tuple as an argument, processes it, and returns a single value:</a:t>
            </a:r>
            <a:endParaRPr sz="1800">
              <a:latin typeface="Times"/>
              <a:ea typeface="Times"/>
              <a:cs typeface="Times"/>
              <a:sym typeface="Times"/>
            </a:endParaRPr>
          </a:p>
          <a:p>
            <a:pPr indent="0" lvl="0" marL="1371600" rtl="0" algn="just">
              <a:spcBef>
                <a:spcPts val="290"/>
              </a:spcBef>
              <a:spcAft>
                <a:spcPts val="0"/>
              </a:spcAft>
              <a:buNone/>
            </a:pPr>
            <a:r>
              <a:t/>
            </a:r>
            <a:endParaRPr sz="1800">
              <a:latin typeface="Times"/>
              <a:ea typeface="Times"/>
              <a:cs typeface="Times"/>
              <a:sym typeface="Times"/>
            </a:endParaRPr>
          </a:p>
          <a:p>
            <a:pPr indent="-342900" lvl="1" marL="914400" rtl="0" algn="just">
              <a:spcBef>
                <a:spcPts val="290"/>
              </a:spcBef>
              <a:spcAft>
                <a:spcPts val="0"/>
              </a:spcAft>
              <a:buSzPts val="1800"/>
              <a:buFont typeface="Times"/>
              <a:buChar char="○"/>
            </a:pPr>
            <a:r>
              <a:rPr lang="en-US" sz="1800">
                <a:latin typeface="Times"/>
                <a:ea typeface="Times"/>
                <a:cs typeface="Times"/>
                <a:sym typeface="Times"/>
              </a:rPr>
              <a:t>Function that Accepts and Returns a Tuple</a:t>
            </a:r>
            <a:endParaRPr sz="1800">
              <a:latin typeface="Times"/>
              <a:ea typeface="Times"/>
              <a:cs typeface="Times"/>
              <a:sym typeface="Times"/>
            </a:endParaRPr>
          </a:p>
          <a:p>
            <a:pPr indent="-342900" lvl="2" marL="1371600" rtl="0" algn="just">
              <a:spcBef>
                <a:spcPts val="0"/>
              </a:spcBef>
              <a:spcAft>
                <a:spcPts val="0"/>
              </a:spcAft>
              <a:buSzPts val="1800"/>
              <a:buFont typeface="Times"/>
              <a:buChar char="■"/>
            </a:pPr>
            <a:r>
              <a:rPr lang="en-US" sz="1800">
                <a:latin typeface="Times"/>
                <a:ea typeface="Times"/>
                <a:cs typeface="Times"/>
                <a:sym typeface="Times"/>
              </a:rPr>
              <a:t>A </a:t>
            </a:r>
            <a:r>
              <a:rPr lang="en-US" sz="1800">
                <a:latin typeface="Times"/>
                <a:ea typeface="Times"/>
                <a:cs typeface="Times"/>
                <a:sym typeface="Times"/>
              </a:rPr>
              <a:t>function that accepts a tuple as an argument, processes it, and returns a new tuple</a:t>
            </a:r>
            <a:endParaRPr sz="1800">
              <a:latin typeface="Times"/>
              <a:ea typeface="Times"/>
              <a:cs typeface="Times"/>
              <a:sym typeface="Times"/>
            </a:endParaRPr>
          </a:p>
        </p:txBody>
      </p:sp>
      <p:sp>
        <p:nvSpPr>
          <p:cNvPr id="1019" name="Google Shape;1019;p1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4" name="Shape 1024"/>
        <p:cNvGrpSpPr/>
        <p:nvPr/>
      </p:nvGrpSpPr>
      <p:grpSpPr>
        <a:xfrm>
          <a:off x="0" y="0"/>
          <a:ext cx="0" cy="0"/>
          <a:chOff x="0" y="0"/>
          <a:chExt cx="0" cy="0"/>
        </a:xfrm>
      </p:grpSpPr>
      <p:sp>
        <p:nvSpPr>
          <p:cNvPr id="1025" name="Google Shape;1025;p128"/>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Tuple in Functions</a:t>
            </a:r>
            <a:endParaRPr b="1" sz="3000">
              <a:solidFill>
                <a:srgbClr val="1C3678"/>
              </a:solidFill>
              <a:latin typeface="Trebuchet MS"/>
              <a:ea typeface="Trebuchet MS"/>
              <a:cs typeface="Trebuchet MS"/>
              <a:sym typeface="Trebuchet MS"/>
            </a:endParaRPr>
          </a:p>
        </p:txBody>
      </p:sp>
      <p:sp>
        <p:nvSpPr>
          <p:cNvPr id="1026" name="Google Shape;1026;p128"/>
          <p:cNvSpPr txBox="1"/>
          <p:nvPr/>
        </p:nvSpPr>
        <p:spPr>
          <a:xfrm>
            <a:off x="688425" y="793125"/>
            <a:ext cx="8107500" cy="3552300"/>
          </a:xfrm>
          <a:prstGeom prst="rect">
            <a:avLst/>
          </a:prstGeom>
          <a:noFill/>
          <a:ln>
            <a:noFill/>
          </a:ln>
        </p:spPr>
        <p:txBody>
          <a:bodyPr anchorCtr="0" anchor="t" bIns="0" lIns="0" spcFirstLastPara="1" rIns="0" wrap="square" tIns="125075">
            <a:spAutoFit/>
          </a:bodyPr>
          <a:lstStyle/>
          <a:p>
            <a:pPr indent="0" lvl="0" marL="114300" rtl="0" algn="just">
              <a:spcBef>
                <a:spcPts val="290"/>
              </a:spcBef>
              <a:spcAft>
                <a:spcPts val="0"/>
              </a:spcAft>
              <a:buNone/>
            </a:pPr>
            <a:r>
              <a:rPr lang="en-US" sz="1800">
                <a:latin typeface="Times"/>
                <a:ea typeface="Times"/>
                <a:cs typeface="Times"/>
                <a:sym typeface="Times"/>
              </a:rPr>
              <a:t>Example 1: Finding the multiplication of elements in Tuple</a:t>
            </a:r>
            <a:endParaRPr sz="1800">
              <a:latin typeface="Times"/>
              <a:ea typeface="Times"/>
              <a:cs typeface="Times"/>
              <a:sym typeface="Times"/>
            </a:endParaRPr>
          </a:p>
          <a:p>
            <a:pPr indent="-342900" lvl="0" marL="457200" rtl="0" algn="just">
              <a:spcBef>
                <a:spcPts val="290"/>
              </a:spcBef>
              <a:spcAft>
                <a:spcPts val="0"/>
              </a:spcAft>
              <a:buSzPts val="1800"/>
              <a:buFont typeface="Times"/>
              <a:buChar char="●"/>
            </a:pPr>
            <a:r>
              <a:rPr lang="en-US" sz="1800">
                <a:latin typeface="Times"/>
                <a:ea typeface="Times"/>
                <a:cs typeface="Times"/>
                <a:sym typeface="Times"/>
              </a:rPr>
              <a:t>Let's create a function that accepts a tuple of numbers and returns a single value.</a:t>
            </a:r>
            <a:endParaRPr sz="1800">
              <a:latin typeface="Times"/>
              <a:ea typeface="Times"/>
              <a:cs typeface="Times"/>
              <a:sym typeface="Times"/>
            </a:endParaRPr>
          </a:p>
          <a:p>
            <a:pPr indent="0" lvl="0" marL="1028700" rtl="0" algn="just">
              <a:spcBef>
                <a:spcPts val="290"/>
              </a:spcBef>
              <a:spcAft>
                <a:spcPts val="0"/>
              </a:spcAft>
              <a:buNone/>
            </a:pPr>
            <a:r>
              <a:rPr i="1" lang="en-US" sz="1600">
                <a:latin typeface="Times"/>
                <a:ea typeface="Times"/>
                <a:cs typeface="Times"/>
                <a:sym typeface="Times"/>
              </a:rPr>
              <a:t>def find_multiply(input_tuple):</a:t>
            </a:r>
            <a:endParaRPr i="1" sz="1600">
              <a:latin typeface="Times"/>
              <a:ea typeface="Times"/>
              <a:cs typeface="Times"/>
              <a:sym typeface="Times"/>
            </a:endParaRPr>
          </a:p>
          <a:p>
            <a:pPr indent="0" lvl="0" marL="1028700" rtl="0" algn="just">
              <a:spcBef>
                <a:spcPts val="290"/>
              </a:spcBef>
              <a:spcAft>
                <a:spcPts val="0"/>
              </a:spcAft>
              <a:buNone/>
            </a:pPr>
            <a:r>
              <a:rPr i="1" lang="en-US" sz="1600">
                <a:latin typeface="Times"/>
                <a:ea typeface="Times"/>
                <a:cs typeface="Times"/>
                <a:sym typeface="Times"/>
              </a:rPr>
              <a:t>	mul = 1</a:t>
            </a:r>
            <a:endParaRPr i="1" sz="1600">
              <a:latin typeface="Times"/>
              <a:ea typeface="Times"/>
              <a:cs typeface="Times"/>
              <a:sym typeface="Times"/>
            </a:endParaRPr>
          </a:p>
          <a:p>
            <a:pPr indent="0" lvl="0" marL="1028700" rtl="0" algn="just">
              <a:spcBef>
                <a:spcPts val="290"/>
              </a:spcBef>
              <a:spcAft>
                <a:spcPts val="0"/>
              </a:spcAft>
              <a:buNone/>
            </a:pPr>
            <a:r>
              <a:rPr i="1" lang="en-US" sz="1600">
                <a:latin typeface="Times"/>
                <a:ea typeface="Times"/>
                <a:cs typeface="Times"/>
                <a:sym typeface="Times"/>
              </a:rPr>
              <a:t>    for elem in input_tuple:</a:t>
            </a:r>
            <a:endParaRPr i="1" sz="1600">
              <a:latin typeface="Times"/>
              <a:ea typeface="Times"/>
              <a:cs typeface="Times"/>
              <a:sym typeface="Times"/>
            </a:endParaRPr>
          </a:p>
          <a:p>
            <a:pPr indent="0" lvl="0" marL="1028700" rtl="0" algn="just">
              <a:spcBef>
                <a:spcPts val="290"/>
              </a:spcBef>
              <a:spcAft>
                <a:spcPts val="0"/>
              </a:spcAft>
              <a:buNone/>
            </a:pPr>
            <a:r>
              <a:rPr i="1" lang="en-US" sz="1600">
                <a:latin typeface="Times"/>
                <a:ea typeface="Times"/>
                <a:cs typeface="Times"/>
                <a:sym typeface="Times"/>
              </a:rPr>
              <a:t>    		mul *= elem</a:t>
            </a:r>
            <a:endParaRPr i="1" sz="1600">
              <a:latin typeface="Times"/>
              <a:ea typeface="Times"/>
              <a:cs typeface="Times"/>
              <a:sym typeface="Times"/>
            </a:endParaRPr>
          </a:p>
          <a:p>
            <a:pPr indent="0" lvl="0" marL="1028700" rtl="0" algn="just">
              <a:spcBef>
                <a:spcPts val="290"/>
              </a:spcBef>
              <a:spcAft>
                <a:spcPts val="0"/>
              </a:spcAft>
              <a:buNone/>
            </a:pPr>
            <a:r>
              <a:rPr i="1" lang="en-US" sz="1600">
                <a:latin typeface="Times"/>
                <a:ea typeface="Times"/>
                <a:cs typeface="Times"/>
                <a:sym typeface="Times"/>
              </a:rPr>
              <a:t>    		return mul</a:t>
            </a:r>
            <a:endParaRPr i="1" sz="1600">
              <a:latin typeface="Times"/>
              <a:ea typeface="Times"/>
              <a:cs typeface="Times"/>
              <a:sym typeface="Times"/>
            </a:endParaRPr>
          </a:p>
          <a:p>
            <a:pPr indent="0" lvl="0" marL="1028700" rtl="0" algn="just">
              <a:spcBef>
                <a:spcPts val="290"/>
              </a:spcBef>
              <a:spcAft>
                <a:spcPts val="0"/>
              </a:spcAft>
              <a:buNone/>
            </a:pPr>
            <a:r>
              <a:rPr i="1" lang="en-US" sz="1600">
                <a:latin typeface="Times"/>
                <a:ea typeface="Times"/>
                <a:cs typeface="Times"/>
                <a:sym typeface="Times"/>
              </a:rPr>
              <a:t># Example usage</a:t>
            </a:r>
            <a:endParaRPr i="1" sz="1600">
              <a:latin typeface="Times"/>
              <a:ea typeface="Times"/>
              <a:cs typeface="Times"/>
              <a:sym typeface="Times"/>
            </a:endParaRPr>
          </a:p>
          <a:p>
            <a:pPr indent="0" lvl="0" marL="1028700" rtl="0" algn="just">
              <a:spcBef>
                <a:spcPts val="290"/>
              </a:spcBef>
              <a:spcAft>
                <a:spcPts val="0"/>
              </a:spcAft>
              <a:buNone/>
            </a:pPr>
            <a:r>
              <a:rPr i="1" lang="en-US" sz="1600">
                <a:latin typeface="Times"/>
                <a:ea typeface="Times"/>
                <a:cs typeface="Times"/>
                <a:sym typeface="Times"/>
              </a:rPr>
              <a:t>data = (1, 2, 3, 4, 5)</a:t>
            </a:r>
            <a:endParaRPr i="1" sz="1600">
              <a:latin typeface="Times"/>
              <a:ea typeface="Times"/>
              <a:cs typeface="Times"/>
              <a:sym typeface="Times"/>
            </a:endParaRPr>
          </a:p>
          <a:p>
            <a:pPr indent="0" lvl="0" marL="1028700" rtl="0" algn="just">
              <a:spcBef>
                <a:spcPts val="290"/>
              </a:spcBef>
              <a:spcAft>
                <a:spcPts val="0"/>
              </a:spcAft>
              <a:buNone/>
            </a:pPr>
            <a:r>
              <a:rPr i="1" lang="en-US" sz="1600">
                <a:latin typeface="Times"/>
                <a:ea typeface="Times"/>
                <a:cs typeface="Times"/>
                <a:sym typeface="Times"/>
              </a:rPr>
              <a:t>result = find_multiply(data)</a:t>
            </a:r>
            <a:endParaRPr i="1" sz="1600">
              <a:latin typeface="Times"/>
              <a:ea typeface="Times"/>
              <a:cs typeface="Times"/>
              <a:sym typeface="Times"/>
            </a:endParaRPr>
          </a:p>
          <a:p>
            <a:pPr indent="0" lvl="0" marL="1028700" rtl="0" algn="just">
              <a:spcBef>
                <a:spcPts val="290"/>
              </a:spcBef>
              <a:spcAft>
                <a:spcPts val="0"/>
              </a:spcAft>
              <a:buNone/>
            </a:pPr>
            <a:r>
              <a:rPr i="1" lang="en-US" sz="1600">
                <a:latin typeface="Times"/>
                <a:ea typeface="Times"/>
                <a:cs typeface="Times"/>
                <a:sym typeface="Times"/>
              </a:rPr>
              <a:t>print("Input Tuple:", data)</a:t>
            </a:r>
            <a:endParaRPr i="1" sz="1600">
              <a:latin typeface="Times"/>
              <a:ea typeface="Times"/>
              <a:cs typeface="Times"/>
              <a:sym typeface="Times"/>
            </a:endParaRPr>
          </a:p>
          <a:p>
            <a:pPr indent="0" lvl="0" marL="1028700" rtl="0" algn="just">
              <a:spcBef>
                <a:spcPts val="290"/>
              </a:spcBef>
              <a:spcAft>
                <a:spcPts val="0"/>
              </a:spcAft>
              <a:buNone/>
            </a:pPr>
            <a:r>
              <a:rPr i="1" lang="en-US" sz="1600">
                <a:latin typeface="Times"/>
                <a:ea typeface="Times"/>
                <a:cs typeface="Times"/>
                <a:sym typeface="Times"/>
              </a:rPr>
              <a:t>print("Multiply of elements in Tuple:", result)</a:t>
            </a:r>
            <a:endParaRPr sz="1800">
              <a:latin typeface="Times"/>
              <a:ea typeface="Times"/>
              <a:cs typeface="Times"/>
              <a:sym typeface="Times"/>
            </a:endParaRPr>
          </a:p>
        </p:txBody>
      </p:sp>
      <p:sp>
        <p:nvSpPr>
          <p:cNvPr id="1027" name="Google Shape;1027;p1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2" name="Shape 1032"/>
        <p:cNvGrpSpPr/>
        <p:nvPr/>
      </p:nvGrpSpPr>
      <p:grpSpPr>
        <a:xfrm>
          <a:off x="0" y="0"/>
          <a:ext cx="0" cy="0"/>
          <a:chOff x="0" y="0"/>
          <a:chExt cx="0" cy="0"/>
        </a:xfrm>
      </p:grpSpPr>
      <p:sp>
        <p:nvSpPr>
          <p:cNvPr id="1033" name="Google Shape;1033;p129"/>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Dictionary</a:t>
            </a:r>
            <a:r>
              <a:rPr b="1" lang="en-US" sz="3000">
                <a:solidFill>
                  <a:srgbClr val="1C3678"/>
                </a:solidFill>
                <a:latin typeface="Trebuchet MS"/>
                <a:ea typeface="Trebuchet MS"/>
                <a:cs typeface="Trebuchet MS"/>
                <a:sym typeface="Trebuchet MS"/>
              </a:rPr>
              <a:t> in Functions</a:t>
            </a:r>
            <a:endParaRPr b="1" sz="3000">
              <a:solidFill>
                <a:srgbClr val="1C3678"/>
              </a:solidFill>
              <a:latin typeface="Trebuchet MS"/>
              <a:ea typeface="Trebuchet MS"/>
              <a:cs typeface="Trebuchet MS"/>
              <a:sym typeface="Trebuchet MS"/>
            </a:endParaRPr>
          </a:p>
        </p:txBody>
      </p:sp>
      <p:sp>
        <p:nvSpPr>
          <p:cNvPr id="1034" name="Google Shape;1034;p129"/>
          <p:cNvSpPr txBox="1"/>
          <p:nvPr/>
        </p:nvSpPr>
        <p:spPr>
          <a:xfrm>
            <a:off x="688425" y="793125"/>
            <a:ext cx="8107500" cy="32856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latin typeface="Times"/>
                <a:ea typeface="Times"/>
                <a:cs typeface="Times"/>
                <a:sym typeface="Times"/>
              </a:rPr>
              <a:t>A dictionary is a built-in data type that stores data in key-value pairs. When you create a function that accepts a dictionary as an argument and returns a dictionary, you can manipulate or process the data within that dictionary as needed.</a:t>
            </a:r>
            <a:endParaRPr sz="1800">
              <a:latin typeface="Times"/>
              <a:ea typeface="Times"/>
              <a:cs typeface="Times"/>
              <a:sym typeface="Times"/>
            </a:endParaRPr>
          </a:p>
          <a:p>
            <a:pPr indent="0" lvl="0" marL="457200" rtl="0" algn="just">
              <a:spcBef>
                <a:spcPts val="290"/>
              </a:spcBef>
              <a:spcAft>
                <a:spcPts val="0"/>
              </a:spcAft>
              <a:buNone/>
            </a:pPr>
            <a:r>
              <a:t/>
            </a:r>
            <a:endParaRPr sz="1800">
              <a:latin typeface="Times"/>
              <a:ea typeface="Times"/>
              <a:cs typeface="Times"/>
              <a:sym typeface="Times"/>
            </a:endParaRPr>
          </a:p>
          <a:p>
            <a:pPr indent="0" lvl="0" marL="0" rtl="0" algn="just">
              <a:spcBef>
                <a:spcPts val="290"/>
              </a:spcBef>
              <a:spcAft>
                <a:spcPts val="0"/>
              </a:spcAft>
              <a:buNone/>
            </a:pPr>
            <a:r>
              <a:rPr lang="en-US" sz="1800">
                <a:latin typeface="Times"/>
                <a:ea typeface="Times"/>
                <a:cs typeface="Times"/>
                <a:sym typeface="Times"/>
              </a:rPr>
              <a:t>Explanation of Dictionary in Functions</a:t>
            </a:r>
            <a:endParaRPr sz="1800">
              <a:latin typeface="Times"/>
              <a:ea typeface="Times"/>
              <a:cs typeface="Times"/>
              <a:sym typeface="Times"/>
            </a:endParaRPr>
          </a:p>
          <a:p>
            <a:pPr indent="-342900" lvl="1" marL="914400" rtl="0" algn="just">
              <a:spcBef>
                <a:spcPts val="290"/>
              </a:spcBef>
              <a:spcAft>
                <a:spcPts val="0"/>
              </a:spcAft>
              <a:buSzPts val="1800"/>
              <a:buFont typeface="Tahoma"/>
              <a:buChar char="○"/>
            </a:pPr>
            <a:r>
              <a:rPr b="1" lang="en-US" sz="1800">
                <a:latin typeface="Times"/>
                <a:ea typeface="Times"/>
                <a:cs typeface="Times"/>
                <a:sym typeface="Times"/>
              </a:rPr>
              <a:t>Defining a Function</a:t>
            </a:r>
            <a:r>
              <a:rPr lang="en-US" sz="1800">
                <a:latin typeface="Times"/>
                <a:ea typeface="Times"/>
                <a:cs typeface="Times"/>
                <a:sym typeface="Times"/>
              </a:rPr>
              <a:t>: You can define a function that takes a dictionary as an argument.</a:t>
            </a:r>
            <a:endParaRPr sz="1800">
              <a:latin typeface="Times"/>
              <a:ea typeface="Times"/>
              <a:cs typeface="Times"/>
              <a:sym typeface="Times"/>
            </a:endParaRPr>
          </a:p>
          <a:p>
            <a:pPr indent="-342900" lvl="1" marL="914400" rtl="0" algn="just">
              <a:spcBef>
                <a:spcPts val="0"/>
              </a:spcBef>
              <a:spcAft>
                <a:spcPts val="0"/>
              </a:spcAft>
              <a:buSzPts val="1800"/>
              <a:buFont typeface="Tahoma"/>
              <a:buChar char="○"/>
            </a:pPr>
            <a:r>
              <a:rPr b="1" lang="en-US" sz="1800">
                <a:latin typeface="Times"/>
                <a:ea typeface="Times"/>
                <a:cs typeface="Times"/>
                <a:sym typeface="Times"/>
              </a:rPr>
              <a:t>Accessing Dictionary Items</a:t>
            </a:r>
            <a:r>
              <a:rPr lang="en-US" sz="1800">
                <a:latin typeface="Times"/>
                <a:ea typeface="Times"/>
                <a:cs typeface="Times"/>
                <a:sym typeface="Times"/>
              </a:rPr>
              <a:t>: Inside the function, you can access the values associated with specific keys in the dictionary.</a:t>
            </a:r>
            <a:endParaRPr sz="1800">
              <a:latin typeface="Times"/>
              <a:ea typeface="Times"/>
              <a:cs typeface="Times"/>
              <a:sym typeface="Times"/>
            </a:endParaRPr>
          </a:p>
          <a:p>
            <a:pPr indent="-342900" lvl="1" marL="914400" rtl="0" algn="just">
              <a:spcBef>
                <a:spcPts val="0"/>
              </a:spcBef>
              <a:spcAft>
                <a:spcPts val="0"/>
              </a:spcAft>
              <a:buSzPts val="1800"/>
              <a:buFont typeface="Tahoma"/>
              <a:buChar char="○"/>
            </a:pPr>
            <a:r>
              <a:rPr b="1" lang="en-US" sz="1800">
                <a:latin typeface="Times"/>
                <a:ea typeface="Times"/>
                <a:cs typeface="Times"/>
                <a:sym typeface="Times"/>
              </a:rPr>
              <a:t>Returning a Dictionary</a:t>
            </a:r>
            <a:r>
              <a:rPr lang="en-US" sz="1800">
                <a:latin typeface="Times"/>
                <a:ea typeface="Times"/>
                <a:cs typeface="Times"/>
                <a:sym typeface="Times"/>
              </a:rPr>
              <a:t>: You can create a new dictionary, modify the original one, or simply return a copy of it.</a:t>
            </a:r>
            <a:endParaRPr sz="1800">
              <a:latin typeface="Times"/>
              <a:ea typeface="Times"/>
              <a:cs typeface="Times"/>
              <a:sym typeface="Times"/>
            </a:endParaRPr>
          </a:p>
        </p:txBody>
      </p:sp>
      <p:sp>
        <p:nvSpPr>
          <p:cNvPr id="1035" name="Google Shape;1035;p1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0" name="Shape 1040"/>
        <p:cNvGrpSpPr/>
        <p:nvPr/>
      </p:nvGrpSpPr>
      <p:grpSpPr>
        <a:xfrm>
          <a:off x="0" y="0"/>
          <a:ext cx="0" cy="0"/>
          <a:chOff x="0" y="0"/>
          <a:chExt cx="0" cy="0"/>
        </a:xfrm>
      </p:grpSpPr>
      <p:sp>
        <p:nvSpPr>
          <p:cNvPr id="1041" name="Google Shape;1041;p130"/>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Dictionary in Functions</a:t>
            </a:r>
            <a:endParaRPr b="1" sz="3000">
              <a:solidFill>
                <a:srgbClr val="1C3678"/>
              </a:solidFill>
              <a:latin typeface="Trebuchet MS"/>
              <a:ea typeface="Trebuchet MS"/>
              <a:cs typeface="Trebuchet MS"/>
              <a:sym typeface="Trebuchet MS"/>
            </a:endParaRPr>
          </a:p>
        </p:txBody>
      </p:sp>
      <p:sp>
        <p:nvSpPr>
          <p:cNvPr id="1042" name="Google Shape;1042;p130"/>
          <p:cNvSpPr txBox="1"/>
          <p:nvPr/>
        </p:nvSpPr>
        <p:spPr>
          <a:xfrm>
            <a:off x="688425" y="793125"/>
            <a:ext cx="8107500" cy="3792300"/>
          </a:xfrm>
          <a:prstGeom prst="rect">
            <a:avLst/>
          </a:prstGeom>
          <a:noFill/>
          <a:ln>
            <a:noFill/>
          </a:ln>
        </p:spPr>
        <p:txBody>
          <a:bodyPr anchorCtr="0" anchor="t" bIns="0" lIns="0" spcFirstLastPara="1" rIns="0" wrap="square" tIns="125075">
            <a:spAutoFit/>
          </a:bodyPr>
          <a:lstStyle/>
          <a:p>
            <a:pPr indent="0" lvl="0" marL="114300" rtl="0" algn="just">
              <a:spcBef>
                <a:spcPts val="290"/>
              </a:spcBef>
              <a:spcAft>
                <a:spcPts val="0"/>
              </a:spcAft>
              <a:buNone/>
            </a:pPr>
            <a:r>
              <a:rPr lang="en-US" sz="1800">
                <a:latin typeface="Times"/>
                <a:ea typeface="Times"/>
                <a:cs typeface="Times"/>
                <a:sym typeface="Times"/>
              </a:rPr>
              <a:t>Let’s create a function that accepts a dictionary of student names and their grades, and returns a new dictionary containing only those students who have passed (assuming a passing grade is 50).</a:t>
            </a:r>
            <a:endParaRPr sz="1800">
              <a:latin typeface="Times"/>
              <a:ea typeface="Times"/>
              <a:cs typeface="Times"/>
              <a:sym typeface="Times"/>
            </a:endParaRPr>
          </a:p>
          <a:p>
            <a:pPr indent="0" lvl="0" marL="114300" rtl="0" algn="just">
              <a:spcBef>
                <a:spcPts val="290"/>
              </a:spcBef>
              <a:spcAft>
                <a:spcPts val="0"/>
              </a:spcAft>
              <a:buNone/>
            </a:pPr>
            <a:r>
              <a:t/>
            </a:r>
            <a:endParaRPr i="1" sz="1600">
              <a:latin typeface="Times"/>
              <a:ea typeface="Times"/>
              <a:cs typeface="Times"/>
              <a:sym typeface="Times"/>
            </a:endParaRPr>
          </a:p>
          <a:p>
            <a:pPr indent="0" lvl="0" marL="114300" rtl="0" algn="just">
              <a:spcBef>
                <a:spcPts val="290"/>
              </a:spcBef>
              <a:spcAft>
                <a:spcPts val="0"/>
              </a:spcAft>
              <a:buNone/>
            </a:pPr>
            <a:r>
              <a:rPr i="1" lang="en-US" sz="1600">
                <a:latin typeface="Times"/>
                <a:ea typeface="Times"/>
                <a:cs typeface="Times"/>
                <a:sym typeface="Times"/>
              </a:rPr>
              <a:t>def filter_passed_students(grades_dict):</a:t>
            </a:r>
            <a:endParaRPr i="1" sz="1600">
              <a:latin typeface="Times"/>
              <a:ea typeface="Times"/>
              <a:cs typeface="Times"/>
              <a:sym typeface="Times"/>
            </a:endParaRPr>
          </a:p>
          <a:p>
            <a:pPr indent="0" lvl="0" marL="114300" rtl="0" algn="just">
              <a:spcBef>
                <a:spcPts val="290"/>
              </a:spcBef>
              <a:spcAft>
                <a:spcPts val="0"/>
              </a:spcAft>
              <a:buNone/>
            </a:pPr>
            <a:r>
              <a:rPr i="1" lang="en-US" sz="1600">
                <a:latin typeface="Times"/>
                <a:ea typeface="Times"/>
                <a:cs typeface="Times"/>
                <a:sym typeface="Times"/>
              </a:rPr>
              <a:t>    passed_students = {} </a:t>
            </a:r>
            <a:endParaRPr i="1" sz="1600">
              <a:latin typeface="Times"/>
              <a:ea typeface="Times"/>
              <a:cs typeface="Times"/>
              <a:sym typeface="Times"/>
            </a:endParaRPr>
          </a:p>
          <a:p>
            <a:pPr indent="0" lvl="0" marL="114300" rtl="0" algn="just">
              <a:spcBef>
                <a:spcPts val="290"/>
              </a:spcBef>
              <a:spcAft>
                <a:spcPts val="0"/>
              </a:spcAft>
              <a:buNone/>
            </a:pPr>
            <a:r>
              <a:rPr i="1" lang="en-US" sz="1600">
                <a:latin typeface="Times"/>
                <a:ea typeface="Times"/>
                <a:cs typeface="Times"/>
                <a:sym typeface="Times"/>
              </a:rPr>
              <a:t>    for student, grade in grades_dict.items():</a:t>
            </a:r>
            <a:endParaRPr i="1" sz="1600">
              <a:latin typeface="Times"/>
              <a:ea typeface="Times"/>
              <a:cs typeface="Times"/>
              <a:sym typeface="Times"/>
            </a:endParaRPr>
          </a:p>
          <a:p>
            <a:pPr indent="0" lvl="0" marL="114300" rtl="0" algn="just">
              <a:spcBef>
                <a:spcPts val="290"/>
              </a:spcBef>
              <a:spcAft>
                <a:spcPts val="0"/>
              </a:spcAft>
              <a:buNone/>
            </a:pPr>
            <a:r>
              <a:rPr i="1" lang="en-US" sz="1600">
                <a:latin typeface="Times"/>
                <a:ea typeface="Times"/>
                <a:cs typeface="Times"/>
                <a:sym typeface="Times"/>
              </a:rPr>
              <a:t>        if grade &gt;= 50: </a:t>
            </a:r>
            <a:endParaRPr i="1" sz="1600">
              <a:latin typeface="Times"/>
              <a:ea typeface="Times"/>
              <a:cs typeface="Times"/>
              <a:sym typeface="Times"/>
            </a:endParaRPr>
          </a:p>
          <a:p>
            <a:pPr indent="0" lvl="0" marL="114300" rtl="0" algn="just">
              <a:spcBef>
                <a:spcPts val="290"/>
              </a:spcBef>
              <a:spcAft>
                <a:spcPts val="0"/>
              </a:spcAft>
              <a:buNone/>
            </a:pPr>
            <a:r>
              <a:rPr i="1" lang="en-US" sz="1600">
                <a:latin typeface="Times"/>
                <a:ea typeface="Times"/>
                <a:cs typeface="Times"/>
                <a:sym typeface="Times"/>
              </a:rPr>
              <a:t>            passed_students[student] = grade </a:t>
            </a:r>
            <a:endParaRPr i="1" sz="1600">
              <a:latin typeface="Times"/>
              <a:ea typeface="Times"/>
              <a:cs typeface="Times"/>
              <a:sym typeface="Times"/>
            </a:endParaRPr>
          </a:p>
          <a:p>
            <a:pPr indent="0" lvl="0" marL="114300" rtl="0" algn="just">
              <a:spcBef>
                <a:spcPts val="290"/>
              </a:spcBef>
              <a:spcAft>
                <a:spcPts val="0"/>
              </a:spcAft>
              <a:buNone/>
            </a:pPr>
            <a:r>
              <a:rPr i="1" lang="en-US" sz="1600">
                <a:latin typeface="Times"/>
                <a:ea typeface="Times"/>
                <a:cs typeface="Times"/>
                <a:sym typeface="Times"/>
              </a:rPr>
              <a:t>    return passed_students</a:t>
            </a:r>
            <a:endParaRPr i="1" sz="1600">
              <a:latin typeface="Times"/>
              <a:ea typeface="Times"/>
              <a:cs typeface="Times"/>
              <a:sym typeface="Times"/>
            </a:endParaRPr>
          </a:p>
          <a:p>
            <a:pPr indent="0" lvl="0" marL="114300" rtl="0" algn="just">
              <a:spcBef>
                <a:spcPts val="290"/>
              </a:spcBef>
              <a:spcAft>
                <a:spcPts val="0"/>
              </a:spcAft>
              <a:buNone/>
            </a:pPr>
            <a:r>
              <a:t/>
            </a:r>
            <a:endParaRPr i="1" sz="1600">
              <a:latin typeface="Times"/>
              <a:ea typeface="Times"/>
              <a:cs typeface="Times"/>
              <a:sym typeface="Times"/>
            </a:endParaRPr>
          </a:p>
          <a:p>
            <a:pPr indent="0" lvl="0" marL="114300" rtl="0" algn="just">
              <a:spcBef>
                <a:spcPts val="290"/>
              </a:spcBef>
              <a:spcAft>
                <a:spcPts val="0"/>
              </a:spcAft>
              <a:buNone/>
            </a:pPr>
            <a:r>
              <a:rPr i="1" lang="en-US" sz="1600">
                <a:latin typeface="Times"/>
                <a:ea typeface="Times"/>
                <a:cs typeface="Times"/>
                <a:sym typeface="Times"/>
              </a:rPr>
              <a:t>passed_students= filter_passed_students(student_grades)</a:t>
            </a:r>
            <a:endParaRPr i="1" sz="1600">
              <a:latin typeface="Times"/>
              <a:ea typeface="Times"/>
              <a:cs typeface="Times"/>
              <a:sym typeface="Times"/>
            </a:endParaRPr>
          </a:p>
          <a:p>
            <a:pPr indent="0" lvl="0" marL="114300" rtl="0" algn="just">
              <a:spcBef>
                <a:spcPts val="290"/>
              </a:spcBef>
              <a:spcAft>
                <a:spcPts val="0"/>
              </a:spcAft>
              <a:buNone/>
            </a:pPr>
            <a:r>
              <a:rPr i="1" lang="en-US" sz="1600">
                <a:latin typeface="Times"/>
                <a:ea typeface="Times"/>
                <a:cs typeface="Times"/>
                <a:sym typeface="Times"/>
              </a:rPr>
              <a:t>print(passed_students) </a:t>
            </a:r>
            <a:r>
              <a:rPr i="1" lang="en-US" sz="1600">
                <a:latin typeface="Times"/>
                <a:ea typeface="Times"/>
                <a:cs typeface="Times"/>
                <a:sym typeface="Times"/>
              </a:rPr>
              <a:t> </a:t>
            </a:r>
            <a:endParaRPr sz="1800">
              <a:latin typeface="Times"/>
              <a:ea typeface="Times"/>
              <a:cs typeface="Times"/>
              <a:sym typeface="Times"/>
            </a:endParaRPr>
          </a:p>
        </p:txBody>
      </p:sp>
      <p:sp>
        <p:nvSpPr>
          <p:cNvPr id="1043" name="Google Shape;1043;p1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1044" name="Google Shape;1044;p130"/>
          <p:cNvSpPr txBox="1"/>
          <p:nvPr/>
        </p:nvSpPr>
        <p:spPr>
          <a:xfrm>
            <a:off x="6143425" y="1899150"/>
            <a:ext cx="2596800" cy="2686200"/>
          </a:xfrm>
          <a:prstGeom prst="rect">
            <a:avLst/>
          </a:prstGeom>
          <a:noFill/>
          <a:ln>
            <a:noFill/>
          </a:ln>
        </p:spPr>
        <p:txBody>
          <a:bodyPr anchorCtr="0" anchor="t" bIns="91425" lIns="91425" spcFirstLastPara="1" rIns="91425" wrap="square" tIns="91425">
            <a:noAutofit/>
          </a:bodyPr>
          <a:lstStyle/>
          <a:p>
            <a:pPr indent="0" lvl="0" marL="114300" rtl="0" algn="just">
              <a:spcBef>
                <a:spcPts val="290"/>
              </a:spcBef>
              <a:spcAft>
                <a:spcPts val="0"/>
              </a:spcAft>
              <a:buNone/>
            </a:pPr>
            <a:r>
              <a:rPr i="1" lang="en-US" sz="1800">
                <a:latin typeface="Times"/>
                <a:ea typeface="Times"/>
                <a:cs typeface="Times"/>
                <a:sym typeface="Times"/>
              </a:rPr>
              <a:t># Example usage:</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student_grades = {</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'Alice': 85,</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'Bob': 45,</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'Charlie': 70,</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'David': 30,</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'Eva': 90</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a:t>
            </a:r>
            <a:endParaRPr i="1" sz="1800">
              <a:latin typeface="Times"/>
              <a:ea typeface="Times"/>
              <a:cs typeface="Times"/>
              <a:sym typeface="Times"/>
            </a:endParaRPr>
          </a:p>
          <a:p>
            <a:pPr indent="0" lvl="0" marL="114300" rtl="0" algn="just">
              <a:spcBef>
                <a:spcPts val="290"/>
              </a:spcBef>
              <a:spcAft>
                <a:spcPts val="0"/>
              </a:spcAft>
              <a:buNone/>
            </a:pPr>
            <a:r>
              <a:t/>
            </a:r>
            <a:endParaRPr sz="1800">
              <a:solidFill>
                <a:schemeClr val="dk2"/>
              </a:solidFill>
              <a:latin typeface="Times"/>
              <a:ea typeface="Times"/>
              <a:cs typeface="Times"/>
              <a:sym typeface="Times"/>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9" name="Shape 1049"/>
        <p:cNvGrpSpPr/>
        <p:nvPr/>
      </p:nvGrpSpPr>
      <p:grpSpPr>
        <a:xfrm>
          <a:off x="0" y="0"/>
          <a:ext cx="0" cy="0"/>
          <a:chOff x="0" y="0"/>
          <a:chExt cx="0" cy="0"/>
        </a:xfrm>
      </p:grpSpPr>
      <p:sp>
        <p:nvSpPr>
          <p:cNvPr id="1050" name="Google Shape;1050;p131"/>
          <p:cNvSpPr txBox="1"/>
          <p:nvPr/>
        </p:nvSpPr>
        <p:spPr>
          <a:xfrm>
            <a:off x="573225" y="318525"/>
            <a:ext cx="8107500" cy="4437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2800">
                <a:solidFill>
                  <a:srgbClr val="1C3678"/>
                </a:solidFill>
                <a:latin typeface="Trebuchet MS"/>
                <a:ea typeface="Trebuchet MS"/>
                <a:cs typeface="Trebuchet MS"/>
                <a:sym typeface="Trebuchet MS"/>
              </a:rPr>
              <a:t>Object Oriented Programming (OOP)</a:t>
            </a:r>
            <a:endParaRPr b="1" sz="2800">
              <a:solidFill>
                <a:srgbClr val="1C3678"/>
              </a:solidFill>
              <a:latin typeface="Trebuchet MS"/>
              <a:ea typeface="Trebuchet MS"/>
              <a:cs typeface="Trebuchet MS"/>
              <a:sym typeface="Trebuchet MS"/>
            </a:endParaRPr>
          </a:p>
        </p:txBody>
      </p:sp>
      <p:sp>
        <p:nvSpPr>
          <p:cNvPr id="1051" name="Google Shape;1051;p131"/>
          <p:cNvSpPr txBox="1"/>
          <p:nvPr/>
        </p:nvSpPr>
        <p:spPr>
          <a:xfrm>
            <a:off x="688425" y="793125"/>
            <a:ext cx="8107500" cy="15117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highlight>
                  <a:srgbClr val="FFFFFF"/>
                </a:highlight>
                <a:latin typeface="Times"/>
                <a:ea typeface="Times"/>
                <a:cs typeface="Times"/>
                <a:sym typeface="Times"/>
              </a:rPr>
              <a:t>OOP is a programming paradigm that uses objects and classes in programming. It aims to implement real-world entities like inheritance, polymorphisms, encapsulation, etc. in the programming. The main concept of oop in Python is to bind the data and the functions that work together as a single unit so that no other part of the code can access this data.</a:t>
            </a:r>
            <a:endParaRPr sz="1800">
              <a:highlight>
                <a:srgbClr val="FFFFFF"/>
              </a:highlight>
              <a:latin typeface="Times"/>
              <a:ea typeface="Times"/>
              <a:cs typeface="Times"/>
              <a:sym typeface="Times"/>
            </a:endParaRPr>
          </a:p>
        </p:txBody>
      </p:sp>
      <p:sp>
        <p:nvSpPr>
          <p:cNvPr id="1052" name="Google Shape;1052;p1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1053" name="Google Shape;1053;p131"/>
          <p:cNvPicPr preferRelativeResize="0"/>
          <p:nvPr/>
        </p:nvPicPr>
        <p:blipFill>
          <a:blip r:embed="rId3">
            <a:alphaModFix/>
          </a:blip>
          <a:stretch>
            <a:fillRect/>
          </a:stretch>
        </p:blipFill>
        <p:spPr>
          <a:xfrm>
            <a:off x="1653525" y="2388298"/>
            <a:ext cx="3049575" cy="2543150"/>
          </a:xfrm>
          <a:prstGeom prst="rect">
            <a:avLst/>
          </a:prstGeom>
          <a:noFill/>
          <a:ln>
            <a:noFill/>
          </a:ln>
        </p:spPr>
      </p:pic>
      <p:pic>
        <p:nvPicPr>
          <p:cNvPr id="1054" name="Google Shape;1054;p131"/>
          <p:cNvPicPr preferRelativeResize="0"/>
          <p:nvPr/>
        </p:nvPicPr>
        <p:blipFill>
          <a:blip r:embed="rId4">
            <a:alphaModFix/>
          </a:blip>
          <a:stretch>
            <a:fillRect/>
          </a:stretch>
        </p:blipFill>
        <p:spPr>
          <a:xfrm>
            <a:off x="5056225" y="2230050"/>
            <a:ext cx="2874100" cy="2701400"/>
          </a:xfrm>
          <a:prstGeom prst="rect">
            <a:avLst/>
          </a:prstGeom>
          <a:noFill/>
          <a:ln>
            <a:noFill/>
          </a:ln>
        </p:spPr>
      </p:pic>
      <p:sp>
        <p:nvSpPr>
          <p:cNvPr id="1055" name="Google Shape;1055;p131"/>
          <p:cNvSpPr/>
          <p:nvPr/>
        </p:nvSpPr>
        <p:spPr>
          <a:xfrm>
            <a:off x="3642925" y="3556825"/>
            <a:ext cx="1413300" cy="206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0" name="Shape 1060"/>
        <p:cNvGrpSpPr/>
        <p:nvPr/>
      </p:nvGrpSpPr>
      <p:grpSpPr>
        <a:xfrm>
          <a:off x="0" y="0"/>
          <a:ext cx="0" cy="0"/>
          <a:chOff x="0" y="0"/>
          <a:chExt cx="0" cy="0"/>
        </a:xfrm>
      </p:grpSpPr>
      <p:sp>
        <p:nvSpPr>
          <p:cNvPr id="1061" name="Google Shape;1061;p132"/>
          <p:cNvSpPr txBox="1"/>
          <p:nvPr/>
        </p:nvSpPr>
        <p:spPr>
          <a:xfrm>
            <a:off x="573225" y="318525"/>
            <a:ext cx="8107500" cy="4437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2800">
                <a:solidFill>
                  <a:srgbClr val="1C3678"/>
                </a:solidFill>
                <a:latin typeface="Trebuchet MS"/>
                <a:ea typeface="Trebuchet MS"/>
                <a:cs typeface="Trebuchet MS"/>
                <a:sym typeface="Trebuchet MS"/>
              </a:rPr>
              <a:t>Object Oriented Programming (OOP)</a:t>
            </a:r>
            <a:endParaRPr b="1" sz="2800">
              <a:solidFill>
                <a:srgbClr val="1C3678"/>
              </a:solidFill>
              <a:latin typeface="Trebuchet MS"/>
              <a:ea typeface="Trebuchet MS"/>
              <a:cs typeface="Trebuchet MS"/>
              <a:sym typeface="Trebuchet MS"/>
            </a:endParaRPr>
          </a:p>
        </p:txBody>
      </p:sp>
      <p:sp>
        <p:nvSpPr>
          <p:cNvPr id="1062" name="Google Shape;1062;p132"/>
          <p:cNvSpPr txBox="1"/>
          <p:nvPr/>
        </p:nvSpPr>
        <p:spPr>
          <a:xfrm>
            <a:off x="688425" y="793125"/>
            <a:ext cx="8107500" cy="4207500"/>
          </a:xfrm>
          <a:prstGeom prst="rect">
            <a:avLst/>
          </a:prstGeom>
          <a:noFill/>
          <a:ln>
            <a:noFill/>
          </a:ln>
        </p:spPr>
        <p:txBody>
          <a:bodyPr anchorCtr="0" anchor="t" bIns="0" lIns="0" spcFirstLastPara="1" rIns="0" wrap="square" tIns="125075">
            <a:spAutoFit/>
          </a:bodyPr>
          <a:lstStyle/>
          <a:p>
            <a:pPr indent="0" lvl="0" marL="0" rtl="0" algn="l">
              <a:lnSpc>
                <a:spcPct val="115000"/>
              </a:lnSpc>
              <a:spcBef>
                <a:spcPts val="0"/>
              </a:spcBef>
              <a:spcAft>
                <a:spcPts val="0"/>
              </a:spcAft>
              <a:buNone/>
            </a:pPr>
            <a:r>
              <a:rPr lang="en-US" sz="1800">
                <a:highlight>
                  <a:srgbClr val="FFFFFF"/>
                </a:highlight>
                <a:latin typeface="Times"/>
                <a:ea typeface="Times"/>
                <a:cs typeface="Times"/>
                <a:sym typeface="Times"/>
              </a:rPr>
              <a:t>The 4 pillars of object-oriented programming (OOP) in Python (and generally in programming) are:</a:t>
            </a:r>
            <a:endParaRPr sz="1800">
              <a:highlight>
                <a:srgbClr val="FFFFFF"/>
              </a:highlight>
              <a:latin typeface="Times"/>
              <a:ea typeface="Times"/>
              <a:cs typeface="Times"/>
              <a:sym typeface="Times"/>
            </a:endParaRPr>
          </a:p>
          <a:p>
            <a:pPr indent="-342900" lvl="0" marL="685800" rtl="0" algn="l">
              <a:lnSpc>
                <a:spcPct val="158000"/>
              </a:lnSpc>
              <a:spcBef>
                <a:spcPts val="800"/>
              </a:spcBef>
              <a:spcAft>
                <a:spcPts val="0"/>
              </a:spcAft>
              <a:buClr>
                <a:srgbClr val="000000"/>
              </a:buClr>
              <a:buSzPts val="1800"/>
              <a:buFont typeface="Nunito"/>
              <a:buChar char="●"/>
            </a:pPr>
            <a:r>
              <a:rPr b="1" lang="en-US" sz="1800">
                <a:highlight>
                  <a:srgbClr val="FFFFFF"/>
                </a:highlight>
                <a:latin typeface="Times"/>
                <a:ea typeface="Times"/>
                <a:cs typeface="Times"/>
                <a:sym typeface="Times"/>
              </a:rPr>
              <a:t>Encapsulation</a:t>
            </a:r>
            <a:r>
              <a:rPr lang="en-US" sz="1800">
                <a:highlight>
                  <a:srgbClr val="FFFFFF"/>
                </a:highlight>
                <a:latin typeface="Times"/>
                <a:ea typeface="Times"/>
                <a:cs typeface="Times"/>
                <a:sym typeface="Times"/>
              </a:rPr>
              <a:t>: Bundling data (attributes) and methods (functions) that operate on the data into a single unit (class).</a:t>
            </a:r>
            <a:endParaRPr sz="1800">
              <a:highlight>
                <a:srgbClr val="FFFFFF"/>
              </a:highlight>
              <a:latin typeface="Times"/>
              <a:ea typeface="Times"/>
              <a:cs typeface="Times"/>
              <a:sym typeface="Times"/>
            </a:endParaRPr>
          </a:p>
          <a:p>
            <a:pPr indent="-342900" lvl="0" marL="685800" rtl="0" algn="l">
              <a:lnSpc>
                <a:spcPct val="158000"/>
              </a:lnSpc>
              <a:spcBef>
                <a:spcPts val="0"/>
              </a:spcBef>
              <a:spcAft>
                <a:spcPts val="0"/>
              </a:spcAft>
              <a:buClr>
                <a:srgbClr val="000000"/>
              </a:buClr>
              <a:buSzPts val="1800"/>
              <a:buFont typeface="Nunito"/>
              <a:buChar char="●"/>
            </a:pPr>
            <a:r>
              <a:rPr b="1" lang="en-US" sz="1800">
                <a:highlight>
                  <a:srgbClr val="FFFFFF"/>
                </a:highlight>
                <a:latin typeface="Times"/>
                <a:ea typeface="Times"/>
                <a:cs typeface="Times"/>
                <a:sym typeface="Times"/>
              </a:rPr>
              <a:t>Abstraction</a:t>
            </a:r>
            <a:r>
              <a:rPr lang="en-US" sz="1800">
                <a:highlight>
                  <a:srgbClr val="FFFFFF"/>
                </a:highlight>
                <a:latin typeface="Times"/>
                <a:ea typeface="Times"/>
                <a:cs typeface="Times"/>
                <a:sym typeface="Times"/>
              </a:rPr>
              <a:t>: Hiding complex implementation details and providing a simplified interface.</a:t>
            </a:r>
            <a:endParaRPr sz="1800">
              <a:highlight>
                <a:srgbClr val="FFFFFF"/>
              </a:highlight>
              <a:latin typeface="Times"/>
              <a:ea typeface="Times"/>
              <a:cs typeface="Times"/>
              <a:sym typeface="Times"/>
            </a:endParaRPr>
          </a:p>
          <a:p>
            <a:pPr indent="-342900" lvl="0" marL="685800" rtl="0" algn="l">
              <a:lnSpc>
                <a:spcPct val="158000"/>
              </a:lnSpc>
              <a:spcBef>
                <a:spcPts val="0"/>
              </a:spcBef>
              <a:spcAft>
                <a:spcPts val="0"/>
              </a:spcAft>
              <a:buClr>
                <a:srgbClr val="000000"/>
              </a:buClr>
              <a:buSzPts val="1800"/>
              <a:buFont typeface="Nunito"/>
              <a:buChar char="●"/>
            </a:pPr>
            <a:r>
              <a:rPr b="1" lang="en-US" sz="1800">
                <a:highlight>
                  <a:srgbClr val="FFFFFF"/>
                </a:highlight>
                <a:latin typeface="Times"/>
                <a:ea typeface="Times"/>
                <a:cs typeface="Times"/>
                <a:sym typeface="Times"/>
              </a:rPr>
              <a:t>Inheritance</a:t>
            </a:r>
            <a:r>
              <a:rPr lang="en-US" sz="1800">
                <a:highlight>
                  <a:srgbClr val="FFFFFF"/>
                </a:highlight>
                <a:latin typeface="Times"/>
                <a:ea typeface="Times"/>
                <a:cs typeface="Times"/>
                <a:sym typeface="Times"/>
              </a:rPr>
              <a:t>: Allowing a class to inherit attributes and methods from another class, promoting code reuse.</a:t>
            </a:r>
            <a:endParaRPr sz="1800">
              <a:highlight>
                <a:srgbClr val="FFFFFF"/>
              </a:highlight>
              <a:latin typeface="Times"/>
              <a:ea typeface="Times"/>
              <a:cs typeface="Times"/>
              <a:sym typeface="Times"/>
            </a:endParaRPr>
          </a:p>
          <a:p>
            <a:pPr indent="-342900" lvl="0" marL="685800" rtl="0" algn="l">
              <a:lnSpc>
                <a:spcPct val="158000"/>
              </a:lnSpc>
              <a:spcBef>
                <a:spcPts val="0"/>
              </a:spcBef>
              <a:spcAft>
                <a:spcPts val="0"/>
              </a:spcAft>
              <a:buClr>
                <a:srgbClr val="000000"/>
              </a:buClr>
              <a:buSzPts val="1800"/>
              <a:buFont typeface="Nunito"/>
              <a:buChar char="●"/>
            </a:pPr>
            <a:r>
              <a:rPr b="1" lang="en-US" sz="1800">
                <a:highlight>
                  <a:srgbClr val="FFFFFF"/>
                </a:highlight>
                <a:latin typeface="Times"/>
                <a:ea typeface="Times"/>
                <a:cs typeface="Times"/>
                <a:sym typeface="Times"/>
              </a:rPr>
              <a:t>Polymorphism</a:t>
            </a:r>
            <a:r>
              <a:rPr lang="en-US" sz="1800">
                <a:highlight>
                  <a:srgbClr val="FFFFFF"/>
                </a:highlight>
                <a:latin typeface="Times"/>
                <a:ea typeface="Times"/>
                <a:cs typeface="Times"/>
                <a:sym typeface="Times"/>
              </a:rPr>
              <a:t>: Using a single interface to represent different data types or objects.</a:t>
            </a:r>
            <a:endParaRPr sz="1800">
              <a:highlight>
                <a:srgbClr val="FFFFFF"/>
              </a:highlight>
              <a:latin typeface="Times"/>
              <a:ea typeface="Times"/>
              <a:cs typeface="Times"/>
              <a:sym typeface="Times"/>
            </a:endParaRPr>
          </a:p>
        </p:txBody>
      </p:sp>
      <p:sp>
        <p:nvSpPr>
          <p:cNvPr id="1063" name="Google Shape;1063;p1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8" name="Shape 1068"/>
        <p:cNvGrpSpPr/>
        <p:nvPr/>
      </p:nvGrpSpPr>
      <p:grpSpPr>
        <a:xfrm>
          <a:off x="0" y="0"/>
          <a:ext cx="0" cy="0"/>
          <a:chOff x="0" y="0"/>
          <a:chExt cx="0" cy="0"/>
        </a:xfrm>
      </p:grpSpPr>
      <p:sp>
        <p:nvSpPr>
          <p:cNvPr id="1069" name="Google Shape;1069;p133"/>
          <p:cNvSpPr txBox="1"/>
          <p:nvPr/>
        </p:nvSpPr>
        <p:spPr>
          <a:xfrm>
            <a:off x="573225" y="318525"/>
            <a:ext cx="8107500" cy="4437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2800">
                <a:solidFill>
                  <a:srgbClr val="1C3678"/>
                </a:solidFill>
                <a:latin typeface="Trebuchet MS"/>
                <a:ea typeface="Trebuchet MS"/>
                <a:cs typeface="Trebuchet MS"/>
                <a:sym typeface="Trebuchet MS"/>
              </a:rPr>
              <a:t>Class in Python</a:t>
            </a:r>
            <a:endParaRPr b="1" sz="2800">
              <a:solidFill>
                <a:srgbClr val="1C3678"/>
              </a:solidFill>
              <a:latin typeface="Trebuchet MS"/>
              <a:ea typeface="Trebuchet MS"/>
              <a:cs typeface="Trebuchet MS"/>
              <a:sym typeface="Trebuchet MS"/>
            </a:endParaRPr>
          </a:p>
        </p:txBody>
      </p:sp>
      <p:sp>
        <p:nvSpPr>
          <p:cNvPr id="1070" name="Google Shape;1070;p133"/>
          <p:cNvSpPr txBox="1"/>
          <p:nvPr/>
        </p:nvSpPr>
        <p:spPr>
          <a:xfrm>
            <a:off x="688425" y="793125"/>
            <a:ext cx="8107500" cy="3143700"/>
          </a:xfrm>
          <a:prstGeom prst="rect">
            <a:avLst/>
          </a:prstGeom>
          <a:noFill/>
          <a:ln>
            <a:noFill/>
          </a:ln>
        </p:spPr>
        <p:txBody>
          <a:bodyPr anchorCtr="0" anchor="t" bIns="0" lIns="0" spcFirstLastPara="1" rIns="0" wrap="square" tIns="125075">
            <a:spAutoFit/>
          </a:bodyPr>
          <a:lstStyle/>
          <a:p>
            <a:pPr indent="0" lvl="0" marL="0" rtl="0" algn="l">
              <a:lnSpc>
                <a:spcPct val="100000"/>
              </a:lnSpc>
              <a:spcBef>
                <a:spcPts val="0"/>
              </a:spcBef>
              <a:spcAft>
                <a:spcPts val="0"/>
              </a:spcAft>
              <a:buNone/>
            </a:pPr>
            <a:r>
              <a:rPr b="1" lang="en-US" sz="1800">
                <a:highlight>
                  <a:srgbClr val="FFFFFF"/>
                </a:highlight>
                <a:latin typeface="Times"/>
                <a:ea typeface="Times"/>
                <a:cs typeface="Times"/>
                <a:sym typeface="Times"/>
              </a:rPr>
              <a:t>Some points on Python class:</a:t>
            </a:r>
            <a:r>
              <a:rPr lang="en-US" sz="1800">
                <a:highlight>
                  <a:srgbClr val="FFFFFF"/>
                </a:highlight>
                <a:latin typeface="Times"/>
                <a:ea typeface="Times"/>
                <a:cs typeface="Times"/>
                <a:sym typeface="Times"/>
              </a:rPr>
              <a:t>  </a:t>
            </a:r>
            <a:endParaRPr sz="1800">
              <a:highlight>
                <a:srgbClr val="FFFFFF"/>
              </a:highlight>
              <a:latin typeface="Times"/>
              <a:ea typeface="Times"/>
              <a:cs typeface="Times"/>
              <a:sym typeface="Times"/>
            </a:endParaRPr>
          </a:p>
          <a:p>
            <a:pPr indent="-342900" lvl="0" marL="685800" rtl="0" algn="l">
              <a:lnSpc>
                <a:spcPct val="100000"/>
              </a:lnSpc>
              <a:spcBef>
                <a:spcPts val="800"/>
              </a:spcBef>
              <a:spcAft>
                <a:spcPts val="0"/>
              </a:spcAft>
              <a:buClr>
                <a:srgbClr val="000000"/>
              </a:buClr>
              <a:buSzPts val="1800"/>
              <a:buFont typeface="Times"/>
              <a:buChar char="●"/>
            </a:pPr>
            <a:r>
              <a:rPr lang="en-US" sz="1800">
                <a:highlight>
                  <a:srgbClr val="FFFFFF"/>
                </a:highlight>
                <a:latin typeface="Times"/>
                <a:ea typeface="Times"/>
                <a:cs typeface="Times"/>
                <a:sym typeface="Times"/>
              </a:rPr>
              <a:t>Classes are created by keyword class.</a:t>
            </a:r>
            <a:endParaRPr sz="1800">
              <a:highlight>
                <a:srgbClr val="FFFFFF"/>
              </a:highlight>
              <a:latin typeface="Times"/>
              <a:ea typeface="Times"/>
              <a:cs typeface="Times"/>
              <a:sym typeface="Times"/>
            </a:endParaRPr>
          </a:p>
          <a:p>
            <a:pPr indent="-342900" lvl="0" marL="685800" rtl="0" algn="l">
              <a:lnSpc>
                <a:spcPct val="100000"/>
              </a:lnSpc>
              <a:spcBef>
                <a:spcPts val="0"/>
              </a:spcBef>
              <a:spcAft>
                <a:spcPts val="0"/>
              </a:spcAft>
              <a:buClr>
                <a:srgbClr val="000000"/>
              </a:buClr>
              <a:buSzPts val="1800"/>
              <a:buFont typeface="Times"/>
              <a:buChar char="●"/>
            </a:pPr>
            <a:r>
              <a:rPr lang="en-US" sz="1800">
                <a:highlight>
                  <a:srgbClr val="FFFFFF"/>
                </a:highlight>
                <a:latin typeface="Times"/>
                <a:ea typeface="Times"/>
                <a:cs typeface="Times"/>
                <a:sym typeface="Times"/>
              </a:rPr>
              <a:t>Attributes are the variables that belong to a class.</a:t>
            </a:r>
            <a:endParaRPr sz="1800">
              <a:highlight>
                <a:srgbClr val="FFFFFF"/>
              </a:highlight>
              <a:latin typeface="Times"/>
              <a:ea typeface="Times"/>
              <a:cs typeface="Times"/>
              <a:sym typeface="Times"/>
            </a:endParaRPr>
          </a:p>
          <a:p>
            <a:pPr indent="-342900" lvl="0" marL="685800" rtl="0" algn="l">
              <a:lnSpc>
                <a:spcPct val="100000"/>
              </a:lnSpc>
              <a:spcBef>
                <a:spcPts val="0"/>
              </a:spcBef>
              <a:spcAft>
                <a:spcPts val="0"/>
              </a:spcAft>
              <a:buClr>
                <a:srgbClr val="000000"/>
              </a:buClr>
              <a:buSzPts val="1800"/>
              <a:buFont typeface="Times"/>
              <a:buChar char="●"/>
            </a:pPr>
            <a:r>
              <a:rPr lang="en-US" sz="1800">
                <a:highlight>
                  <a:srgbClr val="FFFFFF"/>
                </a:highlight>
                <a:latin typeface="Times"/>
                <a:ea typeface="Times"/>
                <a:cs typeface="Times"/>
                <a:sym typeface="Times"/>
              </a:rPr>
              <a:t>Attributes are always public and can be accessed using the dot (.) operator. Eg.: Myclass.Myattribute</a:t>
            </a:r>
            <a:endParaRPr sz="1800">
              <a:highlight>
                <a:srgbClr val="FFFFFF"/>
              </a:highlight>
              <a:latin typeface="Times"/>
              <a:ea typeface="Times"/>
              <a:cs typeface="Times"/>
              <a:sym typeface="Times"/>
            </a:endParaRPr>
          </a:p>
          <a:p>
            <a:pPr indent="-342900" lvl="0" marL="685800" rtl="0" algn="l">
              <a:lnSpc>
                <a:spcPct val="100000"/>
              </a:lnSpc>
              <a:spcBef>
                <a:spcPts val="0"/>
              </a:spcBef>
              <a:spcAft>
                <a:spcPts val="0"/>
              </a:spcAft>
              <a:buClr>
                <a:srgbClr val="FFFFFF"/>
              </a:buClr>
              <a:buSzPts val="1800"/>
              <a:buFont typeface="Times"/>
              <a:buChar char="●"/>
            </a:pPr>
            <a:r>
              <a:t/>
            </a:r>
            <a:endParaRPr sz="1800">
              <a:highlight>
                <a:srgbClr val="FFFFFF"/>
              </a:highlight>
              <a:latin typeface="Times"/>
              <a:ea typeface="Times"/>
              <a:cs typeface="Times"/>
              <a:sym typeface="Times"/>
            </a:endParaRPr>
          </a:p>
          <a:p>
            <a:pPr indent="-342900" lvl="0" marL="457200" rtl="0" algn="l">
              <a:lnSpc>
                <a:spcPct val="115000"/>
              </a:lnSpc>
              <a:spcBef>
                <a:spcPts val="0"/>
              </a:spcBef>
              <a:spcAft>
                <a:spcPts val="0"/>
              </a:spcAft>
              <a:buClr>
                <a:srgbClr val="000000"/>
              </a:buClr>
              <a:buSzPts val="1800"/>
              <a:buFont typeface="Times"/>
              <a:buChar char="●"/>
            </a:pPr>
            <a:r>
              <a:rPr lang="en-US" sz="1800">
                <a:latin typeface="Times"/>
                <a:ea typeface="Times"/>
                <a:cs typeface="Times"/>
                <a:sym typeface="Times"/>
              </a:rPr>
              <a:t>Created a class named Dog using the class keyword.</a:t>
            </a:r>
            <a:endParaRPr sz="1800">
              <a:latin typeface="Times"/>
              <a:ea typeface="Times"/>
              <a:cs typeface="Times"/>
              <a:sym typeface="Times"/>
            </a:endParaRPr>
          </a:p>
          <a:p>
            <a:pPr indent="0" lvl="0" marL="457200" rtl="0" algn="just">
              <a:spcBef>
                <a:spcPts val="800"/>
              </a:spcBef>
              <a:spcAft>
                <a:spcPts val="0"/>
              </a:spcAft>
              <a:buNone/>
            </a:pPr>
            <a:r>
              <a:rPr i="1" lang="en-US" sz="1800">
                <a:latin typeface="Times"/>
                <a:ea typeface="Times"/>
                <a:cs typeface="Times"/>
                <a:sym typeface="Times"/>
              </a:rPr>
              <a:t>class Dog: </a:t>
            </a:r>
            <a:br>
              <a:rPr i="1" lang="en-US" sz="1800">
                <a:latin typeface="Times"/>
                <a:ea typeface="Times"/>
                <a:cs typeface="Times"/>
                <a:sym typeface="Times"/>
              </a:rPr>
            </a:br>
            <a:r>
              <a:rPr i="1" lang="en-US" sz="1800">
                <a:latin typeface="Times"/>
                <a:ea typeface="Times"/>
                <a:cs typeface="Times"/>
                <a:sym typeface="Times"/>
              </a:rPr>
              <a:t>	pass</a:t>
            </a:r>
            <a:endParaRPr sz="1800">
              <a:highlight>
                <a:srgbClr val="FFFFFF"/>
              </a:highlight>
              <a:latin typeface="Times"/>
              <a:ea typeface="Times"/>
              <a:cs typeface="Times"/>
              <a:sym typeface="Times"/>
            </a:endParaRPr>
          </a:p>
          <a:p>
            <a:pPr indent="-342900" lvl="0" marL="685800" rtl="0" algn="l">
              <a:lnSpc>
                <a:spcPct val="100000"/>
              </a:lnSpc>
              <a:spcBef>
                <a:spcPts val="0"/>
              </a:spcBef>
              <a:spcAft>
                <a:spcPts val="0"/>
              </a:spcAft>
              <a:buClr>
                <a:srgbClr val="FFFFFF"/>
              </a:buClr>
              <a:buSzPts val="1800"/>
              <a:buFont typeface="Calibri"/>
              <a:buChar char="●"/>
            </a:pPr>
            <a:r>
              <a:t/>
            </a:r>
            <a:endParaRPr sz="1800">
              <a:highlight>
                <a:srgbClr val="FFFFFF"/>
              </a:highlight>
              <a:latin typeface="Calibri"/>
              <a:ea typeface="Calibri"/>
              <a:cs typeface="Calibri"/>
              <a:sym typeface="Calibri"/>
            </a:endParaRPr>
          </a:p>
        </p:txBody>
      </p:sp>
      <p:sp>
        <p:nvSpPr>
          <p:cNvPr id="1071" name="Google Shape;1071;p1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6" name="Shape 1076"/>
        <p:cNvGrpSpPr/>
        <p:nvPr/>
      </p:nvGrpSpPr>
      <p:grpSpPr>
        <a:xfrm>
          <a:off x="0" y="0"/>
          <a:ext cx="0" cy="0"/>
          <a:chOff x="0" y="0"/>
          <a:chExt cx="0" cy="0"/>
        </a:xfrm>
      </p:grpSpPr>
      <p:sp>
        <p:nvSpPr>
          <p:cNvPr id="1077" name="Google Shape;1077;p134"/>
          <p:cNvSpPr txBox="1"/>
          <p:nvPr/>
        </p:nvSpPr>
        <p:spPr>
          <a:xfrm>
            <a:off x="573225" y="318525"/>
            <a:ext cx="8107500" cy="4437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2800">
                <a:solidFill>
                  <a:srgbClr val="1C3678"/>
                </a:solidFill>
                <a:latin typeface="Trebuchet MS"/>
                <a:ea typeface="Trebuchet MS"/>
                <a:cs typeface="Trebuchet MS"/>
                <a:sym typeface="Trebuchet MS"/>
              </a:rPr>
              <a:t>Object in Python</a:t>
            </a:r>
            <a:endParaRPr b="1" sz="2800">
              <a:solidFill>
                <a:srgbClr val="1C3678"/>
              </a:solidFill>
              <a:latin typeface="Trebuchet MS"/>
              <a:ea typeface="Trebuchet MS"/>
              <a:cs typeface="Trebuchet MS"/>
              <a:sym typeface="Trebuchet MS"/>
            </a:endParaRPr>
          </a:p>
        </p:txBody>
      </p:sp>
      <p:sp>
        <p:nvSpPr>
          <p:cNvPr id="1078" name="Google Shape;1078;p134"/>
          <p:cNvSpPr txBox="1"/>
          <p:nvPr/>
        </p:nvSpPr>
        <p:spPr>
          <a:xfrm>
            <a:off x="688425" y="793125"/>
            <a:ext cx="8107500" cy="3379200"/>
          </a:xfrm>
          <a:prstGeom prst="rect">
            <a:avLst/>
          </a:prstGeom>
          <a:noFill/>
          <a:ln>
            <a:noFill/>
          </a:ln>
        </p:spPr>
        <p:txBody>
          <a:bodyPr anchorCtr="0" anchor="t" bIns="0" lIns="0" spcFirstLastPara="1" rIns="0" wrap="square" tIns="125075">
            <a:spAutoFit/>
          </a:bodyPr>
          <a:lstStyle/>
          <a:p>
            <a:pPr indent="-342900" lvl="0" marL="457200" rtl="0" algn="l">
              <a:lnSpc>
                <a:spcPct val="100000"/>
              </a:lnSpc>
              <a:spcBef>
                <a:spcPts val="0"/>
              </a:spcBef>
              <a:spcAft>
                <a:spcPts val="0"/>
              </a:spcAft>
              <a:buSzPts val="1800"/>
              <a:buFont typeface="Times"/>
              <a:buChar char="●"/>
            </a:pPr>
            <a:r>
              <a:rPr lang="en-US" sz="1800">
                <a:highlight>
                  <a:srgbClr val="FFFFFF"/>
                </a:highlight>
                <a:latin typeface="Times"/>
                <a:ea typeface="Times"/>
                <a:cs typeface="Times"/>
                <a:sym typeface="Times"/>
              </a:rPr>
              <a:t>The object is an entity that has a state and behavior associated with it. It may be any real-world object like a mouse, keyboard, chair, table, pen, etc. Integers, strings, floating-point numbers, even arrays, and dictionaries, are all objects.</a:t>
            </a:r>
            <a:endParaRPr sz="1800">
              <a:highlight>
                <a:srgbClr val="FFFFFF"/>
              </a:highlight>
              <a:latin typeface="Times"/>
              <a:ea typeface="Times"/>
              <a:cs typeface="Times"/>
              <a:sym typeface="Times"/>
            </a:endParaRPr>
          </a:p>
          <a:p>
            <a:pPr indent="0" lvl="0" marL="0" rtl="0" algn="l">
              <a:lnSpc>
                <a:spcPct val="100000"/>
              </a:lnSpc>
              <a:spcBef>
                <a:spcPts val="800"/>
              </a:spcBef>
              <a:spcAft>
                <a:spcPts val="0"/>
              </a:spcAft>
              <a:buNone/>
            </a:pPr>
            <a:r>
              <a:t/>
            </a:r>
            <a:endParaRPr sz="1800">
              <a:highlight>
                <a:srgbClr val="FFFFFF"/>
              </a:highlight>
              <a:latin typeface="Times"/>
              <a:ea typeface="Times"/>
              <a:cs typeface="Times"/>
              <a:sym typeface="Times"/>
            </a:endParaRPr>
          </a:p>
          <a:p>
            <a:pPr indent="-342900" lvl="0" marL="457200" rtl="0" algn="l">
              <a:lnSpc>
                <a:spcPct val="100000"/>
              </a:lnSpc>
              <a:spcBef>
                <a:spcPts val="800"/>
              </a:spcBef>
              <a:spcAft>
                <a:spcPts val="0"/>
              </a:spcAft>
              <a:buSzPts val="1800"/>
              <a:buFont typeface="Times"/>
              <a:buChar char="●"/>
            </a:pPr>
            <a:r>
              <a:rPr b="1" lang="en-US" sz="1800">
                <a:highlight>
                  <a:srgbClr val="FFFFFF"/>
                </a:highlight>
                <a:latin typeface="Times"/>
                <a:ea typeface="Times"/>
                <a:cs typeface="Times"/>
                <a:sym typeface="Times"/>
              </a:rPr>
              <a:t>An object consists of:</a:t>
            </a:r>
            <a:endParaRPr b="1" sz="1800">
              <a:highlight>
                <a:srgbClr val="FFFFFF"/>
              </a:highlight>
              <a:latin typeface="Times"/>
              <a:ea typeface="Times"/>
              <a:cs typeface="Times"/>
              <a:sym typeface="Times"/>
            </a:endParaRPr>
          </a:p>
          <a:p>
            <a:pPr indent="-342900" lvl="1" marL="914400" rtl="0" algn="l">
              <a:lnSpc>
                <a:spcPct val="100000"/>
              </a:lnSpc>
              <a:spcBef>
                <a:spcPts val="0"/>
              </a:spcBef>
              <a:spcAft>
                <a:spcPts val="0"/>
              </a:spcAft>
              <a:buSzPts val="1800"/>
              <a:buFont typeface="Tahoma"/>
              <a:buChar char="○"/>
            </a:pPr>
            <a:r>
              <a:rPr b="1" lang="en-US" sz="1800">
                <a:highlight>
                  <a:srgbClr val="FFFFFF"/>
                </a:highlight>
                <a:latin typeface="Times"/>
                <a:ea typeface="Times"/>
                <a:cs typeface="Times"/>
                <a:sym typeface="Times"/>
              </a:rPr>
              <a:t>State:</a:t>
            </a:r>
            <a:r>
              <a:rPr lang="en-US" sz="1800">
                <a:highlight>
                  <a:srgbClr val="FFFFFF"/>
                </a:highlight>
                <a:latin typeface="Times"/>
                <a:ea typeface="Times"/>
                <a:cs typeface="Times"/>
                <a:sym typeface="Times"/>
              </a:rPr>
              <a:t> It is represented by the attributes of an object. It also reflects the properties of an object.</a:t>
            </a:r>
            <a:endParaRPr sz="1800">
              <a:highlight>
                <a:srgbClr val="FFFFFF"/>
              </a:highlight>
              <a:latin typeface="Times"/>
              <a:ea typeface="Times"/>
              <a:cs typeface="Times"/>
              <a:sym typeface="Times"/>
            </a:endParaRPr>
          </a:p>
          <a:p>
            <a:pPr indent="-342900" lvl="1" marL="914400" rtl="0" algn="l">
              <a:lnSpc>
                <a:spcPct val="100000"/>
              </a:lnSpc>
              <a:spcBef>
                <a:spcPts val="0"/>
              </a:spcBef>
              <a:spcAft>
                <a:spcPts val="0"/>
              </a:spcAft>
              <a:buSzPts val="1800"/>
              <a:buFont typeface="Tahoma"/>
              <a:buChar char="○"/>
            </a:pPr>
            <a:r>
              <a:rPr b="1" lang="en-US" sz="1800">
                <a:highlight>
                  <a:srgbClr val="FFFFFF"/>
                </a:highlight>
                <a:latin typeface="Times"/>
                <a:ea typeface="Times"/>
                <a:cs typeface="Times"/>
                <a:sym typeface="Times"/>
              </a:rPr>
              <a:t>Behavior:</a:t>
            </a:r>
            <a:r>
              <a:rPr lang="en-US" sz="1800">
                <a:highlight>
                  <a:srgbClr val="FFFFFF"/>
                </a:highlight>
                <a:latin typeface="Times"/>
                <a:ea typeface="Times"/>
                <a:cs typeface="Times"/>
                <a:sym typeface="Times"/>
              </a:rPr>
              <a:t> It is represented by the methods of an object. It also reflects the response of an object to other objects.</a:t>
            </a:r>
            <a:endParaRPr sz="1800">
              <a:highlight>
                <a:srgbClr val="FFFFFF"/>
              </a:highlight>
              <a:latin typeface="Times"/>
              <a:ea typeface="Times"/>
              <a:cs typeface="Times"/>
              <a:sym typeface="Times"/>
            </a:endParaRPr>
          </a:p>
          <a:p>
            <a:pPr indent="-342900" lvl="1" marL="914400" rtl="0" algn="l">
              <a:lnSpc>
                <a:spcPct val="100000"/>
              </a:lnSpc>
              <a:spcBef>
                <a:spcPts val="0"/>
              </a:spcBef>
              <a:spcAft>
                <a:spcPts val="0"/>
              </a:spcAft>
              <a:buSzPts val="1800"/>
              <a:buFont typeface="Tahoma"/>
              <a:buChar char="○"/>
            </a:pPr>
            <a:r>
              <a:rPr b="1" lang="en-US" sz="1800">
                <a:highlight>
                  <a:srgbClr val="FFFFFF"/>
                </a:highlight>
                <a:latin typeface="Times"/>
                <a:ea typeface="Times"/>
                <a:cs typeface="Times"/>
                <a:sym typeface="Times"/>
              </a:rPr>
              <a:t>Identity:</a:t>
            </a:r>
            <a:r>
              <a:rPr lang="en-US" sz="1800">
                <a:highlight>
                  <a:srgbClr val="FFFFFF"/>
                </a:highlight>
                <a:latin typeface="Times"/>
                <a:ea typeface="Times"/>
                <a:cs typeface="Times"/>
                <a:sym typeface="Times"/>
              </a:rPr>
              <a:t> It gives a unique name to an object and enables one object to interact with other objects.</a:t>
            </a:r>
            <a:endParaRPr i="1" sz="1800">
              <a:highlight>
                <a:srgbClr val="FFFFFF"/>
              </a:highlight>
              <a:latin typeface="Times"/>
              <a:ea typeface="Times"/>
              <a:cs typeface="Times"/>
              <a:sym typeface="Times"/>
            </a:endParaRPr>
          </a:p>
        </p:txBody>
      </p:sp>
      <p:sp>
        <p:nvSpPr>
          <p:cNvPr id="1079" name="Google Shape;1079;p1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4" name="Shape 1084"/>
        <p:cNvGrpSpPr/>
        <p:nvPr/>
      </p:nvGrpSpPr>
      <p:grpSpPr>
        <a:xfrm>
          <a:off x="0" y="0"/>
          <a:ext cx="0" cy="0"/>
          <a:chOff x="0" y="0"/>
          <a:chExt cx="0" cy="0"/>
        </a:xfrm>
      </p:grpSpPr>
      <p:sp>
        <p:nvSpPr>
          <p:cNvPr id="1085" name="Google Shape;1085;p135"/>
          <p:cNvSpPr txBox="1"/>
          <p:nvPr/>
        </p:nvSpPr>
        <p:spPr>
          <a:xfrm>
            <a:off x="573225" y="318525"/>
            <a:ext cx="8107500" cy="4437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2800">
                <a:solidFill>
                  <a:srgbClr val="1C3678"/>
                </a:solidFill>
                <a:latin typeface="Trebuchet MS"/>
                <a:ea typeface="Trebuchet MS"/>
                <a:cs typeface="Trebuchet MS"/>
                <a:sym typeface="Trebuchet MS"/>
              </a:rPr>
              <a:t>Class and </a:t>
            </a:r>
            <a:r>
              <a:rPr b="1" lang="en-US" sz="2800">
                <a:solidFill>
                  <a:srgbClr val="1C3678"/>
                </a:solidFill>
                <a:latin typeface="Trebuchet MS"/>
                <a:ea typeface="Trebuchet MS"/>
                <a:cs typeface="Trebuchet MS"/>
                <a:sym typeface="Trebuchet MS"/>
              </a:rPr>
              <a:t>Object in Python</a:t>
            </a:r>
            <a:endParaRPr b="1" sz="2800">
              <a:solidFill>
                <a:srgbClr val="1C3678"/>
              </a:solidFill>
              <a:latin typeface="Trebuchet MS"/>
              <a:ea typeface="Trebuchet MS"/>
              <a:cs typeface="Trebuchet MS"/>
              <a:sym typeface="Trebuchet MS"/>
            </a:endParaRPr>
          </a:p>
        </p:txBody>
      </p:sp>
      <p:sp>
        <p:nvSpPr>
          <p:cNvPr id="1086" name="Google Shape;1086;p135"/>
          <p:cNvSpPr txBox="1"/>
          <p:nvPr/>
        </p:nvSpPr>
        <p:spPr>
          <a:xfrm>
            <a:off x="688425" y="793125"/>
            <a:ext cx="8107500" cy="4313100"/>
          </a:xfrm>
          <a:prstGeom prst="rect">
            <a:avLst/>
          </a:prstGeom>
          <a:noFill/>
          <a:ln>
            <a:noFill/>
          </a:ln>
        </p:spPr>
        <p:txBody>
          <a:bodyPr anchorCtr="0" anchor="t" bIns="0" lIns="0" spcFirstLastPara="1" rIns="0" wrap="square" tIns="125075">
            <a:spAutoFit/>
          </a:bodyPr>
          <a:lstStyle/>
          <a:p>
            <a:pPr indent="-330200" lvl="0" marL="457200" rtl="0" algn="l">
              <a:spcBef>
                <a:spcPts val="0"/>
              </a:spcBef>
              <a:spcAft>
                <a:spcPts val="0"/>
              </a:spcAft>
              <a:buClr>
                <a:srgbClr val="FFFFFF"/>
              </a:buClr>
              <a:buSzPts val="1600"/>
              <a:buFont typeface="Times"/>
              <a:buChar char="●"/>
            </a:pPr>
            <a:r>
              <a:rPr i="1" lang="en-US" sz="1600">
                <a:highlight>
                  <a:srgbClr val="FFFFFF"/>
                </a:highlight>
                <a:latin typeface="Times"/>
                <a:ea typeface="Times"/>
                <a:cs typeface="Times"/>
                <a:sym typeface="Times"/>
              </a:rPr>
              <a:t>class Dog:</a:t>
            </a:r>
            <a:endParaRPr i="1" sz="1600">
              <a:highlight>
                <a:srgbClr val="FFFFFF"/>
              </a:highlight>
              <a:latin typeface="Times"/>
              <a:ea typeface="Times"/>
              <a:cs typeface="Times"/>
              <a:sym typeface="Times"/>
            </a:endParaRPr>
          </a:p>
          <a:p>
            <a:pPr indent="-330200" lvl="0" marL="457200" rtl="0" algn="l">
              <a:spcBef>
                <a:spcPts val="0"/>
              </a:spcBef>
              <a:spcAft>
                <a:spcPts val="0"/>
              </a:spcAft>
              <a:buClr>
                <a:srgbClr val="FFFFFF"/>
              </a:buClr>
              <a:buSzPts val="1600"/>
              <a:buFont typeface="Times"/>
              <a:buChar char="●"/>
            </a:pPr>
            <a:r>
              <a:rPr i="1" lang="en-US" sz="1600">
                <a:highlight>
                  <a:srgbClr val="FFFFFF"/>
                </a:highlight>
                <a:latin typeface="Times"/>
                <a:ea typeface="Times"/>
                <a:cs typeface="Times"/>
                <a:sym typeface="Times"/>
              </a:rPr>
              <a:t>       attr1 = "mammal" </a:t>
            </a:r>
            <a:r>
              <a:rPr i="1" lang="en-US" sz="1600">
                <a:highlight>
                  <a:schemeClr val="lt1"/>
                </a:highlight>
                <a:latin typeface="Times"/>
                <a:ea typeface="Times"/>
                <a:cs typeface="Times"/>
                <a:sym typeface="Times"/>
              </a:rPr>
              <a:t># Class attribute</a:t>
            </a:r>
            <a:endParaRPr i="1" sz="1600">
              <a:highlight>
                <a:schemeClr val="lt1"/>
              </a:highlight>
              <a:latin typeface="Times"/>
              <a:ea typeface="Times"/>
              <a:cs typeface="Times"/>
              <a:sym typeface="Times"/>
            </a:endParaRPr>
          </a:p>
          <a:p>
            <a:pPr indent="-330200" lvl="0" marL="457200" rtl="0" algn="l">
              <a:spcBef>
                <a:spcPts val="0"/>
              </a:spcBef>
              <a:spcAft>
                <a:spcPts val="0"/>
              </a:spcAft>
              <a:buClr>
                <a:srgbClr val="FFFFFF"/>
              </a:buClr>
              <a:buSzPts val="1600"/>
              <a:buFont typeface="Times"/>
              <a:buChar char="●"/>
            </a:pPr>
            <a:r>
              <a:t/>
            </a:r>
            <a:endParaRPr i="1" sz="1600">
              <a:highlight>
                <a:srgbClr val="FFFFFF"/>
              </a:highlight>
              <a:latin typeface="Times"/>
              <a:ea typeface="Times"/>
              <a:cs typeface="Times"/>
              <a:sym typeface="Times"/>
            </a:endParaRPr>
          </a:p>
          <a:p>
            <a:pPr indent="-330200" lvl="0" marL="457200" rtl="0" algn="l">
              <a:spcBef>
                <a:spcPts val="0"/>
              </a:spcBef>
              <a:spcAft>
                <a:spcPts val="0"/>
              </a:spcAft>
              <a:buClr>
                <a:srgbClr val="FFFFFF"/>
              </a:buClr>
              <a:buSzPts val="1600"/>
              <a:buFont typeface="Times"/>
              <a:buChar char="●"/>
            </a:pPr>
            <a:r>
              <a:rPr i="1" lang="en-US" sz="1600">
                <a:highlight>
                  <a:srgbClr val="FFFFFF"/>
                </a:highlight>
                <a:latin typeface="Times"/>
                <a:ea typeface="Times"/>
                <a:cs typeface="Times"/>
                <a:sym typeface="Times"/>
              </a:rPr>
              <a:t># Driver code</a:t>
            </a:r>
            <a:endParaRPr i="1" sz="1600">
              <a:highlight>
                <a:srgbClr val="FFFFFF"/>
              </a:highlight>
              <a:latin typeface="Times"/>
              <a:ea typeface="Times"/>
              <a:cs typeface="Times"/>
              <a:sym typeface="Times"/>
            </a:endParaRPr>
          </a:p>
          <a:p>
            <a:pPr indent="-330200" lvl="0" marL="457200" rtl="0" algn="l">
              <a:spcBef>
                <a:spcPts val="0"/>
              </a:spcBef>
              <a:spcAft>
                <a:spcPts val="0"/>
              </a:spcAft>
              <a:buClr>
                <a:srgbClr val="FFFFFF"/>
              </a:buClr>
              <a:buSzPts val="1600"/>
              <a:buFont typeface="Times"/>
              <a:buChar char="●"/>
            </a:pPr>
            <a:r>
              <a:rPr i="1" lang="en-US" sz="1600">
                <a:highlight>
                  <a:srgbClr val="FFFFFF"/>
                </a:highlight>
                <a:latin typeface="Times"/>
                <a:ea typeface="Times"/>
                <a:cs typeface="Times"/>
                <a:sym typeface="Times"/>
              </a:rPr>
              <a:t>rodger = Dog() </a:t>
            </a:r>
            <a:r>
              <a:rPr i="1" lang="en-US" sz="1600">
                <a:highlight>
                  <a:schemeClr val="lt1"/>
                </a:highlight>
                <a:latin typeface="Times"/>
                <a:ea typeface="Times"/>
                <a:cs typeface="Times"/>
                <a:sym typeface="Times"/>
              </a:rPr>
              <a:t># Object instantiation</a:t>
            </a:r>
            <a:endParaRPr i="1" sz="1600">
              <a:highlight>
                <a:srgbClr val="FFFFFF"/>
              </a:highlight>
              <a:latin typeface="Times"/>
              <a:ea typeface="Times"/>
              <a:cs typeface="Times"/>
              <a:sym typeface="Times"/>
            </a:endParaRPr>
          </a:p>
          <a:p>
            <a:pPr indent="-330200" lvl="0" marL="457200" rtl="0" algn="l">
              <a:spcBef>
                <a:spcPts val="0"/>
              </a:spcBef>
              <a:spcAft>
                <a:spcPts val="0"/>
              </a:spcAft>
              <a:buClr>
                <a:srgbClr val="FFFFFF"/>
              </a:buClr>
              <a:buSzPts val="1600"/>
              <a:buFont typeface="Times"/>
              <a:buChar char="●"/>
            </a:pPr>
            <a:r>
              <a:rPr i="1" lang="en-US" sz="1600">
                <a:highlight>
                  <a:srgbClr val="FFFFFF"/>
                </a:highlight>
                <a:latin typeface="Times"/>
                <a:ea typeface="Times"/>
                <a:cs typeface="Times"/>
                <a:sym typeface="Times"/>
              </a:rPr>
              <a:t>rodger.name = "Rodger" </a:t>
            </a:r>
            <a:endParaRPr i="1" sz="1600">
              <a:highlight>
                <a:srgbClr val="FFFFFF"/>
              </a:highlight>
              <a:latin typeface="Times"/>
              <a:ea typeface="Times"/>
              <a:cs typeface="Times"/>
              <a:sym typeface="Times"/>
            </a:endParaRPr>
          </a:p>
          <a:p>
            <a:pPr indent="-330200" lvl="0" marL="457200" rtl="0" algn="l">
              <a:spcBef>
                <a:spcPts val="0"/>
              </a:spcBef>
              <a:spcAft>
                <a:spcPts val="0"/>
              </a:spcAft>
              <a:buClr>
                <a:srgbClr val="FFFFFF"/>
              </a:buClr>
              <a:buSzPts val="1600"/>
              <a:buFont typeface="Times"/>
              <a:buChar char="●"/>
            </a:pPr>
            <a:r>
              <a:t/>
            </a:r>
            <a:endParaRPr i="1" sz="1600">
              <a:highlight>
                <a:srgbClr val="FFFFFF"/>
              </a:highlight>
              <a:latin typeface="Times"/>
              <a:ea typeface="Times"/>
              <a:cs typeface="Times"/>
              <a:sym typeface="Times"/>
            </a:endParaRPr>
          </a:p>
          <a:p>
            <a:pPr indent="-330200" lvl="0" marL="457200" rtl="0" algn="l">
              <a:spcBef>
                <a:spcPts val="0"/>
              </a:spcBef>
              <a:spcAft>
                <a:spcPts val="0"/>
              </a:spcAft>
              <a:buClr>
                <a:srgbClr val="FFFFFF"/>
              </a:buClr>
              <a:buSzPts val="1600"/>
              <a:buFont typeface="Times"/>
              <a:buChar char="●"/>
            </a:pPr>
            <a:r>
              <a:rPr i="1" lang="en-US" sz="1600">
                <a:highlight>
                  <a:srgbClr val="FFFFFF"/>
                </a:highlight>
                <a:latin typeface="Times"/>
                <a:ea typeface="Times"/>
                <a:cs typeface="Times"/>
                <a:sym typeface="Times"/>
              </a:rPr>
              <a:t>tommy = Dog()</a:t>
            </a:r>
            <a:endParaRPr i="1" sz="1600">
              <a:highlight>
                <a:srgbClr val="FFFFFF"/>
              </a:highlight>
              <a:latin typeface="Times"/>
              <a:ea typeface="Times"/>
              <a:cs typeface="Times"/>
              <a:sym typeface="Times"/>
            </a:endParaRPr>
          </a:p>
          <a:p>
            <a:pPr indent="-330200" lvl="0" marL="457200" rtl="0" algn="l">
              <a:spcBef>
                <a:spcPts val="0"/>
              </a:spcBef>
              <a:spcAft>
                <a:spcPts val="0"/>
              </a:spcAft>
              <a:buClr>
                <a:srgbClr val="FFFFFF"/>
              </a:buClr>
              <a:buSzPts val="1600"/>
              <a:buFont typeface="Times"/>
              <a:buChar char="●"/>
            </a:pPr>
            <a:r>
              <a:rPr i="1" lang="en-US" sz="1600">
                <a:highlight>
                  <a:srgbClr val="FFFFFF"/>
                </a:highlight>
                <a:latin typeface="Times"/>
                <a:ea typeface="Times"/>
                <a:cs typeface="Times"/>
                <a:sym typeface="Times"/>
              </a:rPr>
              <a:t>tommy.name = "Tommy"</a:t>
            </a:r>
            <a:endParaRPr i="1" sz="1600">
              <a:highlight>
                <a:srgbClr val="FFFFFF"/>
              </a:highlight>
              <a:latin typeface="Times"/>
              <a:ea typeface="Times"/>
              <a:cs typeface="Times"/>
              <a:sym typeface="Times"/>
            </a:endParaRPr>
          </a:p>
          <a:p>
            <a:pPr indent="-330200" lvl="0" marL="457200" rtl="0" algn="l">
              <a:spcBef>
                <a:spcPts val="0"/>
              </a:spcBef>
              <a:spcAft>
                <a:spcPts val="0"/>
              </a:spcAft>
              <a:buClr>
                <a:srgbClr val="FFFFFF"/>
              </a:buClr>
              <a:buSzPts val="1600"/>
              <a:buFont typeface="Times"/>
              <a:buChar char="●"/>
            </a:pPr>
            <a:r>
              <a:t/>
            </a:r>
            <a:endParaRPr i="1" sz="1600">
              <a:highlight>
                <a:srgbClr val="FFFFFF"/>
              </a:highlight>
              <a:latin typeface="Times"/>
              <a:ea typeface="Times"/>
              <a:cs typeface="Times"/>
              <a:sym typeface="Times"/>
            </a:endParaRPr>
          </a:p>
          <a:p>
            <a:pPr indent="-330200" lvl="0" marL="457200" rtl="0" algn="l">
              <a:spcBef>
                <a:spcPts val="0"/>
              </a:spcBef>
              <a:spcAft>
                <a:spcPts val="0"/>
              </a:spcAft>
              <a:buClr>
                <a:srgbClr val="FFFFFF"/>
              </a:buClr>
              <a:buSzPts val="1600"/>
              <a:buFont typeface="Times"/>
              <a:buChar char="●"/>
            </a:pPr>
            <a:r>
              <a:rPr i="1" lang="en-US" sz="1600">
                <a:highlight>
                  <a:srgbClr val="FFFFFF"/>
                </a:highlight>
                <a:latin typeface="Times"/>
                <a:ea typeface="Times"/>
                <a:cs typeface="Times"/>
                <a:sym typeface="Times"/>
              </a:rPr>
              <a:t># Accessing class attributes</a:t>
            </a:r>
            <a:endParaRPr i="1" sz="1600">
              <a:highlight>
                <a:srgbClr val="FFFFFF"/>
              </a:highlight>
              <a:latin typeface="Times"/>
              <a:ea typeface="Times"/>
              <a:cs typeface="Times"/>
              <a:sym typeface="Times"/>
            </a:endParaRPr>
          </a:p>
          <a:p>
            <a:pPr indent="-330200" lvl="0" marL="457200" rtl="0" algn="l">
              <a:spcBef>
                <a:spcPts val="0"/>
              </a:spcBef>
              <a:spcAft>
                <a:spcPts val="0"/>
              </a:spcAft>
              <a:buClr>
                <a:srgbClr val="FFFFFF"/>
              </a:buClr>
              <a:buSzPts val="1600"/>
              <a:buFont typeface="Times"/>
              <a:buChar char="●"/>
            </a:pPr>
            <a:r>
              <a:rPr i="1" lang="en-US" sz="1600">
                <a:highlight>
                  <a:srgbClr val="FFFFFF"/>
                </a:highlight>
                <a:latin typeface="Times"/>
                <a:ea typeface="Times"/>
                <a:cs typeface="Times"/>
                <a:sym typeface="Times"/>
              </a:rPr>
              <a:t>print("Rodger is a {}".format(rodger.__class__.attr1))</a:t>
            </a:r>
            <a:endParaRPr i="1" sz="1600">
              <a:highlight>
                <a:srgbClr val="FFFFFF"/>
              </a:highlight>
              <a:latin typeface="Times"/>
              <a:ea typeface="Times"/>
              <a:cs typeface="Times"/>
              <a:sym typeface="Times"/>
            </a:endParaRPr>
          </a:p>
          <a:p>
            <a:pPr indent="-330200" lvl="0" marL="457200" rtl="0" algn="l">
              <a:spcBef>
                <a:spcPts val="0"/>
              </a:spcBef>
              <a:spcAft>
                <a:spcPts val="0"/>
              </a:spcAft>
              <a:buClr>
                <a:srgbClr val="FFFFFF"/>
              </a:buClr>
              <a:buSzPts val="1600"/>
              <a:buFont typeface="Times"/>
              <a:buChar char="●"/>
            </a:pPr>
            <a:r>
              <a:rPr i="1" lang="en-US" sz="1600">
                <a:highlight>
                  <a:srgbClr val="FFFFFF"/>
                </a:highlight>
                <a:latin typeface="Times"/>
                <a:ea typeface="Times"/>
                <a:cs typeface="Times"/>
                <a:sym typeface="Times"/>
              </a:rPr>
              <a:t>print("Tommy is also a {}".format(tommy.__class__.attr1))</a:t>
            </a:r>
            <a:endParaRPr i="1" sz="1600">
              <a:highlight>
                <a:srgbClr val="FFFFFF"/>
              </a:highlight>
              <a:latin typeface="Times"/>
              <a:ea typeface="Times"/>
              <a:cs typeface="Times"/>
              <a:sym typeface="Times"/>
            </a:endParaRPr>
          </a:p>
          <a:p>
            <a:pPr indent="-330200" lvl="0" marL="457200" rtl="0" algn="l">
              <a:spcBef>
                <a:spcPts val="0"/>
              </a:spcBef>
              <a:spcAft>
                <a:spcPts val="0"/>
              </a:spcAft>
              <a:buClr>
                <a:srgbClr val="FFFFFF"/>
              </a:buClr>
              <a:buSzPts val="1600"/>
              <a:buFont typeface="Times"/>
              <a:buChar char="●"/>
            </a:pPr>
            <a:r>
              <a:t/>
            </a:r>
            <a:endParaRPr i="1" sz="1600">
              <a:highlight>
                <a:srgbClr val="FFFFFF"/>
              </a:highlight>
              <a:latin typeface="Times"/>
              <a:ea typeface="Times"/>
              <a:cs typeface="Times"/>
              <a:sym typeface="Times"/>
            </a:endParaRPr>
          </a:p>
          <a:p>
            <a:pPr indent="-330200" lvl="0" marL="457200" rtl="0" algn="l">
              <a:spcBef>
                <a:spcPts val="0"/>
              </a:spcBef>
              <a:spcAft>
                <a:spcPts val="0"/>
              </a:spcAft>
              <a:buClr>
                <a:srgbClr val="FFFFFF"/>
              </a:buClr>
              <a:buSzPts val="1600"/>
              <a:buFont typeface="Times"/>
              <a:buChar char="●"/>
            </a:pPr>
            <a:r>
              <a:rPr i="1" lang="en-US" sz="1600">
                <a:highlight>
                  <a:srgbClr val="FFFFFF"/>
                </a:highlight>
                <a:latin typeface="Times"/>
                <a:ea typeface="Times"/>
                <a:cs typeface="Times"/>
                <a:sym typeface="Times"/>
              </a:rPr>
              <a:t># Accessing instance attributes</a:t>
            </a:r>
            <a:endParaRPr i="1" sz="1600">
              <a:highlight>
                <a:srgbClr val="FFFFFF"/>
              </a:highlight>
              <a:latin typeface="Times"/>
              <a:ea typeface="Times"/>
              <a:cs typeface="Times"/>
              <a:sym typeface="Times"/>
            </a:endParaRPr>
          </a:p>
          <a:p>
            <a:pPr indent="-330200" lvl="0" marL="457200" rtl="0" algn="l">
              <a:spcBef>
                <a:spcPts val="0"/>
              </a:spcBef>
              <a:spcAft>
                <a:spcPts val="0"/>
              </a:spcAft>
              <a:buClr>
                <a:srgbClr val="FFFFFF"/>
              </a:buClr>
              <a:buSzPts val="1600"/>
              <a:buFont typeface="Times"/>
              <a:buChar char="●"/>
            </a:pPr>
            <a:r>
              <a:rPr i="1" lang="en-US" sz="1600">
                <a:highlight>
                  <a:srgbClr val="FFFFFF"/>
                </a:highlight>
                <a:latin typeface="Times"/>
                <a:ea typeface="Times"/>
                <a:cs typeface="Times"/>
                <a:sym typeface="Times"/>
              </a:rPr>
              <a:t>print("My name is {}".format(rodger.name))</a:t>
            </a:r>
            <a:endParaRPr i="1" sz="1600">
              <a:highlight>
                <a:srgbClr val="FFFFFF"/>
              </a:highlight>
              <a:latin typeface="Times"/>
              <a:ea typeface="Times"/>
              <a:cs typeface="Times"/>
              <a:sym typeface="Times"/>
            </a:endParaRPr>
          </a:p>
          <a:p>
            <a:pPr indent="-330200" lvl="0" marL="457200" rtl="0" algn="l">
              <a:spcBef>
                <a:spcPts val="0"/>
              </a:spcBef>
              <a:spcAft>
                <a:spcPts val="0"/>
              </a:spcAft>
              <a:buClr>
                <a:srgbClr val="FFFFFF"/>
              </a:buClr>
              <a:buSzPts val="1600"/>
              <a:buFont typeface="Times"/>
              <a:buChar char="●"/>
            </a:pPr>
            <a:r>
              <a:rPr i="1" lang="en-US" sz="1600">
                <a:highlight>
                  <a:srgbClr val="FFFFFF"/>
                </a:highlight>
                <a:latin typeface="Times"/>
                <a:ea typeface="Times"/>
                <a:cs typeface="Times"/>
                <a:sym typeface="Times"/>
              </a:rPr>
              <a:t>print("My name is {}".format(tommy.name))</a:t>
            </a:r>
            <a:endParaRPr sz="1600">
              <a:highlight>
                <a:srgbClr val="FFFFFF"/>
              </a:highlight>
              <a:latin typeface="Times"/>
              <a:ea typeface="Times"/>
              <a:cs typeface="Times"/>
              <a:sym typeface="Times"/>
            </a:endParaRPr>
          </a:p>
        </p:txBody>
      </p:sp>
      <p:sp>
        <p:nvSpPr>
          <p:cNvPr id="1087" name="Google Shape;1087;p1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1088" name="Google Shape;1088;p135"/>
          <p:cNvSpPr txBox="1"/>
          <p:nvPr/>
        </p:nvSpPr>
        <p:spPr>
          <a:xfrm>
            <a:off x="6142800" y="1422425"/>
            <a:ext cx="2805600" cy="2630100"/>
          </a:xfrm>
          <a:prstGeom prst="rect">
            <a:avLst/>
          </a:prstGeom>
          <a:noFill/>
          <a:ln>
            <a:noFill/>
          </a:ln>
        </p:spPr>
        <p:txBody>
          <a:bodyPr anchorCtr="0" anchor="t" bIns="0" lIns="0" spcFirstLastPara="1" rIns="0" wrap="square" tIns="125075">
            <a:spAutoFit/>
          </a:bodyPr>
          <a:lstStyle/>
          <a:p>
            <a:pPr indent="0" lvl="0" marL="0" rtl="0" algn="just">
              <a:lnSpc>
                <a:spcPct val="100000"/>
              </a:lnSpc>
              <a:spcBef>
                <a:spcPts val="0"/>
              </a:spcBef>
              <a:spcAft>
                <a:spcPts val="0"/>
              </a:spcAft>
              <a:buNone/>
            </a:pPr>
            <a:r>
              <a:rPr b="1" lang="en-US" sz="1600">
                <a:highlight>
                  <a:srgbClr val="FFFFFF"/>
                </a:highlight>
                <a:latin typeface="Times"/>
                <a:ea typeface="Times"/>
                <a:cs typeface="Times"/>
                <a:sym typeface="Times"/>
              </a:rPr>
              <a:t>Output: </a:t>
            </a:r>
            <a:endParaRPr b="1" sz="1600">
              <a:highlight>
                <a:srgbClr val="FFFFFF"/>
              </a:highlight>
              <a:latin typeface="Times"/>
              <a:ea typeface="Times"/>
              <a:cs typeface="Times"/>
              <a:sym typeface="Times"/>
            </a:endParaRPr>
          </a:p>
          <a:p>
            <a:pPr indent="0" lvl="0" marL="457200" rtl="0" algn="just">
              <a:lnSpc>
                <a:spcPct val="100000"/>
              </a:lnSpc>
              <a:spcBef>
                <a:spcPts val="1800"/>
              </a:spcBef>
              <a:spcAft>
                <a:spcPts val="0"/>
              </a:spcAft>
              <a:buNone/>
            </a:pPr>
            <a:r>
              <a:rPr lang="en-US" sz="1600">
                <a:highlight>
                  <a:srgbClr val="FFFFFF"/>
                </a:highlight>
                <a:latin typeface="Times"/>
                <a:ea typeface="Times"/>
                <a:cs typeface="Times"/>
                <a:sym typeface="Times"/>
              </a:rPr>
              <a:t>Rodger is a mammal</a:t>
            </a:r>
            <a:endParaRPr sz="1600">
              <a:highlight>
                <a:srgbClr val="FFFFFF"/>
              </a:highlight>
              <a:latin typeface="Times"/>
              <a:ea typeface="Times"/>
              <a:cs typeface="Times"/>
              <a:sym typeface="Times"/>
            </a:endParaRPr>
          </a:p>
          <a:p>
            <a:pPr indent="0" lvl="0" marL="457200" rtl="0" algn="just">
              <a:lnSpc>
                <a:spcPct val="100000"/>
              </a:lnSpc>
              <a:spcBef>
                <a:spcPts val="1800"/>
              </a:spcBef>
              <a:spcAft>
                <a:spcPts val="0"/>
              </a:spcAft>
              <a:buNone/>
            </a:pPr>
            <a:r>
              <a:rPr lang="en-US" sz="1600">
                <a:highlight>
                  <a:srgbClr val="FFFFFF"/>
                </a:highlight>
                <a:latin typeface="Times"/>
                <a:ea typeface="Times"/>
                <a:cs typeface="Times"/>
                <a:sym typeface="Times"/>
              </a:rPr>
              <a:t>Tommy is also a mammal</a:t>
            </a:r>
            <a:endParaRPr sz="1600">
              <a:highlight>
                <a:srgbClr val="FFFFFF"/>
              </a:highlight>
              <a:latin typeface="Times"/>
              <a:ea typeface="Times"/>
              <a:cs typeface="Times"/>
              <a:sym typeface="Times"/>
            </a:endParaRPr>
          </a:p>
          <a:p>
            <a:pPr indent="0" lvl="0" marL="457200" rtl="0" algn="just">
              <a:lnSpc>
                <a:spcPct val="100000"/>
              </a:lnSpc>
              <a:spcBef>
                <a:spcPts val="1800"/>
              </a:spcBef>
              <a:spcAft>
                <a:spcPts val="0"/>
              </a:spcAft>
              <a:buNone/>
            </a:pPr>
            <a:r>
              <a:rPr lang="en-US" sz="1600">
                <a:highlight>
                  <a:srgbClr val="FFFFFF"/>
                </a:highlight>
                <a:latin typeface="Times"/>
                <a:ea typeface="Times"/>
                <a:cs typeface="Times"/>
                <a:sym typeface="Times"/>
              </a:rPr>
              <a:t>My name is Rodger</a:t>
            </a:r>
            <a:endParaRPr sz="1600">
              <a:highlight>
                <a:srgbClr val="FFFFFF"/>
              </a:highlight>
              <a:latin typeface="Times"/>
              <a:ea typeface="Times"/>
              <a:cs typeface="Times"/>
              <a:sym typeface="Times"/>
            </a:endParaRPr>
          </a:p>
          <a:p>
            <a:pPr indent="0" lvl="0" marL="457200" marR="190500" rtl="0" algn="just">
              <a:lnSpc>
                <a:spcPct val="100000"/>
              </a:lnSpc>
              <a:spcBef>
                <a:spcPts val="1800"/>
              </a:spcBef>
              <a:spcAft>
                <a:spcPts val="0"/>
              </a:spcAft>
              <a:buNone/>
            </a:pPr>
            <a:r>
              <a:rPr lang="en-US" sz="1600">
                <a:highlight>
                  <a:srgbClr val="FFFFFF"/>
                </a:highlight>
                <a:latin typeface="Times"/>
                <a:ea typeface="Times"/>
                <a:cs typeface="Times"/>
                <a:sym typeface="Times"/>
              </a:rPr>
              <a:t>My name is Tommy</a:t>
            </a:r>
            <a:endParaRPr sz="1600">
              <a:highlight>
                <a:srgbClr val="FFFFFF"/>
              </a:highlight>
              <a:latin typeface="Times"/>
              <a:ea typeface="Times"/>
              <a:cs typeface="Times"/>
              <a:sym typeface="Times"/>
            </a:endParaRPr>
          </a:p>
          <a:p>
            <a:pPr indent="0" lvl="0" marL="0" rtl="0" algn="just">
              <a:lnSpc>
                <a:spcPct val="100000"/>
              </a:lnSpc>
              <a:spcBef>
                <a:spcPts val="800"/>
              </a:spcBef>
              <a:spcAft>
                <a:spcPts val="1800"/>
              </a:spcAft>
              <a:buNone/>
            </a:pPr>
            <a:r>
              <a:t/>
            </a:r>
            <a:endParaRPr sz="1600">
              <a:highlight>
                <a:srgbClr val="FFFFFF"/>
              </a:highlight>
              <a:latin typeface="Times"/>
              <a:ea typeface="Times"/>
              <a:cs typeface="Times"/>
              <a:sym typeface="Times"/>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3" name="Shape 1093"/>
        <p:cNvGrpSpPr/>
        <p:nvPr/>
      </p:nvGrpSpPr>
      <p:grpSpPr>
        <a:xfrm>
          <a:off x="0" y="0"/>
          <a:ext cx="0" cy="0"/>
          <a:chOff x="0" y="0"/>
          <a:chExt cx="0" cy="0"/>
        </a:xfrm>
      </p:grpSpPr>
      <p:sp>
        <p:nvSpPr>
          <p:cNvPr id="1094" name="Google Shape;1094;p136"/>
          <p:cNvSpPr txBox="1"/>
          <p:nvPr/>
        </p:nvSpPr>
        <p:spPr>
          <a:xfrm>
            <a:off x="573225" y="318525"/>
            <a:ext cx="8107500" cy="4437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2800">
                <a:solidFill>
                  <a:srgbClr val="1C3678"/>
                </a:solidFill>
                <a:latin typeface="Trebuchet MS"/>
                <a:ea typeface="Trebuchet MS"/>
                <a:cs typeface="Trebuchet MS"/>
                <a:sym typeface="Trebuchet MS"/>
              </a:rPr>
              <a:t>Class and Object in Python</a:t>
            </a:r>
            <a:endParaRPr b="1" sz="2800">
              <a:solidFill>
                <a:srgbClr val="1C3678"/>
              </a:solidFill>
              <a:latin typeface="Trebuchet MS"/>
              <a:ea typeface="Trebuchet MS"/>
              <a:cs typeface="Trebuchet MS"/>
              <a:sym typeface="Trebuchet MS"/>
            </a:endParaRPr>
          </a:p>
        </p:txBody>
      </p:sp>
      <p:sp>
        <p:nvSpPr>
          <p:cNvPr id="1095" name="Google Shape;1095;p136"/>
          <p:cNvSpPr txBox="1"/>
          <p:nvPr/>
        </p:nvSpPr>
        <p:spPr>
          <a:xfrm>
            <a:off x="688425" y="793125"/>
            <a:ext cx="8107500" cy="4397700"/>
          </a:xfrm>
          <a:prstGeom prst="rect">
            <a:avLst/>
          </a:prstGeom>
          <a:noFill/>
          <a:ln>
            <a:noFill/>
          </a:ln>
        </p:spPr>
        <p:txBody>
          <a:bodyPr anchorCtr="0" anchor="t" bIns="0" lIns="0" spcFirstLastPara="1" rIns="0" wrap="square" tIns="125075">
            <a:spAutoFit/>
          </a:bodyPr>
          <a:lstStyle/>
          <a:p>
            <a:pPr indent="0" lvl="0" marL="0" rtl="0" algn="l">
              <a:lnSpc>
                <a:spcPct val="30000"/>
              </a:lnSpc>
              <a:spcBef>
                <a:spcPts val="0"/>
              </a:spcBef>
              <a:spcAft>
                <a:spcPts val="0"/>
              </a:spcAft>
              <a:buNone/>
            </a:pPr>
            <a:r>
              <a:rPr i="1" lang="en-US" sz="1500">
                <a:highlight>
                  <a:srgbClr val="FFFFFF"/>
                </a:highlight>
                <a:latin typeface="Times"/>
                <a:ea typeface="Times"/>
                <a:cs typeface="Times"/>
                <a:sym typeface="Times"/>
              </a:rPr>
              <a:t>class Dog:</a:t>
            </a:r>
            <a:endParaRPr i="1" sz="1500">
              <a:highlight>
                <a:srgbClr val="FFFFFF"/>
              </a:highlight>
              <a:latin typeface="Times"/>
              <a:ea typeface="Times"/>
              <a:cs typeface="Times"/>
              <a:sym typeface="Times"/>
            </a:endParaRPr>
          </a:p>
          <a:p>
            <a:pPr indent="457200" lvl="0" marL="0" rtl="0" algn="l">
              <a:lnSpc>
                <a:spcPct val="30000"/>
              </a:lnSpc>
              <a:spcBef>
                <a:spcPts val="1800"/>
              </a:spcBef>
              <a:spcAft>
                <a:spcPts val="0"/>
              </a:spcAft>
              <a:buNone/>
            </a:pPr>
            <a:r>
              <a:rPr i="1" lang="en-US" sz="1500">
                <a:highlight>
                  <a:srgbClr val="FFFFFF"/>
                </a:highlight>
                <a:latin typeface="Times"/>
                <a:ea typeface="Times"/>
                <a:cs typeface="Times"/>
                <a:sym typeface="Times"/>
              </a:rPr>
              <a:t> attr1 = "mammal" </a:t>
            </a:r>
            <a:r>
              <a:rPr i="1" lang="en-US" sz="1500">
                <a:highlight>
                  <a:schemeClr val="lt1"/>
                </a:highlight>
                <a:latin typeface="Times"/>
                <a:ea typeface="Times"/>
                <a:cs typeface="Times"/>
                <a:sym typeface="Times"/>
              </a:rPr>
              <a:t># Class attribute</a:t>
            </a:r>
            <a:endParaRPr i="1" sz="1500">
              <a:highlight>
                <a:schemeClr val="lt1"/>
              </a:highlight>
              <a:latin typeface="Times"/>
              <a:ea typeface="Times"/>
              <a:cs typeface="Times"/>
              <a:sym typeface="Times"/>
            </a:endParaRPr>
          </a:p>
          <a:p>
            <a:pPr indent="457200" lvl="0" marL="457200" rtl="0" algn="l">
              <a:lnSpc>
                <a:spcPct val="30000"/>
              </a:lnSpc>
              <a:spcBef>
                <a:spcPts val="1800"/>
              </a:spcBef>
              <a:spcAft>
                <a:spcPts val="0"/>
              </a:spcAft>
              <a:buNone/>
            </a:pPr>
            <a:r>
              <a:rPr i="1" lang="en-US" sz="1500">
                <a:highlight>
                  <a:schemeClr val="lt1"/>
                </a:highlight>
                <a:latin typeface="Times"/>
                <a:ea typeface="Times"/>
                <a:cs typeface="Times"/>
                <a:sym typeface="Times"/>
              </a:rPr>
              <a:t>def __init__(self, name):</a:t>
            </a:r>
            <a:endParaRPr i="1" sz="1500">
              <a:highlight>
                <a:schemeClr val="lt1"/>
              </a:highlight>
              <a:latin typeface="Times"/>
              <a:ea typeface="Times"/>
              <a:cs typeface="Times"/>
              <a:sym typeface="Times"/>
            </a:endParaRPr>
          </a:p>
          <a:p>
            <a:pPr indent="457200" lvl="0" marL="914400" rtl="0" algn="l">
              <a:lnSpc>
                <a:spcPct val="30000"/>
              </a:lnSpc>
              <a:spcBef>
                <a:spcPts val="1800"/>
              </a:spcBef>
              <a:spcAft>
                <a:spcPts val="0"/>
              </a:spcAft>
              <a:buNone/>
            </a:pPr>
            <a:r>
              <a:rPr i="1" lang="en-US" sz="1500">
                <a:highlight>
                  <a:schemeClr val="lt1"/>
                </a:highlight>
                <a:latin typeface="Times"/>
                <a:ea typeface="Times"/>
                <a:cs typeface="Times"/>
                <a:sym typeface="Times"/>
              </a:rPr>
              <a:t>self.name=name # class instance attributes</a:t>
            </a:r>
            <a:endParaRPr i="1" sz="1500">
              <a:highlight>
                <a:schemeClr val="lt1"/>
              </a:highlight>
              <a:latin typeface="Times"/>
              <a:ea typeface="Times"/>
              <a:cs typeface="Times"/>
              <a:sym typeface="Times"/>
            </a:endParaRPr>
          </a:p>
          <a:p>
            <a:pPr indent="457200" lvl="0" marL="457200" rtl="0" algn="l">
              <a:lnSpc>
                <a:spcPct val="30000"/>
              </a:lnSpc>
              <a:spcBef>
                <a:spcPts val="1800"/>
              </a:spcBef>
              <a:spcAft>
                <a:spcPts val="0"/>
              </a:spcAft>
              <a:buNone/>
            </a:pPr>
            <a:r>
              <a:rPr i="1" lang="en-US" sz="1500">
                <a:highlight>
                  <a:schemeClr val="lt1"/>
                </a:highlight>
                <a:latin typeface="Times"/>
                <a:ea typeface="Times"/>
                <a:cs typeface="Times"/>
                <a:sym typeface="Times"/>
              </a:rPr>
              <a:t>def speak(self):</a:t>
            </a:r>
            <a:endParaRPr i="1" sz="1500">
              <a:highlight>
                <a:schemeClr val="lt1"/>
              </a:highlight>
              <a:latin typeface="Times"/>
              <a:ea typeface="Times"/>
              <a:cs typeface="Times"/>
              <a:sym typeface="Times"/>
            </a:endParaRPr>
          </a:p>
          <a:p>
            <a:pPr indent="457200" lvl="0" marL="914400" rtl="0" algn="l">
              <a:lnSpc>
                <a:spcPct val="30000"/>
              </a:lnSpc>
              <a:spcBef>
                <a:spcPts val="1800"/>
              </a:spcBef>
              <a:spcAft>
                <a:spcPts val="0"/>
              </a:spcAft>
              <a:buNone/>
            </a:pPr>
            <a:r>
              <a:rPr i="1" lang="en-US" sz="1500">
                <a:highlight>
                  <a:schemeClr val="lt1"/>
                </a:highlight>
                <a:latin typeface="Times"/>
                <a:ea typeface="Times"/>
                <a:cs typeface="Times"/>
                <a:sym typeface="Times"/>
              </a:rPr>
              <a:t>print(‘f Dog name: {self.name}’)</a:t>
            </a:r>
            <a:endParaRPr i="1" sz="1500">
              <a:highlight>
                <a:schemeClr val="lt1"/>
              </a:highlight>
              <a:latin typeface="Times"/>
              <a:ea typeface="Times"/>
              <a:cs typeface="Times"/>
              <a:sym typeface="Times"/>
            </a:endParaRPr>
          </a:p>
          <a:p>
            <a:pPr indent="0" lvl="0" marL="0" rtl="0" algn="l">
              <a:lnSpc>
                <a:spcPct val="30000"/>
              </a:lnSpc>
              <a:spcBef>
                <a:spcPts val="1800"/>
              </a:spcBef>
              <a:spcAft>
                <a:spcPts val="0"/>
              </a:spcAft>
              <a:buNone/>
            </a:pPr>
            <a:r>
              <a:rPr i="1" lang="en-US" sz="1500">
                <a:highlight>
                  <a:srgbClr val="FFFFFF"/>
                </a:highlight>
                <a:latin typeface="Times"/>
                <a:ea typeface="Times"/>
                <a:cs typeface="Times"/>
                <a:sym typeface="Times"/>
              </a:rPr>
              <a:t># Driver code</a:t>
            </a:r>
            <a:endParaRPr i="1" sz="1500">
              <a:highlight>
                <a:srgbClr val="FFFFFF"/>
              </a:highlight>
              <a:latin typeface="Times"/>
              <a:ea typeface="Times"/>
              <a:cs typeface="Times"/>
              <a:sym typeface="Times"/>
            </a:endParaRPr>
          </a:p>
          <a:p>
            <a:pPr indent="0" lvl="0" marL="0" rtl="0" algn="l">
              <a:lnSpc>
                <a:spcPct val="30000"/>
              </a:lnSpc>
              <a:spcBef>
                <a:spcPts val="1800"/>
              </a:spcBef>
              <a:spcAft>
                <a:spcPts val="0"/>
              </a:spcAft>
              <a:buNone/>
            </a:pPr>
            <a:r>
              <a:rPr i="1" lang="en-US" sz="1500">
                <a:highlight>
                  <a:srgbClr val="FFFFFF"/>
                </a:highlight>
                <a:latin typeface="Times"/>
                <a:ea typeface="Times"/>
                <a:cs typeface="Times"/>
                <a:sym typeface="Times"/>
              </a:rPr>
              <a:t>rodger = Dog(</a:t>
            </a:r>
            <a:r>
              <a:rPr i="1" lang="en-US" sz="1500">
                <a:highlight>
                  <a:schemeClr val="lt1"/>
                </a:highlight>
                <a:latin typeface="Times"/>
                <a:ea typeface="Times"/>
                <a:cs typeface="Times"/>
                <a:sym typeface="Times"/>
              </a:rPr>
              <a:t>"Rodger" </a:t>
            </a:r>
            <a:r>
              <a:rPr i="1" lang="en-US" sz="1500">
                <a:highlight>
                  <a:srgbClr val="FFFFFF"/>
                </a:highlight>
                <a:latin typeface="Times"/>
                <a:ea typeface="Times"/>
                <a:cs typeface="Times"/>
                <a:sym typeface="Times"/>
              </a:rPr>
              <a:t>) </a:t>
            </a:r>
            <a:r>
              <a:rPr i="1" lang="en-US" sz="1500">
                <a:highlight>
                  <a:schemeClr val="lt1"/>
                </a:highlight>
                <a:latin typeface="Times"/>
                <a:ea typeface="Times"/>
                <a:cs typeface="Times"/>
                <a:sym typeface="Times"/>
              </a:rPr>
              <a:t># Object instantiation</a:t>
            </a:r>
            <a:endParaRPr i="1" sz="1500">
              <a:highlight>
                <a:srgbClr val="FFFFFF"/>
              </a:highlight>
              <a:latin typeface="Times"/>
              <a:ea typeface="Times"/>
              <a:cs typeface="Times"/>
              <a:sym typeface="Times"/>
            </a:endParaRPr>
          </a:p>
          <a:p>
            <a:pPr indent="0" lvl="0" marL="0" rtl="0" algn="l">
              <a:lnSpc>
                <a:spcPct val="30000"/>
              </a:lnSpc>
              <a:spcBef>
                <a:spcPts val="1800"/>
              </a:spcBef>
              <a:spcAft>
                <a:spcPts val="0"/>
              </a:spcAft>
              <a:buNone/>
            </a:pPr>
            <a:r>
              <a:rPr i="1" lang="en-US" sz="1500">
                <a:highlight>
                  <a:srgbClr val="FFFFFF"/>
                </a:highlight>
                <a:latin typeface="Times"/>
                <a:ea typeface="Times"/>
                <a:cs typeface="Times"/>
                <a:sym typeface="Times"/>
              </a:rPr>
              <a:t>tommy = Dog(</a:t>
            </a:r>
            <a:r>
              <a:rPr i="1" lang="en-US" sz="1500">
                <a:highlight>
                  <a:schemeClr val="lt1"/>
                </a:highlight>
                <a:latin typeface="Times"/>
                <a:ea typeface="Times"/>
                <a:cs typeface="Times"/>
                <a:sym typeface="Times"/>
              </a:rPr>
              <a:t>"Tommy"</a:t>
            </a:r>
            <a:r>
              <a:rPr i="1" lang="en-US" sz="1500">
                <a:highlight>
                  <a:srgbClr val="FFFFFF"/>
                </a:highlight>
                <a:latin typeface="Times"/>
                <a:ea typeface="Times"/>
                <a:cs typeface="Times"/>
                <a:sym typeface="Times"/>
              </a:rPr>
              <a:t>)</a:t>
            </a:r>
            <a:endParaRPr i="1" sz="1500">
              <a:highlight>
                <a:srgbClr val="FFFFFF"/>
              </a:highlight>
              <a:latin typeface="Times"/>
              <a:ea typeface="Times"/>
              <a:cs typeface="Times"/>
              <a:sym typeface="Times"/>
            </a:endParaRPr>
          </a:p>
          <a:p>
            <a:pPr indent="0" lvl="0" marL="0" rtl="0" algn="l">
              <a:lnSpc>
                <a:spcPct val="30000"/>
              </a:lnSpc>
              <a:spcBef>
                <a:spcPts val="1800"/>
              </a:spcBef>
              <a:spcAft>
                <a:spcPts val="0"/>
              </a:spcAft>
              <a:buNone/>
            </a:pPr>
            <a:r>
              <a:rPr i="1" lang="en-US" sz="1500">
                <a:highlight>
                  <a:srgbClr val="FFFFFF"/>
                </a:highlight>
                <a:latin typeface="Times"/>
                <a:ea typeface="Times"/>
                <a:cs typeface="Times"/>
                <a:sym typeface="Times"/>
              </a:rPr>
              <a:t># Accessing class methods</a:t>
            </a:r>
            <a:endParaRPr i="1" sz="1500">
              <a:highlight>
                <a:srgbClr val="FFFFFF"/>
              </a:highlight>
              <a:latin typeface="Times"/>
              <a:ea typeface="Times"/>
              <a:cs typeface="Times"/>
              <a:sym typeface="Times"/>
            </a:endParaRPr>
          </a:p>
          <a:p>
            <a:pPr indent="0" lvl="0" marL="0" rtl="0" algn="l">
              <a:lnSpc>
                <a:spcPct val="30000"/>
              </a:lnSpc>
              <a:spcBef>
                <a:spcPts val="1800"/>
              </a:spcBef>
              <a:spcAft>
                <a:spcPts val="0"/>
              </a:spcAft>
              <a:buNone/>
            </a:pPr>
            <a:r>
              <a:rPr i="1" lang="en-US" sz="1500">
                <a:highlight>
                  <a:srgbClr val="FFFFFF"/>
                </a:highlight>
                <a:latin typeface="Times"/>
                <a:ea typeface="Times"/>
                <a:cs typeface="Times"/>
                <a:sym typeface="Times"/>
              </a:rPr>
              <a:t>rodger.speak()</a:t>
            </a:r>
            <a:endParaRPr i="1" sz="1500">
              <a:highlight>
                <a:srgbClr val="FFFFFF"/>
              </a:highlight>
              <a:latin typeface="Times"/>
              <a:ea typeface="Times"/>
              <a:cs typeface="Times"/>
              <a:sym typeface="Times"/>
            </a:endParaRPr>
          </a:p>
          <a:p>
            <a:pPr indent="0" lvl="0" marL="0" rtl="0" algn="l">
              <a:lnSpc>
                <a:spcPct val="30000"/>
              </a:lnSpc>
              <a:spcBef>
                <a:spcPts val="1800"/>
              </a:spcBef>
              <a:spcAft>
                <a:spcPts val="0"/>
              </a:spcAft>
              <a:buNone/>
            </a:pPr>
            <a:r>
              <a:rPr i="1" lang="en-US" sz="1500">
                <a:highlight>
                  <a:srgbClr val="FFFFFF"/>
                </a:highlight>
                <a:latin typeface="Times"/>
                <a:ea typeface="Times"/>
                <a:cs typeface="Times"/>
                <a:sym typeface="Times"/>
              </a:rPr>
              <a:t>tommy.speak()</a:t>
            </a:r>
            <a:endParaRPr i="1" sz="1500">
              <a:highlight>
                <a:srgbClr val="FFFFFF"/>
              </a:highlight>
              <a:latin typeface="Times"/>
              <a:ea typeface="Times"/>
              <a:cs typeface="Times"/>
              <a:sym typeface="Times"/>
            </a:endParaRPr>
          </a:p>
          <a:p>
            <a:pPr indent="0" lvl="0" marL="0" rtl="0" algn="l">
              <a:lnSpc>
                <a:spcPct val="30000"/>
              </a:lnSpc>
              <a:spcBef>
                <a:spcPts val="1800"/>
              </a:spcBef>
              <a:spcAft>
                <a:spcPts val="0"/>
              </a:spcAft>
              <a:buNone/>
            </a:pPr>
            <a:r>
              <a:rPr i="1" lang="en-US" sz="1500">
                <a:highlight>
                  <a:srgbClr val="FFFFFF"/>
                </a:highlight>
                <a:latin typeface="Times"/>
                <a:ea typeface="Times"/>
                <a:cs typeface="Times"/>
                <a:sym typeface="Times"/>
              </a:rPr>
              <a:t># Accessing instance attributes</a:t>
            </a:r>
            <a:endParaRPr i="1" sz="1500">
              <a:highlight>
                <a:srgbClr val="FFFFFF"/>
              </a:highlight>
              <a:latin typeface="Times"/>
              <a:ea typeface="Times"/>
              <a:cs typeface="Times"/>
              <a:sym typeface="Times"/>
            </a:endParaRPr>
          </a:p>
          <a:p>
            <a:pPr indent="0" lvl="0" marL="0" rtl="0" algn="l">
              <a:lnSpc>
                <a:spcPct val="30000"/>
              </a:lnSpc>
              <a:spcBef>
                <a:spcPts val="1800"/>
              </a:spcBef>
              <a:spcAft>
                <a:spcPts val="0"/>
              </a:spcAft>
              <a:buNone/>
            </a:pPr>
            <a:r>
              <a:rPr i="1" lang="en-US" sz="1500">
                <a:highlight>
                  <a:srgbClr val="FFFFFF"/>
                </a:highlight>
                <a:latin typeface="Times"/>
                <a:ea typeface="Times"/>
                <a:cs typeface="Times"/>
                <a:sym typeface="Times"/>
              </a:rPr>
              <a:t>print("My name is {}".format(rodger.name))</a:t>
            </a:r>
            <a:endParaRPr i="1" sz="1500">
              <a:highlight>
                <a:srgbClr val="FFFFFF"/>
              </a:highlight>
              <a:latin typeface="Times"/>
              <a:ea typeface="Times"/>
              <a:cs typeface="Times"/>
              <a:sym typeface="Times"/>
            </a:endParaRPr>
          </a:p>
          <a:p>
            <a:pPr indent="0" lvl="0" marL="0" rtl="0" algn="l">
              <a:lnSpc>
                <a:spcPct val="30000"/>
              </a:lnSpc>
              <a:spcBef>
                <a:spcPts val="1800"/>
              </a:spcBef>
              <a:spcAft>
                <a:spcPts val="1800"/>
              </a:spcAft>
              <a:buNone/>
            </a:pPr>
            <a:r>
              <a:rPr i="1" lang="en-US" sz="1500">
                <a:highlight>
                  <a:srgbClr val="FFFFFF"/>
                </a:highlight>
                <a:latin typeface="Times"/>
                <a:ea typeface="Times"/>
                <a:cs typeface="Times"/>
                <a:sym typeface="Times"/>
              </a:rPr>
              <a:t>print("My name is {}".format(tommy.name))</a:t>
            </a:r>
            <a:endParaRPr sz="1500">
              <a:highlight>
                <a:srgbClr val="FFFFFF"/>
              </a:highlight>
              <a:latin typeface="Times"/>
              <a:ea typeface="Times"/>
              <a:cs typeface="Times"/>
              <a:sym typeface="Times"/>
            </a:endParaRPr>
          </a:p>
        </p:txBody>
      </p:sp>
      <p:sp>
        <p:nvSpPr>
          <p:cNvPr id="1096" name="Google Shape;1096;p1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1097" name="Google Shape;1097;p136"/>
          <p:cNvSpPr txBox="1"/>
          <p:nvPr/>
        </p:nvSpPr>
        <p:spPr>
          <a:xfrm>
            <a:off x="6142800" y="1422425"/>
            <a:ext cx="2805600" cy="1552800"/>
          </a:xfrm>
          <a:prstGeom prst="rect">
            <a:avLst/>
          </a:prstGeom>
          <a:noFill/>
          <a:ln>
            <a:noFill/>
          </a:ln>
        </p:spPr>
        <p:txBody>
          <a:bodyPr anchorCtr="0" anchor="t" bIns="0" lIns="0" spcFirstLastPara="1" rIns="0" wrap="square" tIns="125075">
            <a:spAutoFit/>
          </a:bodyPr>
          <a:lstStyle/>
          <a:p>
            <a:pPr indent="0" lvl="0" marL="0" rtl="0" algn="just">
              <a:lnSpc>
                <a:spcPct val="100000"/>
              </a:lnSpc>
              <a:spcBef>
                <a:spcPts val="0"/>
              </a:spcBef>
              <a:spcAft>
                <a:spcPts val="0"/>
              </a:spcAft>
              <a:buNone/>
            </a:pPr>
            <a:r>
              <a:rPr b="1" lang="en-US">
                <a:highlight>
                  <a:srgbClr val="FFFFFF"/>
                </a:highlight>
                <a:latin typeface="Times"/>
                <a:ea typeface="Times"/>
                <a:cs typeface="Times"/>
                <a:sym typeface="Times"/>
              </a:rPr>
              <a:t>Output: </a:t>
            </a:r>
            <a:endParaRPr b="1">
              <a:highlight>
                <a:srgbClr val="FFFFFF"/>
              </a:highlight>
              <a:latin typeface="Times"/>
              <a:ea typeface="Times"/>
              <a:cs typeface="Times"/>
              <a:sym typeface="Times"/>
            </a:endParaRPr>
          </a:p>
          <a:p>
            <a:pPr indent="0" lvl="0" marL="457200" rtl="0" algn="just">
              <a:lnSpc>
                <a:spcPct val="100000"/>
              </a:lnSpc>
              <a:spcBef>
                <a:spcPts val="1800"/>
              </a:spcBef>
              <a:spcAft>
                <a:spcPts val="0"/>
              </a:spcAft>
              <a:buNone/>
            </a:pPr>
            <a:r>
              <a:rPr lang="en-US">
                <a:highlight>
                  <a:srgbClr val="FFFFFF"/>
                </a:highlight>
                <a:latin typeface="Times"/>
                <a:ea typeface="Times"/>
                <a:cs typeface="Times"/>
                <a:sym typeface="Times"/>
              </a:rPr>
              <a:t>My name is Rodger</a:t>
            </a:r>
            <a:endParaRPr>
              <a:highlight>
                <a:srgbClr val="FFFFFF"/>
              </a:highlight>
              <a:latin typeface="Times"/>
              <a:ea typeface="Times"/>
              <a:cs typeface="Times"/>
              <a:sym typeface="Times"/>
            </a:endParaRPr>
          </a:p>
          <a:p>
            <a:pPr indent="0" lvl="0" marL="457200" marR="190500" rtl="0" algn="just">
              <a:lnSpc>
                <a:spcPct val="100000"/>
              </a:lnSpc>
              <a:spcBef>
                <a:spcPts val="1800"/>
              </a:spcBef>
              <a:spcAft>
                <a:spcPts val="0"/>
              </a:spcAft>
              <a:buNone/>
            </a:pPr>
            <a:r>
              <a:rPr lang="en-US">
                <a:highlight>
                  <a:srgbClr val="FFFFFF"/>
                </a:highlight>
                <a:latin typeface="Times"/>
                <a:ea typeface="Times"/>
                <a:cs typeface="Times"/>
                <a:sym typeface="Times"/>
              </a:rPr>
              <a:t>My name is Tommy</a:t>
            </a:r>
            <a:endParaRPr>
              <a:highlight>
                <a:srgbClr val="FFFFFF"/>
              </a:highlight>
              <a:latin typeface="Times"/>
              <a:ea typeface="Times"/>
              <a:cs typeface="Times"/>
              <a:sym typeface="Times"/>
            </a:endParaRPr>
          </a:p>
          <a:p>
            <a:pPr indent="0" lvl="0" marL="0" rtl="0" algn="just">
              <a:lnSpc>
                <a:spcPct val="100000"/>
              </a:lnSpc>
              <a:spcBef>
                <a:spcPts val="800"/>
              </a:spcBef>
              <a:spcAft>
                <a:spcPts val="1800"/>
              </a:spcAft>
              <a:buNone/>
            </a:pPr>
            <a:r>
              <a:t/>
            </a:r>
            <a:endParaRPr>
              <a:highlight>
                <a:srgbClr val="FFFFFF"/>
              </a:highlight>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2" name="Shape 1102"/>
        <p:cNvGrpSpPr/>
        <p:nvPr/>
      </p:nvGrpSpPr>
      <p:grpSpPr>
        <a:xfrm>
          <a:off x="0" y="0"/>
          <a:ext cx="0" cy="0"/>
          <a:chOff x="0" y="0"/>
          <a:chExt cx="0" cy="0"/>
        </a:xfrm>
      </p:grpSpPr>
      <p:sp>
        <p:nvSpPr>
          <p:cNvPr id="1103" name="Google Shape;1103;p137"/>
          <p:cNvSpPr txBox="1"/>
          <p:nvPr/>
        </p:nvSpPr>
        <p:spPr>
          <a:xfrm>
            <a:off x="573225" y="318525"/>
            <a:ext cx="8107500" cy="4437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2800">
                <a:solidFill>
                  <a:srgbClr val="1C3678"/>
                </a:solidFill>
                <a:latin typeface="Trebuchet MS"/>
                <a:ea typeface="Trebuchet MS"/>
                <a:cs typeface="Trebuchet MS"/>
                <a:sym typeface="Trebuchet MS"/>
              </a:rPr>
              <a:t>Class Constructor</a:t>
            </a:r>
            <a:r>
              <a:rPr b="1" lang="en-US" sz="2800">
                <a:solidFill>
                  <a:srgbClr val="1C3678"/>
                </a:solidFill>
                <a:latin typeface="Trebuchet MS"/>
                <a:ea typeface="Trebuchet MS"/>
                <a:cs typeface="Trebuchet MS"/>
                <a:sym typeface="Trebuchet MS"/>
              </a:rPr>
              <a:t> in Python</a:t>
            </a:r>
            <a:endParaRPr b="1" sz="2800">
              <a:solidFill>
                <a:srgbClr val="1C3678"/>
              </a:solidFill>
              <a:latin typeface="Trebuchet MS"/>
              <a:ea typeface="Trebuchet MS"/>
              <a:cs typeface="Trebuchet MS"/>
              <a:sym typeface="Trebuchet MS"/>
            </a:endParaRPr>
          </a:p>
        </p:txBody>
      </p:sp>
      <p:sp>
        <p:nvSpPr>
          <p:cNvPr id="1104" name="Google Shape;1104;p137"/>
          <p:cNvSpPr txBox="1"/>
          <p:nvPr/>
        </p:nvSpPr>
        <p:spPr>
          <a:xfrm>
            <a:off x="688425" y="793125"/>
            <a:ext cx="8107500" cy="4005300"/>
          </a:xfrm>
          <a:prstGeom prst="rect">
            <a:avLst/>
          </a:prstGeom>
          <a:noFill/>
          <a:ln>
            <a:noFill/>
          </a:ln>
        </p:spPr>
        <p:txBody>
          <a:bodyPr anchorCtr="0" anchor="t" bIns="0" lIns="0" spcFirstLastPara="1" rIns="0" wrap="square" tIns="125075">
            <a:spAutoFit/>
          </a:bodyPr>
          <a:lstStyle/>
          <a:p>
            <a:pPr indent="-342900" lvl="0" marL="457200" rtl="0" algn="just">
              <a:spcBef>
                <a:spcPts val="0"/>
              </a:spcBef>
              <a:spcAft>
                <a:spcPts val="0"/>
              </a:spcAft>
              <a:buSzPts val="1800"/>
              <a:buChar char="●"/>
            </a:pPr>
            <a:r>
              <a:rPr b="1" lang="en-US" sz="1800">
                <a:highlight>
                  <a:srgbClr val="FFFFFF"/>
                </a:highlight>
                <a:latin typeface="Times"/>
                <a:ea typeface="Times"/>
                <a:cs typeface="Times"/>
                <a:sym typeface="Times"/>
              </a:rPr>
              <a:t>__init__() </a:t>
            </a:r>
            <a:r>
              <a:rPr lang="en-US" sz="1800">
                <a:highlight>
                  <a:srgbClr val="FFFFFF"/>
                </a:highlight>
                <a:latin typeface="Times"/>
                <a:ea typeface="Times"/>
                <a:cs typeface="Times"/>
                <a:sym typeface="Times"/>
              </a:rPr>
              <a:t>is a special method (constructor) in Python classes. It’s automatically called when a new instance (object) of the class is created. Its primary purpose is to initialize the object’s attributes or perform any setup required for the object.</a:t>
            </a:r>
            <a:endParaRPr sz="1800">
              <a:highlight>
                <a:srgbClr val="FFFFFF"/>
              </a:highlight>
              <a:latin typeface="Times"/>
              <a:ea typeface="Times"/>
              <a:cs typeface="Times"/>
              <a:sym typeface="Times"/>
            </a:endParaRPr>
          </a:p>
          <a:p>
            <a:pPr indent="0" lvl="0" marL="0" rtl="0" algn="l">
              <a:lnSpc>
                <a:spcPct val="100000"/>
              </a:lnSpc>
              <a:spcBef>
                <a:spcPts val="1800"/>
              </a:spcBef>
              <a:spcAft>
                <a:spcPts val="0"/>
              </a:spcAft>
              <a:buNone/>
            </a:pPr>
            <a:r>
              <a:rPr i="1" lang="en-US" sz="1800">
                <a:highlight>
                  <a:schemeClr val="lt1"/>
                </a:highlight>
                <a:latin typeface="Times"/>
                <a:ea typeface="Times"/>
                <a:cs typeface="Times"/>
                <a:sym typeface="Times"/>
              </a:rPr>
              <a:t>class Dog:</a:t>
            </a:r>
            <a:endParaRPr i="1" sz="1800">
              <a:highlight>
                <a:schemeClr val="lt1"/>
              </a:highlight>
              <a:latin typeface="Times"/>
              <a:ea typeface="Times"/>
              <a:cs typeface="Times"/>
              <a:sym typeface="Times"/>
            </a:endParaRPr>
          </a:p>
          <a:p>
            <a:pPr indent="0" lvl="0" marL="0" rtl="0" algn="l">
              <a:lnSpc>
                <a:spcPct val="100000"/>
              </a:lnSpc>
              <a:spcBef>
                <a:spcPts val="1800"/>
              </a:spcBef>
              <a:spcAft>
                <a:spcPts val="0"/>
              </a:spcAft>
              <a:buNone/>
            </a:pPr>
            <a:r>
              <a:rPr i="1" lang="en-US" sz="1800">
                <a:highlight>
                  <a:schemeClr val="lt1"/>
                </a:highlight>
                <a:latin typeface="Times"/>
                <a:ea typeface="Times"/>
                <a:cs typeface="Times"/>
                <a:sym typeface="Times"/>
              </a:rPr>
              <a:t> 	attr1 = "mammal" # Class attribute</a:t>
            </a:r>
            <a:endParaRPr i="1" sz="1800">
              <a:highlight>
                <a:schemeClr val="lt1"/>
              </a:highlight>
              <a:latin typeface="Times"/>
              <a:ea typeface="Times"/>
              <a:cs typeface="Times"/>
              <a:sym typeface="Times"/>
            </a:endParaRPr>
          </a:p>
          <a:p>
            <a:pPr indent="457200" lvl="0" marL="0" rtl="0" algn="l">
              <a:lnSpc>
                <a:spcPct val="100000"/>
              </a:lnSpc>
              <a:spcBef>
                <a:spcPts val="1800"/>
              </a:spcBef>
              <a:spcAft>
                <a:spcPts val="0"/>
              </a:spcAft>
              <a:buNone/>
            </a:pPr>
            <a:r>
              <a:rPr i="1" lang="en-US" sz="1800">
                <a:highlight>
                  <a:schemeClr val="lt1"/>
                </a:highlight>
                <a:latin typeface="Times"/>
                <a:ea typeface="Times"/>
                <a:cs typeface="Times"/>
                <a:sym typeface="Times"/>
              </a:rPr>
              <a:t>def __init__(self, name):</a:t>
            </a:r>
            <a:endParaRPr i="1" sz="1800">
              <a:highlight>
                <a:schemeClr val="lt1"/>
              </a:highlight>
              <a:latin typeface="Times"/>
              <a:ea typeface="Times"/>
              <a:cs typeface="Times"/>
              <a:sym typeface="Times"/>
            </a:endParaRPr>
          </a:p>
          <a:p>
            <a:pPr indent="457200" lvl="0" marL="457200" rtl="0" algn="l">
              <a:lnSpc>
                <a:spcPct val="100000"/>
              </a:lnSpc>
              <a:spcBef>
                <a:spcPts val="1800"/>
              </a:spcBef>
              <a:spcAft>
                <a:spcPts val="0"/>
              </a:spcAft>
              <a:buNone/>
            </a:pPr>
            <a:r>
              <a:rPr i="1" lang="en-US" sz="1800">
                <a:highlight>
                  <a:schemeClr val="lt1"/>
                </a:highlight>
                <a:latin typeface="Times"/>
                <a:ea typeface="Times"/>
                <a:cs typeface="Times"/>
                <a:sym typeface="Times"/>
              </a:rPr>
              <a:t>self.name=name # class instance attributes</a:t>
            </a:r>
            <a:endParaRPr i="1" sz="1800">
              <a:highlight>
                <a:schemeClr val="lt1"/>
              </a:highlight>
              <a:latin typeface="Times"/>
              <a:ea typeface="Times"/>
              <a:cs typeface="Times"/>
              <a:sym typeface="Times"/>
            </a:endParaRPr>
          </a:p>
          <a:p>
            <a:pPr indent="457200" lvl="0" marL="0" rtl="0" algn="l">
              <a:lnSpc>
                <a:spcPct val="100000"/>
              </a:lnSpc>
              <a:spcBef>
                <a:spcPts val="1800"/>
              </a:spcBef>
              <a:spcAft>
                <a:spcPts val="0"/>
              </a:spcAft>
              <a:buNone/>
            </a:pPr>
            <a:r>
              <a:rPr i="1" lang="en-US" sz="1800">
                <a:highlight>
                  <a:schemeClr val="lt1"/>
                </a:highlight>
                <a:latin typeface="Times"/>
                <a:ea typeface="Times"/>
                <a:cs typeface="Times"/>
                <a:sym typeface="Times"/>
              </a:rPr>
              <a:t>def speak(self):</a:t>
            </a:r>
            <a:endParaRPr i="1" sz="1800">
              <a:highlight>
                <a:schemeClr val="lt1"/>
              </a:highlight>
              <a:latin typeface="Times"/>
              <a:ea typeface="Times"/>
              <a:cs typeface="Times"/>
              <a:sym typeface="Times"/>
            </a:endParaRPr>
          </a:p>
          <a:p>
            <a:pPr indent="457200" lvl="0" marL="457200" rtl="0" algn="l">
              <a:lnSpc>
                <a:spcPct val="100000"/>
              </a:lnSpc>
              <a:spcBef>
                <a:spcPts val="1800"/>
              </a:spcBef>
              <a:spcAft>
                <a:spcPts val="1800"/>
              </a:spcAft>
              <a:buNone/>
            </a:pPr>
            <a:r>
              <a:rPr i="1" lang="en-US" sz="1800">
                <a:highlight>
                  <a:schemeClr val="lt1"/>
                </a:highlight>
                <a:latin typeface="Times"/>
                <a:ea typeface="Times"/>
                <a:cs typeface="Times"/>
                <a:sym typeface="Times"/>
              </a:rPr>
              <a:t>print(‘f Dog name: {self.name}’)</a:t>
            </a:r>
            <a:endParaRPr i="1" sz="1800">
              <a:highlight>
                <a:schemeClr val="lt1"/>
              </a:highlight>
              <a:latin typeface="Times"/>
              <a:ea typeface="Times"/>
              <a:cs typeface="Times"/>
              <a:sym typeface="Times"/>
            </a:endParaRPr>
          </a:p>
        </p:txBody>
      </p:sp>
      <p:sp>
        <p:nvSpPr>
          <p:cNvPr id="1105" name="Google Shape;1105;p1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0" name="Shape 1110"/>
        <p:cNvGrpSpPr/>
        <p:nvPr/>
      </p:nvGrpSpPr>
      <p:grpSpPr>
        <a:xfrm>
          <a:off x="0" y="0"/>
          <a:ext cx="0" cy="0"/>
          <a:chOff x="0" y="0"/>
          <a:chExt cx="0" cy="0"/>
        </a:xfrm>
      </p:grpSpPr>
      <p:sp>
        <p:nvSpPr>
          <p:cNvPr id="1111" name="Google Shape;1111;p138"/>
          <p:cNvSpPr txBox="1"/>
          <p:nvPr/>
        </p:nvSpPr>
        <p:spPr>
          <a:xfrm>
            <a:off x="573225" y="318525"/>
            <a:ext cx="8107500" cy="4437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2800">
                <a:solidFill>
                  <a:srgbClr val="1C3678"/>
                </a:solidFill>
                <a:latin typeface="Trebuchet MS"/>
                <a:ea typeface="Trebuchet MS"/>
                <a:cs typeface="Trebuchet MS"/>
                <a:sym typeface="Trebuchet MS"/>
              </a:rPr>
              <a:t>self in </a:t>
            </a:r>
            <a:r>
              <a:rPr b="1" lang="en-US" sz="2800">
                <a:solidFill>
                  <a:srgbClr val="1C3678"/>
                </a:solidFill>
                <a:latin typeface="Trebuchet MS"/>
                <a:ea typeface="Trebuchet MS"/>
                <a:cs typeface="Trebuchet MS"/>
                <a:sym typeface="Trebuchet MS"/>
              </a:rPr>
              <a:t>Class Constructor in Python</a:t>
            </a:r>
            <a:endParaRPr b="1" sz="2800">
              <a:solidFill>
                <a:srgbClr val="1C3678"/>
              </a:solidFill>
              <a:latin typeface="Trebuchet MS"/>
              <a:ea typeface="Trebuchet MS"/>
              <a:cs typeface="Trebuchet MS"/>
              <a:sym typeface="Trebuchet MS"/>
            </a:endParaRPr>
          </a:p>
        </p:txBody>
      </p:sp>
      <p:sp>
        <p:nvSpPr>
          <p:cNvPr id="1112" name="Google Shape;1112;p138"/>
          <p:cNvSpPr txBox="1"/>
          <p:nvPr/>
        </p:nvSpPr>
        <p:spPr>
          <a:xfrm>
            <a:off x="688425" y="793125"/>
            <a:ext cx="8107500" cy="2404500"/>
          </a:xfrm>
          <a:prstGeom prst="rect">
            <a:avLst/>
          </a:prstGeom>
          <a:noFill/>
          <a:ln>
            <a:noFill/>
          </a:ln>
        </p:spPr>
        <p:txBody>
          <a:bodyPr anchorCtr="0" anchor="t" bIns="0" lIns="0" spcFirstLastPara="1" rIns="0" wrap="square" tIns="125075">
            <a:spAutoFit/>
          </a:bodyPr>
          <a:lstStyle/>
          <a:p>
            <a:pPr indent="-368300" lvl="0" marL="457200" rtl="0" algn="just">
              <a:lnSpc>
                <a:spcPct val="100000"/>
              </a:lnSpc>
              <a:spcBef>
                <a:spcPts val="0"/>
              </a:spcBef>
              <a:spcAft>
                <a:spcPts val="0"/>
              </a:spcAft>
              <a:buSzPts val="2200"/>
              <a:buFont typeface="Times"/>
              <a:buChar char="●"/>
            </a:pPr>
            <a:r>
              <a:rPr lang="en-US" sz="1800">
                <a:highlight>
                  <a:srgbClr val="FFFFFF"/>
                </a:highlight>
                <a:latin typeface="Times"/>
                <a:ea typeface="Times"/>
                <a:cs typeface="Times"/>
                <a:sym typeface="Times"/>
              </a:rPr>
              <a:t>The </a:t>
            </a:r>
            <a:r>
              <a:rPr lang="en-US" sz="1800">
                <a:highlight>
                  <a:srgbClr val="FFFFFF"/>
                </a:highlight>
                <a:uFill>
                  <a:noFill/>
                </a:uFill>
                <a:latin typeface="Times"/>
                <a:ea typeface="Times"/>
                <a:cs typeface="Times"/>
                <a:sym typeface="Times"/>
                <a:hlinkClick r:id="rId3"/>
              </a:rPr>
              <a:t>__init__ method</a:t>
            </a:r>
            <a:r>
              <a:rPr lang="en-US" sz="1800">
                <a:highlight>
                  <a:srgbClr val="FFFFFF"/>
                </a:highlight>
                <a:latin typeface="Times"/>
                <a:ea typeface="Times"/>
                <a:cs typeface="Times"/>
                <a:sym typeface="Times"/>
              </a:rPr>
              <a:t> is similar to constructors in C++ and Java. It is run as soon as an object of a class is instantiated. The method is useful to do any initialization you want to do with your object.</a:t>
            </a:r>
            <a:endParaRPr sz="1800">
              <a:highlight>
                <a:srgbClr val="FFFFFF"/>
              </a:highlight>
              <a:latin typeface="Times"/>
              <a:ea typeface="Times"/>
              <a:cs typeface="Times"/>
              <a:sym typeface="Times"/>
            </a:endParaRPr>
          </a:p>
          <a:p>
            <a:pPr indent="-342900" lvl="0" marL="457200" rtl="0" algn="just">
              <a:lnSpc>
                <a:spcPct val="100000"/>
              </a:lnSpc>
              <a:spcBef>
                <a:spcPts val="0"/>
              </a:spcBef>
              <a:spcAft>
                <a:spcPts val="0"/>
              </a:spcAft>
              <a:buSzPts val="1800"/>
              <a:buChar char="●"/>
            </a:pPr>
            <a:r>
              <a:rPr b="1" lang="en-US" sz="1800">
                <a:highlight>
                  <a:srgbClr val="FFFFFF"/>
                </a:highlight>
                <a:latin typeface="Times"/>
                <a:ea typeface="Times"/>
                <a:cs typeface="Times"/>
                <a:sym typeface="Times"/>
              </a:rPr>
              <a:t>'self'</a:t>
            </a:r>
            <a:r>
              <a:rPr lang="en-US" sz="1800">
                <a:highlight>
                  <a:srgbClr val="FFFFFF"/>
                </a:highlight>
                <a:latin typeface="Times"/>
                <a:ea typeface="Times"/>
                <a:cs typeface="Times"/>
                <a:sym typeface="Times"/>
              </a:rPr>
              <a:t> is a convention in Python used to refer to the instance of a </a:t>
            </a:r>
            <a:r>
              <a:rPr b="1" lang="en-US" sz="1800">
                <a:highlight>
                  <a:srgbClr val="FFFFFF"/>
                </a:highlight>
                <a:latin typeface="Times"/>
                <a:ea typeface="Times"/>
                <a:cs typeface="Times"/>
                <a:sym typeface="Times"/>
              </a:rPr>
              <a:t>class (object)</a:t>
            </a:r>
            <a:r>
              <a:rPr lang="en-US" sz="1800">
                <a:highlight>
                  <a:srgbClr val="FFFFFF"/>
                </a:highlight>
                <a:latin typeface="Times"/>
                <a:ea typeface="Times"/>
                <a:cs typeface="Times"/>
                <a:sym typeface="Times"/>
              </a:rPr>
              <a:t> itself. It’s the first parameter of instance methods and refers to the object calling the method. </a:t>
            </a:r>
            <a:endParaRPr sz="1800">
              <a:highlight>
                <a:srgbClr val="FFFFFF"/>
              </a:highlight>
              <a:latin typeface="Times"/>
              <a:ea typeface="Times"/>
              <a:cs typeface="Times"/>
              <a:sym typeface="Times"/>
            </a:endParaRPr>
          </a:p>
          <a:p>
            <a:pPr indent="-342900" lvl="0" marL="457200" rtl="0" algn="just">
              <a:lnSpc>
                <a:spcPct val="100000"/>
              </a:lnSpc>
              <a:spcBef>
                <a:spcPts val="0"/>
              </a:spcBef>
              <a:spcAft>
                <a:spcPts val="0"/>
              </a:spcAft>
              <a:buSzPts val="1800"/>
              <a:buFont typeface="Times"/>
              <a:buChar char="●"/>
            </a:pPr>
            <a:r>
              <a:rPr lang="en-US" sz="1800">
                <a:highlight>
                  <a:srgbClr val="FFFFFF"/>
                </a:highlight>
                <a:latin typeface="Times"/>
                <a:ea typeface="Times"/>
                <a:cs typeface="Times"/>
                <a:sym typeface="Times"/>
              </a:rPr>
              <a:t>It allows methods to access and manipulate attributes (variables) that belong to the instance.</a:t>
            </a:r>
            <a:endParaRPr sz="1800">
              <a:highlight>
                <a:srgbClr val="FFFFFF"/>
              </a:highlight>
              <a:latin typeface="Times"/>
              <a:ea typeface="Times"/>
              <a:cs typeface="Times"/>
              <a:sym typeface="Times"/>
            </a:endParaRPr>
          </a:p>
        </p:txBody>
      </p:sp>
      <p:sp>
        <p:nvSpPr>
          <p:cNvPr id="1113" name="Google Shape;1113;p1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8" name="Shape 1118"/>
        <p:cNvGrpSpPr/>
        <p:nvPr/>
      </p:nvGrpSpPr>
      <p:grpSpPr>
        <a:xfrm>
          <a:off x="0" y="0"/>
          <a:ext cx="0" cy="0"/>
          <a:chOff x="0" y="0"/>
          <a:chExt cx="0" cy="0"/>
        </a:xfrm>
      </p:grpSpPr>
      <p:sp>
        <p:nvSpPr>
          <p:cNvPr id="1119" name="Google Shape;1119;p139"/>
          <p:cNvSpPr txBox="1"/>
          <p:nvPr/>
        </p:nvSpPr>
        <p:spPr>
          <a:xfrm>
            <a:off x="573225" y="318525"/>
            <a:ext cx="8107500" cy="4437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2800">
                <a:solidFill>
                  <a:srgbClr val="1C3678"/>
                </a:solidFill>
                <a:latin typeface="Trebuchet MS"/>
                <a:ea typeface="Trebuchet MS"/>
                <a:cs typeface="Trebuchet MS"/>
                <a:sym typeface="Trebuchet MS"/>
              </a:rPr>
              <a:t>Making an Instance from a Class</a:t>
            </a:r>
            <a:endParaRPr b="1" sz="2800">
              <a:solidFill>
                <a:srgbClr val="1C3678"/>
              </a:solidFill>
              <a:latin typeface="Trebuchet MS"/>
              <a:ea typeface="Trebuchet MS"/>
              <a:cs typeface="Trebuchet MS"/>
              <a:sym typeface="Trebuchet MS"/>
            </a:endParaRPr>
          </a:p>
        </p:txBody>
      </p:sp>
      <p:sp>
        <p:nvSpPr>
          <p:cNvPr id="1120" name="Google Shape;1120;p139"/>
          <p:cNvSpPr txBox="1"/>
          <p:nvPr/>
        </p:nvSpPr>
        <p:spPr>
          <a:xfrm>
            <a:off x="688425" y="793125"/>
            <a:ext cx="8107500" cy="3728100"/>
          </a:xfrm>
          <a:prstGeom prst="rect">
            <a:avLst/>
          </a:prstGeom>
          <a:noFill/>
          <a:ln>
            <a:noFill/>
          </a:ln>
        </p:spPr>
        <p:txBody>
          <a:bodyPr anchorCtr="0" anchor="t" bIns="0" lIns="0" spcFirstLastPara="1" rIns="0" wrap="square" tIns="125075">
            <a:spAutoFit/>
          </a:bodyPr>
          <a:lstStyle/>
          <a:p>
            <a:pPr indent="0" lvl="0" marL="0" rtl="0" algn="just">
              <a:spcBef>
                <a:spcPts val="0"/>
              </a:spcBef>
              <a:spcAft>
                <a:spcPts val="0"/>
              </a:spcAft>
              <a:buNone/>
            </a:pPr>
            <a:r>
              <a:rPr i="1" lang="en-US" sz="1600">
                <a:highlight>
                  <a:srgbClr val="FFFFFF"/>
                </a:highlight>
                <a:latin typeface="Times"/>
                <a:ea typeface="Times"/>
                <a:cs typeface="Times"/>
                <a:sym typeface="Times"/>
              </a:rPr>
              <a:t>class Employee:</a:t>
            </a:r>
            <a:endParaRPr i="1" sz="1600">
              <a:highlight>
                <a:srgbClr val="FFFFFF"/>
              </a:highlight>
              <a:latin typeface="Times"/>
              <a:ea typeface="Times"/>
              <a:cs typeface="Times"/>
              <a:sym typeface="Times"/>
            </a:endParaRPr>
          </a:p>
          <a:p>
            <a:pPr indent="0" lvl="0" marL="0" rtl="0" algn="just">
              <a:spcBef>
                <a:spcPts val="1800"/>
              </a:spcBef>
              <a:spcAft>
                <a:spcPts val="0"/>
              </a:spcAft>
              <a:buNone/>
            </a:pPr>
            <a:r>
              <a:rPr i="1" lang="en-US" sz="1600">
                <a:highlight>
                  <a:srgbClr val="FFFFFF"/>
                </a:highlight>
                <a:latin typeface="Times"/>
                <a:ea typeface="Times"/>
                <a:cs typeface="Times"/>
                <a:sym typeface="Times"/>
              </a:rPr>
              <a:t>    def __init__(self, name, salary):</a:t>
            </a:r>
            <a:endParaRPr i="1" sz="1600">
              <a:highlight>
                <a:srgbClr val="FFFFFF"/>
              </a:highlight>
              <a:latin typeface="Times"/>
              <a:ea typeface="Times"/>
              <a:cs typeface="Times"/>
              <a:sym typeface="Times"/>
            </a:endParaRPr>
          </a:p>
          <a:p>
            <a:pPr indent="0" lvl="0" marL="0" rtl="0" algn="just">
              <a:spcBef>
                <a:spcPts val="1800"/>
              </a:spcBef>
              <a:spcAft>
                <a:spcPts val="0"/>
              </a:spcAft>
              <a:buNone/>
            </a:pPr>
            <a:r>
              <a:rPr i="1" lang="en-US" sz="1600">
                <a:highlight>
                  <a:srgbClr val="FFFFFF"/>
                </a:highlight>
                <a:latin typeface="Times"/>
                <a:ea typeface="Times"/>
                <a:cs typeface="Times"/>
                <a:sym typeface="Times"/>
              </a:rPr>
              <a:t>        self.name = name</a:t>
            </a:r>
            <a:endParaRPr i="1" sz="1600">
              <a:highlight>
                <a:srgbClr val="FFFFFF"/>
              </a:highlight>
              <a:latin typeface="Times"/>
              <a:ea typeface="Times"/>
              <a:cs typeface="Times"/>
              <a:sym typeface="Times"/>
            </a:endParaRPr>
          </a:p>
          <a:p>
            <a:pPr indent="0" lvl="0" marL="0" rtl="0" algn="just">
              <a:spcBef>
                <a:spcPts val="1800"/>
              </a:spcBef>
              <a:spcAft>
                <a:spcPts val="0"/>
              </a:spcAft>
              <a:buNone/>
            </a:pPr>
            <a:r>
              <a:rPr i="1" lang="en-US" sz="1600">
                <a:highlight>
                  <a:srgbClr val="FFFFFF"/>
                </a:highlight>
                <a:latin typeface="Times"/>
                <a:ea typeface="Times"/>
                <a:cs typeface="Times"/>
                <a:sym typeface="Times"/>
              </a:rPr>
              <a:t>        self.salary = salary</a:t>
            </a:r>
            <a:endParaRPr i="1" sz="1600">
              <a:highlight>
                <a:srgbClr val="FFFFFF"/>
              </a:highlight>
              <a:latin typeface="Times"/>
              <a:ea typeface="Times"/>
              <a:cs typeface="Times"/>
              <a:sym typeface="Times"/>
            </a:endParaRPr>
          </a:p>
          <a:p>
            <a:pPr indent="0" lvl="0" marL="0" rtl="0" algn="just">
              <a:spcBef>
                <a:spcPts val="1800"/>
              </a:spcBef>
              <a:spcAft>
                <a:spcPts val="0"/>
              </a:spcAft>
              <a:buNone/>
            </a:pPr>
            <a:r>
              <a:rPr i="1" lang="en-US" sz="1600">
                <a:highlight>
                  <a:srgbClr val="FFFFFF"/>
                </a:highlight>
                <a:latin typeface="Times"/>
                <a:ea typeface="Times"/>
                <a:cs typeface="Times"/>
                <a:sym typeface="Times"/>
              </a:rPr>
              <a:t>emp1 = Employee("John Doe", 5000)</a:t>
            </a:r>
            <a:endParaRPr i="1" sz="1600">
              <a:highlight>
                <a:srgbClr val="FFFFFF"/>
              </a:highlight>
              <a:latin typeface="Times"/>
              <a:ea typeface="Times"/>
              <a:cs typeface="Times"/>
              <a:sym typeface="Times"/>
            </a:endParaRPr>
          </a:p>
          <a:p>
            <a:pPr indent="0" lvl="0" marL="0" rtl="0" algn="just">
              <a:spcBef>
                <a:spcPts val="1800"/>
              </a:spcBef>
              <a:spcAft>
                <a:spcPts val="0"/>
              </a:spcAft>
              <a:buNone/>
            </a:pPr>
            <a:r>
              <a:rPr i="1" lang="en-US" sz="1600">
                <a:highlight>
                  <a:srgbClr val="FFFFFF"/>
                </a:highlight>
                <a:latin typeface="Times"/>
                <a:ea typeface="Times"/>
                <a:cs typeface="Times"/>
                <a:sym typeface="Times"/>
              </a:rPr>
              <a:t>emp2 = Employee("Jane Smith", 6000)</a:t>
            </a:r>
            <a:endParaRPr i="1" sz="1600">
              <a:highlight>
                <a:srgbClr val="FFFFFF"/>
              </a:highlight>
              <a:latin typeface="Times"/>
              <a:ea typeface="Times"/>
              <a:cs typeface="Times"/>
              <a:sym typeface="Times"/>
            </a:endParaRPr>
          </a:p>
          <a:p>
            <a:pPr indent="-330200" lvl="0" marL="457200" rtl="0" algn="just">
              <a:lnSpc>
                <a:spcPct val="100000"/>
              </a:lnSpc>
              <a:spcBef>
                <a:spcPts val="1800"/>
              </a:spcBef>
              <a:spcAft>
                <a:spcPts val="0"/>
              </a:spcAft>
              <a:buSzPts val="1600"/>
              <a:buChar char="●"/>
            </a:pPr>
            <a:r>
              <a:rPr b="1" lang="en-US" sz="1600">
                <a:highlight>
                  <a:srgbClr val="FFFFFF"/>
                </a:highlight>
                <a:latin typeface="Times"/>
                <a:ea typeface="Times"/>
                <a:cs typeface="Times"/>
                <a:sym typeface="Times"/>
              </a:rPr>
              <a:t>Employee</a:t>
            </a:r>
            <a:r>
              <a:rPr lang="en-US" sz="1600">
                <a:highlight>
                  <a:srgbClr val="FFFFFF"/>
                </a:highlight>
                <a:latin typeface="Times"/>
                <a:ea typeface="Times"/>
                <a:cs typeface="Times"/>
                <a:sym typeface="Times"/>
              </a:rPr>
              <a:t> is a class with a constructor method </a:t>
            </a:r>
            <a:r>
              <a:rPr b="1" lang="en-US" sz="1600">
                <a:highlight>
                  <a:srgbClr val="FFFFFF"/>
                </a:highlight>
                <a:latin typeface="Times"/>
                <a:ea typeface="Times"/>
                <a:cs typeface="Times"/>
                <a:sym typeface="Times"/>
              </a:rPr>
              <a:t>__init__</a:t>
            </a:r>
            <a:r>
              <a:rPr lang="en-US" sz="1600">
                <a:highlight>
                  <a:srgbClr val="FFFFFF"/>
                </a:highlight>
                <a:latin typeface="Times"/>
                <a:ea typeface="Times"/>
                <a:cs typeface="Times"/>
                <a:sym typeface="Times"/>
              </a:rPr>
              <a:t> that takes two arguments </a:t>
            </a:r>
            <a:r>
              <a:rPr b="1" lang="en-US" sz="1600">
                <a:highlight>
                  <a:srgbClr val="FFFFFF"/>
                </a:highlight>
                <a:latin typeface="Times"/>
                <a:ea typeface="Times"/>
                <a:cs typeface="Times"/>
                <a:sym typeface="Times"/>
              </a:rPr>
              <a:t>name</a:t>
            </a:r>
            <a:r>
              <a:rPr lang="en-US" sz="1600">
                <a:highlight>
                  <a:srgbClr val="FFFFFF"/>
                </a:highlight>
                <a:latin typeface="Times"/>
                <a:ea typeface="Times"/>
                <a:cs typeface="Times"/>
                <a:sym typeface="Times"/>
              </a:rPr>
              <a:t> and </a:t>
            </a:r>
            <a:r>
              <a:rPr b="1" lang="en-US" sz="1600">
                <a:highlight>
                  <a:srgbClr val="FFFFFF"/>
                </a:highlight>
                <a:latin typeface="Times"/>
                <a:ea typeface="Times"/>
                <a:cs typeface="Times"/>
                <a:sym typeface="Times"/>
              </a:rPr>
              <a:t>salary</a:t>
            </a:r>
            <a:r>
              <a:rPr lang="en-US" sz="1600">
                <a:highlight>
                  <a:srgbClr val="FFFFFF"/>
                </a:highlight>
                <a:latin typeface="Times"/>
                <a:ea typeface="Times"/>
                <a:cs typeface="Times"/>
                <a:sym typeface="Times"/>
              </a:rPr>
              <a:t>. Two instances, </a:t>
            </a:r>
            <a:r>
              <a:rPr b="1" lang="en-US" sz="1600">
                <a:highlight>
                  <a:srgbClr val="FFFFFF"/>
                </a:highlight>
                <a:latin typeface="Times"/>
                <a:ea typeface="Times"/>
                <a:cs typeface="Times"/>
                <a:sym typeface="Times"/>
              </a:rPr>
              <a:t>emp1</a:t>
            </a:r>
            <a:r>
              <a:rPr lang="en-US" sz="1600">
                <a:highlight>
                  <a:srgbClr val="FFFFFF"/>
                </a:highlight>
                <a:latin typeface="Times"/>
                <a:ea typeface="Times"/>
                <a:cs typeface="Times"/>
                <a:sym typeface="Times"/>
              </a:rPr>
              <a:t> and </a:t>
            </a:r>
            <a:r>
              <a:rPr b="1" lang="en-US" sz="1600">
                <a:highlight>
                  <a:srgbClr val="FFFFFF"/>
                </a:highlight>
                <a:latin typeface="Times"/>
                <a:ea typeface="Times"/>
                <a:cs typeface="Times"/>
                <a:sym typeface="Times"/>
              </a:rPr>
              <a:t>emp2</a:t>
            </a:r>
            <a:r>
              <a:rPr lang="en-US" sz="1600">
                <a:highlight>
                  <a:srgbClr val="FFFFFF"/>
                </a:highlight>
                <a:latin typeface="Times"/>
                <a:ea typeface="Times"/>
                <a:cs typeface="Times"/>
                <a:sym typeface="Times"/>
              </a:rPr>
              <a:t>, are created by calling the constructor method with different arguments.</a:t>
            </a:r>
            <a:endParaRPr sz="1600">
              <a:highlight>
                <a:srgbClr val="FFFFFF"/>
              </a:highlight>
              <a:latin typeface="Times"/>
              <a:ea typeface="Times"/>
              <a:cs typeface="Times"/>
              <a:sym typeface="Times"/>
            </a:endParaRPr>
          </a:p>
        </p:txBody>
      </p:sp>
      <p:sp>
        <p:nvSpPr>
          <p:cNvPr id="1121" name="Google Shape;1121;p1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6" name="Shape 1126"/>
        <p:cNvGrpSpPr/>
        <p:nvPr/>
      </p:nvGrpSpPr>
      <p:grpSpPr>
        <a:xfrm>
          <a:off x="0" y="0"/>
          <a:ext cx="0" cy="0"/>
          <a:chOff x="0" y="0"/>
          <a:chExt cx="0" cy="0"/>
        </a:xfrm>
      </p:grpSpPr>
      <p:sp>
        <p:nvSpPr>
          <p:cNvPr id="1127" name="Google Shape;1127;p140"/>
          <p:cNvSpPr txBox="1"/>
          <p:nvPr/>
        </p:nvSpPr>
        <p:spPr>
          <a:xfrm>
            <a:off x="573225" y="318525"/>
            <a:ext cx="8107500" cy="4437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2800">
                <a:solidFill>
                  <a:srgbClr val="1C3678"/>
                </a:solidFill>
                <a:latin typeface="Trebuchet MS"/>
                <a:ea typeface="Trebuchet MS"/>
                <a:cs typeface="Trebuchet MS"/>
                <a:sym typeface="Trebuchet MS"/>
              </a:rPr>
              <a:t>Setting a D</a:t>
            </a:r>
            <a:r>
              <a:rPr b="1" lang="en-US" sz="2800">
                <a:solidFill>
                  <a:srgbClr val="1C3678"/>
                </a:solidFill>
                <a:latin typeface="Trebuchet MS"/>
                <a:ea typeface="Trebuchet MS"/>
                <a:cs typeface="Trebuchet MS"/>
                <a:sym typeface="Trebuchet MS"/>
              </a:rPr>
              <a:t>efault</a:t>
            </a:r>
            <a:r>
              <a:rPr b="1" lang="en-US" sz="2800">
                <a:solidFill>
                  <a:srgbClr val="1C3678"/>
                </a:solidFill>
                <a:latin typeface="Trebuchet MS"/>
                <a:ea typeface="Trebuchet MS"/>
                <a:cs typeface="Trebuchet MS"/>
                <a:sym typeface="Trebuchet MS"/>
              </a:rPr>
              <a:t> Attributes Values </a:t>
            </a:r>
            <a:endParaRPr b="1" sz="2800">
              <a:solidFill>
                <a:srgbClr val="1C3678"/>
              </a:solidFill>
              <a:latin typeface="Trebuchet MS"/>
              <a:ea typeface="Trebuchet MS"/>
              <a:cs typeface="Trebuchet MS"/>
              <a:sym typeface="Trebuchet MS"/>
            </a:endParaRPr>
          </a:p>
        </p:txBody>
      </p:sp>
      <p:sp>
        <p:nvSpPr>
          <p:cNvPr id="1128" name="Google Shape;1128;p140"/>
          <p:cNvSpPr txBox="1"/>
          <p:nvPr/>
        </p:nvSpPr>
        <p:spPr>
          <a:xfrm>
            <a:off x="688425" y="793125"/>
            <a:ext cx="8107500" cy="2222700"/>
          </a:xfrm>
          <a:prstGeom prst="rect">
            <a:avLst/>
          </a:prstGeom>
          <a:noFill/>
          <a:ln>
            <a:noFill/>
          </a:ln>
        </p:spPr>
        <p:txBody>
          <a:bodyPr anchorCtr="0" anchor="t" bIns="0" lIns="0" spcFirstLastPara="1" rIns="0" wrap="square" tIns="125075">
            <a:spAutoFit/>
          </a:bodyPr>
          <a:lstStyle/>
          <a:p>
            <a:pPr indent="-342900" lvl="0" marL="457200" rtl="0" algn="just">
              <a:spcBef>
                <a:spcPts val="0"/>
              </a:spcBef>
              <a:spcAft>
                <a:spcPts val="0"/>
              </a:spcAft>
              <a:buSzPts val="1800"/>
              <a:buFont typeface="Times"/>
              <a:buChar char="●"/>
            </a:pPr>
            <a:r>
              <a:rPr lang="en-US" sz="1800">
                <a:highlight>
                  <a:srgbClr val="FFFFFF"/>
                </a:highlight>
                <a:latin typeface="Times"/>
                <a:ea typeface="Times"/>
                <a:cs typeface="Times"/>
                <a:sym typeface="Times"/>
              </a:rPr>
              <a:t>It is possible to set a default value for an attribute when defining a class.</a:t>
            </a:r>
            <a:endParaRPr sz="1800">
              <a:highlight>
                <a:srgbClr val="FFFFFF"/>
              </a:highlight>
              <a:latin typeface="Times"/>
              <a:ea typeface="Times"/>
              <a:cs typeface="Times"/>
              <a:sym typeface="Times"/>
            </a:endParaRPr>
          </a:p>
          <a:p>
            <a:pPr indent="-330200" lvl="0" marL="457200" rtl="0" algn="just">
              <a:lnSpc>
                <a:spcPct val="115000"/>
              </a:lnSpc>
              <a:spcBef>
                <a:spcPts val="0"/>
              </a:spcBef>
              <a:spcAft>
                <a:spcPts val="0"/>
              </a:spcAft>
              <a:buSzPts val="1600"/>
              <a:buFont typeface="Times"/>
              <a:buChar char="●"/>
            </a:pPr>
            <a:r>
              <a:rPr lang="en-US" sz="1600">
                <a:highlight>
                  <a:srgbClr val="FFFFFF"/>
                </a:highlight>
                <a:latin typeface="Times"/>
                <a:ea typeface="Times"/>
                <a:cs typeface="Times"/>
                <a:sym typeface="Times"/>
              </a:rPr>
              <a:t>Below we have a class Concert, where the attribute tickets_remaining of each instance always starts at 5000 when the particular concert is announced.</a:t>
            </a:r>
            <a:endParaRPr sz="1600">
              <a:highlight>
                <a:srgbClr val="FFFFFF"/>
              </a:highlight>
              <a:latin typeface="Times"/>
              <a:ea typeface="Times"/>
              <a:cs typeface="Times"/>
              <a:sym typeface="Times"/>
            </a:endParaRPr>
          </a:p>
          <a:p>
            <a:pPr indent="-330200" lvl="0" marL="457200" rtl="0" algn="just">
              <a:lnSpc>
                <a:spcPct val="115000"/>
              </a:lnSpc>
              <a:spcBef>
                <a:spcPts val="0"/>
              </a:spcBef>
              <a:spcAft>
                <a:spcPts val="0"/>
              </a:spcAft>
              <a:buSzPts val="1600"/>
              <a:buFont typeface="Times"/>
              <a:buChar char="●"/>
            </a:pPr>
            <a:r>
              <a:rPr lang="en-US" sz="1600">
                <a:highlight>
                  <a:srgbClr val="FFFFFF"/>
                </a:highlight>
                <a:latin typeface="Times"/>
                <a:ea typeface="Times"/>
                <a:cs typeface="Times"/>
                <a:sym typeface="Times"/>
              </a:rPr>
              <a:t>To define the class Concert with default value of attribute tickets_remaining of 5000.</a:t>
            </a:r>
            <a:endParaRPr sz="1600">
              <a:highlight>
                <a:srgbClr val="FFFFFF"/>
              </a:highlight>
              <a:latin typeface="Times"/>
              <a:ea typeface="Times"/>
              <a:cs typeface="Times"/>
              <a:sym typeface="Times"/>
            </a:endParaRPr>
          </a:p>
          <a:p>
            <a:pPr indent="-330200" lvl="0" marL="457200" rtl="0" algn="just">
              <a:lnSpc>
                <a:spcPct val="100000"/>
              </a:lnSpc>
              <a:spcBef>
                <a:spcPts val="0"/>
              </a:spcBef>
              <a:spcAft>
                <a:spcPts val="0"/>
              </a:spcAft>
              <a:buSzPts val="1600"/>
              <a:buFont typeface="Times"/>
              <a:buChar char="●"/>
            </a:pPr>
            <a:r>
              <a:rPr lang="en-US" sz="1600">
                <a:highlight>
                  <a:srgbClr val="FFFFFF"/>
                </a:highlight>
                <a:latin typeface="Times"/>
                <a:ea typeface="Times"/>
                <a:cs typeface="Times"/>
                <a:sym typeface="Times"/>
              </a:rPr>
              <a:t>we do not have to provide a value for tickets_remaining when instantiating the object.</a:t>
            </a:r>
            <a:endParaRPr sz="1600">
              <a:highlight>
                <a:srgbClr val="FFFFFF"/>
              </a:highlight>
              <a:latin typeface="Times"/>
              <a:ea typeface="Times"/>
              <a:cs typeface="Times"/>
              <a:sym typeface="Times"/>
            </a:endParaRPr>
          </a:p>
          <a:p>
            <a:pPr indent="0" lvl="0" marL="457200" rtl="0" algn="just">
              <a:spcBef>
                <a:spcPts val="0"/>
              </a:spcBef>
              <a:spcAft>
                <a:spcPts val="0"/>
              </a:spcAft>
              <a:buNone/>
            </a:pPr>
            <a:r>
              <a:t/>
            </a:r>
            <a:endParaRPr i="1" sz="1600">
              <a:highlight>
                <a:srgbClr val="FFFFFF"/>
              </a:highlight>
              <a:latin typeface="Times"/>
              <a:ea typeface="Times"/>
              <a:cs typeface="Times"/>
              <a:sym typeface="Times"/>
            </a:endParaRPr>
          </a:p>
          <a:p>
            <a:pPr indent="0" lvl="0" marL="0" rtl="0" algn="just">
              <a:lnSpc>
                <a:spcPct val="100000"/>
              </a:lnSpc>
              <a:spcBef>
                <a:spcPts val="1800"/>
              </a:spcBef>
              <a:spcAft>
                <a:spcPts val="1800"/>
              </a:spcAft>
              <a:buNone/>
            </a:pPr>
            <a:r>
              <a:t/>
            </a:r>
            <a:endParaRPr b="1" sz="1600">
              <a:highlight>
                <a:srgbClr val="FFFFFF"/>
              </a:highlight>
              <a:latin typeface="Times"/>
              <a:ea typeface="Times"/>
              <a:cs typeface="Times"/>
              <a:sym typeface="Times"/>
            </a:endParaRPr>
          </a:p>
        </p:txBody>
      </p:sp>
      <p:sp>
        <p:nvSpPr>
          <p:cNvPr id="1129" name="Google Shape;1129;p1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1130" name="Google Shape;1130;p140"/>
          <p:cNvPicPr preferRelativeResize="0"/>
          <p:nvPr/>
        </p:nvPicPr>
        <p:blipFill>
          <a:blip r:embed="rId3">
            <a:alphaModFix/>
          </a:blip>
          <a:stretch>
            <a:fillRect/>
          </a:stretch>
        </p:blipFill>
        <p:spPr>
          <a:xfrm>
            <a:off x="1875838" y="2372750"/>
            <a:ext cx="5572125" cy="255270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5" name="Shape 1135"/>
        <p:cNvGrpSpPr/>
        <p:nvPr/>
      </p:nvGrpSpPr>
      <p:grpSpPr>
        <a:xfrm>
          <a:off x="0" y="0"/>
          <a:ext cx="0" cy="0"/>
          <a:chOff x="0" y="0"/>
          <a:chExt cx="0" cy="0"/>
        </a:xfrm>
      </p:grpSpPr>
      <p:sp>
        <p:nvSpPr>
          <p:cNvPr id="1136" name="Google Shape;1136;p141"/>
          <p:cNvSpPr txBox="1"/>
          <p:nvPr/>
        </p:nvSpPr>
        <p:spPr>
          <a:xfrm>
            <a:off x="573225" y="318525"/>
            <a:ext cx="8107500" cy="4437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2800">
                <a:solidFill>
                  <a:srgbClr val="1C3678"/>
                </a:solidFill>
                <a:latin typeface="Trebuchet MS"/>
                <a:ea typeface="Trebuchet MS"/>
                <a:cs typeface="Trebuchet MS"/>
                <a:sym typeface="Trebuchet MS"/>
              </a:rPr>
              <a:t>Changing</a:t>
            </a:r>
            <a:r>
              <a:rPr b="1" lang="en-US" sz="2800">
                <a:solidFill>
                  <a:srgbClr val="1C3678"/>
                </a:solidFill>
                <a:latin typeface="Trebuchet MS"/>
                <a:ea typeface="Trebuchet MS"/>
                <a:cs typeface="Trebuchet MS"/>
                <a:sym typeface="Trebuchet MS"/>
              </a:rPr>
              <a:t> a Default Attributes Values </a:t>
            </a:r>
            <a:endParaRPr b="1" sz="2800">
              <a:solidFill>
                <a:srgbClr val="1C3678"/>
              </a:solidFill>
              <a:latin typeface="Trebuchet MS"/>
              <a:ea typeface="Trebuchet MS"/>
              <a:cs typeface="Trebuchet MS"/>
              <a:sym typeface="Trebuchet MS"/>
            </a:endParaRPr>
          </a:p>
        </p:txBody>
      </p:sp>
      <p:sp>
        <p:nvSpPr>
          <p:cNvPr id="1137" name="Google Shape;1137;p141"/>
          <p:cNvSpPr txBox="1"/>
          <p:nvPr/>
        </p:nvSpPr>
        <p:spPr>
          <a:xfrm>
            <a:off x="688425" y="793125"/>
            <a:ext cx="8107500" cy="1693200"/>
          </a:xfrm>
          <a:prstGeom prst="rect">
            <a:avLst/>
          </a:prstGeom>
          <a:noFill/>
          <a:ln>
            <a:noFill/>
          </a:ln>
        </p:spPr>
        <p:txBody>
          <a:bodyPr anchorCtr="0" anchor="t" bIns="0" lIns="0" spcFirstLastPara="1" rIns="0" wrap="square" tIns="125075">
            <a:spAutoFit/>
          </a:bodyPr>
          <a:lstStyle/>
          <a:p>
            <a:pPr indent="-342900" lvl="0" marL="457200" rtl="0" algn="just">
              <a:spcBef>
                <a:spcPts val="0"/>
              </a:spcBef>
              <a:spcAft>
                <a:spcPts val="0"/>
              </a:spcAft>
              <a:buSzPts val="1800"/>
              <a:buFont typeface="Times"/>
              <a:buChar char="●"/>
            </a:pPr>
            <a:r>
              <a:rPr lang="en-US" sz="1800">
                <a:highlight>
                  <a:srgbClr val="FFFFFF"/>
                </a:highlight>
                <a:latin typeface="Times"/>
                <a:ea typeface="Times"/>
                <a:cs typeface="Times"/>
                <a:sym typeface="Times"/>
              </a:rPr>
              <a:t>It is possible to change default value for an attribute.</a:t>
            </a:r>
            <a:endParaRPr sz="1800">
              <a:highlight>
                <a:srgbClr val="FFFFFF"/>
              </a:highlight>
              <a:latin typeface="Times"/>
              <a:ea typeface="Times"/>
              <a:cs typeface="Times"/>
              <a:sym typeface="Times"/>
            </a:endParaRPr>
          </a:p>
          <a:p>
            <a:pPr indent="-330200" lvl="0" marL="457200" rtl="0" algn="just">
              <a:lnSpc>
                <a:spcPct val="115000"/>
              </a:lnSpc>
              <a:spcBef>
                <a:spcPts val="0"/>
              </a:spcBef>
              <a:spcAft>
                <a:spcPts val="0"/>
              </a:spcAft>
              <a:buSzPts val="1600"/>
              <a:buFont typeface="Times"/>
              <a:buChar char="●"/>
            </a:pPr>
            <a:r>
              <a:rPr lang="en-US" sz="1600">
                <a:highlight>
                  <a:srgbClr val="FFFFFF"/>
                </a:highlight>
                <a:latin typeface="Times"/>
                <a:ea typeface="Times"/>
                <a:cs typeface="Times"/>
                <a:sym typeface="Times"/>
              </a:rPr>
              <a:t>Changing the </a:t>
            </a:r>
            <a:r>
              <a:rPr lang="en-US" sz="1600">
                <a:highlight>
                  <a:srgbClr val="FFFFFF"/>
                </a:highlight>
                <a:latin typeface="Times"/>
                <a:ea typeface="Times"/>
                <a:cs typeface="Times"/>
                <a:sym typeface="Times"/>
              </a:rPr>
              <a:t> default value of attribute tickets_remaining of 5000, and change the value to 2000.</a:t>
            </a:r>
            <a:endParaRPr sz="1600">
              <a:highlight>
                <a:srgbClr val="FFFFFF"/>
              </a:highlight>
              <a:latin typeface="Times"/>
              <a:ea typeface="Times"/>
              <a:cs typeface="Times"/>
              <a:sym typeface="Times"/>
            </a:endParaRPr>
          </a:p>
          <a:p>
            <a:pPr indent="0" lvl="0" marL="457200" rtl="0" algn="just">
              <a:spcBef>
                <a:spcPts val="0"/>
              </a:spcBef>
              <a:spcAft>
                <a:spcPts val="0"/>
              </a:spcAft>
              <a:buNone/>
            </a:pPr>
            <a:r>
              <a:t/>
            </a:r>
            <a:endParaRPr i="1" sz="1600">
              <a:highlight>
                <a:srgbClr val="FFFFFF"/>
              </a:highlight>
              <a:latin typeface="Times"/>
              <a:ea typeface="Times"/>
              <a:cs typeface="Times"/>
              <a:sym typeface="Times"/>
            </a:endParaRPr>
          </a:p>
          <a:p>
            <a:pPr indent="0" lvl="0" marL="0" rtl="0" algn="just">
              <a:lnSpc>
                <a:spcPct val="100000"/>
              </a:lnSpc>
              <a:spcBef>
                <a:spcPts val="1800"/>
              </a:spcBef>
              <a:spcAft>
                <a:spcPts val="1800"/>
              </a:spcAft>
              <a:buNone/>
            </a:pPr>
            <a:r>
              <a:t/>
            </a:r>
            <a:endParaRPr b="1" sz="1600">
              <a:highlight>
                <a:srgbClr val="FFFFFF"/>
              </a:highlight>
              <a:latin typeface="Times"/>
              <a:ea typeface="Times"/>
              <a:cs typeface="Times"/>
              <a:sym typeface="Times"/>
            </a:endParaRPr>
          </a:p>
        </p:txBody>
      </p:sp>
      <p:sp>
        <p:nvSpPr>
          <p:cNvPr id="1138" name="Google Shape;1138;p1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1139" name="Google Shape;1139;p141"/>
          <p:cNvPicPr preferRelativeResize="0"/>
          <p:nvPr/>
        </p:nvPicPr>
        <p:blipFill>
          <a:blip r:embed="rId3">
            <a:alphaModFix/>
          </a:blip>
          <a:stretch>
            <a:fillRect/>
          </a:stretch>
        </p:blipFill>
        <p:spPr>
          <a:xfrm>
            <a:off x="2419538" y="1498313"/>
            <a:ext cx="5572125" cy="3476625"/>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4" name="Shape 1144"/>
        <p:cNvGrpSpPr/>
        <p:nvPr/>
      </p:nvGrpSpPr>
      <p:grpSpPr>
        <a:xfrm>
          <a:off x="0" y="0"/>
          <a:ext cx="0" cy="0"/>
          <a:chOff x="0" y="0"/>
          <a:chExt cx="0" cy="0"/>
        </a:xfrm>
      </p:grpSpPr>
      <p:sp>
        <p:nvSpPr>
          <p:cNvPr id="1145" name="Google Shape;1145;p142"/>
          <p:cNvSpPr txBox="1"/>
          <p:nvPr/>
        </p:nvSpPr>
        <p:spPr>
          <a:xfrm>
            <a:off x="573225" y="318525"/>
            <a:ext cx="8107500" cy="4437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2800">
                <a:solidFill>
                  <a:srgbClr val="1C3678"/>
                </a:solidFill>
                <a:latin typeface="Trebuchet MS"/>
                <a:ea typeface="Trebuchet MS"/>
                <a:cs typeface="Trebuchet MS"/>
                <a:sym typeface="Trebuchet MS"/>
              </a:rPr>
              <a:t>Class and object in Python</a:t>
            </a:r>
            <a:endParaRPr b="1" sz="2800">
              <a:solidFill>
                <a:srgbClr val="1C3678"/>
              </a:solidFill>
              <a:latin typeface="Trebuchet MS"/>
              <a:ea typeface="Trebuchet MS"/>
              <a:cs typeface="Trebuchet MS"/>
              <a:sym typeface="Trebuchet MS"/>
            </a:endParaRPr>
          </a:p>
        </p:txBody>
      </p:sp>
      <p:sp>
        <p:nvSpPr>
          <p:cNvPr id="1146" name="Google Shape;1146;p142"/>
          <p:cNvSpPr txBox="1"/>
          <p:nvPr/>
        </p:nvSpPr>
        <p:spPr>
          <a:xfrm>
            <a:off x="688425" y="793125"/>
            <a:ext cx="8107500" cy="1677900"/>
          </a:xfrm>
          <a:prstGeom prst="rect">
            <a:avLst/>
          </a:prstGeom>
          <a:noFill/>
          <a:ln>
            <a:noFill/>
          </a:ln>
        </p:spPr>
        <p:txBody>
          <a:bodyPr anchorCtr="0" anchor="t" bIns="0" lIns="0" spcFirstLastPara="1" rIns="0" wrap="square" tIns="125075">
            <a:spAutoFit/>
          </a:bodyPr>
          <a:lstStyle/>
          <a:p>
            <a:pPr indent="-342900" lvl="0" marL="457200" rtl="0" algn="l">
              <a:lnSpc>
                <a:spcPct val="115000"/>
              </a:lnSpc>
              <a:spcBef>
                <a:spcPts val="0"/>
              </a:spcBef>
              <a:spcAft>
                <a:spcPts val="0"/>
              </a:spcAft>
              <a:buSzPts val="1800"/>
              <a:buFont typeface="Tahoma"/>
              <a:buChar char="●"/>
            </a:pPr>
            <a:r>
              <a:rPr b="1" lang="en-US" sz="1800">
                <a:highlight>
                  <a:srgbClr val="FFFFFF"/>
                </a:highlight>
                <a:latin typeface="Times"/>
                <a:ea typeface="Times"/>
                <a:cs typeface="Times"/>
                <a:sym typeface="Times"/>
              </a:rPr>
              <a:t>__init__ method</a:t>
            </a:r>
            <a:r>
              <a:rPr lang="en-US" sz="1800">
                <a:highlight>
                  <a:srgbClr val="FFFFFF"/>
                </a:highlight>
                <a:latin typeface="Times"/>
                <a:ea typeface="Times"/>
                <a:cs typeface="Times"/>
                <a:sym typeface="Times"/>
              </a:rPr>
              <a:t>: Initializes objects when created, setting attributes.</a:t>
            </a:r>
            <a:endParaRPr sz="1800">
              <a:highlight>
                <a:srgbClr val="FFFFFF"/>
              </a:highlight>
              <a:latin typeface="Times"/>
              <a:ea typeface="Times"/>
              <a:cs typeface="Times"/>
              <a:sym typeface="Times"/>
            </a:endParaRPr>
          </a:p>
          <a:p>
            <a:pPr indent="-342900" lvl="0" marL="457200" rtl="0" algn="l">
              <a:lnSpc>
                <a:spcPct val="115000"/>
              </a:lnSpc>
              <a:spcBef>
                <a:spcPts val="0"/>
              </a:spcBef>
              <a:spcAft>
                <a:spcPts val="0"/>
              </a:spcAft>
              <a:buSzPts val="1800"/>
              <a:buFont typeface="Tahoma"/>
              <a:buChar char="●"/>
            </a:pPr>
            <a:r>
              <a:rPr b="1" lang="en-US" sz="1800">
                <a:highlight>
                  <a:srgbClr val="FFFFFF"/>
                </a:highlight>
                <a:latin typeface="Times"/>
                <a:ea typeface="Times"/>
                <a:cs typeface="Times"/>
                <a:sym typeface="Times"/>
              </a:rPr>
              <a:t>self parameter</a:t>
            </a:r>
            <a:r>
              <a:rPr lang="en-US" sz="1800">
                <a:highlight>
                  <a:srgbClr val="FFFFFF"/>
                </a:highlight>
                <a:latin typeface="Times"/>
                <a:ea typeface="Times"/>
                <a:cs typeface="Times"/>
                <a:sym typeface="Times"/>
              </a:rPr>
              <a:t>: References the current object instance in methods.</a:t>
            </a:r>
            <a:endParaRPr sz="1800">
              <a:highlight>
                <a:srgbClr val="FFFFFF"/>
              </a:highlight>
              <a:latin typeface="Times"/>
              <a:ea typeface="Times"/>
              <a:cs typeface="Times"/>
              <a:sym typeface="Times"/>
            </a:endParaRPr>
          </a:p>
          <a:p>
            <a:pPr indent="-342900" lvl="0" marL="457200" rtl="0" algn="l">
              <a:lnSpc>
                <a:spcPct val="115000"/>
              </a:lnSpc>
              <a:spcBef>
                <a:spcPts val="0"/>
              </a:spcBef>
              <a:spcAft>
                <a:spcPts val="0"/>
              </a:spcAft>
              <a:buSzPts val="1800"/>
              <a:buFont typeface="Tahoma"/>
              <a:buChar char="●"/>
            </a:pPr>
            <a:r>
              <a:rPr b="1" lang="en-US" sz="1800">
                <a:highlight>
                  <a:srgbClr val="FFFFFF"/>
                </a:highlight>
                <a:latin typeface="Times"/>
                <a:ea typeface="Times"/>
                <a:cs typeface="Times"/>
                <a:sym typeface="Times"/>
              </a:rPr>
              <a:t>Attributes</a:t>
            </a:r>
            <a:r>
              <a:rPr lang="en-US" sz="1800">
                <a:highlight>
                  <a:srgbClr val="FFFFFF"/>
                </a:highlight>
                <a:latin typeface="Times"/>
                <a:ea typeface="Times"/>
                <a:cs typeface="Times"/>
                <a:sym typeface="Times"/>
              </a:rPr>
              <a:t>: Data stored within an object, accessed using dot notation (e.g., obj.attribute).</a:t>
            </a:r>
            <a:endParaRPr sz="1800">
              <a:highlight>
                <a:srgbClr val="FFFFFF"/>
              </a:highlight>
              <a:latin typeface="Times"/>
              <a:ea typeface="Times"/>
              <a:cs typeface="Times"/>
              <a:sym typeface="Times"/>
            </a:endParaRPr>
          </a:p>
          <a:p>
            <a:pPr indent="-342900" lvl="0" marL="457200" rtl="0" algn="l">
              <a:lnSpc>
                <a:spcPct val="115000"/>
              </a:lnSpc>
              <a:spcBef>
                <a:spcPts val="0"/>
              </a:spcBef>
              <a:spcAft>
                <a:spcPts val="0"/>
              </a:spcAft>
              <a:buSzPts val="1800"/>
              <a:buFont typeface="Tahoma"/>
              <a:buChar char="●"/>
            </a:pPr>
            <a:r>
              <a:rPr b="1" lang="en-US" sz="1800">
                <a:highlight>
                  <a:srgbClr val="FFFFFF"/>
                </a:highlight>
                <a:latin typeface="Times"/>
                <a:ea typeface="Times"/>
                <a:cs typeface="Times"/>
                <a:sym typeface="Times"/>
              </a:rPr>
              <a:t>Methods</a:t>
            </a:r>
            <a:r>
              <a:rPr lang="en-US" sz="1800">
                <a:highlight>
                  <a:srgbClr val="FFFFFF"/>
                </a:highlight>
                <a:latin typeface="Times"/>
                <a:ea typeface="Times"/>
                <a:cs typeface="Times"/>
                <a:sym typeface="Times"/>
              </a:rPr>
              <a:t>: Functions defined within a class, operating on object attributes.</a:t>
            </a:r>
            <a:endParaRPr b="1" sz="1800">
              <a:highlight>
                <a:srgbClr val="FFFFFF"/>
              </a:highlight>
              <a:latin typeface="Times"/>
              <a:ea typeface="Times"/>
              <a:cs typeface="Times"/>
              <a:sym typeface="Times"/>
            </a:endParaRPr>
          </a:p>
        </p:txBody>
      </p:sp>
      <p:sp>
        <p:nvSpPr>
          <p:cNvPr id="1147" name="Google Shape;1147;p1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1148" name="Google Shape;1148;p142"/>
          <p:cNvPicPr preferRelativeResize="0"/>
          <p:nvPr/>
        </p:nvPicPr>
        <p:blipFill>
          <a:blip r:embed="rId3">
            <a:alphaModFix/>
          </a:blip>
          <a:stretch>
            <a:fillRect/>
          </a:stretch>
        </p:blipFill>
        <p:spPr>
          <a:xfrm>
            <a:off x="2218825" y="2501925"/>
            <a:ext cx="5046700" cy="2389100"/>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3" name="Shape 1153"/>
        <p:cNvGrpSpPr/>
        <p:nvPr/>
      </p:nvGrpSpPr>
      <p:grpSpPr>
        <a:xfrm>
          <a:off x="0" y="0"/>
          <a:ext cx="0" cy="0"/>
          <a:chOff x="0" y="0"/>
          <a:chExt cx="0" cy="0"/>
        </a:xfrm>
      </p:grpSpPr>
      <p:sp>
        <p:nvSpPr>
          <p:cNvPr id="1154" name="Google Shape;1154;p143"/>
          <p:cNvSpPr txBox="1"/>
          <p:nvPr/>
        </p:nvSpPr>
        <p:spPr>
          <a:xfrm>
            <a:off x="573225" y="318525"/>
            <a:ext cx="8107500" cy="4437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2800">
                <a:solidFill>
                  <a:srgbClr val="1C3678"/>
                </a:solidFill>
                <a:latin typeface="Trebuchet MS"/>
                <a:ea typeface="Trebuchet MS"/>
                <a:cs typeface="Trebuchet MS"/>
                <a:sym typeface="Trebuchet MS"/>
              </a:rPr>
              <a:t>Inheritance</a:t>
            </a:r>
            <a:r>
              <a:rPr b="1" lang="en-US" sz="2800">
                <a:solidFill>
                  <a:srgbClr val="1C3678"/>
                </a:solidFill>
                <a:latin typeface="Trebuchet MS"/>
                <a:ea typeface="Trebuchet MS"/>
                <a:cs typeface="Trebuchet MS"/>
                <a:sym typeface="Trebuchet MS"/>
              </a:rPr>
              <a:t> in Python</a:t>
            </a:r>
            <a:endParaRPr b="1" sz="2800">
              <a:solidFill>
                <a:srgbClr val="1C3678"/>
              </a:solidFill>
              <a:latin typeface="Trebuchet MS"/>
              <a:ea typeface="Trebuchet MS"/>
              <a:cs typeface="Trebuchet MS"/>
              <a:sym typeface="Trebuchet MS"/>
            </a:endParaRPr>
          </a:p>
        </p:txBody>
      </p:sp>
      <p:sp>
        <p:nvSpPr>
          <p:cNvPr id="1155" name="Google Shape;1155;p143"/>
          <p:cNvSpPr txBox="1"/>
          <p:nvPr/>
        </p:nvSpPr>
        <p:spPr>
          <a:xfrm>
            <a:off x="688425" y="762225"/>
            <a:ext cx="8107500" cy="1234500"/>
          </a:xfrm>
          <a:prstGeom prst="rect">
            <a:avLst/>
          </a:prstGeom>
          <a:noFill/>
          <a:ln>
            <a:noFill/>
          </a:ln>
        </p:spPr>
        <p:txBody>
          <a:bodyPr anchorCtr="0" anchor="t" bIns="0" lIns="0" spcFirstLastPara="1" rIns="0" wrap="square" tIns="125075">
            <a:spAutoFit/>
          </a:bodyPr>
          <a:lstStyle/>
          <a:p>
            <a:pPr indent="-342900" lvl="0" marL="457200" rtl="0" algn="just">
              <a:lnSpc>
                <a:spcPct val="100000"/>
              </a:lnSpc>
              <a:spcBef>
                <a:spcPts val="0"/>
              </a:spcBef>
              <a:spcAft>
                <a:spcPts val="0"/>
              </a:spcAft>
              <a:buSzPts val="1800"/>
              <a:buFont typeface="Times"/>
              <a:buChar char="●"/>
            </a:pPr>
            <a:r>
              <a:rPr lang="en-US" sz="1800">
                <a:highlight>
                  <a:srgbClr val="FFFFFF"/>
                </a:highlight>
                <a:latin typeface="Times"/>
                <a:ea typeface="Times"/>
                <a:cs typeface="Times"/>
                <a:sym typeface="Times"/>
              </a:rPr>
              <a:t>Inheritance is a way of creating a new class for using details of an existing class without modifying it.</a:t>
            </a:r>
            <a:endParaRPr sz="1800">
              <a:highlight>
                <a:srgbClr val="FFFFFF"/>
              </a:highlight>
              <a:latin typeface="Times"/>
              <a:ea typeface="Times"/>
              <a:cs typeface="Times"/>
              <a:sym typeface="Times"/>
            </a:endParaRPr>
          </a:p>
          <a:p>
            <a:pPr indent="-342900" lvl="0" marL="457200" rtl="0" algn="just">
              <a:lnSpc>
                <a:spcPct val="100000"/>
              </a:lnSpc>
              <a:spcBef>
                <a:spcPts val="0"/>
              </a:spcBef>
              <a:spcAft>
                <a:spcPts val="0"/>
              </a:spcAft>
              <a:buSzPts val="1800"/>
              <a:buFont typeface="Times"/>
              <a:buChar char="●"/>
            </a:pPr>
            <a:r>
              <a:rPr lang="en-US" sz="1800">
                <a:highlight>
                  <a:srgbClr val="FFFFFF"/>
                </a:highlight>
                <a:latin typeface="Times"/>
                <a:ea typeface="Times"/>
                <a:cs typeface="Times"/>
                <a:sym typeface="Times"/>
              </a:rPr>
              <a:t>The newly formed class is a derived class (or child class). Similarly, the existing class is a base class (or parent class).</a:t>
            </a:r>
            <a:endParaRPr sz="1800">
              <a:highlight>
                <a:srgbClr val="FFFFFF"/>
              </a:highlight>
              <a:latin typeface="Times"/>
              <a:ea typeface="Times"/>
              <a:cs typeface="Times"/>
              <a:sym typeface="Times"/>
            </a:endParaRPr>
          </a:p>
        </p:txBody>
      </p:sp>
      <p:sp>
        <p:nvSpPr>
          <p:cNvPr id="1156" name="Google Shape;1156;p1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1157" name="Google Shape;1157;p143"/>
          <p:cNvPicPr preferRelativeResize="0"/>
          <p:nvPr/>
        </p:nvPicPr>
        <p:blipFill>
          <a:blip r:embed="rId3">
            <a:alphaModFix/>
          </a:blip>
          <a:stretch>
            <a:fillRect/>
          </a:stretch>
        </p:blipFill>
        <p:spPr>
          <a:xfrm>
            <a:off x="1146100" y="2042875"/>
            <a:ext cx="3400425" cy="2724150"/>
          </a:xfrm>
          <a:prstGeom prst="rect">
            <a:avLst/>
          </a:prstGeom>
          <a:noFill/>
          <a:ln>
            <a:noFill/>
          </a:ln>
        </p:spPr>
      </p:pic>
      <p:pic>
        <p:nvPicPr>
          <p:cNvPr id="1158" name="Google Shape;1158;p143"/>
          <p:cNvPicPr preferRelativeResize="0"/>
          <p:nvPr/>
        </p:nvPicPr>
        <p:blipFill>
          <a:blip r:embed="rId4">
            <a:alphaModFix/>
          </a:blip>
          <a:stretch>
            <a:fillRect/>
          </a:stretch>
        </p:blipFill>
        <p:spPr>
          <a:xfrm>
            <a:off x="5661375" y="2905350"/>
            <a:ext cx="2000250" cy="800100"/>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3" name="Shape 1163"/>
        <p:cNvGrpSpPr/>
        <p:nvPr/>
      </p:nvGrpSpPr>
      <p:grpSpPr>
        <a:xfrm>
          <a:off x="0" y="0"/>
          <a:ext cx="0" cy="0"/>
          <a:chOff x="0" y="0"/>
          <a:chExt cx="0" cy="0"/>
        </a:xfrm>
      </p:grpSpPr>
      <p:sp>
        <p:nvSpPr>
          <p:cNvPr id="1164" name="Google Shape;1164;p144"/>
          <p:cNvSpPr txBox="1"/>
          <p:nvPr/>
        </p:nvSpPr>
        <p:spPr>
          <a:xfrm>
            <a:off x="573225" y="318525"/>
            <a:ext cx="8107500" cy="4437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2800">
                <a:solidFill>
                  <a:srgbClr val="1C3678"/>
                </a:solidFill>
                <a:latin typeface="Trebuchet MS"/>
                <a:ea typeface="Trebuchet MS"/>
                <a:cs typeface="Trebuchet MS"/>
                <a:sym typeface="Trebuchet MS"/>
              </a:rPr>
              <a:t>Encapsulation</a:t>
            </a:r>
            <a:r>
              <a:rPr b="1" lang="en-US" sz="2800">
                <a:solidFill>
                  <a:srgbClr val="1C3678"/>
                </a:solidFill>
                <a:latin typeface="Trebuchet MS"/>
                <a:ea typeface="Trebuchet MS"/>
                <a:cs typeface="Trebuchet MS"/>
                <a:sym typeface="Trebuchet MS"/>
              </a:rPr>
              <a:t> in Python</a:t>
            </a:r>
            <a:endParaRPr b="1" sz="2800">
              <a:solidFill>
                <a:srgbClr val="1C3678"/>
              </a:solidFill>
              <a:latin typeface="Trebuchet MS"/>
              <a:ea typeface="Trebuchet MS"/>
              <a:cs typeface="Trebuchet MS"/>
              <a:sym typeface="Trebuchet MS"/>
            </a:endParaRPr>
          </a:p>
        </p:txBody>
      </p:sp>
      <p:sp>
        <p:nvSpPr>
          <p:cNvPr id="1165" name="Google Shape;1165;p144"/>
          <p:cNvSpPr txBox="1"/>
          <p:nvPr/>
        </p:nvSpPr>
        <p:spPr>
          <a:xfrm>
            <a:off x="688425" y="762225"/>
            <a:ext cx="8107500" cy="1788600"/>
          </a:xfrm>
          <a:prstGeom prst="rect">
            <a:avLst/>
          </a:prstGeom>
          <a:noFill/>
          <a:ln>
            <a:noFill/>
          </a:ln>
        </p:spPr>
        <p:txBody>
          <a:bodyPr anchorCtr="0" anchor="t" bIns="0" lIns="0" spcFirstLastPara="1" rIns="0" wrap="square" tIns="125075">
            <a:spAutoFit/>
          </a:bodyPr>
          <a:lstStyle/>
          <a:p>
            <a:pPr indent="-342900" lvl="0" marL="457200" rtl="0" algn="just">
              <a:lnSpc>
                <a:spcPct val="100000"/>
              </a:lnSpc>
              <a:spcBef>
                <a:spcPts val="0"/>
              </a:spcBef>
              <a:spcAft>
                <a:spcPts val="0"/>
              </a:spcAft>
              <a:buSzPts val="1800"/>
              <a:buFont typeface="Times"/>
              <a:buChar char="●"/>
            </a:pPr>
            <a:r>
              <a:rPr lang="en-US" sz="1800">
                <a:highlight>
                  <a:srgbClr val="FFFFFF"/>
                </a:highlight>
                <a:latin typeface="Times"/>
                <a:ea typeface="Times"/>
                <a:cs typeface="Times"/>
                <a:sym typeface="Times"/>
              </a:rPr>
              <a:t>Encapsulation is one of the key features of object-oriented programming. Encapsulation refers to the bundling of attributes and methods inside a single class.</a:t>
            </a:r>
            <a:endParaRPr sz="1800">
              <a:highlight>
                <a:srgbClr val="FFFFFF"/>
              </a:highlight>
              <a:latin typeface="Times"/>
              <a:ea typeface="Times"/>
              <a:cs typeface="Times"/>
              <a:sym typeface="Times"/>
            </a:endParaRPr>
          </a:p>
          <a:p>
            <a:pPr indent="-342900" lvl="0" marL="457200" rtl="0" algn="just">
              <a:lnSpc>
                <a:spcPct val="100000"/>
              </a:lnSpc>
              <a:spcBef>
                <a:spcPts val="0"/>
              </a:spcBef>
              <a:spcAft>
                <a:spcPts val="0"/>
              </a:spcAft>
              <a:buSzPts val="1800"/>
              <a:buFont typeface="Times"/>
              <a:buChar char="●"/>
            </a:pPr>
            <a:r>
              <a:rPr lang="en-US" sz="1800">
                <a:highlight>
                  <a:srgbClr val="FFFFFF"/>
                </a:highlight>
                <a:latin typeface="Times"/>
                <a:ea typeface="Times"/>
                <a:cs typeface="Times"/>
                <a:sym typeface="Times"/>
              </a:rPr>
              <a:t>It prevents outer classes from accessing and changing attributes and methods of a class. This also helps to achieve data hiding.</a:t>
            </a:r>
            <a:endParaRPr sz="1800">
              <a:highlight>
                <a:srgbClr val="FFFFFF"/>
              </a:highlight>
              <a:latin typeface="Times"/>
              <a:ea typeface="Times"/>
              <a:cs typeface="Times"/>
              <a:sym typeface="Times"/>
            </a:endParaRPr>
          </a:p>
          <a:p>
            <a:pPr indent="-342900" lvl="0" marL="457200" rtl="0" algn="just">
              <a:lnSpc>
                <a:spcPct val="100000"/>
              </a:lnSpc>
              <a:spcBef>
                <a:spcPts val="0"/>
              </a:spcBef>
              <a:spcAft>
                <a:spcPts val="0"/>
              </a:spcAft>
              <a:buSzPts val="1800"/>
              <a:buFont typeface="Times"/>
              <a:buChar char="●"/>
            </a:pPr>
            <a:r>
              <a:rPr lang="en-US" sz="1800">
                <a:highlight>
                  <a:srgbClr val="FFFFFF"/>
                </a:highlight>
                <a:latin typeface="Times"/>
                <a:ea typeface="Times"/>
                <a:cs typeface="Times"/>
                <a:sym typeface="Times"/>
              </a:rPr>
              <a:t>We denote private attributes using underscore as the prefix i.e single </a:t>
            </a:r>
            <a:r>
              <a:rPr lang="en-US" sz="1800">
                <a:solidFill>
                  <a:srgbClr val="25265E"/>
                </a:solidFill>
                <a:highlight>
                  <a:srgbClr val="FFFFFF"/>
                </a:highlight>
                <a:latin typeface="Times"/>
                <a:ea typeface="Times"/>
                <a:cs typeface="Times"/>
                <a:sym typeface="Times"/>
              </a:rPr>
              <a:t>_</a:t>
            </a:r>
            <a:r>
              <a:rPr lang="en-US" sz="1800">
                <a:highlight>
                  <a:srgbClr val="FFFFFF"/>
                </a:highlight>
                <a:latin typeface="Times"/>
                <a:ea typeface="Times"/>
                <a:cs typeface="Times"/>
                <a:sym typeface="Times"/>
              </a:rPr>
              <a:t> or double </a:t>
            </a:r>
            <a:r>
              <a:rPr lang="en-US" sz="1800">
                <a:solidFill>
                  <a:srgbClr val="25265E"/>
                </a:solidFill>
                <a:highlight>
                  <a:srgbClr val="FFFFFF"/>
                </a:highlight>
                <a:latin typeface="Times"/>
                <a:ea typeface="Times"/>
                <a:cs typeface="Times"/>
                <a:sym typeface="Times"/>
              </a:rPr>
              <a:t>__</a:t>
            </a:r>
            <a:r>
              <a:rPr lang="en-US" sz="1800">
                <a:highlight>
                  <a:srgbClr val="FFFFFF"/>
                </a:highlight>
                <a:latin typeface="Times"/>
                <a:ea typeface="Times"/>
                <a:cs typeface="Times"/>
                <a:sym typeface="Times"/>
              </a:rPr>
              <a:t>.</a:t>
            </a:r>
            <a:endParaRPr sz="1800">
              <a:highlight>
                <a:srgbClr val="FFFFFF"/>
              </a:highlight>
              <a:latin typeface="Times"/>
              <a:ea typeface="Times"/>
              <a:cs typeface="Times"/>
              <a:sym typeface="Times"/>
            </a:endParaRPr>
          </a:p>
        </p:txBody>
      </p:sp>
      <p:sp>
        <p:nvSpPr>
          <p:cNvPr id="1166" name="Google Shape;1166;p1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1167" name="Google Shape;1167;p144"/>
          <p:cNvPicPr preferRelativeResize="0"/>
          <p:nvPr/>
        </p:nvPicPr>
        <p:blipFill>
          <a:blip r:embed="rId3">
            <a:alphaModFix/>
          </a:blip>
          <a:stretch>
            <a:fillRect/>
          </a:stretch>
        </p:blipFill>
        <p:spPr>
          <a:xfrm>
            <a:off x="6302100" y="3299150"/>
            <a:ext cx="2000250" cy="800100"/>
          </a:xfrm>
          <a:prstGeom prst="rect">
            <a:avLst/>
          </a:prstGeom>
          <a:noFill/>
          <a:ln>
            <a:noFill/>
          </a:ln>
        </p:spPr>
      </p:pic>
      <p:pic>
        <p:nvPicPr>
          <p:cNvPr id="1168" name="Google Shape;1168;p144"/>
          <p:cNvPicPr preferRelativeResize="0"/>
          <p:nvPr/>
        </p:nvPicPr>
        <p:blipFill>
          <a:blip r:embed="rId4">
            <a:alphaModFix/>
          </a:blip>
          <a:stretch>
            <a:fillRect/>
          </a:stretch>
        </p:blipFill>
        <p:spPr>
          <a:xfrm>
            <a:off x="2271075" y="2567925"/>
            <a:ext cx="3759250" cy="2195343"/>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3" name="Shape 1173"/>
        <p:cNvGrpSpPr/>
        <p:nvPr/>
      </p:nvGrpSpPr>
      <p:grpSpPr>
        <a:xfrm>
          <a:off x="0" y="0"/>
          <a:ext cx="0" cy="0"/>
          <a:chOff x="0" y="0"/>
          <a:chExt cx="0" cy="0"/>
        </a:xfrm>
      </p:grpSpPr>
      <p:sp>
        <p:nvSpPr>
          <p:cNvPr id="1174" name="Google Shape;1174;p145"/>
          <p:cNvSpPr txBox="1"/>
          <p:nvPr/>
        </p:nvSpPr>
        <p:spPr>
          <a:xfrm>
            <a:off x="573225" y="318525"/>
            <a:ext cx="8107500" cy="4437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2800">
                <a:solidFill>
                  <a:srgbClr val="1C3678"/>
                </a:solidFill>
                <a:latin typeface="Trebuchet MS"/>
                <a:ea typeface="Trebuchet MS"/>
                <a:cs typeface="Trebuchet MS"/>
                <a:sym typeface="Trebuchet MS"/>
              </a:rPr>
              <a:t>Polymorphism</a:t>
            </a:r>
            <a:r>
              <a:rPr b="1" lang="en-US" sz="2800">
                <a:solidFill>
                  <a:srgbClr val="1C3678"/>
                </a:solidFill>
                <a:latin typeface="Trebuchet MS"/>
                <a:ea typeface="Trebuchet MS"/>
                <a:cs typeface="Trebuchet MS"/>
                <a:sym typeface="Trebuchet MS"/>
              </a:rPr>
              <a:t> in Python</a:t>
            </a:r>
            <a:endParaRPr b="1" sz="2800">
              <a:solidFill>
                <a:srgbClr val="1C3678"/>
              </a:solidFill>
              <a:latin typeface="Trebuchet MS"/>
              <a:ea typeface="Trebuchet MS"/>
              <a:cs typeface="Trebuchet MS"/>
              <a:sym typeface="Trebuchet MS"/>
            </a:endParaRPr>
          </a:p>
        </p:txBody>
      </p:sp>
      <p:sp>
        <p:nvSpPr>
          <p:cNvPr id="1175" name="Google Shape;1175;p145"/>
          <p:cNvSpPr txBox="1"/>
          <p:nvPr/>
        </p:nvSpPr>
        <p:spPr>
          <a:xfrm>
            <a:off x="688425" y="762225"/>
            <a:ext cx="8107500" cy="1234500"/>
          </a:xfrm>
          <a:prstGeom prst="rect">
            <a:avLst/>
          </a:prstGeom>
          <a:noFill/>
          <a:ln>
            <a:noFill/>
          </a:ln>
        </p:spPr>
        <p:txBody>
          <a:bodyPr anchorCtr="0" anchor="t" bIns="0" lIns="0" spcFirstLastPara="1" rIns="0" wrap="square" tIns="125075">
            <a:spAutoFit/>
          </a:bodyPr>
          <a:lstStyle/>
          <a:p>
            <a:pPr indent="-342900" lvl="0" marL="457200" rtl="0" algn="just">
              <a:lnSpc>
                <a:spcPct val="100000"/>
              </a:lnSpc>
              <a:spcBef>
                <a:spcPts val="0"/>
              </a:spcBef>
              <a:spcAft>
                <a:spcPts val="0"/>
              </a:spcAft>
              <a:buSzPts val="1800"/>
              <a:buFont typeface="Times"/>
              <a:buChar char="●"/>
            </a:pPr>
            <a:r>
              <a:rPr lang="en-US" sz="1800">
                <a:highlight>
                  <a:srgbClr val="FFFFFF"/>
                </a:highlight>
                <a:latin typeface="Times"/>
                <a:ea typeface="Times"/>
                <a:cs typeface="Times"/>
                <a:sym typeface="Times"/>
              </a:rPr>
              <a:t>Polymorphism is another important concept of object-oriented programming. It simply means more than one form.</a:t>
            </a:r>
            <a:endParaRPr sz="1800">
              <a:highlight>
                <a:srgbClr val="FFFFFF"/>
              </a:highlight>
              <a:latin typeface="Times"/>
              <a:ea typeface="Times"/>
              <a:cs typeface="Times"/>
              <a:sym typeface="Times"/>
            </a:endParaRPr>
          </a:p>
          <a:p>
            <a:pPr indent="-342900" lvl="0" marL="457200" rtl="0" algn="just">
              <a:lnSpc>
                <a:spcPct val="100000"/>
              </a:lnSpc>
              <a:spcBef>
                <a:spcPts val="0"/>
              </a:spcBef>
              <a:spcAft>
                <a:spcPts val="0"/>
              </a:spcAft>
              <a:buSzPts val="1800"/>
              <a:buFont typeface="Times"/>
              <a:buChar char="●"/>
            </a:pPr>
            <a:r>
              <a:rPr lang="en-US" sz="1800">
                <a:highlight>
                  <a:srgbClr val="FFFFFF"/>
                </a:highlight>
                <a:latin typeface="Times"/>
                <a:ea typeface="Times"/>
                <a:cs typeface="Times"/>
                <a:sym typeface="Times"/>
              </a:rPr>
              <a:t>That is, the same entity (method or operator or object) can perform different operations in different scenarios.</a:t>
            </a:r>
            <a:endParaRPr sz="1800">
              <a:highlight>
                <a:srgbClr val="FFFFFF"/>
              </a:highlight>
              <a:latin typeface="Times"/>
              <a:ea typeface="Times"/>
              <a:cs typeface="Times"/>
              <a:sym typeface="Times"/>
            </a:endParaRPr>
          </a:p>
        </p:txBody>
      </p:sp>
      <p:sp>
        <p:nvSpPr>
          <p:cNvPr id="1176" name="Google Shape;1176;p1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1177" name="Google Shape;1177;p145"/>
          <p:cNvPicPr preferRelativeResize="0"/>
          <p:nvPr/>
        </p:nvPicPr>
        <p:blipFill>
          <a:blip r:embed="rId3">
            <a:alphaModFix/>
          </a:blip>
          <a:stretch>
            <a:fillRect/>
          </a:stretch>
        </p:blipFill>
        <p:spPr>
          <a:xfrm>
            <a:off x="1458600" y="1996725"/>
            <a:ext cx="4115475" cy="2950550"/>
          </a:xfrm>
          <a:prstGeom prst="rect">
            <a:avLst/>
          </a:prstGeom>
          <a:noFill/>
          <a:ln>
            <a:noFill/>
          </a:ln>
        </p:spPr>
      </p:pic>
      <p:pic>
        <p:nvPicPr>
          <p:cNvPr id="1178" name="Google Shape;1178;p145"/>
          <p:cNvPicPr preferRelativeResize="0"/>
          <p:nvPr/>
        </p:nvPicPr>
        <p:blipFill>
          <a:blip r:embed="rId4">
            <a:alphaModFix/>
          </a:blip>
          <a:stretch>
            <a:fillRect/>
          </a:stretch>
        </p:blipFill>
        <p:spPr>
          <a:xfrm>
            <a:off x="5732725" y="3305325"/>
            <a:ext cx="2095500" cy="619125"/>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3" name="Shape 1183"/>
        <p:cNvGrpSpPr/>
        <p:nvPr/>
      </p:nvGrpSpPr>
      <p:grpSpPr>
        <a:xfrm>
          <a:off x="0" y="0"/>
          <a:ext cx="0" cy="0"/>
          <a:chOff x="0" y="0"/>
          <a:chExt cx="0" cy="0"/>
        </a:xfrm>
      </p:grpSpPr>
      <p:sp>
        <p:nvSpPr>
          <p:cNvPr id="1184" name="Google Shape;1184;p146"/>
          <p:cNvSpPr txBox="1"/>
          <p:nvPr/>
        </p:nvSpPr>
        <p:spPr>
          <a:xfrm>
            <a:off x="573225" y="318525"/>
            <a:ext cx="8107500" cy="4437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2800">
                <a:solidFill>
                  <a:srgbClr val="1C3678"/>
                </a:solidFill>
                <a:latin typeface="Trebuchet MS"/>
                <a:ea typeface="Trebuchet MS"/>
                <a:cs typeface="Trebuchet MS"/>
                <a:sym typeface="Trebuchet MS"/>
              </a:rPr>
              <a:t>OOP</a:t>
            </a:r>
            <a:r>
              <a:rPr b="1" lang="en-US" sz="2800">
                <a:solidFill>
                  <a:srgbClr val="1C3678"/>
                </a:solidFill>
                <a:latin typeface="Trebuchet MS"/>
                <a:ea typeface="Trebuchet MS"/>
                <a:cs typeface="Trebuchet MS"/>
                <a:sym typeface="Trebuchet MS"/>
              </a:rPr>
              <a:t> in Python</a:t>
            </a:r>
            <a:endParaRPr b="1" sz="2800">
              <a:solidFill>
                <a:srgbClr val="1C3678"/>
              </a:solidFill>
              <a:latin typeface="Trebuchet MS"/>
              <a:ea typeface="Trebuchet MS"/>
              <a:cs typeface="Trebuchet MS"/>
              <a:sym typeface="Trebuchet MS"/>
            </a:endParaRPr>
          </a:p>
        </p:txBody>
      </p:sp>
      <p:sp>
        <p:nvSpPr>
          <p:cNvPr id="1185" name="Google Shape;1185;p146"/>
          <p:cNvSpPr txBox="1"/>
          <p:nvPr/>
        </p:nvSpPr>
        <p:spPr>
          <a:xfrm>
            <a:off x="688425" y="762225"/>
            <a:ext cx="8107500" cy="1788600"/>
          </a:xfrm>
          <a:prstGeom prst="rect">
            <a:avLst/>
          </a:prstGeom>
          <a:noFill/>
          <a:ln>
            <a:noFill/>
          </a:ln>
        </p:spPr>
        <p:txBody>
          <a:bodyPr anchorCtr="0" anchor="t" bIns="0" lIns="0" spcFirstLastPara="1" rIns="0" wrap="square" tIns="125075">
            <a:spAutoFit/>
          </a:bodyPr>
          <a:lstStyle/>
          <a:p>
            <a:pPr indent="-342900" lvl="0" marL="457200" rtl="0" algn="just">
              <a:lnSpc>
                <a:spcPct val="100000"/>
              </a:lnSpc>
              <a:spcBef>
                <a:spcPts val="0"/>
              </a:spcBef>
              <a:spcAft>
                <a:spcPts val="0"/>
              </a:spcAft>
              <a:buSzPts val="1800"/>
              <a:buFont typeface="Times"/>
              <a:buChar char="●"/>
            </a:pPr>
            <a:r>
              <a:rPr lang="en-US" sz="1800">
                <a:highlight>
                  <a:srgbClr val="FFFFFF"/>
                </a:highlight>
                <a:latin typeface="Times"/>
                <a:ea typeface="Times"/>
                <a:cs typeface="Times"/>
                <a:sym typeface="Times"/>
              </a:rPr>
              <a:t>Object-Oriented Programming makes the program easy to understand as well as efficient.</a:t>
            </a:r>
            <a:endParaRPr sz="1800">
              <a:highlight>
                <a:srgbClr val="FFFFFF"/>
              </a:highlight>
              <a:latin typeface="Times"/>
              <a:ea typeface="Times"/>
              <a:cs typeface="Times"/>
              <a:sym typeface="Times"/>
            </a:endParaRPr>
          </a:p>
          <a:p>
            <a:pPr indent="-342900" lvl="0" marL="457200" rtl="0" algn="just">
              <a:lnSpc>
                <a:spcPct val="100000"/>
              </a:lnSpc>
              <a:spcBef>
                <a:spcPts val="0"/>
              </a:spcBef>
              <a:spcAft>
                <a:spcPts val="0"/>
              </a:spcAft>
              <a:buSzPts val="1800"/>
              <a:buFont typeface="Times"/>
              <a:buChar char="●"/>
            </a:pPr>
            <a:r>
              <a:rPr lang="en-US" sz="1800">
                <a:highlight>
                  <a:srgbClr val="FFFFFF"/>
                </a:highlight>
                <a:latin typeface="Times"/>
                <a:ea typeface="Times"/>
                <a:cs typeface="Times"/>
                <a:sym typeface="Times"/>
              </a:rPr>
              <a:t>Since the class is sharable, the code can be reused.</a:t>
            </a:r>
            <a:endParaRPr sz="1800">
              <a:highlight>
                <a:srgbClr val="FFFFFF"/>
              </a:highlight>
              <a:latin typeface="Times"/>
              <a:ea typeface="Times"/>
              <a:cs typeface="Times"/>
              <a:sym typeface="Times"/>
            </a:endParaRPr>
          </a:p>
          <a:p>
            <a:pPr indent="-342900" lvl="0" marL="457200" rtl="0" algn="just">
              <a:lnSpc>
                <a:spcPct val="100000"/>
              </a:lnSpc>
              <a:spcBef>
                <a:spcPts val="0"/>
              </a:spcBef>
              <a:spcAft>
                <a:spcPts val="0"/>
              </a:spcAft>
              <a:buSzPts val="1800"/>
              <a:buFont typeface="Times"/>
              <a:buChar char="●"/>
            </a:pPr>
            <a:r>
              <a:rPr lang="en-US" sz="1800">
                <a:highlight>
                  <a:srgbClr val="FFFFFF"/>
                </a:highlight>
                <a:latin typeface="Times"/>
                <a:ea typeface="Times"/>
                <a:cs typeface="Times"/>
                <a:sym typeface="Times"/>
              </a:rPr>
              <a:t>Data is safe and secure with data abstraction.</a:t>
            </a:r>
            <a:endParaRPr sz="1800">
              <a:highlight>
                <a:srgbClr val="FFFFFF"/>
              </a:highlight>
              <a:latin typeface="Times"/>
              <a:ea typeface="Times"/>
              <a:cs typeface="Times"/>
              <a:sym typeface="Times"/>
            </a:endParaRPr>
          </a:p>
          <a:p>
            <a:pPr indent="-342900" lvl="0" marL="457200" rtl="0" algn="just">
              <a:lnSpc>
                <a:spcPct val="100000"/>
              </a:lnSpc>
              <a:spcBef>
                <a:spcPts val="0"/>
              </a:spcBef>
              <a:spcAft>
                <a:spcPts val="0"/>
              </a:spcAft>
              <a:buSzPts val="1800"/>
              <a:buFont typeface="Times"/>
              <a:buChar char="●"/>
            </a:pPr>
            <a:r>
              <a:rPr lang="en-US" sz="1800">
                <a:highlight>
                  <a:srgbClr val="FFFFFF"/>
                </a:highlight>
                <a:latin typeface="Times"/>
                <a:ea typeface="Times"/>
                <a:cs typeface="Times"/>
                <a:sym typeface="Times"/>
              </a:rPr>
              <a:t>Polymorphism allows the same interface for different objects, so programmers can write efficient code.</a:t>
            </a:r>
            <a:endParaRPr sz="1800">
              <a:highlight>
                <a:srgbClr val="FFFFFF"/>
              </a:highlight>
              <a:latin typeface="Times"/>
              <a:ea typeface="Times"/>
              <a:cs typeface="Times"/>
              <a:sym typeface="Times"/>
            </a:endParaRPr>
          </a:p>
        </p:txBody>
      </p:sp>
      <p:sp>
        <p:nvSpPr>
          <p:cNvPr id="1186" name="Google Shape;1186;p1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1" name="Shape 1191"/>
        <p:cNvGrpSpPr/>
        <p:nvPr/>
      </p:nvGrpSpPr>
      <p:grpSpPr>
        <a:xfrm>
          <a:off x="0" y="0"/>
          <a:ext cx="0" cy="0"/>
          <a:chOff x="0" y="0"/>
          <a:chExt cx="0" cy="0"/>
        </a:xfrm>
      </p:grpSpPr>
      <p:sp>
        <p:nvSpPr>
          <p:cNvPr id="1192" name="Google Shape;1192;p147"/>
          <p:cNvSpPr txBox="1"/>
          <p:nvPr/>
        </p:nvSpPr>
        <p:spPr>
          <a:xfrm>
            <a:off x="573225" y="318525"/>
            <a:ext cx="8107500" cy="4437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2800">
                <a:solidFill>
                  <a:srgbClr val="1C3678"/>
                </a:solidFill>
                <a:latin typeface="Trebuchet MS"/>
                <a:ea typeface="Trebuchet MS"/>
                <a:cs typeface="Trebuchet MS"/>
                <a:sym typeface="Trebuchet MS"/>
              </a:rPr>
              <a:t>Vehicle Example</a:t>
            </a:r>
            <a:endParaRPr b="1" sz="2800">
              <a:solidFill>
                <a:srgbClr val="1C3678"/>
              </a:solidFill>
              <a:latin typeface="Trebuchet MS"/>
              <a:ea typeface="Trebuchet MS"/>
              <a:cs typeface="Trebuchet MS"/>
              <a:sym typeface="Trebuchet MS"/>
            </a:endParaRPr>
          </a:p>
        </p:txBody>
      </p:sp>
      <p:sp>
        <p:nvSpPr>
          <p:cNvPr id="1193" name="Google Shape;1193;p1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1194" name="Google Shape;1194;p147"/>
          <p:cNvPicPr preferRelativeResize="0"/>
          <p:nvPr/>
        </p:nvPicPr>
        <p:blipFill>
          <a:blip r:embed="rId3">
            <a:alphaModFix/>
          </a:blip>
          <a:stretch>
            <a:fillRect/>
          </a:stretch>
        </p:blipFill>
        <p:spPr>
          <a:xfrm>
            <a:off x="152400" y="914625"/>
            <a:ext cx="4415476" cy="1988450"/>
          </a:xfrm>
          <a:prstGeom prst="rect">
            <a:avLst/>
          </a:prstGeom>
          <a:noFill/>
          <a:ln>
            <a:noFill/>
          </a:ln>
        </p:spPr>
      </p:pic>
      <p:pic>
        <p:nvPicPr>
          <p:cNvPr id="1195" name="Google Shape;1195;p147"/>
          <p:cNvPicPr preferRelativeResize="0"/>
          <p:nvPr/>
        </p:nvPicPr>
        <p:blipFill>
          <a:blip r:embed="rId4">
            <a:alphaModFix/>
          </a:blip>
          <a:stretch>
            <a:fillRect/>
          </a:stretch>
        </p:blipFill>
        <p:spPr>
          <a:xfrm>
            <a:off x="4739750" y="153750"/>
            <a:ext cx="4074800" cy="2612450"/>
          </a:xfrm>
          <a:prstGeom prst="rect">
            <a:avLst/>
          </a:prstGeom>
          <a:noFill/>
          <a:ln>
            <a:noFill/>
          </a:ln>
        </p:spPr>
      </p:pic>
      <p:pic>
        <p:nvPicPr>
          <p:cNvPr id="1196" name="Google Shape;1196;p147"/>
          <p:cNvPicPr preferRelativeResize="0"/>
          <p:nvPr/>
        </p:nvPicPr>
        <p:blipFill>
          <a:blip r:embed="rId5">
            <a:alphaModFix/>
          </a:blip>
          <a:stretch>
            <a:fillRect/>
          </a:stretch>
        </p:blipFill>
        <p:spPr>
          <a:xfrm>
            <a:off x="152400" y="2981025"/>
            <a:ext cx="4415475" cy="1988450"/>
          </a:xfrm>
          <a:prstGeom prst="rect">
            <a:avLst/>
          </a:prstGeom>
          <a:noFill/>
          <a:ln>
            <a:noFill/>
          </a:ln>
        </p:spPr>
      </p:pic>
      <p:pic>
        <p:nvPicPr>
          <p:cNvPr id="1197" name="Google Shape;1197;p147"/>
          <p:cNvPicPr preferRelativeResize="0"/>
          <p:nvPr/>
        </p:nvPicPr>
        <p:blipFill rotWithShape="1">
          <a:blip r:embed="rId6">
            <a:alphaModFix/>
          </a:blip>
          <a:srcRect b="0" l="0" r="25418" t="0"/>
          <a:stretch/>
        </p:blipFill>
        <p:spPr>
          <a:xfrm>
            <a:off x="4724125" y="2831025"/>
            <a:ext cx="4106050" cy="1988450"/>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2" name="Shape 1202"/>
        <p:cNvGrpSpPr/>
        <p:nvPr/>
      </p:nvGrpSpPr>
      <p:grpSpPr>
        <a:xfrm>
          <a:off x="0" y="0"/>
          <a:ext cx="0" cy="0"/>
          <a:chOff x="0" y="0"/>
          <a:chExt cx="0" cy="0"/>
        </a:xfrm>
      </p:grpSpPr>
      <p:sp>
        <p:nvSpPr>
          <p:cNvPr id="1203" name="Google Shape;1203;p148"/>
          <p:cNvSpPr txBox="1"/>
          <p:nvPr/>
        </p:nvSpPr>
        <p:spPr>
          <a:xfrm>
            <a:off x="573225" y="318525"/>
            <a:ext cx="8107500" cy="575400"/>
          </a:xfrm>
          <a:prstGeom prst="rect">
            <a:avLst/>
          </a:prstGeom>
          <a:noFill/>
          <a:ln>
            <a:noFill/>
          </a:ln>
        </p:spPr>
        <p:txBody>
          <a:bodyPr anchorCtr="0" anchor="t" bIns="0" lIns="0" spcFirstLastPara="1" rIns="0" wrap="square" tIns="12700">
            <a:spAutoFit/>
          </a:bodyPr>
          <a:lstStyle/>
          <a:p>
            <a:pPr indent="0" lvl="0" marL="0" rtl="0" algn="l">
              <a:lnSpc>
                <a:spcPct val="115000"/>
              </a:lnSpc>
              <a:spcBef>
                <a:spcPts val="1800"/>
              </a:spcBef>
              <a:spcAft>
                <a:spcPts val="400"/>
              </a:spcAft>
              <a:buNone/>
            </a:pPr>
            <a:r>
              <a:rPr b="1" lang="en-US" sz="1700">
                <a:highlight>
                  <a:srgbClr val="FFFFFF"/>
                </a:highlight>
                <a:latin typeface="Tahoma"/>
                <a:ea typeface="Tahoma"/>
                <a:cs typeface="Tahoma"/>
                <a:sym typeface="Tahoma"/>
              </a:rPr>
              <a:t>Write a Python program to create a Calculator class with basic arithmetic operations (addition, subtraction, multiplication, division)</a:t>
            </a:r>
            <a:endParaRPr b="1" sz="1700">
              <a:highlight>
                <a:srgbClr val="FFFFFF"/>
              </a:highlight>
              <a:latin typeface="Tahoma"/>
              <a:ea typeface="Tahoma"/>
              <a:cs typeface="Tahoma"/>
              <a:sym typeface="Tahoma"/>
            </a:endParaRPr>
          </a:p>
        </p:txBody>
      </p:sp>
      <p:sp>
        <p:nvSpPr>
          <p:cNvPr id="1204" name="Google Shape;1204;p1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1205" name="Google Shape;1205;p148"/>
          <p:cNvPicPr preferRelativeResize="0"/>
          <p:nvPr/>
        </p:nvPicPr>
        <p:blipFill>
          <a:blip r:embed="rId3">
            <a:alphaModFix/>
          </a:blip>
          <a:stretch>
            <a:fillRect/>
          </a:stretch>
        </p:blipFill>
        <p:spPr>
          <a:xfrm>
            <a:off x="2749225" y="927600"/>
            <a:ext cx="5476775" cy="3913425"/>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0" name="Shape 1210"/>
        <p:cNvGrpSpPr/>
        <p:nvPr/>
      </p:nvGrpSpPr>
      <p:grpSpPr>
        <a:xfrm>
          <a:off x="0" y="0"/>
          <a:ext cx="0" cy="0"/>
          <a:chOff x="0" y="0"/>
          <a:chExt cx="0" cy="0"/>
        </a:xfrm>
      </p:grpSpPr>
      <p:sp>
        <p:nvSpPr>
          <p:cNvPr id="1211" name="Google Shape;1211;p149"/>
          <p:cNvSpPr txBox="1"/>
          <p:nvPr/>
        </p:nvSpPr>
        <p:spPr>
          <a:xfrm>
            <a:off x="573225" y="318525"/>
            <a:ext cx="8107500" cy="876300"/>
          </a:xfrm>
          <a:prstGeom prst="rect">
            <a:avLst/>
          </a:prstGeom>
          <a:noFill/>
          <a:ln>
            <a:noFill/>
          </a:ln>
        </p:spPr>
        <p:txBody>
          <a:bodyPr anchorCtr="0" anchor="t" bIns="0" lIns="0" spcFirstLastPara="1" rIns="0" wrap="square" tIns="12700">
            <a:spAutoFit/>
          </a:bodyPr>
          <a:lstStyle/>
          <a:p>
            <a:pPr indent="0" lvl="0" marL="0" rtl="0" algn="l">
              <a:lnSpc>
                <a:spcPct val="115000"/>
              </a:lnSpc>
              <a:spcBef>
                <a:spcPts val="1800"/>
              </a:spcBef>
              <a:spcAft>
                <a:spcPts val="400"/>
              </a:spcAft>
              <a:buNone/>
            </a:pPr>
            <a:r>
              <a:rPr b="1" lang="en-US" sz="1700">
                <a:highlight>
                  <a:srgbClr val="FFFFFF"/>
                </a:highlight>
                <a:latin typeface="Tahoma"/>
                <a:ea typeface="Tahoma"/>
                <a:cs typeface="Tahoma"/>
                <a:sym typeface="Tahoma"/>
              </a:rPr>
              <a:t>Write a Python program to create a person class. Include attributes like name, country, and date of birth. Implement a method to determine the person’s age.</a:t>
            </a:r>
            <a:endParaRPr sz="2800">
              <a:highlight>
                <a:srgbClr val="FFFFFF"/>
              </a:highlight>
              <a:latin typeface="Tahoma"/>
              <a:ea typeface="Tahoma"/>
              <a:cs typeface="Tahoma"/>
              <a:sym typeface="Tahoma"/>
            </a:endParaRPr>
          </a:p>
        </p:txBody>
      </p:sp>
      <p:sp>
        <p:nvSpPr>
          <p:cNvPr id="1212" name="Google Shape;1212;p1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1213" name="Google Shape;1213;p149"/>
          <p:cNvPicPr preferRelativeResize="0"/>
          <p:nvPr/>
        </p:nvPicPr>
        <p:blipFill>
          <a:blip r:embed="rId3">
            <a:alphaModFix/>
          </a:blip>
          <a:stretch>
            <a:fillRect/>
          </a:stretch>
        </p:blipFill>
        <p:spPr>
          <a:xfrm>
            <a:off x="2099250" y="922250"/>
            <a:ext cx="6137225" cy="4043775"/>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8" name="Shape 1218"/>
        <p:cNvGrpSpPr/>
        <p:nvPr/>
      </p:nvGrpSpPr>
      <p:grpSpPr>
        <a:xfrm>
          <a:off x="0" y="0"/>
          <a:ext cx="0" cy="0"/>
          <a:chOff x="0" y="0"/>
          <a:chExt cx="0" cy="0"/>
        </a:xfrm>
      </p:grpSpPr>
      <p:sp>
        <p:nvSpPr>
          <p:cNvPr id="1219" name="Google Shape;1219;p150"/>
          <p:cNvSpPr txBox="1"/>
          <p:nvPr/>
        </p:nvSpPr>
        <p:spPr>
          <a:xfrm>
            <a:off x="573225" y="318525"/>
            <a:ext cx="8107500" cy="876300"/>
          </a:xfrm>
          <a:prstGeom prst="rect">
            <a:avLst/>
          </a:prstGeom>
          <a:noFill/>
          <a:ln>
            <a:noFill/>
          </a:ln>
        </p:spPr>
        <p:txBody>
          <a:bodyPr anchorCtr="0" anchor="t" bIns="0" lIns="0" spcFirstLastPara="1" rIns="0" wrap="square" tIns="12700">
            <a:spAutoFit/>
          </a:bodyPr>
          <a:lstStyle/>
          <a:p>
            <a:pPr indent="0" lvl="0" marL="0" rtl="0" algn="l">
              <a:lnSpc>
                <a:spcPct val="115000"/>
              </a:lnSpc>
              <a:spcBef>
                <a:spcPts val="1800"/>
              </a:spcBef>
              <a:spcAft>
                <a:spcPts val="400"/>
              </a:spcAft>
              <a:buNone/>
            </a:pPr>
            <a:r>
              <a:rPr b="1" lang="en-US" sz="1700">
                <a:highlight>
                  <a:srgbClr val="FFFFFF"/>
                </a:highlight>
                <a:latin typeface="Tahoma"/>
                <a:ea typeface="Tahoma"/>
                <a:cs typeface="Tahoma"/>
                <a:sym typeface="Tahoma"/>
              </a:rPr>
              <a:t>Write a Python program to create a class representing a shopping cart. Include methods for adding and removing items, and calculating the total price.</a:t>
            </a:r>
            <a:endParaRPr b="1" sz="1700">
              <a:highlight>
                <a:srgbClr val="FFFFFF"/>
              </a:highlight>
              <a:latin typeface="Tahoma"/>
              <a:ea typeface="Tahoma"/>
              <a:cs typeface="Tahoma"/>
              <a:sym typeface="Tahoma"/>
            </a:endParaRPr>
          </a:p>
        </p:txBody>
      </p:sp>
      <p:sp>
        <p:nvSpPr>
          <p:cNvPr id="1220" name="Google Shape;1220;p1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1221" name="Google Shape;1221;p150"/>
          <p:cNvPicPr preferRelativeResize="0"/>
          <p:nvPr/>
        </p:nvPicPr>
        <p:blipFill>
          <a:blip r:embed="rId3">
            <a:alphaModFix/>
          </a:blip>
          <a:stretch>
            <a:fillRect/>
          </a:stretch>
        </p:blipFill>
        <p:spPr>
          <a:xfrm>
            <a:off x="2018000" y="897225"/>
            <a:ext cx="6205950" cy="4112525"/>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6" name="Shape 1226"/>
        <p:cNvGrpSpPr/>
        <p:nvPr/>
      </p:nvGrpSpPr>
      <p:grpSpPr>
        <a:xfrm>
          <a:off x="0" y="0"/>
          <a:ext cx="0" cy="0"/>
          <a:chOff x="0" y="0"/>
          <a:chExt cx="0" cy="0"/>
        </a:xfrm>
      </p:grpSpPr>
      <p:sp>
        <p:nvSpPr>
          <p:cNvPr id="1227" name="Google Shape;1227;p151"/>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Directories / Folders using</a:t>
            </a:r>
            <a:r>
              <a:rPr b="1" lang="en-US" sz="3000">
                <a:solidFill>
                  <a:srgbClr val="1C3678"/>
                </a:solidFill>
                <a:latin typeface="Trebuchet MS"/>
                <a:ea typeface="Trebuchet MS"/>
                <a:cs typeface="Trebuchet MS"/>
                <a:sym typeface="Trebuchet MS"/>
              </a:rPr>
              <a:t> Python</a:t>
            </a:r>
            <a:endParaRPr b="1" sz="3000">
              <a:solidFill>
                <a:srgbClr val="1C3678"/>
              </a:solidFill>
              <a:latin typeface="Trebuchet MS"/>
              <a:ea typeface="Trebuchet MS"/>
              <a:cs typeface="Trebuchet MS"/>
              <a:sym typeface="Trebuchet MS"/>
            </a:endParaRPr>
          </a:p>
        </p:txBody>
      </p:sp>
      <p:sp>
        <p:nvSpPr>
          <p:cNvPr id="1228" name="Google Shape;1228;p151"/>
          <p:cNvSpPr txBox="1"/>
          <p:nvPr/>
        </p:nvSpPr>
        <p:spPr>
          <a:xfrm>
            <a:off x="688425" y="793125"/>
            <a:ext cx="8107500" cy="23427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latin typeface="Times"/>
                <a:ea typeface="Times"/>
                <a:cs typeface="Times"/>
                <a:sym typeface="Times"/>
              </a:rPr>
              <a:t>In Python, you can work with directories using the built-in os and pathlib modules. </a:t>
            </a:r>
            <a:endParaRPr sz="1800">
              <a:latin typeface="Times"/>
              <a:ea typeface="Times"/>
              <a:cs typeface="Times"/>
              <a:sym typeface="Times"/>
            </a:endParaRPr>
          </a:p>
          <a:p>
            <a:pPr indent="-342900" lvl="0" marL="457200" rtl="0" algn="just">
              <a:spcBef>
                <a:spcPts val="0"/>
              </a:spcBef>
              <a:spcAft>
                <a:spcPts val="0"/>
              </a:spcAft>
              <a:buSzPts val="1800"/>
              <a:buFont typeface="Times"/>
              <a:buChar char="●"/>
            </a:pPr>
            <a:r>
              <a:rPr lang="en-US" sz="1800">
                <a:latin typeface="Times"/>
                <a:ea typeface="Times"/>
                <a:cs typeface="Times"/>
                <a:sym typeface="Times"/>
              </a:rPr>
              <a:t>These modules provide functionalities for creating, deleting, and navigating directories, as well as retrieving information about them. </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Using the os Module</a:t>
            </a:r>
            <a:endParaRPr sz="1800">
              <a:latin typeface="Times"/>
              <a:ea typeface="Times"/>
              <a:cs typeface="Times"/>
              <a:sym typeface="Times"/>
            </a:endParaRPr>
          </a:p>
          <a:p>
            <a:pPr indent="-342900" lvl="2" marL="1371600" rtl="0" algn="just">
              <a:spcBef>
                <a:spcPts val="0"/>
              </a:spcBef>
              <a:spcAft>
                <a:spcPts val="0"/>
              </a:spcAft>
              <a:buSzPts val="1800"/>
              <a:buFont typeface="Times"/>
              <a:buChar char="■"/>
            </a:pPr>
            <a:r>
              <a:rPr lang="en-US" sz="1800">
                <a:latin typeface="Times"/>
                <a:ea typeface="Times"/>
                <a:cs typeface="Times"/>
                <a:sym typeface="Times"/>
              </a:rPr>
              <a:t>The os </a:t>
            </a:r>
            <a:r>
              <a:rPr lang="en-US" sz="1800">
                <a:latin typeface="Times"/>
                <a:ea typeface="Times"/>
                <a:cs typeface="Times"/>
                <a:sym typeface="Times"/>
              </a:rPr>
              <a:t>module provides a normal approach to working with directories.</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Using</a:t>
            </a:r>
            <a:r>
              <a:rPr lang="en-US" sz="1800">
                <a:latin typeface="Times"/>
                <a:ea typeface="Times"/>
                <a:cs typeface="Times"/>
                <a:sym typeface="Times"/>
              </a:rPr>
              <a:t> the pathlib Module</a:t>
            </a:r>
            <a:endParaRPr sz="1800">
              <a:latin typeface="Times"/>
              <a:ea typeface="Times"/>
              <a:cs typeface="Times"/>
              <a:sym typeface="Times"/>
            </a:endParaRPr>
          </a:p>
          <a:p>
            <a:pPr indent="-342900" lvl="2" marL="1371600" rtl="0" algn="just">
              <a:spcBef>
                <a:spcPts val="0"/>
              </a:spcBef>
              <a:spcAft>
                <a:spcPts val="0"/>
              </a:spcAft>
              <a:buSzPts val="1800"/>
              <a:buFont typeface="Times"/>
              <a:buChar char="■"/>
            </a:pPr>
            <a:r>
              <a:rPr lang="en-US" sz="1800">
                <a:latin typeface="Times"/>
                <a:ea typeface="Times"/>
                <a:cs typeface="Times"/>
                <a:sym typeface="Times"/>
              </a:rPr>
              <a:t>The pathlib module provides a more object-oriented approach to working with directories.</a:t>
            </a:r>
            <a:endParaRPr sz="1800">
              <a:latin typeface="Times"/>
              <a:ea typeface="Times"/>
              <a:cs typeface="Times"/>
              <a:sym typeface="Times"/>
            </a:endParaRPr>
          </a:p>
        </p:txBody>
      </p:sp>
      <p:sp>
        <p:nvSpPr>
          <p:cNvPr id="1229" name="Google Shape;1229;p1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4" name="Shape 1234"/>
        <p:cNvGrpSpPr/>
        <p:nvPr/>
      </p:nvGrpSpPr>
      <p:grpSpPr>
        <a:xfrm>
          <a:off x="0" y="0"/>
          <a:ext cx="0" cy="0"/>
          <a:chOff x="0" y="0"/>
          <a:chExt cx="0" cy="0"/>
        </a:xfrm>
      </p:grpSpPr>
      <p:sp>
        <p:nvSpPr>
          <p:cNvPr id="1235" name="Google Shape;1235;p152"/>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Directories using Python</a:t>
            </a:r>
            <a:endParaRPr b="1" sz="3000">
              <a:solidFill>
                <a:srgbClr val="1C3678"/>
              </a:solidFill>
              <a:latin typeface="Trebuchet MS"/>
              <a:ea typeface="Trebuchet MS"/>
              <a:cs typeface="Trebuchet MS"/>
              <a:sym typeface="Trebuchet MS"/>
            </a:endParaRPr>
          </a:p>
        </p:txBody>
      </p:sp>
      <p:sp>
        <p:nvSpPr>
          <p:cNvPr id="1236" name="Google Shape;1236;p152"/>
          <p:cNvSpPr txBox="1"/>
          <p:nvPr/>
        </p:nvSpPr>
        <p:spPr>
          <a:xfrm>
            <a:off x="688425" y="793125"/>
            <a:ext cx="8107500" cy="3295800"/>
          </a:xfrm>
          <a:prstGeom prst="rect">
            <a:avLst/>
          </a:prstGeom>
          <a:noFill/>
          <a:ln>
            <a:noFill/>
          </a:ln>
        </p:spPr>
        <p:txBody>
          <a:bodyPr anchorCtr="0" anchor="t" bIns="0" lIns="0" spcFirstLastPara="1" rIns="0" wrap="square" tIns="125075">
            <a:spAutoFit/>
          </a:bodyPr>
          <a:lstStyle/>
          <a:p>
            <a:pPr indent="0" lvl="0" marL="0" rtl="0" algn="just">
              <a:spcBef>
                <a:spcPts val="290"/>
              </a:spcBef>
              <a:spcAft>
                <a:spcPts val="0"/>
              </a:spcAft>
              <a:buNone/>
            </a:pPr>
            <a:r>
              <a:rPr lang="en-US" sz="1800">
                <a:latin typeface="Times"/>
                <a:ea typeface="Times"/>
                <a:cs typeface="Times"/>
                <a:sym typeface="Times"/>
              </a:rPr>
              <a:t>Using the os Module</a:t>
            </a:r>
            <a:endParaRPr sz="1800">
              <a:latin typeface="Times"/>
              <a:ea typeface="Times"/>
              <a:cs typeface="Times"/>
              <a:sym typeface="Times"/>
            </a:endParaRPr>
          </a:p>
          <a:p>
            <a:pPr indent="-342900" lvl="0" marL="457200" rtl="0" algn="just">
              <a:spcBef>
                <a:spcPts val="290"/>
              </a:spcBef>
              <a:spcAft>
                <a:spcPts val="0"/>
              </a:spcAft>
              <a:buSzPts val="1800"/>
              <a:buFont typeface="Times"/>
              <a:buChar char="●"/>
            </a:pPr>
            <a:r>
              <a:rPr lang="en-US" sz="1800">
                <a:latin typeface="Times"/>
                <a:ea typeface="Times"/>
                <a:cs typeface="Times"/>
                <a:sym typeface="Times"/>
              </a:rPr>
              <a:t>Importing the os Module</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Before you start working with directories, you need to import the os module:</a:t>
            </a:r>
            <a:endParaRPr sz="18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import os</a:t>
            </a:r>
            <a:endParaRPr i="1" sz="1700">
              <a:latin typeface="Times"/>
              <a:ea typeface="Times"/>
              <a:cs typeface="Times"/>
              <a:sym typeface="Times"/>
            </a:endParaRPr>
          </a:p>
          <a:p>
            <a:pPr indent="-342900" lvl="0" marL="457200" rtl="0" algn="just">
              <a:spcBef>
                <a:spcPts val="290"/>
              </a:spcBef>
              <a:spcAft>
                <a:spcPts val="0"/>
              </a:spcAft>
              <a:buSzPts val="1800"/>
              <a:buFont typeface="Times"/>
              <a:buChar char="●"/>
            </a:pPr>
            <a:r>
              <a:rPr lang="en-US" sz="1800">
                <a:latin typeface="Times"/>
                <a:ea typeface="Times"/>
                <a:cs typeface="Times"/>
                <a:sym typeface="Times"/>
              </a:rPr>
              <a:t>Creating a Directory</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You can create a new directory using os.mkdir() or os.makedirs(). </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The os.makedirs() function can create intermediate directories as well.</a:t>
            </a:r>
            <a:endParaRPr sz="18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 Create a single directory</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os.mkdir('my_directory')</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 Create nested directories</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os.makedirs('parent_directory/child_directory')</a:t>
            </a:r>
            <a:endParaRPr sz="1800">
              <a:latin typeface="Times"/>
              <a:ea typeface="Times"/>
              <a:cs typeface="Times"/>
              <a:sym typeface="Times"/>
            </a:endParaRPr>
          </a:p>
        </p:txBody>
      </p:sp>
      <p:sp>
        <p:nvSpPr>
          <p:cNvPr id="1237" name="Google Shape;1237;p1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2" name="Shape 1242"/>
        <p:cNvGrpSpPr/>
        <p:nvPr/>
      </p:nvGrpSpPr>
      <p:grpSpPr>
        <a:xfrm>
          <a:off x="0" y="0"/>
          <a:ext cx="0" cy="0"/>
          <a:chOff x="0" y="0"/>
          <a:chExt cx="0" cy="0"/>
        </a:xfrm>
      </p:grpSpPr>
      <p:sp>
        <p:nvSpPr>
          <p:cNvPr id="1243" name="Google Shape;1243;p153"/>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Directories using Python</a:t>
            </a:r>
            <a:endParaRPr b="1" sz="3000">
              <a:solidFill>
                <a:srgbClr val="1C3678"/>
              </a:solidFill>
              <a:latin typeface="Trebuchet MS"/>
              <a:ea typeface="Trebuchet MS"/>
              <a:cs typeface="Trebuchet MS"/>
              <a:sym typeface="Trebuchet MS"/>
            </a:endParaRPr>
          </a:p>
        </p:txBody>
      </p:sp>
      <p:sp>
        <p:nvSpPr>
          <p:cNvPr id="1244" name="Google Shape;1244;p153"/>
          <p:cNvSpPr txBox="1"/>
          <p:nvPr/>
        </p:nvSpPr>
        <p:spPr>
          <a:xfrm>
            <a:off x="688425" y="793125"/>
            <a:ext cx="8107500" cy="4155300"/>
          </a:xfrm>
          <a:prstGeom prst="rect">
            <a:avLst/>
          </a:prstGeom>
          <a:noFill/>
          <a:ln>
            <a:noFill/>
          </a:ln>
        </p:spPr>
        <p:txBody>
          <a:bodyPr anchorCtr="0" anchor="t" bIns="0" lIns="0" spcFirstLastPara="1" rIns="0" wrap="square" tIns="125075">
            <a:spAutoFit/>
          </a:bodyPr>
          <a:lstStyle/>
          <a:p>
            <a:pPr indent="0" lvl="0" marL="0" rtl="0" algn="just">
              <a:spcBef>
                <a:spcPts val="290"/>
              </a:spcBef>
              <a:spcAft>
                <a:spcPts val="0"/>
              </a:spcAft>
              <a:buNone/>
            </a:pPr>
            <a:r>
              <a:rPr lang="en-US" sz="1800">
                <a:latin typeface="Times"/>
                <a:ea typeface="Times"/>
                <a:cs typeface="Times"/>
                <a:sym typeface="Times"/>
              </a:rPr>
              <a:t>Using the os Module</a:t>
            </a:r>
            <a:endParaRPr sz="1800">
              <a:latin typeface="Times"/>
              <a:ea typeface="Times"/>
              <a:cs typeface="Times"/>
              <a:sym typeface="Times"/>
            </a:endParaRPr>
          </a:p>
          <a:p>
            <a:pPr indent="-342900" lvl="0" marL="457200" rtl="0" algn="just">
              <a:spcBef>
                <a:spcPts val="290"/>
              </a:spcBef>
              <a:spcAft>
                <a:spcPts val="0"/>
              </a:spcAft>
              <a:buSzPts val="1800"/>
              <a:buFont typeface="Times"/>
              <a:buChar char="●"/>
            </a:pPr>
            <a:r>
              <a:rPr lang="en-US" sz="1800">
                <a:latin typeface="Times"/>
                <a:ea typeface="Times"/>
                <a:cs typeface="Times"/>
                <a:sym typeface="Times"/>
              </a:rPr>
              <a:t>Listing Files in a Directory</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To list files and subdirectories in a directory, you can use os.listdir().</a:t>
            </a:r>
            <a:endParaRPr sz="1800">
              <a:latin typeface="Times"/>
              <a:ea typeface="Times"/>
              <a:cs typeface="Times"/>
              <a:sym typeface="Times"/>
            </a:endParaRPr>
          </a:p>
          <a:p>
            <a:pPr indent="0" lvl="0" marL="1371600" rtl="0" algn="just">
              <a:spcBef>
                <a:spcPts val="290"/>
              </a:spcBef>
              <a:spcAft>
                <a:spcPts val="0"/>
              </a:spcAft>
              <a:buNone/>
            </a:pPr>
            <a:r>
              <a:rPr i="1" lang="en-US" sz="1600">
                <a:latin typeface="Times"/>
                <a:ea typeface="Times"/>
                <a:cs typeface="Times"/>
                <a:sym typeface="Times"/>
              </a:rPr>
              <a:t>files = os.listdir('my_directory')</a:t>
            </a:r>
            <a:endParaRPr i="1" sz="1600">
              <a:latin typeface="Times"/>
              <a:ea typeface="Times"/>
              <a:cs typeface="Times"/>
              <a:sym typeface="Times"/>
            </a:endParaRPr>
          </a:p>
          <a:p>
            <a:pPr indent="0" lvl="0" marL="1371600" rtl="0" algn="just">
              <a:spcBef>
                <a:spcPts val="290"/>
              </a:spcBef>
              <a:spcAft>
                <a:spcPts val="0"/>
              </a:spcAft>
              <a:buNone/>
            </a:pPr>
            <a:r>
              <a:rPr i="1" lang="en-US" sz="1600">
                <a:latin typeface="Times"/>
                <a:ea typeface="Times"/>
                <a:cs typeface="Times"/>
                <a:sym typeface="Times"/>
              </a:rPr>
              <a:t>print(files)</a:t>
            </a:r>
            <a:endParaRPr i="1" sz="1600">
              <a:latin typeface="Times"/>
              <a:ea typeface="Times"/>
              <a:cs typeface="Times"/>
              <a:sym typeface="Times"/>
            </a:endParaRPr>
          </a:p>
          <a:p>
            <a:pPr indent="-342900" lvl="0" marL="457200" rtl="0" algn="just">
              <a:spcBef>
                <a:spcPts val="290"/>
              </a:spcBef>
              <a:spcAft>
                <a:spcPts val="0"/>
              </a:spcAft>
              <a:buSzPts val="1800"/>
              <a:buFont typeface="Times"/>
              <a:buChar char="●"/>
            </a:pPr>
            <a:r>
              <a:rPr lang="en-US" sz="1800">
                <a:latin typeface="Times"/>
                <a:ea typeface="Times"/>
                <a:cs typeface="Times"/>
                <a:sym typeface="Times"/>
              </a:rPr>
              <a:t>Changing the Current Working Directory</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You can change the current working directory using os.chdir().</a:t>
            </a:r>
            <a:endParaRPr sz="1800">
              <a:latin typeface="Times"/>
              <a:ea typeface="Times"/>
              <a:cs typeface="Times"/>
              <a:sym typeface="Times"/>
            </a:endParaRPr>
          </a:p>
          <a:p>
            <a:pPr indent="0" lvl="0" marL="1371600" rtl="0" algn="just">
              <a:spcBef>
                <a:spcPts val="290"/>
              </a:spcBef>
              <a:spcAft>
                <a:spcPts val="0"/>
              </a:spcAft>
              <a:buNone/>
            </a:pPr>
            <a:r>
              <a:rPr i="1" lang="en-US" sz="1600">
                <a:latin typeface="Times"/>
                <a:ea typeface="Times"/>
                <a:cs typeface="Times"/>
                <a:sym typeface="Times"/>
              </a:rPr>
              <a:t>os.chdir('my_directory')</a:t>
            </a:r>
            <a:endParaRPr i="1" sz="1600">
              <a:latin typeface="Times"/>
              <a:ea typeface="Times"/>
              <a:cs typeface="Times"/>
              <a:sym typeface="Times"/>
            </a:endParaRPr>
          </a:p>
          <a:p>
            <a:pPr indent="0" lvl="0" marL="1371600" rtl="0" algn="just">
              <a:spcBef>
                <a:spcPts val="290"/>
              </a:spcBef>
              <a:spcAft>
                <a:spcPts val="0"/>
              </a:spcAft>
              <a:buNone/>
            </a:pPr>
            <a:r>
              <a:rPr i="1" lang="en-US" sz="1600">
                <a:latin typeface="Times"/>
                <a:ea typeface="Times"/>
                <a:cs typeface="Times"/>
                <a:sym typeface="Times"/>
              </a:rPr>
              <a:t>print("Current Working Directory:", os.getcwd())</a:t>
            </a:r>
            <a:endParaRPr i="1" sz="1600">
              <a:latin typeface="Times"/>
              <a:ea typeface="Times"/>
              <a:cs typeface="Times"/>
              <a:sym typeface="Times"/>
            </a:endParaRPr>
          </a:p>
          <a:p>
            <a:pPr indent="-342900" lvl="0" marL="457200" rtl="0" algn="just">
              <a:spcBef>
                <a:spcPts val="290"/>
              </a:spcBef>
              <a:spcAft>
                <a:spcPts val="0"/>
              </a:spcAft>
              <a:buSzPts val="1800"/>
              <a:buFont typeface="Times"/>
              <a:buChar char="●"/>
            </a:pPr>
            <a:r>
              <a:rPr lang="en-US" sz="1800">
                <a:latin typeface="Times"/>
                <a:ea typeface="Times"/>
                <a:cs typeface="Times"/>
                <a:sym typeface="Times"/>
              </a:rPr>
              <a:t>Deleting a Directory</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You can remove a directory using os.rmdir() (for empty directories) or os.removedirs() (for nested directories).</a:t>
            </a:r>
            <a:endParaRPr i="1" sz="17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os.rmdir('my_directory') # Remove an empty directory</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os.removedirs('parent_directory/child_directory') # Remove nested directories</a:t>
            </a:r>
            <a:endParaRPr i="1">
              <a:latin typeface="Times"/>
              <a:ea typeface="Times"/>
              <a:cs typeface="Times"/>
              <a:sym typeface="Times"/>
            </a:endParaRPr>
          </a:p>
        </p:txBody>
      </p:sp>
      <p:sp>
        <p:nvSpPr>
          <p:cNvPr id="1245" name="Google Shape;1245;p1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0" name="Shape 1250"/>
        <p:cNvGrpSpPr/>
        <p:nvPr/>
      </p:nvGrpSpPr>
      <p:grpSpPr>
        <a:xfrm>
          <a:off x="0" y="0"/>
          <a:ext cx="0" cy="0"/>
          <a:chOff x="0" y="0"/>
          <a:chExt cx="0" cy="0"/>
        </a:xfrm>
      </p:grpSpPr>
      <p:sp>
        <p:nvSpPr>
          <p:cNvPr id="1251" name="Google Shape;1251;p154"/>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Directories using Python</a:t>
            </a:r>
            <a:endParaRPr b="1" sz="3000">
              <a:solidFill>
                <a:srgbClr val="1C3678"/>
              </a:solidFill>
              <a:latin typeface="Trebuchet MS"/>
              <a:ea typeface="Trebuchet MS"/>
              <a:cs typeface="Trebuchet MS"/>
              <a:sym typeface="Trebuchet MS"/>
            </a:endParaRPr>
          </a:p>
        </p:txBody>
      </p:sp>
      <p:sp>
        <p:nvSpPr>
          <p:cNvPr id="1252" name="Google Shape;1252;p154"/>
          <p:cNvSpPr txBox="1"/>
          <p:nvPr/>
        </p:nvSpPr>
        <p:spPr>
          <a:xfrm>
            <a:off x="688425" y="793125"/>
            <a:ext cx="8107500" cy="3884700"/>
          </a:xfrm>
          <a:prstGeom prst="rect">
            <a:avLst/>
          </a:prstGeom>
          <a:noFill/>
          <a:ln>
            <a:noFill/>
          </a:ln>
        </p:spPr>
        <p:txBody>
          <a:bodyPr anchorCtr="0" anchor="t" bIns="0" lIns="0" spcFirstLastPara="1" rIns="0" wrap="square" tIns="125075">
            <a:spAutoFit/>
          </a:bodyPr>
          <a:lstStyle/>
          <a:p>
            <a:pPr indent="0" lvl="0" marL="0" rtl="0" algn="just">
              <a:spcBef>
                <a:spcPts val="290"/>
              </a:spcBef>
              <a:spcAft>
                <a:spcPts val="0"/>
              </a:spcAft>
              <a:buNone/>
            </a:pPr>
            <a:r>
              <a:rPr lang="en-US" sz="1800">
                <a:latin typeface="Times"/>
                <a:ea typeface="Times"/>
                <a:cs typeface="Times"/>
                <a:sym typeface="Times"/>
              </a:rPr>
              <a:t>Using the pathlib Module</a:t>
            </a:r>
            <a:endParaRPr sz="1800">
              <a:latin typeface="Times"/>
              <a:ea typeface="Times"/>
              <a:cs typeface="Times"/>
              <a:sym typeface="Times"/>
            </a:endParaRPr>
          </a:p>
          <a:p>
            <a:pPr indent="-342900" lvl="0" marL="457200" rtl="0" algn="just">
              <a:spcBef>
                <a:spcPts val="290"/>
              </a:spcBef>
              <a:spcAft>
                <a:spcPts val="0"/>
              </a:spcAft>
              <a:buSzPts val="1800"/>
              <a:buFont typeface="Times"/>
              <a:buChar char="●"/>
            </a:pPr>
            <a:r>
              <a:rPr lang="en-US" sz="1800">
                <a:latin typeface="Times"/>
                <a:ea typeface="Times"/>
                <a:cs typeface="Times"/>
                <a:sym typeface="Times"/>
              </a:rPr>
              <a:t>I</a:t>
            </a:r>
            <a:r>
              <a:rPr lang="en-US" sz="1800">
                <a:latin typeface="Times"/>
                <a:ea typeface="Times"/>
                <a:cs typeface="Times"/>
                <a:sym typeface="Times"/>
              </a:rPr>
              <a:t>mporting the pathlib Module</a:t>
            </a:r>
            <a:endParaRPr sz="1800">
              <a:latin typeface="Times"/>
              <a:ea typeface="Times"/>
              <a:cs typeface="Times"/>
              <a:sym typeface="Times"/>
            </a:endParaRPr>
          </a:p>
          <a:p>
            <a:pPr indent="457200" lvl="0" marL="457200" rtl="0" algn="just">
              <a:spcBef>
                <a:spcPts val="290"/>
              </a:spcBef>
              <a:spcAft>
                <a:spcPts val="0"/>
              </a:spcAft>
              <a:buNone/>
            </a:pPr>
            <a:r>
              <a:rPr i="1" lang="en-US" sz="1600">
                <a:latin typeface="Times"/>
                <a:ea typeface="Times"/>
                <a:cs typeface="Times"/>
                <a:sym typeface="Times"/>
              </a:rPr>
              <a:t>from pathlib import Path</a:t>
            </a:r>
            <a:endParaRPr i="1" sz="1600">
              <a:latin typeface="Times"/>
              <a:ea typeface="Times"/>
              <a:cs typeface="Times"/>
              <a:sym typeface="Times"/>
            </a:endParaRPr>
          </a:p>
          <a:p>
            <a:pPr indent="-342900" lvl="0" marL="457200" rtl="0" algn="just">
              <a:spcBef>
                <a:spcPts val="290"/>
              </a:spcBef>
              <a:spcAft>
                <a:spcPts val="0"/>
              </a:spcAft>
              <a:buSzPts val="1800"/>
              <a:buFont typeface="Times"/>
              <a:buChar char="●"/>
            </a:pPr>
            <a:r>
              <a:rPr lang="en-US" sz="1800">
                <a:latin typeface="Times"/>
                <a:ea typeface="Times"/>
                <a:cs typeface="Times"/>
                <a:sym typeface="Times"/>
              </a:rPr>
              <a:t>Creating a Directory</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You can create a directory using the mkdir() method.</a:t>
            </a:r>
            <a:endParaRPr sz="18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 Create a single directory</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Path('my_directory').mkdir(exist_ok=True)</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 Create nested directories</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Path('parent_directory/child_directory').mkdir(parents=True, exist_ok=True)</a:t>
            </a:r>
            <a:endParaRPr i="1" sz="1600">
              <a:latin typeface="Times"/>
              <a:ea typeface="Times"/>
              <a:cs typeface="Times"/>
              <a:sym typeface="Times"/>
            </a:endParaRPr>
          </a:p>
          <a:p>
            <a:pPr indent="-342900" lvl="0" marL="457200" rtl="0" algn="just">
              <a:spcBef>
                <a:spcPts val="290"/>
              </a:spcBef>
              <a:spcAft>
                <a:spcPts val="0"/>
              </a:spcAft>
              <a:buSzPts val="1800"/>
              <a:buFont typeface="Times"/>
              <a:buChar char="●"/>
            </a:pPr>
            <a:r>
              <a:rPr lang="en-US" sz="1800">
                <a:latin typeface="Times"/>
                <a:ea typeface="Times"/>
                <a:cs typeface="Times"/>
                <a:sym typeface="Times"/>
              </a:rPr>
              <a:t>Listing Files in a Directory</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You can list all files in a directory using the iterdir() method.</a:t>
            </a:r>
            <a:endParaRPr sz="18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for file in Path('my_directory').iterdir():</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    print(file)</a:t>
            </a:r>
            <a:endParaRPr sz="1800">
              <a:latin typeface="Times"/>
              <a:ea typeface="Times"/>
              <a:cs typeface="Times"/>
              <a:sym typeface="Times"/>
            </a:endParaRPr>
          </a:p>
        </p:txBody>
      </p:sp>
      <p:sp>
        <p:nvSpPr>
          <p:cNvPr id="1253" name="Google Shape;1253;p1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8" name="Shape 1258"/>
        <p:cNvGrpSpPr/>
        <p:nvPr/>
      </p:nvGrpSpPr>
      <p:grpSpPr>
        <a:xfrm>
          <a:off x="0" y="0"/>
          <a:ext cx="0" cy="0"/>
          <a:chOff x="0" y="0"/>
          <a:chExt cx="0" cy="0"/>
        </a:xfrm>
      </p:grpSpPr>
      <p:sp>
        <p:nvSpPr>
          <p:cNvPr id="1259" name="Google Shape;1259;p155"/>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Directories using Python</a:t>
            </a:r>
            <a:endParaRPr b="1" sz="3000">
              <a:solidFill>
                <a:srgbClr val="1C3678"/>
              </a:solidFill>
              <a:latin typeface="Trebuchet MS"/>
              <a:ea typeface="Trebuchet MS"/>
              <a:cs typeface="Trebuchet MS"/>
              <a:sym typeface="Trebuchet MS"/>
            </a:endParaRPr>
          </a:p>
        </p:txBody>
      </p:sp>
      <p:sp>
        <p:nvSpPr>
          <p:cNvPr id="1260" name="Google Shape;1260;p155"/>
          <p:cNvSpPr txBox="1"/>
          <p:nvPr/>
        </p:nvSpPr>
        <p:spPr>
          <a:xfrm>
            <a:off x="688425" y="793125"/>
            <a:ext cx="8107500" cy="4124400"/>
          </a:xfrm>
          <a:prstGeom prst="rect">
            <a:avLst/>
          </a:prstGeom>
          <a:noFill/>
          <a:ln>
            <a:noFill/>
          </a:ln>
        </p:spPr>
        <p:txBody>
          <a:bodyPr anchorCtr="0" anchor="t" bIns="0" lIns="0" spcFirstLastPara="1" rIns="0" wrap="square" tIns="125075">
            <a:spAutoFit/>
          </a:bodyPr>
          <a:lstStyle/>
          <a:p>
            <a:pPr indent="0" lvl="0" marL="0" rtl="0" algn="just">
              <a:spcBef>
                <a:spcPts val="290"/>
              </a:spcBef>
              <a:spcAft>
                <a:spcPts val="0"/>
              </a:spcAft>
              <a:buNone/>
            </a:pPr>
            <a:r>
              <a:rPr lang="en-US" sz="1800">
                <a:latin typeface="Times"/>
                <a:ea typeface="Times"/>
                <a:cs typeface="Times"/>
                <a:sym typeface="Times"/>
              </a:rPr>
              <a:t>Using the pathlib Module</a:t>
            </a:r>
            <a:endParaRPr sz="1800">
              <a:latin typeface="Times"/>
              <a:ea typeface="Times"/>
              <a:cs typeface="Times"/>
              <a:sym typeface="Times"/>
            </a:endParaRPr>
          </a:p>
          <a:p>
            <a:pPr indent="-342900" lvl="0" marL="457200" rtl="0" algn="just">
              <a:spcBef>
                <a:spcPts val="290"/>
              </a:spcBef>
              <a:spcAft>
                <a:spcPts val="0"/>
              </a:spcAft>
              <a:buSzPts val="1800"/>
              <a:buFont typeface="Times"/>
              <a:buChar char="●"/>
            </a:pPr>
            <a:r>
              <a:rPr lang="en-US" sz="1800">
                <a:latin typeface="Times"/>
                <a:ea typeface="Times"/>
                <a:cs typeface="Times"/>
                <a:sym typeface="Times"/>
              </a:rPr>
              <a:t>Changing the Current Working Directory</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Unlike os, pathlib doesn’t provide a direct method to change the working directory, but you can get the current path easily:</a:t>
            </a:r>
            <a:endParaRPr sz="18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current_path = Path.cwd()</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print("Current Working Directory:", current_path)</a:t>
            </a:r>
            <a:endParaRPr i="1" sz="1600">
              <a:latin typeface="Times"/>
              <a:ea typeface="Times"/>
              <a:cs typeface="Times"/>
              <a:sym typeface="Times"/>
            </a:endParaRPr>
          </a:p>
          <a:p>
            <a:pPr indent="-342900" lvl="0" marL="457200" rtl="0" algn="just">
              <a:spcBef>
                <a:spcPts val="290"/>
              </a:spcBef>
              <a:spcAft>
                <a:spcPts val="0"/>
              </a:spcAft>
              <a:buSzPts val="1800"/>
              <a:buFont typeface="Times"/>
              <a:buChar char="●"/>
            </a:pPr>
            <a:r>
              <a:rPr lang="en-US" sz="1800">
                <a:latin typeface="Times"/>
                <a:ea typeface="Times"/>
                <a:cs typeface="Times"/>
                <a:sym typeface="Times"/>
              </a:rPr>
              <a:t>Deleting a Directory</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You can remove directories using the rmdir() method (for empty directories) or the shutil module for non-empty directories.</a:t>
            </a:r>
            <a:endParaRPr sz="18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import shutil</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 Remove an empty directory</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Path('my_directory').rmdir()</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 Remove a non-empty directory</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shutil.rmtree('parent_directory')</a:t>
            </a:r>
            <a:endParaRPr sz="1800">
              <a:latin typeface="Times"/>
              <a:ea typeface="Times"/>
              <a:cs typeface="Times"/>
              <a:sym typeface="Times"/>
            </a:endParaRPr>
          </a:p>
        </p:txBody>
      </p:sp>
      <p:sp>
        <p:nvSpPr>
          <p:cNvPr id="1261" name="Google Shape;1261;p1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6" name="Shape 1266"/>
        <p:cNvGrpSpPr/>
        <p:nvPr/>
      </p:nvGrpSpPr>
      <p:grpSpPr>
        <a:xfrm>
          <a:off x="0" y="0"/>
          <a:ext cx="0" cy="0"/>
          <a:chOff x="0" y="0"/>
          <a:chExt cx="0" cy="0"/>
        </a:xfrm>
      </p:grpSpPr>
      <p:sp>
        <p:nvSpPr>
          <p:cNvPr id="1267" name="Google Shape;1267;p156"/>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Files</a:t>
            </a:r>
            <a:r>
              <a:rPr b="1" lang="en-US" sz="3000">
                <a:solidFill>
                  <a:srgbClr val="1C3678"/>
                </a:solidFill>
                <a:latin typeface="Trebuchet MS"/>
                <a:ea typeface="Trebuchet MS"/>
                <a:cs typeface="Trebuchet MS"/>
                <a:sym typeface="Trebuchet MS"/>
              </a:rPr>
              <a:t> using Python</a:t>
            </a:r>
            <a:endParaRPr b="1" sz="3000">
              <a:solidFill>
                <a:srgbClr val="1C3678"/>
              </a:solidFill>
              <a:latin typeface="Trebuchet MS"/>
              <a:ea typeface="Trebuchet MS"/>
              <a:cs typeface="Trebuchet MS"/>
              <a:sym typeface="Trebuchet MS"/>
            </a:endParaRPr>
          </a:p>
        </p:txBody>
      </p:sp>
      <p:sp>
        <p:nvSpPr>
          <p:cNvPr id="1268" name="Google Shape;1268;p156"/>
          <p:cNvSpPr txBox="1"/>
          <p:nvPr/>
        </p:nvSpPr>
        <p:spPr>
          <a:xfrm>
            <a:off x="688425" y="793125"/>
            <a:ext cx="8107500" cy="35628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latin typeface="Times"/>
                <a:ea typeface="Times"/>
                <a:cs typeface="Times"/>
                <a:sym typeface="Times"/>
              </a:rPr>
              <a:t>Files are used to store data persistently, allowing you to read from and write to files on your system. </a:t>
            </a:r>
            <a:endParaRPr sz="1800">
              <a:latin typeface="Times"/>
              <a:ea typeface="Times"/>
              <a:cs typeface="Times"/>
              <a:sym typeface="Times"/>
            </a:endParaRPr>
          </a:p>
          <a:p>
            <a:pPr indent="-342900" lvl="0" marL="457200" rtl="0" algn="just">
              <a:spcBef>
                <a:spcPts val="0"/>
              </a:spcBef>
              <a:spcAft>
                <a:spcPts val="0"/>
              </a:spcAft>
              <a:buSzPts val="1800"/>
              <a:buFont typeface="Times"/>
              <a:buChar char="●"/>
            </a:pPr>
            <a:r>
              <a:rPr lang="en-US" sz="1800">
                <a:latin typeface="Times"/>
                <a:ea typeface="Times"/>
                <a:cs typeface="Times"/>
                <a:sym typeface="Times"/>
              </a:rPr>
              <a:t>The built-in open() function, along with methods provided by file objects, facilitates file operations. </a:t>
            </a:r>
            <a:endParaRPr sz="1800">
              <a:latin typeface="Times"/>
              <a:ea typeface="Times"/>
              <a:cs typeface="Times"/>
              <a:sym typeface="Times"/>
            </a:endParaRPr>
          </a:p>
          <a:p>
            <a:pPr indent="0" lvl="0" marL="457200" rtl="0" algn="just">
              <a:spcBef>
                <a:spcPts val="290"/>
              </a:spcBef>
              <a:spcAft>
                <a:spcPts val="0"/>
              </a:spcAft>
              <a:buNone/>
            </a:pPr>
            <a:r>
              <a:t/>
            </a:r>
            <a:endParaRPr sz="1800">
              <a:latin typeface="Times"/>
              <a:ea typeface="Times"/>
              <a:cs typeface="Times"/>
              <a:sym typeface="Times"/>
            </a:endParaRPr>
          </a:p>
          <a:p>
            <a:pPr indent="0" lvl="0" marL="0" rtl="0" algn="just">
              <a:spcBef>
                <a:spcPts val="290"/>
              </a:spcBef>
              <a:spcAft>
                <a:spcPts val="0"/>
              </a:spcAft>
              <a:buNone/>
            </a:pPr>
            <a:r>
              <a:rPr lang="en-US" sz="1800">
                <a:latin typeface="Times"/>
                <a:ea typeface="Times"/>
                <a:cs typeface="Times"/>
                <a:sym typeface="Times"/>
              </a:rPr>
              <a:t>Types of Files</a:t>
            </a:r>
            <a:endParaRPr sz="1800">
              <a:latin typeface="Times"/>
              <a:ea typeface="Times"/>
              <a:cs typeface="Times"/>
              <a:sym typeface="Times"/>
            </a:endParaRPr>
          </a:p>
          <a:p>
            <a:pPr indent="-342900" lvl="1" marL="914400" rtl="0" algn="just">
              <a:spcBef>
                <a:spcPts val="290"/>
              </a:spcBef>
              <a:spcAft>
                <a:spcPts val="0"/>
              </a:spcAft>
              <a:buSzPts val="1800"/>
              <a:buFont typeface="Times"/>
              <a:buChar char="○"/>
            </a:pPr>
            <a:r>
              <a:rPr lang="en-US" sz="1800">
                <a:latin typeface="Times"/>
                <a:ea typeface="Times"/>
                <a:cs typeface="Times"/>
                <a:sym typeface="Times"/>
              </a:rPr>
              <a:t>Text Files: </a:t>
            </a:r>
            <a:endParaRPr sz="1800">
              <a:latin typeface="Times"/>
              <a:ea typeface="Times"/>
              <a:cs typeface="Times"/>
              <a:sym typeface="Times"/>
            </a:endParaRPr>
          </a:p>
          <a:p>
            <a:pPr indent="-342900" lvl="2" marL="1371600" rtl="0" algn="just">
              <a:spcBef>
                <a:spcPts val="0"/>
              </a:spcBef>
              <a:spcAft>
                <a:spcPts val="0"/>
              </a:spcAft>
              <a:buSzPts val="1800"/>
              <a:buFont typeface="Times"/>
              <a:buChar char="■"/>
            </a:pPr>
            <a:r>
              <a:rPr lang="en-US" sz="1800">
                <a:latin typeface="Times"/>
                <a:ea typeface="Times"/>
                <a:cs typeface="Times"/>
                <a:sym typeface="Times"/>
              </a:rPr>
              <a:t>These files store data in a readable format (e.g., .txt, .csv, .json). Each line of the file is treated as a string.</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Binary Files: </a:t>
            </a:r>
            <a:endParaRPr sz="1800">
              <a:latin typeface="Times"/>
              <a:ea typeface="Times"/>
              <a:cs typeface="Times"/>
              <a:sym typeface="Times"/>
            </a:endParaRPr>
          </a:p>
          <a:p>
            <a:pPr indent="-342900" lvl="2" marL="1371600" rtl="0" algn="just">
              <a:spcBef>
                <a:spcPts val="0"/>
              </a:spcBef>
              <a:spcAft>
                <a:spcPts val="0"/>
              </a:spcAft>
              <a:buSzPts val="1800"/>
              <a:buFont typeface="Times"/>
              <a:buChar char="■"/>
            </a:pPr>
            <a:r>
              <a:rPr lang="en-US" sz="1800">
                <a:latin typeface="Times"/>
                <a:ea typeface="Times"/>
                <a:cs typeface="Times"/>
                <a:sym typeface="Times"/>
              </a:rPr>
              <a:t>These files contain data in binary format (e.g., .bin, images, audio files). Data is not directly human-readable.</a:t>
            </a:r>
            <a:endParaRPr sz="1800">
              <a:latin typeface="Times"/>
              <a:ea typeface="Times"/>
              <a:cs typeface="Times"/>
              <a:sym typeface="Times"/>
            </a:endParaRPr>
          </a:p>
        </p:txBody>
      </p:sp>
      <p:sp>
        <p:nvSpPr>
          <p:cNvPr id="1269" name="Google Shape;1269;p1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4" name="Shape 1274"/>
        <p:cNvGrpSpPr/>
        <p:nvPr/>
      </p:nvGrpSpPr>
      <p:grpSpPr>
        <a:xfrm>
          <a:off x="0" y="0"/>
          <a:ext cx="0" cy="0"/>
          <a:chOff x="0" y="0"/>
          <a:chExt cx="0" cy="0"/>
        </a:xfrm>
      </p:grpSpPr>
      <p:sp>
        <p:nvSpPr>
          <p:cNvPr id="1275" name="Google Shape;1275;p157"/>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Files in Python</a:t>
            </a:r>
            <a:endParaRPr b="1" sz="3000">
              <a:solidFill>
                <a:srgbClr val="1C3678"/>
              </a:solidFill>
              <a:latin typeface="Trebuchet MS"/>
              <a:ea typeface="Trebuchet MS"/>
              <a:cs typeface="Trebuchet MS"/>
              <a:sym typeface="Trebuchet MS"/>
            </a:endParaRPr>
          </a:p>
        </p:txBody>
      </p:sp>
      <p:sp>
        <p:nvSpPr>
          <p:cNvPr id="1276" name="Google Shape;1276;p157"/>
          <p:cNvSpPr txBox="1"/>
          <p:nvPr/>
        </p:nvSpPr>
        <p:spPr>
          <a:xfrm>
            <a:off x="659650" y="764350"/>
            <a:ext cx="8107500" cy="3588300"/>
          </a:xfrm>
          <a:prstGeom prst="rect">
            <a:avLst/>
          </a:prstGeom>
          <a:noFill/>
          <a:ln>
            <a:noFill/>
          </a:ln>
        </p:spPr>
        <p:txBody>
          <a:bodyPr anchorCtr="0" anchor="t" bIns="0" lIns="0" spcFirstLastPara="1" rIns="0" wrap="square" tIns="125075">
            <a:spAutoFit/>
          </a:bodyPr>
          <a:lstStyle/>
          <a:p>
            <a:pPr indent="0" lvl="0" marL="0" rtl="0" algn="just">
              <a:spcBef>
                <a:spcPts val="290"/>
              </a:spcBef>
              <a:spcAft>
                <a:spcPts val="0"/>
              </a:spcAft>
              <a:buNone/>
            </a:pPr>
            <a:r>
              <a:rPr lang="en-US" sz="1800">
                <a:latin typeface="Times"/>
                <a:ea typeface="Times"/>
                <a:cs typeface="Times"/>
                <a:sym typeface="Times"/>
              </a:rPr>
              <a:t>In Python, you can perform various operations on files, such as renaming, moving, copying, and removing them using the built-in os and shutil modules.</a:t>
            </a:r>
            <a:endParaRPr sz="1800">
              <a:latin typeface="Times"/>
              <a:ea typeface="Times"/>
              <a:cs typeface="Times"/>
              <a:sym typeface="Times"/>
            </a:endParaRPr>
          </a:p>
          <a:p>
            <a:pPr indent="0" lvl="0" marL="0" rtl="0" algn="just">
              <a:spcBef>
                <a:spcPts val="290"/>
              </a:spcBef>
              <a:spcAft>
                <a:spcPts val="0"/>
              </a:spcAft>
              <a:buNone/>
            </a:pPr>
            <a:r>
              <a:t/>
            </a:r>
            <a:endParaRPr sz="1800">
              <a:latin typeface="Times"/>
              <a:ea typeface="Times"/>
              <a:cs typeface="Times"/>
              <a:sym typeface="Times"/>
            </a:endParaRPr>
          </a:p>
          <a:p>
            <a:pPr indent="-342900" lvl="0" marL="457200" rtl="0" algn="just">
              <a:spcBef>
                <a:spcPts val="290"/>
              </a:spcBef>
              <a:spcAft>
                <a:spcPts val="0"/>
              </a:spcAft>
              <a:buSzPts val="1800"/>
              <a:buFont typeface="Times"/>
              <a:buChar char="●"/>
            </a:pPr>
            <a:r>
              <a:rPr lang="en-US" sz="1800">
                <a:latin typeface="Times"/>
                <a:ea typeface="Times"/>
                <a:cs typeface="Times"/>
                <a:sym typeface="Times"/>
              </a:rPr>
              <a:t>Importing the Required Modules</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Before you can perform file operations, you need to import the necessary modules:</a:t>
            </a:r>
            <a:endParaRPr sz="1800">
              <a:latin typeface="Times"/>
              <a:ea typeface="Times"/>
              <a:cs typeface="Times"/>
              <a:sym typeface="Times"/>
            </a:endParaRPr>
          </a:p>
          <a:p>
            <a:pPr indent="0" lvl="0" marL="1371600" rtl="0" algn="just">
              <a:spcBef>
                <a:spcPts val="290"/>
              </a:spcBef>
              <a:spcAft>
                <a:spcPts val="0"/>
              </a:spcAft>
              <a:buNone/>
            </a:pPr>
            <a:r>
              <a:rPr i="1" lang="en-US" sz="1600">
                <a:latin typeface="Times"/>
                <a:ea typeface="Times"/>
                <a:cs typeface="Times"/>
                <a:sym typeface="Times"/>
              </a:rPr>
              <a:t>import os</a:t>
            </a:r>
            <a:endParaRPr i="1" sz="1600">
              <a:latin typeface="Times"/>
              <a:ea typeface="Times"/>
              <a:cs typeface="Times"/>
              <a:sym typeface="Times"/>
            </a:endParaRPr>
          </a:p>
          <a:p>
            <a:pPr indent="0" lvl="0" marL="1371600" rtl="0" algn="just">
              <a:spcBef>
                <a:spcPts val="290"/>
              </a:spcBef>
              <a:spcAft>
                <a:spcPts val="0"/>
              </a:spcAft>
              <a:buNone/>
            </a:pPr>
            <a:r>
              <a:rPr i="1" lang="en-US" sz="1600">
                <a:latin typeface="Times"/>
                <a:ea typeface="Times"/>
                <a:cs typeface="Times"/>
                <a:sym typeface="Times"/>
              </a:rPr>
              <a:t>import shutil</a:t>
            </a:r>
            <a:endParaRPr i="1" sz="1600">
              <a:latin typeface="Times"/>
              <a:ea typeface="Times"/>
              <a:cs typeface="Times"/>
              <a:sym typeface="Times"/>
            </a:endParaRPr>
          </a:p>
          <a:p>
            <a:pPr indent="-342900" lvl="0" marL="457200" rtl="0" algn="just">
              <a:spcBef>
                <a:spcPts val="290"/>
              </a:spcBef>
              <a:spcAft>
                <a:spcPts val="0"/>
              </a:spcAft>
              <a:buSzPts val="1800"/>
              <a:buFont typeface="Times"/>
              <a:buChar char="●"/>
            </a:pPr>
            <a:r>
              <a:rPr lang="en-US" sz="1800">
                <a:latin typeface="Times"/>
                <a:ea typeface="Times"/>
                <a:cs typeface="Times"/>
                <a:sym typeface="Times"/>
              </a:rPr>
              <a:t>Renaming a File</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To rename a file, you can use the os.rename() function.</a:t>
            </a:r>
            <a:endParaRPr sz="1800">
              <a:latin typeface="Times"/>
              <a:ea typeface="Times"/>
              <a:cs typeface="Times"/>
              <a:sym typeface="Times"/>
            </a:endParaRPr>
          </a:p>
          <a:p>
            <a:pPr indent="0" lvl="0" marL="1371600" rtl="0" algn="just">
              <a:spcBef>
                <a:spcPts val="290"/>
              </a:spcBef>
              <a:spcAft>
                <a:spcPts val="0"/>
              </a:spcAft>
              <a:buNone/>
            </a:pPr>
            <a:r>
              <a:rPr i="1" lang="en-US" sz="1600">
                <a:latin typeface="Times"/>
                <a:ea typeface="Times"/>
                <a:cs typeface="Times"/>
                <a:sym typeface="Times"/>
              </a:rPr>
              <a:t># Renaming a file</a:t>
            </a:r>
            <a:endParaRPr i="1" sz="1600">
              <a:latin typeface="Times"/>
              <a:ea typeface="Times"/>
              <a:cs typeface="Times"/>
              <a:sym typeface="Times"/>
            </a:endParaRPr>
          </a:p>
          <a:p>
            <a:pPr indent="0" lvl="0" marL="1371600" rtl="0" algn="just">
              <a:spcBef>
                <a:spcPts val="290"/>
              </a:spcBef>
              <a:spcAft>
                <a:spcPts val="0"/>
              </a:spcAft>
              <a:buNone/>
            </a:pPr>
            <a:r>
              <a:rPr i="1" lang="en-US" sz="1600">
                <a:latin typeface="Times"/>
                <a:ea typeface="Times"/>
                <a:cs typeface="Times"/>
                <a:sym typeface="Times"/>
              </a:rPr>
              <a:t>os.rename('old_filename.txt', 'new_filename.txt')</a:t>
            </a:r>
            <a:endParaRPr sz="1800">
              <a:latin typeface="Times"/>
              <a:ea typeface="Times"/>
              <a:cs typeface="Times"/>
              <a:sym typeface="Times"/>
            </a:endParaRPr>
          </a:p>
        </p:txBody>
      </p:sp>
      <p:sp>
        <p:nvSpPr>
          <p:cNvPr id="1277" name="Google Shape;1277;p1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2" name="Shape 1282"/>
        <p:cNvGrpSpPr/>
        <p:nvPr/>
      </p:nvGrpSpPr>
      <p:grpSpPr>
        <a:xfrm>
          <a:off x="0" y="0"/>
          <a:ext cx="0" cy="0"/>
          <a:chOff x="0" y="0"/>
          <a:chExt cx="0" cy="0"/>
        </a:xfrm>
      </p:grpSpPr>
      <p:sp>
        <p:nvSpPr>
          <p:cNvPr id="1283" name="Google Shape;1283;p158"/>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Files in Python</a:t>
            </a:r>
            <a:endParaRPr b="1" sz="3000">
              <a:solidFill>
                <a:srgbClr val="1C3678"/>
              </a:solidFill>
              <a:latin typeface="Trebuchet MS"/>
              <a:ea typeface="Trebuchet MS"/>
              <a:cs typeface="Trebuchet MS"/>
              <a:sym typeface="Trebuchet MS"/>
            </a:endParaRPr>
          </a:p>
        </p:txBody>
      </p:sp>
      <p:sp>
        <p:nvSpPr>
          <p:cNvPr id="1284" name="Google Shape;1284;p158"/>
          <p:cNvSpPr txBox="1"/>
          <p:nvPr/>
        </p:nvSpPr>
        <p:spPr>
          <a:xfrm>
            <a:off x="659650" y="764350"/>
            <a:ext cx="8107500" cy="32433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latin typeface="Times"/>
                <a:ea typeface="Times"/>
                <a:cs typeface="Times"/>
                <a:sym typeface="Times"/>
              </a:rPr>
              <a:t>Moving a File</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To move a file from one location to another, you can also use the shutil.move() function.</a:t>
            </a:r>
            <a:endParaRPr sz="18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 Moving a file</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shutil.move('source_directory/filename.txt', 'destination_directory/filename.txt')</a:t>
            </a:r>
            <a:endParaRPr i="1" sz="1600">
              <a:latin typeface="Times"/>
              <a:ea typeface="Times"/>
              <a:cs typeface="Times"/>
              <a:sym typeface="Times"/>
            </a:endParaRPr>
          </a:p>
          <a:p>
            <a:pPr indent="-342900" lvl="0" marL="457200" rtl="0" algn="just">
              <a:spcBef>
                <a:spcPts val="290"/>
              </a:spcBef>
              <a:spcAft>
                <a:spcPts val="0"/>
              </a:spcAft>
              <a:buSzPts val="1800"/>
              <a:buFont typeface="Times"/>
              <a:buChar char="●"/>
            </a:pPr>
            <a:r>
              <a:rPr lang="en-US" sz="1800">
                <a:latin typeface="Times"/>
                <a:ea typeface="Times"/>
                <a:cs typeface="Times"/>
                <a:sym typeface="Times"/>
              </a:rPr>
              <a:t>Copying a File</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You can copy a file using the shutil.copy() or shutil.copy2() functions. The shutil.copy2() also copies the file’s metadata.</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shutil.copy('source_directory/filename.txt', 'destination_directory/filename_copy.txt')</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 Using copy2 for metadata</a:t>
            </a:r>
            <a:endParaRPr i="1" sz="1600">
              <a:latin typeface="Times"/>
              <a:ea typeface="Times"/>
              <a:cs typeface="Times"/>
              <a:sym typeface="Times"/>
            </a:endParaRPr>
          </a:p>
          <a:p>
            <a:pPr indent="0" lvl="0" marL="914400" rtl="0" algn="just">
              <a:spcBef>
                <a:spcPts val="290"/>
              </a:spcBef>
              <a:spcAft>
                <a:spcPts val="0"/>
              </a:spcAft>
              <a:buNone/>
            </a:pPr>
            <a:r>
              <a:rPr i="1" lang="en-US" sz="1600">
                <a:latin typeface="Times"/>
                <a:ea typeface="Times"/>
                <a:cs typeface="Times"/>
                <a:sym typeface="Times"/>
              </a:rPr>
              <a:t>shutil.copy2('source_directory/filename.txt', 'destination_directory/filename_copy2.txt')</a:t>
            </a:r>
            <a:endParaRPr sz="1800">
              <a:latin typeface="Times"/>
              <a:ea typeface="Times"/>
              <a:cs typeface="Times"/>
              <a:sym typeface="Times"/>
            </a:endParaRPr>
          </a:p>
        </p:txBody>
      </p:sp>
      <p:sp>
        <p:nvSpPr>
          <p:cNvPr id="1285" name="Google Shape;1285;p1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0" name="Shape 1290"/>
        <p:cNvGrpSpPr/>
        <p:nvPr/>
      </p:nvGrpSpPr>
      <p:grpSpPr>
        <a:xfrm>
          <a:off x="0" y="0"/>
          <a:ext cx="0" cy="0"/>
          <a:chOff x="0" y="0"/>
          <a:chExt cx="0" cy="0"/>
        </a:xfrm>
      </p:grpSpPr>
      <p:sp>
        <p:nvSpPr>
          <p:cNvPr id="1291" name="Google Shape;1291;p159"/>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Files in Python</a:t>
            </a:r>
            <a:endParaRPr b="1" sz="3000">
              <a:solidFill>
                <a:srgbClr val="1C3678"/>
              </a:solidFill>
              <a:latin typeface="Trebuchet MS"/>
              <a:ea typeface="Trebuchet MS"/>
              <a:cs typeface="Trebuchet MS"/>
              <a:sym typeface="Trebuchet MS"/>
            </a:endParaRPr>
          </a:p>
        </p:txBody>
      </p:sp>
      <p:sp>
        <p:nvSpPr>
          <p:cNvPr id="1292" name="Google Shape;1292;p159"/>
          <p:cNvSpPr txBox="1"/>
          <p:nvPr/>
        </p:nvSpPr>
        <p:spPr>
          <a:xfrm>
            <a:off x="659650" y="764350"/>
            <a:ext cx="8107500" cy="35331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latin typeface="Times"/>
                <a:ea typeface="Times"/>
                <a:cs typeface="Times"/>
                <a:sym typeface="Times"/>
              </a:rPr>
              <a:t>Removing a File</a:t>
            </a:r>
            <a:endParaRPr sz="1800">
              <a:latin typeface="Times"/>
              <a:ea typeface="Times"/>
              <a:cs typeface="Times"/>
              <a:sym typeface="Times"/>
            </a:endParaRPr>
          </a:p>
          <a:p>
            <a:pPr indent="-342900" lvl="1" marL="914400" rtl="0" algn="just">
              <a:spcBef>
                <a:spcPts val="0"/>
              </a:spcBef>
              <a:spcAft>
                <a:spcPts val="0"/>
              </a:spcAft>
              <a:buSzPts val="1800"/>
              <a:buFont typeface="Times"/>
              <a:buChar char="○"/>
            </a:pPr>
            <a:r>
              <a:rPr lang="en-US" sz="1800">
                <a:latin typeface="Times"/>
                <a:ea typeface="Times"/>
                <a:cs typeface="Times"/>
                <a:sym typeface="Times"/>
              </a:rPr>
              <a:t>To remove a file, use the os.remove() function. This function can only remove files, not directories.</a:t>
            </a:r>
            <a:endParaRPr sz="1800">
              <a:latin typeface="Times"/>
              <a:ea typeface="Times"/>
              <a:cs typeface="Times"/>
              <a:sym typeface="Times"/>
            </a:endParaRPr>
          </a:p>
          <a:p>
            <a:pPr indent="0" lvl="0" marL="1371600" rtl="0" algn="just">
              <a:spcBef>
                <a:spcPts val="290"/>
              </a:spcBef>
              <a:spcAft>
                <a:spcPts val="0"/>
              </a:spcAft>
              <a:buNone/>
            </a:pPr>
            <a:r>
              <a:rPr i="1" lang="en-US" sz="1600">
                <a:latin typeface="Times"/>
                <a:ea typeface="Times"/>
                <a:cs typeface="Times"/>
                <a:sym typeface="Times"/>
              </a:rPr>
              <a:t># Removing a file</a:t>
            </a:r>
            <a:endParaRPr i="1" sz="1600">
              <a:latin typeface="Times"/>
              <a:ea typeface="Times"/>
              <a:cs typeface="Times"/>
              <a:sym typeface="Times"/>
            </a:endParaRPr>
          </a:p>
          <a:p>
            <a:pPr indent="0" lvl="0" marL="1371600" rtl="0" algn="just">
              <a:spcBef>
                <a:spcPts val="290"/>
              </a:spcBef>
              <a:spcAft>
                <a:spcPts val="0"/>
              </a:spcAft>
              <a:buNone/>
            </a:pPr>
            <a:r>
              <a:rPr i="1" lang="en-US" sz="1600">
                <a:latin typeface="Times"/>
                <a:ea typeface="Times"/>
                <a:cs typeface="Times"/>
                <a:sym typeface="Times"/>
              </a:rPr>
              <a:t>os.remove('filename.txt')</a:t>
            </a:r>
            <a:endParaRPr i="1" sz="1600">
              <a:latin typeface="Times"/>
              <a:ea typeface="Times"/>
              <a:cs typeface="Times"/>
              <a:sym typeface="Times"/>
            </a:endParaRPr>
          </a:p>
          <a:p>
            <a:pPr indent="0" lvl="0" marL="1371600" rtl="0" algn="just">
              <a:spcBef>
                <a:spcPts val="290"/>
              </a:spcBef>
              <a:spcAft>
                <a:spcPts val="0"/>
              </a:spcAft>
              <a:buNone/>
            </a:pPr>
            <a:r>
              <a:t/>
            </a:r>
            <a:endParaRPr i="1" sz="1600">
              <a:latin typeface="Times"/>
              <a:ea typeface="Times"/>
              <a:cs typeface="Times"/>
              <a:sym typeface="Times"/>
            </a:endParaRPr>
          </a:p>
          <a:p>
            <a:pPr indent="-342900" lvl="1" marL="914400" rtl="0" algn="just">
              <a:spcBef>
                <a:spcPts val="290"/>
              </a:spcBef>
              <a:spcAft>
                <a:spcPts val="0"/>
              </a:spcAft>
              <a:buSzPts val="1800"/>
              <a:buFont typeface="Times"/>
              <a:buChar char="○"/>
            </a:pPr>
            <a:r>
              <a:rPr lang="en-US" sz="1800">
                <a:latin typeface="Times"/>
                <a:ea typeface="Times"/>
                <a:cs typeface="Times"/>
                <a:sym typeface="Times"/>
              </a:rPr>
              <a:t>If you need to remove a directory, you can use os.rmdir() for empty directories or shutil.rmtree() for directories that contain files.</a:t>
            </a:r>
            <a:endParaRPr sz="1800">
              <a:latin typeface="Times"/>
              <a:ea typeface="Times"/>
              <a:cs typeface="Times"/>
              <a:sym typeface="Times"/>
            </a:endParaRPr>
          </a:p>
          <a:p>
            <a:pPr indent="0" lvl="0" marL="1371600" rtl="0" algn="just">
              <a:spcBef>
                <a:spcPts val="290"/>
              </a:spcBef>
              <a:spcAft>
                <a:spcPts val="0"/>
              </a:spcAft>
              <a:buNone/>
            </a:pPr>
            <a:r>
              <a:rPr i="1" lang="en-US" sz="1600">
                <a:latin typeface="Times"/>
                <a:ea typeface="Times"/>
                <a:cs typeface="Times"/>
                <a:sym typeface="Times"/>
              </a:rPr>
              <a:t># Removing an empty directory</a:t>
            </a:r>
            <a:endParaRPr i="1" sz="1600">
              <a:latin typeface="Times"/>
              <a:ea typeface="Times"/>
              <a:cs typeface="Times"/>
              <a:sym typeface="Times"/>
            </a:endParaRPr>
          </a:p>
          <a:p>
            <a:pPr indent="0" lvl="0" marL="1371600" rtl="0" algn="just">
              <a:spcBef>
                <a:spcPts val="290"/>
              </a:spcBef>
              <a:spcAft>
                <a:spcPts val="0"/>
              </a:spcAft>
              <a:buNone/>
            </a:pPr>
            <a:r>
              <a:rPr i="1" lang="en-US" sz="1600">
                <a:latin typeface="Times"/>
                <a:ea typeface="Times"/>
                <a:cs typeface="Times"/>
                <a:sym typeface="Times"/>
              </a:rPr>
              <a:t>os.rmdir('empty_directory')</a:t>
            </a:r>
            <a:endParaRPr i="1" sz="1600">
              <a:latin typeface="Times"/>
              <a:ea typeface="Times"/>
              <a:cs typeface="Times"/>
              <a:sym typeface="Times"/>
            </a:endParaRPr>
          </a:p>
          <a:p>
            <a:pPr indent="0" lvl="0" marL="1371600" rtl="0" algn="just">
              <a:spcBef>
                <a:spcPts val="290"/>
              </a:spcBef>
              <a:spcAft>
                <a:spcPts val="0"/>
              </a:spcAft>
              <a:buNone/>
            </a:pPr>
            <a:r>
              <a:rPr i="1" lang="en-US" sz="1600">
                <a:latin typeface="Times"/>
                <a:ea typeface="Times"/>
                <a:cs typeface="Times"/>
                <a:sym typeface="Times"/>
              </a:rPr>
              <a:t># Removing a directory and its contents</a:t>
            </a:r>
            <a:endParaRPr i="1" sz="1600">
              <a:latin typeface="Times"/>
              <a:ea typeface="Times"/>
              <a:cs typeface="Times"/>
              <a:sym typeface="Times"/>
            </a:endParaRPr>
          </a:p>
          <a:p>
            <a:pPr indent="0" lvl="0" marL="1371600" rtl="0" algn="just">
              <a:spcBef>
                <a:spcPts val="290"/>
              </a:spcBef>
              <a:spcAft>
                <a:spcPts val="0"/>
              </a:spcAft>
              <a:buNone/>
            </a:pPr>
            <a:r>
              <a:rPr i="1" lang="en-US" sz="1600">
                <a:latin typeface="Times"/>
                <a:ea typeface="Times"/>
                <a:cs typeface="Times"/>
                <a:sym typeface="Times"/>
              </a:rPr>
              <a:t>shutil.rmtree('non_empty_directory')</a:t>
            </a:r>
            <a:endParaRPr i="1" sz="1600">
              <a:latin typeface="Times"/>
              <a:ea typeface="Times"/>
              <a:cs typeface="Times"/>
              <a:sym typeface="Times"/>
            </a:endParaRPr>
          </a:p>
        </p:txBody>
      </p:sp>
      <p:sp>
        <p:nvSpPr>
          <p:cNvPr id="1293" name="Google Shape;1293;p1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8" name="Shape 1298"/>
        <p:cNvGrpSpPr/>
        <p:nvPr/>
      </p:nvGrpSpPr>
      <p:grpSpPr>
        <a:xfrm>
          <a:off x="0" y="0"/>
          <a:ext cx="0" cy="0"/>
          <a:chOff x="0" y="0"/>
          <a:chExt cx="0" cy="0"/>
        </a:xfrm>
      </p:grpSpPr>
      <p:sp>
        <p:nvSpPr>
          <p:cNvPr id="1299" name="Google Shape;1299;p160"/>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Files Operations in Python</a:t>
            </a:r>
            <a:endParaRPr b="1" sz="3000">
              <a:solidFill>
                <a:srgbClr val="1C3678"/>
              </a:solidFill>
              <a:latin typeface="Trebuchet MS"/>
              <a:ea typeface="Trebuchet MS"/>
              <a:cs typeface="Trebuchet MS"/>
              <a:sym typeface="Trebuchet MS"/>
            </a:endParaRPr>
          </a:p>
        </p:txBody>
      </p:sp>
      <p:sp>
        <p:nvSpPr>
          <p:cNvPr id="1300" name="Google Shape;1300;p160"/>
          <p:cNvSpPr txBox="1"/>
          <p:nvPr/>
        </p:nvSpPr>
        <p:spPr>
          <a:xfrm>
            <a:off x="659650" y="764350"/>
            <a:ext cx="8107500" cy="1974600"/>
          </a:xfrm>
          <a:prstGeom prst="rect">
            <a:avLst/>
          </a:prstGeom>
          <a:noFill/>
          <a:ln>
            <a:noFill/>
          </a:ln>
        </p:spPr>
        <p:txBody>
          <a:bodyPr anchorCtr="0" anchor="t" bIns="0" lIns="0" spcFirstLastPara="1" rIns="0" wrap="square" tIns="125075">
            <a:spAutoFit/>
          </a:bodyPr>
          <a:lstStyle/>
          <a:p>
            <a:pPr indent="0" lvl="0" marL="0" rtl="0" algn="just">
              <a:spcBef>
                <a:spcPts val="290"/>
              </a:spcBef>
              <a:spcAft>
                <a:spcPts val="0"/>
              </a:spcAft>
              <a:buNone/>
            </a:pPr>
            <a:r>
              <a:rPr b="1" lang="en-US" sz="1800">
                <a:latin typeface="Times"/>
                <a:ea typeface="Times"/>
                <a:cs typeface="Times"/>
                <a:sym typeface="Times"/>
              </a:rPr>
              <a:t>File Operations:</a:t>
            </a:r>
            <a:endParaRPr b="1" sz="1800">
              <a:latin typeface="Times"/>
              <a:ea typeface="Times"/>
              <a:cs typeface="Times"/>
              <a:sym typeface="Times"/>
            </a:endParaRPr>
          </a:p>
          <a:p>
            <a:pPr indent="0" lvl="0" marL="457200" rtl="0" algn="just">
              <a:spcBef>
                <a:spcPts val="290"/>
              </a:spcBef>
              <a:spcAft>
                <a:spcPts val="0"/>
              </a:spcAft>
              <a:buNone/>
            </a:pPr>
            <a:r>
              <a:rPr lang="en-US" sz="1800">
                <a:latin typeface="Times"/>
                <a:ea typeface="Times"/>
                <a:cs typeface="Times"/>
                <a:sym typeface="Times"/>
              </a:rPr>
              <a:t>1. Opening a File</a:t>
            </a:r>
            <a:endParaRPr sz="1800">
              <a:latin typeface="Times"/>
              <a:ea typeface="Times"/>
              <a:cs typeface="Times"/>
              <a:sym typeface="Times"/>
            </a:endParaRPr>
          </a:p>
          <a:p>
            <a:pPr indent="0" lvl="0" marL="457200" rtl="0" algn="just">
              <a:spcBef>
                <a:spcPts val="290"/>
              </a:spcBef>
              <a:spcAft>
                <a:spcPts val="0"/>
              </a:spcAft>
              <a:buNone/>
            </a:pPr>
            <a:r>
              <a:rPr lang="en-US" sz="1800">
                <a:latin typeface="Times"/>
                <a:ea typeface="Times"/>
                <a:cs typeface="Times"/>
                <a:sym typeface="Times"/>
              </a:rPr>
              <a:t>2. Reading from a File</a:t>
            </a:r>
            <a:endParaRPr sz="1800">
              <a:latin typeface="Times"/>
              <a:ea typeface="Times"/>
              <a:cs typeface="Times"/>
              <a:sym typeface="Times"/>
            </a:endParaRPr>
          </a:p>
          <a:p>
            <a:pPr indent="0" lvl="0" marL="457200" rtl="0" algn="just">
              <a:spcBef>
                <a:spcPts val="290"/>
              </a:spcBef>
              <a:spcAft>
                <a:spcPts val="0"/>
              </a:spcAft>
              <a:buNone/>
            </a:pPr>
            <a:r>
              <a:rPr lang="en-US" sz="1800">
                <a:latin typeface="Times"/>
                <a:ea typeface="Times"/>
                <a:cs typeface="Times"/>
                <a:sym typeface="Times"/>
              </a:rPr>
              <a:t>3. Writing to a File</a:t>
            </a:r>
            <a:endParaRPr sz="1800">
              <a:latin typeface="Times"/>
              <a:ea typeface="Times"/>
              <a:cs typeface="Times"/>
              <a:sym typeface="Times"/>
            </a:endParaRPr>
          </a:p>
          <a:p>
            <a:pPr indent="0" lvl="0" marL="457200" rtl="0" algn="just">
              <a:spcBef>
                <a:spcPts val="290"/>
              </a:spcBef>
              <a:spcAft>
                <a:spcPts val="0"/>
              </a:spcAft>
              <a:buNone/>
            </a:pPr>
            <a:r>
              <a:rPr lang="en-US" sz="1800">
                <a:latin typeface="Times"/>
                <a:ea typeface="Times"/>
                <a:cs typeface="Times"/>
                <a:sym typeface="Times"/>
              </a:rPr>
              <a:t>4. Appending to a File</a:t>
            </a:r>
            <a:endParaRPr sz="1800">
              <a:latin typeface="Times"/>
              <a:ea typeface="Times"/>
              <a:cs typeface="Times"/>
              <a:sym typeface="Times"/>
            </a:endParaRPr>
          </a:p>
          <a:p>
            <a:pPr indent="0" lvl="0" marL="457200" rtl="0" algn="just">
              <a:spcBef>
                <a:spcPts val="290"/>
              </a:spcBef>
              <a:spcAft>
                <a:spcPts val="0"/>
              </a:spcAft>
              <a:buNone/>
            </a:pPr>
            <a:r>
              <a:rPr lang="en-US" sz="1800">
                <a:latin typeface="Times"/>
                <a:ea typeface="Times"/>
                <a:cs typeface="Times"/>
                <a:sym typeface="Times"/>
              </a:rPr>
              <a:t>5. Closing a File</a:t>
            </a:r>
            <a:endParaRPr sz="1800">
              <a:latin typeface="Times"/>
              <a:ea typeface="Times"/>
              <a:cs typeface="Times"/>
              <a:sym typeface="Times"/>
            </a:endParaRPr>
          </a:p>
        </p:txBody>
      </p:sp>
      <p:sp>
        <p:nvSpPr>
          <p:cNvPr id="1301" name="Google Shape;1301;p1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6" name="Shape 1306"/>
        <p:cNvGrpSpPr/>
        <p:nvPr/>
      </p:nvGrpSpPr>
      <p:grpSpPr>
        <a:xfrm>
          <a:off x="0" y="0"/>
          <a:ext cx="0" cy="0"/>
          <a:chOff x="0" y="0"/>
          <a:chExt cx="0" cy="0"/>
        </a:xfrm>
      </p:grpSpPr>
      <p:sp>
        <p:nvSpPr>
          <p:cNvPr id="1307" name="Google Shape;1307;p161"/>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Files using Python</a:t>
            </a:r>
            <a:endParaRPr b="1" sz="3000">
              <a:solidFill>
                <a:srgbClr val="1C3678"/>
              </a:solidFill>
              <a:latin typeface="Trebuchet MS"/>
              <a:ea typeface="Trebuchet MS"/>
              <a:cs typeface="Trebuchet MS"/>
              <a:sym typeface="Trebuchet MS"/>
            </a:endParaRPr>
          </a:p>
        </p:txBody>
      </p:sp>
      <p:sp>
        <p:nvSpPr>
          <p:cNvPr id="1308" name="Google Shape;1308;p161"/>
          <p:cNvSpPr txBox="1"/>
          <p:nvPr/>
        </p:nvSpPr>
        <p:spPr>
          <a:xfrm>
            <a:off x="688425" y="793125"/>
            <a:ext cx="8107500" cy="1568100"/>
          </a:xfrm>
          <a:prstGeom prst="rect">
            <a:avLst/>
          </a:prstGeom>
          <a:noFill/>
          <a:ln>
            <a:noFill/>
          </a:ln>
        </p:spPr>
        <p:txBody>
          <a:bodyPr anchorCtr="0" anchor="t" bIns="0" lIns="0" spcFirstLastPara="1" rIns="0" wrap="square" tIns="125075">
            <a:spAutoFit/>
          </a:bodyPr>
          <a:lstStyle/>
          <a:p>
            <a:pPr indent="0" lvl="0" marL="0" rtl="0" algn="just">
              <a:spcBef>
                <a:spcPts val="290"/>
              </a:spcBef>
              <a:spcAft>
                <a:spcPts val="0"/>
              </a:spcAft>
              <a:buNone/>
            </a:pPr>
            <a:r>
              <a:rPr lang="en-US" sz="1800">
                <a:latin typeface="Times"/>
                <a:ea typeface="Times"/>
                <a:cs typeface="Times"/>
                <a:sym typeface="Times"/>
              </a:rPr>
              <a:t>Opening a File</a:t>
            </a:r>
            <a:endParaRPr sz="1800">
              <a:latin typeface="Times"/>
              <a:ea typeface="Times"/>
              <a:cs typeface="Times"/>
              <a:sym typeface="Times"/>
            </a:endParaRPr>
          </a:p>
          <a:p>
            <a:pPr indent="-342900" lvl="0" marL="457200" rtl="0" algn="just">
              <a:spcBef>
                <a:spcPts val="290"/>
              </a:spcBef>
              <a:spcAft>
                <a:spcPts val="0"/>
              </a:spcAft>
              <a:buSzPts val="1800"/>
              <a:buFont typeface="Times"/>
              <a:buChar char="●"/>
            </a:pPr>
            <a:r>
              <a:rPr lang="en-US" sz="1800">
                <a:latin typeface="Times"/>
                <a:ea typeface="Times"/>
                <a:cs typeface="Times"/>
                <a:sym typeface="Times"/>
              </a:rPr>
              <a:t>You can open a file using the open() function. The basic syntax is:</a:t>
            </a:r>
            <a:endParaRPr sz="18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file_object = open('filename', 'mode')</a:t>
            </a:r>
            <a:endParaRPr i="1" sz="16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filename: The name of the file to be opened.</a:t>
            </a:r>
            <a:endParaRPr i="1" sz="1600">
              <a:latin typeface="Times"/>
              <a:ea typeface="Times"/>
              <a:cs typeface="Times"/>
              <a:sym typeface="Times"/>
            </a:endParaRPr>
          </a:p>
          <a:p>
            <a:pPr indent="0" lvl="0" marL="457200" rtl="0" algn="just">
              <a:spcBef>
                <a:spcPts val="290"/>
              </a:spcBef>
              <a:spcAft>
                <a:spcPts val="0"/>
              </a:spcAft>
              <a:buNone/>
            </a:pPr>
            <a:r>
              <a:rPr i="1" lang="en-US" sz="1600">
                <a:latin typeface="Times"/>
                <a:ea typeface="Times"/>
                <a:cs typeface="Times"/>
                <a:sym typeface="Times"/>
              </a:rPr>
              <a:t>mode: The mode in which the file should be opened (read, write, append, etc.).</a:t>
            </a:r>
            <a:endParaRPr sz="1800">
              <a:latin typeface="Times"/>
              <a:ea typeface="Times"/>
              <a:cs typeface="Times"/>
              <a:sym typeface="Times"/>
            </a:endParaRPr>
          </a:p>
        </p:txBody>
      </p:sp>
      <p:sp>
        <p:nvSpPr>
          <p:cNvPr id="1309" name="Google Shape;1309;p1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310" name="Google Shape;1310;p161"/>
          <p:cNvGraphicFramePr/>
          <p:nvPr/>
        </p:nvGraphicFramePr>
        <p:xfrm>
          <a:off x="1127225" y="2361225"/>
          <a:ext cx="3000000" cy="3000000"/>
        </p:xfrm>
        <a:graphic>
          <a:graphicData uri="http://schemas.openxmlformats.org/drawingml/2006/table">
            <a:tbl>
              <a:tblPr>
                <a:noFill/>
                <a:tableStyleId>{193123AF-8EEB-4C0C-854C-F3D8DDFFAF62}</a:tableStyleId>
              </a:tblPr>
              <a:tblGrid>
                <a:gridCol w="1316625"/>
                <a:gridCol w="5934700"/>
              </a:tblGrid>
              <a:tr h="371975">
                <a:tc>
                  <a:txBody>
                    <a:bodyPr/>
                    <a:lstStyle/>
                    <a:p>
                      <a:pPr indent="0" lvl="0" marL="0" rtl="0" algn="l">
                        <a:spcBef>
                          <a:spcPts val="0"/>
                        </a:spcBef>
                        <a:spcAft>
                          <a:spcPts val="0"/>
                        </a:spcAft>
                        <a:buNone/>
                      </a:pPr>
                      <a:r>
                        <a:rPr b="1" lang="en-US" sz="1300">
                          <a:latin typeface="Tahoma"/>
                          <a:ea typeface="Tahoma"/>
                          <a:cs typeface="Tahoma"/>
                          <a:sym typeface="Tahoma"/>
                        </a:rPr>
                        <a:t>Mode</a:t>
                      </a:r>
                      <a:endParaRPr b="1" sz="1300">
                        <a:latin typeface="Tahoma"/>
                        <a:ea typeface="Tahoma"/>
                        <a:cs typeface="Tahoma"/>
                        <a:sym typeface="Tahoma"/>
                      </a:endParaRPr>
                    </a:p>
                  </a:txBody>
                  <a:tcPr marT="91425" marB="91425" marR="91425" marL="91425"/>
                </a:tc>
                <a:tc>
                  <a:txBody>
                    <a:bodyPr/>
                    <a:lstStyle/>
                    <a:p>
                      <a:pPr indent="0" lvl="0" marL="0" rtl="0" algn="l">
                        <a:spcBef>
                          <a:spcPts val="0"/>
                        </a:spcBef>
                        <a:spcAft>
                          <a:spcPts val="0"/>
                        </a:spcAft>
                        <a:buNone/>
                      </a:pPr>
                      <a:r>
                        <a:rPr b="1" lang="en-US" sz="1300">
                          <a:latin typeface="Tahoma"/>
                          <a:ea typeface="Tahoma"/>
                          <a:cs typeface="Tahoma"/>
                          <a:sym typeface="Tahoma"/>
                        </a:rPr>
                        <a:t>Description</a:t>
                      </a:r>
                      <a:endParaRPr b="1" sz="1300">
                        <a:latin typeface="Tahoma"/>
                        <a:ea typeface="Tahoma"/>
                        <a:cs typeface="Tahoma"/>
                        <a:sym typeface="Tahoma"/>
                      </a:endParaRPr>
                    </a:p>
                  </a:txBody>
                  <a:tcPr marT="91425" marB="91425" marR="91425" marL="91425"/>
                </a:tc>
              </a:tr>
              <a:tr h="371975">
                <a:tc>
                  <a:txBody>
                    <a:bodyPr/>
                    <a:lstStyle/>
                    <a:p>
                      <a:pPr indent="0" lvl="0" marL="0" rtl="0" algn="l">
                        <a:spcBef>
                          <a:spcPts val="0"/>
                        </a:spcBef>
                        <a:spcAft>
                          <a:spcPts val="0"/>
                        </a:spcAft>
                        <a:buNone/>
                      </a:pPr>
                      <a:r>
                        <a:rPr lang="en-US" sz="1300">
                          <a:latin typeface="Tahoma"/>
                          <a:ea typeface="Tahoma"/>
                          <a:cs typeface="Tahoma"/>
                          <a:sym typeface="Tahoma"/>
                        </a:rPr>
                        <a:t>r</a:t>
                      </a:r>
                      <a:endParaRPr sz="1300">
                        <a:latin typeface="Tahoma"/>
                        <a:ea typeface="Tahoma"/>
                        <a:cs typeface="Tahoma"/>
                        <a:sym typeface="Tahoma"/>
                      </a:endParaRPr>
                    </a:p>
                  </a:txBody>
                  <a:tcPr marT="91425" marB="91425" marR="91425" marL="91425"/>
                </a:tc>
                <a:tc>
                  <a:txBody>
                    <a:bodyPr/>
                    <a:lstStyle/>
                    <a:p>
                      <a:pPr indent="0" lvl="0" marL="0" rtl="0" algn="l">
                        <a:spcBef>
                          <a:spcPts val="0"/>
                        </a:spcBef>
                        <a:spcAft>
                          <a:spcPts val="0"/>
                        </a:spcAft>
                        <a:buNone/>
                      </a:pPr>
                      <a:r>
                        <a:rPr lang="en-US" sz="1300">
                          <a:latin typeface="Tahoma"/>
                          <a:ea typeface="Tahoma"/>
                          <a:cs typeface="Tahoma"/>
                          <a:sym typeface="Tahoma"/>
                        </a:rPr>
                        <a:t>Read (default mode). Opens the file for reading.</a:t>
                      </a:r>
                      <a:endParaRPr sz="1300">
                        <a:latin typeface="Tahoma"/>
                        <a:ea typeface="Tahoma"/>
                        <a:cs typeface="Tahoma"/>
                        <a:sym typeface="Tahoma"/>
                      </a:endParaRPr>
                    </a:p>
                  </a:txBody>
                  <a:tcPr marT="91425" marB="91425" marR="91425" marL="91425"/>
                </a:tc>
              </a:tr>
              <a:tr h="371975">
                <a:tc>
                  <a:txBody>
                    <a:bodyPr/>
                    <a:lstStyle/>
                    <a:p>
                      <a:pPr indent="0" lvl="0" marL="0" rtl="0" algn="l">
                        <a:spcBef>
                          <a:spcPts val="0"/>
                        </a:spcBef>
                        <a:spcAft>
                          <a:spcPts val="0"/>
                        </a:spcAft>
                        <a:buNone/>
                      </a:pPr>
                      <a:r>
                        <a:rPr lang="en-US" sz="1300">
                          <a:latin typeface="Tahoma"/>
                          <a:ea typeface="Tahoma"/>
                          <a:cs typeface="Tahoma"/>
                          <a:sym typeface="Tahoma"/>
                        </a:rPr>
                        <a:t>w</a:t>
                      </a:r>
                      <a:endParaRPr sz="1300">
                        <a:latin typeface="Tahoma"/>
                        <a:ea typeface="Tahoma"/>
                        <a:cs typeface="Tahoma"/>
                        <a:sym typeface="Tahoma"/>
                      </a:endParaRPr>
                    </a:p>
                  </a:txBody>
                  <a:tcPr marT="91425" marB="91425" marR="91425" marL="91425"/>
                </a:tc>
                <a:tc>
                  <a:txBody>
                    <a:bodyPr/>
                    <a:lstStyle/>
                    <a:p>
                      <a:pPr indent="0" lvl="0" marL="0" rtl="0" algn="l">
                        <a:spcBef>
                          <a:spcPts val="0"/>
                        </a:spcBef>
                        <a:spcAft>
                          <a:spcPts val="0"/>
                        </a:spcAft>
                        <a:buNone/>
                      </a:pPr>
                      <a:r>
                        <a:rPr lang="en-US" sz="1300">
                          <a:latin typeface="Tahoma"/>
                          <a:ea typeface="Tahoma"/>
                          <a:cs typeface="Tahoma"/>
                          <a:sym typeface="Tahoma"/>
                        </a:rPr>
                        <a:t>Write. Opens the file for writing (overwrites existing content).</a:t>
                      </a:r>
                      <a:endParaRPr sz="1300">
                        <a:latin typeface="Tahoma"/>
                        <a:ea typeface="Tahoma"/>
                        <a:cs typeface="Tahoma"/>
                        <a:sym typeface="Tahoma"/>
                      </a:endParaRPr>
                    </a:p>
                  </a:txBody>
                  <a:tcPr marT="91425" marB="91425" marR="91425" marL="91425"/>
                </a:tc>
              </a:tr>
              <a:tr h="371975">
                <a:tc>
                  <a:txBody>
                    <a:bodyPr/>
                    <a:lstStyle/>
                    <a:p>
                      <a:pPr indent="0" lvl="0" marL="0" rtl="0" algn="l">
                        <a:spcBef>
                          <a:spcPts val="0"/>
                        </a:spcBef>
                        <a:spcAft>
                          <a:spcPts val="0"/>
                        </a:spcAft>
                        <a:buNone/>
                      </a:pPr>
                      <a:r>
                        <a:rPr lang="en-US" sz="1300">
                          <a:latin typeface="Tahoma"/>
                          <a:ea typeface="Tahoma"/>
                          <a:cs typeface="Tahoma"/>
                          <a:sym typeface="Tahoma"/>
                        </a:rPr>
                        <a:t>a</a:t>
                      </a:r>
                      <a:endParaRPr sz="1300">
                        <a:latin typeface="Tahoma"/>
                        <a:ea typeface="Tahoma"/>
                        <a:cs typeface="Tahoma"/>
                        <a:sym typeface="Tahoma"/>
                      </a:endParaRPr>
                    </a:p>
                  </a:txBody>
                  <a:tcPr marT="91425" marB="91425" marR="91425" marL="91425"/>
                </a:tc>
                <a:tc>
                  <a:txBody>
                    <a:bodyPr/>
                    <a:lstStyle/>
                    <a:p>
                      <a:pPr indent="0" lvl="0" marL="0" rtl="0" algn="l">
                        <a:spcBef>
                          <a:spcPts val="0"/>
                        </a:spcBef>
                        <a:spcAft>
                          <a:spcPts val="0"/>
                        </a:spcAft>
                        <a:buNone/>
                      </a:pPr>
                      <a:r>
                        <a:rPr lang="en-US" sz="1300">
                          <a:latin typeface="Tahoma"/>
                          <a:ea typeface="Tahoma"/>
                          <a:cs typeface="Tahoma"/>
                          <a:sym typeface="Tahoma"/>
                        </a:rPr>
                        <a:t>Append. Opens the file for writing at the end of the file.</a:t>
                      </a:r>
                      <a:endParaRPr sz="1300">
                        <a:latin typeface="Tahoma"/>
                        <a:ea typeface="Tahoma"/>
                        <a:cs typeface="Tahoma"/>
                        <a:sym typeface="Tahoma"/>
                      </a:endParaRPr>
                    </a:p>
                  </a:txBody>
                  <a:tcPr marT="91425" marB="91425" marR="91425" marL="91425"/>
                </a:tc>
              </a:tr>
              <a:tr h="371975">
                <a:tc>
                  <a:txBody>
                    <a:bodyPr/>
                    <a:lstStyle/>
                    <a:p>
                      <a:pPr indent="0" lvl="0" marL="0" rtl="0" algn="l">
                        <a:spcBef>
                          <a:spcPts val="0"/>
                        </a:spcBef>
                        <a:spcAft>
                          <a:spcPts val="0"/>
                        </a:spcAft>
                        <a:buNone/>
                      </a:pPr>
                      <a:r>
                        <a:rPr lang="en-US" sz="1300">
                          <a:latin typeface="Tahoma"/>
                          <a:ea typeface="Tahoma"/>
                          <a:cs typeface="Tahoma"/>
                          <a:sym typeface="Tahoma"/>
                        </a:rPr>
                        <a:t>b</a:t>
                      </a:r>
                      <a:endParaRPr sz="1300">
                        <a:latin typeface="Tahoma"/>
                        <a:ea typeface="Tahoma"/>
                        <a:cs typeface="Tahoma"/>
                        <a:sym typeface="Tahoma"/>
                      </a:endParaRPr>
                    </a:p>
                  </a:txBody>
                  <a:tcPr marT="91425" marB="91425" marR="91425" marL="91425"/>
                </a:tc>
                <a:tc>
                  <a:txBody>
                    <a:bodyPr/>
                    <a:lstStyle/>
                    <a:p>
                      <a:pPr indent="0" lvl="0" marL="0" rtl="0" algn="l">
                        <a:spcBef>
                          <a:spcPts val="0"/>
                        </a:spcBef>
                        <a:spcAft>
                          <a:spcPts val="0"/>
                        </a:spcAft>
                        <a:buNone/>
                      </a:pPr>
                      <a:r>
                        <a:rPr lang="en-US" sz="1300">
                          <a:latin typeface="Tahoma"/>
                          <a:ea typeface="Tahoma"/>
                          <a:cs typeface="Tahoma"/>
                          <a:sym typeface="Tahoma"/>
                        </a:rPr>
                        <a:t>Binary mode. Opens the file in binary format.</a:t>
                      </a:r>
                      <a:endParaRPr sz="1300">
                        <a:latin typeface="Tahoma"/>
                        <a:ea typeface="Tahoma"/>
                        <a:cs typeface="Tahoma"/>
                        <a:sym typeface="Tahoma"/>
                      </a:endParaRPr>
                    </a:p>
                  </a:txBody>
                  <a:tcPr marT="91425" marB="91425" marR="91425" marL="91425"/>
                </a:tc>
              </a:tr>
              <a:tr h="371975">
                <a:tc>
                  <a:txBody>
                    <a:bodyPr/>
                    <a:lstStyle/>
                    <a:p>
                      <a:pPr indent="0" lvl="0" marL="0" rtl="0" algn="l">
                        <a:spcBef>
                          <a:spcPts val="0"/>
                        </a:spcBef>
                        <a:spcAft>
                          <a:spcPts val="0"/>
                        </a:spcAft>
                        <a:buNone/>
                      </a:pPr>
                      <a:r>
                        <a:rPr lang="en-US" sz="1300">
                          <a:latin typeface="Tahoma"/>
                          <a:ea typeface="Tahoma"/>
                          <a:cs typeface="Tahoma"/>
                          <a:sym typeface="Tahoma"/>
                        </a:rPr>
                        <a:t>t</a:t>
                      </a:r>
                      <a:endParaRPr sz="1300">
                        <a:latin typeface="Tahoma"/>
                        <a:ea typeface="Tahoma"/>
                        <a:cs typeface="Tahoma"/>
                        <a:sym typeface="Tahoma"/>
                      </a:endParaRPr>
                    </a:p>
                  </a:txBody>
                  <a:tcPr marT="91425" marB="91425" marR="91425" marL="91425"/>
                </a:tc>
                <a:tc>
                  <a:txBody>
                    <a:bodyPr/>
                    <a:lstStyle/>
                    <a:p>
                      <a:pPr indent="0" lvl="0" marL="0" rtl="0" algn="l">
                        <a:spcBef>
                          <a:spcPts val="0"/>
                        </a:spcBef>
                        <a:spcAft>
                          <a:spcPts val="0"/>
                        </a:spcAft>
                        <a:buNone/>
                      </a:pPr>
                      <a:r>
                        <a:rPr lang="en-US" sz="1300">
                          <a:latin typeface="Tahoma"/>
                          <a:ea typeface="Tahoma"/>
                          <a:cs typeface="Tahoma"/>
                          <a:sym typeface="Tahoma"/>
                        </a:rPr>
                        <a:t>Text mode (default). Opens the file in text format.</a:t>
                      </a:r>
                      <a:endParaRPr sz="1300">
                        <a:latin typeface="Tahoma"/>
                        <a:ea typeface="Tahoma"/>
                        <a:cs typeface="Tahoma"/>
                        <a:sym typeface="Tahoma"/>
                      </a:endParaRPr>
                    </a:p>
                  </a:txBody>
                  <a:tcPr marT="91425" marB="91425" marR="91425" marL="91425"/>
                </a:tc>
              </a:tr>
              <a:tr h="371975">
                <a:tc>
                  <a:txBody>
                    <a:bodyPr/>
                    <a:lstStyle/>
                    <a:p>
                      <a:pPr indent="0" lvl="0" marL="0" rtl="0" algn="l">
                        <a:spcBef>
                          <a:spcPts val="0"/>
                        </a:spcBef>
                        <a:spcAft>
                          <a:spcPts val="0"/>
                        </a:spcAft>
                        <a:buNone/>
                      </a:pPr>
                      <a:r>
                        <a:rPr lang="en-US" sz="1300">
                          <a:latin typeface="Tahoma"/>
                          <a:ea typeface="Tahoma"/>
                          <a:cs typeface="Tahoma"/>
                          <a:sym typeface="Tahoma"/>
                        </a:rPr>
                        <a:t>x</a:t>
                      </a:r>
                      <a:endParaRPr sz="1300">
                        <a:latin typeface="Tahoma"/>
                        <a:ea typeface="Tahoma"/>
                        <a:cs typeface="Tahoma"/>
                        <a:sym typeface="Tahoma"/>
                      </a:endParaRPr>
                    </a:p>
                  </a:txBody>
                  <a:tcPr marT="91425" marB="91425" marR="91425" marL="91425"/>
                </a:tc>
                <a:tc>
                  <a:txBody>
                    <a:bodyPr/>
                    <a:lstStyle/>
                    <a:p>
                      <a:pPr indent="0" lvl="0" marL="0" rtl="0" algn="l">
                        <a:spcBef>
                          <a:spcPts val="0"/>
                        </a:spcBef>
                        <a:spcAft>
                          <a:spcPts val="0"/>
                        </a:spcAft>
                        <a:buNone/>
                      </a:pPr>
                      <a:r>
                        <a:rPr lang="en-US" sz="1300">
                          <a:latin typeface="Tahoma"/>
                          <a:ea typeface="Tahoma"/>
                          <a:cs typeface="Tahoma"/>
                          <a:sym typeface="Tahoma"/>
                        </a:rPr>
                        <a:t>Exclusive creation. Fails if the file already exists.</a:t>
                      </a:r>
                      <a:endParaRPr sz="1300">
                        <a:latin typeface="Tahoma"/>
                        <a:ea typeface="Tahoma"/>
                        <a:cs typeface="Tahoma"/>
                        <a:sym typeface="Tahoma"/>
                      </a:endParaRPr>
                    </a:p>
                  </a:txBody>
                  <a:tcPr marT="91425" marB="91425" marR="91425" marL="91425"/>
                </a:tc>
              </a:tr>
            </a:tbl>
          </a:graphicData>
        </a:graphic>
      </p:graphicFrame>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5" name="Shape 1315"/>
        <p:cNvGrpSpPr/>
        <p:nvPr/>
      </p:nvGrpSpPr>
      <p:grpSpPr>
        <a:xfrm>
          <a:off x="0" y="0"/>
          <a:ext cx="0" cy="0"/>
          <a:chOff x="0" y="0"/>
          <a:chExt cx="0" cy="0"/>
        </a:xfrm>
      </p:grpSpPr>
      <p:sp>
        <p:nvSpPr>
          <p:cNvPr id="1316" name="Google Shape;1316;p162"/>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Files using Python</a:t>
            </a:r>
            <a:endParaRPr b="1" sz="3000">
              <a:solidFill>
                <a:srgbClr val="1C3678"/>
              </a:solidFill>
              <a:latin typeface="Trebuchet MS"/>
              <a:ea typeface="Trebuchet MS"/>
              <a:cs typeface="Trebuchet MS"/>
              <a:sym typeface="Trebuchet MS"/>
            </a:endParaRPr>
          </a:p>
        </p:txBody>
      </p:sp>
      <p:sp>
        <p:nvSpPr>
          <p:cNvPr id="1317" name="Google Shape;1317;p162"/>
          <p:cNvSpPr txBox="1"/>
          <p:nvPr/>
        </p:nvSpPr>
        <p:spPr>
          <a:xfrm>
            <a:off x="688425" y="793125"/>
            <a:ext cx="8107500" cy="4007700"/>
          </a:xfrm>
          <a:prstGeom prst="rect">
            <a:avLst/>
          </a:prstGeom>
          <a:noFill/>
          <a:ln>
            <a:noFill/>
          </a:ln>
        </p:spPr>
        <p:txBody>
          <a:bodyPr anchorCtr="0" anchor="t" bIns="0" lIns="0" spcFirstLastPara="1" rIns="0" wrap="square" tIns="125075">
            <a:spAutoFit/>
          </a:bodyPr>
          <a:lstStyle/>
          <a:p>
            <a:pPr indent="0" lvl="0" marL="0" rtl="0" algn="just">
              <a:spcBef>
                <a:spcPts val="290"/>
              </a:spcBef>
              <a:spcAft>
                <a:spcPts val="0"/>
              </a:spcAft>
              <a:buNone/>
            </a:pPr>
            <a:r>
              <a:rPr lang="en-US" sz="1800">
                <a:latin typeface="Times"/>
                <a:ea typeface="Times"/>
                <a:cs typeface="Times"/>
                <a:sym typeface="Times"/>
              </a:rPr>
              <a:t>Reading from a File</a:t>
            </a:r>
            <a:endParaRPr sz="1800">
              <a:latin typeface="Times"/>
              <a:ea typeface="Times"/>
              <a:cs typeface="Times"/>
              <a:sym typeface="Times"/>
            </a:endParaRPr>
          </a:p>
          <a:p>
            <a:pPr indent="-342900" lvl="0" marL="457200" rtl="0" algn="just">
              <a:spcBef>
                <a:spcPts val="290"/>
              </a:spcBef>
              <a:spcAft>
                <a:spcPts val="0"/>
              </a:spcAft>
              <a:buSzPts val="1800"/>
              <a:buFont typeface="Times"/>
              <a:buChar char="●"/>
            </a:pPr>
            <a:r>
              <a:rPr lang="en-US" sz="1800">
                <a:latin typeface="Times"/>
                <a:ea typeface="Times"/>
                <a:cs typeface="Times"/>
                <a:sym typeface="Times"/>
              </a:rPr>
              <a:t>You can read from a file using several methods:</a:t>
            </a:r>
            <a:endParaRPr sz="1800">
              <a:latin typeface="Times"/>
              <a:ea typeface="Times"/>
              <a:cs typeface="Times"/>
              <a:sym typeface="Times"/>
            </a:endParaRPr>
          </a:p>
          <a:p>
            <a:pPr indent="-342900" lvl="0" marL="457200" rtl="0" algn="just">
              <a:spcBef>
                <a:spcPts val="0"/>
              </a:spcBef>
              <a:spcAft>
                <a:spcPts val="0"/>
              </a:spcAft>
              <a:buSzPts val="1800"/>
              <a:buFont typeface="Times"/>
              <a:buChar char="●"/>
            </a:pPr>
            <a:r>
              <a:rPr lang="en-US" sz="1800">
                <a:latin typeface="Times"/>
                <a:ea typeface="Times"/>
                <a:cs typeface="Times"/>
                <a:sym typeface="Times"/>
              </a:rPr>
              <a:t>read(size): Reads the specified number of bytes. If no size is specified, it reads until EOF.</a:t>
            </a:r>
            <a:endParaRPr sz="18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with open('file.txt', 'r') as f:</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content = f.read()</a:t>
            </a:r>
            <a:endParaRPr i="1" sz="1700">
              <a:latin typeface="Times"/>
              <a:ea typeface="Times"/>
              <a:cs typeface="Times"/>
              <a:sym typeface="Times"/>
            </a:endParaRPr>
          </a:p>
          <a:p>
            <a:pPr indent="-342900" lvl="0" marL="457200" rtl="0" algn="just">
              <a:spcBef>
                <a:spcPts val="290"/>
              </a:spcBef>
              <a:spcAft>
                <a:spcPts val="0"/>
              </a:spcAft>
              <a:buSzPts val="1800"/>
              <a:buFont typeface="Times"/>
              <a:buChar char="●"/>
            </a:pPr>
            <a:r>
              <a:rPr lang="en-US" sz="1800">
                <a:latin typeface="Times"/>
                <a:ea typeface="Times"/>
                <a:cs typeface="Times"/>
                <a:sym typeface="Times"/>
              </a:rPr>
              <a:t>readline(): Reads a single line from the file.</a:t>
            </a:r>
            <a:endParaRPr sz="18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with open('file.txt', 'r') as f:</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line = f.readline()</a:t>
            </a:r>
            <a:endParaRPr i="1" sz="1700">
              <a:latin typeface="Times"/>
              <a:ea typeface="Times"/>
              <a:cs typeface="Times"/>
              <a:sym typeface="Times"/>
            </a:endParaRPr>
          </a:p>
          <a:p>
            <a:pPr indent="-342900" lvl="0" marL="457200" rtl="0" algn="just">
              <a:spcBef>
                <a:spcPts val="290"/>
              </a:spcBef>
              <a:spcAft>
                <a:spcPts val="0"/>
              </a:spcAft>
              <a:buSzPts val="1800"/>
              <a:buFont typeface="Times"/>
              <a:buChar char="●"/>
            </a:pPr>
            <a:r>
              <a:rPr lang="en-US" sz="1800">
                <a:latin typeface="Times"/>
                <a:ea typeface="Times"/>
                <a:cs typeface="Times"/>
                <a:sym typeface="Times"/>
              </a:rPr>
              <a:t>readlines(): Reads all lines in a file and returns a list of lines.</a:t>
            </a:r>
            <a:endParaRPr sz="18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with open('file.txt', 'r') as f:</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lines = f.readlines()</a:t>
            </a:r>
            <a:endParaRPr i="1" sz="1700">
              <a:latin typeface="Times"/>
              <a:ea typeface="Times"/>
              <a:cs typeface="Times"/>
              <a:sym typeface="Times"/>
            </a:endParaRPr>
          </a:p>
          <a:p>
            <a:pPr indent="0" lvl="0" marL="0" rtl="0" algn="just">
              <a:spcBef>
                <a:spcPts val="290"/>
              </a:spcBef>
              <a:spcAft>
                <a:spcPts val="0"/>
              </a:spcAft>
              <a:buNone/>
            </a:pPr>
            <a:r>
              <a:t/>
            </a:r>
            <a:endParaRPr sz="1800">
              <a:latin typeface="Times"/>
              <a:ea typeface="Times"/>
              <a:cs typeface="Times"/>
              <a:sym typeface="Times"/>
            </a:endParaRPr>
          </a:p>
        </p:txBody>
      </p:sp>
      <p:sp>
        <p:nvSpPr>
          <p:cNvPr id="1318" name="Google Shape;1318;p1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3" name="Shape 1323"/>
        <p:cNvGrpSpPr/>
        <p:nvPr/>
      </p:nvGrpSpPr>
      <p:grpSpPr>
        <a:xfrm>
          <a:off x="0" y="0"/>
          <a:ext cx="0" cy="0"/>
          <a:chOff x="0" y="0"/>
          <a:chExt cx="0" cy="0"/>
        </a:xfrm>
      </p:grpSpPr>
      <p:sp>
        <p:nvSpPr>
          <p:cNvPr id="1324" name="Google Shape;1324;p163"/>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Files using Python</a:t>
            </a:r>
            <a:endParaRPr b="1" sz="3000">
              <a:solidFill>
                <a:srgbClr val="1C3678"/>
              </a:solidFill>
              <a:latin typeface="Trebuchet MS"/>
              <a:ea typeface="Trebuchet MS"/>
              <a:cs typeface="Trebuchet MS"/>
              <a:sym typeface="Trebuchet MS"/>
            </a:endParaRPr>
          </a:p>
        </p:txBody>
      </p:sp>
      <p:sp>
        <p:nvSpPr>
          <p:cNvPr id="1325" name="Google Shape;1325;p163"/>
          <p:cNvSpPr txBox="1"/>
          <p:nvPr/>
        </p:nvSpPr>
        <p:spPr>
          <a:xfrm>
            <a:off x="688425" y="793125"/>
            <a:ext cx="8107500" cy="3117600"/>
          </a:xfrm>
          <a:prstGeom prst="rect">
            <a:avLst/>
          </a:prstGeom>
          <a:noFill/>
          <a:ln>
            <a:noFill/>
          </a:ln>
        </p:spPr>
        <p:txBody>
          <a:bodyPr anchorCtr="0" anchor="t" bIns="0" lIns="0" spcFirstLastPara="1" rIns="0" wrap="square" tIns="125075">
            <a:spAutoFit/>
          </a:bodyPr>
          <a:lstStyle/>
          <a:p>
            <a:pPr indent="0" lvl="0" marL="0" rtl="0" algn="just">
              <a:spcBef>
                <a:spcPts val="290"/>
              </a:spcBef>
              <a:spcAft>
                <a:spcPts val="0"/>
              </a:spcAft>
              <a:buNone/>
            </a:pPr>
            <a:r>
              <a:rPr lang="en-US" sz="1800">
                <a:latin typeface="Times"/>
                <a:ea typeface="Times"/>
                <a:cs typeface="Times"/>
                <a:sym typeface="Times"/>
              </a:rPr>
              <a:t>Writing to a File</a:t>
            </a:r>
            <a:endParaRPr sz="1800">
              <a:latin typeface="Times"/>
              <a:ea typeface="Times"/>
              <a:cs typeface="Times"/>
              <a:sym typeface="Times"/>
            </a:endParaRPr>
          </a:p>
          <a:p>
            <a:pPr indent="-342900" lvl="0" marL="457200" rtl="0" algn="just">
              <a:spcBef>
                <a:spcPts val="290"/>
              </a:spcBef>
              <a:spcAft>
                <a:spcPts val="0"/>
              </a:spcAft>
              <a:buSzPts val="1800"/>
              <a:buFont typeface="Times"/>
              <a:buChar char="●"/>
            </a:pPr>
            <a:r>
              <a:rPr lang="en-US" sz="1800">
                <a:latin typeface="Times"/>
                <a:ea typeface="Times"/>
                <a:cs typeface="Times"/>
                <a:sym typeface="Times"/>
              </a:rPr>
              <a:t>You can write to a file using the following methods:</a:t>
            </a:r>
            <a:endParaRPr sz="1800">
              <a:latin typeface="Times"/>
              <a:ea typeface="Times"/>
              <a:cs typeface="Times"/>
              <a:sym typeface="Times"/>
            </a:endParaRPr>
          </a:p>
          <a:p>
            <a:pPr indent="-342900" lvl="0" marL="457200" rtl="0" algn="just">
              <a:spcBef>
                <a:spcPts val="0"/>
              </a:spcBef>
              <a:spcAft>
                <a:spcPts val="0"/>
              </a:spcAft>
              <a:buSzPts val="1800"/>
              <a:buFont typeface="Times"/>
              <a:buChar char="●"/>
            </a:pPr>
            <a:r>
              <a:rPr lang="en-US" sz="1800">
                <a:latin typeface="Times"/>
                <a:ea typeface="Times"/>
                <a:cs typeface="Times"/>
                <a:sym typeface="Times"/>
              </a:rPr>
              <a:t>write(string): Writes a string to the file.</a:t>
            </a:r>
            <a:endParaRPr sz="18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with open('file.txt', 'w') as f:</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f.write("Hello, World!")</a:t>
            </a:r>
            <a:endParaRPr i="1" sz="1700">
              <a:latin typeface="Times"/>
              <a:ea typeface="Times"/>
              <a:cs typeface="Times"/>
              <a:sym typeface="Times"/>
            </a:endParaRPr>
          </a:p>
          <a:p>
            <a:pPr indent="0" lvl="0" marL="0" rtl="0" algn="just">
              <a:spcBef>
                <a:spcPts val="290"/>
              </a:spcBef>
              <a:spcAft>
                <a:spcPts val="0"/>
              </a:spcAft>
              <a:buNone/>
            </a:pPr>
            <a:r>
              <a:t/>
            </a:r>
            <a:endParaRPr i="1" sz="1700">
              <a:latin typeface="Times"/>
              <a:ea typeface="Times"/>
              <a:cs typeface="Times"/>
              <a:sym typeface="Times"/>
            </a:endParaRPr>
          </a:p>
          <a:p>
            <a:pPr indent="-342900" lvl="0" marL="457200" rtl="0" algn="just">
              <a:spcBef>
                <a:spcPts val="290"/>
              </a:spcBef>
              <a:spcAft>
                <a:spcPts val="0"/>
              </a:spcAft>
              <a:buSzPts val="1800"/>
              <a:buFont typeface="Times"/>
              <a:buChar char="●"/>
            </a:pPr>
            <a:r>
              <a:rPr lang="en-US" sz="1800">
                <a:latin typeface="Times"/>
                <a:ea typeface="Times"/>
                <a:cs typeface="Times"/>
                <a:sym typeface="Times"/>
              </a:rPr>
              <a:t>writelines(lines): Writes a list of strings to the file.</a:t>
            </a:r>
            <a:endParaRPr sz="18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with open('file.txt', 'w') as f:</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f.writelines(["Line 1\n", "Line 2\n", "Line 3\n"])</a:t>
            </a:r>
            <a:endParaRPr i="1" sz="1700">
              <a:latin typeface="Times"/>
              <a:ea typeface="Times"/>
              <a:cs typeface="Times"/>
              <a:sym typeface="Times"/>
            </a:endParaRPr>
          </a:p>
          <a:p>
            <a:pPr indent="0" lvl="0" marL="0" rtl="0" algn="just">
              <a:spcBef>
                <a:spcPts val="290"/>
              </a:spcBef>
              <a:spcAft>
                <a:spcPts val="0"/>
              </a:spcAft>
              <a:buNone/>
            </a:pPr>
            <a:r>
              <a:t/>
            </a:r>
            <a:endParaRPr sz="1800">
              <a:latin typeface="Times"/>
              <a:ea typeface="Times"/>
              <a:cs typeface="Times"/>
              <a:sym typeface="Times"/>
            </a:endParaRPr>
          </a:p>
        </p:txBody>
      </p:sp>
      <p:sp>
        <p:nvSpPr>
          <p:cNvPr id="1326" name="Google Shape;1326;p1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1" name="Shape 1331"/>
        <p:cNvGrpSpPr/>
        <p:nvPr/>
      </p:nvGrpSpPr>
      <p:grpSpPr>
        <a:xfrm>
          <a:off x="0" y="0"/>
          <a:ext cx="0" cy="0"/>
          <a:chOff x="0" y="0"/>
          <a:chExt cx="0" cy="0"/>
        </a:xfrm>
      </p:grpSpPr>
      <p:sp>
        <p:nvSpPr>
          <p:cNvPr id="1332" name="Google Shape;1332;p164"/>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Files using Python</a:t>
            </a:r>
            <a:endParaRPr b="1" sz="3000">
              <a:solidFill>
                <a:srgbClr val="1C3678"/>
              </a:solidFill>
              <a:latin typeface="Trebuchet MS"/>
              <a:ea typeface="Trebuchet MS"/>
              <a:cs typeface="Trebuchet MS"/>
              <a:sym typeface="Trebuchet MS"/>
            </a:endParaRPr>
          </a:p>
        </p:txBody>
      </p:sp>
      <p:sp>
        <p:nvSpPr>
          <p:cNvPr id="1333" name="Google Shape;1333;p164"/>
          <p:cNvSpPr txBox="1"/>
          <p:nvPr/>
        </p:nvSpPr>
        <p:spPr>
          <a:xfrm>
            <a:off x="688425" y="793125"/>
            <a:ext cx="8107500" cy="3071400"/>
          </a:xfrm>
          <a:prstGeom prst="rect">
            <a:avLst/>
          </a:prstGeom>
          <a:noFill/>
          <a:ln>
            <a:noFill/>
          </a:ln>
        </p:spPr>
        <p:txBody>
          <a:bodyPr anchorCtr="0" anchor="t" bIns="0" lIns="0" spcFirstLastPara="1" rIns="0" wrap="square" tIns="125075">
            <a:spAutoFit/>
          </a:bodyPr>
          <a:lstStyle/>
          <a:p>
            <a:pPr indent="0" lvl="0" marL="0" rtl="0" algn="just">
              <a:spcBef>
                <a:spcPts val="290"/>
              </a:spcBef>
              <a:spcAft>
                <a:spcPts val="0"/>
              </a:spcAft>
              <a:buNone/>
            </a:pPr>
            <a:r>
              <a:rPr lang="en-US" sz="1800">
                <a:latin typeface="Times"/>
                <a:ea typeface="Times"/>
                <a:cs typeface="Times"/>
                <a:sym typeface="Times"/>
              </a:rPr>
              <a:t>Appending to a File</a:t>
            </a:r>
            <a:endParaRPr sz="1800">
              <a:latin typeface="Times"/>
              <a:ea typeface="Times"/>
              <a:cs typeface="Times"/>
              <a:sym typeface="Times"/>
            </a:endParaRPr>
          </a:p>
          <a:p>
            <a:pPr indent="-342900" lvl="0" marL="457200" rtl="0" algn="just">
              <a:spcBef>
                <a:spcPts val="290"/>
              </a:spcBef>
              <a:spcAft>
                <a:spcPts val="0"/>
              </a:spcAft>
              <a:buSzPts val="1800"/>
              <a:buFont typeface="Times"/>
              <a:buChar char="●"/>
            </a:pPr>
            <a:r>
              <a:rPr lang="en-US" sz="1800">
                <a:latin typeface="Times"/>
                <a:ea typeface="Times"/>
                <a:cs typeface="Times"/>
                <a:sym typeface="Times"/>
              </a:rPr>
              <a:t>To append data to an existing file, use the a mode:</a:t>
            </a:r>
            <a:endParaRPr sz="18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with open('file.txt', 'a') as f:</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f.write("This line is appended.\n")</a:t>
            </a:r>
            <a:endParaRPr i="1" sz="1700">
              <a:latin typeface="Times"/>
              <a:ea typeface="Times"/>
              <a:cs typeface="Times"/>
              <a:sym typeface="Times"/>
            </a:endParaRPr>
          </a:p>
          <a:p>
            <a:pPr indent="0" lvl="0" marL="0" rtl="0" algn="just">
              <a:spcBef>
                <a:spcPts val="290"/>
              </a:spcBef>
              <a:spcAft>
                <a:spcPts val="0"/>
              </a:spcAft>
              <a:buNone/>
            </a:pPr>
            <a:r>
              <a:rPr lang="en-US" sz="1700">
                <a:latin typeface="Times"/>
                <a:ea typeface="Times"/>
                <a:cs typeface="Times"/>
                <a:sym typeface="Times"/>
              </a:rPr>
              <a:t>Closing a File</a:t>
            </a:r>
            <a:endParaRPr sz="1700">
              <a:latin typeface="Times"/>
              <a:ea typeface="Times"/>
              <a:cs typeface="Times"/>
              <a:sym typeface="Times"/>
            </a:endParaRPr>
          </a:p>
          <a:p>
            <a:pPr indent="-336550" lvl="0" marL="457200" rtl="0" algn="just">
              <a:spcBef>
                <a:spcPts val="290"/>
              </a:spcBef>
              <a:spcAft>
                <a:spcPts val="0"/>
              </a:spcAft>
              <a:buSzPts val="1700"/>
              <a:buFont typeface="Times"/>
              <a:buChar char="●"/>
            </a:pPr>
            <a:r>
              <a:rPr lang="en-US" sz="1700">
                <a:latin typeface="Times"/>
                <a:ea typeface="Times"/>
                <a:cs typeface="Times"/>
                <a:sym typeface="Times"/>
              </a:rPr>
              <a:t>If you do not use a context manager, make sure to close the file using file_object.close() to free up resources.</a:t>
            </a:r>
            <a:endParaRPr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with open('file.txt', 'a') as f:</a:t>
            </a:r>
            <a:endParaRPr i="1" sz="1700">
              <a:latin typeface="Times"/>
              <a:ea typeface="Times"/>
              <a:cs typeface="Times"/>
              <a:sym typeface="Times"/>
            </a:endParaRPr>
          </a:p>
          <a:p>
            <a:pPr indent="457200" lvl="0" marL="457200" rtl="0" algn="just">
              <a:spcBef>
                <a:spcPts val="290"/>
              </a:spcBef>
              <a:spcAft>
                <a:spcPts val="0"/>
              </a:spcAft>
              <a:buNone/>
            </a:pPr>
            <a:r>
              <a:rPr i="1" lang="en-US" sz="1700">
                <a:latin typeface="Times"/>
                <a:ea typeface="Times"/>
                <a:cs typeface="Times"/>
                <a:sym typeface="Times"/>
              </a:rPr>
              <a:t>    # file operations</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f.close()</a:t>
            </a:r>
            <a:r>
              <a:rPr lang="en-US" sz="1700">
                <a:latin typeface="Times"/>
                <a:ea typeface="Times"/>
                <a:cs typeface="Times"/>
                <a:sym typeface="Times"/>
              </a:rPr>
              <a:t> </a:t>
            </a:r>
            <a:endParaRPr sz="1700">
              <a:latin typeface="Times"/>
              <a:ea typeface="Times"/>
              <a:cs typeface="Times"/>
              <a:sym typeface="Times"/>
            </a:endParaRPr>
          </a:p>
        </p:txBody>
      </p:sp>
      <p:sp>
        <p:nvSpPr>
          <p:cNvPr id="1334" name="Google Shape;1334;p1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9" name="Shape 1339"/>
        <p:cNvGrpSpPr/>
        <p:nvPr/>
      </p:nvGrpSpPr>
      <p:grpSpPr>
        <a:xfrm>
          <a:off x="0" y="0"/>
          <a:ext cx="0" cy="0"/>
          <a:chOff x="0" y="0"/>
          <a:chExt cx="0" cy="0"/>
        </a:xfrm>
      </p:grpSpPr>
      <p:sp>
        <p:nvSpPr>
          <p:cNvPr id="1340" name="Google Shape;1340;p165"/>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Files using Python</a:t>
            </a:r>
            <a:endParaRPr b="1" sz="3000">
              <a:solidFill>
                <a:srgbClr val="1C3678"/>
              </a:solidFill>
              <a:latin typeface="Trebuchet MS"/>
              <a:ea typeface="Trebuchet MS"/>
              <a:cs typeface="Trebuchet MS"/>
              <a:sym typeface="Trebuchet MS"/>
            </a:endParaRPr>
          </a:p>
        </p:txBody>
      </p:sp>
      <p:sp>
        <p:nvSpPr>
          <p:cNvPr id="1341" name="Google Shape;1341;p165"/>
          <p:cNvSpPr txBox="1"/>
          <p:nvPr/>
        </p:nvSpPr>
        <p:spPr>
          <a:xfrm>
            <a:off x="688425" y="793125"/>
            <a:ext cx="8107500" cy="3071400"/>
          </a:xfrm>
          <a:prstGeom prst="rect">
            <a:avLst/>
          </a:prstGeom>
          <a:noFill/>
          <a:ln>
            <a:noFill/>
          </a:ln>
        </p:spPr>
        <p:txBody>
          <a:bodyPr anchorCtr="0" anchor="t" bIns="0" lIns="0" spcFirstLastPara="1" rIns="0" wrap="square" tIns="125075">
            <a:spAutoFit/>
          </a:bodyPr>
          <a:lstStyle/>
          <a:p>
            <a:pPr indent="0" lvl="0" marL="0" rtl="0" algn="just">
              <a:spcBef>
                <a:spcPts val="290"/>
              </a:spcBef>
              <a:spcAft>
                <a:spcPts val="0"/>
              </a:spcAft>
              <a:buNone/>
            </a:pPr>
            <a:r>
              <a:rPr lang="en-US" sz="1800">
                <a:latin typeface="Times"/>
                <a:ea typeface="Times"/>
                <a:cs typeface="Times"/>
                <a:sym typeface="Times"/>
              </a:rPr>
              <a:t>Appending to a File</a:t>
            </a:r>
            <a:endParaRPr sz="1800">
              <a:latin typeface="Times"/>
              <a:ea typeface="Times"/>
              <a:cs typeface="Times"/>
              <a:sym typeface="Times"/>
            </a:endParaRPr>
          </a:p>
          <a:p>
            <a:pPr indent="-342900" lvl="0" marL="457200" rtl="0" algn="just">
              <a:spcBef>
                <a:spcPts val="290"/>
              </a:spcBef>
              <a:spcAft>
                <a:spcPts val="0"/>
              </a:spcAft>
              <a:buSzPts val="1800"/>
              <a:buFont typeface="Times"/>
              <a:buChar char="●"/>
            </a:pPr>
            <a:r>
              <a:rPr lang="en-US" sz="1800">
                <a:latin typeface="Times"/>
                <a:ea typeface="Times"/>
                <a:cs typeface="Times"/>
                <a:sym typeface="Times"/>
              </a:rPr>
              <a:t>To append data to an existing file, use the a mode:</a:t>
            </a:r>
            <a:endParaRPr sz="18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with open('file.txt', 'a') as f:</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f.write("This line is appended.\n")</a:t>
            </a:r>
            <a:endParaRPr i="1" sz="1700">
              <a:latin typeface="Times"/>
              <a:ea typeface="Times"/>
              <a:cs typeface="Times"/>
              <a:sym typeface="Times"/>
            </a:endParaRPr>
          </a:p>
          <a:p>
            <a:pPr indent="0" lvl="0" marL="0" rtl="0" algn="just">
              <a:spcBef>
                <a:spcPts val="290"/>
              </a:spcBef>
              <a:spcAft>
                <a:spcPts val="0"/>
              </a:spcAft>
              <a:buNone/>
            </a:pPr>
            <a:r>
              <a:rPr lang="en-US" sz="1700">
                <a:latin typeface="Times"/>
                <a:ea typeface="Times"/>
                <a:cs typeface="Times"/>
                <a:sym typeface="Times"/>
              </a:rPr>
              <a:t>Closing a File</a:t>
            </a:r>
            <a:endParaRPr sz="1700">
              <a:latin typeface="Times"/>
              <a:ea typeface="Times"/>
              <a:cs typeface="Times"/>
              <a:sym typeface="Times"/>
            </a:endParaRPr>
          </a:p>
          <a:p>
            <a:pPr indent="-336550" lvl="0" marL="457200" rtl="0" algn="just">
              <a:spcBef>
                <a:spcPts val="290"/>
              </a:spcBef>
              <a:spcAft>
                <a:spcPts val="0"/>
              </a:spcAft>
              <a:buSzPts val="1700"/>
              <a:buFont typeface="Times"/>
              <a:buChar char="●"/>
            </a:pPr>
            <a:r>
              <a:rPr lang="en-US" sz="1700">
                <a:latin typeface="Times"/>
                <a:ea typeface="Times"/>
                <a:cs typeface="Times"/>
                <a:sym typeface="Times"/>
              </a:rPr>
              <a:t>If you do not use a context manager, make sure to close the file using file_object.close() to free up resources.</a:t>
            </a:r>
            <a:endParaRPr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with open('file.txt', 'a') as f:</a:t>
            </a:r>
            <a:endParaRPr i="1" sz="1700">
              <a:latin typeface="Times"/>
              <a:ea typeface="Times"/>
              <a:cs typeface="Times"/>
              <a:sym typeface="Times"/>
            </a:endParaRPr>
          </a:p>
          <a:p>
            <a:pPr indent="457200" lvl="0" marL="457200" rtl="0" algn="just">
              <a:spcBef>
                <a:spcPts val="290"/>
              </a:spcBef>
              <a:spcAft>
                <a:spcPts val="0"/>
              </a:spcAft>
              <a:buNone/>
            </a:pPr>
            <a:r>
              <a:rPr i="1" lang="en-US" sz="1700">
                <a:latin typeface="Times"/>
                <a:ea typeface="Times"/>
                <a:cs typeface="Times"/>
                <a:sym typeface="Times"/>
              </a:rPr>
              <a:t>    # file operations</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f.close()</a:t>
            </a:r>
            <a:r>
              <a:rPr lang="en-US" sz="1700">
                <a:latin typeface="Times"/>
                <a:ea typeface="Times"/>
                <a:cs typeface="Times"/>
                <a:sym typeface="Times"/>
              </a:rPr>
              <a:t> </a:t>
            </a:r>
            <a:endParaRPr sz="1700">
              <a:latin typeface="Times"/>
              <a:ea typeface="Times"/>
              <a:cs typeface="Times"/>
              <a:sym typeface="Times"/>
            </a:endParaRPr>
          </a:p>
        </p:txBody>
      </p:sp>
      <p:sp>
        <p:nvSpPr>
          <p:cNvPr id="1342" name="Google Shape;1342;p1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7" name="Shape 1347"/>
        <p:cNvGrpSpPr/>
        <p:nvPr/>
      </p:nvGrpSpPr>
      <p:grpSpPr>
        <a:xfrm>
          <a:off x="0" y="0"/>
          <a:ext cx="0" cy="0"/>
          <a:chOff x="0" y="0"/>
          <a:chExt cx="0" cy="0"/>
        </a:xfrm>
      </p:grpSpPr>
      <p:sp>
        <p:nvSpPr>
          <p:cNvPr id="1348" name="Google Shape;1348;p166"/>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Error / Exception in</a:t>
            </a:r>
            <a:r>
              <a:rPr b="1" lang="en-US" sz="3000">
                <a:solidFill>
                  <a:srgbClr val="1C3678"/>
                </a:solidFill>
                <a:latin typeface="Trebuchet MS"/>
                <a:ea typeface="Trebuchet MS"/>
                <a:cs typeface="Trebuchet MS"/>
                <a:sym typeface="Trebuchet MS"/>
              </a:rPr>
              <a:t> Python</a:t>
            </a:r>
            <a:endParaRPr b="1" sz="3000">
              <a:solidFill>
                <a:srgbClr val="1C3678"/>
              </a:solidFill>
              <a:latin typeface="Trebuchet MS"/>
              <a:ea typeface="Trebuchet MS"/>
              <a:cs typeface="Trebuchet MS"/>
              <a:sym typeface="Trebuchet MS"/>
            </a:endParaRPr>
          </a:p>
        </p:txBody>
      </p:sp>
      <p:sp>
        <p:nvSpPr>
          <p:cNvPr id="1349" name="Google Shape;1349;p166"/>
          <p:cNvSpPr txBox="1"/>
          <p:nvPr/>
        </p:nvSpPr>
        <p:spPr>
          <a:xfrm>
            <a:off x="688425" y="793125"/>
            <a:ext cx="8107500" cy="35466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highlight>
                  <a:srgbClr val="FFFFFF"/>
                </a:highlight>
                <a:latin typeface="Times"/>
                <a:ea typeface="Times"/>
                <a:cs typeface="Times"/>
                <a:sym typeface="Times"/>
              </a:rPr>
              <a:t>Errors are problems in a program that causes the program to stop its execution. </a:t>
            </a:r>
            <a:endParaRPr sz="1800">
              <a:highlight>
                <a:srgbClr val="FFFFFF"/>
              </a:highlight>
              <a:latin typeface="Times"/>
              <a:ea typeface="Times"/>
              <a:cs typeface="Times"/>
              <a:sym typeface="Times"/>
            </a:endParaRPr>
          </a:p>
          <a:p>
            <a:pPr indent="-387350" lvl="0" marL="457200" rtl="0" algn="just">
              <a:spcBef>
                <a:spcPts val="0"/>
              </a:spcBef>
              <a:spcAft>
                <a:spcPts val="0"/>
              </a:spcAft>
              <a:buSzPts val="2500"/>
              <a:buFont typeface="Times"/>
              <a:buChar char="●"/>
            </a:pPr>
            <a:r>
              <a:rPr lang="en-US" sz="1800">
                <a:latin typeface="Times"/>
                <a:ea typeface="Times"/>
                <a:cs typeface="Times"/>
                <a:sym typeface="Times"/>
              </a:rPr>
              <a:t>When an exception occurs, Python stops executing the program and throws an error message unless the exception is handled.</a:t>
            </a:r>
            <a:endParaRPr sz="2500">
              <a:highlight>
                <a:srgbClr val="FFFFFF"/>
              </a:highlight>
              <a:latin typeface="Times"/>
              <a:ea typeface="Times"/>
              <a:cs typeface="Times"/>
              <a:sym typeface="Times"/>
            </a:endParaRPr>
          </a:p>
          <a:p>
            <a:pPr indent="-342900" lvl="0" marL="457200" rtl="0" algn="just">
              <a:spcBef>
                <a:spcPts val="0"/>
              </a:spcBef>
              <a:spcAft>
                <a:spcPts val="0"/>
              </a:spcAft>
              <a:buSzPts val="1800"/>
              <a:buFont typeface="Times"/>
              <a:buChar char="●"/>
            </a:pPr>
            <a:r>
              <a:rPr lang="en-US" sz="1800">
                <a:highlight>
                  <a:srgbClr val="FFFFFF"/>
                </a:highlight>
                <a:latin typeface="Times"/>
                <a:ea typeface="Times"/>
                <a:cs typeface="Times"/>
                <a:sym typeface="Times"/>
              </a:rPr>
              <a:t>Exceptions are raised when some internal events change the program’s normal flow.</a:t>
            </a:r>
            <a:endParaRPr sz="1800">
              <a:highlight>
                <a:srgbClr val="FFFFFF"/>
              </a:highlight>
              <a:latin typeface="Times"/>
              <a:ea typeface="Times"/>
              <a:cs typeface="Times"/>
              <a:sym typeface="Times"/>
            </a:endParaRPr>
          </a:p>
          <a:p>
            <a:pPr indent="-342900" lvl="0" marL="457200" rtl="0" algn="just">
              <a:spcBef>
                <a:spcPts val="0"/>
              </a:spcBef>
              <a:spcAft>
                <a:spcPts val="0"/>
              </a:spcAft>
              <a:buSzPts val="1800"/>
              <a:buFont typeface="Times"/>
              <a:buChar char="●"/>
            </a:pPr>
            <a:r>
              <a:rPr lang="en-US" sz="1800">
                <a:highlight>
                  <a:srgbClr val="FFFFFF"/>
                </a:highlight>
                <a:latin typeface="Times"/>
                <a:ea typeface="Times"/>
                <a:cs typeface="Times"/>
                <a:sym typeface="Times"/>
              </a:rPr>
              <a:t>Exceptions are different from syntax errors, as they occur during program execution (runtime).</a:t>
            </a:r>
            <a:endParaRPr sz="1800">
              <a:highlight>
                <a:srgbClr val="FFFFFF"/>
              </a:highlight>
              <a:latin typeface="Times"/>
              <a:ea typeface="Times"/>
              <a:cs typeface="Times"/>
              <a:sym typeface="Times"/>
            </a:endParaRPr>
          </a:p>
          <a:p>
            <a:pPr indent="-342900" lvl="0" marL="457200" rtl="0" algn="just">
              <a:spcBef>
                <a:spcPts val="0"/>
              </a:spcBef>
              <a:spcAft>
                <a:spcPts val="0"/>
              </a:spcAft>
              <a:buSzPts val="1800"/>
              <a:buFont typeface="Times"/>
              <a:buChar char="●"/>
            </a:pPr>
            <a:r>
              <a:rPr lang="en-US" sz="1800">
                <a:highlight>
                  <a:srgbClr val="FFFFFF"/>
                </a:highlight>
                <a:latin typeface="Times"/>
                <a:ea typeface="Times"/>
                <a:cs typeface="Times"/>
                <a:sym typeface="Times"/>
              </a:rPr>
              <a:t>There are multiple types of Error in python, Some are:</a:t>
            </a:r>
            <a:endParaRPr sz="1800">
              <a:highlight>
                <a:srgbClr val="FFFFFF"/>
              </a:highlight>
              <a:latin typeface="Times"/>
              <a:ea typeface="Times"/>
              <a:cs typeface="Times"/>
              <a:sym typeface="Times"/>
            </a:endParaRPr>
          </a:p>
          <a:p>
            <a:pPr indent="-330200" lvl="1" marL="914400" rtl="0" algn="just">
              <a:lnSpc>
                <a:spcPct val="115000"/>
              </a:lnSpc>
              <a:spcBef>
                <a:spcPts val="0"/>
              </a:spcBef>
              <a:spcAft>
                <a:spcPts val="0"/>
              </a:spcAft>
              <a:buSzPts val="1600"/>
              <a:buFont typeface="Tahoma"/>
              <a:buChar char="○"/>
            </a:pPr>
            <a:r>
              <a:rPr b="1" lang="en-US" sz="1600">
                <a:highlight>
                  <a:srgbClr val="FFFFFF"/>
                </a:highlight>
                <a:latin typeface="Times"/>
                <a:ea typeface="Times"/>
                <a:cs typeface="Times"/>
                <a:sym typeface="Times"/>
              </a:rPr>
              <a:t>Syntax Errors:</a:t>
            </a:r>
            <a:r>
              <a:rPr lang="en-US" sz="1600">
                <a:highlight>
                  <a:srgbClr val="FFFFFF"/>
                </a:highlight>
                <a:latin typeface="Times"/>
                <a:ea typeface="Times"/>
                <a:cs typeface="Times"/>
                <a:sym typeface="Times"/>
              </a:rPr>
              <a:t> Errors due to incorrect or invalid syntax in the code, preventing the compiler or interpreter from correctly interpreting or executing the code.</a:t>
            </a:r>
            <a:endParaRPr sz="1600">
              <a:highlight>
                <a:srgbClr val="FFFFFF"/>
              </a:highlight>
              <a:latin typeface="Times"/>
              <a:ea typeface="Times"/>
              <a:cs typeface="Times"/>
              <a:sym typeface="Times"/>
            </a:endParaRPr>
          </a:p>
          <a:p>
            <a:pPr indent="-330200" lvl="1" marL="914400" rtl="0" algn="just">
              <a:lnSpc>
                <a:spcPct val="115000"/>
              </a:lnSpc>
              <a:spcBef>
                <a:spcPts val="0"/>
              </a:spcBef>
              <a:spcAft>
                <a:spcPts val="0"/>
              </a:spcAft>
              <a:buSzPts val="1600"/>
              <a:buFont typeface="Tahoma"/>
              <a:buChar char="○"/>
            </a:pPr>
            <a:r>
              <a:rPr b="1" lang="en-US" sz="1600">
                <a:highlight>
                  <a:srgbClr val="FFFFFF"/>
                </a:highlight>
                <a:latin typeface="Times"/>
                <a:ea typeface="Times"/>
                <a:cs typeface="Times"/>
                <a:sym typeface="Times"/>
              </a:rPr>
              <a:t>Logical Errors:</a:t>
            </a:r>
            <a:r>
              <a:rPr lang="en-US" sz="1600">
                <a:highlight>
                  <a:srgbClr val="FFFFFF"/>
                </a:highlight>
                <a:latin typeface="Times"/>
                <a:ea typeface="Times"/>
                <a:cs typeface="Times"/>
                <a:sym typeface="Times"/>
              </a:rPr>
              <a:t> Errors resulting from flawed logic in conditional statements, loops, or algorithms, leading to incorrect control flow or results.</a:t>
            </a:r>
            <a:endParaRPr sz="1600">
              <a:highlight>
                <a:srgbClr val="FFFFFF"/>
              </a:highlight>
              <a:latin typeface="Times"/>
              <a:ea typeface="Times"/>
              <a:cs typeface="Times"/>
              <a:sym typeface="Times"/>
            </a:endParaRPr>
          </a:p>
        </p:txBody>
      </p:sp>
      <p:sp>
        <p:nvSpPr>
          <p:cNvPr id="1350" name="Google Shape;1350;p1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5" name="Shape 1355"/>
        <p:cNvGrpSpPr/>
        <p:nvPr/>
      </p:nvGrpSpPr>
      <p:grpSpPr>
        <a:xfrm>
          <a:off x="0" y="0"/>
          <a:ext cx="0" cy="0"/>
          <a:chOff x="0" y="0"/>
          <a:chExt cx="0" cy="0"/>
        </a:xfrm>
      </p:grpSpPr>
      <p:sp>
        <p:nvSpPr>
          <p:cNvPr id="1356" name="Google Shape;1356;p167"/>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Error / Exception in Python</a:t>
            </a:r>
            <a:endParaRPr b="1" sz="3000">
              <a:solidFill>
                <a:srgbClr val="1C3678"/>
              </a:solidFill>
              <a:latin typeface="Trebuchet MS"/>
              <a:ea typeface="Trebuchet MS"/>
              <a:cs typeface="Trebuchet MS"/>
              <a:sym typeface="Trebuchet MS"/>
            </a:endParaRPr>
          </a:p>
        </p:txBody>
      </p:sp>
      <p:sp>
        <p:nvSpPr>
          <p:cNvPr id="1357" name="Google Shape;1357;p167"/>
          <p:cNvSpPr txBox="1"/>
          <p:nvPr/>
        </p:nvSpPr>
        <p:spPr>
          <a:xfrm>
            <a:off x="688425" y="793125"/>
            <a:ext cx="8107500" cy="32295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highlight>
                  <a:srgbClr val="FFFFFF"/>
                </a:highlight>
                <a:latin typeface="Times"/>
                <a:ea typeface="Times"/>
                <a:cs typeface="Times"/>
                <a:sym typeface="Times"/>
              </a:rPr>
              <a:t>There are multiple types of Error in python, Some are:</a:t>
            </a:r>
            <a:endParaRPr sz="1800">
              <a:highlight>
                <a:srgbClr val="FFFFFF"/>
              </a:highlight>
              <a:latin typeface="Times"/>
              <a:ea typeface="Times"/>
              <a:cs typeface="Times"/>
              <a:sym typeface="Times"/>
            </a:endParaRPr>
          </a:p>
          <a:p>
            <a:pPr indent="-342900" lvl="1" marL="914400" rtl="0" algn="just">
              <a:lnSpc>
                <a:spcPct val="115000"/>
              </a:lnSpc>
              <a:spcBef>
                <a:spcPts val="0"/>
              </a:spcBef>
              <a:spcAft>
                <a:spcPts val="0"/>
              </a:spcAft>
              <a:buSzPts val="1800"/>
              <a:buFont typeface="Tahoma"/>
              <a:buChar char="○"/>
            </a:pPr>
            <a:r>
              <a:rPr b="1" lang="en-US" sz="1800">
                <a:highlight>
                  <a:srgbClr val="FFFFFF"/>
                </a:highlight>
                <a:latin typeface="Times"/>
                <a:ea typeface="Times"/>
                <a:cs typeface="Times"/>
                <a:sym typeface="Times"/>
              </a:rPr>
              <a:t>Compile-Time Errors:</a:t>
            </a:r>
            <a:r>
              <a:rPr lang="en-US" sz="1800">
                <a:highlight>
                  <a:srgbClr val="FFFFFF"/>
                </a:highlight>
                <a:latin typeface="Times"/>
                <a:ea typeface="Times"/>
                <a:cs typeface="Times"/>
                <a:sym typeface="Times"/>
              </a:rPr>
              <a:t> Errors detected by the compiler during the compilation process, including syntax errors and static semantic errors.</a:t>
            </a:r>
            <a:endParaRPr sz="1800">
              <a:highlight>
                <a:srgbClr val="FFFFFF"/>
              </a:highlight>
              <a:latin typeface="Times"/>
              <a:ea typeface="Times"/>
              <a:cs typeface="Times"/>
              <a:sym typeface="Times"/>
            </a:endParaRPr>
          </a:p>
          <a:p>
            <a:pPr indent="-342900" lvl="1" marL="914400" rtl="0" algn="just">
              <a:lnSpc>
                <a:spcPct val="115000"/>
              </a:lnSpc>
              <a:spcBef>
                <a:spcPts val="0"/>
              </a:spcBef>
              <a:spcAft>
                <a:spcPts val="0"/>
              </a:spcAft>
              <a:buSzPts val="1800"/>
              <a:buFont typeface="Tahoma"/>
              <a:buChar char="○"/>
            </a:pPr>
            <a:r>
              <a:rPr b="1" lang="en-US" sz="1800">
                <a:highlight>
                  <a:srgbClr val="FFFFFF"/>
                </a:highlight>
                <a:latin typeface="Times"/>
                <a:ea typeface="Times"/>
                <a:cs typeface="Times"/>
                <a:sym typeface="Times"/>
              </a:rPr>
              <a:t>Run-Time Errors:</a:t>
            </a:r>
            <a:r>
              <a:rPr lang="en-US" sz="1800">
                <a:highlight>
                  <a:srgbClr val="FFFFFF"/>
                </a:highlight>
                <a:latin typeface="Times"/>
                <a:ea typeface="Times"/>
                <a:cs typeface="Times"/>
                <a:sym typeface="Times"/>
              </a:rPr>
              <a:t> Errors detected during the execution of the program, including:</a:t>
            </a:r>
            <a:endParaRPr sz="1800">
              <a:highlight>
                <a:srgbClr val="FFFFFF"/>
              </a:highlight>
              <a:latin typeface="Times"/>
              <a:ea typeface="Times"/>
              <a:cs typeface="Times"/>
              <a:sym typeface="Times"/>
            </a:endParaRPr>
          </a:p>
          <a:p>
            <a:pPr indent="-342900" lvl="2" marL="1371600" rtl="0" algn="just">
              <a:lnSpc>
                <a:spcPct val="115000"/>
              </a:lnSpc>
              <a:spcBef>
                <a:spcPts val="0"/>
              </a:spcBef>
              <a:spcAft>
                <a:spcPts val="0"/>
              </a:spcAft>
              <a:buSzPts val="1800"/>
              <a:buFont typeface="Tahoma"/>
              <a:buChar char="■"/>
            </a:pPr>
            <a:r>
              <a:rPr b="1" lang="en-US" sz="1800">
                <a:highlight>
                  <a:srgbClr val="FFFFFF"/>
                </a:highlight>
                <a:latin typeface="Times"/>
                <a:ea typeface="Times"/>
                <a:cs typeface="Times"/>
                <a:sym typeface="Times"/>
              </a:rPr>
              <a:t>Arithmetic Errors:</a:t>
            </a:r>
            <a:r>
              <a:rPr lang="en-US" sz="1800">
                <a:highlight>
                  <a:srgbClr val="FFFFFF"/>
                </a:highlight>
                <a:latin typeface="Times"/>
                <a:ea typeface="Times"/>
                <a:cs typeface="Times"/>
                <a:sym typeface="Times"/>
              </a:rPr>
              <a:t> Mistakes in mathematical calculations or operations, resulting in incorrect results or program crashes.</a:t>
            </a:r>
            <a:endParaRPr sz="1800">
              <a:highlight>
                <a:srgbClr val="FFFFFF"/>
              </a:highlight>
              <a:latin typeface="Times"/>
              <a:ea typeface="Times"/>
              <a:cs typeface="Times"/>
              <a:sym typeface="Times"/>
            </a:endParaRPr>
          </a:p>
          <a:p>
            <a:pPr indent="-342900" lvl="2" marL="1371600" rtl="0" algn="just">
              <a:lnSpc>
                <a:spcPct val="115000"/>
              </a:lnSpc>
              <a:spcBef>
                <a:spcPts val="0"/>
              </a:spcBef>
              <a:spcAft>
                <a:spcPts val="0"/>
              </a:spcAft>
              <a:buSzPts val="1800"/>
              <a:buFont typeface="Tahoma"/>
              <a:buChar char="■"/>
            </a:pPr>
            <a:r>
              <a:rPr b="1" lang="en-US" sz="1800">
                <a:highlight>
                  <a:srgbClr val="FFFFFF"/>
                </a:highlight>
                <a:latin typeface="Times"/>
                <a:ea typeface="Times"/>
                <a:cs typeface="Times"/>
                <a:sym typeface="Times"/>
              </a:rPr>
              <a:t>Resource Errors:</a:t>
            </a:r>
            <a:r>
              <a:rPr lang="en-US" sz="1800">
                <a:highlight>
                  <a:srgbClr val="FFFFFF"/>
                </a:highlight>
                <a:latin typeface="Times"/>
                <a:ea typeface="Times"/>
                <a:cs typeface="Times"/>
                <a:sym typeface="Times"/>
              </a:rPr>
              <a:t> Issues related to the allocation, utilization, or availability of system resources such as memory, file handles, network connections, or CPU cycles.</a:t>
            </a:r>
            <a:endParaRPr sz="1800">
              <a:highlight>
                <a:srgbClr val="FFFFFF"/>
              </a:highlight>
              <a:latin typeface="Times"/>
              <a:ea typeface="Times"/>
              <a:cs typeface="Times"/>
              <a:sym typeface="Times"/>
            </a:endParaRPr>
          </a:p>
        </p:txBody>
      </p:sp>
      <p:sp>
        <p:nvSpPr>
          <p:cNvPr id="1358" name="Google Shape;1358;p1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3" name="Shape 1363"/>
        <p:cNvGrpSpPr/>
        <p:nvPr/>
      </p:nvGrpSpPr>
      <p:grpSpPr>
        <a:xfrm>
          <a:off x="0" y="0"/>
          <a:ext cx="0" cy="0"/>
          <a:chOff x="0" y="0"/>
          <a:chExt cx="0" cy="0"/>
        </a:xfrm>
      </p:grpSpPr>
      <p:sp>
        <p:nvSpPr>
          <p:cNvPr id="1364" name="Google Shape;1364;p168"/>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Compile-time / Syntax </a:t>
            </a:r>
            <a:r>
              <a:rPr b="1" lang="en-US" sz="3000">
                <a:solidFill>
                  <a:srgbClr val="1C3678"/>
                </a:solidFill>
                <a:latin typeface="Trebuchet MS"/>
                <a:ea typeface="Trebuchet MS"/>
                <a:cs typeface="Trebuchet MS"/>
                <a:sym typeface="Trebuchet MS"/>
              </a:rPr>
              <a:t>Error in Python</a:t>
            </a:r>
            <a:endParaRPr b="1" sz="3000">
              <a:solidFill>
                <a:srgbClr val="1C3678"/>
              </a:solidFill>
              <a:latin typeface="Trebuchet MS"/>
              <a:ea typeface="Trebuchet MS"/>
              <a:cs typeface="Trebuchet MS"/>
              <a:sym typeface="Trebuchet MS"/>
            </a:endParaRPr>
          </a:p>
        </p:txBody>
      </p:sp>
      <p:sp>
        <p:nvSpPr>
          <p:cNvPr id="1365" name="Google Shape;1365;p168"/>
          <p:cNvSpPr txBox="1"/>
          <p:nvPr/>
        </p:nvSpPr>
        <p:spPr>
          <a:xfrm>
            <a:off x="688425" y="793125"/>
            <a:ext cx="8107500" cy="36408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highlight>
                  <a:srgbClr val="FFFFFF"/>
                </a:highlight>
                <a:latin typeface="Times"/>
                <a:ea typeface="Times"/>
                <a:cs typeface="Times"/>
                <a:sym typeface="Times"/>
              </a:rPr>
              <a:t>When the proper syntax of the language is not followed then a syntax error is thrown.</a:t>
            </a:r>
            <a:endParaRPr sz="1800">
              <a:highlight>
                <a:srgbClr val="FFFFFF"/>
              </a:highlight>
              <a:latin typeface="Times"/>
              <a:ea typeface="Times"/>
              <a:cs typeface="Times"/>
              <a:sym typeface="Times"/>
            </a:endParaRPr>
          </a:p>
          <a:p>
            <a:pPr indent="-342900" lvl="0" marL="457200" rtl="0" algn="just">
              <a:spcBef>
                <a:spcPts val="0"/>
              </a:spcBef>
              <a:spcAft>
                <a:spcPts val="0"/>
              </a:spcAft>
              <a:buSzPts val="1800"/>
              <a:buFont typeface="Times"/>
              <a:buChar char="●"/>
            </a:pPr>
            <a:r>
              <a:rPr lang="en-US" sz="1800">
                <a:highlight>
                  <a:srgbClr val="FFFFFF"/>
                </a:highlight>
                <a:latin typeface="Times"/>
                <a:ea typeface="Times"/>
                <a:cs typeface="Times"/>
                <a:sym typeface="Times"/>
              </a:rPr>
              <a:t>Example 1 : It returns a syntax error message because after the if statement a colon: is missing. We can fix this by writing the correct syntax.</a:t>
            </a:r>
            <a:endParaRPr sz="1800">
              <a:highlight>
                <a:srgbClr val="FFFFFF"/>
              </a:highlight>
              <a:latin typeface="Times"/>
              <a:ea typeface="Times"/>
              <a:cs typeface="Times"/>
              <a:sym typeface="Times"/>
            </a:endParaRPr>
          </a:p>
          <a:p>
            <a:pPr indent="0" lvl="0" marL="457200" rtl="0" algn="just">
              <a:spcBef>
                <a:spcPts val="290"/>
              </a:spcBef>
              <a:spcAft>
                <a:spcPts val="0"/>
              </a:spcAft>
              <a:buNone/>
            </a:pPr>
            <a:r>
              <a:t/>
            </a:r>
            <a:endParaRPr sz="1800">
              <a:highlight>
                <a:srgbClr val="FFFFFF"/>
              </a:highlight>
              <a:latin typeface="Times"/>
              <a:ea typeface="Times"/>
              <a:cs typeface="Times"/>
              <a:sym typeface="Times"/>
            </a:endParaRPr>
          </a:p>
          <a:p>
            <a:pPr indent="0" lvl="0" marL="914400" rtl="0" algn="just">
              <a:spcBef>
                <a:spcPts val="290"/>
              </a:spcBef>
              <a:spcAft>
                <a:spcPts val="0"/>
              </a:spcAft>
              <a:buNone/>
            </a:pPr>
            <a:r>
              <a:rPr i="1" lang="en-US" sz="1700">
                <a:highlight>
                  <a:srgbClr val="FFFFFF"/>
                </a:highlight>
                <a:latin typeface="Times"/>
                <a:ea typeface="Times"/>
                <a:cs typeface="Times"/>
                <a:sym typeface="Times"/>
              </a:rPr>
              <a:t>age= 19</a:t>
            </a:r>
            <a:endParaRPr i="1" sz="1700">
              <a:highlight>
                <a:srgbClr val="FFFFFF"/>
              </a:highlight>
              <a:latin typeface="Times"/>
              <a:ea typeface="Times"/>
              <a:cs typeface="Times"/>
              <a:sym typeface="Times"/>
            </a:endParaRPr>
          </a:p>
          <a:p>
            <a:pPr indent="0" lvl="0" marL="914400" rtl="0" algn="just">
              <a:spcBef>
                <a:spcPts val="290"/>
              </a:spcBef>
              <a:spcAft>
                <a:spcPts val="0"/>
              </a:spcAft>
              <a:buNone/>
            </a:pPr>
            <a:r>
              <a:rPr i="1" lang="en-US" sz="1700">
                <a:highlight>
                  <a:srgbClr val="FFFFFF"/>
                </a:highlight>
                <a:latin typeface="Times"/>
                <a:ea typeface="Times"/>
                <a:cs typeface="Times"/>
                <a:sym typeface="Times"/>
              </a:rPr>
              <a:t>if(age&gt;18) # cause syntax error</a:t>
            </a:r>
            <a:endParaRPr i="1" sz="1700">
              <a:highlight>
                <a:srgbClr val="FFFFFF"/>
              </a:highlight>
              <a:latin typeface="Times"/>
              <a:ea typeface="Times"/>
              <a:cs typeface="Times"/>
              <a:sym typeface="Times"/>
            </a:endParaRPr>
          </a:p>
          <a:p>
            <a:pPr indent="0" lvl="0" marL="914400" rtl="0" algn="just">
              <a:spcBef>
                <a:spcPts val="290"/>
              </a:spcBef>
              <a:spcAft>
                <a:spcPts val="0"/>
              </a:spcAft>
              <a:buNone/>
            </a:pPr>
            <a:r>
              <a:rPr i="1" lang="en-US" sz="1700">
                <a:highlight>
                  <a:srgbClr val="FFFFFF"/>
                </a:highlight>
                <a:latin typeface="Times"/>
                <a:ea typeface="Times"/>
                <a:cs typeface="Times"/>
                <a:sym typeface="Times"/>
              </a:rPr>
              <a:t>    print("You are eligible to vote.”)</a:t>
            </a:r>
            <a:endParaRPr i="1" sz="1700">
              <a:highlight>
                <a:srgbClr val="FFFFFF"/>
              </a:highlight>
              <a:latin typeface="Times"/>
              <a:ea typeface="Times"/>
              <a:cs typeface="Times"/>
              <a:sym typeface="Times"/>
            </a:endParaRPr>
          </a:p>
          <a:p>
            <a:pPr indent="0" lvl="0" marL="914400" rtl="0" algn="just">
              <a:spcBef>
                <a:spcPts val="290"/>
              </a:spcBef>
              <a:spcAft>
                <a:spcPts val="0"/>
              </a:spcAft>
              <a:buNone/>
            </a:pPr>
            <a:r>
              <a:rPr i="1" lang="en-US" sz="1700">
                <a:highlight>
                  <a:srgbClr val="FFFFFF"/>
                </a:highlight>
                <a:latin typeface="Times"/>
                <a:ea typeface="Times"/>
                <a:cs typeface="Times"/>
                <a:sym typeface="Times"/>
              </a:rPr>
              <a:t># Solution: </a:t>
            </a:r>
            <a:endParaRPr i="1" sz="1700">
              <a:highlight>
                <a:srgbClr val="FFFFFF"/>
              </a:highlight>
              <a:latin typeface="Times"/>
              <a:ea typeface="Times"/>
              <a:cs typeface="Times"/>
              <a:sym typeface="Times"/>
            </a:endParaRPr>
          </a:p>
          <a:p>
            <a:pPr indent="0" lvl="0" marL="914400" rtl="0" algn="just">
              <a:spcBef>
                <a:spcPts val="290"/>
              </a:spcBef>
              <a:spcAft>
                <a:spcPts val="0"/>
              </a:spcAft>
              <a:buNone/>
            </a:pPr>
            <a:r>
              <a:rPr i="1" lang="en-US" sz="1700">
                <a:highlight>
                  <a:srgbClr val="FFFFFF"/>
                </a:highlight>
                <a:latin typeface="Times"/>
                <a:ea typeface="Times"/>
                <a:cs typeface="Times"/>
                <a:sym typeface="Times"/>
              </a:rPr>
              <a:t>age= 19</a:t>
            </a:r>
            <a:endParaRPr i="1" sz="1700">
              <a:highlight>
                <a:srgbClr val="FFFFFF"/>
              </a:highlight>
              <a:latin typeface="Times"/>
              <a:ea typeface="Times"/>
              <a:cs typeface="Times"/>
              <a:sym typeface="Times"/>
            </a:endParaRPr>
          </a:p>
          <a:p>
            <a:pPr indent="0" lvl="0" marL="914400" rtl="0" algn="just">
              <a:spcBef>
                <a:spcPts val="290"/>
              </a:spcBef>
              <a:spcAft>
                <a:spcPts val="0"/>
              </a:spcAft>
              <a:buNone/>
            </a:pPr>
            <a:r>
              <a:rPr i="1" lang="en-US" sz="1700">
                <a:highlight>
                  <a:srgbClr val="FFFFFF"/>
                </a:highlight>
                <a:latin typeface="Times"/>
                <a:ea typeface="Times"/>
                <a:cs typeface="Times"/>
                <a:sym typeface="Times"/>
              </a:rPr>
              <a:t>if(age&gt;18):</a:t>
            </a:r>
            <a:endParaRPr i="1" sz="1700">
              <a:highlight>
                <a:srgbClr val="FFFFFF"/>
              </a:highlight>
              <a:latin typeface="Times"/>
              <a:ea typeface="Times"/>
              <a:cs typeface="Times"/>
              <a:sym typeface="Times"/>
            </a:endParaRPr>
          </a:p>
          <a:p>
            <a:pPr indent="0" lvl="0" marL="914400" rtl="0" algn="just">
              <a:spcBef>
                <a:spcPts val="290"/>
              </a:spcBef>
              <a:spcAft>
                <a:spcPts val="0"/>
              </a:spcAft>
              <a:buNone/>
            </a:pPr>
            <a:r>
              <a:rPr i="1" lang="en-US" sz="1700">
                <a:highlight>
                  <a:srgbClr val="FFFFFF"/>
                </a:highlight>
                <a:latin typeface="Times"/>
                <a:ea typeface="Times"/>
                <a:cs typeface="Times"/>
                <a:sym typeface="Times"/>
              </a:rPr>
              <a:t>    print("You are eligible to vote.”)</a:t>
            </a:r>
            <a:endParaRPr i="1" sz="1700">
              <a:highlight>
                <a:srgbClr val="FFFFFF"/>
              </a:highlight>
              <a:latin typeface="Times"/>
              <a:ea typeface="Times"/>
              <a:cs typeface="Times"/>
              <a:sym typeface="Times"/>
            </a:endParaRPr>
          </a:p>
        </p:txBody>
      </p:sp>
      <p:sp>
        <p:nvSpPr>
          <p:cNvPr id="1366" name="Google Shape;1366;p1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1" name="Shape 1371"/>
        <p:cNvGrpSpPr/>
        <p:nvPr/>
      </p:nvGrpSpPr>
      <p:grpSpPr>
        <a:xfrm>
          <a:off x="0" y="0"/>
          <a:ext cx="0" cy="0"/>
          <a:chOff x="0" y="0"/>
          <a:chExt cx="0" cy="0"/>
        </a:xfrm>
      </p:grpSpPr>
      <p:sp>
        <p:nvSpPr>
          <p:cNvPr id="1372" name="Google Shape;1372;p169"/>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Compile-time / Syntax Error in Python</a:t>
            </a:r>
            <a:endParaRPr b="1" sz="3000">
              <a:solidFill>
                <a:srgbClr val="1C3678"/>
              </a:solidFill>
              <a:latin typeface="Trebuchet MS"/>
              <a:ea typeface="Trebuchet MS"/>
              <a:cs typeface="Trebuchet MS"/>
              <a:sym typeface="Trebuchet MS"/>
            </a:endParaRPr>
          </a:p>
        </p:txBody>
      </p:sp>
      <p:sp>
        <p:nvSpPr>
          <p:cNvPr id="1373" name="Google Shape;1373;p169"/>
          <p:cNvSpPr txBox="1"/>
          <p:nvPr/>
        </p:nvSpPr>
        <p:spPr>
          <a:xfrm>
            <a:off x="688425" y="793125"/>
            <a:ext cx="8107500" cy="35139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highlight>
                  <a:srgbClr val="FFFFFF"/>
                </a:highlight>
                <a:latin typeface="Times"/>
                <a:ea typeface="Times"/>
                <a:cs typeface="Times"/>
                <a:sym typeface="Times"/>
              </a:rPr>
              <a:t>Example 2: </a:t>
            </a:r>
            <a:r>
              <a:rPr lang="en-US" sz="1800">
                <a:highlight>
                  <a:srgbClr val="FFFFFF"/>
                </a:highlight>
                <a:latin typeface="Times"/>
                <a:ea typeface="Times"/>
                <a:cs typeface="Times"/>
                <a:sym typeface="Times"/>
              </a:rPr>
              <a:t>When indentation is not correct. </a:t>
            </a:r>
            <a:endParaRPr sz="1800">
              <a:highlight>
                <a:srgbClr val="FFFFFF"/>
              </a:highlight>
              <a:latin typeface="Times"/>
              <a:ea typeface="Times"/>
              <a:cs typeface="Times"/>
              <a:sym typeface="Times"/>
            </a:endParaRPr>
          </a:p>
          <a:p>
            <a:pPr indent="0" lvl="0" marL="457200" rtl="0" algn="just">
              <a:spcBef>
                <a:spcPts val="290"/>
              </a:spcBef>
              <a:spcAft>
                <a:spcPts val="0"/>
              </a:spcAft>
              <a:buNone/>
            </a:pPr>
            <a:r>
              <a:rPr lang="en-US" sz="1800">
                <a:highlight>
                  <a:srgbClr val="FFFFFF"/>
                </a:highlight>
                <a:latin typeface="Times"/>
                <a:ea typeface="Times"/>
                <a:cs typeface="Times"/>
                <a:sym typeface="Times"/>
              </a:rPr>
              <a:t> 	</a:t>
            </a:r>
            <a:endParaRPr sz="1800">
              <a:highlight>
                <a:srgbClr val="FFFFFF"/>
              </a:highlight>
              <a:latin typeface="Times"/>
              <a:ea typeface="Times"/>
              <a:cs typeface="Times"/>
              <a:sym typeface="Times"/>
            </a:endParaRPr>
          </a:p>
          <a:p>
            <a:pPr indent="0" lvl="0" marL="914400" marR="0" rtl="0" algn="just">
              <a:lnSpc>
                <a:spcPct val="120000"/>
              </a:lnSpc>
              <a:spcBef>
                <a:spcPts val="0"/>
              </a:spcBef>
              <a:spcAft>
                <a:spcPts val="0"/>
              </a:spcAft>
              <a:buNone/>
            </a:pPr>
            <a:r>
              <a:rPr i="1" lang="en-US" sz="1700">
                <a:highlight>
                  <a:srgbClr val="FFFFFF"/>
                </a:highlight>
                <a:latin typeface="Times"/>
                <a:ea typeface="Times"/>
                <a:cs typeface="Times"/>
                <a:sym typeface="Times"/>
              </a:rPr>
              <a:t>age=20</a:t>
            </a:r>
            <a:endParaRPr i="1" sz="1700">
              <a:highlight>
                <a:srgbClr val="FFFFFF"/>
              </a:highlight>
              <a:latin typeface="Times"/>
              <a:ea typeface="Times"/>
              <a:cs typeface="Times"/>
              <a:sym typeface="Times"/>
            </a:endParaRPr>
          </a:p>
          <a:p>
            <a:pPr indent="0" lvl="0" marL="914400" marR="0" rtl="0" algn="just">
              <a:lnSpc>
                <a:spcPct val="120000"/>
              </a:lnSpc>
              <a:spcBef>
                <a:spcPts val="0"/>
              </a:spcBef>
              <a:spcAft>
                <a:spcPts val="0"/>
              </a:spcAft>
              <a:buNone/>
            </a:pPr>
            <a:r>
              <a:rPr i="1" lang="en-US" sz="1700">
                <a:highlight>
                  <a:srgbClr val="FFFFFF"/>
                </a:highlight>
                <a:latin typeface="Times"/>
                <a:ea typeface="Times"/>
                <a:cs typeface="Times"/>
                <a:sym typeface="Times"/>
              </a:rPr>
              <a:t>if(age&gt;18):</a:t>
            </a:r>
            <a:endParaRPr i="1" sz="1700">
              <a:highlight>
                <a:srgbClr val="FFFFFF"/>
              </a:highlight>
              <a:latin typeface="Times"/>
              <a:ea typeface="Times"/>
              <a:cs typeface="Times"/>
              <a:sym typeface="Times"/>
            </a:endParaRPr>
          </a:p>
          <a:p>
            <a:pPr indent="0" lvl="0" marL="914400" rtl="0" algn="just">
              <a:spcBef>
                <a:spcPts val="290"/>
              </a:spcBef>
              <a:spcAft>
                <a:spcPts val="0"/>
              </a:spcAft>
              <a:buNone/>
            </a:pPr>
            <a:r>
              <a:rPr i="1" lang="en-US" sz="1700">
                <a:highlight>
                  <a:srgbClr val="FFFFFF"/>
                </a:highlight>
                <a:latin typeface="Times"/>
                <a:ea typeface="Times"/>
                <a:cs typeface="Times"/>
                <a:sym typeface="Times"/>
              </a:rPr>
              <a:t>print("You are eligible to vote.”)</a:t>
            </a:r>
            <a:endParaRPr i="1" sz="1700">
              <a:highlight>
                <a:srgbClr val="FFFFFF"/>
              </a:highlight>
              <a:latin typeface="Times"/>
              <a:ea typeface="Times"/>
              <a:cs typeface="Times"/>
              <a:sym typeface="Times"/>
            </a:endParaRPr>
          </a:p>
          <a:p>
            <a:pPr indent="0" lvl="0" marL="914400" marR="0" rtl="0" algn="just">
              <a:lnSpc>
                <a:spcPct val="120000"/>
              </a:lnSpc>
              <a:spcBef>
                <a:spcPts val="0"/>
              </a:spcBef>
              <a:spcAft>
                <a:spcPts val="0"/>
              </a:spcAft>
              <a:buNone/>
            </a:pPr>
            <a:r>
              <a:t/>
            </a:r>
            <a:endParaRPr i="1" sz="1700">
              <a:highlight>
                <a:srgbClr val="FFFFFF"/>
              </a:highlight>
              <a:latin typeface="Times"/>
              <a:ea typeface="Times"/>
              <a:cs typeface="Times"/>
              <a:sym typeface="Times"/>
            </a:endParaRPr>
          </a:p>
          <a:p>
            <a:pPr indent="-342900" lvl="0" marL="457200" rtl="0" algn="just">
              <a:spcBef>
                <a:spcPts val="290"/>
              </a:spcBef>
              <a:spcAft>
                <a:spcPts val="0"/>
              </a:spcAft>
              <a:buSzPts val="1800"/>
              <a:buFont typeface="Times"/>
              <a:buChar char="●"/>
            </a:pPr>
            <a:r>
              <a:rPr lang="en-US" sz="1800">
                <a:highlight>
                  <a:srgbClr val="FFFFFF"/>
                </a:highlight>
                <a:latin typeface="Times"/>
                <a:ea typeface="Times"/>
                <a:cs typeface="Times"/>
                <a:sym typeface="Times"/>
              </a:rPr>
              <a:t>Example 3: When indentation is not correct in looping. </a:t>
            </a:r>
            <a:endParaRPr sz="1800">
              <a:highlight>
                <a:srgbClr val="FFFFFF"/>
              </a:highlight>
              <a:latin typeface="Times"/>
              <a:ea typeface="Times"/>
              <a:cs typeface="Times"/>
              <a:sym typeface="Times"/>
            </a:endParaRPr>
          </a:p>
          <a:p>
            <a:pPr indent="0" lvl="0" marL="457200" rtl="0" algn="just">
              <a:spcBef>
                <a:spcPts val="290"/>
              </a:spcBef>
              <a:spcAft>
                <a:spcPts val="0"/>
              </a:spcAft>
              <a:buNone/>
            </a:pPr>
            <a:r>
              <a:rPr lang="en-US" sz="1800">
                <a:highlight>
                  <a:srgbClr val="FFFFFF"/>
                </a:highlight>
                <a:latin typeface="Times"/>
                <a:ea typeface="Times"/>
                <a:cs typeface="Times"/>
                <a:sym typeface="Times"/>
              </a:rPr>
              <a:t> 	ages =[58,88,48,65]</a:t>
            </a:r>
            <a:endParaRPr sz="1800">
              <a:highlight>
                <a:srgbClr val="FFFFFF"/>
              </a:highlight>
              <a:latin typeface="Times"/>
              <a:ea typeface="Times"/>
              <a:cs typeface="Times"/>
              <a:sym typeface="Times"/>
            </a:endParaRPr>
          </a:p>
          <a:p>
            <a:pPr indent="0" lvl="0" marL="914400" marR="0" rtl="0" algn="just">
              <a:lnSpc>
                <a:spcPct val="120000"/>
              </a:lnSpc>
              <a:spcBef>
                <a:spcPts val="0"/>
              </a:spcBef>
              <a:spcAft>
                <a:spcPts val="0"/>
              </a:spcAft>
              <a:buNone/>
            </a:pPr>
            <a:r>
              <a:rPr i="1" lang="en-US" sz="1700">
                <a:highlight>
                  <a:srgbClr val="FFFFFF"/>
                </a:highlight>
                <a:latin typeface="Times"/>
                <a:ea typeface="Times"/>
                <a:cs typeface="Times"/>
                <a:sym typeface="Times"/>
              </a:rPr>
              <a:t>for age in ages:</a:t>
            </a:r>
            <a:endParaRPr i="1" sz="1700">
              <a:highlight>
                <a:srgbClr val="FFFFFF"/>
              </a:highlight>
              <a:latin typeface="Times"/>
              <a:ea typeface="Times"/>
              <a:cs typeface="Times"/>
              <a:sym typeface="Times"/>
            </a:endParaRPr>
          </a:p>
          <a:p>
            <a:pPr indent="0" lvl="0" marL="914400" marR="0" rtl="0" algn="just">
              <a:lnSpc>
                <a:spcPct val="120000"/>
              </a:lnSpc>
              <a:spcBef>
                <a:spcPts val="0"/>
              </a:spcBef>
              <a:spcAft>
                <a:spcPts val="0"/>
              </a:spcAft>
              <a:buNone/>
            </a:pPr>
            <a:r>
              <a:rPr i="1" lang="en-US" sz="1700">
                <a:highlight>
                  <a:srgbClr val="FFFFFF"/>
                </a:highlight>
                <a:latin typeface="Times"/>
                <a:ea typeface="Times"/>
                <a:cs typeface="Times"/>
                <a:sym typeface="Times"/>
              </a:rPr>
              <a:t>if age&gt;18:</a:t>
            </a:r>
            <a:endParaRPr i="1" sz="1700">
              <a:highlight>
                <a:srgbClr val="FFFFFF"/>
              </a:highlight>
              <a:latin typeface="Times"/>
              <a:ea typeface="Times"/>
              <a:cs typeface="Times"/>
              <a:sym typeface="Times"/>
            </a:endParaRPr>
          </a:p>
          <a:p>
            <a:pPr indent="0" lvl="0" marL="914400" rtl="0" algn="just">
              <a:spcBef>
                <a:spcPts val="290"/>
              </a:spcBef>
              <a:spcAft>
                <a:spcPts val="0"/>
              </a:spcAft>
              <a:buNone/>
            </a:pPr>
            <a:r>
              <a:rPr i="1" lang="en-US" sz="1700">
                <a:highlight>
                  <a:srgbClr val="FFFFFF"/>
                </a:highlight>
                <a:latin typeface="Times"/>
                <a:ea typeface="Times"/>
                <a:cs typeface="Times"/>
                <a:sym typeface="Times"/>
              </a:rPr>
              <a:t>print(f"Man/Woman with {age} can vote.”)</a:t>
            </a:r>
            <a:endParaRPr i="1" sz="1700">
              <a:highlight>
                <a:srgbClr val="FFFFFF"/>
              </a:highlight>
              <a:latin typeface="Times"/>
              <a:ea typeface="Times"/>
              <a:cs typeface="Times"/>
              <a:sym typeface="Times"/>
            </a:endParaRPr>
          </a:p>
        </p:txBody>
      </p:sp>
      <p:sp>
        <p:nvSpPr>
          <p:cNvPr id="1374" name="Google Shape;1374;p1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9" name="Shape 1379"/>
        <p:cNvGrpSpPr/>
        <p:nvPr/>
      </p:nvGrpSpPr>
      <p:grpSpPr>
        <a:xfrm>
          <a:off x="0" y="0"/>
          <a:ext cx="0" cy="0"/>
          <a:chOff x="0" y="0"/>
          <a:chExt cx="0" cy="0"/>
        </a:xfrm>
      </p:grpSpPr>
      <p:sp>
        <p:nvSpPr>
          <p:cNvPr id="1380" name="Google Shape;1380;p170"/>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Run-time / Logical</a:t>
            </a:r>
            <a:r>
              <a:rPr b="1" lang="en-US" sz="3000">
                <a:solidFill>
                  <a:srgbClr val="1C3678"/>
                </a:solidFill>
                <a:latin typeface="Trebuchet MS"/>
                <a:ea typeface="Trebuchet MS"/>
                <a:cs typeface="Trebuchet MS"/>
                <a:sym typeface="Trebuchet MS"/>
              </a:rPr>
              <a:t> Error in Python</a:t>
            </a:r>
            <a:endParaRPr b="1" sz="3000">
              <a:solidFill>
                <a:srgbClr val="1C3678"/>
              </a:solidFill>
              <a:latin typeface="Trebuchet MS"/>
              <a:ea typeface="Trebuchet MS"/>
              <a:cs typeface="Trebuchet MS"/>
              <a:sym typeface="Trebuchet MS"/>
            </a:endParaRPr>
          </a:p>
        </p:txBody>
      </p:sp>
      <p:sp>
        <p:nvSpPr>
          <p:cNvPr id="1381" name="Google Shape;1381;p170"/>
          <p:cNvSpPr txBox="1"/>
          <p:nvPr/>
        </p:nvSpPr>
        <p:spPr>
          <a:xfrm>
            <a:off x="688425" y="793125"/>
            <a:ext cx="8107500" cy="3728100"/>
          </a:xfrm>
          <a:prstGeom prst="rect">
            <a:avLst/>
          </a:prstGeom>
          <a:noFill/>
          <a:ln>
            <a:noFill/>
          </a:ln>
        </p:spPr>
        <p:txBody>
          <a:bodyPr anchorCtr="0" anchor="t" bIns="0" lIns="0" spcFirstLastPara="1" rIns="0" wrap="square" tIns="125075">
            <a:spAutoFit/>
          </a:bodyPr>
          <a:lstStyle/>
          <a:p>
            <a:pPr indent="-342900" lvl="0" marL="457200" rtl="0" algn="just">
              <a:lnSpc>
                <a:spcPct val="100000"/>
              </a:lnSpc>
              <a:spcBef>
                <a:spcPts val="0"/>
              </a:spcBef>
              <a:spcAft>
                <a:spcPts val="0"/>
              </a:spcAft>
              <a:buSzPts val="1800"/>
              <a:buFont typeface="Times"/>
              <a:buChar char="●"/>
            </a:pPr>
            <a:r>
              <a:rPr lang="en-US" sz="1800">
                <a:highlight>
                  <a:srgbClr val="FFFFFF"/>
                </a:highlight>
                <a:latin typeface="Times"/>
                <a:ea typeface="Times"/>
                <a:cs typeface="Times"/>
                <a:sym typeface="Times"/>
              </a:rPr>
              <a:t>A logical error in Python, is a type of bug that occurs when a program runs without crashing but produces incorrect or unintended results. </a:t>
            </a:r>
            <a:endParaRPr sz="1800">
              <a:highlight>
                <a:srgbClr val="FFFFFF"/>
              </a:highlight>
              <a:latin typeface="Times"/>
              <a:ea typeface="Times"/>
              <a:cs typeface="Times"/>
              <a:sym typeface="Times"/>
            </a:endParaRPr>
          </a:p>
          <a:p>
            <a:pPr indent="-342900" lvl="0" marL="457200" rtl="0" algn="just">
              <a:lnSpc>
                <a:spcPct val="100000"/>
              </a:lnSpc>
              <a:spcBef>
                <a:spcPts val="0"/>
              </a:spcBef>
              <a:spcAft>
                <a:spcPts val="0"/>
              </a:spcAft>
              <a:buSzPts val="1800"/>
              <a:buFont typeface="Times"/>
              <a:buChar char="●"/>
            </a:pPr>
            <a:r>
              <a:rPr lang="en-US" sz="1800">
                <a:highlight>
                  <a:srgbClr val="FFFFFF"/>
                </a:highlight>
                <a:latin typeface="Times"/>
                <a:ea typeface="Times"/>
                <a:cs typeface="Times"/>
                <a:sym typeface="Times"/>
              </a:rPr>
              <a:t>Logical errors are mistakes in the program’s logic that lead to incorrect behavior or output, despite the syntax being correct.</a:t>
            </a:r>
            <a:endParaRPr sz="1800">
              <a:highlight>
                <a:srgbClr val="FFFFFF"/>
              </a:highlight>
              <a:latin typeface="Times"/>
              <a:ea typeface="Times"/>
              <a:cs typeface="Times"/>
              <a:sym typeface="Times"/>
            </a:endParaRPr>
          </a:p>
          <a:p>
            <a:pPr indent="-342900" lvl="0" marL="457200" rtl="0" algn="just">
              <a:lnSpc>
                <a:spcPct val="100000"/>
              </a:lnSpc>
              <a:spcBef>
                <a:spcPts val="0"/>
              </a:spcBef>
              <a:spcAft>
                <a:spcPts val="0"/>
              </a:spcAft>
              <a:buSzPts val="1800"/>
              <a:buFont typeface="Times"/>
              <a:buChar char="●"/>
            </a:pPr>
            <a:r>
              <a:rPr b="1" lang="en-US" sz="1800">
                <a:highlight>
                  <a:srgbClr val="FFFFFF"/>
                </a:highlight>
                <a:latin typeface="Times"/>
                <a:ea typeface="Times"/>
                <a:cs typeface="Times"/>
                <a:sym typeface="Times"/>
              </a:rPr>
              <a:t>Characteristics of Logical Errors</a:t>
            </a:r>
            <a:endParaRPr b="1" sz="1800">
              <a:highlight>
                <a:srgbClr val="FFFFFF"/>
              </a:highlight>
              <a:latin typeface="Times"/>
              <a:ea typeface="Times"/>
              <a:cs typeface="Times"/>
              <a:sym typeface="Times"/>
            </a:endParaRPr>
          </a:p>
          <a:p>
            <a:pPr indent="-342900" lvl="1" marL="914400" rtl="0" algn="just">
              <a:lnSpc>
                <a:spcPct val="100000"/>
              </a:lnSpc>
              <a:spcBef>
                <a:spcPts val="0"/>
              </a:spcBef>
              <a:spcAft>
                <a:spcPts val="0"/>
              </a:spcAft>
              <a:buSzPts val="1800"/>
              <a:buFont typeface="Tahoma"/>
              <a:buChar char="○"/>
            </a:pPr>
            <a:r>
              <a:rPr b="1" lang="en-US" sz="1800">
                <a:highlight>
                  <a:srgbClr val="FFFFFF"/>
                </a:highlight>
                <a:latin typeface="Times"/>
                <a:ea typeface="Times"/>
                <a:cs typeface="Times"/>
                <a:sym typeface="Times"/>
              </a:rPr>
              <a:t>No Syntax Error</a:t>
            </a:r>
            <a:r>
              <a:rPr lang="en-US" sz="1800">
                <a:highlight>
                  <a:srgbClr val="FFFFFF"/>
                </a:highlight>
                <a:latin typeface="Times"/>
                <a:ea typeface="Times"/>
                <a:cs typeface="Times"/>
                <a:sym typeface="Times"/>
              </a:rPr>
              <a:t>: The code runs successfully without any syntax errors.</a:t>
            </a:r>
            <a:endParaRPr sz="1800">
              <a:highlight>
                <a:srgbClr val="FFFFFF"/>
              </a:highlight>
              <a:latin typeface="Times"/>
              <a:ea typeface="Times"/>
              <a:cs typeface="Times"/>
              <a:sym typeface="Times"/>
            </a:endParaRPr>
          </a:p>
          <a:p>
            <a:pPr indent="-342900" lvl="1" marL="914400" rtl="0" algn="just">
              <a:lnSpc>
                <a:spcPct val="100000"/>
              </a:lnSpc>
              <a:spcBef>
                <a:spcPts val="0"/>
              </a:spcBef>
              <a:spcAft>
                <a:spcPts val="0"/>
              </a:spcAft>
              <a:buSzPts val="1800"/>
              <a:buFont typeface="Tahoma"/>
              <a:buChar char="○"/>
            </a:pPr>
            <a:r>
              <a:rPr b="1" lang="en-US" sz="1800">
                <a:highlight>
                  <a:srgbClr val="FFFFFF"/>
                </a:highlight>
                <a:latin typeface="Times"/>
                <a:ea typeface="Times"/>
                <a:cs typeface="Times"/>
                <a:sym typeface="Times"/>
              </a:rPr>
              <a:t>Unexpected Output</a:t>
            </a:r>
            <a:r>
              <a:rPr lang="en-US" sz="1800">
                <a:highlight>
                  <a:srgbClr val="FFFFFF"/>
                </a:highlight>
                <a:latin typeface="Times"/>
                <a:ea typeface="Times"/>
                <a:cs typeface="Times"/>
                <a:sym typeface="Times"/>
              </a:rPr>
              <a:t>: The program produces output that is different from what is expected.</a:t>
            </a:r>
            <a:endParaRPr sz="1800">
              <a:highlight>
                <a:srgbClr val="FFFFFF"/>
              </a:highlight>
              <a:latin typeface="Times"/>
              <a:ea typeface="Times"/>
              <a:cs typeface="Times"/>
              <a:sym typeface="Times"/>
            </a:endParaRPr>
          </a:p>
          <a:p>
            <a:pPr indent="-342900" lvl="1" marL="914400" rtl="0" algn="just">
              <a:lnSpc>
                <a:spcPct val="100000"/>
              </a:lnSpc>
              <a:spcBef>
                <a:spcPts val="0"/>
              </a:spcBef>
              <a:spcAft>
                <a:spcPts val="0"/>
              </a:spcAft>
              <a:buSzPts val="1800"/>
              <a:buFont typeface="Tahoma"/>
              <a:buChar char="○"/>
            </a:pPr>
            <a:r>
              <a:rPr b="1" lang="en-US" sz="1800">
                <a:highlight>
                  <a:srgbClr val="FFFFFF"/>
                </a:highlight>
                <a:latin typeface="Times"/>
                <a:ea typeface="Times"/>
                <a:cs typeface="Times"/>
                <a:sym typeface="Times"/>
              </a:rPr>
              <a:t>Difficult to Detect</a:t>
            </a:r>
            <a:r>
              <a:rPr lang="en-US" sz="1800">
                <a:highlight>
                  <a:srgbClr val="FFFFFF"/>
                </a:highlight>
                <a:latin typeface="Times"/>
                <a:ea typeface="Times"/>
                <a:cs typeface="Times"/>
                <a:sym typeface="Times"/>
              </a:rPr>
              <a:t>: Logical errors can be subtle and are often harder to identify and fix compared to syntax errors because the program appears to run correctly.</a:t>
            </a:r>
            <a:endParaRPr sz="1800">
              <a:highlight>
                <a:srgbClr val="FFFFFF"/>
              </a:highlight>
              <a:latin typeface="Times"/>
              <a:ea typeface="Times"/>
              <a:cs typeface="Times"/>
              <a:sym typeface="Times"/>
            </a:endParaRPr>
          </a:p>
          <a:p>
            <a:pPr indent="-342900" lvl="1" marL="914400" rtl="0" algn="just">
              <a:lnSpc>
                <a:spcPct val="100000"/>
              </a:lnSpc>
              <a:spcBef>
                <a:spcPts val="0"/>
              </a:spcBef>
              <a:spcAft>
                <a:spcPts val="0"/>
              </a:spcAft>
              <a:buSzPts val="1800"/>
              <a:buFont typeface="Tahoma"/>
              <a:buChar char="○"/>
            </a:pPr>
            <a:r>
              <a:rPr b="1" lang="en-US" sz="1800">
                <a:highlight>
                  <a:srgbClr val="FFFFFF"/>
                </a:highlight>
                <a:latin typeface="Times"/>
                <a:ea typeface="Times"/>
                <a:cs typeface="Times"/>
                <a:sym typeface="Times"/>
              </a:rPr>
              <a:t>Varied Causes</a:t>
            </a:r>
            <a:r>
              <a:rPr lang="en-US" sz="1800">
                <a:highlight>
                  <a:srgbClr val="FFFFFF"/>
                </a:highlight>
                <a:latin typeface="Times"/>
                <a:ea typeface="Times"/>
                <a:cs typeface="Times"/>
                <a:sym typeface="Times"/>
              </a:rPr>
              <a:t>: They can arise from incorrect assumptions, faulty logic, improper use of operators, or incorrect sequence of instructions.</a:t>
            </a:r>
            <a:endParaRPr sz="1800">
              <a:highlight>
                <a:srgbClr val="FFFFFF"/>
              </a:highlight>
              <a:latin typeface="Times"/>
              <a:ea typeface="Times"/>
              <a:cs typeface="Times"/>
              <a:sym typeface="Times"/>
            </a:endParaRPr>
          </a:p>
        </p:txBody>
      </p:sp>
      <p:sp>
        <p:nvSpPr>
          <p:cNvPr id="1382" name="Google Shape;1382;p1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7" name="Shape 1387"/>
        <p:cNvGrpSpPr/>
        <p:nvPr/>
      </p:nvGrpSpPr>
      <p:grpSpPr>
        <a:xfrm>
          <a:off x="0" y="0"/>
          <a:ext cx="0" cy="0"/>
          <a:chOff x="0" y="0"/>
          <a:chExt cx="0" cy="0"/>
        </a:xfrm>
      </p:grpSpPr>
      <p:sp>
        <p:nvSpPr>
          <p:cNvPr id="1388" name="Google Shape;1388;p171"/>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Run-time / Logical Error in Python</a:t>
            </a:r>
            <a:endParaRPr b="1" sz="3000">
              <a:solidFill>
                <a:srgbClr val="1C3678"/>
              </a:solidFill>
              <a:latin typeface="Trebuchet MS"/>
              <a:ea typeface="Trebuchet MS"/>
              <a:cs typeface="Trebuchet MS"/>
              <a:sym typeface="Trebuchet MS"/>
            </a:endParaRPr>
          </a:p>
        </p:txBody>
      </p:sp>
      <p:sp>
        <p:nvSpPr>
          <p:cNvPr id="1389" name="Google Shape;1389;p171"/>
          <p:cNvSpPr txBox="1"/>
          <p:nvPr/>
        </p:nvSpPr>
        <p:spPr>
          <a:xfrm>
            <a:off x="688425" y="793125"/>
            <a:ext cx="8107500" cy="35307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0"/>
              </a:spcBef>
              <a:spcAft>
                <a:spcPts val="0"/>
              </a:spcAft>
              <a:buSzPts val="1800"/>
              <a:buFont typeface="Times"/>
              <a:buChar char="●"/>
            </a:pPr>
            <a:r>
              <a:rPr lang="en-US" sz="1800">
                <a:highlight>
                  <a:srgbClr val="FFFFFF"/>
                </a:highlight>
                <a:latin typeface="Times"/>
                <a:ea typeface="Times"/>
                <a:cs typeface="Times"/>
                <a:sym typeface="Times"/>
              </a:rPr>
              <a:t>Example 1: To compute the average of a list of numbers:</a:t>
            </a:r>
            <a:endParaRPr sz="1800">
              <a:highlight>
                <a:srgbClr val="FFFFFF"/>
              </a:highlight>
              <a:latin typeface="Times"/>
              <a:ea typeface="Times"/>
              <a:cs typeface="Times"/>
              <a:sym typeface="Times"/>
            </a:endParaRPr>
          </a:p>
          <a:p>
            <a:pPr indent="0" lvl="0" marL="914400" marR="0" rtl="0" algn="just">
              <a:lnSpc>
                <a:spcPct val="120000"/>
              </a:lnSpc>
              <a:spcBef>
                <a:spcPts val="800"/>
              </a:spcBef>
              <a:spcAft>
                <a:spcPts val="0"/>
              </a:spcAft>
              <a:buNone/>
            </a:pPr>
            <a:r>
              <a:rPr i="1" lang="en-US" sz="1700">
                <a:highlight>
                  <a:srgbClr val="FFFFFF"/>
                </a:highlight>
                <a:latin typeface="Times"/>
                <a:ea typeface="Times"/>
                <a:cs typeface="Times"/>
                <a:sym typeface="Times"/>
              </a:rPr>
              <a:t>numbers = [10, 20, 30, 40, 50]</a:t>
            </a:r>
            <a:endParaRPr i="1" sz="1700">
              <a:highlight>
                <a:srgbClr val="FFFFFF"/>
              </a:highlight>
              <a:latin typeface="Times"/>
              <a:ea typeface="Times"/>
              <a:cs typeface="Times"/>
              <a:sym typeface="Times"/>
            </a:endParaRPr>
          </a:p>
          <a:p>
            <a:pPr indent="0" lvl="0" marL="914400" marR="0" rtl="0" algn="just">
              <a:lnSpc>
                <a:spcPct val="120000"/>
              </a:lnSpc>
              <a:spcBef>
                <a:spcPts val="0"/>
              </a:spcBef>
              <a:spcAft>
                <a:spcPts val="0"/>
              </a:spcAft>
              <a:buNone/>
            </a:pPr>
            <a:r>
              <a:rPr i="1" lang="en-US" sz="1700">
                <a:highlight>
                  <a:srgbClr val="FFFFFF"/>
                </a:highlight>
                <a:latin typeface="Times"/>
                <a:ea typeface="Times"/>
                <a:cs typeface="Times"/>
                <a:sym typeface="Times"/>
              </a:rPr>
              <a:t>total = 0</a:t>
            </a:r>
            <a:endParaRPr i="1" sz="1700">
              <a:highlight>
                <a:srgbClr val="FFFFFF"/>
              </a:highlight>
              <a:latin typeface="Times"/>
              <a:ea typeface="Times"/>
              <a:cs typeface="Times"/>
              <a:sym typeface="Times"/>
            </a:endParaRPr>
          </a:p>
          <a:p>
            <a:pPr indent="0" lvl="0" marL="914400" marR="0" rtl="0" algn="just">
              <a:lnSpc>
                <a:spcPct val="120000"/>
              </a:lnSpc>
              <a:spcBef>
                <a:spcPts val="0"/>
              </a:spcBef>
              <a:spcAft>
                <a:spcPts val="0"/>
              </a:spcAft>
              <a:buNone/>
            </a:pPr>
            <a:r>
              <a:rPr i="1" lang="en-US" sz="1700">
                <a:highlight>
                  <a:srgbClr val="FFFFFF"/>
                </a:highlight>
                <a:latin typeface="Times"/>
                <a:ea typeface="Times"/>
                <a:cs typeface="Times"/>
                <a:sym typeface="Times"/>
              </a:rPr>
              <a:t>for number in numbers:</a:t>
            </a:r>
            <a:endParaRPr i="1" sz="1700">
              <a:highlight>
                <a:srgbClr val="FFFFFF"/>
              </a:highlight>
              <a:latin typeface="Times"/>
              <a:ea typeface="Times"/>
              <a:cs typeface="Times"/>
              <a:sym typeface="Times"/>
            </a:endParaRPr>
          </a:p>
          <a:p>
            <a:pPr indent="0" lvl="0" marL="914400" marR="0" rtl="0" algn="just">
              <a:lnSpc>
                <a:spcPct val="120000"/>
              </a:lnSpc>
              <a:spcBef>
                <a:spcPts val="0"/>
              </a:spcBef>
              <a:spcAft>
                <a:spcPts val="0"/>
              </a:spcAft>
              <a:buNone/>
            </a:pPr>
            <a:r>
              <a:rPr i="1" lang="en-US" sz="1700">
                <a:highlight>
                  <a:srgbClr val="FFFFFF"/>
                </a:highlight>
                <a:latin typeface="Times"/>
                <a:ea typeface="Times"/>
                <a:cs typeface="Times"/>
                <a:sym typeface="Times"/>
              </a:rPr>
              <a:t>   total += number</a:t>
            </a:r>
            <a:endParaRPr i="1" sz="1700">
              <a:highlight>
                <a:srgbClr val="FFFFFF"/>
              </a:highlight>
              <a:latin typeface="Times"/>
              <a:ea typeface="Times"/>
              <a:cs typeface="Times"/>
              <a:sym typeface="Times"/>
            </a:endParaRPr>
          </a:p>
          <a:p>
            <a:pPr indent="0" lvl="0" marL="914400" marR="0" rtl="0" algn="just">
              <a:lnSpc>
                <a:spcPct val="120000"/>
              </a:lnSpc>
              <a:spcBef>
                <a:spcPts val="0"/>
              </a:spcBef>
              <a:spcAft>
                <a:spcPts val="0"/>
              </a:spcAft>
              <a:buNone/>
            </a:pPr>
            <a:r>
              <a:rPr i="1" lang="en-US" sz="1700">
                <a:highlight>
                  <a:srgbClr val="FFFFFF"/>
                </a:highlight>
                <a:latin typeface="Times"/>
                <a:ea typeface="Times"/>
                <a:cs typeface="Times"/>
                <a:sym typeface="Times"/>
              </a:rPr>
              <a:t># Calculate the average (this has a logical error)</a:t>
            </a:r>
            <a:endParaRPr i="1" sz="1700">
              <a:highlight>
                <a:srgbClr val="FFFFFF"/>
              </a:highlight>
              <a:latin typeface="Times"/>
              <a:ea typeface="Times"/>
              <a:cs typeface="Times"/>
              <a:sym typeface="Times"/>
            </a:endParaRPr>
          </a:p>
          <a:p>
            <a:pPr indent="0" lvl="0" marL="914400" marR="0" rtl="0" algn="just">
              <a:lnSpc>
                <a:spcPct val="120000"/>
              </a:lnSpc>
              <a:spcBef>
                <a:spcPts val="0"/>
              </a:spcBef>
              <a:spcAft>
                <a:spcPts val="0"/>
              </a:spcAft>
              <a:buNone/>
            </a:pPr>
            <a:r>
              <a:rPr i="1" lang="en-US" sz="1700">
                <a:highlight>
                  <a:srgbClr val="FFFFFF"/>
                </a:highlight>
                <a:latin typeface="Times"/>
                <a:ea typeface="Times"/>
                <a:cs typeface="Times"/>
                <a:sym typeface="Times"/>
              </a:rPr>
              <a:t>average = total / len(numbers) - 1​</a:t>
            </a:r>
            <a:endParaRPr i="1" sz="1700">
              <a:highlight>
                <a:srgbClr val="FFFFFF"/>
              </a:highlight>
              <a:latin typeface="Times"/>
              <a:ea typeface="Times"/>
              <a:cs typeface="Times"/>
              <a:sym typeface="Times"/>
            </a:endParaRPr>
          </a:p>
          <a:p>
            <a:pPr indent="0" lvl="0" marL="914400" marR="0" rtl="0" algn="just">
              <a:lnSpc>
                <a:spcPct val="120000"/>
              </a:lnSpc>
              <a:spcBef>
                <a:spcPts val="0"/>
              </a:spcBef>
              <a:spcAft>
                <a:spcPts val="0"/>
              </a:spcAft>
              <a:buNone/>
            </a:pPr>
            <a:r>
              <a:rPr i="1" lang="en-US" sz="1700">
                <a:highlight>
                  <a:srgbClr val="FFFFFF"/>
                </a:highlight>
                <a:latin typeface="Times"/>
                <a:ea typeface="Times"/>
                <a:cs typeface="Times"/>
                <a:sym typeface="Times"/>
              </a:rPr>
              <a:t>print("The average is:", average)</a:t>
            </a:r>
            <a:endParaRPr i="1" sz="1700">
              <a:highlight>
                <a:srgbClr val="FFFFFF"/>
              </a:highlight>
              <a:latin typeface="Times"/>
              <a:ea typeface="Times"/>
              <a:cs typeface="Times"/>
              <a:sym typeface="Times"/>
            </a:endParaRPr>
          </a:p>
          <a:p>
            <a:pPr indent="-336550" lvl="0" marL="457200" rtl="0" algn="just">
              <a:lnSpc>
                <a:spcPct val="100000"/>
              </a:lnSpc>
              <a:spcBef>
                <a:spcPts val="0"/>
              </a:spcBef>
              <a:spcAft>
                <a:spcPts val="0"/>
              </a:spcAft>
              <a:buSzPts val="1700"/>
              <a:buFont typeface="Times"/>
              <a:buChar char="●"/>
            </a:pPr>
            <a:r>
              <a:rPr lang="en-US" sz="1700">
                <a:highlight>
                  <a:srgbClr val="FFFFFF"/>
                </a:highlight>
                <a:latin typeface="Times"/>
                <a:ea typeface="Times"/>
                <a:cs typeface="Times"/>
                <a:sym typeface="Times"/>
              </a:rPr>
              <a:t>Analysis</a:t>
            </a:r>
            <a:endParaRPr sz="1700">
              <a:highlight>
                <a:srgbClr val="FFFFFF"/>
              </a:highlight>
              <a:latin typeface="Times"/>
              <a:ea typeface="Times"/>
              <a:cs typeface="Times"/>
              <a:sym typeface="Times"/>
            </a:endParaRPr>
          </a:p>
          <a:p>
            <a:pPr indent="-336550" lvl="1" marL="914400" rtl="0" algn="just">
              <a:lnSpc>
                <a:spcPct val="100000"/>
              </a:lnSpc>
              <a:spcBef>
                <a:spcPts val="0"/>
              </a:spcBef>
              <a:spcAft>
                <a:spcPts val="0"/>
              </a:spcAft>
              <a:buSzPts val="1700"/>
              <a:buFont typeface="Times"/>
              <a:buChar char="○"/>
            </a:pPr>
            <a:r>
              <a:rPr lang="en-US" sz="1700">
                <a:highlight>
                  <a:srgbClr val="FFFFFF"/>
                </a:highlight>
                <a:latin typeface="Times"/>
                <a:ea typeface="Times"/>
                <a:cs typeface="Times"/>
                <a:sym typeface="Times"/>
              </a:rPr>
              <a:t>Expected Output: The average of the numbers [10, 20, 30, 40, 50] should be 30</a:t>
            </a:r>
            <a:endParaRPr sz="1700">
              <a:highlight>
                <a:srgbClr val="FFFFFF"/>
              </a:highlight>
              <a:latin typeface="Times"/>
              <a:ea typeface="Times"/>
              <a:cs typeface="Times"/>
              <a:sym typeface="Times"/>
            </a:endParaRPr>
          </a:p>
          <a:p>
            <a:pPr indent="-336550" lvl="1" marL="914400" rtl="0" algn="just">
              <a:lnSpc>
                <a:spcPct val="100000"/>
              </a:lnSpc>
              <a:spcBef>
                <a:spcPts val="0"/>
              </a:spcBef>
              <a:spcAft>
                <a:spcPts val="0"/>
              </a:spcAft>
              <a:buSzPts val="1700"/>
              <a:buFont typeface="Times"/>
              <a:buChar char="○"/>
            </a:pPr>
            <a:r>
              <a:rPr lang="en-US" sz="1700">
                <a:highlight>
                  <a:srgbClr val="FFFFFF"/>
                </a:highlight>
                <a:latin typeface="Times"/>
                <a:ea typeface="Times"/>
                <a:cs typeface="Times"/>
                <a:sym typeface="Times"/>
              </a:rPr>
              <a:t>Actual Output: The program will output The average is: 29.0</a:t>
            </a:r>
            <a:endParaRPr sz="1700">
              <a:highlight>
                <a:srgbClr val="FFFFFF"/>
              </a:highlight>
              <a:latin typeface="Times"/>
              <a:ea typeface="Times"/>
              <a:cs typeface="Times"/>
              <a:sym typeface="Times"/>
            </a:endParaRPr>
          </a:p>
        </p:txBody>
      </p:sp>
      <p:sp>
        <p:nvSpPr>
          <p:cNvPr id="1390" name="Google Shape;1390;p1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5" name="Shape 1395"/>
        <p:cNvGrpSpPr/>
        <p:nvPr/>
      </p:nvGrpSpPr>
      <p:grpSpPr>
        <a:xfrm>
          <a:off x="0" y="0"/>
          <a:ext cx="0" cy="0"/>
          <a:chOff x="0" y="0"/>
          <a:chExt cx="0" cy="0"/>
        </a:xfrm>
      </p:grpSpPr>
      <p:sp>
        <p:nvSpPr>
          <p:cNvPr id="1396" name="Google Shape;1396;p172"/>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Run-time / Logical Error in Python</a:t>
            </a:r>
            <a:endParaRPr b="1" sz="3000">
              <a:solidFill>
                <a:srgbClr val="1C3678"/>
              </a:solidFill>
              <a:latin typeface="Trebuchet MS"/>
              <a:ea typeface="Trebuchet MS"/>
              <a:cs typeface="Trebuchet MS"/>
              <a:sym typeface="Trebuchet MS"/>
            </a:endParaRPr>
          </a:p>
        </p:txBody>
      </p:sp>
      <p:sp>
        <p:nvSpPr>
          <p:cNvPr id="1397" name="Google Shape;1397;p172"/>
          <p:cNvSpPr txBox="1"/>
          <p:nvPr/>
        </p:nvSpPr>
        <p:spPr>
          <a:xfrm>
            <a:off x="688425" y="793125"/>
            <a:ext cx="8107500" cy="35307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0"/>
              </a:spcBef>
              <a:spcAft>
                <a:spcPts val="0"/>
              </a:spcAft>
              <a:buSzPts val="1800"/>
              <a:buFont typeface="Times"/>
              <a:buChar char="●"/>
            </a:pPr>
            <a:r>
              <a:rPr lang="en-US" sz="1800">
                <a:highlight>
                  <a:srgbClr val="FFFFFF"/>
                </a:highlight>
                <a:latin typeface="Times"/>
                <a:ea typeface="Times"/>
                <a:cs typeface="Times"/>
                <a:sym typeface="Times"/>
              </a:rPr>
              <a:t>Example 1: To compute the average of a list of numbers:</a:t>
            </a:r>
            <a:endParaRPr sz="1800">
              <a:highlight>
                <a:srgbClr val="FFFFFF"/>
              </a:highlight>
              <a:latin typeface="Times"/>
              <a:ea typeface="Times"/>
              <a:cs typeface="Times"/>
              <a:sym typeface="Times"/>
            </a:endParaRPr>
          </a:p>
          <a:p>
            <a:pPr indent="0" lvl="0" marL="914400" marR="0" rtl="0" algn="just">
              <a:lnSpc>
                <a:spcPct val="120000"/>
              </a:lnSpc>
              <a:spcBef>
                <a:spcPts val="800"/>
              </a:spcBef>
              <a:spcAft>
                <a:spcPts val="0"/>
              </a:spcAft>
              <a:buNone/>
            </a:pPr>
            <a:r>
              <a:rPr i="1" lang="en-US" sz="1700">
                <a:highlight>
                  <a:srgbClr val="FFFFFF"/>
                </a:highlight>
                <a:latin typeface="Times"/>
                <a:ea typeface="Times"/>
                <a:cs typeface="Times"/>
                <a:sym typeface="Times"/>
              </a:rPr>
              <a:t>numbers = [10, 20, 30, 40, 50]</a:t>
            </a:r>
            <a:endParaRPr i="1" sz="1700">
              <a:highlight>
                <a:srgbClr val="FFFFFF"/>
              </a:highlight>
              <a:latin typeface="Times"/>
              <a:ea typeface="Times"/>
              <a:cs typeface="Times"/>
              <a:sym typeface="Times"/>
            </a:endParaRPr>
          </a:p>
          <a:p>
            <a:pPr indent="0" lvl="0" marL="914400" marR="0" rtl="0" algn="just">
              <a:lnSpc>
                <a:spcPct val="120000"/>
              </a:lnSpc>
              <a:spcBef>
                <a:spcPts val="0"/>
              </a:spcBef>
              <a:spcAft>
                <a:spcPts val="0"/>
              </a:spcAft>
              <a:buNone/>
            </a:pPr>
            <a:r>
              <a:rPr i="1" lang="en-US" sz="1700">
                <a:highlight>
                  <a:srgbClr val="FFFFFF"/>
                </a:highlight>
                <a:latin typeface="Times"/>
                <a:ea typeface="Times"/>
                <a:cs typeface="Times"/>
                <a:sym typeface="Times"/>
              </a:rPr>
              <a:t>total = 0</a:t>
            </a:r>
            <a:endParaRPr i="1" sz="1700">
              <a:highlight>
                <a:srgbClr val="FFFFFF"/>
              </a:highlight>
              <a:latin typeface="Times"/>
              <a:ea typeface="Times"/>
              <a:cs typeface="Times"/>
              <a:sym typeface="Times"/>
            </a:endParaRPr>
          </a:p>
          <a:p>
            <a:pPr indent="0" lvl="0" marL="914400" marR="0" rtl="0" algn="just">
              <a:lnSpc>
                <a:spcPct val="120000"/>
              </a:lnSpc>
              <a:spcBef>
                <a:spcPts val="0"/>
              </a:spcBef>
              <a:spcAft>
                <a:spcPts val="0"/>
              </a:spcAft>
              <a:buNone/>
            </a:pPr>
            <a:r>
              <a:rPr i="1" lang="en-US" sz="1700">
                <a:highlight>
                  <a:srgbClr val="FFFFFF"/>
                </a:highlight>
                <a:latin typeface="Times"/>
                <a:ea typeface="Times"/>
                <a:cs typeface="Times"/>
                <a:sym typeface="Times"/>
              </a:rPr>
              <a:t>for number in numbers:</a:t>
            </a:r>
            <a:endParaRPr i="1" sz="1700">
              <a:highlight>
                <a:srgbClr val="FFFFFF"/>
              </a:highlight>
              <a:latin typeface="Times"/>
              <a:ea typeface="Times"/>
              <a:cs typeface="Times"/>
              <a:sym typeface="Times"/>
            </a:endParaRPr>
          </a:p>
          <a:p>
            <a:pPr indent="0" lvl="0" marL="914400" marR="0" rtl="0" algn="just">
              <a:lnSpc>
                <a:spcPct val="120000"/>
              </a:lnSpc>
              <a:spcBef>
                <a:spcPts val="0"/>
              </a:spcBef>
              <a:spcAft>
                <a:spcPts val="0"/>
              </a:spcAft>
              <a:buNone/>
            </a:pPr>
            <a:r>
              <a:rPr i="1" lang="en-US" sz="1700">
                <a:highlight>
                  <a:srgbClr val="FFFFFF"/>
                </a:highlight>
                <a:latin typeface="Times"/>
                <a:ea typeface="Times"/>
                <a:cs typeface="Times"/>
                <a:sym typeface="Times"/>
              </a:rPr>
              <a:t>   total += number</a:t>
            </a:r>
            <a:endParaRPr i="1" sz="1700">
              <a:highlight>
                <a:srgbClr val="FFFFFF"/>
              </a:highlight>
              <a:latin typeface="Times"/>
              <a:ea typeface="Times"/>
              <a:cs typeface="Times"/>
              <a:sym typeface="Times"/>
            </a:endParaRPr>
          </a:p>
          <a:p>
            <a:pPr indent="0" lvl="0" marL="914400" marR="0" rtl="0" algn="just">
              <a:lnSpc>
                <a:spcPct val="120000"/>
              </a:lnSpc>
              <a:spcBef>
                <a:spcPts val="0"/>
              </a:spcBef>
              <a:spcAft>
                <a:spcPts val="0"/>
              </a:spcAft>
              <a:buNone/>
            </a:pPr>
            <a:r>
              <a:rPr i="1" lang="en-US" sz="1700">
                <a:highlight>
                  <a:srgbClr val="FFFFFF"/>
                </a:highlight>
                <a:latin typeface="Times"/>
                <a:ea typeface="Times"/>
                <a:cs typeface="Times"/>
                <a:sym typeface="Times"/>
              </a:rPr>
              <a:t># Calculate the average (this has a logical error)</a:t>
            </a:r>
            <a:endParaRPr i="1" sz="1700">
              <a:highlight>
                <a:srgbClr val="FFFFFF"/>
              </a:highlight>
              <a:latin typeface="Times"/>
              <a:ea typeface="Times"/>
              <a:cs typeface="Times"/>
              <a:sym typeface="Times"/>
            </a:endParaRPr>
          </a:p>
          <a:p>
            <a:pPr indent="0" lvl="0" marL="914400" marR="0" rtl="0" algn="just">
              <a:lnSpc>
                <a:spcPct val="120000"/>
              </a:lnSpc>
              <a:spcBef>
                <a:spcPts val="0"/>
              </a:spcBef>
              <a:spcAft>
                <a:spcPts val="0"/>
              </a:spcAft>
              <a:buNone/>
            </a:pPr>
            <a:r>
              <a:rPr i="1" lang="en-US" sz="1700">
                <a:highlight>
                  <a:srgbClr val="FFFFFF"/>
                </a:highlight>
                <a:latin typeface="Times"/>
                <a:ea typeface="Times"/>
                <a:cs typeface="Times"/>
                <a:sym typeface="Times"/>
              </a:rPr>
              <a:t>average = total / len(numbers)</a:t>
            </a:r>
            <a:endParaRPr i="1" sz="1700">
              <a:highlight>
                <a:srgbClr val="FFFFFF"/>
              </a:highlight>
              <a:latin typeface="Times"/>
              <a:ea typeface="Times"/>
              <a:cs typeface="Times"/>
              <a:sym typeface="Times"/>
            </a:endParaRPr>
          </a:p>
          <a:p>
            <a:pPr indent="0" lvl="0" marL="914400" marR="0" rtl="0" algn="just">
              <a:lnSpc>
                <a:spcPct val="120000"/>
              </a:lnSpc>
              <a:spcBef>
                <a:spcPts val="0"/>
              </a:spcBef>
              <a:spcAft>
                <a:spcPts val="0"/>
              </a:spcAft>
              <a:buNone/>
            </a:pPr>
            <a:r>
              <a:rPr i="1" lang="en-US" sz="1700">
                <a:highlight>
                  <a:srgbClr val="FFFFFF"/>
                </a:highlight>
                <a:latin typeface="Times"/>
                <a:ea typeface="Times"/>
                <a:cs typeface="Times"/>
                <a:sym typeface="Times"/>
              </a:rPr>
              <a:t>print("The average is:", average)</a:t>
            </a:r>
            <a:endParaRPr i="1" sz="1700">
              <a:highlight>
                <a:srgbClr val="FFFFFF"/>
              </a:highlight>
              <a:latin typeface="Times"/>
              <a:ea typeface="Times"/>
              <a:cs typeface="Times"/>
              <a:sym typeface="Times"/>
            </a:endParaRPr>
          </a:p>
          <a:p>
            <a:pPr indent="-336550" lvl="0" marL="457200" rtl="0" algn="just">
              <a:lnSpc>
                <a:spcPct val="100000"/>
              </a:lnSpc>
              <a:spcBef>
                <a:spcPts val="0"/>
              </a:spcBef>
              <a:spcAft>
                <a:spcPts val="0"/>
              </a:spcAft>
              <a:buSzPts val="1700"/>
              <a:buFont typeface="Times"/>
              <a:buChar char="●"/>
            </a:pPr>
            <a:r>
              <a:rPr lang="en-US" sz="1700">
                <a:highlight>
                  <a:srgbClr val="FFFFFF"/>
                </a:highlight>
                <a:latin typeface="Times"/>
                <a:ea typeface="Times"/>
                <a:cs typeface="Times"/>
                <a:sym typeface="Times"/>
              </a:rPr>
              <a:t>Analysis</a:t>
            </a:r>
            <a:endParaRPr sz="1700">
              <a:highlight>
                <a:srgbClr val="FFFFFF"/>
              </a:highlight>
              <a:latin typeface="Times"/>
              <a:ea typeface="Times"/>
              <a:cs typeface="Times"/>
              <a:sym typeface="Times"/>
            </a:endParaRPr>
          </a:p>
          <a:p>
            <a:pPr indent="-336550" lvl="1" marL="914400" rtl="0" algn="just">
              <a:lnSpc>
                <a:spcPct val="100000"/>
              </a:lnSpc>
              <a:spcBef>
                <a:spcPts val="0"/>
              </a:spcBef>
              <a:spcAft>
                <a:spcPts val="0"/>
              </a:spcAft>
              <a:buSzPts val="1700"/>
              <a:buFont typeface="Times"/>
              <a:buChar char="○"/>
            </a:pPr>
            <a:r>
              <a:rPr lang="en-US" sz="1700">
                <a:highlight>
                  <a:srgbClr val="FFFFFF"/>
                </a:highlight>
                <a:latin typeface="Times"/>
                <a:ea typeface="Times"/>
                <a:cs typeface="Times"/>
                <a:sym typeface="Times"/>
              </a:rPr>
              <a:t>Expected Output: The average of the numbers [10, 20, 30, 40, 50] should be 30</a:t>
            </a:r>
            <a:endParaRPr sz="1700">
              <a:highlight>
                <a:srgbClr val="FFFFFF"/>
              </a:highlight>
              <a:latin typeface="Times"/>
              <a:ea typeface="Times"/>
              <a:cs typeface="Times"/>
              <a:sym typeface="Times"/>
            </a:endParaRPr>
          </a:p>
          <a:p>
            <a:pPr indent="-336550" lvl="1" marL="914400" rtl="0" algn="just">
              <a:lnSpc>
                <a:spcPct val="100000"/>
              </a:lnSpc>
              <a:spcBef>
                <a:spcPts val="0"/>
              </a:spcBef>
              <a:spcAft>
                <a:spcPts val="0"/>
              </a:spcAft>
              <a:buSzPts val="1700"/>
              <a:buFont typeface="Times"/>
              <a:buChar char="○"/>
            </a:pPr>
            <a:r>
              <a:rPr lang="en-US" sz="1700">
                <a:highlight>
                  <a:srgbClr val="FFFFFF"/>
                </a:highlight>
                <a:latin typeface="Times"/>
                <a:ea typeface="Times"/>
                <a:cs typeface="Times"/>
                <a:sym typeface="Times"/>
              </a:rPr>
              <a:t>Actual Output: The program will output The average is: 30</a:t>
            </a:r>
            <a:endParaRPr sz="1700">
              <a:highlight>
                <a:srgbClr val="FFFFFF"/>
              </a:highlight>
              <a:latin typeface="Times"/>
              <a:ea typeface="Times"/>
              <a:cs typeface="Times"/>
              <a:sym typeface="Times"/>
            </a:endParaRPr>
          </a:p>
        </p:txBody>
      </p:sp>
      <p:sp>
        <p:nvSpPr>
          <p:cNvPr id="1398" name="Google Shape;1398;p1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3" name="Shape 1403"/>
        <p:cNvGrpSpPr/>
        <p:nvPr/>
      </p:nvGrpSpPr>
      <p:grpSpPr>
        <a:xfrm>
          <a:off x="0" y="0"/>
          <a:ext cx="0" cy="0"/>
          <a:chOff x="0" y="0"/>
          <a:chExt cx="0" cy="0"/>
        </a:xfrm>
      </p:grpSpPr>
      <p:sp>
        <p:nvSpPr>
          <p:cNvPr id="1404" name="Google Shape;1404;p173"/>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0" rtl="0" algn="l">
              <a:spcBef>
                <a:spcPts val="0"/>
              </a:spcBef>
              <a:spcAft>
                <a:spcPts val="0"/>
              </a:spcAft>
              <a:buNone/>
            </a:pPr>
            <a:r>
              <a:rPr b="1" lang="en-US" sz="3000">
                <a:solidFill>
                  <a:srgbClr val="1C3678"/>
                </a:solidFill>
                <a:latin typeface="Trebuchet MS"/>
                <a:ea typeface="Trebuchet MS"/>
                <a:cs typeface="Trebuchet MS"/>
                <a:sym typeface="Trebuchet MS"/>
              </a:rPr>
              <a:t>Built In</a:t>
            </a:r>
            <a:r>
              <a:rPr b="1" lang="en-US" sz="3000">
                <a:solidFill>
                  <a:srgbClr val="1C3678"/>
                </a:solidFill>
                <a:latin typeface="Trebuchet MS"/>
                <a:ea typeface="Trebuchet MS"/>
                <a:cs typeface="Trebuchet MS"/>
                <a:sym typeface="Trebuchet MS"/>
              </a:rPr>
              <a:t> Error in Python</a:t>
            </a:r>
            <a:endParaRPr b="1" sz="3000">
              <a:solidFill>
                <a:srgbClr val="1C3678"/>
              </a:solidFill>
              <a:latin typeface="Trebuchet MS"/>
              <a:ea typeface="Trebuchet MS"/>
              <a:cs typeface="Trebuchet MS"/>
              <a:sym typeface="Trebuchet MS"/>
            </a:endParaRPr>
          </a:p>
        </p:txBody>
      </p:sp>
      <p:sp>
        <p:nvSpPr>
          <p:cNvPr id="1405" name="Google Shape;1405;p173"/>
          <p:cNvSpPr txBox="1"/>
          <p:nvPr/>
        </p:nvSpPr>
        <p:spPr>
          <a:xfrm>
            <a:off x="688425" y="793125"/>
            <a:ext cx="8107500" cy="28971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ahoma"/>
              <a:buChar char="●"/>
            </a:pPr>
            <a:r>
              <a:rPr b="1" lang="en-US" sz="1800">
                <a:highlight>
                  <a:srgbClr val="FFFFFF"/>
                </a:highlight>
                <a:latin typeface="Times"/>
                <a:ea typeface="Times"/>
                <a:cs typeface="Times"/>
                <a:sym typeface="Times"/>
              </a:rPr>
              <a:t>IndexError</a:t>
            </a:r>
            <a:r>
              <a:rPr lang="en-US" sz="1800">
                <a:highlight>
                  <a:srgbClr val="FFFFFF"/>
                </a:highlight>
                <a:latin typeface="Times"/>
                <a:ea typeface="Times"/>
                <a:cs typeface="Times"/>
                <a:sym typeface="Times"/>
              </a:rPr>
              <a:t>: Raised when attempting to access a list or tuple with an invalid index.</a:t>
            </a:r>
            <a:endParaRPr sz="1800">
              <a:highlight>
                <a:srgbClr val="FFFFFF"/>
              </a:highlight>
              <a:latin typeface="Times"/>
              <a:ea typeface="Times"/>
              <a:cs typeface="Times"/>
              <a:sym typeface="Times"/>
            </a:endParaRPr>
          </a:p>
          <a:p>
            <a:pPr indent="-342900" lvl="0" marL="457200" rtl="0" algn="just">
              <a:spcBef>
                <a:spcPts val="0"/>
              </a:spcBef>
              <a:spcAft>
                <a:spcPts val="0"/>
              </a:spcAft>
              <a:buSzPts val="1800"/>
              <a:buFont typeface="Tahoma"/>
              <a:buChar char="●"/>
            </a:pPr>
            <a:r>
              <a:rPr b="1" lang="en-US" sz="1800">
                <a:highlight>
                  <a:srgbClr val="FFFFFF"/>
                </a:highlight>
                <a:latin typeface="Times"/>
                <a:ea typeface="Times"/>
                <a:cs typeface="Times"/>
                <a:sym typeface="Times"/>
              </a:rPr>
              <a:t>AssertionError</a:t>
            </a:r>
            <a:r>
              <a:rPr lang="en-US" sz="1800">
                <a:highlight>
                  <a:srgbClr val="FFFFFF"/>
                </a:highlight>
                <a:latin typeface="Times"/>
                <a:ea typeface="Times"/>
                <a:cs typeface="Times"/>
                <a:sym typeface="Times"/>
              </a:rPr>
              <a:t>: Occurs when an assert statement fails.</a:t>
            </a:r>
            <a:endParaRPr sz="1800">
              <a:highlight>
                <a:srgbClr val="FFFFFF"/>
              </a:highlight>
              <a:latin typeface="Times"/>
              <a:ea typeface="Times"/>
              <a:cs typeface="Times"/>
              <a:sym typeface="Times"/>
            </a:endParaRPr>
          </a:p>
          <a:p>
            <a:pPr indent="-342900" lvl="0" marL="457200" rtl="0" algn="just">
              <a:spcBef>
                <a:spcPts val="0"/>
              </a:spcBef>
              <a:spcAft>
                <a:spcPts val="0"/>
              </a:spcAft>
              <a:buSzPts val="1800"/>
              <a:buFont typeface="Tahoma"/>
              <a:buChar char="●"/>
            </a:pPr>
            <a:r>
              <a:rPr b="1" lang="en-US" sz="1800">
                <a:highlight>
                  <a:srgbClr val="FFFFFF"/>
                </a:highlight>
                <a:latin typeface="Times"/>
                <a:ea typeface="Times"/>
                <a:cs typeface="Times"/>
                <a:sym typeface="Times"/>
              </a:rPr>
              <a:t>AttributeError</a:t>
            </a:r>
            <a:r>
              <a:rPr lang="en-US" sz="1800">
                <a:highlight>
                  <a:srgbClr val="FFFFFF"/>
                </a:highlight>
                <a:latin typeface="Times"/>
                <a:ea typeface="Times"/>
                <a:cs typeface="Times"/>
                <a:sym typeface="Times"/>
              </a:rPr>
              <a:t>: Raised when an invalid attribute reference or assignment is made.</a:t>
            </a:r>
            <a:endParaRPr sz="1800">
              <a:highlight>
                <a:srgbClr val="FFFFFF"/>
              </a:highlight>
              <a:latin typeface="Times"/>
              <a:ea typeface="Times"/>
              <a:cs typeface="Times"/>
              <a:sym typeface="Times"/>
            </a:endParaRPr>
          </a:p>
          <a:p>
            <a:pPr indent="-342900" lvl="0" marL="457200" rtl="0" algn="just">
              <a:spcBef>
                <a:spcPts val="0"/>
              </a:spcBef>
              <a:spcAft>
                <a:spcPts val="0"/>
              </a:spcAft>
              <a:buSzPts val="1800"/>
              <a:buFont typeface="Tahoma"/>
              <a:buChar char="●"/>
            </a:pPr>
            <a:r>
              <a:rPr b="1" lang="en-US" sz="1800">
                <a:highlight>
                  <a:srgbClr val="FFFFFF"/>
                </a:highlight>
                <a:latin typeface="Times"/>
                <a:ea typeface="Times"/>
                <a:cs typeface="Times"/>
                <a:sym typeface="Times"/>
              </a:rPr>
              <a:t>ImportError</a:t>
            </a:r>
            <a:r>
              <a:rPr lang="en-US" sz="1800">
                <a:highlight>
                  <a:srgbClr val="FFFFFF"/>
                </a:highlight>
                <a:latin typeface="Times"/>
                <a:ea typeface="Times"/>
                <a:cs typeface="Times"/>
                <a:sym typeface="Times"/>
              </a:rPr>
              <a:t>: Raised when a module or its attributes cannot be imported.</a:t>
            </a:r>
            <a:endParaRPr sz="1800">
              <a:highlight>
                <a:srgbClr val="FFFFFF"/>
              </a:highlight>
              <a:latin typeface="Times"/>
              <a:ea typeface="Times"/>
              <a:cs typeface="Times"/>
              <a:sym typeface="Times"/>
            </a:endParaRPr>
          </a:p>
          <a:p>
            <a:pPr indent="-342900" lvl="0" marL="457200" rtl="0" algn="just">
              <a:spcBef>
                <a:spcPts val="0"/>
              </a:spcBef>
              <a:spcAft>
                <a:spcPts val="0"/>
              </a:spcAft>
              <a:buSzPts val="1800"/>
              <a:buFont typeface="Tahoma"/>
              <a:buChar char="●"/>
            </a:pPr>
            <a:r>
              <a:rPr b="1" lang="en-US" sz="1800">
                <a:highlight>
                  <a:srgbClr val="FFFFFF"/>
                </a:highlight>
                <a:latin typeface="Times"/>
                <a:ea typeface="Times"/>
                <a:cs typeface="Times"/>
                <a:sym typeface="Times"/>
              </a:rPr>
              <a:t>KeyError</a:t>
            </a:r>
            <a:r>
              <a:rPr lang="en-US" sz="1800">
                <a:highlight>
                  <a:srgbClr val="FFFFFF"/>
                </a:highlight>
                <a:latin typeface="Times"/>
                <a:ea typeface="Times"/>
                <a:cs typeface="Times"/>
                <a:sym typeface="Times"/>
              </a:rPr>
              <a:t>: Raised when attempting to access a dictionary with a key that does not exist.</a:t>
            </a:r>
            <a:endParaRPr sz="1800">
              <a:highlight>
                <a:srgbClr val="FFFFFF"/>
              </a:highlight>
              <a:latin typeface="Times"/>
              <a:ea typeface="Times"/>
              <a:cs typeface="Times"/>
              <a:sym typeface="Times"/>
            </a:endParaRPr>
          </a:p>
          <a:p>
            <a:pPr indent="-342900" lvl="0" marL="457200" rtl="0" algn="just">
              <a:spcBef>
                <a:spcPts val="0"/>
              </a:spcBef>
              <a:spcAft>
                <a:spcPts val="0"/>
              </a:spcAft>
              <a:buSzPts val="1800"/>
              <a:buFont typeface="Tahoma"/>
              <a:buChar char="●"/>
            </a:pPr>
            <a:r>
              <a:rPr b="1" lang="en-US" sz="1800">
                <a:highlight>
                  <a:srgbClr val="FFFFFF"/>
                </a:highlight>
                <a:latin typeface="Times"/>
                <a:ea typeface="Times"/>
                <a:cs typeface="Times"/>
                <a:sym typeface="Times"/>
              </a:rPr>
              <a:t>NameError</a:t>
            </a:r>
            <a:r>
              <a:rPr lang="en-US" sz="1800">
                <a:highlight>
                  <a:srgbClr val="FFFFFF"/>
                </a:highlight>
                <a:latin typeface="Times"/>
                <a:ea typeface="Times"/>
                <a:cs typeface="Times"/>
                <a:sym typeface="Times"/>
              </a:rPr>
              <a:t>: Raised when trying to use a variable that has not been defined.</a:t>
            </a:r>
            <a:endParaRPr sz="1800">
              <a:highlight>
                <a:srgbClr val="FFFFFF"/>
              </a:highlight>
              <a:latin typeface="Times"/>
              <a:ea typeface="Times"/>
              <a:cs typeface="Times"/>
              <a:sym typeface="Times"/>
            </a:endParaRPr>
          </a:p>
          <a:p>
            <a:pPr indent="-342900" lvl="0" marL="457200" rtl="0" algn="just">
              <a:spcBef>
                <a:spcPts val="0"/>
              </a:spcBef>
              <a:spcAft>
                <a:spcPts val="0"/>
              </a:spcAft>
              <a:buSzPts val="1800"/>
              <a:buFont typeface="Tahoma"/>
              <a:buChar char="●"/>
            </a:pPr>
            <a:r>
              <a:rPr b="1" lang="en-US" sz="1800">
                <a:highlight>
                  <a:srgbClr val="FFFFFF"/>
                </a:highlight>
                <a:latin typeface="Times"/>
                <a:ea typeface="Times"/>
                <a:cs typeface="Times"/>
                <a:sym typeface="Times"/>
              </a:rPr>
              <a:t>MemoryError</a:t>
            </a:r>
            <a:r>
              <a:rPr lang="en-US" sz="1800">
                <a:highlight>
                  <a:srgbClr val="FFFFFF"/>
                </a:highlight>
                <a:latin typeface="Times"/>
                <a:ea typeface="Times"/>
                <a:cs typeface="Times"/>
                <a:sym typeface="Times"/>
              </a:rPr>
              <a:t>: Occurs when a program runs out of memory.</a:t>
            </a:r>
            <a:endParaRPr sz="1800">
              <a:highlight>
                <a:srgbClr val="FFFFFF"/>
              </a:highlight>
              <a:latin typeface="Times"/>
              <a:ea typeface="Times"/>
              <a:cs typeface="Times"/>
              <a:sym typeface="Times"/>
            </a:endParaRPr>
          </a:p>
          <a:p>
            <a:pPr indent="-342900" lvl="0" marL="457200" rtl="0" algn="just">
              <a:spcBef>
                <a:spcPts val="0"/>
              </a:spcBef>
              <a:spcAft>
                <a:spcPts val="0"/>
              </a:spcAft>
              <a:buSzPts val="1800"/>
              <a:buFont typeface="Tahoma"/>
              <a:buChar char="●"/>
            </a:pPr>
            <a:r>
              <a:rPr b="1" lang="en-US" sz="1800">
                <a:highlight>
                  <a:srgbClr val="FFFFFF"/>
                </a:highlight>
                <a:latin typeface="Times"/>
                <a:ea typeface="Times"/>
                <a:cs typeface="Times"/>
                <a:sym typeface="Times"/>
              </a:rPr>
              <a:t>TypeError</a:t>
            </a:r>
            <a:r>
              <a:rPr lang="en-US" sz="1800">
                <a:highlight>
                  <a:srgbClr val="FFFFFF"/>
                </a:highlight>
                <a:latin typeface="Times"/>
                <a:ea typeface="Times"/>
                <a:cs typeface="Times"/>
                <a:sym typeface="Times"/>
              </a:rPr>
              <a:t>: Raised when an operation or function is applied to an object of an inappropriate type.</a:t>
            </a:r>
            <a:endParaRPr sz="1800">
              <a:highlight>
                <a:srgbClr val="FFFFFF"/>
              </a:highlight>
              <a:latin typeface="Times"/>
              <a:ea typeface="Times"/>
              <a:cs typeface="Times"/>
              <a:sym typeface="Times"/>
            </a:endParaRPr>
          </a:p>
        </p:txBody>
      </p:sp>
      <p:sp>
        <p:nvSpPr>
          <p:cNvPr id="1406" name="Google Shape;1406;p1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1" name="Shape 1411"/>
        <p:cNvGrpSpPr/>
        <p:nvPr/>
      </p:nvGrpSpPr>
      <p:grpSpPr>
        <a:xfrm>
          <a:off x="0" y="0"/>
          <a:ext cx="0" cy="0"/>
          <a:chOff x="0" y="0"/>
          <a:chExt cx="0" cy="0"/>
        </a:xfrm>
      </p:grpSpPr>
      <p:sp>
        <p:nvSpPr>
          <p:cNvPr id="1412" name="Google Shape;1412;p174"/>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Error in Python</a:t>
            </a:r>
            <a:endParaRPr b="1" sz="3000">
              <a:solidFill>
                <a:srgbClr val="1C3678"/>
              </a:solidFill>
              <a:latin typeface="Trebuchet MS"/>
              <a:ea typeface="Trebuchet MS"/>
              <a:cs typeface="Trebuchet MS"/>
              <a:sym typeface="Trebuchet MS"/>
            </a:endParaRPr>
          </a:p>
        </p:txBody>
      </p:sp>
      <p:sp>
        <p:nvSpPr>
          <p:cNvPr id="1413" name="Google Shape;1413;p174"/>
          <p:cNvSpPr txBox="1"/>
          <p:nvPr/>
        </p:nvSpPr>
        <p:spPr>
          <a:xfrm>
            <a:off x="688425" y="793125"/>
            <a:ext cx="8107500" cy="2527500"/>
          </a:xfrm>
          <a:prstGeom prst="rect">
            <a:avLst/>
          </a:prstGeom>
          <a:noFill/>
          <a:ln cap="flat" cmpd="sng" w="9525">
            <a:solidFill>
              <a:srgbClr val="000000"/>
            </a:solidFill>
            <a:prstDash val="solid"/>
            <a:round/>
            <a:headEnd len="sm" w="sm" type="none"/>
            <a:tailEnd len="sm" w="sm" type="none"/>
          </a:ln>
        </p:spPr>
        <p:txBody>
          <a:bodyPr anchorCtr="0" anchor="ctr" bIns="0" lIns="0" spcFirstLastPara="1" rIns="0" wrap="square" tIns="125075">
            <a:noAutofit/>
          </a:bodyPr>
          <a:lstStyle/>
          <a:p>
            <a:pPr indent="0" lvl="0" marL="0" rtl="0" algn="l">
              <a:lnSpc>
                <a:spcPct val="150000"/>
              </a:lnSpc>
              <a:spcBef>
                <a:spcPts val="900"/>
              </a:spcBef>
              <a:spcAft>
                <a:spcPts val="0"/>
              </a:spcAft>
              <a:buNone/>
            </a:pPr>
            <a:r>
              <a:rPr b="1" lang="en-US" sz="1800">
                <a:highlight>
                  <a:srgbClr val="FFFFFF"/>
                </a:highlight>
                <a:latin typeface="Times"/>
                <a:ea typeface="Times"/>
                <a:cs typeface="Times"/>
                <a:sym typeface="Times"/>
              </a:rPr>
              <a:t>Aspect			Compile-time Error			Run-time Error</a:t>
            </a:r>
            <a:endParaRPr b="1" sz="1800">
              <a:highlight>
                <a:srgbClr val="FFFFFF"/>
              </a:highlight>
              <a:latin typeface="Times"/>
              <a:ea typeface="Times"/>
              <a:cs typeface="Times"/>
              <a:sym typeface="Times"/>
            </a:endParaRPr>
          </a:p>
          <a:p>
            <a:pPr indent="0" lvl="0" marL="0" rtl="0" algn="l">
              <a:lnSpc>
                <a:spcPct val="150000"/>
              </a:lnSpc>
              <a:spcBef>
                <a:spcPts val="900"/>
              </a:spcBef>
              <a:spcAft>
                <a:spcPts val="0"/>
              </a:spcAft>
              <a:buNone/>
            </a:pPr>
            <a:r>
              <a:rPr b="1" i="1" lang="en-US" sz="1800">
                <a:highlight>
                  <a:srgbClr val="FFFFFF"/>
                </a:highlight>
                <a:latin typeface="Times"/>
                <a:ea typeface="Times"/>
                <a:cs typeface="Times"/>
                <a:sym typeface="Times"/>
              </a:rPr>
              <a:t>Detection Time</a:t>
            </a:r>
            <a:r>
              <a:rPr lang="en-US" sz="1800">
                <a:highlight>
                  <a:srgbClr val="FFFFFF"/>
                </a:highlight>
                <a:latin typeface="Times"/>
                <a:ea typeface="Times"/>
                <a:cs typeface="Times"/>
                <a:sym typeface="Times"/>
              </a:rPr>
              <a:t>	Before the program runs			While the program is running</a:t>
            </a:r>
            <a:endParaRPr sz="1800">
              <a:highlight>
                <a:srgbClr val="FFFFFF"/>
              </a:highlight>
              <a:latin typeface="Times"/>
              <a:ea typeface="Times"/>
              <a:cs typeface="Times"/>
              <a:sym typeface="Times"/>
            </a:endParaRPr>
          </a:p>
          <a:p>
            <a:pPr indent="0" lvl="0" marL="0" rtl="0" algn="l">
              <a:lnSpc>
                <a:spcPct val="150000"/>
              </a:lnSpc>
              <a:spcBef>
                <a:spcPts val="900"/>
              </a:spcBef>
              <a:spcAft>
                <a:spcPts val="0"/>
              </a:spcAft>
              <a:buNone/>
            </a:pPr>
            <a:r>
              <a:rPr b="1" i="1" lang="en-US" sz="1800">
                <a:highlight>
                  <a:srgbClr val="FFFFFF"/>
                </a:highlight>
                <a:latin typeface="Times"/>
                <a:ea typeface="Times"/>
                <a:cs typeface="Times"/>
                <a:sym typeface="Times"/>
              </a:rPr>
              <a:t>Error Type</a:t>
            </a:r>
            <a:r>
              <a:rPr lang="en-US" sz="1800">
                <a:highlight>
                  <a:srgbClr val="FFFFFF"/>
                </a:highlight>
                <a:latin typeface="Times"/>
                <a:ea typeface="Times"/>
                <a:cs typeface="Times"/>
                <a:sym typeface="Times"/>
              </a:rPr>
              <a:t>		Syntax-related issues			Logic or operational issues</a:t>
            </a:r>
            <a:endParaRPr sz="1800">
              <a:highlight>
                <a:srgbClr val="FFFFFF"/>
              </a:highlight>
              <a:latin typeface="Times"/>
              <a:ea typeface="Times"/>
              <a:cs typeface="Times"/>
              <a:sym typeface="Times"/>
            </a:endParaRPr>
          </a:p>
          <a:p>
            <a:pPr indent="0" lvl="0" marL="0" rtl="0" algn="l">
              <a:lnSpc>
                <a:spcPct val="150000"/>
              </a:lnSpc>
              <a:spcBef>
                <a:spcPts val="900"/>
              </a:spcBef>
              <a:spcAft>
                <a:spcPts val="0"/>
              </a:spcAft>
              <a:buNone/>
            </a:pPr>
            <a:r>
              <a:rPr b="1" i="1" lang="en-US" sz="1800">
                <a:highlight>
                  <a:srgbClr val="FFFFFF"/>
                </a:highlight>
                <a:latin typeface="Times"/>
                <a:ea typeface="Times"/>
                <a:cs typeface="Times"/>
                <a:sym typeface="Times"/>
              </a:rPr>
              <a:t>Examples</a:t>
            </a:r>
            <a:r>
              <a:rPr lang="en-US" sz="1800">
                <a:highlight>
                  <a:srgbClr val="FFFFFF"/>
                </a:highlight>
                <a:latin typeface="Times"/>
                <a:ea typeface="Times"/>
                <a:cs typeface="Times"/>
                <a:sym typeface="Times"/>
              </a:rPr>
              <a:t>		SyntaxError, IndentationError	ZeroDivisionError, IndexError</a:t>
            </a:r>
            <a:endParaRPr sz="1800">
              <a:highlight>
                <a:srgbClr val="FFFFFF"/>
              </a:highlight>
              <a:latin typeface="Times"/>
              <a:ea typeface="Times"/>
              <a:cs typeface="Times"/>
              <a:sym typeface="Times"/>
            </a:endParaRPr>
          </a:p>
          <a:p>
            <a:pPr indent="0" lvl="0" marL="0" rtl="0" algn="just">
              <a:lnSpc>
                <a:spcPct val="150000"/>
              </a:lnSpc>
              <a:spcBef>
                <a:spcPts val="900"/>
              </a:spcBef>
              <a:spcAft>
                <a:spcPts val="0"/>
              </a:spcAft>
              <a:buNone/>
            </a:pPr>
            <a:r>
              <a:t/>
            </a:r>
            <a:endParaRPr sz="1800">
              <a:highlight>
                <a:srgbClr val="FFFFFF"/>
              </a:highlight>
              <a:latin typeface="Times"/>
              <a:ea typeface="Times"/>
              <a:cs typeface="Times"/>
              <a:sym typeface="Times"/>
            </a:endParaRPr>
          </a:p>
        </p:txBody>
      </p:sp>
      <p:sp>
        <p:nvSpPr>
          <p:cNvPr id="1414" name="Google Shape;1414;p1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9" name="Shape 1419"/>
        <p:cNvGrpSpPr/>
        <p:nvPr/>
      </p:nvGrpSpPr>
      <p:grpSpPr>
        <a:xfrm>
          <a:off x="0" y="0"/>
          <a:ext cx="0" cy="0"/>
          <a:chOff x="0" y="0"/>
          <a:chExt cx="0" cy="0"/>
        </a:xfrm>
      </p:grpSpPr>
      <p:sp>
        <p:nvSpPr>
          <p:cNvPr id="1420" name="Google Shape;1420;p175"/>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Handling </a:t>
            </a:r>
            <a:r>
              <a:rPr b="1" lang="en-US" sz="3000">
                <a:solidFill>
                  <a:srgbClr val="1C3678"/>
                </a:solidFill>
                <a:latin typeface="Trebuchet MS"/>
                <a:ea typeface="Trebuchet MS"/>
                <a:cs typeface="Trebuchet MS"/>
                <a:sym typeface="Trebuchet MS"/>
              </a:rPr>
              <a:t>Exception in Python</a:t>
            </a:r>
            <a:endParaRPr b="1" sz="3000">
              <a:solidFill>
                <a:srgbClr val="1C3678"/>
              </a:solidFill>
              <a:latin typeface="Trebuchet MS"/>
              <a:ea typeface="Trebuchet MS"/>
              <a:cs typeface="Trebuchet MS"/>
              <a:sym typeface="Trebuchet MS"/>
            </a:endParaRPr>
          </a:p>
        </p:txBody>
      </p:sp>
      <p:sp>
        <p:nvSpPr>
          <p:cNvPr id="1421" name="Google Shape;1421;p175"/>
          <p:cNvSpPr txBox="1"/>
          <p:nvPr/>
        </p:nvSpPr>
        <p:spPr>
          <a:xfrm>
            <a:off x="688425" y="793125"/>
            <a:ext cx="8107500" cy="2767800"/>
          </a:xfrm>
          <a:prstGeom prst="rect">
            <a:avLst/>
          </a:prstGeom>
          <a:noFill/>
          <a:ln>
            <a:noFill/>
          </a:ln>
        </p:spPr>
        <p:txBody>
          <a:bodyPr anchorCtr="0" anchor="t" bIns="0" lIns="0" spcFirstLastPara="1" rIns="0" wrap="square" tIns="125075">
            <a:spAutoFit/>
          </a:bodyPr>
          <a:lstStyle/>
          <a:p>
            <a:pPr indent="0" lvl="0" marL="0" rtl="0" algn="just">
              <a:lnSpc>
                <a:spcPct val="115000"/>
              </a:lnSpc>
              <a:spcBef>
                <a:spcPts val="1200"/>
              </a:spcBef>
              <a:spcAft>
                <a:spcPts val="0"/>
              </a:spcAft>
              <a:buNone/>
            </a:pPr>
            <a:r>
              <a:rPr b="1" lang="en-US" sz="1800">
                <a:highlight>
                  <a:srgbClr val="FFFFFF"/>
                </a:highlight>
                <a:latin typeface="Times"/>
                <a:ea typeface="Times"/>
                <a:cs typeface="Times"/>
                <a:sym typeface="Times"/>
              </a:rPr>
              <a:t>1. Unhandled Exception</a:t>
            </a:r>
            <a:endParaRPr sz="1800">
              <a:highlight>
                <a:srgbClr val="FFFFFF"/>
              </a:highlight>
              <a:latin typeface="Times"/>
              <a:ea typeface="Times"/>
              <a:cs typeface="Times"/>
              <a:sym typeface="Times"/>
            </a:endParaRPr>
          </a:p>
          <a:p>
            <a:pPr indent="0" lvl="0" marL="914400" rtl="0" algn="just">
              <a:spcBef>
                <a:spcPts val="290"/>
              </a:spcBef>
              <a:spcAft>
                <a:spcPts val="0"/>
              </a:spcAft>
              <a:buNone/>
            </a:pPr>
            <a:r>
              <a:rPr i="1" lang="en-US" sz="1700">
                <a:highlight>
                  <a:srgbClr val="FFFFFF"/>
                </a:highlight>
                <a:latin typeface="Times"/>
                <a:ea typeface="Times"/>
                <a:cs typeface="Times"/>
                <a:sym typeface="Times"/>
              </a:rPr>
              <a:t>x = 10</a:t>
            </a:r>
            <a:endParaRPr i="1" sz="1700">
              <a:highlight>
                <a:srgbClr val="FFFFFF"/>
              </a:highlight>
              <a:latin typeface="Times"/>
              <a:ea typeface="Times"/>
              <a:cs typeface="Times"/>
              <a:sym typeface="Times"/>
            </a:endParaRPr>
          </a:p>
          <a:p>
            <a:pPr indent="0" lvl="0" marL="914400" rtl="0" algn="just">
              <a:spcBef>
                <a:spcPts val="290"/>
              </a:spcBef>
              <a:spcAft>
                <a:spcPts val="0"/>
              </a:spcAft>
              <a:buNone/>
            </a:pPr>
            <a:r>
              <a:rPr i="1" lang="en-US" sz="1700">
                <a:highlight>
                  <a:srgbClr val="FFFFFF"/>
                </a:highlight>
                <a:latin typeface="Times"/>
                <a:ea typeface="Times"/>
                <a:cs typeface="Times"/>
                <a:sym typeface="Times"/>
              </a:rPr>
              <a:t>y = 0</a:t>
            </a:r>
            <a:endParaRPr i="1" sz="1700">
              <a:highlight>
                <a:srgbClr val="FFFFFF"/>
              </a:highlight>
              <a:latin typeface="Times"/>
              <a:ea typeface="Times"/>
              <a:cs typeface="Times"/>
              <a:sym typeface="Times"/>
            </a:endParaRPr>
          </a:p>
          <a:p>
            <a:pPr indent="0" lvl="0" marL="914400" rtl="0" algn="just">
              <a:spcBef>
                <a:spcPts val="290"/>
              </a:spcBef>
              <a:spcAft>
                <a:spcPts val="0"/>
              </a:spcAft>
              <a:buNone/>
            </a:pPr>
            <a:r>
              <a:rPr i="1" lang="en-US" sz="1700">
                <a:highlight>
                  <a:srgbClr val="FFFFFF"/>
                </a:highlight>
                <a:latin typeface="Times"/>
                <a:ea typeface="Times"/>
                <a:cs typeface="Times"/>
                <a:sym typeface="Times"/>
              </a:rPr>
              <a:t>print(x / y)</a:t>
            </a:r>
            <a:endParaRPr i="1" sz="1700">
              <a:highlight>
                <a:srgbClr val="FFFFFF"/>
              </a:highlight>
              <a:latin typeface="Times"/>
              <a:ea typeface="Times"/>
              <a:cs typeface="Times"/>
              <a:sym typeface="Times"/>
            </a:endParaRPr>
          </a:p>
          <a:p>
            <a:pPr indent="0" lvl="0" marL="914400" rtl="0" algn="just">
              <a:spcBef>
                <a:spcPts val="290"/>
              </a:spcBef>
              <a:spcAft>
                <a:spcPts val="0"/>
              </a:spcAft>
              <a:buNone/>
            </a:pPr>
            <a:r>
              <a:t/>
            </a:r>
            <a:endParaRPr i="1" sz="1700">
              <a:highlight>
                <a:srgbClr val="FFFFFF"/>
              </a:highlight>
              <a:latin typeface="Times"/>
              <a:ea typeface="Times"/>
              <a:cs typeface="Times"/>
              <a:sym typeface="Times"/>
            </a:endParaRPr>
          </a:p>
          <a:p>
            <a:pPr indent="457200" lvl="0" marL="0" rtl="0" algn="just">
              <a:lnSpc>
                <a:spcPct val="115000"/>
              </a:lnSpc>
              <a:spcBef>
                <a:spcPts val="900"/>
              </a:spcBef>
              <a:spcAft>
                <a:spcPts val="0"/>
              </a:spcAft>
              <a:buNone/>
            </a:pPr>
            <a:r>
              <a:rPr b="1" i="1" lang="en-US" sz="1700">
                <a:highlight>
                  <a:srgbClr val="FFFFFF"/>
                </a:highlight>
                <a:latin typeface="Times"/>
                <a:ea typeface="Times"/>
                <a:cs typeface="Times"/>
                <a:sym typeface="Times"/>
              </a:rPr>
              <a:t>Output:</a:t>
            </a:r>
            <a:r>
              <a:rPr i="1" lang="en-US" sz="1700">
                <a:highlight>
                  <a:srgbClr val="FFFFFF"/>
                </a:highlight>
                <a:latin typeface="Times"/>
                <a:ea typeface="Times"/>
                <a:cs typeface="Times"/>
                <a:sym typeface="Times"/>
              </a:rPr>
              <a:t> ZeroDivisionError: division by zero</a:t>
            </a:r>
            <a:endParaRPr i="1" sz="1700">
              <a:highlight>
                <a:srgbClr val="FFFFFF"/>
              </a:highlight>
              <a:latin typeface="Times"/>
              <a:ea typeface="Times"/>
              <a:cs typeface="Times"/>
              <a:sym typeface="Times"/>
            </a:endParaRPr>
          </a:p>
          <a:p>
            <a:pPr indent="-342900" lvl="0" marL="457200" rtl="0" algn="just">
              <a:lnSpc>
                <a:spcPct val="115000"/>
              </a:lnSpc>
              <a:spcBef>
                <a:spcPts val="900"/>
              </a:spcBef>
              <a:spcAft>
                <a:spcPts val="0"/>
              </a:spcAft>
              <a:buSzPts val="1800"/>
              <a:buChar char="●"/>
            </a:pPr>
            <a:r>
              <a:rPr b="1" lang="en-US" sz="1800">
                <a:highlight>
                  <a:srgbClr val="FFFFFF"/>
                </a:highlight>
                <a:latin typeface="Times"/>
                <a:ea typeface="Times"/>
                <a:cs typeface="Times"/>
                <a:sym typeface="Times"/>
              </a:rPr>
              <a:t>Explanation:</a:t>
            </a:r>
            <a:r>
              <a:rPr lang="en-US" sz="1800">
                <a:highlight>
                  <a:srgbClr val="FFFFFF"/>
                </a:highlight>
                <a:latin typeface="Times"/>
                <a:ea typeface="Times"/>
                <a:cs typeface="Times"/>
                <a:sym typeface="Times"/>
              </a:rPr>
              <a:t> Dividing a number by zero is not allowed in mathematics. Python raises a ZeroDivisionError exception in this case.</a:t>
            </a:r>
            <a:endParaRPr sz="1800">
              <a:highlight>
                <a:srgbClr val="FFFFFF"/>
              </a:highlight>
              <a:latin typeface="Times"/>
              <a:ea typeface="Times"/>
              <a:cs typeface="Times"/>
              <a:sym typeface="Times"/>
            </a:endParaRPr>
          </a:p>
        </p:txBody>
      </p:sp>
      <p:sp>
        <p:nvSpPr>
          <p:cNvPr id="1422" name="Google Shape;1422;p1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7" name="Shape 1427"/>
        <p:cNvGrpSpPr/>
        <p:nvPr/>
      </p:nvGrpSpPr>
      <p:grpSpPr>
        <a:xfrm>
          <a:off x="0" y="0"/>
          <a:ext cx="0" cy="0"/>
          <a:chOff x="0" y="0"/>
          <a:chExt cx="0" cy="0"/>
        </a:xfrm>
      </p:grpSpPr>
      <p:sp>
        <p:nvSpPr>
          <p:cNvPr id="1428" name="Google Shape;1428;p176"/>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Handling Exception in Python</a:t>
            </a:r>
            <a:endParaRPr b="1" sz="3000">
              <a:solidFill>
                <a:srgbClr val="1C3678"/>
              </a:solidFill>
              <a:latin typeface="Trebuchet MS"/>
              <a:ea typeface="Trebuchet MS"/>
              <a:cs typeface="Trebuchet MS"/>
              <a:sym typeface="Trebuchet MS"/>
            </a:endParaRPr>
          </a:p>
        </p:txBody>
      </p:sp>
      <p:sp>
        <p:nvSpPr>
          <p:cNvPr id="1429" name="Google Shape;1429;p176"/>
          <p:cNvSpPr txBox="1"/>
          <p:nvPr/>
        </p:nvSpPr>
        <p:spPr>
          <a:xfrm>
            <a:off x="688425" y="793125"/>
            <a:ext cx="8107500" cy="4194600"/>
          </a:xfrm>
          <a:prstGeom prst="rect">
            <a:avLst/>
          </a:prstGeom>
          <a:noFill/>
          <a:ln>
            <a:noFill/>
          </a:ln>
        </p:spPr>
        <p:txBody>
          <a:bodyPr anchorCtr="0" anchor="t" bIns="0" lIns="0" spcFirstLastPara="1" rIns="0" wrap="square" tIns="125075">
            <a:spAutoFit/>
          </a:bodyPr>
          <a:lstStyle/>
          <a:p>
            <a:pPr indent="0" lvl="0" marL="0" rtl="0" algn="just">
              <a:lnSpc>
                <a:spcPct val="115000"/>
              </a:lnSpc>
              <a:spcBef>
                <a:spcPts val="1400"/>
              </a:spcBef>
              <a:spcAft>
                <a:spcPts val="0"/>
              </a:spcAft>
              <a:buNone/>
            </a:pPr>
            <a:r>
              <a:rPr b="1" lang="en-US" sz="1800">
                <a:highlight>
                  <a:srgbClr val="FFFFFF"/>
                </a:highlight>
                <a:latin typeface="Times"/>
                <a:ea typeface="Times"/>
                <a:cs typeface="Times"/>
                <a:sym typeface="Times"/>
              </a:rPr>
              <a:t>2. Handling Exceptions Using try and except</a:t>
            </a:r>
            <a:endParaRPr b="1" sz="1800">
              <a:highlight>
                <a:srgbClr val="FFFFFF"/>
              </a:highlight>
              <a:latin typeface="Times"/>
              <a:ea typeface="Times"/>
              <a:cs typeface="Times"/>
              <a:sym typeface="Times"/>
            </a:endParaRPr>
          </a:p>
          <a:p>
            <a:pPr indent="0" lvl="0" marL="0" rtl="0" algn="just">
              <a:lnSpc>
                <a:spcPct val="115000"/>
              </a:lnSpc>
              <a:spcBef>
                <a:spcPts val="900"/>
              </a:spcBef>
              <a:spcAft>
                <a:spcPts val="0"/>
              </a:spcAft>
              <a:buNone/>
            </a:pPr>
            <a:r>
              <a:rPr lang="en-US" sz="1800">
                <a:highlight>
                  <a:srgbClr val="FFFFFF"/>
                </a:highlight>
                <a:latin typeface="Times"/>
                <a:ea typeface="Times"/>
                <a:cs typeface="Times"/>
                <a:sym typeface="Times"/>
              </a:rPr>
              <a:t>You can handle exceptions to prevent the program from crashing.</a:t>
            </a:r>
            <a:endParaRPr sz="1800">
              <a:highlight>
                <a:srgbClr val="FFFFFF"/>
              </a:highlight>
              <a:latin typeface="Times"/>
              <a:ea typeface="Times"/>
              <a:cs typeface="Times"/>
              <a:sym typeface="Times"/>
            </a:endParaRPr>
          </a:p>
          <a:p>
            <a:pPr indent="0" lvl="0" marL="914400" rtl="0" algn="just">
              <a:spcBef>
                <a:spcPts val="900"/>
              </a:spcBef>
              <a:spcAft>
                <a:spcPts val="0"/>
              </a:spcAft>
              <a:buNone/>
            </a:pPr>
            <a:r>
              <a:rPr i="1" lang="en-US" sz="1700">
                <a:highlight>
                  <a:srgbClr val="FFFFFF"/>
                </a:highlight>
                <a:latin typeface="Times"/>
                <a:ea typeface="Times"/>
                <a:cs typeface="Times"/>
                <a:sym typeface="Times"/>
              </a:rPr>
              <a:t>try:</a:t>
            </a:r>
            <a:endParaRPr i="1" sz="1700">
              <a:highlight>
                <a:srgbClr val="FFFFFF"/>
              </a:highlight>
              <a:latin typeface="Times"/>
              <a:ea typeface="Times"/>
              <a:cs typeface="Times"/>
              <a:sym typeface="Times"/>
            </a:endParaRPr>
          </a:p>
          <a:p>
            <a:pPr indent="0" lvl="0" marL="914400" rtl="0" algn="just">
              <a:spcBef>
                <a:spcPts val="290"/>
              </a:spcBef>
              <a:spcAft>
                <a:spcPts val="0"/>
              </a:spcAft>
              <a:buNone/>
            </a:pPr>
            <a:r>
              <a:rPr i="1" lang="en-US" sz="1700">
                <a:highlight>
                  <a:srgbClr val="FFFFFF"/>
                </a:highlight>
                <a:latin typeface="Times"/>
                <a:ea typeface="Times"/>
                <a:cs typeface="Times"/>
                <a:sym typeface="Times"/>
              </a:rPr>
              <a:t>    x = 10</a:t>
            </a:r>
            <a:endParaRPr i="1" sz="1700">
              <a:highlight>
                <a:srgbClr val="FFFFFF"/>
              </a:highlight>
              <a:latin typeface="Times"/>
              <a:ea typeface="Times"/>
              <a:cs typeface="Times"/>
              <a:sym typeface="Times"/>
            </a:endParaRPr>
          </a:p>
          <a:p>
            <a:pPr indent="0" lvl="0" marL="914400" rtl="0" algn="just">
              <a:spcBef>
                <a:spcPts val="290"/>
              </a:spcBef>
              <a:spcAft>
                <a:spcPts val="0"/>
              </a:spcAft>
              <a:buNone/>
            </a:pPr>
            <a:r>
              <a:rPr i="1" lang="en-US" sz="1700">
                <a:highlight>
                  <a:srgbClr val="FFFFFF"/>
                </a:highlight>
                <a:latin typeface="Times"/>
                <a:ea typeface="Times"/>
                <a:cs typeface="Times"/>
                <a:sym typeface="Times"/>
              </a:rPr>
              <a:t>    y = 0</a:t>
            </a:r>
            <a:endParaRPr i="1" sz="1700">
              <a:highlight>
                <a:srgbClr val="FFFFFF"/>
              </a:highlight>
              <a:latin typeface="Times"/>
              <a:ea typeface="Times"/>
              <a:cs typeface="Times"/>
              <a:sym typeface="Times"/>
            </a:endParaRPr>
          </a:p>
          <a:p>
            <a:pPr indent="0" lvl="0" marL="914400" rtl="0" algn="just">
              <a:spcBef>
                <a:spcPts val="290"/>
              </a:spcBef>
              <a:spcAft>
                <a:spcPts val="0"/>
              </a:spcAft>
              <a:buNone/>
            </a:pPr>
            <a:r>
              <a:rPr i="1" lang="en-US" sz="1700">
                <a:highlight>
                  <a:srgbClr val="FFFFFF"/>
                </a:highlight>
                <a:latin typeface="Times"/>
                <a:ea typeface="Times"/>
                <a:cs typeface="Times"/>
                <a:sym typeface="Times"/>
              </a:rPr>
              <a:t>    print(x / y)</a:t>
            </a:r>
            <a:endParaRPr i="1" sz="1700">
              <a:highlight>
                <a:srgbClr val="FFFFFF"/>
              </a:highlight>
              <a:latin typeface="Times"/>
              <a:ea typeface="Times"/>
              <a:cs typeface="Times"/>
              <a:sym typeface="Times"/>
            </a:endParaRPr>
          </a:p>
          <a:p>
            <a:pPr indent="0" lvl="0" marL="914400" rtl="0" algn="just">
              <a:spcBef>
                <a:spcPts val="290"/>
              </a:spcBef>
              <a:spcAft>
                <a:spcPts val="0"/>
              </a:spcAft>
              <a:buNone/>
            </a:pPr>
            <a:r>
              <a:rPr i="1" lang="en-US" sz="1700">
                <a:highlight>
                  <a:srgbClr val="FFFFFF"/>
                </a:highlight>
                <a:latin typeface="Times"/>
                <a:ea typeface="Times"/>
                <a:cs typeface="Times"/>
                <a:sym typeface="Times"/>
              </a:rPr>
              <a:t>except ZeroDivisionError:</a:t>
            </a:r>
            <a:endParaRPr i="1" sz="1700">
              <a:highlight>
                <a:srgbClr val="FFFFFF"/>
              </a:highlight>
              <a:latin typeface="Times"/>
              <a:ea typeface="Times"/>
              <a:cs typeface="Times"/>
              <a:sym typeface="Times"/>
            </a:endParaRPr>
          </a:p>
          <a:p>
            <a:pPr indent="0" lvl="0" marL="914400" rtl="0" algn="just">
              <a:spcBef>
                <a:spcPts val="290"/>
              </a:spcBef>
              <a:spcAft>
                <a:spcPts val="0"/>
              </a:spcAft>
              <a:buNone/>
            </a:pPr>
            <a:r>
              <a:rPr i="1" lang="en-US" sz="1700">
                <a:highlight>
                  <a:srgbClr val="FFFFFF"/>
                </a:highlight>
                <a:latin typeface="Times"/>
                <a:ea typeface="Times"/>
                <a:cs typeface="Times"/>
                <a:sym typeface="Times"/>
              </a:rPr>
              <a:t>    print("Error: Cannot divide by zero.")</a:t>
            </a:r>
            <a:endParaRPr i="1" sz="1700">
              <a:highlight>
                <a:srgbClr val="FFFFFF"/>
              </a:highlight>
              <a:latin typeface="Times"/>
              <a:ea typeface="Times"/>
              <a:cs typeface="Times"/>
              <a:sym typeface="Times"/>
            </a:endParaRPr>
          </a:p>
          <a:p>
            <a:pPr indent="0" lvl="0" marL="457200" rtl="0" algn="just">
              <a:spcBef>
                <a:spcPts val="290"/>
              </a:spcBef>
              <a:spcAft>
                <a:spcPts val="0"/>
              </a:spcAft>
              <a:buNone/>
            </a:pPr>
            <a:r>
              <a:t/>
            </a:r>
            <a:endParaRPr i="1" sz="1700">
              <a:highlight>
                <a:srgbClr val="FFFFFF"/>
              </a:highlight>
              <a:latin typeface="Times"/>
              <a:ea typeface="Times"/>
              <a:cs typeface="Times"/>
              <a:sym typeface="Times"/>
            </a:endParaRPr>
          </a:p>
          <a:p>
            <a:pPr indent="457200" lvl="0" marL="0" rtl="0" algn="just">
              <a:lnSpc>
                <a:spcPct val="115000"/>
              </a:lnSpc>
              <a:spcBef>
                <a:spcPts val="900"/>
              </a:spcBef>
              <a:spcAft>
                <a:spcPts val="0"/>
              </a:spcAft>
              <a:buNone/>
            </a:pPr>
            <a:r>
              <a:rPr b="1" lang="en-US" sz="1800">
                <a:highlight>
                  <a:srgbClr val="FFFFFF"/>
                </a:highlight>
                <a:latin typeface="Times"/>
                <a:ea typeface="Times"/>
                <a:cs typeface="Times"/>
                <a:sym typeface="Times"/>
              </a:rPr>
              <a:t>Output:</a:t>
            </a:r>
            <a:r>
              <a:rPr lang="en-US" sz="1800">
                <a:highlight>
                  <a:srgbClr val="FFFFFF"/>
                </a:highlight>
                <a:latin typeface="Times"/>
                <a:ea typeface="Times"/>
                <a:cs typeface="Times"/>
                <a:sym typeface="Times"/>
              </a:rPr>
              <a:t> </a:t>
            </a:r>
            <a:r>
              <a:rPr lang="en-US" sz="1800">
                <a:highlight>
                  <a:srgbClr val="FFFFFF"/>
                </a:highlight>
                <a:latin typeface="Times"/>
                <a:ea typeface="Times"/>
                <a:cs typeface="Times"/>
                <a:sym typeface="Times"/>
              </a:rPr>
              <a:t>Error: Cannot divide by zero.</a:t>
            </a:r>
            <a:endParaRPr sz="1800">
              <a:highlight>
                <a:srgbClr val="FFFFFF"/>
              </a:highlight>
              <a:latin typeface="Times"/>
              <a:ea typeface="Times"/>
              <a:cs typeface="Times"/>
              <a:sym typeface="Times"/>
            </a:endParaRPr>
          </a:p>
          <a:p>
            <a:pPr indent="-342900" lvl="0" marL="457200" rtl="0" algn="just">
              <a:lnSpc>
                <a:spcPct val="115000"/>
              </a:lnSpc>
              <a:spcBef>
                <a:spcPts val="900"/>
              </a:spcBef>
              <a:spcAft>
                <a:spcPts val="0"/>
              </a:spcAft>
              <a:buSzPts val="1800"/>
              <a:buChar char="●"/>
            </a:pPr>
            <a:r>
              <a:rPr b="1" lang="en-US" sz="1800">
                <a:highlight>
                  <a:srgbClr val="FFFFFF"/>
                </a:highlight>
                <a:latin typeface="Times"/>
                <a:ea typeface="Times"/>
                <a:cs typeface="Times"/>
                <a:sym typeface="Times"/>
              </a:rPr>
              <a:t>Explanation:</a:t>
            </a:r>
            <a:r>
              <a:rPr lang="en-US" sz="1800">
                <a:highlight>
                  <a:srgbClr val="FFFFFF"/>
                </a:highlight>
                <a:latin typeface="Times"/>
                <a:ea typeface="Times"/>
                <a:cs typeface="Times"/>
                <a:sym typeface="Times"/>
              </a:rPr>
              <a:t> The try block contains code that might raise an exception. The except block catches and handles the exception if it occurs.</a:t>
            </a:r>
            <a:endParaRPr sz="1800">
              <a:highlight>
                <a:srgbClr val="FFFFFF"/>
              </a:highlight>
              <a:latin typeface="Times"/>
              <a:ea typeface="Times"/>
              <a:cs typeface="Times"/>
              <a:sym typeface="Times"/>
            </a:endParaRPr>
          </a:p>
        </p:txBody>
      </p:sp>
      <p:sp>
        <p:nvSpPr>
          <p:cNvPr id="1430" name="Google Shape;1430;p1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5" name="Shape 1435"/>
        <p:cNvGrpSpPr/>
        <p:nvPr/>
      </p:nvGrpSpPr>
      <p:grpSpPr>
        <a:xfrm>
          <a:off x="0" y="0"/>
          <a:ext cx="0" cy="0"/>
          <a:chOff x="0" y="0"/>
          <a:chExt cx="0" cy="0"/>
        </a:xfrm>
      </p:grpSpPr>
      <p:sp>
        <p:nvSpPr>
          <p:cNvPr id="1436" name="Google Shape;1436;p177"/>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Handling Exception in Python</a:t>
            </a:r>
            <a:endParaRPr b="1" sz="3000">
              <a:solidFill>
                <a:srgbClr val="1C3678"/>
              </a:solidFill>
              <a:latin typeface="Trebuchet MS"/>
              <a:ea typeface="Trebuchet MS"/>
              <a:cs typeface="Trebuchet MS"/>
              <a:sym typeface="Trebuchet MS"/>
            </a:endParaRPr>
          </a:p>
        </p:txBody>
      </p:sp>
      <p:sp>
        <p:nvSpPr>
          <p:cNvPr id="1437" name="Google Shape;1437;p177"/>
          <p:cNvSpPr txBox="1"/>
          <p:nvPr/>
        </p:nvSpPr>
        <p:spPr>
          <a:xfrm>
            <a:off x="688425" y="793125"/>
            <a:ext cx="8107500" cy="4335000"/>
          </a:xfrm>
          <a:prstGeom prst="rect">
            <a:avLst/>
          </a:prstGeom>
          <a:noFill/>
          <a:ln>
            <a:noFill/>
          </a:ln>
        </p:spPr>
        <p:txBody>
          <a:bodyPr anchorCtr="0" anchor="t" bIns="0" lIns="0" spcFirstLastPara="1" rIns="0" wrap="square" tIns="125075">
            <a:spAutoFit/>
          </a:bodyPr>
          <a:lstStyle/>
          <a:p>
            <a:pPr indent="0" lvl="0" marL="0" rtl="0" algn="just">
              <a:lnSpc>
                <a:spcPct val="115000"/>
              </a:lnSpc>
              <a:spcBef>
                <a:spcPts val="1400"/>
              </a:spcBef>
              <a:spcAft>
                <a:spcPts val="0"/>
              </a:spcAft>
              <a:buNone/>
            </a:pPr>
            <a:r>
              <a:rPr b="1" lang="en-US" sz="1800">
                <a:highlight>
                  <a:srgbClr val="FFFFFF"/>
                </a:highlight>
                <a:latin typeface="Times"/>
                <a:ea typeface="Times"/>
                <a:cs typeface="Times"/>
                <a:sym typeface="Times"/>
              </a:rPr>
              <a:t>3. Handling Multiple Exceptions</a:t>
            </a:r>
            <a:endParaRPr b="1" sz="1800">
              <a:highlight>
                <a:srgbClr val="FFFFFF"/>
              </a:highlight>
              <a:latin typeface="Times"/>
              <a:ea typeface="Times"/>
              <a:cs typeface="Times"/>
              <a:sym typeface="Times"/>
            </a:endParaRPr>
          </a:p>
          <a:p>
            <a:pPr indent="0" lvl="0" marL="0" rtl="0" algn="just">
              <a:lnSpc>
                <a:spcPct val="115000"/>
              </a:lnSpc>
              <a:spcBef>
                <a:spcPts val="900"/>
              </a:spcBef>
              <a:spcAft>
                <a:spcPts val="0"/>
              </a:spcAft>
              <a:buNone/>
            </a:pPr>
            <a:r>
              <a:rPr lang="en-US" sz="1800">
                <a:highlight>
                  <a:srgbClr val="FFFFFF"/>
                </a:highlight>
                <a:latin typeface="Times"/>
                <a:ea typeface="Times"/>
                <a:cs typeface="Times"/>
                <a:sym typeface="Times"/>
              </a:rPr>
              <a:t>You can handle different exceptions using multiple except blocks.</a:t>
            </a:r>
            <a:endParaRPr sz="1800">
              <a:highlight>
                <a:srgbClr val="FFFFFF"/>
              </a:highlight>
              <a:latin typeface="Times"/>
              <a:ea typeface="Times"/>
              <a:cs typeface="Times"/>
              <a:sym typeface="Times"/>
            </a:endParaRPr>
          </a:p>
          <a:p>
            <a:pPr indent="0" lvl="0" marL="914400" rtl="0" algn="just">
              <a:spcBef>
                <a:spcPts val="900"/>
              </a:spcBef>
              <a:spcAft>
                <a:spcPts val="0"/>
              </a:spcAft>
              <a:buNone/>
            </a:pPr>
            <a:r>
              <a:rPr i="1" lang="en-US" sz="1600">
                <a:highlight>
                  <a:srgbClr val="FFFFFF"/>
                </a:highlight>
                <a:latin typeface="Times"/>
                <a:ea typeface="Times"/>
                <a:cs typeface="Times"/>
                <a:sym typeface="Times"/>
              </a:rPr>
              <a:t>try:</a:t>
            </a:r>
            <a:endParaRPr i="1" sz="1600">
              <a:highlight>
                <a:srgbClr val="FFFFFF"/>
              </a:highlight>
              <a:latin typeface="Times"/>
              <a:ea typeface="Times"/>
              <a:cs typeface="Times"/>
              <a:sym typeface="Times"/>
            </a:endParaRPr>
          </a:p>
          <a:p>
            <a:pPr indent="0" lvl="0" marL="914400" rtl="0" algn="just">
              <a:spcBef>
                <a:spcPts val="290"/>
              </a:spcBef>
              <a:spcAft>
                <a:spcPts val="0"/>
              </a:spcAft>
              <a:buNone/>
            </a:pPr>
            <a:r>
              <a:rPr i="1" lang="en-US" sz="1600">
                <a:highlight>
                  <a:srgbClr val="FFFFFF"/>
                </a:highlight>
                <a:latin typeface="Times"/>
                <a:ea typeface="Times"/>
                <a:cs typeface="Times"/>
                <a:sym typeface="Times"/>
              </a:rPr>
              <a:t>    lst = [1, 2, 3]</a:t>
            </a:r>
            <a:endParaRPr i="1" sz="1600">
              <a:highlight>
                <a:srgbClr val="FFFFFF"/>
              </a:highlight>
              <a:latin typeface="Times"/>
              <a:ea typeface="Times"/>
              <a:cs typeface="Times"/>
              <a:sym typeface="Times"/>
            </a:endParaRPr>
          </a:p>
          <a:p>
            <a:pPr indent="0" lvl="0" marL="914400" rtl="0" algn="just">
              <a:spcBef>
                <a:spcPts val="290"/>
              </a:spcBef>
              <a:spcAft>
                <a:spcPts val="0"/>
              </a:spcAft>
              <a:buNone/>
            </a:pPr>
            <a:r>
              <a:rPr i="1" lang="en-US" sz="1600">
                <a:highlight>
                  <a:srgbClr val="FFFFFF"/>
                </a:highlight>
                <a:latin typeface="Times"/>
                <a:ea typeface="Times"/>
                <a:cs typeface="Times"/>
                <a:sym typeface="Times"/>
              </a:rPr>
              <a:t>    print(lst[5])  # This will cause an IndexError</a:t>
            </a:r>
            <a:endParaRPr i="1" sz="1600">
              <a:highlight>
                <a:srgbClr val="FFFFFF"/>
              </a:highlight>
              <a:latin typeface="Times"/>
              <a:ea typeface="Times"/>
              <a:cs typeface="Times"/>
              <a:sym typeface="Times"/>
            </a:endParaRPr>
          </a:p>
          <a:p>
            <a:pPr indent="0" lvl="0" marL="914400" rtl="0" algn="just">
              <a:spcBef>
                <a:spcPts val="290"/>
              </a:spcBef>
              <a:spcAft>
                <a:spcPts val="0"/>
              </a:spcAft>
              <a:buNone/>
            </a:pPr>
            <a:r>
              <a:rPr i="1" lang="en-US" sz="1600">
                <a:highlight>
                  <a:srgbClr val="FFFFFF"/>
                </a:highlight>
                <a:latin typeface="Times"/>
                <a:ea typeface="Times"/>
                <a:cs typeface="Times"/>
                <a:sym typeface="Times"/>
              </a:rPr>
              <a:t>except IndexError:</a:t>
            </a:r>
            <a:endParaRPr i="1" sz="1600">
              <a:highlight>
                <a:srgbClr val="FFFFFF"/>
              </a:highlight>
              <a:latin typeface="Times"/>
              <a:ea typeface="Times"/>
              <a:cs typeface="Times"/>
              <a:sym typeface="Times"/>
            </a:endParaRPr>
          </a:p>
          <a:p>
            <a:pPr indent="0" lvl="0" marL="914400" rtl="0" algn="just">
              <a:spcBef>
                <a:spcPts val="290"/>
              </a:spcBef>
              <a:spcAft>
                <a:spcPts val="0"/>
              </a:spcAft>
              <a:buNone/>
            </a:pPr>
            <a:r>
              <a:rPr i="1" lang="en-US" sz="1600">
                <a:highlight>
                  <a:srgbClr val="FFFFFF"/>
                </a:highlight>
                <a:latin typeface="Times"/>
                <a:ea typeface="Times"/>
                <a:cs typeface="Times"/>
                <a:sym typeface="Times"/>
              </a:rPr>
              <a:t>    print("Error: Index out of range.")</a:t>
            </a:r>
            <a:endParaRPr i="1" sz="1600">
              <a:highlight>
                <a:srgbClr val="FFFFFF"/>
              </a:highlight>
              <a:latin typeface="Times"/>
              <a:ea typeface="Times"/>
              <a:cs typeface="Times"/>
              <a:sym typeface="Times"/>
            </a:endParaRPr>
          </a:p>
          <a:p>
            <a:pPr indent="0" lvl="0" marL="914400" rtl="0" algn="just">
              <a:spcBef>
                <a:spcPts val="290"/>
              </a:spcBef>
              <a:spcAft>
                <a:spcPts val="0"/>
              </a:spcAft>
              <a:buNone/>
            </a:pPr>
            <a:r>
              <a:rPr i="1" lang="en-US" sz="1600">
                <a:highlight>
                  <a:srgbClr val="FFFFFF"/>
                </a:highlight>
                <a:latin typeface="Times"/>
                <a:ea typeface="Times"/>
                <a:cs typeface="Times"/>
                <a:sym typeface="Times"/>
              </a:rPr>
              <a:t>except ZeroDivisionError:</a:t>
            </a:r>
            <a:endParaRPr i="1" sz="1600">
              <a:highlight>
                <a:srgbClr val="FFFFFF"/>
              </a:highlight>
              <a:latin typeface="Times"/>
              <a:ea typeface="Times"/>
              <a:cs typeface="Times"/>
              <a:sym typeface="Times"/>
            </a:endParaRPr>
          </a:p>
          <a:p>
            <a:pPr indent="0" lvl="0" marL="914400" rtl="0" algn="just">
              <a:spcBef>
                <a:spcPts val="290"/>
              </a:spcBef>
              <a:spcAft>
                <a:spcPts val="0"/>
              </a:spcAft>
              <a:buNone/>
            </a:pPr>
            <a:r>
              <a:rPr i="1" lang="en-US" sz="1600">
                <a:highlight>
                  <a:srgbClr val="FFFFFF"/>
                </a:highlight>
                <a:latin typeface="Times"/>
                <a:ea typeface="Times"/>
                <a:cs typeface="Times"/>
                <a:sym typeface="Times"/>
              </a:rPr>
              <a:t>    print("Error: Cannot divide by zero.")</a:t>
            </a:r>
            <a:endParaRPr i="1" sz="1600">
              <a:highlight>
                <a:srgbClr val="FFFFFF"/>
              </a:highlight>
              <a:latin typeface="Times"/>
              <a:ea typeface="Times"/>
              <a:cs typeface="Times"/>
              <a:sym typeface="Times"/>
            </a:endParaRPr>
          </a:p>
          <a:p>
            <a:pPr indent="0" lvl="0" marL="457200" rtl="0" algn="just">
              <a:spcBef>
                <a:spcPts val="290"/>
              </a:spcBef>
              <a:spcAft>
                <a:spcPts val="0"/>
              </a:spcAft>
              <a:buNone/>
            </a:pPr>
            <a:r>
              <a:t/>
            </a:r>
            <a:endParaRPr i="1" sz="1600">
              <a:highlight>
                <a:srgbClr val="FFFFFF"/>
              </a:highlight>
              <a:latin typeface="Times"/>
              <a:ea typeface="Times"/>
              <a:cs typeface="Times"/>
              <a:sym typeface="Times"/>
            </a:endParaRPr>
          </a:p>
          <a:p>
            <a:pPr indent="0" lvl="0" marL="457200" rtl="0" algn="just">
              <a:lnSpc>
                <a:spcPct val="115000"/>
              </a:lnSpc>
              <a:spcBef>
                <a:spcPts val="900"/>
              </a:spcBef>
              <a:spcAft>
                <a:spcPts val="0"/>
              </a:spcAft>
              <a:buNone/>
            </a:pPr>
            <a:r>
              <a:rPr b="1" i="1" lang="en-US" sz="1600">
                <a:highlight>
                  <a:srgbClr val="FFFFFF"/>
                </a:highlight>
                <a:latin typeface="Times"/>
                <a:ea typeface="Times"/>
                <a:cs typeface="Times"/>
                <a:sym typeface="Times"/>
              </a:rPr>
              <a:t>Output:</a:t>
            </a:r>
            <a:r>
              <a:rPr i="1" lang="en-US" sz="1600">
                <a:highlight>
                  <a:srgbClr val="FFFFFF"/>
                </a:highlight>
                <a:latin typeface="Times"/>
                <a:ea typeface="Times"/>
                <a:cs typeface="Times"/>
                <a:sym typeface="Times"/>
              </a:rPr>
              <a:t> </a:t>
            </a:r>
            <a:r>
              <a:rPr i="1" lang="en-US" sz="1600">
                <a:highlight>
                  <a:srgbClr val="FFFFFF"/>
                </a:highlight>
                <a:latin typeface="Times"/>
                <a:ea typeface="Times"/>
                <a:cs typeface="Times"/>
                <a:sym typeface="Times"/>
              </a:rPr>
              <a:t>Error: Index out of range.</a:t>
            </a:r>
            <a:endParaRPr i="1" sz="1600">
              <a:highlight>
                <a:srgbClr val="FFFFFF"/>
              </a:highlight>
              <a:latin typeface="Times"/>
              <a:ea typeface="Times"/>
              <a:cs typeface="Times"/>
              <a:sym typeface="Times"/>
            </a:endParaRPr>
          </a:p>
          <a:p>
            <a:pPr indent="-342900" lvl="0" marL="457200" rtl="0" algn="just">
              <a:lnSpc>
                <a:spcPct val="115000"/>
              </a:lnSpc>
              <a:spcBef>
                <a:spcPts val="900"/>
              </a:spcBef>
              <a:spcAft>
                <a:spcPts val="0"/>
              </a:spcAft>
              <a:buSzPts val="1800"/>
              <a:buChar char="●"/>
            </a:pPr>
            <a:r>
              <a:rPr b="1" lang="en-US" sz="1800">
                <a:highlight>
                  <a:srgbClr val="FFFFFF"/>
                </a:highlight>
                <a:latin typeface="Times"/>
                <a:ea typeface="Times"/>
                <a:cs typeface="Times"/>
                <a:sym typeface="Times"/>
              </a:rPr>
              <a:t>Explanation:</a:t>
            </a:r>
            <a:r>
              <a:rPr lang="en-US" sz="1800">
                <a:highlight>
                  <a:srgbClr val="FFFFFF"/>
                </a:highlight>
                <a:latin typeface="Times"/>
                <a:ea typeface="Times"/>
                <a:cs typeface="Times"/>
                <a:sym typeface="Times"/>
              </a:rPr>
              <a:t> Since an IndexError occurs, the corresponding except block executes.</a:t>
            </a:r>
            <a:endParaRPr sz="1800">
              <a:highlight>
                <a:srgbClr val="FFFFFF"/>
              </a:highlight>
              <a:latin typeface="Times"/>
              <a:ea typeface="Times"/>
              <a:cs typeface="Times"/>
              <a:sym typeface="Times"/>
            </a:endParaRPr>
          </a:p>
        </p:txBody>
      </p:sp>
      <p:sp>
        <p:nvSpPr>
          <p:cNvPr id="1438" name="Google Shape;1438;p1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3" name="Shape 1443"/>
        <p:cNvGrpSpPr/>
        <p:nvPr/>
      </p:nvGrpSpPr>
      <p:grpSpPr>
        <a:xfrm>
          <a:off x="0" y="0"/>
          <a:ext cx="0" cy="0"/>
          <a:chOff x="0" y="0"/>
          <a:chExt cx="0" cy="0"/>
        </a:xfrm>
      </p:grpSpPr>
      <p:sp>
        <p:nvSpPr>
          <p:cNvPr id="1444" name="Google Shape;1444;p178"/>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Handling Exception in Python</a:t>
            </a:r>
            <a:endParaRPr b="1" sz="3000">
              <a:solidFill>
                <a:srgbClr val="1C3678"/>
              </a:solidFill>
              <a:latin typeface="Trebuchet MS"/>
              <a:ea typeface="Trebuchet MS"/>
              <a:cs typeface="Trebuchet MS"/>
              <a:sym typeface="Trebuchet MS"/>
            </a:endParaRPr>
          </a:p>
        </p:txBody>
      </p:sp>
      <p:sp>
        <p:nvSpPr>
          <p:cNvPr id="1445" name="Google Shape;1445;p178"/>
          <p:cNvSpPr txBox="1"/>
          <p:nvPr/>
        </p:nvSpPr>
        <p:spPr>
          <a:xfrm>
            <a:off x="688425" y="793125"/>
            <a:ext cx="8107500" cy="4282500"/>
          </a:xfrm>
          <a:prstGeom prst="rect">
            <a:avLst/>
          </a:prstGeom>
          <a:noFill/>
          <a:ln>
            <a:noFill/>
          </a:ln>
        </p:spPr>
        <p:txBody>
          <a:bodyPr anchorCtr="0" anchor="t" bIns="0" lIns="0" spcFirstLastPara="1" rIns="0" wrap="square" tIns="125075">
            <a:spAutoFit/>
          </a:bodyPr>
          <a:lstStyle/>
          <a:p>
            <a:pPr indent="0" lvl="0" marL="0" rtl="0" algn="just">
              <a:lnSpc>
                <a:spcPct val="115000"/>
              </a:lnSpc>
              <a:spcBef>
                <a:spcPts val="1400"/>
              </a:spcBef>
              <a:spcAft>
                <a:spcPts val="0"/>
              </a:spcAft>
              <a:buNone/>
            </a:pPr>
            <a:r>
              <a:rPr b="1" lang="en-US" sz="1800">
                <a:highlight>
                  <a:srgbClr val="FFFFFF"/>
                </a:highlight>
                <a:latin typeface="Times"/>
                <a:ea typeface="Times"/>
                <a:cs typeface="Times"/>
                <a:sym typeface="Times"/>
              </a:rPr>
              <a:t>4. Using finally: </a:t>
            </a:r>
            <a:r>
              <a:rPr lang="en-US" sz="1800">
                <a:highlight>
                  <a:srgbClr val="FFFFFF"/>
                </a:highlight>
                <a:latin typeface="Times"/>
                <a:ea typeface="Times"/>
                <a:cs typeface="Times"/>
                <a:sym typeface="Times"/>
              </a:rPr>
              <a:t>The finally block executes code no matter what happens in the try block.</a:t>
            </a:r>
            <a:endParaRPr sz="1800">
              <a:highlight>
                <a:srgbClr val="FFFFFF"/>
              </a:highlight>
              <a:latin typeface="Times"/>
              <a:ea typeface="Times"/>
              <a:cs typeface="Times"/>
              <a:sym typeface="Times"/>
            </a:endParaRPr>
          </a:p>
          <a:p>
            <a:pPr indent="0" lvl="0" marL="914400" rtl="0" algn="just">
              <a:spcBef>
                <a:spcPts val="400"/>
              </a:spcBef>
              <a:spcAft>
                <a:spcPts val="0"/>
              </a:spcAft>
              <a:buNone/>
            </a:pPr>
            <a:r>
              <a:rPr i="1" lang="en-US" sz="1500">
                <a:highlight>
                  <a:srgbClr val="FFFFFF"/>
                </a:highlight>
                <a:latin typeface="Times"/>
                <a:ea typeface="Times"/>
                <a:cs typeface="Times"/>
                <a:sym typeface="Times"/>
              </a:rPr>
              <a:t>try:</a:t>
            </a:r>
            <a:endParaRPr i="1" sz="1500">
              <a:highlight>
                <a:srgbClr val="FFFFFF"/>
              </a:highlight>
              <a:latin typeface="Times"/>
              <a:ea typeface="Times"/>
              <a:cs typeface="Times"/>
              <a:sym typeface="Times"/>
            </a:endParaRPr>
          </a:p>
          <a:p>
            <a:pPr indent="0" lvl="0" marL="914400" rtl="0" algn="just">
              <a:spcBef>
                <a:spcPts val="290"/>
              </a:spcBef>
              <a:spcAft>
                <a:spcPts val="0"/>
              </a:spcAft>
              <a:buNone/>
            </a:pPr>
            <a:r>
              <a:rPr i="1" lang="en-US" sz="1500">
                <a:highlight>
                  <a:srgbClr val="FFFFFF"/>
                </a:highlight>
                <a:latin typeface="Times"/>
                <a:ea typeface="Times"/>
                <a:cs typeface="Times"/>
                <a:sym typeface="Times"/>
              </a:rPr>
              <a:t>    x = 10</a:t>
            </a:r>
            <a:endParaRPr i="1" sz="1500">
              <a:highlight>
                <a:srgbClr val="FFFFFF"/>
              </a:highlight>
              <a:latin typeface="Times"/>
              <a:ea typeface="Times"/>
              <a:cs typeface="Times"/>
              <a:sym typeface="Times"/>
            </a:endParaRPr>
          </a:p>
          <a:p>
            <a:pPr indent="0" lvl="0" marL="914400" rtl="0" algn="just">
              <a:spcBef>
                <a:spcPts val="290"/>
              </a:spcBef>
              <a:spcAft>
                <a:spcPts val="0"/>
              </a:spcAft>
              <a:buNone/>
            </a:pPr>
            <a:r>
              <a:rPr i="1" lang="en-US" sz="1500">
                <a:highlight>
                  <a:srgbClr val="FFFFFF"/>
                </a:highlight>
                <a:latin typeface="Times"/>
                <a:ea typeface="Times"/>
                <a:cs typeface="Times"/>
                <a:sym typeface="Times"/>
              </a:rPr>
              <a:t>    y = 2</a:t>
            </a:r>
            <a:endParaRPr i="1" sz="1500">
              <a:highlight>
                <a:srgbClr val="FFFFFF"/>
              </a:highlight>
              <a:latin typeface="Times"/>
              <a:ea typeface="Times"/>
              <a:cs typeface="Times"/>
              <a:sym typeface="Times"/>
            </a:endParaRPr>
          </a:p>
          <a:p>
            <a:pPr indent="0" lvl="0" marL="914400" rtl="0" algn="just">
              <a:spcBef>
                <a:spcPts val="290"/>
              </a:spcBef>
              <a:spcAft>
                <a:spcPts val="0"/>
              </a:spcAft>
              <a:buNone/>
            </a:pPr>
            <a:r>
              <a:rPr i="1" lang="en-US" sz="1500">
                <a:highlight>
                  <a:srgbClr val="FFFFFF"/>
                </a:highlight>
                <a:latin typeface="Times"/>
                <a:ea typeface="Times"/>
                <a:cs typeface="Times"/>
                <a:sym typeface="Times"/>
              </a:rPr>
              <a:t>    print(x / y)</a:t>
            </a:r>
            <a:endParaRPr i="1" sz="1500">
              <a:highlight>
                <a:srgbClr val="FFFFFF"/>
              </a:highlight>
              <a:latin typeface="Times"/>
              <a:ea typeface="Times"/>
              <a:cs typeface="Times"/>
              <a:sym typeface="Times"/>
            </a:endParaRPr>
          </a:p>
          <a:p>
            <a:pPr indent="0" lvl="0" marL="914400" rtl="0" algn="just">
              <a:spcBef>
                <a:spcPts val="290"/>
              </a:spcBef>
              <a:spcAft>
                <a:spcPts val="0"/>
              </a:spcAft>
              <a:buNone/>
            </a:pPr>
            <a:r>
              <a:rPr i="1" lang="en-US" sz="1500">
                <a:highlight>
                  <a:srgbClr val="FFFFFF"/>
                </a:highlight>
                <a:latin typeface="Times"/>
                <a:ea typeface="Times"/>
                <a:cs typeface="Times"/>
                <a:sym typeface="Times"/>
              </a:rPr>
              <a:t>except ZeroDivisionError:</a:t>
            </a:r>
            <a:endParaRPr i="1" sz="1500">
              <a:highlight>
                <a:srgbClr val="FFFFFF"/>
              </a:highlight>
              <a:latin typeface="Times"/>
              <a:ea typeface="Times"/>
              <a:cs typeface="Times"/>
              <a:sym typeface="Times"/>
            </a:endParaRPr>
          </a:p>
          <a:p>
            <a:pPr indent="0" lvl="0" marL="914400" rtl="0" algn="just">
              <a:spcBef>
                <a:spcPts val="290"/>
              </a:spcBef>
              <a:spcAft>
                <a:spcPts val="0"/>
              </a:spcAft>
              <a:buNone/>
            </a:pPr>
            <a:r>
              <a:rPr i="1" lang="en-US" sz="1500">
                <a:highlight>
                  <a:srgbClr val="FFFFFF"/>
                </a:highlight>
                <a:latin typeface="Times"/>
                <a:ea typeface="Times"/>
                <a:cs typeface="Times"/>
                <a:sym typeface="Times"/>
              </a:rPr>
              <a:t>    print("Error: Cannot divide by zero.")</a:t>
            </a:r>
            <a:endParaRPr i="1" sz="1500">
              <a:highlight>
                <a:srgbClr val="FFFFFF"/>
              </a:highlight>
              <a:latin typeface="Times"/>
              <a:ea typeface="Times"/>
              <a:cs typeface="Times"/>
              <a:sym typeface="Times"/>
            </a:endParaRPr>
          </a:p>
          <a:p>
            <a:pPr indent="0" lvl="0" marL="914400" rtl="0" algn="just">
              <a:spcBef>
                <a:spcPts val="290"/>
              </a:spcBef>
              <a:spcAft>
                <a:spcPts val="0"/>
              </a:spcAft>
              <a:buNone/>
            </a:pPr>
            <a:r>
              <a:rPr i="1" lang="en-US" sz="1500">
                <a:highlight>
                  <a:srgbClr val="FFFFFF"/>
                </a:highlight>
                <a:latin typeface="Times"/>
                <a:ea typeface="Times"/>
                <a:cs typeface="Times"/>
                <a:sym typeface="Times"/>
              </a:rPr>
              <a:t>finally:</a:t>
            </a:r>
            <a:endParaRPr i="1" sz="1500">
              <a:highlight>
                <a:srgbClr val="FFFFFF"/>
              </a:highlight>
              <a:latin typeface="Times"/>
              <a:ea typeface="Times"/>
              <a:cs typeface="Times"/>
              <a:sym typeface="Times"/>
            </a:endParaRPr>
          </a:p>
          <a:p>
            <a:pPr indent="0" lvl="0" marL="914400" rtl="0" algn="just">
              <a:spcBef>
                <a:spcPts val="290"/>
              </a:spcBef>
              <a:spcAft>
                <a:spcPts val="0"/>
              </a:spcAft>
              <a:buNone/>
            </a:pPr>
            <a:r>
              <a:rPr i="1" lang="en-US" sz="1500">
                <a:highlight>
                  <a:srgbClr val="FFFFFF"/>
                </a:highlight>
                <a:latin typeface="Times"/>
                <a:ea typeface="Times"/>
                <a:cs typeface="Times"/>
                <a:sym typeface="Times"/>
              </a:rPr>
              <a:t>    print("Execution completed.")</a:t>
            </a:r>
            <a:endParaRPr i="1" sz="1500">
              <a:highlight>
                <a:srgbClr val="FFFFFF"/>
              </a:highlight>
              <a:latin typeface="Times"/>
              <a:ea typeface="Times"/>
              <a:cs typeface="Times"/>
              <a:sym typeface="Times"/>
            </a:endParaRPr>
          </a:p>
          <a:p>
            <a:pPr indent="0" lvl="0" marL="457200" rtl="0" algn="just">
              <a:spcBef>
                <a:spcPts val="290"/>
              </a:spcBef>
              <a:spcAft>
                <a:spcPts val="0"/>
              </a:spcAft>
              <a:buNone/>
            </a:pPr>
            <a:r>
              <a:t/>
            </a:r>
            <a:endParaRPr i="1" sz="1500">
              <a:highlight>
                <a:srgbClr val="FFFFFF"/>
              </a:highlight>
              <a:latin typeface="Times"/>
              <a:ea typeface="Times"/>
              <a:cs typeface="Times"/>
              <a:sym typeface="Times"/>
            </a:endParaRPr>
          </a:p>
          <a:p>
            <a:pPr indent="457200" lvl="0" marL="0" rtl="0" algn="just">
              <a:lnSpc>
                <a:spcPct val="115000"/>
              </a:lnSpc>
              <a:spcBef>
                <a:spcPts val="900"/>
              </a:spcBef>
              <a:spcAft>
                <a:spcPts val="0"/>
              </a:spcAft>
              <a:buNone/>
            </a:pPr>
            <a:r>
              <a:rPr b="1" i="1" lang="en-US" sz="1500">
                <a:highlight>
                  <a:srgbClr val="FFFFFF"/>
                </a:highlight>
                <a:latin typeface="Times"/>
                <a:ea typeface="Times"/>
                <a:cs typeface="Times"/>
                <a:sym typeface="Times"/>
              </a:rPr>
              <a:t>Output:</a:t>
            </a:r>
            <a:r>
              <a:rPr i="1" lang="en-US" sz="1500">
                <a:highlight>
                  <a:srgbClr val="FFFFFF"/>
                </a:highlight>
                <a:latin typeface="Times"/>
                <a:ea typeface="Times"/>
                <a:cs typeface="Times"/>
                <a:sym typeface="Times"/>
              </a:rPr>
              <a:t> 5.0 \n </a:t>
            </a:r>
            <a:r>
              <a:rPr i="1" lang="en-US" sz="1500">
                <a:highlight>
                  <a:srgbClr val="FFFFFF"/>
                </a:highlight>
                <a:latin typeface="Times"/>
                <a:ea typeface="Times"/>
                <a:cs typeface="Times"/>
                <a:sym typeface="Times"/>
              </a:rPr>
              <a:t>Execution completed.</a:t>
            </a:r>
            <a:endParaRPr i="1" sz="1500">
              <a:highlight>
                <a:srgbClr val="FFFFFF"/>
              </a:highlight>
              <a:latin typeface="Times"/>
              <a:ea typeface="Times"/>
              <a:cs typeface="Times"/>
              <a:sym typeface="Times"/>
            </a:endParaRPr>
          </a:p>
          <a:p>
            <a:pPr indent="-342900" lvl="0" marL="457200" rtl="0" algn="just">
              <a:lnSpc>
                <a:spcPct val="115000"/>
              </a:lnSpc>
              <a:spcBef>
                <a:spcPts val="900"/>
              </a:spcBef>
              <a:spcAft>
                <a:spcPts val="0"/>
              </a:spcAft>
              <a:buSzPts val="1800"/>
              <a:buChar char="●"/>
            </a:pPr>
            <a:r>
              <a:rPr b="1" lang="en-US" sz="1800">
                <a:highlight>
                  <a:srgbClr val="FFFFFF"/>
                </a:highlight>
                <a:latin typeface="Times"/>
                <a:ea typeface="Times"/>
                <a:cs typeface="Times"/>
                <a:sym typeface="Times"/>
              </a:rPr>
              <a:t>Explanation:</a:t>
            </a:r>
            <a:r>
              <a:rPr lang="en-US" sz="1800">
                <a:highlight>
                  <a:srgbClr val="FFFFFF"/>
                </a:highlight>
                <a:latin typeface="Times"/>
                <a:ea typeface="Times"/>
                <a:cs typeface="Times"/>
                <a:sym typeface="Times"/>
              </a:rPr>
              <a:t> The finally block executes regardless of whether an exception occurred.</a:t>
            </a:r>
            <a:endParaRPr b="1" sz="1800">
              <a:highlight>
                <a:srgbClr val="FFFFFF"/>
              </a:highlight>
              <a:latin typeface="Times"/>
              <a:ea typeface="Times"/>
              <a:cs typeface="Times"/>
              <a:sym typeface="Times"/>
            </a:endParaRPr>
          </a:p>
        </p:txBody>
      </p:sp>
      <p:sp>
        <p:nvSpPr>
          <p:cNvPr id="1446" name="Google Shape;1446;p1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1" name="Shape 1451"/>
        <p:cNvGrpSpPr/>
        <p:nvPr/>
      </p:nvGrpSpPr>
      <p:grpSpPr>
        <a:xfrm>
          <a:off x="0" y="0"/>
          <a:ext cx="0" cy="0"/>
          <a:chOff x="0" y="0"/>
          <a:chExt cx="0" cy="0"/>
        </a:xfrm>
      </p:grpSpPr>
      <p:sp>
        <p:nvSpPr>
          <p:cNvPr id="1452" name="Google Shape;1452;p179"/>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Handling </a:t>
            </a:r>
            <a:r>
              <a:rPr b="1" lang="en-US" sz="3000">
                <a:solidFill>
                  <a:srgbClr val="1C3678"/>
                </a:solidFill>
                <a:latin typeface="Trebuchet MS"/>
                <a:ea typeface="Trebuchet MS"/>
                <a:cs typeface="Trebuchet MS"/>
                <a:sym typeface="Trebuchet MS"/>
              </a:rPr>
              <a:t>Exception in Python</a:t>
            </a:r>
            <a:endParaRPr b="1" sz="3000">
              <a:solidFill>
                <a:srgbClr val="1C3678"/>
              </a:solidFill>
              <a:latin typeface="Trebuchet MS"/>
              <a:ea typeface="Trebuchet MS"/>
              <a:cs typeface="Trebuchet MS"/>
              <a:sym typeface="Trebuchet MS"/>
            </a:endParaRPr>
          </a:p>
        </p:txBody>
      </p:sp>
      <p:sp>
        <p:nvSpPr>
          <p:cNvPr id="1453" name="Google Shape;1453;p179"/>
          <p:cNvSpPr txBox="1"/>
          <p:nvPr/>
        </p:nvSpPr>
        <p:spPr>
          <a:xfrm>
            <a:off x="688425" y="793125"/>
            <a:ext cx="8107500" cy="3127500"/>
          </a:xfrm>
          <a:prstGeom prst="rect">
            <a:avLst/>
          </a:prstGeom>
          <a:noFill/>
          <a:ln>
            <a:noFill/>
          </a:ln>
        </p:spPr>
        <p:txBody>
          <a:bodyPr anchorCtr="0" anchor="t" bIns="0" lIns="0" spcFirstLastPara="1" rIns="0" wrap="square" tIns="125075">
            <a:spAutoFit/>
          </a:bodyPr>
          <a:lstStyle/>
          <a:p>
            <a:pPr indent="0" lvl="0" marL="0" rtl="0" algn="just">
              <a:lnSpc>
                <a:spcPct val="115000"/>
              </a:lnSpc>
              <a:spcBef>
                <a:spcPts val="1400"/>
              </a:spcBef>
              <a:spcAft>
                <a:spcPts val="0"/>
              </a:spcAft>
              <a:buNone/>
            </a:pPr>
            <a:r>
              <a:rPr b="1" lang="en-US" sz="1800">
                <a:latin typeface="Times"/>
                <a:ea typeface="Times"/>
                <a:cs typeface="Times"/>
                <a:sym typeface="Times"/>
              </a:rPr>
              <a:t>5. Standard/Generalized Exceptions</a:t>
            </a:r>
            <a:endParaRPr b="1" sz="1800">
              <a:latin typeface="Times"/>
              <a:ea typeface="Times"/>
              <a:cs typeface="Times"/>
              <a:sym typeface="Times"/>
            </a:endParaRPr>
          </a:p>
          <a:p>
            <a:pPr indent="0" lvl="0" marL="0" rtl="0" algn="just">
              <a:lnSpc>
                <a:spcPct val="115000"/>
              </a:lnSpc>
              <a:spcBef>
                <a:spcPts val="900"/>
              </a:spcBef>
              <a:spcAft>
                <a:spcPts val="0"/>
              </a:spcAft>
              <a:buNone/>
            </a:pPr>
            <a:r>
              <a:rPr lang="en-US" sz="1800">
                <a:latin typeface="Times"/>
                <a:ea typeface="Times"/>
                <a:cs typeface="Times"/>
                <a:sym typeface="Times"/>
              </a:rPr>
              <a:t>You can define Generalized exceptions.</a:t>
            </a:r>
            <a:endParaRPr i="1" sz="1700">
              <a:latin typeface="Times"/>
              <a:ea typeface="Times"/>
              <a:cs typeface="Times"/>
              <a:sym typeface="Times"/>
            </a:endParaRPr>
          </a:p>
          <a:p>
            <a:pPr indent="0" lvl="0" marL="914400" rtl="0" algn="just">
              <a:spcBef>
                <a:spcPts val="900"/>
              </a:spcBef>
              <a:spcAft>
                <a:spcPts val="0"/>
              </a:spcAft>
              <a:buNone/>
            </a:pPr>
            <a:r>
              <a:rPr i="1" lang="en-US" sz="1700">
                <a:latin typeface="Times"/>
                <a:ea typeface="Times"/>
                <a:cs typeface="Times"/>
                <a:sym typeface="Times"/>
              </a:rPr>
              <a:t>try:</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pass</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#python statements</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except </a:t>
            </a:r>
            <a:r>
              <a:rPr i="1" lang="en-US" sz="1700">
                <a:latin typeface="Times"/>
                <a:ea typeface="Times"/>
                <a:cs typeface="Times"/>
                <a:sym typeface="Times"/>
              </a:rPr>
              <a:t>Exception</a:t>
            </a:r>
            <a:r>
              <a:rPr i="1" lang="en-US" sz="1700">
                <a:latin typeface="Times"/>
                <a:ea typeface="Times"/>
                <a:cs typeface="Times"/>
                <a:sym typeface="Times"/>
              </a:rPr>
              <a:t> as e:</a:t>
            </a:r>
            <a:endParaRPr i="1" sz="1700">
              <a:latin typeface="Times"/>
              <a:ea typeface="Times"/>
              <a:cs typeface="Times"/>
              <a:sym typeface="Times"/>
            </a:endParaRPr>
          </a:p>
          <a:p>
            <a:pPr indent="0" lvl="0" marL="914400" rtl="0" algn="just">
              <a:spcBef>
                <a:spcPts val="290"/>
              </a:spcBef>
              <a:spcAft>
                <a:spcPts val="0"/>
              </a:spcAft>
              <a:buNone/>
            </a:pPr>
            <a:r>
              <a:rPr i="1" lang="en-US" sz="1700">
                <a:latin typeface="Times"/>
                <a:ea typeface="Times"/>
                <a:cs typeface="Times"/>
                <a:sym typeface="Times"/>
              </a:rPr>
              <a:t>       </a:t>
            </a:r>
            <a:r>
              <a:rPr i="1" lang="en-US" sz="1700">
                <a:latin typeface="Times"/>
                <a:ea typeface="Times"/>
                <a:cs typeface="Times"/>
                <a:sym typeface="Times"/>
              </a:rPr>
              <a:t>raise Exception(f"This is a custom exception. Error: {e}")</a:t>
            </a:r>
            <a:endParaRPr i="1" sz="1700">
              <a:latin typeface="Times"/>
              <a:ea typeface="Times"/>
              <a:cs typeface="Times"/>
              <a:sym typeface="Times"/>
            </a:endParaRPr>
          </a:p>
          <a:p>
            <a:pPr indent="0" lvl="0" marL="457200" rtl="0" algn="just">
              <a:spcBef>
                <a:spcPts val="290"/>
              </a:spcBef>
              <a:spcAft>
                <a:spcPts val="0"/>
              </a:spcAft>
              <a:buNone/>
            </a:pPr>
            <a:r>
              <a:t/>
            </a:r>
            <a:endParaRPr i="1" sz="1700">
              <a:latin typeface="Times"/>
              <a:ea typeface="Times"/>
              <a:cs typeface="Times"/>
              <a:sym typeface="Times"/>
            </a:endParaRPr>
          </a:p>
          <a:p>
            <a:pPr indent="457200" lvl="0" marL="0" rtl="0" algn="just">
              <a:lnSpc>
                <a:spcPct val="115000"/>
              </a:lnSpc>
              <a:spcBef>
                <a:spcPts val="900"/>
              </a:spcBef>
              <a:spcAft>
                <a:spcPts val="900"/>
              </a:spcAft>
              <a:buNone/>
            </a:pPr>
            <a:r>
              <a:rPr b="1" i="1" lang="en-US" sz="1700">
                <a:latin typeface="Times"/>
                <a:ea typeface="Times"/>
                <a:cs typeface="Times"/>
                <a:sym typeface="Times"/>
              </a:rPr>
              <a:t>Output:</a:t>
            </a:r>
            <a:r>
              <a:rPr i="1" lang="en-US" sz="1700">
                <a:latin typeface="Times"/>
                <a:ea typeface="Times"/>
                <a:cs typeface="Times"/>
                <a:sym typeface="Times"/>
              </a:rPr>
              <a:t> his is a custom exception. Error: …………</a:t>
            </a:r>
            <a:endParaRPr sz="1800">
              <a:latin typeface="Times"/>
              <a:ea typeface="Times"/>
              <a:cs typeface="Times"/>
              <a:sym typeface="Times"/>
            </a:endParaRPr>
          </a:p>
        </p:txBody>
      </p:sp>
      <p:sp>
        <p:nvSpPr>
          <p:cNvPr id="1454" name="Google Shape;1454;p1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9" name="Shape 1459"/>
        <p:cNvGrpSpPr/>
        <p:nvPr/>
      </p:nvGrpSpPr>
      <p:grpSpPr>
        <a:xfrm>
          <a:off x="0" y="0"/>
          <a:ext cx="0" cy="0"/>
          <a:chOff x="0" y="0"/>
          <a:chExt cx="0" cy="0"/>
        </a:xfrm>
      </p:grpSpPr>
      <p:sp>
        <p:nvSpPr>
          <p:cNvPr id="1460" name="Google Shape;1460;p180"/>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Exception in Python</a:t>
            </a:r>
            <a:endParaRPr b="1" sz="3000">
              <a:solidFill>
                <a:srgbClr val="1C3678"/>
              </a:solidFill>
              <a:latin typeface="Trebuchet MS"/>
              <a:ea typeface="Trebuchet MS"/>
              <a:cs typeface="Trebuchet MS"/>
              <a:sym typeface="Trebuchet MS"/>
            </a:endParaRPr>
          </a:p>
        </p:txBody>
      </p:sp>
      <p:sp>
        <p:nvSpPr>
          <p:cNvPr id="1461" name="Google Shape;1461;p180"/>
          <p:cNvSpPr txBox="1"/>
          <p:nvPr/>
        </p:nvSpPr>
        <p:spPr>
          <a:xfrm>
            <a:off x="688425" y="793125"/>
            <a:ext cx="8107500" cy="2948100"/>
          </a:xfrm>
          <a:prstGeom prst="rect">
            <a:avLst/>
          </a:prstGeom>
          <a:noFill/>
          <a:ln>
            <a:noFill/>
          </a:ln>
        </p:spPr>
        <p:txBody>
          <a:bodyPr anchorCtr="0" anchor="t" bIns="0" lIns="0" spcFirstLastPara="1" rIns="0" wrap="square" tIns="125075">
            <a:spAutoFit/>
          </a:bodyPr>
          <a:lstStyle/>
          <a:p>
            <a:pPr indent="0" lvl="0" marL="0" rtl="0" algn="just">
              <a:lnSpc>
                <a:spcPct val="115000"/>
              </a:lnSpc>
              <a:spcBef>
                <a:spcPts val="1400"/>
              </a:spcBef>
              <a:spcAft>
                <a:spcPts val="0"/>
              </a:spcAft>
              <a:buNone/>
            </a:pPr>
            <a:r>
              <a:rPr b="1" lang="en-US" sz="1800">
                <a:highlight>
                  <a:srgbClr val="FFFFFF"/>
                </a:highlight>
                <a:latin typeface="Times"/>
                <a:ea typeface="Times"/>
                <a:cs typeface="Times"/>
                <a:sym typeface="Times"/>
              </a:rPr>
              <a:t>File Not Found: </a:t>
            </a:r>
            <a:r>
              <a:rPr lang="en-US" sz="1800">
                <a:highlight>
                  <a:srgbClr val="FFFFFF"/>
                </a:highlight>
                <a:latin typeface="Times"/>
                <a:ea typeface="Times"/>
                <a:cs typeface="Times"/>
                <a:sym typeface="Times"/>
              </a:rPr>
              <a:t>When trying to open a file that does not exist, a FileNotFoundError occurs.</a:t>
            </a:r>
            <a:endParaRPr sz="1800">
              <a:highlight>
                <a:srgbClr val="FFFFFF"/>
              </a:highlight>
              <a:latin typeface="Times"/>
              <a:ea typeface="Times"/>
              <a:cs typeface="Times"/>
              <a:sym typeface="Times"/>
            </a:endParaRPr>
          </a:p>
          <a:p>
            <a:pPr indent="0" lvl="0" marL="914400" rtl="0" algn="just">
              <a:spcBef>
                <a:spcPts val="400"/>
              </a:spcBef>
              <a:spcAft>
                <a:spcPts val="0"/>
              </a:spcAft>
              <a:buNone/>
            </a:pPr>
            <a:r>
              <a:rPr i="1" lang="en-US" sz="1700">
                <a:highlight>
                  <a:srgbClr val="FFFFFF"/>
                </a:highlight>
                <a:latin typeface="Times"/>
                <a:ea typeface="Times"/>
                <a:cs typeface="Times"/>
                <a:sym typeface="Times"/>
              </a:rPr>
              <a:t>try:</a:t>
            </a:r>
            <a:endParaRPr i="1" sz="1700">
              <a:highlight>
                <a:srgbClr val="FFFFFF"/>
              </a:highlight>
              <a:latin typeface="Times"/>
              <a:ea typeface="Times"/>
              <a:cs typeface="Times"/>
              <a:sym typeface="Times"/>
            </a:endParaRPr>
          </a:p>
          <a:p>
            <a:pPr indent="0" lvl="0" marL="914400" rtl="0" algn="just">
              <a:spcBef>
                <a:spcPts val="290"/>
              </a:spcBef>
              <a:spcAft>
                <a:spcPts val="0"/>
              </a:spcAft>
              <a:buNone/>
            </a:pPr>
            <a:r>
              <a:rPr i="1" lang="en-US" sz="1700">
                <a:highlight>
                  <a:srgbClr val="FFFFFF"/>
                </a:highlight>
                <a:latin typeface="Times"/>
                <a:ea typeface="Times"/>
                <a:cs typeface="Times"/>
                <a:sym typeface="Times"/>
              </a:rPr>
              <a:t>    with open("data.txt", "r") as file:</a:t>
            </a:r>
            <a:endParaRPr i="1" sz="1700">
              <a:highlight>
                <a:srgbClr val="FFFFFF"/>
              </a:highlight>
              <a:latin typeface="Times"/>
              <a:ea typeface="Times"/>
              <a:cs typeface="Times"/>
              <a:sym typeface="Times"/>
            </a:endParaRPr>
          </a:p>
          <a:p>
            <a:pPr indent="0" lvl="0" marL="914400" rtl="0" algn="just">
              <a:spcBef>
                <a:spcPts val="290"/>
              </a:spcBef>
              <a:spcAft>
                <a:spcPts val="0"/>
              </a:spcAft>
              <a:buNone/>
            </a:pPr>
            <a:r>
              <a:rPr i="1" lang="en-US" sz="1700">
                <a:highlight>
                  <a:srgbClr val="FFFFFF"/>
                </a:highlight>
                <a:latin typeface="Times"/>
                <a:ea typeface="Times"/>
                <a:cs typeface="Times"/>
                <a:sym typeface="Times"/>
              </a:rPr>
              <a:t>        content = file.read()</a:t>
            </a:r>
            <a:endParaRPr i="1" sz="1700">
              <a:highlight>
                <a:srgbClr val="FFFFFF"/>
              </a:highlight>
              <a:latin typeface="Times"/>
              <a:ea typeface="Times"/>
              <a:cs typeface="Times"/>
              <a:sym typeface="Times"/>
            </a:endParaRPr>
          </a:p>
          <a:p>
            <a:pPr indent="0" lvl="0" marL="914400" rtl="0" algn="just">
              <a:spcBef>
                <a:spcPts val="290"/>
              </a:spcBef>
              <a:spcAft>
                <a:spcPts val="0"/>
              </a:spcAft>
              <a:buNone/>
            </a:pPr>
            <a:r>
              <a:rPr i="1" lang="en-US" sz="1700">
                <a:highlight>
                  <a:srgbClr val="FFFFFF"/>
                </a:highlight>
                <a:latin typeface="Times"/>
                <a:ea typeface="Times"/>
                <a:cs typeface="Times"/>
                <a:sym typeface="Times"/>
              </a:rPr>
              <a:t>        print(content)</a:t>
            </a:r>
            <a:endParaRPr i="1" sz="1700">
              <a:highlight>
                <a:srgbClr val="FFFFFF"/>
              </a:highlight>
              <a:latin typeface="Times"/>
              <a:ea typeface="Times"/>
              <a:cs typeface="Times"/>
              <a:sym typeface="Times"/>
            </a:endParaRPr>
          </a:p>
          <a:p>
            <a:pPr indent="0" lvl="0" marL="914400" rtl="0" algn="just">
              <a:spcBef>
                <a:spcPts val="290"/>
              </a:spcBef>
              <a:spcAft>
                <a:spcPts val="0"/>
              </a:spcAft>
              <a:buNone/>
            </a:pPr>
            <a:r>
              <a:rPr i="1" lang="en-US" sz="1700">
                <a:highlight>
                  <a:srgbClr val="FFFFFF"/>
                </a:highlight>
                <a:latin typeface="Times"/>
                <a:ea typeface="Times"/>
                <a:cs typeface="Times"/>
                <a:sym typeface="Times"/>
              </a:rPr>
              <a:t>except FileNotFoundError:</a:t>
            </a:r>
            <a:endParaRPr i="1" sz="1700">
              <a:highlight>
                <a:srgbClr val="FFFFFF"/>
              </a:highlight>
              <a:latin typeface="Times"/>
              <a:ea typeface="Times"/>
              <a:cs typeface="Times"/>
              <a:sym typeface="Times"/>
            </a:endParaRPr>
          </a:p>
          <a:p>
            <a:pPr indent="0" lvl="0" marL="914400" rtl="0" algn="just">
              <a:spcBef>
                <a:spcPts val="290"/>
              </a:spcBef>
              <a:spcAft>
                <a:spcPts val="0"/>
              </a:spcAft>
              <a:buNone/>
            </a:pPr>
            <a:r>
              <a:rPr i="1" lang="en-US" sz="1700">
                <a:highlight>
                  <a:srgbClr val="FFFFFF"/>
                </a:highlight>
                <a:latin typeface="Times"/>
                <a:ea typeface="Times"/>
                <a:cs typeface="Times"/>
                <a:sym typeface="Times"/>
              </a:rPr>
              <a:t>    print("Error: The file was not found. Please check the file path.")</a:t>
            </a:r>
            <a:endParaRPr i="1" sz="1700">
              <a:highlight>
                <a:srgbClr val="FFFFFF"/>
              </a:highlight>
              <a:latin typeface="Times"/>
              <a:ea typeface="Times"/>
              <a:cs typeface="Times"/>
              <a:sym typeface="Times"/>
            </a:endParaRPr>
          </a:p>
          <a:p>
            <a:pPr indent="0" lvl="0" marL="457200" rtl="0" algn="just">
              <a:lnSpc>
                <a:spcPct val="115000"/>
              </a:lnSpc>
              <a:spcBef>
                <a:spcPts val="900"/>
              </a:spcBef>
              <a:spcAft>
                <a:spcPts val="900"/>
              </a:spcAft>
              <a:buNone/>
            </a:pPr>
            <a:r>
              <a:rPr b="1" i="1" lang="en-US" sz="1700">
                <a:highlight>
                  <a:srgbClr val="FFFFFF"/>
                </a:highlight>
                <a:latin typeface="Times"/>
                <a:ea typeface="Times"/>
                <a:cs typeface="Times"/>
                <a:sym typeface="Times"/>
              </a:rPr>
              <a:t>Output:</a:t>
            </a:r>
            <a:r>
              <a:rPr i="1" lang="en-US" sz="1700">
                <a:highlight>
                  <a:srgbClr val="FFFFFF"/>
                </a:highlight>
                <a:latin typeface="Times"/>
                <a:ea typeface="Times"/>
                <a:cs typeface="Times"/>
                <a:sym typeface="Times"/>
              </a:rPr>
              <a:t> Error: The file was not found. Please check the file path.</a:t>
            </a:r>
            <a:endParaRPr sz="1800">
              <a:highlight>
                <a:srgbClr val="FFFFFF"/>
              </a:highlight>
              <a:latin typeface="Times"/>
              <a:ea typeface="Times"/>
              <a:cs typeface="Times"/>
              <a:sym typeface="Times"/>
            </a:endParaRPr>
          </a:p>
        </p:txBody>
      </p:sp>
      <p:sp>
        <p:nvSpPr>
          <p:cNvPr id="1462" name="Google Shape;1462;p1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67" name="Shape 1467"/>
        <p:cNvGrpSpPr/>
        <p:nvPr/>
      </p:nvGrpSpPr>
      <p:grpSpPr>
        <a:xfrm>
          <a:off x="0" y="0"/>
          <a:ext cx="0" cy="0"/>
          <a:chOff x="0" y="0"/>
          <a:chExt cx="0" cy="0"/>
        </a:xfrm>
      </p:grpSpPr>
      <p:sp>
        <p:nvSpPr>
          <p:cNvPr id="1468" name="Google Shape;1468;p181"/>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Modules in Python</a:t>
            </a:r>
            <a:endParaRPr b="1" sz="3000">
              <a:solidFill>
                <a:srgbClr val="1C3678"/>
              </a:solidFill>
              <a:latin typeface="Trebuchet MS"/>
              <a:ea typeface="Trebuchet MS"/>
              <a:cs typeface="Trebuchet MS"/>
              <a:sym typeface="Trebuchet MS"/>
            </a:endParaRPr>
          </a:p>
        </p:txBody>
      </p:sp>
      <p:sp>
        <p:nvSpPr>
          <p:cNvPr id="1469" name="Google Shape;1469;p181"/>
          <p:cNvSpPr txBox="1"/>
          <p:nvPr/>
        </p:nvSpPr>
        <p:spPr>
          <a:xfrm>
            <a:off x="729300" y="835775"/>
            <a:ext cx="8107500" cy="4183200"/>
          </a:xfrm>
          <a:prstGeom prst="rect">
            <a:avLst/>
          </a:prstGeom>
          <a:noFill/>
          <a:ln>
            <a:noFill/>
          </a:ln>
        </p:spPr>
        <p:txBody>
          <a:bodyPr anchorCtr="0" anchor="t" bIns="0" lIns="0" spcFirstLastPara="1" rIns="0" wrap="square" tIns="125075">
            <a:spAutoFit/>
          </a:bodyPr>
          <a:lstStyle/>
          <a:p>
            <a:pPr indent="0" lvl="0" marL="0" rtl="0" algn="just">
              <a:lnSpc>
                <a:spcPct val="115000"/>
              </a:lnSpc>
              <a:spcBef>
                <a:spcPts val="0"/>
              </a:spcBef>
              <a:spcAft>
                <a:spcPts val="0"/>
              </a:spcAft>
              <a:buNone/>
            </a:pPr>
            <a:r>
              <a:rPr lang="en-US" sz="1800">
                <a:highlight>
                  <a:srgbClr val="FFFFFF"/>
                </a:highlight>
                <a:latin typeface="Times"/>
                <a:ea typeface="Times"/>
                <a:cs typeface="Times"/>
                <a:sym typeface="Times"/>
              </a:rPr>
              <a:t>A module in Python is a file containing Python definitions and statements. The file name is the module name with the suffix .py appended. Within a module, the module’s name (as a string) is available as the value of the global variable __name__.</a:t>
            </a:r>
            <a:endParaRPr sz="1800">
              <a:highlight>
                <a:srgbClr val="FFFFFF"/>
              </a:highlight>
              <a:latin typeface="Times"/>
              <a:ea typeface="Times"/>
              <a:cs typeface="Times"/>
              <a:sym typeface="Times"/>
            </a:endParaRPr>
          </a:p>
          <a:p>
            <a:pPr indent="0" lvl="0" marL="0" rtl="0" algn="just">
              <a:lnSpc>
                <a:spcPct val="115000"/>
              </a:lnSpc>
              <a:spcBef>
                <a:spcPts val="1800"/>
              </a:spcBef>
              <a:spcAft>
                <a:spcPts val="0"/>
              </a:spcAft>
              <a:buNone/>
            </a:pPr>
            <a:r>
              <a:rPr b="1" lang="en-US" sz="1800">
                <a:highlight>
                  <a:srgbClr val="FFFFFF"/>
                </a:highlight>
                <a:latin typeface="Times"/>
                <a:ea typeface="Times"/>
                <a:cs typeface="Times"/>
                <a:sym typeface="Times"/>
              </a:rPr>
              <a:t>Importing Modules</a:t>
            </a:r>
            <a:endParaRPr b="1" sz="1800">
              <a:highlight>
                <a:srgbClr val="FFFFFF"/>
              </a:highlight>
              <a:latin typeface="Times"/>
              <a:ea typeface="Times"/>
              <a:cs typeface="Times"/>
              <a:sym typeface="Times"/>
            </a:endParaRPr>
          </a:p>
          <a:p>
            <a:pPr indent="0" lvl="0" marL="0" rtl="0" algn="just">
              <a:lnSpc>
                <a:spcPct val="115000"/>
              </a:lnSpc>
              <a:spcBef>
                <a:spcPts val="400"/>
              </a:spcBef>
              <a:spcAft>
                <a:spcPts val="0"/>
              </a:spcAft>
              <a:buNone/>
            </a:pPr>
            <a:r>
              <a:rPr lang="en-US" sz="1800">
                <a:highlight>
                  <a:srgbClr val="FFFFFF"/>
                </a:highlight>
                <a:latin typeface="Times"/>
                <a:ea typeface="Times"/>
                <a:cs typeface="Times"/>
                <a:sym typeface="Times"/>
              </a:rPr>
              <a:t>Import by the module name:</a:t>
            </a:r>
            <a:endParaRPr sz="1800">
              <a:highlight>
                <a:srgbClr val="FFFFFF"/>
              </a:highlight>
              <a:latin typeface="Times"/>
              <a:ea typeface="Times"/>
              <a:cs typeface="Times"/>
              <a:sym typeface="Times"/>
            </a:endParaRPr>
          </a:p>
          <a:p>
            <a:pPr indent="457200" lvl="0" marL="0" rtl="0" algn="just">
              <a:lnSpc>
                <a:spcPct val="115000"/>
              </a:lnSpc>
              <a:spcBef>
                <a:spcPts val="1200"/>
              </a:spcBef>
              <a:spcAft>
                <a:spcPts val="0"/>
              </a:spcAft>
              <a:buNone/>
            </a:pPr>
            <a:r>
              <a:rPr i="1" lang="en-US" sz="1700">
                <a:highlight>
                  <a:srgbClr val="FFFFFF"/>
                </a:highlight>
                <a:latin typeface="Times"/>
                <a:ea typeface="Times"/>
                <a:cs typeface="Times"/>
                <a:sym typeface="Times"/>
              </a:rPr>
              <a:t>import math</a:t>
            </a:r>
            <a:endParaRPr i="1" sz="1700">
              <a:highlight>
                <a:srgbClr val="FFFFFF"/>
              </a:highlight>
              <a:latin typeface="Times"/>
              <a:ea typeface="Times"/>
              <a:cs typeface="Times"/>
              <a:sym typeface="Times"/>
            </a:endParaRPr>
          </a:p>
          <a:p>
            <a:pPr indent="0" lvl="0" marL="457200" rtl="0" algn="just">
              <a:lnSpc>
                <a:spcPct val="115000"/>
              </a:lnSpc>
              <a:spcBef>
                <a:spcPts val="1200"/>
              </a:spcBef>
              <a:spcAft>
                <a:spcPts val="0"/>
              </a:spcAft>
              <a:buNone/>
            </a:pPr>
            <a:r>
              <a:rPr i="1" lang="en-US" sz="1700">
                <a:highlight>
                  <a:srgbClr val="FFFFFF"/>
                </a:highlight>
                <a:latin typeface="Times"/>
                <a:ea typeface="Times"/>
                <a:cs typeface="Times"/>
                <a:sym typeface="Times"/>
              </a:rPr>
              <a:t>print("Square root of 100:", math.sqrt(100))</a:t>
            </a:r>
            <a:endParaRPr i="1" sz="1700">
              <a:highlight>
                <a:srgbClr val="FFFFFF"/>
              </a:highlight>
              <a:latin typeface="Times"/>
              <a:ea typeface="Times"/>
              <a:cs typeface="Times"/>
              <a:sym typeface="Times"/>
            </a:endParaRPr>
          </a:p>
          <a:p>
            <a:pPr indent="0" lvl="0" marL="0" rtl="0" algn="just">
              <a:lnSpc>
                <a:spcPct val="115000"/>
              </a:lnSpc>
              <a:spcBef>
                <a:spcPts val="0"/>
              </a:spcBef>
              <a:spcAft>
                <a:spcPts val="0"/>
              </a:spcAft>
              <a:buNone/>
            </a:pPr>
            <a:r>
              <a:rPr lang="en-US" sz="1800">
                <a:highlight>
                  <a:srgbClr val="FFFFFF"/>
                </a:highlight>
                <a:latin typeface="Times"/>
                <a:ea typeface="Times"/>
                <a:cs typeface="Times"/>
                <a:sym typeface="Times"/>
              </a:rPr>
              <a:t>Import specific functions or variables from a module using the from keyword:</a:t>
            </a:r>
            <a:endParaRPr sz="1800">
              <a:highlight>
                <a:srgbClr val="FFFFFF"/>
              </a:highlight>
              <a:latin typeface="Times"/>
              <a:ea typeface="Times"/>
              <a:cs typeface="Times"/>
              <a:sym typeface="Times"/>
            </a:endParaRPr>
          </a:p>
          <a:p>
            <a:pPr indent="0" lvl="0" marL="457200" rtl="0" algn="just">
              <a:lnSpc>
                <a:spcPct val="115000"/>
              </a:lnSpc>
              <a:spcBef>
                <a:spcPts val="290"/>
              </a:spcBef>
              <a:spcAft>
                <a:spcPts val="0"/>
              </a:spcAft>
              <a:buNone/>
            </a:pPr>
            <a:r>
              <a:rPr i="1" lang="en-US" sz="1700">
                <a:highlight>
                  <a:srgbClr val="FFFFFF"/>
                </a:highlight>
                <a:latin typeface="Times"/>
                <a:ea typeface="Times"/>
                <a:cs typeface="Times"/>
                <a:sym typeface="Times"/>
              </a:rPr>
              <a:t>from math import sqrt</a:t>
            </a:r>
            <a:endParaRPr i="1" sz="1700">
              <a:highlight>
                <a:srgbClr val="FFFFFF"/>
              </a:highlight>
              <a:latin typeface="Times"/>
              <a:ea typeface="Times"/>
              <a:cs typeface="Times"/>
              <a:sym typeface="Times"/>
            </a:endParaRPr>
          </a:p>
          <a:p>
            <a:pPr indent="0" lvl="0" marL="457200" rtl="0" algn="just">
              <a:lnSpc>
                <a:spcPct val="115000"/>
              </a:lnSpc>
              <a:spcBef>
                <a:spcPts val="0"/>
              </a:spcBef>
              <a:spcAft>
                <a:spcPts val="0"/>
              </a:spcAft>
              <a:buNone/>
            </a:pPr>
            <a:r>
              <a:rPr i="1" lang="en-US" sz="1700">
                <a:highlight>
                  <a:srgbClr val="FFFFFF"/>
                </a:highlight>
                <a:latin typeface="Times"/>
                <a:ea typeface="Times"/>
                <a:cs typeface="Times"/>
                <a:sym typeface="Times"/>
              </a:rPr>
              <a:t>print("Square root of 100:", sqrt(100))</a:t>
            </a:r>
            <a:endParaRPr i="1" sz="1700">
              <a:highlight>
                <a:srgbClr val="FFFFFF"/>
              </a:highlight>
              <a:latin typeface="Times"/>
              <a:ea typeface="Times"/>
              <a:cs typeface="Times"/>
              <a:sym typeface="Times"/>
            </a:endParaRPr>
          </a:p>
          <a:p>
            <a:pPr indent="0" lvl="0" marL="0" rtl="0" algn="just">
              <a:lnSpc>
                <a:spcPct val="115000"/>
              </a:lnSpc>
              <a:spcBef>
                <a:spcPts val="290"/>
              </a:spcBef>
              <a:spcAft>
                <a:spcPts val="0"/>
              </a:spcAft>
              <a:buNone/>
            </a:pPr>
            <a:r>
              <a:t/>
            </a:r>
            <a:endParaRPr sz="1800">
              <a:highlight>
                <a:srgbClr val="FFFFFF"/>
              </a:highlight>
              <a:latin typeface="Times"/>
              <a:ea typeface="Times"/>
              <a:cs typeface="Times"/>
              <a:sym typeface="Times"/>
            </a:endParaRPr>
          </a:p>
        </p:txBody>
      </p:sp>
      <p:sp>
        <p:nvSpPr>
          <p:cNvPr id="1470" name="Google Shape;1470;p1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5" name="Shape 1475"/>
        <p:cNvGrpSpPr/>
        <p:nvPr/>
      </p:nvGrpSpPr>
      <p:grpSpPr>
        <a:xfrm>
          <a:off x="0" y="0"/>
          <a:ext cx="0" cy="0"/>
          <a:chOff x="0" y="0"/>
          <a:chExt cx="0" cy="0"/>
        </a:xfrm>
      </p:grpSpPr>
      <p:sp>
        <p:nvSpPr>
          <p:cNvPr id="1476" name="Google Shape;1476;p182"/>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Built-in </a:t>
            </a:r>
            <a:r>
              <a:rPr b="1" lang="en-US" sz="3000">
                <a:solidFill>
                  <a:srgbClr val="1C3678"/>
                </a:solidFill>
                <a:latin typeface="Trebuchet MS"/>
                <a:ea typeface="Trebuchet MS"/>
                <a:cs typeface="Trebuchet MS"/>
                <a:sym typeface="Trebuchet MS"/>
              </a:rPr>
              <a:t>Modules in Python</a:t>
            </a:r>
            <a:endParaRPr b="1" sz="3000">
              <a:solidFill>
                <a:srgbClr val="1C3678"/>
              </a:solidFill>
              <a:latin typeface="Trebuchet MS"/>
              <a:ea typeface="Trebuchet MS"/>
              <a:cs typeface="Trebuchet MS"/>
              <a:sym typeface="Trebuchet MS"/>
            </a:endParaRPr>
          </a:p>
        </p:txBody>
      </p:sp>
      <p:sp>
        <p:nvSpPr>
          <p:cNvPr id="1477" name="Google Shape;1477;p182"/>
          <p:cNvSpPr txBox="1"/>
          <p:nvPr/>
        </p:nvSpPr>
        <p:spPr>
          <a:xfrm>
            <a:off x="729300" y="835775"/>
            <a:ext cx="8107500" cy="29523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0"/>
              </a:spcBef>
              <a:spcAft>
                <a:spcPts val="0"/>
              </a:spcAft>
              <a:buSzPts val="1800"/>
              <a:buFont typeface="Times"/>
              <a:buChar char="●"/>
            </a:pPr>
            <a:r>
              <a:rPr lang="en-US" sz="1800">
                <a:highlight>
                  <a:srgbClr val="FFFFFF"/>
                </a:highlight>
                <a:latin typeface="Times"/>
                <a:ea typeface="Times"/>
                <a:cs typeface="Times"/>
                <a:sym typeface="Times"/>
              </a:rPr>
              <a:t>Python’s standard library comes bundled with a large number of modules, known as built-in modules. These modules are written in C and pre-compiled into the library. </a:t>
            </a:r>
            <a:endParaRPr sz="1800">
              <a:highlight>
                <a:srgbClr val="FFFFFF"/>
              </a:highlight>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highlight>
                  <a:srgbClr val="FFFFFF"/>
                </a:highlight>
                <a:latin typeface="Times"/>
                <a:ea typeface="Times"/>
                <a:cs typeface="Times"/>
                <a:sym typeface="Times"/>
              </a:rPr>
              <a:t>Some examples of built-in modules include:</a:t>
            </a:r>
            <a:endParaRPr sz="1800">
              <a:highlight>
                <a:srgbClr val="FFFFFF"/>
              </a:highlight>
              <a:latin typeface="Times"/>
              <a:ea typeface="Times"/>
              <a:cs typeface="Times"/>
              <a:sym typeface="Times"/>
            </a:endParaRPr>
          </a:p>
          <a:p>
            <a:pPr indent="-342900" lvl="1" marL="914400" rtl="0" algn="just">
              <a:lnSpc>
                <a:spcPct val="115000"/>
              </a:lnSpc>
              <a:spcBef>
                <a:spcPts val="0"/>
              </a:spcBef>
              <a:spcAft>
                <a:spcPts val="0"/>
              </a:spcAft>
              <a:buSzPts val="1800"/>
              <a:buFont typeface="Tahoma"/>
              <a:buChar char="○"/>
            </a:pPr>
            <a:r>
              <a:rPr b="1" lang="en-US" sz="1800">
                <a:highlight>
                  <a:srgbClr val="FFFFFF"/>
                </a:highlight>
                <a:latin typeface="Times"/>
                <a:ea typeface="Times"/>
                <a:cs typeface="Times"/>
                <a:sym typeface="Times"/>
              </a:rPr>
              <a:t>math:</a:t>
            </a:r>
            <a:r>
              <a:rPr lang="en-US" sz="1800">
                <a:highlight>
                  <a:srgbClr val="FFFFFF"/>
                </a:highlight>
                <a:latin typeface="Times"/>
                <a:ea typeface="Times"/>
                <a:cs typeface="Times"/>
                <a:sym typeface="Times"/>
              </a:rPr>
              <a:t> provides mathematical functions, </a:t>
            </a:r>
            <a:r>
              <a:rPr i="1" lang="en-US" sz="1700">
                <a:highlight>
                  <a:srgbClr val="FFFFFF"/>
                </a:highlight>
                <a:latin typeface="Times"/>
                <a:ea typeface="Times"/>
                <a:cs typeface="Times"/>
                <a:sym typeface="Times"/>
              </a:rPr>
              <a:t>import math</a:t>
            </a:r>
            <a:endParaRPr i="1" sz="1700">
              <a:highlight>
                <a:srgbClr val="FFFFFF"/>
              </a:highlight>
              <a:latin typeface="Times"/>
              <a:ea typeface="Times"/>
              <a:cs typeface="Times"/>
              <a:sym typeface="Times"/>
            </a:endParaRPr>
          </a:p>
          <a:p>
            <a:pPr indent="-342900" lvl="1" marL="914400" rtl="0" algn="just">
              <a:lnSpc>
                <a:spcPct val="115000"/>
              </a:lnSpc>
              <a:spcBef>
                <a:spcPts val="0"/>
              </a:spcBef>
              <a:spcAft>
                <a:spcPts val="0"/>
              </a:spcAft>
              <a:buSzPts val="1800"/>
              <a:buFont typeface="Tahoma"/>
              <a:buChar char="○"/>
            </a:pPr>
            <a:r>
              <a:rPr b="1" lang="en-US" sz="1800">
                <a:highlight>
                  <a:srgbClr val="FFFFFF"/>
                </a:highlight>
                <a:latin typeface="Times"/>
                <a:ea typeface="Times"/>
                <a:cs typeface="Times"/>
                <a:sym typeface="Times"/>
              </a:rPr>
              <a:t>string:</a:t>
            </a:r>
            <a:r>
              <a:rPr lang="en-US" sz="1800">
                <a:highlight>
                  <a:srgbClr val="FFFFFF"/>
                </a:highlight>
                <a:latin typeface="Times"/>
                <a:ea typeface="Times"/>
                <a:cs typeface="Times"/>
                <a:sym typeface="Times"/>
              </a:rPr>
              <a:t> provides string processing functions, </a:t>
            </a:r>
            <a:r>
              <a:rPr i="1" lang="en-US" sz="1700">
                <a:highlight>
                  <a:srgbClr val="FFFFFF"/>
                </a:highlight>
                <a:latin typeface="Times"/>
                <a:ea typeface="Times"/>
                <a:cs typeface="Times"/>
                <a:sym typeface="Times"/>
              </a:rPr>
              <a:t>import string</a:t>
            </a:r>
            <a:endParaRPr i="1" sz="1700">
              <a:highlight>
                <a:srgbClr val="FFFFFF"/>
              </a:highlight>
              <a:latin typeface="Times"/>
              <a:ea typeface="Times"/>
              <a:cs typeface="Times"/>
              <a:sym typeface="Times"/>
            </a:endParaRPr>
          </a:p>
          <a:p>
            <a:pPr indent="-342900" lvl="1" marL="914400" rtl="0" algn="just">
              <a:lnSpc>
                <a:spcPct val="115000"/>
              </a:lnSpc>
              <a:spcBef>
                <a:spcPts val="0"/>
              </a:spcBef>
              <a:spcAft>
                <a:spcPts val="0"/>
              </a:spcAft>
              <a:buSzPts val="1800"/>
              <a:buFont typeface="Tahoma"/>
              <a:buChar char="○"/>
            </a:pPr>
            <a:r>
              <a:rPr b="1" lang="en-US" sz="1800">
                <a:highlight>
                  <a:srgbClr val="FFFFFF"/>
                </a:highlight>
                <a:latin typeface="Times"/>
                <a:ea typeface="Times"/>
                <a:cs typeface="Times"/>
                <a:sym typeface="Times"/>
              </a:rPr>
              <a:t>re:</a:t>
            </a:r>
            <a:r>
              <a:rPr lang="en-US" sz="1800">
                <a:highlight>
                  <a:srgbClr val="FFFFFF"/>
                </a:highlight>
                <a:latin typeface="Times"/>
                <a:ea typeface="Times"/>
                <a:cs typeface="Times"/>
                <a:sym typeface="Times"/>
              </a:rPr>
              <a:t> provides regular expression facilities, </a:t>
            </a:r>
            <a:r>
              <a:rPr i="1" lang="en-US" sz="1700">
                <a:highlight>
                  <a:srgbClr val="FFFFFF"/>
                </a:highlight>
                <a:latin typeface="Times"/>
                <a:ea typeface="Times"/>
                <a:cs typeface="Times"/>
                <a:sym typeface="Times"/>
              </a:rPr>
              <a:t>import re</a:t>
            </a:r>
            <a:endParaRPr i="1" sz="1700">
              <a:highlight>
                <a:srgbClr val="FFFFFF"/>
              </a:highlight>
              <a:latin typeface="Times"/>
              <a:ea typeface="Times"/>
              <a:cs typeface="Times"/>
              <a:sym typeface="Times"/>
            </a:endParaRPr>
          </a:p>
          <a:p>
            <a:pPr indent="-342900" lvl="1" marL="914400" rtl="0" algn="just">
              <a:lnSpc>
                <a:spcPct val="115000"/>
              </a:lnSpc>
              <a:spcBef>
                <a:spcPts val="0"/>
              </a:spcBef>
              <a:spcAft>
                <a:spcPts val="0"/>
              </a:spcAft>
              <a:buSzPts val="1800"/>
              <a:buFont typeface="Tahoma"/>
              <a:buChar char="○"/>
            </a:pPr>
            <a:r>
              <a:rPr b="1" lang="en-US" sz="1800">
                <a:highlight>
                  <a:srgbClr val="FFFFFF"/>
                </a:highlight>
                <a:latin typeface="Times"/>
                <a:ea typeface="Times"/>
                <a:cs typeface="Times"/>
                <a:sym typeface="Times"/>
              </a:rPr>
              <a:t>os:</a:t>
            </a:r>
            <a:r>
              <a:rPr lang="en-US" sz="1800">
                <a:highlight>
                  <a:srgbClr val="FFFFFF"/>
                </a:highlight>
                <a:latin typeface="Times"/>
                <a:ea typeface="Times"/>
                <a:cs typeface="Times"/>
                <a:sym typeface="Times"/>
              </a:rPr>
              <a:t> provides operating system functions, </a:t>
            </a:r>
            <a:r>
              <a:rPr i="1" lang="en-US" sz="1700">
                <a:highlight>
                  <a:srgbClr val="FFFFFF"/>
                </a:highlight>
                <a:latin typeface="Times"/>
                <a:ea typeface="Times"/>
                <a:cs typeface="Times"/>
                <a:sym typeface="Times"/>
              </a:rPr>
              <a:t>import os</a:t>
            </a:r>
            <a:endParaRPr i="1" sz="1700">
              <a:highlight>
                <a:srgbClr val="FFFFFF"/>
              </a:highlight>
              <a:latin typeface="Times"/>
              <a:ea typeface="Times"/>
              <a:cs typeface="Times"/>
              <a:sym typeface="Times"/>
            </a:endParaRPr>
          </a:p>
          <a:p>
            <a:pPr indent="-342900" lvl="1" marL="914400" rtl="0" algn="just">
              <a:lnSpc>
                <a:spcPct val="115000"/>
              </a:lnSpc>
              <a:spcBef>
                <a:spcPts val="0"/>
              </a:spcBef>
              <a:spcAft>
                <a:spcPts val="0"/>
              </a:spcAft>
              <a:buSzPts val="1800"/>
              <a:buFont typeface="Tahoma"/>
              <a:buChar char="○"/>
            </a:pPr>
            <a:r>
              <a:rPr b="1" lang="en-US" sz="1800">
                <a:highlight>
                  <a:srgbClr val="FFFFFF"/>
                </a:highlight>
                <a:latin typeface="Times"/>
                <a:ea typeface="Times"/>
                <a:cs typeface="Times"/>
                <a:sym typeface="Times"/>
              </a:rPr>
              <a:t>sys:</a:t>
            </a:r>
            <a:r>
              <a:rPr lang="en-US" sz="1800">
                <a:highlight>
                  <a:srgbClr val="FFFFFF"/>
                </a:highlight>
                <a:latin typeface="Times"/>
                <a:ea typeface="Times"/>
                <a:cs typeface="Times"/>
                <a:sym typeface="Times"/>
              </a:rPr>
              <a:t> provides system-specific functions, </a:t>
            </a:r>
            <a:r>
              <a:rPr i="1" lang="en-US" sz="1700">
                <a:highlight>
                  <a:srgbClr val="FFFFFF"/>
                </a:highlight>
                <a:latin typeface="Times"/>
                <a:ea typeface="Times"/>
                <a:cs typeface="Times"/>
                <a:sym typeface="Times"/>
              </a:rPr>
              <a:t>import sys</a:t>
            </a:r>
            <a:endParaRPr i="1" sz="1700">
              <a:highlight>
                <a:srgbClr val="FFFFFF"/>
              </a:highlight>
              <a:latin typeface="Times"/>
              <a:ea typeface="Times"/>
              <a:cs typeface="Times"/>
              <a:sym typeface="Times"/>
            </a:endParaRPr>
          </a:p>
        </p:txBody>
      </p:sp>
      <p:sp>
        <p:nvSpPr>
          <p:cNvPr id="1478" name="Google Shape;1478;p18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3" name="Shape 1483"/>
        <p:cNvGrpSpPr/>
        <p:nvPr/>
      </p:nvGrpSpPr>
      <p:grpSpPr>
        <a:xfrm>
          <a:off x="0" y="0"/>
          <a:ext cx="0" cy="0"/>
          <a:chOff x="0" y="0"/>
          <a:chExt cx="0" cy="0"/>
        </a:xfrm>
      </p:grpSpPr>
      <p:sp>
        <p:nvSpPr>
          <p:cNvPr id="1484" name="Google Shape;1484;p183"/>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Modules in Python</a:t>
            </a:r>
            <a:endParaRPr b="1" sz="3000">
              <a:solidFill>
                <a:srgbClr val="1C3678"/>
              </a:solidFill>
              <a:latin typeface="Trebuchet MS"/>
              <a:ea typeface="Trebuchet MS"/>
              <a:cs typeface="Trebuchet MS"/>
              <a:sym typeface="Trebuchet MS"/>
            </a:endParaRPr>
          </a:p>
        </p:txBody>
      </p:sp>
      <p:sp>
        <p:nvSpPr>
          <p:cNvPr id="1485" name="Google Shape;1485;p183"/>
          <p:cNvSpPr txBox="1"/>
          <p:nvPr/>
        </p:nvSpPr>
        <p:spPr>
          <a:xfrm>
            <a:off x="729300" y="835775"/>
            <a:ext cx="8107500" cy="41229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0"/>
              </a:spcBef>
              <a:spcAft>
                <a:spcPts val="0"/>
              </a:spcAft>
              <a:buSzPts val="1800"/>
              <a:buFont typeface="Times"/>
              <a:buChar char="●"/>
            </a:pPr>
            <a:r>
              <a:rPr lang="en-US" sz="1800">
                <a:highlight>
                  <a:srgbClr val="FFFFFF"/>
                </a:highlight>
                <a:latin typeface="Times"/>
                <a:ea typeface="Times"/>
                <a:cs typeface="Times"/>
                <a:sym typeface="Times"/>
              </a:rPr>
              <a:t>A Python module is a file containing Python definitions and statements. A module can define functions, classes, and variables. </a:t>
            </a:r>
            <a:endParaRPr sz="1800">
              <a:highlight>
                <a:srgbClr val="FFFFFF"/>
              </a:highlight>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highlight>
                  <a:srgbClr val="FFFFFF"/>
                </a:highlight>
                <a:latin typeface="Times"/>
                <a:ea typeface="Times"/>
                <a:cs typeface="Times"/>
                <a:sym typeface="Times"/>
              </a:rPr>
              <a:t>A module can also include runnable code.</a:t>
            </a:r>
            <a:endParaRPr sz="1800">
              <a:highlight>
                <a:srgbClr val="FFFFFF"/>
              </a:highlight>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highlight>
                  <a:srgbClr val="FFFFFF"/>
                </a:highlight>
                <a:latin typeface="Times"/>
                <a:ea typeface="Times"/>
                <a:cs typeface="Times"/>
                <a:sym typeface="Times"/>
              </a:rPr>
              <a:t>Grouping related code into a module makes the code easier to understand and use. It also makes the code logically organized.</a:t>
            </a:r>
            <a:endParaRPr sz="1800">
              <a:highlight>
                <a:srgbClr val="FFFFFF"/>
              </a:highlight>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b="1" lang="en-US" sz="1800">
                <a:highlight>
                  <a:srgbClr val="FFFFFF"/>
                </a:highlight>
                <a:latin typeface="Times"/>
                <a:ea typeface="Times"/>
                <a:cs typeface="Times"/>
                <a:sym typeface="Times"/>
              </a:rPr>
              <a:t>Create a Python Module</a:t>
            </a:r>
            <a:endParaRPr b="1" sz="1800">
              <a:highlight>
                <a:srgbClr val="FFFFFF"/>
              </a:highlight>
              <a:latin typeface="Times"/>
              <a:ea typeface="Times"/>
              <a:cs typeface="Times"/>
              <a:sym typeface="Times"/>
            </a:endParaRPr>
          </a:p>
          <a:p>
            <a:pPr indent="-336550" lvl="1" marL="914400" rtl="0" algn="just">
              <a:lnSpc>
                <a:spcPct val="115000"/>
              </a:lnSpc>
              <a:spcBef>
                <a:spcPts val="0"/>
              </a:spcBef>
              <a:spcAft>
                <a:spcPts val="0"/>
              </a:spcAft>
              <a:buSzPts val="1700"/>
              <a:buFont typeface="Tahoma"/>
              <a:buChar char="○"/>
            </a:pPr>
            <a:r>
              <a:rPr lang="en-US" sz="1700">
                <a:highlight>
                  <a:srgbClr val="FFFFFF"/>
                </a:highlight>
                <a:latin typeface="Times"/>
                <a:ea typeface="Times"/>
                <a:cs typeface="Times"/>
                <a:sym typeface="Times"/>
              </a:rPr>
              <a:t>To create a Python module, write the desired code and save that in a file with</a:t>
            </a:r>
            <a:r>
              <a:rPr b="1" lang="en-US" sz="1700">
                <a:highlight>
                  <a:srgbClr val="FFFFFF"/>
                </a:highlight>
                <a:latin typeface="Times"/>
                <a:ea typeface="Times"/>
                <a:cs typeface="Times"/>
                <a:sym typeface="Times"/>
              </a:rPr>
              <a:t> .py </a:t>
            </a:r>
            <a:r>
              <a:rPr lang="en-US" sz="1700">
                <a:highlight>
                  <a:srgbClr val="FFFFFF"/>
                </a:highlight>
                <a:latin typeface="Times"/>
                <a:ea typeface="Times"/>
                <a:cs typeface="Times"/>
                <a:sym typeface="Times"/>
              </a:rPr>
              <a:t>extension.</a:t>
            </a:r>
            <a:endParaRPr sz="1700">
              <a:highlight>
                <a:srgbClr val="FFFFFF"/>
              </a:highlight>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b="1" lang="en-US" sz="1800">
                <a:highlight>
                  <a:schemeClr val="lt1"/>
                </a:highlight>
                <a:latin typeface="Times"/>
                <a:ea typeface="Times"/>
                <a:cs typeface="Times"/>
                <a:sym typeface="Times"/>
              </a:rPr>
              <a:t>Import module in Python</a:t>
            </a:r>
            <a:endParaRPr b="1" sz="1800">
              <a:highlight>
                <a:schemeClr val="lt1"/>
              </a:highlight>
              <a:latin typeface="Times"/>
              <a:ea typeface="Times"/>
              <a:cs typeface="Times"/>
              <a:sym typeface="Times"/>
            </a:endParaRPr>
          </a:p>
          <a:p>
            <a:pPr indent="-336550" lvl="1" marL="914400" rtl="0" algn="just">
              <a:lnSpc>
                <a:spcPct val="115000"/>
              </a:lnSpc>
              <a:spcBef>
                <a:spcPts val="0"/>
              </a:spcBef>
              <a:spcAft>
                <a:spcPts val="0"/>
              </a:spcAft>
              <a:buSzPts val="1700"/>
              <a:buFont typeface="Tahoma"/>
              <a:buChar char="○"/>
            </a:pPr>
            <a:r>
              <a:rPr lang="en-US" sz="1700">
                <a:highlight>
                  <a:schemeClr val="lt1"/>
                </a:highlight>
                <a:latin typeface="Times"/>
                <a:ea typeface="Times"/>
                <a:cs typeface="Times"/>
                <a:sym typeface="Times"/>
              </a:rPr>
              <a:t>We can import the functions, and classes defined in a module to another module using the </a:t>
            </a:r>
            <a:r>
              <a:rPr b="1" lang="en-US" sz="1700">
                <a:highlight>
                  <a:schemeClr val="lt1"/>
                </a:highlight>
                <a:latin typeface="Times"/>
                <a:ea typeface="Times"/>
                <a:cs typeface="Times"/>
                <a:sym typeface="Times"/>
              </a:rPr>
              <a:t>import statement</a:t>
            </a:r>
            <a:r>
              <a:rPr lang="en-US" sz="1700">
                <a:highlight>
                  <a:schemeClr val="lt1"/>
                </a:highlight>
                <a:latin typeface="Times"/>
                <a:ea typeface="Times"/>
                <a:cs typeface="Times"/>
                <a:sym typeface="Times"/>
              </a:rPr>
              <a:t> in some other Python source file.</a:t>
            </a:r>
            <a:endParaRPr sz="1700">
              <a:highlight>
                <a:schemeClr val="lt1"/>
              </a:highlight>
              <a:latin typeface="Times"/>
              <a:ea typeface="Times"/>
              <a:cs typeface="Times"/>
              <a:sym typeface="Times"/>
            </a:endParaRPr>
          </a:p>
          <a:p>
            <a:pPr indent="-336550" lvl="1" marL="914400" rtl="0" algn="just">
              <a:lnSpc>
                <a:spcPct val="115000"/>
              </a:lnSpc>
              <a:spcBef>
                <a:spcPts val="0"/>
              </a:spcBef>
              <a:spcAft>
                <a:spcPts val="0"/>
              </a:spcAft>
              <a:buSzPts val="1700"/>
              <a:buFont typeface="Times"/>
              <a:buChar char="○"/>
            </a:pPr>
            <a:r>
              <a:rPr lang="en-US" sz="1700">
                <a:highlight>
                  <a:schemeClr val="lt1"/>
                </a:highlight>
                <a:latin typeface="Times"/>
                <a:ea typeface="Times"/>
                <a:cs typeface="Times"/>
                <a:sym typeface="Times"/>
              </a:rPr>
              <a:t>When the interpreter encounters an import statement, it imports the module if the module is present in the search path.</a:t>
            </a:r>
            <a:endParaRPr sz="1700">
              <a:highlight>
                <a:srgbClr val="FFFFFF"/>
              </a:highlight>
              <a:latin typeface="Times"/>
              <a:ea typeface="Times"/>
              <a:cs typeface="Times"/>
              <a:sym typeface="Times"/>
            </a:endParaRPr>
          </a:p>
        </p:txBody>
      </p:sp>
      <p:sp>
        <p:nvSpPr>
          <p:cNvPr id="1486" name="Google Shape;1486;p18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1" name="Shape 1491"/>
        <p:cNvGrpSpPr/>
        <p:nvPr/>
      </p:nvGrpSpPr>
      <p:grpSpPr>
        <a:xfrm>
          <a:off x="0" y="0"/>
          <a:ext cx="0" cy="0"/>
          <a:chOff x="0" y="0"/>
          <a:chExt cx="0" cy="0"/>
        </a:xfrm>
      </p:grpSpPr>
      <p:sp>
        <p:nvSpPr>
          <p:cNvPr id="1492" name="Google Shape;1492;p184"/>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Modules in Python</a:t>
            </a:r>
            <a:endParaRPr b="1" sz="3000">
              <a:solidFill>
                <a:srgbClr val="1C3678"/>
              </a:solidFill>
              <a:latin typeface="Trebuchet MS"/>
              <a:ea typeface="Trebuchet MS"/>
              <a:cs typeface="Trebuchet MS"/>
              <a:sym typeface="Trebuchet MS"/>
            </a:endParaRPr>
          </a:p>
        </p:txBody>
      </p:sp>
      <p:sp>
        <p:nvSpPr>
          <p:cNvPr id="1493" name="Google Shape;1493;p184"/>
          <p:cNvSpPr txBox="1"/>
          <p:nvPr/>
        </p:nvSpPr>
        <p:spPr>
          <a:xfrm>
            <a:off x="729300" y="835775"/>
            <a:ext cx="8107500" cy="4224300"/>
          </a:xfrm>
          <a:prstGeom prst="rect">
            <a:avLst/>
          </a:prstGeom>
          <a:noFill/>
          <a:ln>
            <a:noFill/>
          </a:ln>
        </p:spPr>
        <p:txBody>
          <a:bodyPr anchorCtr="0" anchor="t" bIns="0" lIns="0" spcFirstLastPara="1" rIns="0" wrap="square" tIns="125075">
            <a:spAutoFit/>
          </a:bodyPr>
          <a:lstStyle/>
          <a:p>
            <a:pPr indent="-342900" lvl="0" marL="457200" rtl="0" algn="just">
              <a:lnSpc>
                <a:spcPct val="115000"/>
              </a:lnSpc>
              <a:spcBef>
                <a:spcPts val="0"/>
              </a:spcBef>
              <a:spcAft>
                <a:spcPts val="0"/>
              </a:spcAft>
              <a:buSzPts val="1800"/>
              <a:buFont typeface="Times"/>
              <a:buChar char="●"/>
            </a:pPr>
            <a:r>
              <a:rPr lang="en-US" sz="1800">
                <a:highlight>
                  <a:srgbClr val="FFFFFF"/>
                </a:highlight>
                <a:latin typeface="Times"/>
                <a:ea typeface="Times"/>
                <a:cs typeface="Times"/>
                <a:sym typeface="Times"/>
              </a:rPr>
              <a:t>L</a:t>
            </a:r>
            <a:r>
              <a:rPr lang="en-US" sz="1800">
                <a:highlight>
                  <a:srgbClr val="FFFFFF"/>
                </a:highlight>
                <a:latin typeface="Times"/>
                <a:ea typeface="Times"/>
                <a:cs typeface="Times"/>
                <a:sym typeface="Times"/>
              </a:rPr>
              <a:t>et’s create a simple </a:t>
            </a:r>
            <a:r>
              <a:rPr lang="en-US" sz="1800">
                <a:highlight>
                  <a:schemeClr val="lt1"/>
                </a:highlight>
                <a:latin typeface="Times"/>
                <a:ea typeface="Times"/>
                <a:cs typeface="Times"/>
                <a:sym typeface="Times"/>
              </a:rPr>
              <a:t>calculator</a:t>
            </a:r>
            <a:r>
              <a:rPr lang="en-US" sz="1800">
                <a:highlight>
                  <a:srgbClr val="FFFFFF"/>
                </a:highlight>
                <a:latin typeface="Times"/>
                <a:ea typeface="Times"/>
                <a:cs typeface="Times"/>
                <a:sym typeface="Times"/>
              </a:rPr>
              <a:t>.py in which we define two functions.</a:t>
            </a:r>
            <a:endParaRPr sz="1800">
              <a:highlight>
                <a:srgbClr val="FFFFFF"/>
              </a:highlight>
              <a:latin typeface="Times"/>
              <a:ea typeface="Times"/>
              <a:cs typeface="Times"/>
              <a:sym typeface="Times"/>
            </a:endParaRPr>
          </a:p>
          <a:p>
            <a:pPr indent="0" lvl="0" marL="914400" marR="0" rtl="0" algn="just">
              <a:lnSpc>
                <a:spcPct val="115000"/>
              </a:lnSpc>
              <a:spcBef>
                <a:spcPts val="800"/>
              </a:spcBef>
              <a:spcAft>
                <a:spcPts val="0"/>
              </a:spcAft>
              <a:buNone/>
            </a:pPr>
            <a:r>
              <a:rPr i="1" lang="en-US" sz="1700">
                <a:highlight>
                  <a:srgbClr val="FFFFFF"/>
                </a:highlight>
                <a:latin typeface="Times"/>
                <a:ea typeface="Times"/>
                <a:cs typeface="Times"/>
                <a:sym typeface="Times"/>
              </a:rPr>
              <a:t># A simple module, </a:t>
            </a:r>
            <a:r>
              <a:rPr lang="en-US" sz="1800">
                <a:highlight>
                  <a:schemeClr val="lt1"/>
                </a:highlight>
                <a:latin typeface="Times"/>
                <a:ea typeface="Times"/>
                <a:cs typeface="Times"/>
                <a:sym typeface="Times"/>
              </a:rPr>
              <a:t>calculator</a:t>
            </a:r>
            <a:r>
              <a:rPr i="1" lang="en-US" sz="1700">
                <a:highlight>
                  <a:srgbClr val="FFFFFF"/>
                </a:highlight>
                <a:latin typeface="Times"/>
                <a:ea typeface="Times"/>
                <a:cs typeface="Times"/>
                <a:sym typeface="Times"/>
              </a:rPr>
              <a:t>.py</a:t>
            </a:r>
            <a:endParaRPr i="1" sz="1700">
              <a:highlight>
                <a:srgbClr val="FFFFFF"/>
              </a:highlight>
              <a:latin typeface="Times"/>
              <a:ea typeface="Times"/>
              <a:cs typeface="Times"/>
              <a:sym typeface="Times"/>
            </a:endParaRPr>
          </a:p>
          <a:p>
            <a:pPr indent="0" lvl="0" marL="914400" marR="0" rtl="0" algn="just">
              <a:lnSpc>
                <a:spcPct val="115000"/>
              </a:lnSpc>
              <a:spcBef>
                <a:spcPts val="0"/>
              </a:spcBef>
              <a:spcAft>
                <a:spcPts val="0"/>
              </a:spcAft>
              <a:buNone/>
            </a:pPr>
            <a:r>
              <a:rPr i="1" lang="en-US" sz="1700">
                <a:highlight>
                  <a:srgbClr val="FFFFFF"/>
                </a:highlight>
                <a:latin typeface="Times"/>
                <a:ea typeface="Times"/>
                <a:cs typeface="Times"/>
                <a:sym typeface="Times"/>
              </a:rPr>
              <a:t>def add(x, y):</a:t>
            </a:r>
            <a:endParaRPr i="1" sz="1700">
              <a:highlight>
                <a:srgbClr val="FFFFFF"/>
              </a:highlight>
              <a:latin typeface="Times"/>
              <a:ea typeface="Times"/>
              <a:cs typeface="Times"/>
              <a:sym typeface="Times"/>
            </a:endParaRPr>
          </a:p>
          <a:p>
            <a:pPr indent="0" lvl="0" marL="914400" marR="0" rtl="0" algn="just">
              <a:lnSpc>
                <a:spcPct val="115000"/>
              </a:lnSpc>
              <a:spcBef>
                <a:spcPts val="0"/>
              </a:spcBef>
              <a:spcAft>
                <a:spcPts val="0"/>
              </a:spcAft>
              <a:buNone/>
            </a:pPr>
            <a:r>
              <a:rPr i="1" lang="en-US" sz="1700">
                <a:highlight>
                  <a:srgbClr val="FFFFFF"/>
                </a:highlight>
                <a:latin typeface="Times"/>
                <a:ea typeface="Times"/>
                <a:cs typeface="Times"/>
                <a:sym typeface="Times"/>
              </a:rPr>
              <a:t>   return (x+y)</a:t>
            </a:r>
            <a:endParaRPr i="1" sz="1700">
              <a:highlight>
                <a:srgbClr val="FFFFFF"/>
              </a:highlight>
              <a:latin typeface="Times"/>
              <a:ea typeface="Times"/>
              <a:cs typeface="Times"/>
              <a:sym typeface="Times"/>
            </a:endParaRPr>
          </a:p>
          <a:p>
            <a:pPr indent="0" lvl="0" marL="914400" marR="0" rtl="0" algn="just">
              <a:lnSpc>
                <a:spcPct val="115000"/>
              </a:lnSpc>
              <a:spcBef>
                <a:spcPts val="0"/>
              </a:spcBef>
              <a:spcAft>
                <a:spcPts val="0"/>
              </a:spcAft>
              <a:buNone/>
            </a:pPr>
            <a:r>
              <a:rPr i="1" lang="en-US" sz="1700">
                <a:highlight>
                  <a:srgbClr val="FFFFFF"/>
                </a:highlight>
                <a:latin typeface="Times"/>
                <a:ea typeface="Times"/>
                <a:cs typeface="Times"/>
                <a:sym typeface="Times"/>
              </a:rPr>
              <a:t>def subtract(x, y):</a:t>
            </a:r>
            <a:endParaRPr i="1" sz="1700">
              <a:highlight>
                <a:srgbClr val="FFFFFF"/>
              </a:highlight>
              <a:latin typeface="Times"/>
              <a:ea typeface="Times"/>
              <a:cs typeface="Times"/>
              <a:sym typeface="Times"/>
            </a:endParaRPr>
          </a:p>
          <a:p>
            <a:pPr indent="0" lvl="0" marL="914400" marR="0" rtl="0" algn="just">
              <a:lnSpc>
                <a:spcPct val="115000"/>
              </a:lnSpc>
              <a:spcBef>
                <a:spcPts val="0"/>
              </a:spcBef>
              <a:spcAft>
                <a:spcPts val="0"/>
              </a:spcAft>
              <a:buNone/>
            </a:pPr>
            <a:r>
              <a:rPr i="1" lang="en-US" sz="1700">
                <a:highlight>
                  <a:srgbClr val="FFFFFF"/>
                </a:highlight>
                <a:latin typeface="Times"/>
                <a:ea typeface="Times"/>
                <a:cs typeface="Times"/>
                <a:sym typeface="Times"/>
              </a:rPr>
              <a:t>   return (x-y)</a:t>
            </a:r>
            <a:endParaRPr i="1" sz="1700">
              <a:highlight>
                <a:srgbClr val="FFFFFF"/>
              </a:highlight>
              <a:latin typeface="Times"/>
              <a:ea typeface="Times"/>
              <a:cs typeface="Times"/>
              <a:sym typeface="Times"/>
            </a:endParaRPr>
          </a:p>
          <a:p>
            <a:pPr indent="-342900" lvl="0" marL="457200" marR="0" rtl="0" algn="just">
              <a:lnSpc>
                <a:spcPct val="115000"/>
              </a:lnSpc>
              <a:spcBef>
                <a:spcPts val="0"/>
              </a:spcBef>
              <a:spcAft>
                <a:spcPts val="0"/>
              </a:spcAft>
              <a:buSzPts val="1800"/>
              <a:buFont typeface="Times"/>
              <a:buChar char="●"/>
            </a:pPr>
            <a:r>
              <a:rPr lang="en-US" sz="1800">
                <a:highlight>
                  <a:srgbClr val="FFFFFF"/>
                </a:highlight>
                <a:latin typeface="Times"/>
                <a:ea typeface="Times"/>
                <a:cs typeface="Times"/>
                <a:sym typeface="Times"/>
              </a:rPr>
              <a:t>Let’s import the function from </a:t>
            </a:r>
            <a:r>
              <a:rPr lang="en-US" sz="1800">
                <a:highlight>
                  <a:schemeClr val="lt1"/>
                </a:highlight>
                <a:latin typeface="Times"/>
                <a:ea typeface="Times"/>
                <a:cs typeface="Times"/>
                <a:sym typeface="Times"/>
              </a:rPr>
              <a:t>calculator</a:t>
            </a:r>
            <a:r>
              <a:rPr lang="en-US" sz="1800">
                <a:highlight>
                  <a:srgbClr val="FFFFFF"/>
                </a:highlight>
                <a:latin typeface="Times"/>
                <a:ea typeface="Times"/>
                <a:cs typeface="Times"/>
                <a:sym typeface="Times"/>
              </a:rPr>
              <a:t>.py file </a:t>
            </a:r>
            <a:endParaRPr sz="1800">
              <a:highlight>
                <a:srgbClr val="FFFFFF"/>
              </a:highlight>
              <a:latin typeface="Times"/>
              <a:ea typeface="Times"/>
              <a:cs typeface="Times"/>
              <a:sym typeface="Times"/>
            </a:endParaRPr>
          </a:p>
          <a:p>
            <a:pPr indent="0" lvl="0" marL="914400" marR="0" rtl="0" algn="just">
              <a:lnSpc>
                <a:spcPct val="115000"/>
              </a:lnSpc>
              <a:spcBef>
                <a:spcPts val="0"/>
              </a:spcBef>
              <a:spcAft>
                <a:spcPts val="0"/>
              </a:spcAft>
              <a:buNone/>
            </a:pPr>
            <a:r>
              <a:rPr i="1" lang="en-US" sz="1700">
                <a:highlight>
                  <a:srgbClr val="FFFFFF"/>
                </a:highlight>
                <a:latin typeface="Times"/>
                <a:ea typeface="Times"/>
                <a:cs typeface="Times"/>
                <a:sym typeface="Times"/>
              </a:rPr>
              <a:t># calc.py, importing  module calculator.py</a:t>
            </a:r>
            <a:endParaRPr i="1" sz="1700">
              <a:highlight>
                <a:srgbClr val="FFFFFF"/>
              </a:highlight>
              <a:latin typeface="Times"/>
              <a:ea typeface="Times"/>
              <a:cs typeface="Times"/>
              <a:sym typeface="Times"/>
            </a:endParaRPr>
          </a:p>
          <a:p>
            <a:pPr indent="0" lvl="0" marL="914400" marR="0" rtl="0" algn="just">
              <a:lnSpc>
                <a:spcPct val="115000"/>
              </a:lnSpc>
              <a:spcBef>
                <a:spcPts val="0"/>
              </a:spcBef>
              <a:spcAft>
                <a:spcPts val="0"/>
              </a:spcAft>
              <a:buNone/>
            </a:pPr>
            <a:r>
              <a:rPr i="1" lang="en-US" sz="1700">
                <a:highlight>
                  <a:srgbClr val="FFFFFF"/>
                </a:highlight>
                <a:latin typeface="Times"/>
                <a:ea typeface="Times"/>
                <a:cs typeface="Times"/>
                <a:sym typeface="Times"/>
              </a:rPr>
              <a:t>import </a:t>
            </a:r>
            <a:r>
              <a:rPr i="1" lang="en-US" sz="1700">
                <a:highlight>
                  <a:schemeClr val="lt1"/>
                </a:highlight>
                <a:latin typeface="Times"/>
                <a:ea typeface="Times"/>
                <a:cs typeface="Times"/>
                <a:sym typeface="Times"/>
              </a:rPr>
              <a:t>calculator</a:t>
            </a:r>
            <a:endParaRPr i="1" sz="1700">
              <a:highlight>
                <a:srgbClr val="FFFFFF"/>
              </a:highlight>
              <a:latin typeface="Times"/>
              <a:ea typeface="Times"/>
              <a:cs typeface="Times"/>
              <a:sym typeface="Times"/>
            </a:endParaRPr>
          </a:p>
          <a:p>
            <a:pPr indent="0" lvl="0" marL="914400" marR="0" rtl="0" algn="just">
              <a:lnSpc>
                <a:spcPct val="115000"/>
              </a:lnSpc>
              <a:spcBef>
                <a:spcPts val="0"/>
              </a:spcBef>
              <a:spcAft>
                <a:spcPts val="0"/>
              </a:spcAft>
              <a:buNone/>
            </a:pPr>
            <a:r>
              <a:rPr i="1" lang="en-US" sz="1700">
                <a:highlight>
                  <a:srgbClr val="FFFFFF"/>
                </a:highlight>
                <a:latin typeface="Times"/>
                <a:ea typeface="Times"/>
                <a:cs typeface="Times"/>
                <a:sym typeface="Times"/>
              </a:rPr>
              <a:t>print(</a:t>
            </a:r>
            <a:r>
              <a:rPr i="1" lang="en-US" sz="1700">
                <a:highlight>
                  <a:schemeClr val="lt1"/>
                </a:highlight>
                <a:latin typeface="Times"/>
                <a:ea typeface="Times"/>
                <a:cs typeface="Times"/>
                <a:sym typeface="Times"/>
              </a:rPr>
              <a:t>calculator</a:t>
            </a:r>
            <a:r>
              <a:rPr i="1" lang="en-US" sz="1700">
                <a:highlight>
                  <a:srgbClr val="FFFFFF"/>
                </a:highlight>
                <a:latin typeface="Times"/>
                <a:ea typeface="Times"/>
                <a:cs typeface="Times"/>
                <a:sym typeface="Times"/>
              </a:rPr>
              <a:t>.add(10, 2))</a:t>
            </a:r>
            <a:endParaRPr i="1" sz="1700">
              <a:highlight>
                <a:srgbClr val="FFFFFF"/>
              </a:highlight>
              <a:latin typeface="Times"/>
              <a:ea typeface="Times"/>
              <a:cs typeface="Times"/>
              <a:sym typeface="Times"/>
            </a:endParaRPr>
          </a:p>
          <a:p>
            <a:pPr indent="0" lvl="0" marL="914400" marR="0" rtl="0" algn="just">
              <a:lnSpc>
                <a:spcPct val="115000"/>
              </a:lnSpc>
              <a:spcBef>
                <a:spcPts val="0"/>
              </a:spcBef>
              <a:spcAft>
                <a:spcPts val="0"/>
              </a:spcAft>
              <a:buNone/>
            </a:pPr>
            <a:r>
              <a:rPr i="1" lang="en-US" sz="1700">
                <a:highlight>
                  <a:schemeClr val="lt1"/>
                </a:highlight>
                <a:latin typeface="Times"/>
                <a:ea typeface="Times"/>
                <a:cs typeface="Times"/>
                <a:sym typeface="Times"/>
              </a:rPr>
              <a:t>print(calculator.calculator(10, 2))</a:t>
            </a:r>
            <a:endParaRPr i="1" sz="1700">
              <a:highlight>
                <a:srgbClr val="FFFFFF"/>
              </a:highlight>
              <a:latin typeface="Times"/>
              <a:ea typeface="Times"/>
              <a:cs typeface="Times"/>
              <a:sym typeface="Times"/>
            </a:endParaRPr>
          </a:p>
          <a:p>
            <a:pPr indent="457200" lvl="0" marL="0" rtl="0" algn="just">
              <a:lnSpc>
                <a:spcPct val="115000"/>
              </a:lnSpc>
              <a:spcBef>
                <a:spcPts val="0"/>
              </a:spcBef>
              <a:spcAft>
                <a:spcPts val="0"/>
              </a:spcAft>
              <a:buNone/>
            </a:pPr>
            <a:r>
              <a:rPr b="1" i="1" lang="en-US" sz="1600">
                <a:highlight>
                  <a:srgbClr val="FFFFFF"/>
                </a:highlight>
                <a:latin typeface="Times"/>
                <a:ea typeface="Times"/>
                <a:cs typeface="Times"/>
                <a:sym typeface="Times"/>
              </a:rPr>
              <a:t>Output:  </a:t>
            </a:r>
            <a:r>
              <a:rPr i="1" lang="en-US" sz="1600">
                <a:highlight>
                  <a:srgbClr val="FFFFFF"/>
                </a:highlight>
                <a:latin typeface="Times"/>
                <a:ea typeface="Times"/>
                <a:cs typeface="Times"/>
                <a:sym typeface="Times"/>
              </a:rPr>
              <a:t>12</a:t>
            </a:r>
            <a:endParaRPr i="1" sz="1600">
              <a:highlight>
                <a:srgbClr val="FFFFFF"/>
              </a:highlight>
              <a:latin typeface="Times"/>
              <a:ea typeface="Times"/>
              <a:cs typeface="Times"/>
              <a:sym typeface="Times"/>
            </a:endParaRPr>
          </a:p>
          <a:p>
            <a:pPr indent="457200" lvl="0" marL="0" rtl="0" algn="just">
              <a:lnSpc>
                <a:spcPct val="115000"/>
              </a:lnSpc>
              <a:spcBef>
                <a:spcPts val="800"/>
              </a:spcBef>
              <a:spcAft>
                <a:spcPts val="800"/>
              </a:spcAft>
              <a:buNone/>
            </a:pPr>
            <a:r>
              <a:rPr i="1" lang="en-US" sz="1600">
                <a:highlight>
                  <a:srgbClr val="FFFFFF"/>
                </a:highlight>
                <a:latin typeface="Times"/>
                <a:ea typeface="Times"/>
                <a:cs typeface="Times"/>
                <a:sym typeface="Times"/>
              </a:rPr>
              <a:t>		8</a:t>
            </a:r>
            <a:endParaRPr i="1" sz="1600">
              <a:highlight>
                <a:srgbClr val="FFFFFF"/>
              </a:highlight>
              <a:latin typeface="Times"/>
              <a:ea typeface="Times"/>
              <a:cs typeface="Times"/>
              <a:sym typeface="Times"/>
            </a:endParaRPr>
          </a:p>
        </p:txBody>
      </p:sp>
      <p:sp>
        <p:nvSpPr>
          <p:cNvPr id="1494" name="Google Shape;1494;p18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9" name="Shape 1499"/>
        <p:cNvGrpSpPr/>
        <p:nvPr/>
      </p:nvGrpSpPr>
      <p:grpSpPr>
        <a:xfrm>
          <a:off x="0" y="0"/>
          <a:ext cx="0" cy="0"/>
          <a:chOff x="0" y="0"/>
          <a:chExt cx="0" cy="0"/>
        </a:xfrm>
      </p:grpSpPr>
      <p:sp>
        <p:nvSpPr>
          <p:cNvPr id="1500" name="Google Shape;1500;p185"/>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Import From </a:t>
            </a:r>
            <a:r>
              <a:rPr b="1" lang="en-US" sz="3000">
                <a:solidFill>
                  <a:srgbClr val="1C3678"/>
                </a:solidFill>
                <a:latin typeface="Trebuchet MS"/>
                <a:ea typeface="Trebuchet MS"/>
                <a:cs typeface="Trebuchet MS"/>
                <a:sym typeface="Trebuchet MS"/>
              </a:rPr>
              <a:t>Modules</a:t>
            </a:r>
            <a:endParaRPr b="1" sz="3000">
              <a:solidFill>
                <a:srgbClr val="1C3678"/>
              </a:solidFill>
              <a:latin typeface="Trebuchet MS"/>
              <a:ea typeface="Trebuchet MS"/>
              <a:cs typeface="Trebuchet MS"/>
              <a:sym typeface="Trebuchet MS"/>
            </a:endParaRPr>
          </a:p>
        </p:txBody>
      </p:sp>
      <p:sp>
        <p:nvSpPr>
          <p:cNvPr id="1501" name="Google Shape;1501;p185"/>
          <p:cNvSpPr txBox="1"/>
          <p:nvPr/>
        </p:nvSpPr>
        <p:spPr>
          <a:xfrm>
            <a:off x="729300" y="835775"/>
            <a:ext cx="8107500" cy="4256700"/>
          </a:xfrm>
          <a:prstGeom prst="rect">
            <a:avLst/>
          </a:prstGeom>
          <a:noFill/>
          <a:ln>
            <a:noFill/>
          </a:ln>
        </p:spPr>
        <p:txBody>
          <a:bodyPr anchorCtr="0" anchor="t" bIns="0" lIns="0" spcFirstLastPara="1" rIns="0" wrap="square" tIns="125075">
            <a:spAutoFit/>
          </a:bodyPr>
          <a:lstStyle/>
          <a:p>
            <a:pPr indent="0" lvl="0" marL="0" rtl="0" algn="just">
              <a:lnSpc>
                <a:spcPct val="100000"/>
              </a:lnSpc>
              <a:spcBef>
                <a:spcPts val="0"/>
              </a:spcBef>
              <a:spcAft>
                <a:spcPts val="0"/>
              </a:spcAft>
              <a:buNone/>
            </a:pPr>
            <a:r>
              <a:rPr lang="en-US" sz="1800">
                <a:highlight>
                  <a:srgbClr val="FFFFFF"/>
                </a:highlight>
                <a:latin typeface="Times"/>
                <a:ea typeface="Times"/>
                <a:cs typeface="Times"/>
                <a:sym typeface="Times"/>
              </a:rPr>
              <a:t>Python’s from statement lets you import specific attributes from a module without importing the module as a whole.</a:t>
            </a:r>
            <a:endParaRPr sz="1800">
              <a:highlight>
                <a:srgbClr val="FFFFFF"/>
              </a:highlight>
              <a:latin typeface="Times"/>
              <a:ea typeface="Times"/>
              <a:cs typeface="Times"/>
              <a:sym typeface="Times"/>
            </a:endParaRPr>
          </a:p>
          <a:p>
            <a:pPr indent="-342900" lvl="0" marL="457200" rtl="0" algn="just">
              <a:lnSpc>
                <a:spcPct val="100000"/>
              </a:lnSpc>
              <a:spcBef>
                <a:spcPts val="1800"/>
              </a:spcBef>
              <a:spcAft>
                <a:spcPts val="0"/>
              </a:spcAft>
              <a:buSzPts val="1800"/>
              <a:buFont typeface="Tahoma"/>
              <a:buChar char="●"/>
            </a:pPr>
            <a:r>
              <a:rPr b="1" lang="en-US" sz="1800">
                <a:highlight>
                  <a:srgbClr val="FFFFFF"/>
                </a:highlight>
                <a:latin typeface="Times"/>
                <a:ea typeface="Times"/>
                <a:cs typeface="Times"/>
                <a:sym typeface="Times"/>
              </a:rPr>
              <a:t>Import Specific Attributes from a Python module: </a:t>
            </a:r>
            <a:r>
              <a:rPr lang="en-US" sz="1800">
                <a:highlight>
                  <a:srgbClr val="FFFFFF"/>
                </a:highlight>
                <a:latin typeface="Times"/>
                <a:ea typeface="Times"/>
                <a:cs typeface="Times"/>
                <a:sym typeface="Times"/>
              </a:rPr>
              <a:t>Here, we are importing specific sqrt and factorial attributes from the math module.</a:t>
            </a:r>
            <a:endParaRPr sz="1800">
              <a:highlight>
                <a:srgbClr val="FFFFFF"/>
              </a:highlight>
              <a:latin typeface="Times"/>
              <a:ea typeface="Times"/>
              <a:cs typeface="Times"/>
              <a:sym typeface="Times"/>
            </a:endParaRPr>
          </a:p>
          <a:p>
            <a:pPr indent="0" lvl="0" marL="914400" marR="0" rtl="0" algn="just">
              <a:lnSpc>
                <a:spcPct val="100000"/>
              </a:lnSpc>
              <a:spcBef>
                <a:spcPts val="1800"/>
              </a:spcBef>
              <a:spcAft>
                <a:spcPts val="0"/>
              </a:spcAft>
              <a:buNone/>
            </a:pPr>
            <a:r>
              <a:rPr i="1" lang="en-US" sz="1700">
                <a:highlight>
                  <a:srgbClr val="FFFFFF"/>
                </a:highlight>
                <a:latin typeface="Times"/>
                <a:ea typeface="Times"/>
                <a:cs typeface="Times"/>
                <a:sym typeface="Times"/>
              </a:rPr>
              <a:t># importing sqrt() and factorial from the module math</a:t>
            </a:r>
            <a:endParaRPr i="1" sz="1700">
              <a:highlight>
                <a:srgbClr val="FFFFFF"/>
              </a:highlight>
              <a:latin typeface="Times"/>
              <a:ea typeface="Times"/>
              <a:cs typeface="Times"/>
              <a:sym typeface="Times"/>
            </a:endParaRPr>
          </a:p>
          <a:p>
            <a:pPr indent="0" lvl="0" marL="914400" marR="0" rtl="0" algn="just">
              <a:lnSpc>
                <a:spcPct val="100000"/>
              </a:lnSpc>
              <a:spcBef>
                <a:spcPts val="0"/>
              </a:spcBef>
              <a:spcAft>
                <a:spcPts val="0"/>
              </a:spcAft>
              <a:buNone/>
            </a:pPr>
            <a:r>
              <a:rPr i="1" lang="en-US" sz="1700">
                <a:highlight>
                  <a:srgbClr val="FFFFFF"/>
                </a:highlight>
                <a:latin typeface="Times"/>
                <a:ea typeface="Times"/>
                <a:cs typeface="Times"/>
                <a:sym typeface="Times"/>
              </a:rPr>
              <a:t>from math import sqrt, factorial</a:t>
            </a:r>
            <a:endParaRPr i="1" sz="1700">
              <a:highlight>
                <a:srgbClr val="FFFFFF"/>
              </a:highlight>
              <a:latin typeface="Times"/>
              <a:ea typeface="Times"/>
              <a:cs typeface="Times"/>
              <a:sym typeface="Times"/>
            </a:endParaRPr>
          </a:p>
          <a:p>
            <a:pPr indent="0" lvl="0" marL="914400" marR="0" rtl="0" algn="just">
              <a:lnSpc>
                <a:spcPct val="100000"/>
              </a:lnSpc>
              <a:spcBef>
                <a:spcPts val="0"/>
              </a:spcBef>
              <a:spcAft>
                <a:spcPts val="0"/>
              </a:spcAft>
              <a:buNone/>
            </a:pPr>
            <a:r>
              <a:rPr i="1" lang="en-US" sz="1700">
                <a:highlight>
                  <a:srgbClr val="FFFFFF"/>
                </a:highlight>
                <a:latin typeface="Times"/>
                <a:ea typeface="Times"/>
                <a:cs typeface="Times"/>
                <a:sym typeface="Times"/>
              </a:rPr>
              <a:t># if we simply do "import math", then</a:t>
            </a:r>
            <a:endParaRPr i="1" sz="1700">
              <a:highlight>
                <a:srgbClr val="FFFFFF"/>
              </a:highlight>
              <a:latin typeface="Times"/>
              <a:ea typeface="Times"/>
              <a:cs typeface="Times"/>
              <a:sym typeface="Times"/>
            </a:endParaRPr>
          </a:p>
          <a:p>
            <a:pPr indent="0" lvl="0" marL="914400" marR="0" rtl="0" algn="just">
              <a:lnSpc>
                <a:spcPct val="100000"/>
              </a:lnSpc>
              <a:spcBef>
                <a:spcPts val="0"/>
              </a:spcBef>
              <a:spcAft>
                <a:spcPts val="0"/>
              </a:spcAft>
              <a:buNone/>
            </a:pPr>
            <a:r>
              <a:rPr i="1" lang="en-US" sz="1700">
                <a:highlight>
                  <a:srgbClr val="FFFFFF"/>
                </a:highlight>
                <a:latin typeface="Times"/>
                <a:ea typeface="Times"/>
                <a:cs typeface="Times"/>
                <a:sym typeface="Times"/>
              </a:rPr>
              <a:t># </a:t>
            </a:r>
            <a:r>
              <a:rPr i="1" lang="en-US" sz="1700">
                <a:highlight>
                  <a:srgbClr val="FFFFFF"/>
                </a:highlight>
                <a:latin typeface="Times"/>
                <a:ea typeface="Times"/>
                <a:cs typeface="Times"/>
                <a:sym typeface="Times"/>
              </a:rPr>
              <a:t>math.sqrt(16) and math.factorial() # are required.</a:t>
            </a:r>
            <a:endParaRPr i="1" sz="1700">
              <a:highlight>
                <a:srgbClr val="FFFFFF"/>
              </a:highlight>
              <a:latin typeface="Times"/>
              <a:ea typeface="Times"/>
              <a:cs typeface="Times"/>
              <a:sym typeface="Times"/>
            </a:endParaRPr>
          </a:p>
          <a:p>
            <a:pPr indent="0" lvl="0" marL="914400" marR="0" rtl="0" algn="just">
              <a:lnSpc>
                <a:spcPct val="100000"/>
              </a:lnSpc>
              <a:spcBef>
                <a:spcPts val="0"/>
              </a:spcBef>
              <a:spcAft>
                <a:spcPts val="0"/>
              </a:spcAft>
              <a:buNone/>
            </a:pPr>
            <a:r>
              <a:rPr i="1" lang="en-US" sz="1700">
                <a:highlight>
                  <a:srgbClr val="FFFFFF"/>
                </a:highlight>
                <a:latin typeface="Times"/>
                <a:ea typeface="Times"/>
                <a:cs typeface="Times"/>
                <a:sym typeface="Times"/>
              </a:rPr>
              <a:t>print(sqrt(16))</a:t>
            </a:r>
            <a:endParaRPr i="1" sz="1700">
              <a:highlight>
                <a:srgbClr val="FFFFFF"/>
              </a:highlight>
              <a:latin typeface="Times"/>
              <a:ea typeface="Times"/>
              <a:cs typeface="Times"/>
              <a:sym typeface="Times"/>
            </a:endParaRPr>
          </a:p>
          <a:p>
            <a:pPr indent="0" lvl="0" marL="914400" marR="0" rtl="0" algn="just">
              <a:lnSpc>
                <a:spcPct val="100000"/>
              </a:lnSpc>
              <a:spcBef>
                <a:spcPts val="0"/>
              </a:spcBef>
              <a:spcAft>
                <a:spcPts val="0"/>
              </a:spcAft>
              <a:buNone/>
            </a:pPr>
            <a:r>
              <a:rPr i="1" lang="en-US" sz="1700">
                <a:highlight>
                  <a:srgbClr val="FFFFFF"/>
                </a:highlight>
                <a:latin typeface="Times"/>
                <a:ea typeface="Times"/>
                <a:cs typeface="Times"/>
                <a:sym typeface="Times"/>
              </a:rPr>
              <a:t>print(factorial(6))</a:t>
            </a:r>
            <a:endParaRPr i="1" sz="1700">
              <a:highlight>
                <a:srgbClr val="FFFFFF"/>
              </a:highlight>
              <a:latin typeface="Times"/>
              <a:ea typeface="Times"/>
              <a:cs typeface="Times"/>
              <a:sym typeface="Times"/>
            </a:endParaRPr>
          </a:p>
          <a:p>
            <a:pPr indent="0" lvl="0" marL="457200" rtl="0" algn="just">
              <a:lnSpc>
                <a:spcPct val="100000"/>
              </a:lnSpc>
              <a:spcBef>
                <a:spcPts val="0"/>
              </a:spcBef>
              <a:spcAft>
                <a:spcPts val="0"/>
              </a:spcAft>
              <a:buNone/>
            </a:pPr>
            <a:r>
              <a:rPr b="1" i="1" lang="en-US" sz="1700">
                <a:highlight>
                  <a:srgbClr val="FFFFFF"/>
                </a:highlight>
                <a:latin typeface="Times"/>
                <a:ea typeface="Times"/>
                <a:cs typeface="Times"/>
                <a:sym typeface="Times"/>
              </a:rPr>
              <a:t>Output: </a:t>
            </a:r>
            <a:endParaRPr b="1" i="1" sz="1700">
              <a:highlight>
                <a:srgbClr val="FFFFFF"/>
              </a:highlight>
              <a:latin typeface="Times"/>
              <a:ea typeface="Times"/>
              <a:cs typeface="Times"/>
              <a:sym typeface="Times"/>
            </a:endParaRPr>
          </a:p>
          <a:p>
            <a:pPr indent="0" lvl="0" marL="914400" marR="190500" rtl="0" algn="just">
              <a:lnSpc>
                <a:spcPct val="100000"/>
              </a:lnSpc>
              <a:spcBef>
                <a:spcPts val="800"/>
              </a:spcBef>
              <a:spcAft>
                <a:spcPts val="0"/>
              </a:spcAft>
              <a:buNone/>
            </a:pPr>
            <a:r>
              <a:rPr i="1" lang="en-US" sz="1700">
                <a:highlight>
                  <a:srgbClr val="FFFFFF"/>
                </a:highlight>
                <a:latin typeface="Times"/>
                <a:ea typeface="Times"/>
                <a:cs typeface="Times"/>
                <a:sym typeface="Times"/>
              </a:rPr>
              <a:t>4.0</a:t>
            </a:r>
            <a:endParaRPr i="1" sz="1700">
              <a:highlight>
                <a:srgbClr val="FFFFFF"/>
              </a:highlight>
              <a:latin typeface="Times"/>
              <a:ea typeface="Times"/>
              <a:cs typeface="Times"/>
              <a:sym typeface="Times"/>
            </a:endParaRPr>
          </a:p>
          <a:p>
            <a:pPr indent="0" lvl="0" marL="914400" marR="190500" rtl="0" algn="just">
              <a:lnSpc>
                <a:spcPct val="100000"/>
              </a:lnSpc>
              <a:spcBef>
                <a:spcPts val="800"/>
              </a:spcBef>
              <a:spcAft>
                <a:spcPts val="800"/>
              </a:spcAft>
              <a:buNone/>
            </a:pPr>
            <a:r>
              <a:rPr i="1" lang="en-US" sz="1700">
                <a:highlight>
                  <a:srgbClr val="FFFFFF"/>
                </a:highlight>
                <a:latin typeface="Times"/>
                <a:ea typeface="Times"/>
                <a:cs typeface="Times"/>
                <a:sym typeface="Times"/>
              </a:rPr>
              <a:t>720</a:t>
            </a:r>
            <a:endParaRPr sz="1800">
              <a:highlight>
                <a:srgbClr val="FFFFFF"/>
              </a:highlight>
              <a:latin typeface="Times"/>
              <a:ea typeface="Times"/>
              <a:cs typeface="Times"/>
              <a:sym typeface="Times"/>
            </a:endParaRPr>
          </a:p>
        </p:txBody>
      </p:sp>
      <p:sp>
        <p:nvSpPr>
          <p:cNvPr id="1502" name="Google Shape;1502;p1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7" name="Shape 1507"/>
        <p:cNvGrpSpPr/>
        <p:nvPr/>
      </p:nvGrpSpPr>
      <p:grpSpPr>
        <a:xfrm>
          <a:off x="0" y="0"/>
          <a:ext cx="0" cy="0"/>
          <a:chOff x="0" y="0"/>
          <a:chExt cx="0" cy="0"/>
        </a:xfrm>
      </p:grpSpPr>
      <p:sp>
        <p:nvSpPr>
          <p:cNvPr id="1508" name="Google Shape;1508;p186"/>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Import All From Modules</a:t>
            </a:r>
            <a:endParaRPr b="1" sz="3000">
              <a:solidFill>
                <a:srgbClr val="1C3678"/>
              </a:solidFill>
              <a:latin typeface="Trebuchet MS"/>
              <a:ea typeface="Trebuchet MS"/>
              <a:cs typeface="Trebuchet MS"/>
              <a:sym typeface="Trebuchet MS"/>
            </a:endParaRPr>
          </a:p>
        </p:txBody>
      </p:sp>
      <p:sp>
        <p:nvSpPr>
          <p:cNvPr id="1509" name="Google Shape;1509;p186"/>
          <p:cNvSpPr txBox="1"/>
          <p:nvPr/>
        </p:nvSpPr>
        <p:spPr>
          <a:xfrm>
            <a:off x="729300" y="835775"/>
            <a:ext cx="8107500" cy="3995100"/>
          </a:xfrm>
          <a:prstGeom prst="rect">
            <a:avLst/>
          </a:prstGeom>
          <a:noFill/>
          <a:ln>
            <a:noFill/>
          </a:ln>
        </p:spPr>
        <p:txBody>
          <a:bodyPr anchorCtr="0" anchor="t" bIns="0" lIns="0" spcFirstLastPara="1" rIns="0" wrap="square" tIns="125075">
            <a:spAutoFit/>
          </a:bodyPr>
          <a:lstStyle/>
          <a:p>
            <a:pPr indent="-336550" lvl="0" marL="457200" rtl="0" algn="just">
              <a:lnSpc>
                <a:spcPct val="115000"/>
              </a:lnSpc>
              <a:spcBef>
                <a:spcPts val="0"/>
              </a:spcBef>
              <a:spcAft>
                <a:spcPts val="0"/>
              </a:spcAft>
              <a:buSzPts val="1700"/>
              <a:buFont typeface="Times"/>
              <a:buChar char="●"/>
            </a:pPr>
            <a:r>
              <a:rPr lang="en-US" sz="1700">
                <a:highlight>
                  <a:srgbClr val="FFFFFF"/>
                </a:highlight>
                <a:latin typeface="Times"/>
                <a:ea typeface="Times"/>
                <a:cs typeface="Times"/>
                <a:sym typeface="Times"/>
              </a:rPr>
              <a:t>The * symbol used with the import statement is used to import all the names from a module to a current namespace.</a:t>
            </a:r>
            <a:endParaRPr sz="1700">
              <a:highlight>
                <a:srgbClr val="FFFFFF"/>
              </a:highlight>
              <a:latin typeface="Times"/>
              <a:ea typeface="Times"/>
              <a:cs typeface="Times"/>
              <a:sym typeface="Times"/>
            </a:endParaRPr>
          </a:p>
          <a:p>
            <a:pPr indent="-336550" lvl="0" marL="457200" rtl="0" algn="just">
              <a:lnSpc>
                <a:spcPct val="115000"/>
              </a:lnSpc>
              <a:spcBef>
                <a:spcPts val="0"/>
              </a:spcBef>
              <a:spcAft>
                <a:spcPts val="0"/>
              </a:spcAft>
              <a:buSzPts val="1700"/>
              <a:buFont typeface="Times"/>
              <a:buChar char="●"/>
            </a:pPr>
            <a:r>
              <a:rPr b="1" lang="en-US" sz="1700">
                <a:highlight>
                  <a:srgbClr val="FFFFFF"/>
                </a:highlight>
                <a:latin typeface="Times"/>
                <a:ea typeface="Times"/>
                <a:cs typeface="Times"/>
                <a:sym typeface="Times"/>
              </a:rPr>
              <a:t>Syntax:</a:t>
            </a:r>
            <a:endParaRPr b="1" sz="1700">
              <a:highlight>
                <a:srgbClr val="FFFFFF"/>
              </a:highlight>
              <a:latin typeface="Times"/>
              <a:ea typeface="Times"/>
              <a:cs typeface="Times"/>
              <a:sym typeface="Times"/>
            </a:endParaRPr>
          </a:p>
          <a:p>
            <a:pPr indent="-336550" lvl="1" marL="914400" rtl="0" algn="just">
              <a:lnSpc>
                <a:spcPct val="115000"/>
              </a:lnSpc>
              <a:spcBef>
                <a:spcPts val="0"/>
              </a:spcBef>
              <a:spcAft>
                <a:spcPts val="0"/>
              </a:spcAft>
              <a:buSzPts val="1700"/>
              <a:buFont typeface="Times"/>
              <a:buChar char="○"/>
            </a:pPr>
            <a:r>
              <a:rPr i="1" lang="en-US" sz="1700">
                <a:highlight>
                  <a:srgbClr val="FFFFFF"/>
                </a:highlight>
                <a:latin typeface="Times"/>
                <a:ea typeface="Times"/>
                <a:cs typeface="Times"/>
                <a:sym typeface="Times"/>
              </a:rPr>
              <a:t>from module_name import *</a:t>
            </a:r>
            <a:endParaRPr i="1" sz="1700">
              <a:highlight>
                <a:srgbClr val="FFFFFF"/>
              </a:highlight>
              <a:latin typeface="Times"/>
              <a:ea typeface="Times"/>
              <a:cs typeface="Times"/>
              <a:sym typeface="Times"/>
            </a:endParaRPr>
          </a:p>
          <a:p>
            <a:pPr indent="-336550" lvl="0" marL="457200" rtl="0" algn="just">
              <a:lnSpc>
                <a:spcPct val="115000"/>
              </a:lnSpc>
              <a:spcBef>
                <a:spcPts val="0"/>
              </a:spcBef>
              <a:spcAft>
                <a:spcPts val="0"/>
              </a:spcAft>
              <a:buSzPts val="1700"/>
              <a:buFont typeface="Times"/>
              <a:buChar char="●"/>
            </a:pPr>
            <a:r>
              <a:rPr b="1" lang="en-US" sz="1700">
                <a:highlight>
                  <a:srgbClr val="FFFFFF"/>
                </a:highlight>
                <a:latin typeface="Times"/>
                <a:ea typeface="Times"/>
                <a:cs typeface="Times"/>
                <a:sym typeface="Times"/>
              </a:rPr>
              <a:t>What does import * do in Python?</a:t>
            </a:r>
            <a:endParaRPr b="1" sz="1700">
              <a:highlight>
                <a:srgbClr val="FFFFFF"/>
              </a:highlight>
              <a:latin typeface="Times"/>
              <a:ea typeface="Times"/>
              <a:cs typeface="Times"/>
              <a:sym typeface="Times"/>
            </a:endParaRPr>
          </a:p>
          <a:p>
            <a:pPr indent="-336550" lvl="0" marL="457200" rtl="0" algn="just">
              <a:lnSpc>
                <a:spcPct val="115000"/>
              </a:lnSpc>
              <a:spcBef>
                <a:spcPts val="0"/>
              </a:spcBef>
              <a:spcAft>
                <a:spcPts val="0"/>
              </a:spcAft>
              <a:buSzPts val="1700"/>
              <a:buFont typeface="Times"/>
              <a:buChar char="●"/>
            </a:pPr>
            <a:r>
              <a:rPr lang="en-US" sz="1700">
                <a:highlight>
                  <a:srgbClr val="FFFFFF"/>
                </a:highlight>
                <a:latin typeface="Times"/>
                <a:ea typeface="Times"/>
                <a:cs typeface="Times"/>
                <a:sym typeface="Times"/>
              </a:rPr>
              <a:t>The use of * has its advantages and disadvantages. If you know exactly what you will be needing from the module, it is not recommended to use *, else do so.</a:t>
            </a:r>
            <a:endParaRPr i="1" sz="1300">
              <a:highlight>
                <a:srgbClr val="FFFFFF"/>
              </a:highlight>
              <a:latin typeface="Times"/>
              <a:ea typeface="Times"/>
              <a:cs typeface="Times"/>
              <a:sym typeface="Times"/>
            </a:endParaRPr>
          </a:p>
          <a:p>
            <a:pPr indent="0" lvl="0" marL="914400" marR="0" rtl="0" algn="just">
              <a:lnSpc>
                <a:spcPct val="115000"/>
              </a:lnSpc>
              <a:spcBef>
                <a:spcPts val="800"/>
              </a:spcBef>
              <a:spcAft>
                <a:spcPts val="0"/>
              </a:spcAft>
              <a:buNone/>
            </a:pPr>
            <a:r>
              <a:rPr i="1" lang="en-US">
                <a:highlight>
                  <a:srgbClr val="FFFFFF"/>
                </a:highlight>
                <a:latin typeface="Times"/>
                <a:ea typeface="Times"/>
                <a:cs typeface="Times"/>
                <a:sym typeface="Times"/>
              </a:rPr>
              <a:t>from math import *</a:t>
            </a:r>
            <a:endParaRPr i="1">
              <a:highlight>
                <a:srgbClr val="FFFFFF"/>
              </a:highlight>
              <a:latin typeface="Times"/>
              <a:ea typeface="Times"/>
              <a:cs typeface="Times"/>
              <a:sym typeface="Times"/>
            </a:endParaRPr>
          </a:p>
          <a:p>
            <a:pPr indent="0" lvl="0" marL="914400" marR="0" rtl="0" algn="just">
              <a:lnSpc>
                <a:spcPct val="115000"/>
              </a:lnSpc>
              <a:spcBef>
                <a:spcPts val="0"/>
              </a:spcBef>
              <a:spcAft>
                <a:spcPts val="0"/>
              </a:spcAft>
              <a:buNone/>
            </a:pPr>
            <a:r>
              <a:rPr i="1" lang="en-US">
                <a:highlight>
                  <a:srgbClr val="FFFFFF"/>
                </a:highlight>
                <a:latin typeface="Times"/>
                <a:ea typeface="Times"/>
                <a:cs typeface="Times"/>
                <a:sym typeface="Times"/>
              </a:rPr>
              <a:t>print(sqrt(16))</a:t>
            </a:r>
            <a:endParaRPr i="1">
              <a:highlight>
                <a:srgbClr val="FFFFFF"/>
              </a:highlight>
              <a:latin typeface="Times"/>
              <a:ea typeface="Times"/>
              <a:cs typeface="Times"/>
              <a:sym typeface="Times"/>
            </a:endParaRPr>
          </a:p>
          <a:p>
            <a:pPr indent="0" lvl="0" marL="914400" marR="0" rtl="0" algn="just">
              <a:lnSpc>
                <a:spcPct val="115000"/>
              </a:lnSpc>
              <a:spcBef>
                <a:spcPts val="0"/>
              </a:spcBef>
              <a:spcAft>
                <a:spcPts val="0"/>
              </a:spcAft>
              <a:buNone/>
            </a:pPr>
            <a:r>
              <a:rPr i="1" lang="en-US">
                <a:highlight>
                  <a:srgbClr val="FFFFFF"/>
                </a:highlight>
                <a:latin typeface="Times"/>
                <a:ea typeface="Times"/>
                <a:cs typeface="Times"/>
                <a:sym typeface="Times"/>
              </a:rPr>
              <a:t>print(factorial(6))</a:t>
            </a:r>
            <a:endParaRPr i="1">
              <a:highlight>
                <a:srgbClr val="FFFFFF"/>
              </a:highlight>
              <a:latin typeface="Times"/>
              <a:ea typeface="Times"/>
              <a:cs typeface="Times"/>
              <a:sym typeface="Times"/>
            </a:endParaRPr>
          </a:p>
          <a:p>
            <a:pPr indent="0" lvl="0" marL="457200" rtl="0" algn="just">
              <a:lnSpc>
                <a:spcPct val="115000"/>
              </a:lnSpc>
              <a:spcBef>
                <a:spcPts val="0"/>
              </a:spcBef>
              <a:spcAft>
                <a:spcPts val="0"/>
              </a:spcAft>
              <a:buNone/>
            </a:pPr>
            <a:r>
              <a:rPr b="1" i="1" lang="en-US">
                <a:highlight>
                  <a:srgbClr val="FFFFFF"/>
                </a:highlight>
                <a:latin typeface="Times"/>
                <a:ea typeface="Times"/>
                <a:cs typeface="Times"/>
                <a:sym typeface="Times"/>
              </a:rPr>
              <a:t>Output</a:t>
            </a:r>
            <a:endParaRPr b="1" i="1">
              <a:highlight>
                <a:srgbClr val="FFFFFF"/>
              </a:highlight>
              <a:latin typeface="Times"/>
              <a:ea typeface="Times"/>
              <a:cs typeface="Times"/>
              <a:sym typeface="Times"/>
            </a:endParaRPr>
          </a:p>
          <a:p>
            <a:pPr indent="0" lvl="0" marL="914400" marR="190500" rtl="0" algn="just">
              <a:lnSpc>
                <a:spcPct val="115000"/>
              </a:lnSpc>
              <a:spcBef>
                <a:spcPts val="800"/>
              </a:spcBef>
              <a:spcAft>
                <a:spcPts val="0"/>
              </a:spcAft>
              <a:buNone/>
            </a:pPr>
            <a:r>
              <a:rPr i="1" lang="en-US">
                <a:highlight>
                  <a:srgbClr val="FFFFFF"/>
                </a:highlight>
                <a:latin typeface="Times"/>
                <a:ea typeface="Times"/>
                <a:cs typeface="Times"/>
                <a:sym typeface="Times"/>
              </a:rPr>
              <a:t>4.0</a:t>
            </a:r>
            <a:endParaRPr i="1">
              <a:highlight>
                <a:srgbClr val="FFFFFF"/>
              </a:highlight>
              <a:latin typeface="Times"/>
              <a:ea typeface="Times"/>
              <a:cs typeface="Times"/>
              <a:sym typeface="Times"/>
            </a:endParaRPr>
          </a:p>
          <a:p>
            <a:pPr indent="0" lvl="0" marL="914400" marR="190500" rtl="0" algn="just">
              <a:lnSpc>
                <a:spcPct val="115000"/>
              </a:lnSpc>
              <a:spcBef>
                <a:spcPts val="800"/>
              </a:spcBef>
              <a:spcAft>
                <a:spcPts val="800"/>
              </a:spcAft>
              <a:buNone/>
            </a:pPr>
            <a:r>
              <a:rPr i="1" lang="en-US">
                <a:highlight>
                  <a:srgbClr val="FFFFFF"/>
                </a:highlight>
                <a:latin typeface="Times"/>
                <a:ea typeface="Times"/>
                <a:cs typeface="Times"/>
                <a:sym typeface="Times"/>
              </a:rPr>
              <a:t>720</a:t>
            </a:r>
            <a:endParaRPr i="1">
              <a:highlight>
                <a:srgbClr val="FFFFFF"/>
              </a:highlight>
              <a:latin typeface="Times"/>
              <a:ea typeface="Times"/>
              <a:cs typeface="Times"/>
              <a:sym typeface="Times"/>
            </a:endParaRPr>
          </a:p>
        </p:txBody>
      </p:sp>
      <p:sp>
        <p:nvSpPr>
          <p:cNvPr id="1510" name="Google Shape;1510;p18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5" name="Shape 1515"/>
        <p:cNvGrpSpPr/>
        <p:nvPr/>
      </p:nvGrpSpPr>
      <p:grpSpPr>
        <a:xfrm>
          <a:off x="0" y="0"/>
          <a:ext cx="0" cy="0"/>
          <a:chOff x="0" y="0"/>
          <a:chExt cx="0" cy="0"/>
        </a:xfrm>
      </p:grpSpPr>
      <p:sp>
        <p:nvSpPr>
          <p:cNvPr id="1516" name="Google Shape;1516;p187"/>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Renaming the </a:t>
            </a:r>
            <a:r>
              <a:rPr b="1" lang="en-US" sz="3000">
                <a:solidFill>
                  <a:srgbClr val="1C3678"/>
                </a:solidFill>
                <a:latin typeface="Trebuchet MS"/>
                <a:ea typeface="Trebuchet MS"/>
                <a:cs typeface="Trebuchet MS"/>
                <a:sym typeface="Trebuchet MS"/>
              </a:rPr>
              <a:t>Module</a:t>
            </a:r>
            <a:endParaRPr b="1" sz="3000">
              <a:solidFill>
                <a:srgbClr val="1C3678"/>
              </a:solidFill>
              <a:latin typeface="Trebuchet MS"/>
              <a:ea typeface="Trebuchet MS"/>
              <a:cs typeface="Trebuchet MS"/>
              <a:sym typeface="Trebuchet MS"/>
            </a:endParaRPr>
          </a:p>
        </p:txBody>
      </p:sp>
      <p:sp>
        <p:nvSpPr>
          <p:cNvPr id="1517" name="Google Shape;1517;p187"/>
          <p:cNvSpPr txBox="1"/>
          <p:nvPr/>
        </p:nvSpPr>
        <p:spPr>
          <a:xfrm>
            <a:off x="729300" y="835775"/>
            <a:ext cx="8107500" cy="3784500"/>
          </a:xfrm>
          <a:prstGeom prst="rect">
            <a:avLst/>
          </a:prstGeom>
          <a:noFill/>
          <a:ln>
            <a:noFill/>
          </a:ln>
        </p:spPr>
        <p:txBody>
          <a:bodyPr anchorCtr="0" anchor="t" bIns="0" lIns="0" spcFirstLastPara="1" rIns="0" wrap="square" tIns="125075">
            <a:spAutoFit/>
          </a:bodyPr>
          <a:lstStyle/>
          <a:p>
            <a:pPr indent="-342900" lvl="0" marL="457200" rtl="0" algn="just">
              <a:lnSpc>
                <a:spcPct val="100000"/>
              </a:lnSpc>
              <a:spcBef>
                <a:spcPts val="0"/>
              </a:spcBef>
              <a:spcAft>
                <a:spcPts val="0"/>
              </a:spcAft>
              <a:buSzPts val="1800"/>
              <a:buFont typeface="Times"/>
              <a:buChar char="●"/>
            </a:pPr>
            <a:r>
              <a:rPr lang="en-US" sz="1800">
                <a:highlight>
                  <a:srgbClr val="FFFFFF"/>
                </a:highlight>
                <a:latin typeface="Times"/>
                <a:ea typeface="Times"/>
                <a:cs typeface="Times"/>
                <a:sym typeface="Times"/>
              </a:rPr>
              <a:t>We can rename the module while importing it using the keyword.</a:t>
            </a:r>
            <a:endParaRPr sz="1800">
              <a:highlight>
                <a:srgbClr val="FFFFFF"/>
              </a:highlight>
              <a:latin typeface="Times"/>
              <a:ea typeface="Times"/>
              <a:cs typeface="Times"/>
              <a:sym typeface="Times"/>
            </a:endParaRPr>
          </a:p>
          <a:p>
            <a:pPr indent="-342900" lvl="0" marL="457200" marR="228600" rtl="0" algn="just">
              <a:lnSpc>
                <a:spcPct val="100000"/>
              </a:lnSpc>
              <a:spcBef>
                <a:spcPts val="0"/>
              </a:spcBef>
              <a:spcAft>
                <a:spcPts val="0"/>
              </a:spcAft>
              <a:buSzPts val="1800"/>
              <a:buFont typeface="Tahoma"/>
              <a:buChar char="●"/>
            </a:pPr>
            <a:r>
              <a:rPr b="1" i="1" lang="en-US" sz="1800">
                <a:highlight>
                  <a:srgbClr val="FFFFFF"/>
                </a:highlight>
                <a:latin typeface="Times"/>
                <a:ea typeface="Times"/>
                <a:cs typeface="Times"/>
                <a:sym typeface="Times"/>
              </a:rPr>
              <a:t>Syntax:  </a:t>
            </a:r>
            <a:r>
              <a:rPr i="1" lang="en-US" sz="1800">
                <a:highlight>
                  <a:srgbClr val="FFFFFF"/>
                </a:highlight>
                <a:latin typeface="Times"/>
                <a:ea typeface="Times"/>
                <a:cs typeface="Times"/>
                <a:sym typeface="Times"/>
              </a:rPr>
              <a:t>Import </a:t>
            </a:r>
            <a:r>
              <a:rPr b="1" i="1" lang="en-US" sz="1800">
                <a:highlight>
                  <a:srgbClr val="FFFFFF"/>
                </a:highlight>
                <a:latin typeface="Times"/>
                <a:ea typeface="Times"/>
                <a:cs typeface="Times"/>
                <a:sym typeface="Times"/>
              </a:rPr>
              <a:t>Module_name</a:t>
            </a:r>
            <a:r>
              <a:rPr i="1" lang="en-US" sz="1800">
                <a:highlight>
                  <a:srgbClr val="FFFFFF"/>
                </a:highlight>
                <a:latin typeface="Times"/>
                <a:ea typeface="Times"/>
                <a:cs typeface="Times"/>
                <a:sym typeface="Times"/>
              </a:rPr>
              <a:t> as </a:t>
            </a:r>
            <a:r>
              <a:rPr b="1" i="1" lang="en-US" sz="1800">
                <a:highlight>
                  <a:srgbClr val="FFFFFF"/>
                </a:highlight>
                <a:latin typeface="Times"/>
                <a:ea typeface="Times"/>
                <a:cs typeface="Times"/>
                <a:sym typeface="Times"/>
              </a:rPr>
              <a:t>Alias_name</a:t>
            </a:r>
            <a:endParaRPr sz="1800">
              <a:highlight>
                <a:srgbClr val="FFFFFF"/>
              </a:highlight>
              <a:latin typeface="Times"/>
              <a:ea typeface="Times"/>
              <a:cs typeface="Times"/>
              <a:sym typeface="Times"/>
            </a:endParaRPr>
          </a:p>
          <a:p>
            <a:pPr indent="0" lvl="0" marL="914400" marR="0" rtl="0" algn="just">
              <a:lnSpc>
                <a:spcPct val="100000"/>
              </a:lnSpc>
              <a:spcBef>
                <a:spcPts val="2600"/>
              </a:spcBef>
              <a:spcAft>
                <a:spcPts val="0"/>
              </a:spcAft>
              <a:buNone/>
            </a:pPr>
            <a:r>
              <a:rPr i="1" lang="en-US" sz="1800">
                <a:highlight>
                  <a:srgbClr val="FFFFFF"/>
                </a:highlight>
                <a:latin typeface="Times"/>
                <a:ea typeface="Times"/>
                <a:cs typeface="Times"/>
                <a:sym typeface="Times"/>
              </a:rPr>
              <a:t># importing sqrt() and factorial from th</a:t>
            </a:r>
            <a:r>
              <a:rPr i="1" lang="en-US" sz="1800">
                <a:highlight>
                  <a:srgbClr val="FFFFFF"/>
                </a:highlight>
                <a:latin typeface="Times"/>
                <a:ea typeface="Times"/>
                <a:cs typeface="Times"/>
                <a:sym typeface="Times"/>
              </a:rPr>
              <a:t>e </a:t>
            </a:r>
            <a:r>
              <a:rPr i="1" lang="en-US" sz="1800">
                <a:highlight>
                  <a:srgbClr val="FFFFFF"/>
                </a:highlight>
                <a:latin typeface="Times"/>
                <a:ea typeface="Times"/>
                <a:cs typeface="Times"/>
                <a:sym typeface="Times"/>
              </a:rPr>
              <a:t>module math</a:t>
            </a:r>
            <a:endParaRPr i="1" sz="1800">
              <a:highlight>
                <a:srgbClr val="FFFFFF"/>
              </a:highlight>
              <a:latin typeface="Times"/>
              <a:ea typeface="Times"/>
              <a:cs typeface="Times"/>
              <a:sym typeface="Times"/>
            </a:endParaRPr>
          </a:p>
          <a:p>
            <a:pPr indent="0" lvl="0" marL="914400" marR="0" rtl="0" algn="just">
              <a:lnSpc>
                <a:spcPct val="100000"/>
              </a:lnSpc>
              <a:spcBef>
                <a:spcPts val="0"/>
              </a:spcBef>
              <a:spcAft>
                <a:spcPts val="0"/>
              </a:spcAft>
              <a:buNone/>
            </a:pPr>
            <a:r>
              <a:rPr i="1" lang="en-US" sz="1800">
                <a:highlight>
                  <a:srgbClr val="FFFFFF"/>
                </a:highlight>
                <a:latin typeface="Times"/>
                <a:ea typeface="Times"/>
                <a:cs typeface="Times"/>
                <a:sym typeface="Times"/>
              </a:rPr>
              <a:t>import math as mt</a:t>
            </a:r>
            <a:endParaRPr i="1" sz="1800">
              <a:highlight>
                <a:srgbClr val="FFFFFF"/>
              </a:highlight>
              <a:latin typeface="Times"/>
              <a:ea typeface="Times"/>
              <a:cs typeface="Times"/>
              <a:sym typeface="Times"/>
            </a:endParaRPr>
          </a:p>
          <a:p>
            <a:pPr indent="0" lvl="0" marL="914400" marR="0" rtl="0" algn="just">
              <a:lnSpc>
                <a:spcPct val="100000"/>
              </a:lnSpc>
              <a:spcBef>
                <a:spcPts val="0"/>
              </a:spcBef>
              <a:spcAft>
                <a:spcPts val="0"/>
              </a:spcAft>
              <a:buNone/>
            </a:pPr>
            <a:r>
              <a:rPr i="1" lang="en-US" sz="1800">
                <a:highlight>
                  <a:srgbClr val="FFFFFF"/>
                </a:highlight>
                <a:latin typeface="Times"/>
                <a:ea typeface="Times"/>
                <a:cs typeface="Times"/>
                <a:sym typeface="Times"/>
              </a:rPr>
              <a:t># if we simply do "import math", then</a:t>
            </a:r>
            <a:endParaRPr i="1" sz="1800">
              <a:highlight>
                <a:srgbClr val="FFFFFF"/>
              </a:highlight>
              <a:latin typeface="Times"/>
              <a:ea typeface="Times"/>
              <a:cs typeface="Times"/>
              <a:sym typeface="Times"/>
            </a:endParaRPr>
          </a:p>
          <a:p>
            <a:pPr indent="0" lvl="0" marL="914400" marR="0" rtl="0" algn="just">
              <a:lnSpc>
                <a:spcPct val="100000"/>
              </a:lnSpc>
              <a:spcBef>
                <a:spcPts val="0"/>
              </a:spcBef>
              <a:spcAft>
                <a:spcPts val="0"/>
              </a:spcAft>
              <a:buNone/>
            </a:pPr>
            <a:r>
              <a:rPr i="1" lang="en-US" sz="1800">
                <a:highlight>
                  <a:srgbClr val="FFFFFF"/>
                </a:highlight>
                <a:latin typeface="Times"/>
                <a:ea typeface="Times"/>
                <a:cs typeface="Times"/>
                <a:sym typeface="Times"/>
              </a:rPr>
              <a:t># math.sqrt(16) and math.factorial() are required.</a:t>
            </a:r>
            <a:endParaRPr i="1" sz="1800">
              <a:highlight>
                <a:srgbClr val="FFFFFF"/>
              </a:highlight>
              <a:latin typeface="Times"/>
              <a:ea typeface="Times"/>
              <a:cs typeface="Times"/>
              <a:sym typeface="Times"/>
            </a:endParaRPr>
          </a:p>
          <a:p>
            <a:pPr indent="457200" lvl="0" marL="457200" marR="0" rtl="0" algn="just">
              <a:lnSpc>
                <a:spcPct val="100000"/>
              </a:lnSpc>
              <a:spcBef>
                <a:spcPts val="0"/>
              </a:spcBef>
              <a:spcAft>
                <a:spcPts val="0"/>
              </a:spcAft>
              <a:buNone/>
            </a:pPr>
            <a:r>
              <a:rPr i="1" lang="en-US" sz="1800">
                <a:highlight>
                  <a:srgbClr val="FFFFFF"/>
                </a:highlight>
                <a:latin typeface="Times"/>
                <a:ea typeface="Times"/>
                <a:cs typeface="Times"/>
                <a:sym typeface="Times"/>
              </a:rPr>
              <a:t>print(mt.sqrt(16))</a:t>
            </a:r>
            <a:endParaRPr i="1" sz="1800">
              <a:highlight>
                <a:srgbClr val="FFFFFF"/>
              </a:highlight>
              <a:latin typeface="Times"/>
              <a:ea typeface="Times"/>
              <a:cs typeface="Times"/>
              <a:sym typeface="Times"/>
            </a:endParaRPr>
          </a:p>
          <a:p>
            <a:pPr indent="0" lvl="0" marL="914400" marR="0" rtl="0" algn="just">
              <a:lnSpc>
                <a:spcPct val="100000"/>
              </a:lnSpc>
              <a:spcBef>
                <a:spcPts val="0"/>
              </a:spcBef>
              <a:spcAft>
                <a:spcPts val="0"/>
              </a:spcAft>
              <a:buNone/>
            </a:pPr>
            <a:r>
              <a:rPr i="1" lang="en-US" sz="1800">
                <a:highlight>
                  <a:srgbClr val="FFFFFF"/>
                </a:highlight>
                <a:latin typeface="Times"/>
                <a:ea typeface="Times"/>
                <a:cs typeface="Times"/>
                <a:sym typeface="Times"/>
              </a:rPr>
              <a:t>print(mt.factorial(6))</a:t>
            </a:r>
            <a:endParaRPr i="1" sz="1800">
              <a:highlight>
                <a:srgbClr val="FFFFFF"/>
              </a:highlight>
              <a:latin typeface="Times"/>
              <a:ea typeface="Times"/>
              <a:cs typeface="Times"/>
              <a:sym typeface="Times"/>
            </a:endParaRPr>
          </a:p>
          <a:p>
            <a:pPr indent="0" lvl="0" marL="914400" marR="0" rtl="0" algn="just">
              <a:lnSpc>
                <a:spcPct val="100000"/>
              </a:lnSpc>
              <a:spcBef>
                <a:spcPts val="0"/>
              </a:spcBef>
              <a:spcAft>
                <a:spcPts val="0"/>
              </a:spcAft>
              <a:buNone/>
            </a:pPr>
            <a:r>
              <a:t/>
            </a:r>
            <a:endParaRPr i="1" sz="1800">
              <a:highlight>
                <a:srgbClr val="FFFFFF"/>
              </a:highlight>
              <a:latin typeface="Times"/>
              <a:ea typeface="Times"/>
              <a:cs typeface="Times"/>
              <a:sym typeface="Times"/>
            </a:endParaRPr>
          </a:p>
          <a:p>
            <a:pPr indent="0" lvl="0" marL="457200" rtl="0" algn="just">
              <a:lnSpc>
                <a:spcPct val="100000"/>
              </a:lnSpc>
              <a:spcBef>
                <a:spcPts val="0"/>
              </a:spcBef>
              <a:spcAft>
                <a:spcPts val="0"/>
              </a:spcAft>
              <a:buNone/>
            </a:pPr>
            <a:r>
              <a:rPr b="1" i="1" lang="en-US" sz="1800">
                <a:highlight>
                  <a:srgbClr val="FFFFFF"/>
                </a:highlight>
                <a:latin typeface="Times"/>
                <a:ea typeface="Times"/>
                <a:cs typeface="Times"/>
                <a:sym typeface="Times"/>
              </a:rPr>
              <a:t>Output:</a:t>
            </a:r>
            <a:endParaRPr b="1" i="1" sz="1800">
              <a:highlight>
                <a:srgbClr val="FFFFFF"/>
              </a:highlight>
              <a:latin typeface="Times"/>
              <a:ea typeface="Times"/>
              <a:cs typeface="Times"/>
              <a:sym typeface="Times"/>
            </a:endParaRPr>
          </a:p>
          <a:p>
            <a:pPr indent="0" lvl="0" marL="914400" rtl="0" algn="just">
              <a:lnSpc>
                <a:spcPct val="100000"/>
              </a:lnSpc>
              <a:spcBef>
                <a:spcPts val="0"/>
              </a:spcBef>
              <a:spcAft>
                <a:spcPts val="0"/>
              </a:spcAft>
              <a:buNone/>
            </a:pPr>
            <a:r>
              <a:rPr i="1" lang="en-US" sz="1800">
                <a:highlight>
                  <a:srgbClr val="FFFFFF"/>
                </a:highlight>
                <a:latin typeface="Times"/>
                <a:ea typeface="Times"/>
                <a:cs typeface="Times"/>
                <a:sym typeface="Times"/>
              </a:rPr>
              <a:t>4.0</a:t>
            </a:r>
            <a:endParaRPr i="1" sz="1800">
              <a:highlight>
                <a:srgbClr val="FFFFFF"/>
              </a:highlight>
              <a:latin typeface="Times"/>
              <a:ea typeface="Times"/>
              <a:cs typeface="Times"/>
              <a:sym typeface="Times"/>
            </a:endParaRPr>
          </a:p>
          <a:p>
            <a:pPr indent="0" lvl="0" marL="914400" rtl="0" algn="just">
              <a:lnSpc>
                <a:spcPct val="100000"/>
              </a:lnSpc>
              <a:spcBef>
                <a:spcPts val="0"/>
              </a:spcBef>
              <a:spcAft>
                <a:spcPts val="0"/>
              </a:spcAft>
              <a:buNone/>
            </a:pPr>
            <a:r>
              <a:rPr i="1" lang="en-US" sz="1800">
                <a:highlight>
                  <a:srgbClr val="FFFFFF"/>
                </a:highlight>
                <a:latin typeface="Times"/>
                <a:ea typeface="Times"/>
                <a:cs typeface="Times"/>
                <a:sym typeface="Times"/>
              </a:rPr>
              <a:t>720</a:t>
            </a:r>
            <a:endParaRPr i="1" sz="1800">
              <a:highlight>
                <a:srgbClr val="FFFFFF"/>
              </a:highlight>
              <a:latin typeface="Times"/>
              <a:ea typeface="Times"/>
              <a:cs typeface="Times"/>
              <a:sym typeface="Times"/>
            </a:endParaRPr>
          </a:p>
        </p:txBody>
      </p:sp>
      <p:sp>
        <p:nvSpPr>
          <p:cNvPr id="1518" name="Google Shape;1518;p18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3" name="Shape 1523"/>
        <p:cNvGrpSpPr/>
        <p:nvPr/>
      </p:nvGrpSpPr>
      <p:grpSpPr>
        <a:xfrm>
          <a:off x="0" y="0"/>
          <a:ext cx="0" cy="0"/>
          <a:chOff x="0" y="0"/>
          <a:chExt cx="0" cy="0"/>
        </a:xfrm>
      </p:grpSpPr>
      <p:sp>
        <p:nvSpPr>
          <p:cNvPr id="1524" name="Google Shape;1524;p188"/>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Packages in Python</a:t>
            </a:r>
            <a:endParaRPr b="1" sz="3000">
              <a:solidFill>
                <a:srgbClr val="1C3678"/>
              </a:solidFill>
              <a:latin typeface="Trebuchet MS"/>
              <a:ea typeface="Trebuchet MS"/>
              <a:cs typeface="Trebuchet MS"/>
              <a:sym typeface="Trebuchet MS"/>
            </a:endParaRPr>
          </a:p>
        </p:txBody>
      </p:sp>
      <p:sp>
        <p:nvSpPr>
          <p:cNvPr id="1525" name="Google Shape;1525;p188"/>
          <p:cNvSpPr txBox="1"/>
          <p:nvPr/>
        </p:nvSpPr>
        <p:spPr>
          <a:xfrm>
            <a:off x="729300" y="835775"/>
            <a:ext cx="8107500" cy="2342700"/>
          </a:xfrm>
          <a:prstGeom prst="rect">
            <a:avLst/>
          </a:prstGeom>
          <a:noFill/>
          <a:ln>
            <a:noFill/>
          </a:ln>
        </p:spPr>
        <p:txBody>
          <a:bodyPr anchorCtr="0" anchor="t" bIns="0" lIns="0" spcFirstLastPara="1" rIns="0" wrap="square" tIns="125075">
            <a:spAutoFit/>
          </a:bodyPr>
          <a:lstStyle/>
          <a:p>
            <a:pPr indent="-342900" lvl="0" marL="457200" rtl="0" algn="just">
              <a:spcBef>
                <a:spcPts val="290"/>
              </a:spcBef>
              <a:spcAft>
                <a:spcPts val="0"/>
              </a:spcAft>
              <a:buSzPts val="1800"/>
              <a:buFont typeface="Times"/>
              <a:buChar char="●"/>
            </a:pPr>
            <a:r>
              <a:rPr lang="en-US" sz="1800">
                <a:highlight>
                  <a:srgbClr val="FFFFFF"/>
                </a:highlight>
                <a:latin typeface="Times"/>
                <a:ea typeface="Times"/>
                <a:cs typeface="Times"/>
                <a:sym typeface="Times"/>
              </a:rPr>
              <a:t>Python Packages are a way to organize and structure your Python code into reusable components. </a:t>
            </a:r>
            <a:endParaRPr sz="1800">
              <a:highlight>
                <a:srgbClr val="FFFFFF"/>
              </a:highlight>
              <a:latin typeface="Times"/>
              <a:ea typeface="Times"/>
              <a:cs typeface="Times"/>
              <a:sym typeface="Times"/>
            </a:endParaRPr>
          </a:p>
          <a:p>
            <a:pPr indent="-342900" lvl="0" marL="457200" rtl="0" algn="just">
              <a:spcBef>
                <a:spcPts val="0"/>
              </a:spcBef>
              <a:spcAft>
                <a:spcPts val="0"/>
              </a:spcAft>
              <a:buSzPts val="1800"/>
              <a:buFont typeface="Times"/>
              <a:buChar char="●"/>
            </a:pPr>
            <a:r>
              <a:rPr lang="en-US" sz="1800">
                <a:highlight>
                  <a:srgbClr val="FFFFFF"/>
                </a:highlight>
                <a:latin typeface="Times"/>
                <a:ea typeface="Times"/>
                <a:cs typeface="Times"/>
                <a:sym typeface="Times"/>
              </a:rPr>
              <a:t>Think of it like a folder that contains related Python files (modules) that work together to provide certain functionality. </a:t>
            </a:r>
            <a:endParaRPr sz="1800">
              <a:highlight>
                <a:srgbClr val="FFFFFF"/>
              </a:highlight>
              <a:latin typeface="Times"/>
              <a:ea typeface="Times"/>
              <a:cs typeface="Times"/>
              <a:sym typeface="Times"/>
            </a:endParaRPr>
          </a:p>
          <a:p>
            <a:pPr indent="-342900" lvl="0" marL="457200" rtl="0" algn="just">
              <a:spcBef>
                <a:spcPts val="0"/>
              </a:spcBef>
              <a:spcAft>
                <a:spcPts val="0"/>
              </a:spcAft>
              <a:buSzPts val="1800"/>
              <a:buFont typeface="Times"/>
              <a:buChar char="●"/>
            </a:pPr>
            <a:r>
              <a:rPr lang="en-US" sz="1800">
                <a:highlight>
                  <a:srgbClr val="FFFFFF"/>
                </a:highlight>
                <a:latin typeface="Times"/>
                <a:ea typeface="Times"/>
                <a:cs typeface="Times"/>
                <a:sym typeface="Times"/>
              </a:rPr>
              <a:t>Packages help keep your code organized, make it easier to manage and maintain, and allow you to share your code with others. </a:t>
            </a:r>
            <a:endParaRPr sz="1800">
              <a:highlight>
                <a:srgbClr val="FFFFFF"/>
              </a:highlight>
              <a:latin typeface="Times"/>
              <a:ea typeface="Times"/>
              <a:cs typeface="Times"/>
              <a:sym typeface="Times"/>
            </a:endParaRPr>
          </a:p>
          <a:p>
            <a:pPr indent="-342900" lvl="0" marL="457200" rtl="0" algn="just">
              <a:spcBef>
                <a:spcPts val="0"/>
              </a:spcBef>
              <a:spcAft>
                <a:spcPts val="0"/>
              </a:spcAft>
              <a:buSzPts val="1800"/>
              <a:buFont typeface="Times"/>
              <a:buChar char="●"/>
            </a:pPr>
            <a:r>
              <a:rPr lang="en-US" sz="1800">
                <a:highlight>
                  <a:srgbClr val="FFFFFF"/>
                </a:highlight>
                <a:latin typeface="Times"/>
                <a:ea typeface="Times"/>
                <a:cs typeface="Times"/>
                <a:sym typeface="Times"/>
              </a:rPr>
              <a:t>They’re like a toolbox where you can store and organize your tools (functions and classes) for easy access and reuse in different projects.</a:t>
            </a:r>
            <a:endParaRPr sz="1800">
              <a:highlight>
                <a:srgbClr val="FFFFFF"/>
              </a:highlight>
              <a:latin typeface="Times"/>
              <a:ea typeface="Times"/>
              <a:cs typeface="Times"/>
              <a:sym typeface="Times"/>
            </a:endParaRPr>
          </a:p>
        </p:txBody>
      </p:sp>
      <p:sp>
        <p:nvSpPr>
          <p:cNvPr id="1526" name="Google Shape;1526;p18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1" name="Shape 1531"/>
        <p:cNvGrpSpPr/>
        <p:nvPr/>
      </p:nvGrpSpPr>
      <p:grpSpPr>
        <a:xfrm>
          <a:off x="0" y="0"/>
          <a:ext cx="0" cy="0"/>
          <a:chOff x="0" y="0"/>
          <a:chExt cx="0" cy="0"/>
        </a:xfrm>
      </p:grpSpPr>
      <p:sp>
        <p:nvSpPr>
          <p:cNvPr id="1532" name="Google Shape;1532;p189"/>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Packages in Python</a:t>
            </a:r>
            <a:endParaRPr b="1" sz="3000">
              <a:solidFill>
                <a:srgbClr val="1C3678"/>
              </a:solidFill>
              <a:latin typeface="Trebuchet MS"/>
              <a:ea typeface="Trebuchet MS"/>
              <a:cs typeface="Trebuchet MS"/>
              <a:sym typeface="Trebuchet MS"/>
            </a:endParaRPr>
          </a:p>
        </p:txBody>
      </p:sp>
      <p:sp>
        <p:nvSpPr>
          <p:cNvPr id="1533" name="Google Shape;1533;p189"/>
          <p:cNvSpPr txBox="1"/>
          <p:nvPr/>
        </p:nvSpPr>
        <p:spPr>
          <a:xfrm>
            <a:off x="729300" y="835775"/>
            <a:ext cx="8107500" cy="3692100"/>
          </a:xfrm>
          <a:prstGeom prst="rect">
            <a:avLst/>
          </a:prstGeom>
          <a:noFill/>
          <a:ln>
            <a:noFill/>
          </a:ln>
        </p:spPr>
        <p:txBody>
          <a:bodyPr anchorCtr="0" anchor="t" bIns="0" lIns="0" spcFirstLastPara="1" rIns="0" wrap="square" tIns="125075">
            <a:spAutoFit/>
          </a:bodyPr>
          <a:lstStyle/>
          <a:p>
            <a:pPr indent="0" lvl="0" marL="0" rtl="0" algn="l">
              <a:lnSpc>
                <a:spcPct val="115000"/>
              </a:lnSpc>
              <a:spcBef>
                <a:spcPts val="0"/>
              </a:spcBef>
              <a:spcAft>
                <a:spcPts val="0"/>
              </a:spcAft>
              <a:buNone/>
            </a:pPr>
            <a:r>
              <a:rPr lang="en-US" sz="1800">
                <a:highlight>
                  <a:srgbClr val="FFFFFF"/>
                </a:highlight>
                <a:latin typeface="Times"/>
                <a:ea typeface="Times"/>
                <a:cs typeface="Times"/>
                <a:sym typeface="Times"/>
              </a:rPr>
              <a:t>Here’s a sample demonstrating how to create a simple Python package:</a:t>
            </a:r>
            <a:endParaRPr sz="1800">
              <a:highlight>
                <a:srgbClr val="FFFFFF"/>
              </a:highlight>
              <a:latin typeface="Times"/>
              <a:ea typeface="Times"/>
              <a:cs typeface="Times"/>
              <a:sym typeface="Times"/>
            </a:endParaRPr>
          </a:p>
          <a:p>
            <a:pPr indent="-342900" lvl="0" marL="685800" rtl="0" algn="l">
              <a:lnSpc>
                <a:spcPct val="115000"/>
              </a:lnSpc>
              <a:spcBef>
                <a:spcPts val="800"/>
              </a:spcBef>
              <a:spcAft>
                <a:spcPts val="0"/>
              </a:spcAft>
              <a:buClr>
                <a:srgbClr val="000000"/>
              </a:buClr>
              <a:buSzPts val="1800"/>
              <a:buFont typeface="Times"/>
              <a:buAutoNum type="arabicPeriod"/>
            </a:pPr>
            <a:r>
              <a:rPr lang="en-US" sz="1800">
                <a:highlight>
                  <a:srgbClr val="FFFFFF"/>
                </a:highlight>
                <a:latin typeface="Times"/>
                <a:ea typeface="Times"/>
                <a:cs typeface="Times"/>
                <a:sym typeface="Times"/>
              </a:rPr>
              <a:t>Create a directory named mypackage.</a:t>
            </a:r>
            <a:endParaRPr sz="1800">
              <a:highlight>
                <a:srgbClr val="FFFFFF"/>
              </a:highlight>
              <a:latin typeface="Times"/>
              <a:ea typeface="Times"/>
              <a:cs typeface="Times"/>
              <a:sym typeface="Times"/>
            </a:endParaRPr>
          </a:p>
          <a:p>
            <a:pPr indent="-342900" lvl="0" marL="685800" rtl="0" algn="l">
              <a:lnSpc>
                <a:spcPct val="115000"/>
              </a:lnSpc>
              <a:spcBef>
                <a:spcPts val="0"/>
              </a:spcBef>
              <a:spcAft>
                <a:spcPts val="0"/>
              </a:spcAft>
              <a:buClr>
                <a:srgbClr val="000000"/>
              </a:buClr>
              <a:buSzPts val="1800"/>
              <a:buFont typeface="Times"/>
              <a:buAutoNum type="arabicPeriod"/>
            </a:pPr>
            <a:r>
              <a:rPr lang="en-US" sz="1800">
                <a:highlight>
                  <a:srgbClr val="FFFFFF"/>
                </a:highlight>
                <a:latin typeface="Times"/>
                <a:ea typeface="Times"/>
                <a:cs typeface="Times"/>
                <a:sym typeface="Times"/>
              </a:rPr>
              <a:t>Inside mypackage, create two Python files: module1.py and module2.py.</a:t>
            </a:r>
            <a:endParaRPr sz="1800">
              <a:highlight>
                <a:srgbClr val="FFFFFF"/>
              </a:highlight>
              <a:latin typeface="Times"/>
              <a:ea typeface="Times"/>
              <a:cs typeface="Times"/>
              <a:sym typeface="Times"/>
            </a:endParaRPr>
          </a:p>
          <a:p>
            <a:pPr indent="-342900" lvl="0" marL="685800" rtl="0" algn="l">
              <a:lnSpc>
                <a:spcPct val="115000"/>
              </a:lnSpc>
              <a:spcBef>
                <a:spcPts val="0"/>
              </a:spcBef>
              <a:spcAft>
                <a:spcPts val="0"/>
              </a:spcAft>
              <a:buClr>
                <a:srgbClr val="000000"/>
              </a:buClr>
              <a:buSzPts val="1800"/>
              <a:buFont typeface="Times"/>
              <a:buAutoNum type="arabicPeriod"/>
            </a:pPr>
            <a:r>
              <a:rPr lang="en-US" sz="1800">
                <a:highlight>
                  <a:srgbClr val="FFFFFF"/>
                </a:highlight>
                <a:latin typeface="Times"/>
                <a:ea typeface="Times"/>
                <a:cs typeface="Times"/>
                <a:sym typeface="Times"/>
              </a:rPr>
              <a:t>Create an __init__.py file inside mypackage (it can be empty).</a:t>
            </a:r>
            <a:endParaRPr sz="1800">
              <a:highlight>
                <a:srgbClr val="FFFFFF"/>
              </a:highlight>
              <a:latin typeface="Times"/>
              <a:ea typeface="Times"/>
              <a:cs typeface="Times"/>
              <a:sym typeface="Times"/>
            </a:endParaRPr>
          </a:p>
          <a:p>
            <a:pPr indent="-342900" lvl="0" marL="685800" rtl="0" algn="l">
              <a:lnSpc>
                <a:spcPct val="115000"/>
              </a:lnSpc>
              <a:spcBef>
                <a:spcPts val="0"/>
              </a:spcBef>
              <a:spcAft>
                <a:spcPts val="0"/>
              </a:spcAft>
              <a:buClr>
                <a:srgbClr val="000000"/>
              </a:buClr>
              <a:buSzPts val="1800"/>
              <a:buFont typeface="Times"/>
              <a:buAutoNum type="arabicPeriod"/>
            </a:pPr>
            <a:r>
              <a:rPr lang="en-US" sz="1800">
                <a:highlight>
                  <a:srgbClr val="FFFFFF"/>
                </a:highlight>
                <a:latin typeface="Times"/>
                <a:ea typeface="Times"/>
                <a:cs typeface="Times"/>
                <a:sym typeface="Times"/>
              </a:rPr>
              <a:t>Add some code to the modules.</a:t>
            </a:r>
            <a:endParaRPr sz="1800">
              <a:highlight>
                <a:srgbClr val="FFFFFF"/>
              </a:highlight>
              <a:latin typeface="Times"/>
              <a:ea typeface="Times"/>
              <a:cs typeface="Times"/>
              <a:sym typeface="Times"/>
            </a:endParaRPr>
          </a:p>
          <a:p>
            <a:pPr indent="-342900" lvl="0" marL="685800" rtl="0" algn="l">
              <a:lnSpc>
                <a:spcPct val="115000"/>
              </a:lnSpc>
              <a:spcBef>
                <a:spcPts val="0"/>
              </a:spcBef>
              <a:spcAft>
                <a:spcPts val="0"/>
              </a:spcAft>
              <a:buClr>
                <a:srgbClr val="000000"/>
              </a:buClr>
              <a:buSzPts val="1800"/>
              <a:buFont typeface="Times"/>
              <a:buAutoNum type="arabicPeriod"/>
            </a:pPr>
            <a:r>
              <a:rPr lang="en-US" sz="1800">
                <a:highlight>
                  <a:srgbClr val="FFFFFF"/>
                </a:highlight>
                <a:latin typeface="Times"/>
                <a:ea typeface="Times"/>
                <a:cs typeface="Times"/>
                <a:sym typeface="Times"/>
              </a:rPr>
              <a:t>Finally, demonstrate how to import and use the modules from the package.</a:t>
            </a:r>
            <a:endParaRPr sz="1800">
              <a:highlight>
                <a:srgbClr val="FFFFFF"/>
              </a:highlight>
              <a:latin typeface="Times"/>
              <a:ea typeface="Times"/>
              <a:cs typeface="Times"/>
              <a:sym typeface="Times"/>
            </a:endParaRPr>
          </a:p>
          <a:p>
            <a:pPr indent="-342900" lvl="0" marL="457200" marR="190500" rtl="0" algn="l">
              <a:lnSpc>
                <a:spcPct val="115000"/>
              </a:lnSpc>
              <a:spcBef>
                <a:spcPts val="0"/>
              </a:spcBef>
              <a:spcAft>
                <a:spcPts val="0"/>
              </a:spcAft>
              <a:buClr>
                <a:srgbClr val="FFFFFF"/>
              </a:buClr>
              <a:buSzPts val="1800"/>
              <a:buFont typeface="Times"/>
              <a:buAutoNum type="arabicPeriod"/>
            </a:pPr>
            <a:r>
              <a:rPr lang="en-US" sz="1800">
                <a:highlight>
                  <a:srgbClr val="FFFFFF"/>
                </a:highlight>
                <a:latin typeface="Times"/>
                <a:ea typeface="Times"/>
                <a:cs typeface="Times"/>
                <a:sym typeface="Times"/>
              </a:rPr>
              <a:t>mypackage/</a:t>
            </a:r>
            <a:endParaRPr sz="1800">
              <a:highlight>
                <a:srgbClr val="FFFFFF"/>
              </a:highlight>
              <a:latin typeface="Times"/>
              <a:ea typeface="Times"/>
              <a:cs typeface="Times"/>
              <a:sym typeface="Times"/>
            </a:endParaRPr>
          </a:p>
          <a:p>
            <a:pPr indent="-342900" lvl="0" marL="457200" marR="190500" rtl="0" algn="l">
              <a:lnSpc>
                <a:spcPct val="115000"/>
              </a:lnSpc>
              <a:spcBef>
                <a:spcPts val="0"/>
              </a:spcBef>
              <a:spcAft>
                <a:spcPts val="0"/>
              </a:spcAft>
              <a:buClr>
                <a:srgbClr val="FFFFFF"/>
              </a:buClr>
              <a:buSzPts val="1800"/>
              <a:buFont typeface="Times"/>
              <a:buAutoNum type="arabicPeriod"/>
            </a:pPr>
            <a:r>
              <a:rPr lang="en-US" sz="1800">
                <a:highlight>
                  <a:srgbClr val="FFFFFF"/>
                </a:highlight>
                <a:latin typeface="Times"/>
                <a:ea typeface="Times"/>
                <a:cs typeface="Times"/>
                <a:sym typeface="Times"/>
              </a:rPr>
              <a:t>│</a:t>
            </a:r>
            <a:endParaRPr sz="1800">
              <a:highlight>
                <a:srgbClr val="FFFFFF"/>
              </a:highlight>
              <a:latin typeface="Times"/>
              <a:ea typeface="Times"/>
              <a:cs typeface="Times"/>
              <a:sym typeface="Times"/>
            </a:endParaRPr>
          </a:p>
          <a:p>
            <a:pPr indent="-342900" lvl="0" marL="457200" marR="190500" rtl="0" algn="l">
              <a:lnSpc>
                <a:spcPct val="115000"/>
              </a:lnSpc>
              <a:spcBef>
                <a:spcPts val="0"/>
              </a:spcBef>
              <a:spcAft>
                <a:spcPts val="0"/>
              </a:spcAft>
              <a:buClr>
                <a:srgbClr val="FFFFFF"/>
              </a:buClr>
              <a:buSzPts val="1800"/>
              <a:buFont typeface="Times"/>
              <a:buAutoNum type="arabicPeriod"/>
            </a:pPr>
            <a:r>
              <a:rPr lang="en-US" sz="1800">
                <a:highlight>
                  <a:srgbClr val="FFFFFF"/>
                </a:highlight>
                <a:latin typeface="Times"/>
                <a:ea typeface="Times"/>
                <a:cs typeface="Times"/>
                <a:sym typeface="Times"/>
              </a:rPr>
              <a:t>├── __init__.py</a:t>
            </a:r>
            <a:endParaRPr sz="1800">
              <a:highlight>
                <a:srgbClr val="FFFFFF"/>
              </a:highlight>
              <a:latin typeface="Times"/>
              <a:ea typeface="Times"/>
              <a:cs typeface="Times"/>
              <a:sym typeface="Times"/>
            </a:endParaRPr>
          </a:p>
          <a:p>
            <a:pPr indent="-342900" lvl="0" marL="457200" marR="190500" rtl="0" algn="l">
              <a:lnSpc>
                <a:spcPct val="115000"/>
              </a:lnSpc>
              <a:spcBef>
                <a:spcPts val="0"/>
              </a:spcBef>
              <a:spcAft>
                <a:spcPts val="0"/>
              </a:spcAft>
              <a:buClr>
                <a:srgbClr val="FFFFFF"/>
              </a:buClr>
              <a:buSzPts val="1800"/>
              <a:buFont typeface="Times"/>
              <a:buAutoNum type="arabicPeriod"/>
            </a:pPr>
            <a:r>
              <a:rPr lang="en-US" sz="1800">
                <a:highlight>
                  <a:srgbClr val="FFFFFF"/>
                </a:highlight>
                <a:latin typeface="Times"/>
                <a:ea typeface="Times"/>
                <a:cs typeface="Times"/>
                <a:sym typeface="Times"/>
              </a:rPr>
              <a:t>├── module1.py</a:t>
            </a:r>
            <a:endParaRPr sz="1800">
              <a:highlight>
                <a:srgbClr val="FFFFFF"/>
              </a:highlight>
              <a:latin typeface="Times"/>
              <a:ea typeface="Times"/>
              <a:cs typeface="Times"/>
              <a:sym typeface="Times"/>
            </a:endParaRPr>
          </a:p>
          <a:p>
            <a:pPr indent="-342900" lvl="0" marL="457200" marR="190500" rtl="0" algn="l">
              <a:lnSpc>
                <a:spcPct val="115000"/>
              </a:lnSpc>
              <a:spcBef>
                <a:spcPts val="0"/>
              </a:spcBef>
              <a:spcAft>
                <a:spcPts val="0"/>
              </a:spcAft>
              <a:buClr>
                <a:srgbClr val="FFFFFF"/>
              </a:buClr>
              <a:buSzPts val="1800"/>
              <a:buFont typeface="Times"/>
              <a:buAutoNum type="arabicPeriod"/>
            </a:pPr>
            <a:r>
              <a:rPr lang="en-US" sz="1800">
                <a:highlight>
                  <a:srgbClr val="FFFFFF"/>
                </a:highlight>
                <a:latin typeface="Times"/>
                <a:ea typeface="Times"/>
                <a:cs typeface="Times"/>
                <a:sym typeface="Times"/>
              </a:rPr>
              <a:t>└── module2.py</a:t>
            </a:r>
            <a:endParaRPr sz="1800">
              <a:highlight>
                <a:srgbClr val="FFFFFF"/>
              </a:highlight>
              <a:latin typeface="Times"/>
              <a:ea typeface="Times"/>
              <a:cs typeface="Times"/>
              <a:sym typeface="Times"/>
            </a:endParaRPr>
          </a:p>
        </p:txBody>
      </p:sp>
      <p:sp>
        <p:nvSpPr>
          <p:cNvPr id="1534" name="Google Shape;1534;p18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9" name="Shape 1539"/>
        <p:cNvGrpSpPr/>
        <p:nvPr/>
      </p:nvGrpSpPr>
      <p:grpSpPr>
        <a:xfrm>
          <a:off x="0" y="0"/>
          <a:ext cx="0" cy="0"/>
          <a:chOff x="0" y="0"/>
          <a:chExt cx="0" cy="0"/>
        </a:xfrm>
      </p:grpSpPr>
      <p:sp>
        <p:nvSpPr>
          <p:cNvPr id="1540" name="Google Shape;1540;p190"/>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Packages in Python</a:t>
            </a:r>
            <a:endParaRPr b="1" sz="3000">
              <a:solidFill>
                <a:srgbClr val="1C3678"/>
              </a:solidFill>
              <a:latin typeface="Trebuchet MS"/>
              <a:ea typeface="Trebuchet MS"/>
              <a:cs typeface="Trebuchet MS"/>
              <a:sym typeface="Trebuchet MS"/>
            </a:endParaRPr>
          </a:p>
        </p:txBody>
      </p:sp>
      <p:sp>
        <p:nvSpPr>
          <p:cNvPr id="1541" name="Google Shape;1541;p190"/>
          <p:cNvSpPr txBox="1"/>
          <p:nvPr/>
        </p:nvSpPr>
        <p:spPr>
          <a:xfrm>
            <a:off x="729300" y="835775"/>
            <a:ext cx="3337800" cy="13461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25075">
            <a:spAutoFit/>
          </a:bodyPr>
          <a:lstStyle/>
          <a:p>
            <a:pPr indent="0" lvl="0" marL="114300" rtl="0" algn="just">
              <a:spcBef>
                <a:spcPts val="290"/>
              </a:spcBef>
              <a:spcAft>
                <a:spcPts val="0"/>
              </a:spcAft>
              <a:buNone/>
            </a:pPr>
            <a:r>
              <a:rPr i="1" lang="en-US" sz="1800">
                <a:latin typeface="Times"/>
                <a:ea typeface="Times"/>
                <a:cs typeface="Times"/>
                <a:sym typeface="Times"/>
              </a:rPr>
              <a:t># module1.py</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def greet(name):</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print(f"Hello, {name}!")</a:t>
            </a:r>
            <a:endParaRPr i="1" sz="1800">
              <a:latin typeface="Times"/>
              <a:ea typeface="Times"/>
              <a:cs typeface="Times"/>
              <a:sym typeface="Times"/>
            </a:endParaRPr>
          </a:p>
          <a:p>
            <a:pPr indent="0" lvl="0" marL="114300" rtl="0" algn="just">
              <a:spcBef>
                <a:spcPts val="290"/>
              </a:spcBef>
              <a:spcAft>
                <a:spcPts val="0"/>
              </a:spcAft>
              <a:buNone/>
            </a:pPr>
            <a:r>
              <a:t/>
            </a:r>
            <a:endParaRPr i="1" sz="1800">
              <a:latin typeface="Times"/>
              <a:ea typeface="Times"/>
              <a:cs typeface="Times"/>
              <a:sym typeface="Times"/>
            </a:endParaRPr>
          </a:p>
        </p:txBody>
      </p:sp>
      <p:sp>
        <p:nvSpPr>
          <p:cNvPr id="1542" name="Google Shape;1542;p1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1543" name="Google Shape;1543;p190"/>
          <p:cNvSpPr txBox="1"/>
          <p:nvPr/>
        </p:nvSpPr>
        <p:spPr>
          <a:xfrm>
            <a:off x="4330600" y="835775"/>
            <a:ext cx="4504200" cy="29175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25075">
            <a:spAutoFit/>
          </a:bodyPr>
          <a:lstStyle/>
          <a:p>
            <a:pPr indent="0" lvl="0" marL="114300" rtl="0" algn="just">
              <a:spcBef>
                <a:spcPts val="290"/>
              </a:spcBef>
              <a:spcAft>
                <a:spcPts val="0"/>
              </a:spcAft>
              <a:buNone/>
            </a:pPr>
            <a:r>
              <a:rPr i="1" lang="en-US" sz="1800">
                <a:latin typeface="Times"/>
                <a:ea typeface="Times"/>
                <a:cs typeface="Times"/>
                <a:sym typeface="Times"/>
              </a:rPr>
              <a:t>from mypackage import module1, module2</a:t>
            </a:r>
            <a:endParaRPr i="1" sz="1800">
              <a:latin typeface="Times"/>
              <a:ea typeface="Times"/>
              <a:cs typeface="Times"/>
              <a:sym typeface="Times"/>
            </a:endParaRPr>
          </a:p>
          <a:p>
            <a:pPr indent="0" lvl="0" marL="114300" rtl="0" algn="just">
              <a:spcBef>
                <a:spcPts val="290"/>
              </a:spcBef>
              <a:spcAft>
                <a:spcPts val="0"/>
              </a:spcAft>
              <a:buNone/>
            </a:pPr>
            <a:r>
              <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Using functions from module1</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module1.greet("Alice")</a:t>
            </a:r>
            <a:endParaRPr i="1" sz="1800">
              <a:latin typeface="Times"/>
              <a:ea typeface="Times"/>
              <a:cs typeface="Times"/>
              <a:sym typeface="Times"/>
            </a:endParaRPr>
          </a:p>
          <a:p>
            <a:pPr indent="0" lvl="0" marL="114300" rtl="0" algn="just">
              <a:spcBef>
                <a:spcPts val="290"/>
              </a:spcBef>
              <a:spcAft>
                <a:spcPts val="0"/>
              </a:spcAft>
              <a:buNone/>
            </a:pPr>
            <a:r>
              <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Using functions from module2</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result = module2.add(3, 5)</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print("The result if addition is : {result}”)</a:t>
            </a:r>
            <a:endParaRPr i="1" sz="1800">
              <a:latin typeface="Times"/>
              <a:ea typeface="Times"/>
              <a:cs typeface="Times"/>
              <a:sym typeface="Times"/>
            </a:endParaRPr>
          </a:p>
          <a:p>
            <a:pPr indent="0" lvl="0" marL="114300" rtl="0" algn="just">
              <a:spcBef>
                <a:spcPts val="290"/>
              </a:spcBef>
              <a:spcAft>
                <a:spcPts val="0"/>
              </a:spcAft>
              <a:buNone/>
            </a:pPr>
            <a:r>
              <a:t/>
            </a:r>
            <a:endParaRPr i="1" sz="1800">
              <a:latin typeface="Times"/>
              <a:ea typeface="Times"/>
              <a:cs typeface="Times"/>
              <a:sym typeface="Times"/>
            </a:endParaRPr>
          </a:p>
        </p:txBody>
      </p:sp>
      <p:sp>
        <p:nvSpPr>
          <p:cNvPr id="1544" name="Google Shape;1544;p190"/>
          <p:cNvSpPr txBox="1"/>
          <p:nvPr/>
        </p:nvSpPr>
        <p:spPr>
          <a:xfrm>
            <a:off x="729300" y="2337925"/>
            <a:ext cx="3337800" cy="13461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25075">
            <a:spAutoFit/>
          </a:bodyPr>
          <a:lstStyle/>
          <a:p>
            <a:pPr indent="0" lvl="0" marL="114300" rtl="0" algn="just">
              <a:spcBef>
                <a:spcPts val="290"/>
              </a:spcBef>
              <a:spcAft>
                <a:spcPts val="0"/>
              </a:spcAft>
              <a:buNone/>
            </a:pPr>
            <a:r>
              <a:rPr i="1" lang="en-US" sz="1800">
                <a:latin typeface="Times"/>
                <a:ea typeface="Times"/>
                <a:cs typeface="Times"/>
                <a:sym typeface="Times"/>
              </a:rPr>
              <a:t># module2.py</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def add(a, b):</a:t>
            </a:r>
            <a:endParaRPr i="1" sz="1800">
              <a:latin typeface="Times"/>
              <a:ea typeface="Times"/>
              <a:cs typeface="Times"/>
              <a:sym typeface="Times"/>
            </a:endParaRPr>
          </a:p>
          <a:p>
            <a:pPr indent="0" lvl="0" marL="114300" rtl="0" algn="just">
              <a:spcBef>
                <a:spcPts val="290"/>
              </a:spcBef>
              <a:spcAft>
                <a:spcPts val="0"/>
              </a:spcAft>
              <a:buNone/>
            </a:pPr>
            <a:r>
              <a:rPr i="1" lang="en-US" sz="1800">
                <a:latin typeface="Times"/>
                <a:ea typeface="Times"/>
                <a:cs typeface="Times"/>
                <a:sym typeface="Times"/>
              </a:rPr>
              <a:t>    return a + b</a:t>
            </a:r>
            <a:endParaRPr i="1" sz="1800">
              <a:latin typeface="Times"/>
              <a:ea typeface="Times"/>
              <a:cs typeface="Times"/>
              <a:sym typeface="Times"/>
            </a:endParaRPr>
          </a:p>
          <a:p>
            <a:pPr indent="0" lvl="0" marL="114300" rtl="0" algn="just">
              <a:spcBef>
                <a:spcPts val="290"/>
              </a:spcBef>
              <a:spcAft>
                <a:spcPts val="0"/>
              </a:spcAft>
              <a:buNone/>
            </a:pPr>
            <a:r>
              <a:t/>
            </a:r>
            <a:endParaRPr i="1" sz="1800">
              <a:latin typeface="Times"/>
              <a:ea typeface="Times"/>
              <a:cs typeface="Times"/>
              <a:sym typeface="Times"/>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9" name="Shape 1549"/>
        <p:cNvGrpSpPr/>
        <p:nvPr/>
      </p:nvGrpSpPr>
      <p:grpSpPr>
        <a:xfrm>
          <a:off x="0" y="0"/>
          <a:ext cx="0" cy="0"/>
          <a:chOff x="0" y="0"/>
          <a:chExt cx="0" cy="0"/>
        </a:xfrm>
      </p:grpSpPr>
      <p:sp>
        <p:nvSpPr>
          <p:cNvPr id="1550" name="Google Shape;1550;p191"/>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Packages in Python</a:t>
            </a:r>
            <a:endParaRPr b="1" sz="3000">
              <a:solidFill>
                <a:srgbClr val="1C3678"/>
              </a:solidFill>
              <a:latin typeface="Trebuchet MS"/>
              <a:ea typeface="Trebuchet MS"/>
              <a:cs typeface="Trebuchet MS"/>
              <a:sym typeface="Trebuchet MS"/>
            </a:endParaRPr>
          </a:p>
        </p:txBody>
      </p:sp>
      <p:sp>
        <p:nvSpPr>
          <p:cNvPr id="1551" name="Google Shape;1551;p191"/>
          <p:cNvSpPr txBox="1"/>
          <p:nvPr/>
        </p:nvSpPr>
        <p:spPr>
          <a:xfrm>
            <a:off x="729300" y="835775"/>
            <a:ext cx="8107500" cy="3820500"/>
          </a:xfrm>
          <a:prstGeom prst="rect">
            <a:avLst/>
          </a:prstGeom>
          <a:noFill/>
          <a:ln>
            <a:noFill/>
          </a:ln>
        </p:spPr>
        <p:txBody>
          <a:bodyPr anchorCtr="0" anchor="t" bIns="0" lIns="0" spcFirstLastPara="1" rIns="0" wrap="square" tIns="125075">
            <a:spAutoFit/>
          </a:bodyPr>
          <a:lstStyle/>
          <a:p>
            <a:pPr indent="0" lvl="0" marL="0" rtl="0" algn="just">
              <a:lnSpc>
                <a:spcPct val="115000"/>
              </a:lnSpc>
              <a:spcBef>
                <a:spcPts val="0"/>
              </a:spcBef>
              <a:spcAft>
                <a:spcPts val="0"/>
              </a:spcAft>
              <a:buNone/>
            </a:pPr>
            <a:r>
              <a:rPr lang="en-US" sz="1800">
                <a:highlight>
                  <a:srgbClr val="FFFFFF"/>
                </a:highlight>
                <a:latin typeface="Times"/>
                <a:ea typeface="Times"/>
                <a:cs typeface="Times"/>
                <a:sym typeface="Times"/>
              </a:rPr>
              <a:t>Python packages tailored for AI and machine learning applications. From performing statistical analysis and visualizing data to delving into advanced topics like deep learning, natural language processing (NLP), generative AI, and computer vision, these packages offer a comprehensive toolkit for tackling diverse challenges in the field.</a:t>
            </a:r>
            <a:endParaRPr sz="1800">
              <a:highlight>
                <a:srgbClr val="FFFFFF"/>
              </a:highlight>
              <a:latin typeface="Times"/>
              <a:ea typeface="Times"/>
              <a:cs typeface="Times"/>
              <a:sym typeface="Times"/>
            </a:endParaRPr>
          </a:p>
          <a:p>
            <a:pPr indent="-342900" lvl="0" marL="457200" rtl="0" algn="just">
              <a:lnSpc>
                <a:spcPct val="115000"/>
              </a:lnSpc>
              <a:spcBef>
                <a:spcPts val="1800"/>
              </a:spcBef>
              <a:spcAft>
                <a:spcPts val="0"/>
              </a:spcAft>
              <a:buSzPts val="1800"/>
              <a:buFont typeface="Times"/>
              <a:buChar char="●"/>
            </a:pPr>
            <a:r>
              <a:rPr lang="en-US" sz="1800">
                <a:highlight>
                  <a:srgbClr val="FFFFFF"/>
                </a:highlight>
                <a:latin typeface="Times"/>
                <a:ea typeface="Times"/>
                <a:cs typeface="Times"/>
                <a:sym typeface="Times"/>
              </a:rPr>
              <a:t>Statistical</a:t>
            </a:r>
            <a:r>
              <a:rPr lang="en-US" sz="1800">
                <a:highlight>
                  <a:srgbClr val="FFFFFF"/>
                </a:highlight>
                <a:latin typeface="Times"/>
                <a:ea typeface="Times"/>
                <a:cs typeface="Times"/>
                <a:sym typeface="Times"/>
              </a:rPr>
              <a:t> analysis (NumPy, SciPy, Pandas)</a:t>
            </a:r>
            <a:endParaRPr sz="1800">
              <a:highlight>
                <a:srgbClr val="FFFFFF"/>
              </a:highlight>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highlight>
                  <a:srgbClr val="FFFFFF"/>
                </a:highlight>
                <a:latin typeface="Times"/>
                <a:ea typeface="Times"/>
                <a:cs typeface="Times"/>
                <a:sym typeface="Times"/>
              </a:rPr>
              <a:t>Data Visualization ( Matplotlib, Seaborn, Plotly)</a:t>
            </a:r>
            <a:endParaRPr sz="1800">
              <a:highlight>
                <a:srgbClr val="FFFFFF"/>
              </a:highlight>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highlight>
                  <a:srgbClr val="FFFFFF"/>
                </a:highlight>
                <a:latin typeface="Times"/>
                <a:ea typeface="Times"/>
                <a:cs typeface="Times"/>
                <a:sym typeface="Times"/>
              </a:rPr>
              <a:t>Deep Learning( Scikit-learn, Tensorflow, torch)</a:t>
            </a:r>
            <a:endParaRPr sz="1800">
              <a:highlight>
                <a:srgbClr val="FFFFFF"/>
              </a:highlight>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highlight>
                  <a:srgbClr val="FFFFFF"/>
                </a:highlight>
                <a:latin typeface="Times"/>
                <a:ea typeface="Times"/>
                <a:cs typeface="Times"/>
                <a:sym typeface="Times"/>
              </a:rPr>
              <a:t>Natural Language Processing( NLTK, spaCy, Transformers)</a:t>
            </a:r>
            <a:endParaRPr sz="1800">
              <a:highlight>
                <a:srgbClr val="FFFFFF"/>
              </a:highlight>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highlight>
                  <a:srgbClr val="FFFFFF"/>
                </a:highlight>
                <a:latin typeface="Times"/>
                <a:ea typeface="Times"/>
                <a:cs typeface="Times"/>
                <a:sym typeface="Times"/>
              </a:rPr>
              <a:t>Generative AI(Keras, spaCy, generative)</a:t>
            </a:r>
            <a:endParaRPr sz="1800">
              <a:highlight>
                <a:srgbClr val="FFFFFF"/>
              </a:highlight>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highlight>
                  <a:srgbClr val="FFFFFF"/>
                </a:highlight>
                <a:latin typeface="Times"/>
                <a:ea typeface="Times"/>
                <a:cs typeface="Times"/>
                <a:sym typeface="Times"/>
              </a:rPr>
              <a:t>Computer vision(OpenCV, Tensorflow)</a:t>
            </a:r>
            <a:endParaRPr sz="1800">
              <a:highlight>
                <a:srgbClr val="FFFFFF"/>
              </a:highlight>
              <a:latin typeface="Times"/>
              <a:ea typeface="Times"/>
              <a:cs typeface="Times"/>
              <a:sym typeface="Times"/>
            </a:endParaRPr>
          </a:p>
          <a:p>
            <a:pPr indent="-342900" lvl="0" marL="457200" rtl="0" algn="just">
              <a:lnSpc>
                <a:spcPct val="115000"/>
              </a:lnSpc>
              <a:spcBef>
                <a:spcPts val="0"/>
              </a:spcBef>
              <a:spcAft>
                <a:spcPts val="0"/>
              </a:spcAft>
              <a:buSzPts val="1800"/>
              <a:buFont typeface="Times"/>
              <a:buChar char="●"/>
            </a:pPr>
            <a:r>
              <a:rPr lang="en-US" sz="1800">
                <a:highlight>
                  <a:srgbClr val="FFFFFF"/>
                </a:highlight>
                <a:latin typeface="Times"/>
                <a:ea typeface="Times"/>
                <a:cs typeface="Times"/>
                <a:sym typeface="Times"/>
              </a:rPr>
              <a:t>GUI (Tkinter, PyQT5)</a:t>
            </a:r>
            <a:endParaRPr sz="1800">
              <a:highlight>
                <a:srgbClr val="FFFFFF"/>
              </a:highlight>
              <a:latin typeface="Times"/>
              <a:ea typeface="Times"/>
              <a:cs typeface="Times"/>
              <a:sym typeface="Times"/>
            </a:endParaRPr>
          </a:p>
        </p:txBody>
      </p:sp>
      <p:sp>
        <p:nvSpPr>
          <p:cNvPr id="1552" name="Google Shape;1552;p1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7" name="Shape 1557"/>
        <p:cNvGrpSpPr/>
        <p:nvPr/>
      </p:nvGrpSpPr>
      <p:grpSpPr>
        <a:xfrm>
          <a:off x="0" y="0"/>
          <a:ext cx="0" cy="0"/>
          <a:chOff x="0" y="0"/>
          <a:chExt cx="0" cy="0"/>
        </a:xfrm>
      </p:grpSpPr>
      <p:sp>
        <p:nvSpPr>
          <p:cNvPr id="1558" name="Google Shape;1558;p192"/>
          <p:cNvSpPr txBox="1"/>
          <p:nvPr/>
        </p:nvSpPr>
        <p:spPr>
          <a:xfrm>
            <a:off x="573225" y="318525"/>
            <a:ext cx="8107500" cy="4746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3000">
                <a:solidFill>
                  <a:srgbClr val="1C3678"/>
                </a:solidFill>
                <a:latin typeface="Trebuchet MS"/>
                <a:ea typeface="Trebuchet MS"/>
                <a:cs typeface="Trebuchet MS"/>
                <a:sym typeface="Trebuchet MS"/>
              </a:rPr>
              <a:t>Module vs </a:t>
            </a:r>
            <a:r>
              <a:rPr b="1" lang="en-US" sz="3000">
                <a:solidFill>
                  <a:srgbClr val="1C3678"/>
                </a:solidFill>
                <a:latin typeface="Trebuchet MS"/>
                <a:ea typeface="Trebuchet MS"/>
                <a:cs typeface="Trebuchet MS"/>
                <a:sym typeface="Trebuchet MS"/>
              </a:rPr>
              <a:t>Packages in Python</a:t>
            </a:r>
            <a:endParaRPr b="1" sz="3000">
              <a:solidFill>
                <a:srgbClr val="1C3678"/>
              </a:solidFill>
              <a:latin typeface="Trebuchet MS"/>
              <a:ea typeface="Trebuchet MS"/>
              <a:cs typeface="Trebuchet MS"/>
              <a:sym typeface="Trebuchet MS"/>
            </a:endParaRPr>
          </a:p>
        </p:txBody>
      </p:sp>
      <p:sp>
        <p:nvSpPr>
          <p:cNvPr id="1559" name="Google Shape;1559;p192"/>
          <p:cNvSpPr txBox="1"/>
          <p:nvPr/>
        </p:nvSpPr>
        <p:spPr>
          <a:xfrm>
            <a:off x="729300" y="835775"/>
            <a:ext cx="8107500" cy="3067200"/>
          </a:xfrm>
          <a:prstGeom prst="rect">
            <a:avLst/>
          </a:prstGeom>
          <a:noFill/>
          <a:ln>
            <a:noFill/>
          </a:ln>
        </p:spPr>
        <p:txBody>
          <a:bodyPr anchorCtr="0" anchor="t" bIns="0" lIns="0" spcFirstLastPara="1" rIns="0" wrap="square" tIns="125075">
            <a:spAutoFit/>
          </a:bodyPr>
          <a:lstStyle/>
          <a:p>
            <a:pPr indent="0" lvl="0" marL="0" rtl="0" algn="just">
              <a:lnSpc>
                <a:spcPct val="158000"/>
              </a:lnSpc>
              <a:spcBef>
                <a:spcPts val="0"/>
              </a:spcBef>
              <a:spcAft>
                <a:spcPts val="0"/>
              </a:spcAft>
              <a:buNone/>
            </a:pPr>
            <a:r>
              <a:rPr b="1" lang="en-US" sz="1800">
                <a:latin typeface="Times"/>
                <a:ea typeface="Times"/>
                <a:cs typeface="Times"/>
                <a:sym typeface="Times"/>
              </a:rPr>
              <a:t>Module</a:t>
            </a:r>
            <a:r>
              <a:rPr lang="en-US" sz="1800">
                <a:latin typeface="Times"/>
                <a:ea typeface="Times"/>
                <a:cs typeface="Times"/>
                <a:sym typeface="Times"/>
              </a:rPr>
              <a:t>: A module in Python is a single file (with a .py extension) that contains Python code. It can include variables, functions, classes, and even runnable code.</a:t>
            </a:r>
            <a:endParaRPr sz="1800">
              <a:latin typeface="Times"/>
              <a:ea typeface="Times"/>
              <a:cs typeface="Times"/>
              <a:sym typeface="Times"/>
            </a:endParaRPr>
          </a:p>
          <a:p>
            <a:pPr indent="0" lvl="0" marL="0" rtl="0" algn="just">
              <a:lnSpc>
                <a:spcPct val="158000"/>
              </a:lnSpc>
              <a:spcBef>
                <a:spcPts val="0"/>
              </a:spcBef>
              <a:spcAft>
                <a:spcPts val="0"/>
              </a:spcAft>
              <a:buNone/>
            </a:pPr>
            <a:r>
              <a:rPr b="1" lang="en-US" sz="1800">
                <a:latin typeface="Times"/>
                <a:ea typeface="Times"/>
                <a:cs typeface="Times"/>
                <a:sym typeface="Times"/>
              </a:rPr>
              <a:t>Package</a:t>
            </a:r>
            <a:r>
              <a:rPr lang="en-US" sz="1800">
                <a:latin typeface="Times"/>
                <a:ea typeface="Times"/>
                <a:cs typeface="Times"/>
                <a:sym typeface="Times"/>
              </a:rPr>
              <a:t>: A package is a collection of Python modules under a common namespace. In practice, it is a directory that contains a special file __init__.py (which may be empty) and one or more module files and sub-packages. Packages allow for a hierarchical structuring of the module namespace using dot notation (e.g., package.module).</a:t>
            </a:r>
            <a:endParaRPr sz="1800">
              <a:latin typeface="Times"/>
              <a:ea typeface="Times"/>
              <a:cs typeface="Times"/>
              <a:sym typeface="Times"/>
            </a:endParaRPr>
          </a:p>
          <a:p>
            <a:pPr indent="-342900" lvl="0" marL="457200" rtl="0" algn="just">
              <a:spcBef>
                <a:spcPts val="290"/>
              </a:spcBef>
              <a:spcAft>
                <a:spcPts val="0"/>
              </a:spcAft>
              <a:buClr>
                <a:srgbClr val="FFFFFF"/>
              </a:buClr>
              <a:buSzPts val="1800"/>
              <a:buFont typeface="Times"/>
              <a:buChar char="●"/>
            </a:pPr>
            <a:r>
              <a:t/>
            </a:r>
            <a:endParaRPr i="1" sz="1800">
              <a:latin typeface="Times"/>
              <a:ea typeface="Times"/>
              <a:cs typeface="Times"/>
              <a:sym typeface="Times"/>
            </a:endParaRPr>
          </a:p>
        </p:txBody>
      </p:sp>
      <p:sp>
        <p:nvSpPr>
          <p:cNvPr id="1560" name="Google Shape;1560;p19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