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B7B6CBD-B871-4DEF-89C6-DD3256D564B7}">
  <a:tblStyle styleId="{DB7B6CBD-B871-4DEF-89C6-DD3256D564B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228881b9a7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228881b9a7_0_7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228881b9a7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228881b9a7_0_7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e245b6ae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2e245b6aed_0_1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e245b6aed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2e245b6aed_0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e245b6ae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2e245b6aed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2e245b6aed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2e245b6aed_0_4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2e245b6aed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2e245b6aed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2e245b6ae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2e245b6aed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2e245b6aed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2e245b6aed_0_4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2e245b6aed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2e245b6aed_0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2e245b6aed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2e245b6aed_0_4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2e245b6aed_0_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2e245b6aed_0_5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2e245b6aed_0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2e245b6aed_0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e245b6ae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2e245b6aed_0_5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2e245b6aed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g32e245b6aed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2e245b6aed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2e245b6aed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2e245b6aed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2e245b6aed_0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2e245b6ae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2e245b6ae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0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hyperlink" Target="mailto:baburam1@fusemachines.com" TargetMode="External"/><Relationship Id="rId4" Type="http://schemas.openxmlformats.org/officeDocument/2006/relationships/hyperlink" Target="https://www.linkedin.com/in/shrestha-baburam/" TargetMode="External"/><Relationship Id="rId10" Type="http://schemas.openxmlformats.org/officeDocument/2006/relationships/hyperlink" Target="https://www.w3schools.com/dsa/dsa_algo_graphs_bellmanford.php" TargetMode="External"/><Relationship Id="rId9" Type="http://schemas.openxmlformats.org/officeDocument/2006/relationships/hyperlink" Target="https://www.w3schools.com/dsa/dsa_algo_graphs_dijkstra.php" TargetMode="External"/><Relationship Id="rId5" Type="http://schemas.openxmlformats.org/officeDocument/2006/relationships/hyperlink" Target="mailto:baburam1@fusemachines.com" TargetMode="External"/><Relationship Id="rId6" Type="http://schemas.openxmlformats.org/officeDocument/2006/relationships/hyperlink" Target="https://www.linkedin.com/in/shrestha-baburam/" TargetMode="External"/><Relationship Id="rId7" Type="http://schemas.openxmlformats.org/officeDocument/2006/relationships/hyperlink" Target="https://www.youtube.com/watch?v=XB4MIexjvY0" TargetMode="External"/><Relationship Id="rId8" Type="http://schemas.openxmlformats.org/officeDocument/2006/relationships/hyperlink" Target="https://www.w3schools.com/dsa/dsa_theory_graphs_shortestpath.php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5324225" y="4150125"/>
            <a:ext cx="35067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https://www.linkedin.com/in/shrestha-baburam/</a:t>
            </a:r>
            <a:endParaRPr b="1" sz="1300"/>
          </a:p>
        </p:txBody>
      </p:sp>
      <p:pic>
        <p:nvPicPr>
          <p:cNvPr id="87" name="Google Shape;8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988" y="4192926"/>
            <a:ext cx="230850" cy="2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324225" y="3711475"/>
            <a:ext cx="26382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shrestha.baburam1997@gmail.com</a:t>
            </a:r>
            <a:endParaRPr b="1" sz="1300"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6365" y="3316782"/>
            <a:ext cx="254190" cy="318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8500" y="3328150"/>
            <a:ext cx="254175" cy="2541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192775" y="3313500"/>
            <a:ext cx="1314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+977 9846871406</a:t>
            </a:r>
            <a:endParaRPr b="1" sz="1300"/>
          </a:p>
        </p:txBody>
      </p:sp>
      <p:sp>
        <p:nvSpPr>
          <p:cNvPr id="92" name="Google Shape;92;p13"/>
          <p:cNvSpPr txBox="1"/>
          <p:nvPr/>
        </p:nvSpPr>
        <p:spPr>
          <a:xfrm>
            <a:off x="5324225" y="4528875"/>
            <a:ext cx="24939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/>
              <a:t>https://github.com/baburam1997/</a:t>
            </a:r>
            <a:endParaRPr b="1" sz="1300"/>
          </a:p>
        </p:txBody>
      </p:sp>
      <p:sp>
        <p:nvSpPr>
          <p:cNvPr id="93" name="Google Shape;93;p13"/>
          <p:cNvSpPr txBox="1"/>
          <p:nvPr/>
        </p:nvSpPr>
        <p:spPr>
          <a:xfrm>
            <a:off x="-7175" y="928000"/>
            <a:ext cx="9144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2B2C30"/>
                </a:solidFill>
              </a:rPr>
              <a:t>Shortest Path Algorithms</a:t>
            </a:r>
            <a:r>
              <a:rPr b="1" lang="en-GB" sz="4800">
                <a:solidFill>
                  <a:srgbClr val="2B2C30"/>
                </a:solidFill>
              </a:rPr>
              <a:t> </a:t>
            </a:r>
            <a:endParaRPr sz="4800"/>
          </a:p>
        </p:txBody>
      </p:sp>
      <p:cxnSp>
        <p:nvCxnSpPr>
          <p:cNvPr id="94" name="Google Shape;94;p13"/>
          <p:cNvCxnSpPr/>
          <p:nvPr/>
        </p:nvCxnSpPr>
        <p:spPr>
          <a:xfrm>
            <a:off x="-7187" y="17121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3"/>
          <p:cNvCxnSpPr/>
          <p:nvPr/>
        </p:nvCxnSpPr>
        <p:spPr>
          <a:xfrm>
            <a:off x="-7187" y="17883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" name="Google Shape;9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77195" y="3237300"/>
            <a:ext cx="1360455" cy="1638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3"/>
          <p:cNvCxnSpPr/>
          <p:nvPr/>
        </p:nvCxnSpPr>
        <p:spPr>
          <a:xfrm>
            <a:off x="-7187" y="9280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3"/>
          <p:cNvCxnSpPr/>
          <p:nvPr/>
        </p:nvCxnSpPr>
        <p:spPr>
          <a:xfrm>
            <a:off x="-7187" y="1004200"/>
            <a:ext cx="9151200" cy="2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9" name="Google Shape;9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82266" y="3303225"/>
            <a:ext cx="320939" cy="320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2051" y="3344682"/>
            <a:ext cx="240725" cy="237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13613" y="3677390"/>
            <a:ext cx="399599" cy="399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15525" y="4539700"/>
            <a:ext cx="230851" cy="2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Shortest </a:t>
            </a:r>
            <a:r>
              <a:rPr b="1" lang="en-GB" sz="4000">
                <a:solidFill>
                  <a:srgbClr val="2B2C30"/>
                </a:solidFill>
              </a:rPr>
              <a:t>Path Problem</a:t>
            </a:r>
            <a:endParaRPr sz="4800"/>
          </a:p>
        </p:txBody>
      </p:sp>
      <p:cxnSp>
        <p:nvCxnSpPr>
          <p:cNvPr id="111" name="Google Shape;111;p14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4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The 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shortest path problem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involves finding the path between two vertices in a graph such that the sum of the weights of its edges is minimized.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This problem is fundamental in graph theory and has numerous applications in networking, transportation, and optimization.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To solve the shortest path problem means to find the shortest possible route or path between two vertices (or nodes) in a Graph.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18" name="Google Shape;118;p1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Shortest Path Problem</a:t>
            </a:r>
            <a:endParaRPr sz="4800"/>
          </a:p>
        </p:txBody>
      </p:sp>
      <p:cxnSp>
        <p:nvCxnSpPr>
          <p:cNvPr id="121" name="Google Shape;121;p15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15"/>
          <p:cNvSpPr txBox="1"/>
          <p:nvPr/>
        </p:nvSpPr>
        <p:spPr>
          <a:xfrm>
            <a:off x="553925" y="906400"/>
            <a:ext cx="8196600" cy="1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Given a directed weighted graph G = (v, e,w) and two vertices x and y, find the least-cost path from x to y in G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The task is to find a path P that minimizes the function: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𝑤(P) =  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u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∑</a:t>
            </a:r>
            <a:r>
              <a:rPr baseline="-25000" lang="en-GB" sz="1900">
                <a:latin typeface="Times"/>
                <a:ea typeface="Times"/>
                <a:cs typeface="Times"/>
                <a:sym typeface="Times"/>
              </a:rPr>
              <a:t>u</a:t>
            </a:r>
            <a:r>
              <a:rPr baseline="-25000" lang="en-GB" sz="2000">
                <a:latin typeface="Times"/>
                <a:ea typeface="Times"/>
                <a:cs typeface="Times"/>
                <a:sym typeface="Times"/>
              </a:rPr>
              <a:t>→v</a:t>
            </a:r>
            <a:r>
              <a:rPr baseline="-25000" lang="en-GB" sz="1450">
                <a:latin typeface="Times New Roman"/>
                <a:ea typeface="Times New Roman"/>
                <a:cs typeface="Times New Roman"/>
                <a:sym typeface="Times New Roman"/>
              </a:rPr>
              <a:t>∈P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𝑤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(𝑢→P)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815402" y="1774975"/>
            <a:ext cx="690300" cy="5736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6815402" y="3330174"/>
            <a:ext cx="690300" cy="5736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8060171" y="2565943"/>
            <a:ext cx="690300" cy="5736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v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5570675" y="2565943"/>
            <a:ext cx="690300" cy="5736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u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27" name="Google Shape;127;p15"/>
          <p:cNvCxnSpPr>
            <a:stCxn id="126" idx="7"/>
            <a:endCxn id="123" idx="2"/>
          </p:cNvCxnSpPr>
          <p:nvPr/>
        </p:nvCxnSpPr>
        <p:spPr>
          <a:xfrm flipH="1" rot="10800000">
            <a:off x="6159883" y="2061645"/>
            <a:ext cx="655500" cy="58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15"/>
          <p:cNvCxnSpPr>
            <a:stCxn id="126" idx="5"/>
            <a:endCxn id="124" idx="2"/>
          </p:cNvCxnSpPr>
          <p:nvPr/>
        </p:nvCxnSpPr>
        <p:spPr>
          <a:xfrm>
            <a:off x="6159883" y="3055542"/>
            <a:ext cx="655500" cy="56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15"/>
          <p:cNvCxnSpPr>
            <a:stCxn id="123" idx="6"/>
            <a:endCxn id="125" idx="1"/>
          </p:cNvCxnSpPr>
          <p:nvPr/>
        </p:nvCxnSpPr>
        <p:spPr>
          <a:xfrm>
            <a:off x="7505702" y="2061775"/>
            <a:ext cx="655500" cy="588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15"/>
          <p:cNvCxnSpPr>
            <a:stCxn id="124" idx="6"/>
            <a:endCxn id="125" idx="3"/>
          </p:cNvCxnSpPr>
          <p:nvPr/>
        </p:nvCxnSpPr>
        <p:spPr>
          <a:xfrm flipH="1" rot="10800000">
            <a:off x="7505702" y="3055674"/>
            <a:ext cx="655500" cy="561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15"/>
          <p:cNvCxnSpPr>
            <a:stCxn id="123" idx="4"/>
            <a:endCxn id="124" idx="0"/>
          </p:cNvCxnSpPr>
          <p:nvPr/>
        </p:nvCxnSpPr>
        <p:spPr>
          <a:xfrm>
            <a:off x="7160552" y="2348575"/>
            <a:ext cx="0" cy="981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15"/>
          <p:cNvSpPr txBox="1"/>
          <p:nvPr/>
        </p:nvSpPr>
        <p:spPr>
          <a:xfrm>
            <a:off x="6063661" y="2023931"/>
            <a:ext cx="5319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3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7766001" y="1973017"/>
            <a:ext cx="7653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7841062" y="3259712"/>
            <a:ext cx="690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6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988105" y="3174339"/>
            <a:ext cx="60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7160531" y="2649946"/>
            <a:ext cx="434700" cy="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1219305" y="2909050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2419038" y="2909041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3618775" y="2909041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40" name="Google Shape;140;p15"/>
          <p:cNvCxnSpPr>
            <a:stCxn id="138" idx="6"/>
            <a:endCxn id="139" idx="2"/>
          </p:cNvCxnSpPr>
          <p:nvPr/>
        </p:nvCxnSpPr>
        <p:spPr>
          <a:xfrm>
            <a:off x="3063738" y="3252391"/>
            <a:ext cx="55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15"/>
          <p:cNvCxnSpPr>
            <a:stCxn id="137" idx="6"/>
            <a:endCxn id="138" idx="2"/>
          </p:cNvCxnSpPr>
          <p:nvPr/>
        </p:nvCxnSpPr>
        <p:spPr>
          <a:xfrm>
            <a:off x="1864005" y="3252400"/>
            <a:ext cx="555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5"/>
          <p:cNvSpPr txBox="1"/>
          <p:nvPr/>
        </p:nvSpPr>
        <p:spPr>
          <a:xfrm>
            <a:off x="1913575" y="2822400"/>
            <a:ext cx="476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3119561" y="2822400"/>
            <a:ext cx="470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4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1219300" y="3616875"/>
            <a:ext cx="30813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S = {a, b} = 2</a:t>
            </a:r>
            <a:endParaRPr i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S = {b, c} = 4 </a:t>
            </a:r>
            <a:endParaRPr i="1" sz="18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i="1" lang="en-GB" sz="1800">
                <a:latin typeface="Times"/>
                <a:ea typeface="Times"/>
                <a:cs typeface="Times"/>
                <a:sym typeface="Times"/>
              </a:rPr>
              <a:t>S = {a, b, c} = 2 + 4 = 6</a:t>
            </a:r>
            <a:endParaRPr i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50" name="Google Shape;150;p1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Shortest Path Problem</a:t>
            </a:r>
            <a:endParaRPr b="1" sz="4000">
              <a:solidFill>
                <a:srgbClr val="2B2C30"/>
              </a:solidFill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6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195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000"/>
              <a:buChar char="➔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Single-Source Shortest Path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Find the shortest paths from a source vertex to all other vertices.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Dijkstra's Algorithm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For graphs with non-negative edge weights.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Bellman-Ford Algorithm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 Handles graphs with negative edge weights and cannot handle the graph with negative weights cycle.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1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Single-Pair Shortest Path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Find the shortest path between a single source and a single destination.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1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All-Pairs Shortest Path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Find the shortest paths between all pairs of vertices.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72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Floyd-Warshall Algorithm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, </a:t>
            </a: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Johnson's Algorithm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1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➔"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K-Shortest Paths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3" marL="81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○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Find the kkk-shortest paths between two vertices.</a:t>
            </a:r>
            <a:endParaRPr sz="20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163" name="Google Shape;163;p17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7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269999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It is greedy algorithm, used to find the shortest path from single source vertex to all other vertices in a weighted graphs.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It works for the graph with non-negative edge weights.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70" name="Google Shape;170;p1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173" name="Google Shape;173;p18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18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Finds the shortest path from a source vertex to all other vertices in O(V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) time for dense graphs (or O((V+E)log⁡V) using a priority queue. Assumes non-negative edge weights.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For each edge (u, v) ∊ E, assume w(u, v) ≥ 0, maintain a set S of vertices whose final shortest path weights have been determined. 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Repeatedly select u ∊ V − S with minimum shortest path estimate, add u to S, relax all edges out of u.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RELAX(u, v, w)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if d[v] &gt; d[u] + w(u, v)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then d[v] = d[u] + w(u, v)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80" name="Google Shape;180;p1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b="1" sz="4000">
              <a:solidFill>
                <a:srgbClr val="2B2C30"/>
              </a:solidFill>
            </a:endParaRPr>
          </a:p>
        </p:txBody>
      </p:sp>
      <p:cxnSp>
        <p:nvCxnSpPr>
          <p:cNvPr id="183" name="Google Shape;183;p19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19"/>
          <p:cNvSpPr/>
          <p:nvPr/>
        </p:nvSpPr>
        <p:spPr>
          <a:xfrm>
            <a:off x="4655750" y="2236829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039051" y="2236819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422357" y="2236819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87" name="Google Shape;187;p19"/>
          <p:cNvCxnSpPr>
            <a:stCxn id="185" idx="6"/>
            <a:endCxn id="186" idx="2"/>
          </p:cNvCxnSpPr>
          <p:nvPr/>
        </p:nvCxnSpPr>
        <p:spPr>
          <a:xfrm>
            <a:off x="6782451" y="2614969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19"/>
          <p:cNvCxnSpPr>
            <a:stCxn id="184" idx="6"/>
            <a:endCxn id="185" idx="2"/>
          </p:cNvCxnSpPr>
          <p:nvPr/>
        </p:nvCxnSpPr>
        <p:spPr>
          <a:xfrm>
            <a:off x="5399150" y="2614979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19"/>
          <p:cNvSpPr txBox="1"/>
          <p:nvPr/>
        </p:nvSpPr>
        <p:spPr>
          <a:xfrm>
            <a:off x="5493413" y="2024443"/>
            <a:ext cx="4266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866707" y="2011024"/>
            <a:ext cx="4914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4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5036250" y="1811169"/>
            <a:ext cx="3384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0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19"/>
          <p:cNvSpPr txBox="1"/>
          <p:nvPr/>
        </p:nvSpPr>
        <p:spPr>
          <a:xfrm>
            <a:off x="6457900" y="1811260"/>
            <a:ext cx="4266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7900400" y="1753700"/>
            <a:ext cx="426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400">
                <a:latin typeface="Times"/>
                <a:ea typeface="Times"/>
                <a:cs typeface="Times"/>
                <a:sym typeface="Times"/>
              </a:rPr>
              <a:t>∞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84500" y="1753750"/>
            <a:ext cx="3987600" cy="1239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We have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d[a]=0, and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direct path from a to b so that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d[b] = d[a] + w[a,b] = 0 + 2 = 2, but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we 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don't</a:t>
            </a:r>
            <a:r>
              <a:rPr lang="en-GB" sz="1800">
                <a:latin typeface="Times"/>
                <a:ea typeface="Times"/>
                <a:cs typeface="Times"/>
                <a:sym typeface="Times"/>
              </a:rPr>
              <a:t> have direct path from a to c so that d[c] is ∞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4655750" y="3584685"/>
            <a:ext cx="743400" cy="735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039051" y="3584676"/>
            <a:ext cx="743400" cy="735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422357" y="3584676"/>
            <a:ext cx="743400" cy="735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98" name="Google Shape;198;p19"/>
          <p:cNvCxnSpPr>
            <a:stCxn id="196" idx="6"/>
            <a:endCxn id="197" idx="2"/>
          </p:cNvCxnSpPr>
          <p:nvPr/>
        </p:nvCxnSpPr>
        <p:spPr>
          <a:xfrm>
            <a:off x="6782451" y="3952326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9" name="Google Shape;199;p19"/>
          <p:cNvCxnSpPr>
            <a:stCxn id="195" idx="6"/>
            <a:endCxn id="196" idx="2"/>
          </p:cNvCxnSpPr>
          <p:nvPr/>
        </p:nvCxnSpPr>
        <p:spPr>
          <a:xfrm>
            <a:off x="5399150" y="3952335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19"/>
          <p:cNvSpPr txBox="1"/>
          <p:nvPr/>
        </p:nvSpPr>
        <p:spPr>
          <a:xfrm>
            <a:off x="5493413" y="3378177"/>
            <a:ext cx="426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866707" y="3365130"/>
            <a:ext cx="4914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4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5036250" y="3170806"/>
            <a:ext cx="3384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0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6457900" y="3170894"/>
            <a:ext cx="4266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900400" y="3114927"/>
            <a:ext cx="426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b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584500" y="3114975"/>
            <a:ext cx="3987600" cy="1205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Times"/>
                <a:ea typeface="Times"/>
                <a:cs typeface="Times"/>
                <a:sym typeface="Times"/>
              </a:rPr>
              <a:t>We have direct path from b to c so that d[c] = d[b] + w[b,c] = 2 + 4 = 6, and which is less than ∞ so that d[c] = 6</a:t>
            </a:r>
            <a:endParaRPr sz="19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572650" y="4416675"/>
            <a:ext cx="8201700" cy="54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9900FF"/>
                </a:solidFill>
                <a:latin typeface="Times"/>
                <a:ea typeface="Times"/>
                <a:cs typeface="Times"/>
                <a:sym typeface="Times"/>
              </a:rPr>
              <a:t>The shortest paths are a→b is 2, b→c is 4, and a→b→c : 6</a:t>
            </a:r>
            <a:endParaRPr i="1" sz="2000">
              <a:solidFill>
                <a:srgbClr val="9900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4655750" y="983804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6039051" y="983794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7422357" y="983794"/>
            <a:ext cx="743400" cy="756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10" name="Google Shape;210;p19"/>
          <p:cNvCxnSpPr>
            <a:stCxn id="208" idx="6"/>
            <a:endCxn id="209" idx="2"/>
          </p:cNvCxnSpPr>
          <p:nvPr/>
        </p:nvCxnSpPr>
        <p:spPr>
          <a:xfrm>
            <a:off x="6782451" y="1361944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19"/>
          <p:cNvCxnSpPr>
            <a:stCxn id="207" idx="6"/>
            <a:endCxn id="208" idx="2"/>
          </p:cNvCxnSpPr>
          <p:nvPr/>
        </p:nvCxnSpPr>
        <p:spPr>
          <a:xfrm>
            <a:off x="5399150" y="1361954"/>
            <a:ext cx="639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19"/>
          <p:cNvSpPr txBox="1"/>
          <p:nvPr/>
        </p:nvSpPr>
        <p:spPr>
          <a:xfrm>
            <a:off x="5493413" y="771418"/>
            <a:ext cx="4266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866707" y="757999"/>
            <a:ext cx="4914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4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3875" y="893100"/>
            <a:ext cx="3987600" cy="735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Find the shorted path from Vertices a to all other vertices.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20" name="Google Shape;220;p2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223" name="Google Shape;223;p20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20"/>
          <p:cNvSpPr/>
          <p:nvPr/>
        </p:nvSpPr>
        <p:spPr>
          <a:xfrm>
            <a:off x="1001924" y="3472695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4279051" y="3472695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001924" y="1321490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279051" y="1321490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28" name="Google Shape;228;p20"/>
          <p:cNvCxnSpPr>
            <a:endCxn id="227" idx="2"/>
          </p:cNvCxnSpPr>
          <p:nvPr/>
        </p:nvCxnSpPr>
        <p:spPr>
          <a:xfrm>
            <a:off x="1911151" y="1768790"/>
            <a:ext cx="2367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9" name="Google Shape;229;p20"/>
          <p:cNvCxnSpPr>
            <a:stCxn id="226" idx="4"/>
            <a:endCxn id="224" idx="0"/>
          </p:cNvCxnSpPr>
          <p:nvPr/>
        </p:nvCxnSpPr>
        <p:spPr>
          <a:xfrm>
            <a:off x="1456574" y="2216090"/>
            <a:ext cx="0" cy="12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0"/>
          <p:cNvCxnSpPr>
            <a:endCxn id="225" idx="2"/>
          </p:cNvCxnSpPr>
          <p:nvPr/>
        </p:nvCxnSpPr>
        <p:spPr>
          <a:xfrm>
            <a:off x="1911151" y="3919995"/>
            <a:ext cx="236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0"/>
          <p:cNvCxnSpPr>
            <a:stCxn id="225" idx="0"/>
            <a:endCxn id="227" idx="4"/>
          </p:cNvCxnSpPr>
          <p:nvPr/>
        </p:nvCxnSpPr>
        <p:spPr>
          <a:xfrm rot="10800000">
            <a:off x="4733701" y="2215995"/>
            <a:ext cx="0" cy="12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20"/>
          <p:cNvSpPr txBox="1"/>
          <p:nvPr/>
        </p:nvSpPr>
        <p:spPr>
          <a:xfrm>
            <a:off x="2840100" y="1276825"/>
            <a:ext cx="474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2857761" y="3328658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4170290" y="2600223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903150" y="2479698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339775" y="1676424"/>
            <a:ext cx="3521100" cy="2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RELAX(u, v, w)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if d[v] &gt; d[u] + w(u, v)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then d[v] = d[u] + w(u, v)</a:t>
            </a:r>
            <a:endParaRPr sz="18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42" name="Google Shape;242;p21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245" name="Google Shape;245;p21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1"/>
          <p:cNvSpPr txBox="1"/>
          <p:nvPr/>
        </p:nvSpPr>
        <p:spPr>
          <a:xfrm>
            <a:off x="548400" y="844175"/>
            <a:ext cx="4697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Starting Vertex is A, d[A] = 0</a:t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47" name="Google Shape;247;p21"/>
          <p:cNvGraphicFramePr/>
          <p:nvPr/>
        </p:nvGraphicFramePr>
        <p:xfrm>
          <a:off x="548700" y="121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{DB7B6CBD-B871-4DEF-89C6-DD3256D564B7}</a:tableStyleId>
              </a:tblPr>
              <a:tblGrid>
                <a:gridCol w="1885150"/>
                <a:gridCol w="2274550"/>
                <a:gridCol w="2013025"/>
                <a:gridCol w="2029000"/>
              </a:tblGrid>
              <a:tr h="501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Selected Vertices 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0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d[B]=∞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d[C]=∞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d[D]=∞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</a:tr>
              <a:tr h="88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d[A]+w(A,B)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=0+6=6 &lt; ∞, 6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d[A]+w(A,C)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=0+4=4 &lt; ∞, </a:t>
                      </a: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d[D]=∞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</a:tr>
              <a:tr h="88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d[A]+w(A,B)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=0+6=6 &lt; ∞, 6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d[C]+w(C,D)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=4+4=8 &lt; ∞, </a:t>
                      </a: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</a:tr>
              <a:tr h="88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d[A]+w(A,B)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=0+6=6 &lt; ∞, </a:t>
                      </a: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2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53" name="Google Shape;253;p22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256" name="Google Shape;256;p22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22"/>
          <p:cNvSpPr/>
          <p:nvPr/>
        </p:nvSpPr>
        <p:spPr>
          <a:xfrm>
            <a:off x="3463896" y="3472101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5183267" y="3472101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E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3463896" y="1610025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5183267" y="1610025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6635665" y="2527918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F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2049325" y="2527918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263" name="Google Shape;263;p22"/>
          <p:cNvCxnSpPr>
            <a:stCxn id="262" idx="7"/>
            <a:endCxn id="259" idx="2"/>
          </p:cNvCxnSpPr>
          <p:nvPr/>
        </p:nvCxnSpPr>
        <p:spPr>
          <a:xfrm flipH="1" rot="10800000">
            <a:off x="2736862" y="1997212"/>
            <a:ext cx="726900" cy="64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2"/>
          <p:cNvCxnSpPr>
            <a:stCxn id="262" idx="5"/>
            <a:endCxn id="257" idx="2"/>
          </p:cNvCxnSpPr>
          <p:nvPr/>
        </p:nvCxnSpPr>
        <p:spPr>
          <a:xfrm>
            <a:off x="2736862" y="3188824"/>
            <a:ext cx="726900" cy="67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2"/>
          <p:cNvCxnSpPr>
            <a:stCxn id="259" idx="6"/>
            <a:endCxn id="260" idx="2"/>
          </p:cNvCxnSpPr>
          <p:nvPr/>
        </p:nvCxnSpPr>
        <p:spPr>
          <a:xfrm>
            <a:off x="4269396" y="1997175"/>
            <a:ext cx="913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2"/>
          <p:cNvCxnSpPr>
            <a:stCxn id="257" idx="6"/>
            <a:endCxn id="258" idx="2"/>
          </p:cNvCxnSpPr>
          <p:nvPr/>
        </p:nvCxnSpPr>
        <p:spPr>
          <a:xfrm>
            <a:off x="4269396" y="3859251"/>
            <a:ext cx="913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22"/>
          <p:cNvCxnSpPr>
            <a:stCxn id="260" idx="6"/>
            <a:endCxn id="261" idx="1"/>
          </p:cNvCxnSpPr>
          <p:nvPr/>
        </p:nvCxnSpPr>
        <p:spPr>
          <a:xfrm>
            <a:off x="5988767" y="1997175"/>
            <a:ext cx="765000" cy="64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22"/>
          <p:cNvCxnSpPr>
            <a:stCxn id="258" idx="6"/>
            <a:endCxn id="261" idx="3"/>
          </p:cNvCxnSpPr>
          <p:nvPr/>
        </p:nvCxnSpPr>
        <p:spPr>
          <a:xfrm flipH="1" rot="10800000">
            <a:off x="5988767" y="3188751"/>
            <a:ext cx="765000" cy="67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9" name="Google Shape;269;p22"/>
          <p:cNvCxnSpPr>
            <a:stCxn id="259" idx="4"/>
            <a:endCxn id="257" idx="0"/>
          </p:cNvCxnSpPr>
          <p:nvPr/>
        </p:nvCxnSpPr>
        <p:spPr>
          <a:xfrm>
            <a:off x="3866646" y="2384325"/>
            <a:ext cx="0" cy="108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2"/>
          <p:cNvCxnSpPr>
            <a:stCxn id="258" idx="0"/>
            <a:endCxn id="260" idx="4"/>
          </p:cNvCxnSpPr>
          <p:nvPr/>
        </p:nvCxnSpPr>
        <p:spPr>
          <a:xfrm rot="10800000">
            <a:off x="5586017" y="2384301"/>
            <a:ext cx="0" cy="108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22"/>
          <p:cNvSpPr txBox="1"/>
          <p:nvPr/>
        </p:nvSpPr>
        <p:spPr>
          <a:xfrm>
            <a:off x="4452400" y="147556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7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4489038" y="3472125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5080738" y="276591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2"/>
          <p:cNvSpPr txBox="1"/>
          <p:nvPr/>
        </p:nvSpPr>
        <p:spPr>
          <a:xfrm>
            <a:off x="6329088" y="195256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2"/>
          <p:cNvSpPr txBox="1"/>
          <p:nvPr/>
        </p:nvSpPr>
        <p:spPr>
          <a:xfrm>
            <a:off x="6329088" y="353225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3896200" y="272415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2"/>
          <p:cNvSpPr txBox="1"/>
          <p:nvPr/>
        </p:nvSpPr>
        <p:spPr>
          <a:xfrm>
            <a:off x="2705575" y="199720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2"/>
          <p:cNvSpPr txBox="1"/>
          <p:nvPr/>
        </p:nvSpPr>
        <p:spPr>
          <a:xfrm>
            <a:off x="2705575" y="337975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84" name="Google Shape;284;p23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287" name="Google Shape;287;p23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3"/>
          <p:cNvSpPr txBox="1"/>
          <p:nvPr/>
        </p:nvSpPr>
        <p:spPr>
          <a:xfrm>
            <a:off x="548400" y="844175"/>
            <a:ext cx="4697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289" name="Google Shape;289;p23"/>
          <p:cNvGraphicFramePr/>
          <p:nvPr/>
        </p:nvGraphicFramePr>
        <p:xfrm>
          <a:off x="548700" y="902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{DB7B6CBD-B871-4DEF-89C6-DD3256D564B7}</a:tableStyleId>
              </a:tblPr>
              <a:tblGrid>
                <a:gridCol w="1879300"/>
                <a:gridCol w="1244250"/>
                <a:gridCol w="1265925"/>
                <a:gridCol w="1323650"/>
                <a:gridCol w="1258725"/>
                <a:gridCol w="1229850"/>
              </a:tblGrid>
              <a:tr h="693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Selected Vertices 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E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F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693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Starting From A,d[A]=0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4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4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4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E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48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44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F</a:t>
                      </a:r>
                      <a:endParaRPr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7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b="1" sz="17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95" name="Google Shape;295;p24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298" name="Google Shape;298;p24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24"/>
          <p:cNvSpPr/>
          <p:nvPr/>
        </p:nvSpPr>
        <p:spPr>
          <a:xfrm>
            <a:off x="2701896" y="3929301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4573667" y="3929301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4"/>
          <p:cNvSpPr/>
          <p:nvPr/>
        </p:nvSpPr>
        <p:spPr>
          <a:xfrm>
            <a:off x="2701896" y="2067225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4573667" y="2067225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" name="Google Shape;303;p24"/>
          <p:cNvSpPr/>
          <p:nvPr/>
        </p:nvSpPr>
        <p:spPr>
          <a:xfrm>
            <a:off x="6491940" y="3822143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f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04" name="Google Shape;304;p24"/>
          <p:cNvCxnSpPr>
            <a:stCxn id="301" idx="6"/>
            <a:endCxn id="302" idx="2"/>
          </p:cNvCxnSpPr>
          <p:nvPr/>
        </p:nvCxnSpPr>
        <p:spPr>
          <a:xfrm>
            <a:off x="3507396" y="2454375"/>
            <a:ext cx="1066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24"/>
          <p:cNvCxnSpPr>
            <a:stCxn id="299" idx="6"/>
            <a:endCxn id="300" idx="2"/>
          </p:cNvCxnSpPr>
          <p:nvPr/>
        </p:nvCxnSpPr>
        <p:spPr>
          <a:xfrm>
            <a:off x="3507396" y="4316451"/>
            <a:ext cx="1066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6" name="Google Shape;306;p24"/>
          <p:cNvCxnSpPr>
            <a:stCxn id="301" idx="4"/>
            <a:endCxn id="299" idx="0"/>
          </p:cNvCxnSpPr>
          <p:nvPr/>
        </p:nvCxnSpPr>
        <p:spPr>
          <a:xfrm>
            <a:off x="3104646" y="2841525"/>
            <a:ext cx="0" cy="108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7" name="Google Shape;307;p24"/>
          <p:cNvCxnSpPr>
            <a:stCxn id="300" idx="0"/>
            <a:endCxn id="302" idx="4"/>
          </p:cNvCxnSpPr>
          <p:nvPr/>
        </p:nvCxnSpPr>
        <p:spPr>
          <a:xfrm rot="10800000">
            <a:off x="4976417" y="2841501"/>
            <a:ext cx="0" cy="1087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4"/>
          <p:cNvSpPr txBox="1"/>
          <p:nvPr/>
        </p:nvSpPr>
        <p:spPr>
          <a:xfrm>
            <a:off x="3842800" y="208516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3879438" y="3929325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4471138" y="322311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3134200" y="318135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" name="Google Shape;312;p24"/>
          <p:cNvSpPr/>
          <p:nvPr/>
        </p:nvSpPr>
        <p:spPr>
          <a:xfrm>
            <a:off x="6415740" y="2085168"/>
            <a:ext cx="805500" cy="7743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e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13" name="Google Shape;313;p24"/>
          <p:cNvCxnSpPr>
            <a:stCxn id="299" idx="1"/>
            <a:endCxn id="301" idx="3"/>
          </p:cNvCxnSpPr>
          <p:nvPr/>
        </p:nvCxnSpPr>
        <p:spPr>
          <a:xfrm rot="10800000">
            <a:off x="2819859" y="2728095"/>
            <a:ext cx="0" cy="131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24"/>
          <p:cNvCxnSpPr>
            <a:endCxn id="312" idx="2"/>
          </p:cNvCxnSpPr>
          <p:nvPr/>
        </p:nvCxnSpPr>
        <p:spPr>
          <a:xfrm>
            <a:off x="5379240" y="2454318"/>
            <a:ext cx="1036500" cy="18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24"/>
          <p:cNvCxnSpPr>
            <a:stCxn id="300" idx="7"/>
            <a:endCxn id="312" idx="3"/>
          </p:cNvCxnSpPr>
          <p:nvPr/>
        </p:nvCxnSpPr>
        <p:spPr>
          <a:xfrm flipH="1" rot="10800000">
            <a:off x="5261204" y="2746095"/>
            <a:ext cx="1272600" cy="129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4"/>
          <p:cNvCxnSpPr>
            <a:stCxn id="312" idx="4"/>
            <a:endCxn id="300" idx="6"/>
          </p:cNvCxnSpPr>
          <p:nvPr/>
        </p:nvCxnSpPr>
        <p:spPr>
          <a:xfrm flipH="1">
            <a:off x="5379090" y="2859468"/>
            <a:ext cx="1439400" cy="145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4"/>
          <p:cNvCxnSpPr>
            <a:stCxn id="303" idx="3"/>
            <a:endCxn id="300" idx="5"/>
          </p:cNvCxnSpPr>
          <p:nvPr/>
        </p:nvCxnSpPr>
        <p:spPr>
          <a:xfrm flipH="1">
            <a:off x="5261102" y="4483049"/>
            <a:ext cx="1348800" cy="107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24"/>
          <p:cNvSpPr txBox="1"/>
          <p:nvPr/>
        </p:nvSpPr>
        <p:spPr>
          <a:xfrm>
            <a:off x="5660163" y="206721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24"/>
          <p:cNvSpPr txBox="1"/>
          <p:nvPr/>
        </p:nvSpPr>
        <p:spPr>
          <a:xfrm>
            <a:off x="2275500" y="3181350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24"/>
          <p:cNvSpPr txBox="1"/>
          <p:nvPr/>
        </p:nvSpPr>
        <p:spPr>
          <a:xfrm>
            <a:off x="5379088" y="3062588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6273875" y="3262612"/>
            <a:ext cx="4746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2" name="Google Shape;322;p24"/>
          <p:cNvSpPr txBox="1"/>
          <p:nvPr/>
        </p:nvSpPr>
        <p:spPr>
          <a:xfrm>
            <a:off x="5808863" y="4101513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3" name="Google Shape;323;p24"/>
          <p:cNvCxnSpPr>
            <a:stCxn id="302" idx="3"/>
            <a:endCxn id="299" idx="7"/>
          </p:cNvCxnSpPr>
          <p:nvPr/>
        </p:nvCxnSpPr>
        <p:spPr>
          <a:xfrm flipH="1">
            <a:off x="3389330" y="2728131"/>
            <a:ext cx="1302300" cy="131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4" name="Google Shape;324;p24"/>
          <p:cNvSpPr txBox="1"/>
          <p:nvPr/>
        </p:nvSpPr>
        <p:spPr>
          <a:xfrm>
            <a:off x="3638352" y="3098500"/>
            <a:ext cx="5613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25" name="Google Shape;325;p24"/>
          <p:cNvCxnSpPr>
            <a:stCxn id="301" idx="0"/>
          </p:cNvCxnSpPr>
          <p:nvPr/>
        </p:nvCxnSpPr>
        <p:spPr>
          <a:xfrm flipH="1" rot="10800000">
            <a:off x="3104646" y="1807425"/>
            <a:ext cx="3581100" cy="259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24"/>
          <p:cNvCxnSpPr>
            <a:endCxn id="312" idx="0"/>
          </p:cNvCxnSpPr>
          <p:nvPr/>
        </p:nvCxnSpPr>
        <p:spPr>
          <a:xfrm>
            <a:off x="6678390" y="1800168"/>
            <a:ext cx="140100" cy="285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24"/>
          <p:cNvSpPr txBox="1"/>
          <p:nvPr/>
        </p:nvSpPr>
        <p:spPr>
          <a:xfrm>
            <a:off x="4691613" y="1569525"/>
            <a:ext cx="474600" cy="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33" name="Google Shape;333;p25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5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35" name="Google Shape;335;p25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336" name="Google Shape;336;p25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5"/>
          <p:cNvSpPr txBox="1"/>
          <p:nvPr/>
        </p:nvSpPr>
        <p:spPr>
          <a:xfrm>
            <a:off x="548400" y="844175"/>
            <a:ext cx="46977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338" name="Google Shape;338;p25"/>
          <p:cNvGraphicFramePr/>
          <p:nvPr/>
        </p:nvGraphicFramePr>
        <p:xfrm>
          <a:off x="548700" y="893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{DB7B6CBD-B871-4DEF-89C6-DD3256D564B7}</a:tableStyleId>
              </a:tblPr>
              <a:tblGrid>
                <a:gridCol w="1879300"/>
                <a:gridCol w="1244250"/>
                <a:gridCol w="1265925"/>
                <a:gridCol w="1323650"/>
                <a:gridCol w="1258725"/>
                <a:gridCol w="1229850"/>
              </a:tblGrid>
              <a:tr h="70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Selected Vertices 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e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f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70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Starting From a,d[a]=0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2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b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50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2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d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50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25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2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25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528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e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25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  <a:tr h="438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f</a:t>
                      </a:r>
                      <a:endParaRPr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25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45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900"/>
                        </a:spcAft>
                        <a:buNone/>
                      </a:pPr>
                      <a:r>
                        <a:rPr lang="en-GB" sz="1800">
                          <a:latin typeface="Times"/>
                          <a:ea typeface="Times"/>
                          <a:cs typeface="Times"/>
                          <a:sym typeface="Times"/>
                        </a:rPr>
                        <a:t>∞</a:t>
                      </a:r>
                      <a:endParaRPr b="1" sz="18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44" name="Google Shape;344;p26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6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Dijkstra’s Algorithm</a:t>
            </a:r>
            <a:endParaRPr sz="4800"/>
          </a:p>
        </p:txBody>
      </p:sp>
      <p:cxnSp>
        <p:nvCxnSpPr>
          <p:cNvPr id="347" name="Google Shape;347;p26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8" name="Google Shape;348;p26"/>
          <p:cNvSpPr/>
          <p:nvPr/>
        </p:nvSpPr>
        <p:spPr>
          <a:xfrm>
            <a:off x="1001924" y="3472695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4279051" y="3472695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D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1001924" y="1321490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4279051" y="1321490"/>
            <a:ext cx="909300" cy="894600"/>
          </a:xfrm>
          <a:prstGeom prst="ellipse">
            <a:avLst/>
          </a:prstGeom>
          <a:solidFill>
            <a:srgbClr val="E9EDEE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52" name="Google Shape;352;p26"/>
          <p:cNvCxnSpPr>
            <a:endCxn id="351" idx="2"/>
          </p:cNvCxnSpPr>
          <p:nvPr/>
        </p:nvCxnSpPr>
        <p:spPr>
          <a:xfrm>
            <a:off x="1911151" y="1768790"/>
            <a:ext cx="2367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3" name="Google Shape;353;p26"/>
          <p:cNvCxnSpPr>
            <a:stCxn id="350" idx="4"/>
            <a:endCxn id="348" idx="0"/>
          </p:cNvCxnSpPr>
          <p:nvPr/>
        </p:nvCxnSpPr>
        <p:spPr>
          <a:xfrm>
            <a:off x="1456574" y="2216090"/>
            <a:ext cx="0" cy="12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6"/>
          <p:cNvCxnSpPr>
            <a:endCxn id="349" idx="2"/>
          </p:cNvCxnSpPr>
          <p:nvPr/>
        </p:nvCxnSpPr>
        <p:spPr>
          <a:xfrm>
            <a:off x="1911151" y="3919995"/>
            <a:ext cx="236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6"/>
          <p:cNvCxnSpPr>
            <a:stCxn id="349" idx="0"/>
            <a:endCxn id="351" idx="4"/>
          </p:cNvCxnSpPr>
          <p:nvPr/>
        </p:nvCxnSpPr>
        <p:spPr>
          <a:xfrm rot="10800000">
            <a:off x="4733701" y="2215995"/>
            <a:ext cx="0" cy="1256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6" name="Google Shape;356;p26"/>
          <p:cNvSpPr txBox="1"/>
          <p:nvPr/>
        </p:nvSpPr>
        <p:spPr>
          <a:xfrm>
            <a:off x="2840100" y="1276825"/>
            <a:ext cx="4746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7" name="Google Shape;357;p26"/>
          <p:cNvSpPr txBox="1"/>
          <p:nvPr/>
        </p:nvSpPr>
        <p:spPr>
          <a:xfrm>
            <a:off x="2857761" y="3328658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4170290" y="2600223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59" name="Google Shape;359;p26"/>
          <p:cNvSpPr txBox="1"/>
          <p:nvPr/>
        </p:nvSpPr>
        <p:spPr>
          <a:xfrm>
            <a:off x="903150" y="2479698"/>
            <a:ext cx="474600" cy="4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0" name="Google Shape;360;p26"/>
          <p:cNvSpPr txBox="1"/>
          <p:nvPr/>
        </p:nvSpPr>
        <p:spPr>
          <a:xfrm>
            <a:off x="5339775" y="1676424"/>
            <a:ext cx="3521100" cy="20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RELAX(u, v, w)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if d[v] &gt; d[u] + w(u, v)</a:t>
            </a:r>
            <a:endParaRPr sz="18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800">
                <a:latin typeface="Times"/>
                <a:ea typeface="Times"/>
                <a:cs typeface="Times"/>
                <a:sym typeface="Times"/>
              </a:rPr>
              <a:t>then d[v] = d[u] + w(u, v)</a:t>
            </a:r>
            <a:endParaRPr sz="18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7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66" name="Google Shape;366;p27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Shortest Path Problem</a:t>
            </a:r>
            <a:endParaRPr sz="4800"/>
          </a:p>
        </p:txBody>
      </p:sp>
      <p:cxnSp>
        <p:nvCxnSpPr>
          <p:cNvPr id="369" name="Google Shape;369;p27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27"/>
          <p:cNvSpPr txBox="1"/>
          <p:nvPr/>
        </p:nvSpPr>
        <p:spPr>
          <a:xfrm>
            <a:off x="553925" y="906400"/>
            <a:ext cx="8196600" cy="18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360001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Given a directed weighted graph G = (v, e,w) and two vertices x and y, find the least-cost path from x to y in G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3600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The task is to find a path P that minimizes the function: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𝑤(P) =   u</a:t>
            </a:r>
            <a:r>
              <a:rPr lang="en-GB" sz="1900">
                <a:latin typeface="Times"/>
                <a:ea typeface="Times"/>
                <a:cs typeface="Times"/>
                <a:sym typeface="Times"/>
              </a:rPr>
              <a:t>∑</a:t>
            </a:r>
            <a:r>
              <a:rPr baseline="-25000" lang="en-GB" sz="1900">
                <a:latin typeface="Times"/>
                <a:ea typeface="Times"/>
                <a:cs typeface="Times"/>
                <a:sym typeface="Times"/>
              </a:rPr>
              <a:t>u</a:t>
            </a:r>
            <a:r>
              <a:rPr baseline="-25000" lang="en-GB" sz="2000">
                <a:latin typeface="Times"/>
                <a:ea typeface="Times"/>
                <a:cs typeface="Times"/>
                <a:sym typeface="Times"/>
              </a:rPr>
              <a:t>→v</a:t>
            </a:r>
            <a:r>
              <a:rPr baseline="-25000" lang="en-GB" sz="1450">
                <a:latin typeface="Times New Roman"/>
                <a:ea typeface="Times New Roman"/>
                <a:cs typeface="Times New Roman"/>
                <a:sym typeface="Times New Roman"/>
              </a:rPr>
              <a:t>∈P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𝑤(𝑢→P)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6790855" y="2308375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6790855" y="4170100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7953350" y="3255241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v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5628400" y="3255241"/>
            <a:ext cx="644700" cy="686700"/>
          </a:xfrm>
          <a:prstGeom prst="ellipse">
            <a:avLst/>
          </a:prstGeom>
          <a:solidFill>
            <a:srgbClr val="E9EDEE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latin typeface="Times"/>
                <a:ea typeface="Times"/>
                <a:cs typeface="Times"/>
                <a:sym typeface="Times"/>
              </a:rPr>
              <a:t>u</a:t>
            </a:r>
            <a:endParaRPr b="1" sz="2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375" name="Google Shape;375;p27"/>
          <p:cNvCxnSpPr>
            <a:stCxn id="374" idx="7"/>
            <a:endCxn id="371" idx="2"/>
          </p:cNvCxnSpPr>
          <p:nvPr/>
        </p:nvCxnSpPr>
        <p:spPr>
          <a:xfrm flipH="1" rot="10800000">
            <a:off x="6178686" y="2651706"/>
            <a:ext cx="612300" cy="70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6" name="Google Shape;376;p27"/>
          <p:cNvCxnSpPr>
            <a:stCxn id="374" idx="5"/>
            <a:endCxn id="372" idx="2"/>
          </p:cNvCxnSpPr>
          <p:nvPr/>
        </p:nvCxnSpPr>
        <p:spPr>
          <a:xfrm>
            <a:off x="6178686" y="3841376"/>
            <a:ext cx="612300" cy="67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7" name="Google Shape;377;p27"/>
          <p:cNvCxnSpPr>
            <a:stCxn id="371" idx="6"/>
            <a:endCxn id="373" idx="1"/>
          </p:cNvCxnSpPr>
          <p:nvPr/>
        </p:nvCxnSpPr>
        <p:spPr>
          <a:xfrm>
            <a:off x="7435555" y="2651725"/>
            <a:ext cx="612300" cy="70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8" name="Google Shape;378;p27"/>
          <p:cNvCxnSpPr>
            <a:stCxn id="372" idx="6"/>
            <a:endCxn id="373" idx="3"/>
          </p:cNvCxnSpPr>
          <p:nvPr/>
        </p:nvCxnSpPr>
        <p:spPr>
          <a:xfrm flipH="1" rot="10800000">
            <a:off x="7435555" y="3841450"/>
            <a:ext cx="612300" cy="67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7"/>
          <p:cNvCxnSpPr>
            <a:stCxn id="371" idx="4"/>
            <a:endCxn id="372" idx="0"/>
          </p:cNvCxnSpPr>
          <p:nvPr/>
        </p:nvCxnSpPr>
        <p:spPr>
          <a:xfrm>
            <a:off x="7113205" y="2995075"/>
            <a:ext cx="0" cy="1175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0" name="Google Shape;380;p27"/>
          <p:cNvSpPr txBox="1"/>
          <p:nvPr/>
        </p:nvSpPr>
        <p:spPr>
          <a:xfrm>
            <a:off x="6088801" y="2606400"/>
            <a:ext cx="4965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3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1" name="Google Shape;381;p27"/>
          <p:cNvSpPr txBox="1"/>
          <p:nvPr/>
        </p:nvSpPr>
        <p:spPr>
          <a:xfrm>
            <a:off x="7678624" y="2545450"/>
            <a:ext cx="7149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9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2" name="Google Shape;382;p27"/>
          <p:cNvSpPr txBox="1"/>
          <p:nvPr/>
        </p:nvSpPr>
        <p:spPr>
          <a:xfrm>
            <a:off x="7748724" y="4085750"/>
            <a:ext cx="6447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6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3" name="Google Shape;383;p27"/>
          <p:cNvSpPr txBox="1"/>
          <p:nvPr/>
        </p:nvSpPr>
        <p:spPr>
          <a:xfrm>
            <a:off x="6018239" y="3983550"/>
            <a:ext cx="5670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5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7113173" y="3355800"/>
            <a:ext cx="4059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Times"/>
                <a:ea typeface="Times"/>
                <a:cs typeface="Times"/>
                <a:sym typeface="Times"/>
              </a:rPr>
              <a:t>2</a:t>
            </a:r>
            <a:endParaRPr b="1" sz="18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90" name="Google Shape;390;p28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Path in Graph</a:t>
            </a:r>
            <a:endParaRPr sz="4800"/>
          </a:p>
        </p:txBody>
      </p:sp>
      <p:cxnSp>
        <p:nvCxnSpPr>
          <p:cNvPr id="393" name="Google Shape;393;p28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28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t/>
            </a:r>
            <a:endParaRPr sz="20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9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400" name="Google Shape;400;p29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2400">
                <a:latin typeface="Arial"/>
                <a:ea typeface="Arial"/>
                <a:cs typeface="Arial"/>
                <a:sym typeface="Arial"/>
              </a:rPr>
              <a:t>‹#›</a:t>
            </a:fld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402" name="Google Shape;402;p29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2B2C30"/>
                </a:solidFill>
              </a:rPr>
              <a:t>Path in Graph</a:t>
            </a:r>
            <a:endParaRPr sz="4800"/>
          </a:p>
        </p:txBody>
      </p:sp>
      <p:cxnSp>
        <p:nvCxnSpPr>
          <p:cNvPr id="403" name="Google Shape;403;p29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4" name="Google Shape;404;p29"/>
          <p:cNvSpPr txBox="1"/>
          <p:nvPr/>
        </p:nvSpPr>
        <p:spPr>
          <a:xfrm>
            <a:off x="553925" y="906400"/>
            <a:ext cx="81966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t/>
            </a:r>
            <a:endParaRPr sz="2000">
              <a:solidFill>
                <a:schemeClr val="accen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EE7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410" name="Google Shape;410;p30"/>
          <p:cNvSpPr txBox="1"/>
          <p:nvPr>
            <p:ph idx="12" type="sldNum"/>
          </p:nvPr>
        </p:nvSpPr>
        <p:spPr>
          <a:xfrm>
            <a:off x="8537900" y="4744175"/>
            <a:ext cx="606300" cy="3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453200" y="4959538"/>
            <a:ext cx="8236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600"/>
              <a:buNone/>
            </a:pPr>
            <a:r>
              <a:rPr lang="en-GB" sz="900">
                <a:solidFill>
                  <a:srgbClr val="0563C1"/>
                </a:solidFill>
              </a:rPr>
              <a:t>Er. Baburam Shrestha || +977 9846871406 || </a:t>
            </a:r>
            <a:r>
              <a:rPr lang="en-GB" sz="900">
                <a:solidFill>
                  <a:srgbClr val="1155CC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-GB" sz="900">
                <a:solidFill>
                  <a:srgbClr val="0563C1"/>
                </a:solidFill>
              </a:rPr>
              <a:t> || </a:t>
            </a:r>
            <a:r>
              <a:rPr lang="en-GB" sz="900">
                <a:solidFill>
                  <a:srgbClr val="0563C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</a:t>
            </a:r>
            <a:r>
              <a:rPr b="1" lang="en-GB" sz="900">
                <a:solidFill>
                  <a:srgbClr val="2B2C30"/>
                </a:solidFill>
              </a:rPr>
              <a:t> </a:t>
            </a:r>
            <a:endParaRPr b="1" sz="900">
              <a:solidFill>
                <a:srgbClr val="2B2C30"/>
              </a:solidFill>
            </a:endParaRPr>
          </a:p>
        </p:txBody>
      </p:sp>
      <p:sp>
        <p:nvSpPr>
          <p:cNvPr id="412" name="Google Shape;412;p30"/>
          <p:cNvSpPr txBox="1"/>
          <p:nvPr/>
        </p:nvSpPr>
        <p:spPr>
          <a:xfrm>
            <a:off x="548725" y="197950"/>
            <a:ext cx="8357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rPr b="1" lang="en-GB" sz="4000">
                <a:latin typeface="Times"/>
                <a:ea typeface="Times"/>
                <a:cs typeface="Times"/>
                <a:sym typeface="Times"/>
              </a:rPr>
              <a:t>Extra </a:t>
            </a:r>
            <a:r>
              <a:rPr b="1" lang="en-GB" sz="4000">
                <a:latin typeface="Times"/>
                <a:ea typeface="Times"/>
                <a:cs typeface="Times"/>
                <a:sym typeface="Times"/>
              </a:rPr>
              <a:t>Resources</a:t>
            </a:r>
            <a:endParaRPr b="1" sz="40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413" name="Google Shape;413;p30"/>
          <p:cNvCxnSpPr/>
          <p:nvPr/>
        </p:nvCxnSpPr>
        <p:spPr>
          <a:xfrm>
            <a:off x="548725" y="835775"/>
            <a:ext cx="8201700" cy="8400"/>
          </a:xfrm>
          <a:prstGeom prst="straightConnector1">
            <a:avLst/>
          </a:prstGeom>
          <a:noFill/>
          <a:ln cap="flat" cmpd="sng" w="9525">
            <a:solidFill>
              <a:srgbClr val="2B2C3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30"/>
          <p:cNvSpPr txBox="1"/>
          <p:nvPr/>
        </p:nvSpPr>
        <p:spPr>
          <a:xfrm>
            <a:off x="553925" y="906400"/>
            <a:ext cx="8201700" cy="3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600"/>
              <a:buFont typeface="Times"/>
              <a:buChar char="➔"/>
            </a:pPr>
            <a:r>
              <a:rPr lang="en-GB" sz="2000" u="sng">
                <a:solidFill>
                  <a:schemeClr val="hlink"/>
                </a:solidFill>
                <a:hlinkClick r:id="rId7"/>
              </a:rPr>
              <a:t>https://www.youtube.com/watch?v=XB4MIexjvY0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8"/>
              </a:rPr>
              <a:t>https://www.w3schools.com/dsa/dsa_theory_graphs_shortestpath.php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9"/>
              </a:rPr>
              <a:t>https://www.w3schools.com/dsa/dsa_algo_graphs_dijkstra.php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rPr lang="en-GB" sz="2000" u="sng">
                <a:solidFill>
                  <a:schemeClr val="hlink"/>
                </a:solidFill>
                <a:latin typeface="Times"/>
                <a:ea typeface="Times"/>
                <a:cs typeface="Times"/>
                <a:sym typeface="Times"/>
                <a:hlinkClick r:id="rId10"/>
              </a:rPr>
              <a:t>https://www.w3schools.com/dsa/dsa_algo_graphs_bellmanford.php</a:t>
            </a:r>
            <a:endParaRPr sz="2000">
              <a:latin typeface="Times"/>
              <a:ea typeface="Times"/>
              <a:cs typeface="Times"/>
              <a:sym typeface="Times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"/>
              <a:buChar char="➔"/>
            </a:pPr>
            <a:r>
              <a:t/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