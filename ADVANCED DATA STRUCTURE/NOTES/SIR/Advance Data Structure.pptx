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Lst>
  <p:sldSz cy="5143500" cx="9144000"/>
  <p:notesSz cx="6858000" cy="9144000"/>
  <p:embeddedFontLst>
    <p:embeddedFont>
      <p:font typeface="Raleway"/>
      <p:regular r:id="rId100"/>
      <p:bold r:id="rId101"/>
      <p:italic r:id="rId102"/>
      <p:boldItalic r:id="rId103"/>
    </p:embeddedFont>
    <p:embeddedFont>
      <p:font typeface="Lato"/>
      <p:regular r:id="rId104"/>
      <p:bold r:id="rId105"/>
      <p:italic r:id="rId106"/>
      <p:boldItalic r:id="rId10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6BE1013-BC80-4FEF-9545-A56E02D788A3}">
  <a:tblStyle styleId="{B6BE1013-BC80-4FEF-9545-A56E02D788A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F126A5D-A463-4A11-B10A-57A102AC726B}"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font" Target="fonts/Lato-boldItalic.fntdata"/><Relationship Id="rId106" Type="http://schemas.openxmlformats.org/officeDocument/2006/relationships/font" Target="fonts/Lato-italic.fntdata"/><Relationship Id="rId105" Type="http://schemas.openxmlformats.org/officeDocument/2006/relationships/font" Target="fonts/Lato-bold.fntdata"/><Relationship Id="rId104" Type="http://schemas.openxmlformats.org/officeDocument/2006/relationships/font" Target="fonts/Lato-regular.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font" Target="fonts/Raleway-boldItalic.fntdata"/><Relationship Id="rId102" Type="http://schemas.openxmlformats.org/officeDocument/2006/relationships/font" Target="fonts/Raleway-italic.fntdata"/><Relationship Id="rId101" Type="http://schemas.openxmlformats.org/officeDocument/2006/relationships/font" Target="fonts/Raleway-bold.fntdata"/><Relationship Id="rId100" Type="http://schemas.openxmlformats.org/officeDocument/2006/relationships/font" Target="fonts/Raleway-regular.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3b012bc32e_1_6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3b012bc32e_1_6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3b012bc32e_1_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g33b012bc32e_1_6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3b012bc32e_1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g33b012bc32e_1_6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3b012bc32e_1_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g33b012bc32e_1_6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3b012bc32e_1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g33b012bc32e_1_6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3b012bc32e_1_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g33b012bc32e_1_6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3b012bc32e_1_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33b012bc32e_1_6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3b012bc32e_1_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3b012bc32e_1_6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3b012bc32e_1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g33b012bc32e_1_7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3b012bc32e_1_7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g33b012bc32e_1_7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3b012bc32e_1_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33b012bc32e_1_7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3b012bc32e_1_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g33b012bc32e_1_7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3b012bc32e_1_7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g33b012bc32e_1_7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3b012bc32e_1_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33b012bc32e_1_7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3b012bc32e_1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3b012bc32e_1_7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3b012bc32e_1_7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g33b012bc32e_1_7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3b012bc32e_1_7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g33b012bc32e_1_7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3b012bc32e_1_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g33b012bc32e_1_7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3b012bc32e_1_8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g33b012bc32e_1_8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3b012bc32e_1_8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g33b012bc32e_1_8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3b012bc32e_1_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33b012bc32e_1_8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3b012bc32e_1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33b012bc32e_1_8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3b012bc32e_1_8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g33b012bc32e_1_8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3b012bc32e_1_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g33b012bc32e_1_8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3b012bc32e_1_8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g33b012bc32e_1_8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228881b9a7_0_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g3228881b9a7_0_7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2568ec1be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g32568ec1bed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2568ec1bed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g32568ec1bed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2568ec1bed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g32568ec1bed_0_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2568ec1b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g32568ec1be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2568ec1be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g32568ec1bed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2568ec1be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g32568ec1bed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2568ec1bed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g32568ec1bed_0_1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2568ec1bed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g32568ec1bed_0_2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2568ec1bed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g32568ec1bed_0_1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2568ec1bed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g32568ec1bed_0_2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2568ec1bed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g32568ec1bed_0_2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2568ec1bed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g32568ec1bed_0_3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2568ec1bed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g32568ec1bed_0_5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2568ec1bed_0_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g32568ec1bed_0_7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2568ec1bed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g32568ec1bed_0_4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2568ec1bed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g32568ec1bed_0_5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2568ec1bed_0_8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g32568ec1bed_0_8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2568ec1bed_0_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g32568ec1bed_0_6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2568ec1bed_0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g32568ec1bed_0_6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2568ec1bed_0_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g32568ec1bed_0_7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2568ec1bed_0_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g32568ec1bed_0_7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2e23896f6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g32e23896f68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2e23896f68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g32e23896f68_1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32e23896f68_1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g32e23896f68_1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32e23896f68_1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g32e23896f68_1_1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32e23896f68_1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g32e23896f68_1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32568ec1bed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g32568ec1bed_0_1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32568ec1bed_0_9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g32568ec1bed_0_9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32568ec1bed_0_9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g32568ec1bed_0_9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32568ec1bed_0_8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g32568ec1bed_0_8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2568ec1bed_0_8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g32568ec1bed_0_8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2568ec1bed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g32568ec1bed_0_1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2e23896f68_1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g32e23896f68_1_1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3b012bc32e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g33b012bc32e_1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3b012bc32e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g33b012bc32e_1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g33b012bc32e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g33b012bc32e_1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g33b012bc32e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g33b012bc32e_1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33b012bc32e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g33b012bc32e_1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g33b012bc32e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g33b012bc32e_1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33b012bc32e_1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g33b012bc32e_1_1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33b012bc32e_1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g33b012bc32e_1_1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g33b012bc32e_1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g33b012bc32e_1_1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3b012bc32e_1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g33b012bc32e_1_1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g33b012bc32e_1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g33b012bc32e_1_1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g33b012bc32e_1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g33b012bc32e_1_2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3b012bc32e_1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g33b012bc32e_1_2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g33b012bc32e_1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g33b012bc32e_1_2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g33b012bc32e_1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g33b012bc32e_1_2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g33b012bc32e_1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g33b012bc32e_1_2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g33b012bc32e_1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g33b012bc32e_1_3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g33b012bc32e_1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g33b012bc32e_1_3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5" name="Shape 1345"/>
        <p:cNvGrpSpPr/>
        <p:nvPr/>
      </p:nvGrpSpPr>
      <p:grpSpPr>
        <a:xfrm>
          <a:off x="0" y="0"/>
          <a:ext cx="0" cy="0"/>
          <a:chOff x="0" y="0"/>
          <a:chExt cx="0" cy="0"/>
        </a:xfrm>
      </p:grpSpPr>
      <p:sp>
        <p:nvSpPr>
          <p:cNvPr id="1346" name="Google Shape;1346;g33b012bc32e_1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g33b012bc32e_1_4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g33b012bc32e_1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g33b012bc32e_1_4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4" name="Shape 1364"/>
        <p:cNvGrpSpPr/>
        <p:nvPr/>
      </p:nvGrpSpPr>
      <p:grpSpPr>
        <a:xfrm>
          <a:off x="0" y="0"/>
          <a:ext cx="0" cy="0"/>
          <a:chOff x="0" y="0"/>
          <a:chExt cx="0" cy="0"/>
        </a:xfrm>
      </p:grpSpPr>
      <p:sp>
        <p:nvSpPr>
          <p:cNvPr id="1365" name="Google Shape;1365;g33b012bc32e_1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g33b012bc32e_1_4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g33b012bc32e_1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g33b012bc32e_1_4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g33b012bc32e_1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g33b012bc32e_1_4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g33b012bc32e_1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g33b012bc32e_1_4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8" name="Shape 1418"/>
        <p:cNvGrpSpPr/>
        <p:nvPr/>
      </p:nvGrpSpPr>
      <p:grpSpPr>
        <a:xfrm>
          <a:off x="0" y="0"/>
          <a:ext cx="0" cy="0"/>
          <a:chOff x="0" y="0"/>
          <a:chExt cx="0" cy="0"/>
        </a:xfrm>
      </p:grpSpPr>
      <p:sp>
        <p:nvSpPr>
          <p:cNvPr id="1419" name="Google Shape;1419;g33b012bc32e_1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g33b012bc32e_1_4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g33b012bc32e_1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g33b012bc32e_1_4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6" name="Shape 1436"/>
        <p:cNvGrpSpPr/>
        <p:nvPr/>
      </p:nvGrpSpPr>
      <p:grpSpPr>
        <a:xfrm>
          <a:off x="0" y="0"/>
          <a:ext cx="0" cy="0"/>
          <a:chOff x="0" y="0"/>
          <a:chExt cx="0" cy="0"/>
        </a:xfrm>
      </p:grpSpPr>
      <p:sp>
        <p:nvSpPr>
          <p:cNvPr id="1437" name="Google Shape;1437;g33b012bc32e_1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g33b012bc32e_1_4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 name="Shape 1446"/>
        <p:cNvGrpSpPr/>
        <p:nvPr/>
      </p:nvGrpSpPr>
      <p:grpSpPr>
        <a:xfrm>
          <a:off x="0" y="0"/>
          <a:ext cx="0" cy="0"/>
          <a:chOff x="0" y="0"/>
          <a:chExt cx="0" cy="0"/>
        </a:xfrm>
      </p:grpSpPr>
      <p:sp>
        <p:nvSpPr>
          <p:cNvPr id="1447" name="Google Shape;1447;g33b012bc32e_1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g33b012bc32e_1_4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g33b012bc32e_1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g33b012bc32e_1_5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g33b012bc32e_1_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g33b012bc32e_1_5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6" name="Shape 1476"/>
        <p:cNvGrpSpPr/>
        <p:nvPr/>
      </p:nvGrpSpPr>
      <p:grpSpPr>
        <a:xfrm>
          <a:off x="0" y="0"/>
          <a:ext cx="0" cy="0"/>
          <a:chOff x="0" y="0"/>
          <a:chExt cx="0" cy="0"/>
        </a:xfrm>
      </p:grpSpPr>
      <p:sp>
        <p:nvSpPr>
          <p:cNvPr id="1477" name="Google Shape;1477;g33b012bc32e_1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g33b012bc32e_1_5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g33b012bc32e_1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g33b012bc32e_1_5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8" name="Shape 1498"/>
        <p:cNvGrpSpPr/>
        <p:nvPr/>
      </p:nvGrpSpPr>
      <p:grpSpPr>
        <a:xfrm>
          <a:off x="0" y="0"/>
          <a:ext cx="0" cy="0"/>
          <a:chOff x="0" y="0"/>
          <a:chExt cx="0" cy="0"/>
        </a:xfrm>
      </p:grpSpPr>
      <p:sp>
        <p:nvSpPr>
          <p:cNvPr id="1499" name="Google Shape;1499;g33b012bc32e_1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g33b012bc32e_1_5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0" name="Shape 1510"/>
        <p:cNvGrpSpPr/>
        <p:nvPr/>
      </p:nvGrpSpPr>
      <p:grpSpPr>
        <a:xfrm>
          <a:off x="0" y="0"/>
          <a:ext cx="0" cy="0"/>
          <a:chOff x="0" y="0"/>
          <a:chExt cx="0" cy="0"/>
        </a:xfrm>
      </p:grpSpPr>
      <p:sp>
        <p:nvSpPr>
          <p:cNvPr id="1511" name="Google Shape;1511;g33b012bc32e_1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g33b012bc32e_1_5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 Id="rId6"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 Id="rId6"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 Id="rId6"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 Id="rId6" Type="http://schemas.openxmlformats.org/officeDocument/2006/relationships/image" Target="../media/image2.png"/><Relationship Id="rId7"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3.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7.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2.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3.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4.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5.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6.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7.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8.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9.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9" Type="http://schemas.openxmlformats.org/officeDocument/2006/relationships/hyperlink" Target="https://www.w3schools.com/dsa/dsa_algo_graphs_fordfulkerson.php"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 Id="rId7" Type="http://schemas.openxmlformats.org/officeDocument/2006/relationships/hyperlink" Target="https://www.w3schools.com/dsa/dsa_theory_graphs_maxflow.php" TargetMode="External"/><Relationship Id="rId8" Type="http://schemas.openxmlformats.org/officeDocument/2006/relationships/hyperlink" Target="https://www.w3schools.com/dsa/dsa_algo_graphs_fordfulkerson.php"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0.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1.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2.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3.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4.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5.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6.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7.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8.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9.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0.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1.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2.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3.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4.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5.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6.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10" Type="http://schemas.openxmlformats.org/officeDocument/2006/relationships/hyperlink" Target="https://www.w3schools.com/dsa/dsa_algo_graphs_bellmanford.php" TargetMode="External"/><Relationship Id="rId9" Type="http://schemas.openxmlformats.org/officeDocument/2006/relationships/hyperlink" Target="https://www.w3schools.com/dsa/dsa_algo_graphs_dijkstra.php" TargetMode="External"/><Relationship Id="rId5" Type="http://schemas.openxmlformats.org/officeDocument/2006/relationships/hyperlink" Target="mailto:baburam1@fusemachines.com" TargetMode="External"/><Relationship Id="rId6" Type="http://schemas.openxmlformats.org/officeDocument/2006/relationships/hyperlink" Target="https://www.linkedin.com/in/shrestha-baburam/" TargetMode="External"/><Relationship Id="rId7" Type="http://schemas.openxmlformats.org/officeDocument/2006/relationships/hyperlink" Target="https://www.youtube.com/watch?v=XB4MIexjvY0" TargetMode="External"/><Relationship Id="rId8" Type="http://schemas.openxmlformats.org/officeDocument/2006/relationships/hyperlink" Target="https://www.w3schools.com/dsa/dsa_theory_graphs_shortestpath.php"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7.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 Id="rId6" Type="http://schemas.openxmlformats.org/officeDocument/2006/relationships/image" Target="../media/image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8.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 Id="rId6" Type="http://schemas.openxmlformats.org/officeDocument/2006/relationships/image" Target="../media/image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9.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0.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 Id="rId6" Type="http://schemas.openxmlformats.org/officeDocument/2006/relationships/image" Target="../media/image1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1.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2.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 Id="rId6" Type="http://schemas.openxmlformats.org/officeDocument/2006/relationships/image" Target="../media/image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3.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 Id="rId6" Type="http://schemas.openxmlformats.org/officeDocument/2006/relationships/image" Target="../media/image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4.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5.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6.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 Id="rId6" Type="http://schemas.openxmlformats.org/officeDocument/2006/relationships/image" Target="../media/image1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7.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 Id="rId6" Type="http://schemas.openxmlformats.org/officeDocument/2006/relationships/image" Target="../media/image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8.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9" Type="http://schemas.openxmlformats.org/officeDocument/2006/relationships/image" Target="../media/image11.png"/><Relationship Id="rId5" Type="http://schemas.openxmlformats.org/officeDocument/2006/relationships/hyperlink" Target="http://github.com/Baburam1997" TargetMode="External"/><Relationship Id="rId6" Type="http://schemas.openxmlformats.org/officeDocument/2006/relationships/image" Target="../media/image14.png"/><Relationship Id="rId7" Type="http://schemas.openxmlformats.org/officeDocument/2006/relationships/image" Target="../media/image5.png"/><Relationship Id="rId8" Type="http://schemas.openxmlformats.org/officeDocument/2006/relationships/image" Target="../media/image10.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9.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0.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 Id="rId6" Type="http://schemas.openxmlformats.org/officeDocument/2006/relationships/image" Target="../media/image1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1.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2.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9" Type="http://schemas.openxmlformats.org/officeDocument/2006/relationships/image" Target="../media/image11.png"/><Relationship Id="rId5" Type="http://schemas.openxmlformats.org/officeDocument/2006/relationships/hyperlink" Target="http://github.com/Baburam1997" TargetMode="External"/><Relationship Id="rId6" Type="http://schemas.openxmlformats.org/officeDocument/2006/relationships/image" Target="../media/image14.png"/><Relationship Id="rId7" Type="http://schemas.openxmlformats.org/officeDocument/2006/relationships/image" Target="../media/image5.png"/><Relationship Id="rId8" Type="http://schemas.openxmlformats.org/officeDocument/2006/relationships/image" Target="../media/image10.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3.xml"/><Relationship Id="rId3" Type="http://schemas.openxmlformats.org/officeDocument/2006/relationships/hyperlink" Target="mailto:baburam1@fusemachines.com" TargetMode="External"/><Relationship Id="rId4" Type="http://schemas.openxmlformats.org/officeDocument/2006/relationships/hyperlink" Target="https://www.linkedin.com/in/shrestha-baburam/" TargetMode="External"/><Relationship Id="rId5" Type="http://schemas.openxmlformats.org/officeDocument/2006/relationships/hyperlink" Target="http://github.com/Baburam1997"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 name="Shape 89"/>
        <p:cNvGrpSpPr/>
        <p:nvPr/>
      </p:nvGrpSpPr>
      <p:grpSpPr>
        <a:xfrm>
          <a:off x="0" y="0"/>
          <a:ext cx="0" cy="0"/>
          <a:chOff x="0" y="0"/>
          <a:chExt cx="0" cy="0"/>
        </a:xfrm>
      </p:grpSpPr>
      <p:sp>
        <p:nvSpPr>
          <p:cNvPr id="90" name="Google Shape;90;p14"/>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91" name="Google Shape;91;p14"/>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2" name="Google Shape;92;p14"/>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3000">
                <a:solidFill>
                  <a:srgbClr val="2B2C30"/>
                </a:solidFill>
                <a:latin typeface="Times"/>
                <a:ea typeface="Times"/>
                <a:cs typeface="Times"/>
                <a:sym typeface="Times"/>
              </a:rPr>
              <a:t>Computer Program</a:t>
            </a:r>
            <a:endParaRPr sz="3800">
              <a:latin typeface="Times"/>
              <a:ea typeface="Times"/>
              <a:cs typeface="Times"/>
              <a:sym typeface="Times"/>
            </a:endParaRPr>
          </a:p>
        </p:txBody>
      </p:sp>
      <p:cxnSp>
        <p:nvCxnSpPr>
          <p:cNvPr id="93" name="Google Shape;93;p14"/>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94" name="Google Shape;94;p14"/>
          <p:cNvSpPr txBox="1"/>
          <p:nvPr/>
        </p:nvSpPr>
        <p:spPr>
          <a:xfrm>
            <a:off x="548725" y="676200"/>
            <a:ext cx="8244900" cy="4155000"/>
          </a:xfrm>
          <a:prstGeom prst="rect">
            <a:avLst/>
          </a:prstGeom>
          <a:noFill/>
          <a:ln>
            <a:noFill/>
          </a:ln>
        </p:spPr>
        <p:txBody>
          <a:bodyPr anchorCtr="0" anchor="t" bIns="91425" lIns="91425" spcFirstLastPara="1" rIns="91425" wrap="square" tIns="91425">
            <a:noAutofit/>
          </a:bodyPr>
          <a:lstStyle/>
          <a:p>
            <a:pPr indent="-355600" lvl="0" marL="360001" rtl="0" algn="just">
              <a:lnSpc>
                <a:spcPct val="100000"/>
              </a:lnSpc>
              <a:spcBef>
                <a:spcPts val="290"/>
              </a:spcBef>
              <a:spcAft>
                <a:spcPts val="0"/>
              </a:spcAft>
              <a:buClr>
                <a:srgbClr val="2B2C30"/>
              </a:buClr>
              <a:buSzPts val="2000"/>
              <a:buFont typeface="Times"/>
              <a:buChar char="➢"/>
            </a:pPr>
            <a:r>
              <a:rPr lang="en-GB" sz="2000">
                <a:solidFill>
                  <a:srgbClr val="2B2C30"/>
                </a:solidFill>
                <a:latin typeface="Times"/>
                <a:ea typeface="Times"/>
                <a:cs typeface="Times"/>
                <a:sym typeface="Times"/>
              </a:rPr>
              <a:t>A computer program is a series of instructions to carry out a particular task written in a language that a computer can understand.</a:t>
            </a:r>
            <a:endParaRPr sz="2000">
              <a:solidFill>
                <a:srgbClr val="2B2C30"/>
              </a:solidFill>
              <a:latin typeface="Times"/>
              <a:ea typeface="Times"/>
              <a:cs typeface="Times"/>
              <a:sym typeface="Times"/>
            </a:endParaRPr>
          </a:p>
          <a:p>
            <a:pPr indent="-355600" lvl="0" marL="360001" rtl="0" algn="just">
              <a:lnSpc>
                <a:spcPct val="100000"/>
              </a:lnSpc>
              <a:spcBef>
                <a:spcPts val="0"/>
              </a:spcBef>
              <a:spcAft>
                <a:spcPts val="0"/>
              </a:spcAft>
              <a:buClr>
                <a:srgbClr val="2B2C30"/>
              </a:buClr>
              <a:buSzPts val="2000"/>
              <a:buFont typeface="Times"/>
              <a:buChar char="➢"/>
            </a:pPr>
            <a:r>
              <a:rPr lang="en-GB" sz="2000">
                <a:solidFill>
                  <a:srgbClr val="2B2C30"/>
                </a:solidFill>
                <a:latin typeface="Times"/>
                <a:ea typeface="Times"/>
                <a:cs typeface="Times"/>
                <a:sym typeface="Times"/>
              </a:rPr>
              <a:t>The process of preparing and feeding the instructions into the computer for execution is referred as programming.</a:t>
            </a:r>
            <a:endParaRPr sz="2000">
              <a:solidFill>
                <a:srgbClr val="2B2C30"/>
              </a:solidFill>
              <a:latin typeface="Times"/>
              <a:ea typeface="Times"/>
              <a:cs typeface="Times"/>
              <a:sym typeface="Times"/>
            </a:endParaRPr>
          </a:p>
          <a:p>
            <a:pPr indent="-355600" lvl="0" marL="360001" rtl="0" algn="just">
              <a:lnSpc>
                <a:spcPct val="100000"/>
              </a:lnSpc>
              <a:spcBef>
                <a:spcPts val="0"/>
              </a:spcBef>
              <a:spcAft>
                <a:spcPts val="0"/>
              </a:spcAft>
              <a:buClr>
                <a:srgbClr val="2B2C30"/>
              </a:buClr>
              <a:buSzPts val="2000"/>
              <a:buChar char="➢"/>
            </a:pPr>
            <a:r>
              <a:rPr lang="en-GB" sz="2000">
                <a:solidFill>
                  <a:srgbClr val="2B2C30"/>
                </a:solidFill>
                <a:latin typeface="Times"/>
                <a:ea typeface="Times"/>
                <a:cs typeface="Times"/>
                <a:sym typeface="Times"/>
              </a:rPr>
              <a:t>There are a number of features for a </a:t>
            </a:r>
            <a:r>
              <a:rPr b="1" lang="en-GB" sz="2000">
                <a:solidFill>
                  <a:srgbClr val="2B2C30"/>
                </a:solidFill>
                <a:latin typeface="Times"/>
                <a:ea typeface="Times"/>
                <a:cs typeface="Times"/>
                <a:sym typeface="Times"/>
              </a:rPr>
              <a:t>good program:</a:t>
            </a:r>
            <a:endParaRPr b="1" sz="2000">
              <a:solidFill>
                <a:srgbClr val="2B2C30"/>
              </a:solidFill>
              <a:latin typeface="Times"/>
              <a:ea typeface="Times"/>
              <a:cs typeface="Times"/>
              <a:sym typeface="Times"/>
            </a:endParaRPr>
          </a:p>
          <a:p>
            <a:pPr indent="-349250" lvl="1" marL="720000" rtl="0" algn="just">
              <a:lnSpc>
                <a:spcPct val="100000"/>
              </a:lnSpc>
              <a:spcBef>
                <a:spcPts val="0"/>
              </a:spcBef>
              <a:spcAft>
                <a:spcPts val="0"/>
              </a:spcAft>
              <a:buClr>
                <a:srgbClr val="2B2C30"/>
              </a:buClr>
              <a:buSzPts val="1900"/>
              <a:buFont typeface="Times"/>
              <a:buChar char="○"/>
            </a:pPr>
            <a:r>
              <a:rPr lang="en-GB" sz="1900">
                <a:solidFill>
                  <a:srgbClr val="2B2C30"/>
                </a:solidFill>
                <a:latin typeface="Times"/>
                <a:ea typeface="Times"/>
                <a:cs typeface="Times"/>
                <a:sym typeface="Times"/>
              </a:rPr>
              <a:t>Run efficiently and correctly</a:t>
            </a:r>
            <a:endParaRPr sz="1900">
              <a:solidFill>
                <a:srgbClr val="2B2C30"/>
              </a:solidFill>
              <a:latin typeface="Times"/>
              <a:ea typeface="Times"/>
              <a:cs typeface="Times"/>
              <a:sym typeface="Times"/>
            </a:endParaRPr>
          </a:p>
          <a:p>
            <a:pPr indent="-349250" lvl="1" marL="720000" rtl="0" algn="just">
              <a:lnSpc>
                <a:spcPct val="100000"/>
              </a:lnSpc>
              <a:spcBef>
                <a:spcPts val="0"/>
              </a:spcBef>
              <a:spcAft>
                <a:spcPts val="0"/>
              </a:spcAft>
              <a:buClr>
                <a:srgbClr val="2B2C30"/>
              </a:buClr>
              <a:buSzPts val="1900"/>
              <a:buFont typeface="Times"/>
              <a:buChar char="○"/>
            </a:pPr>
            <a:r>
              <a:rPr lang="en-GB" sz="1900">
                <a:solidFill>
                  <a:srgbClr val="2B2C30"/>
                </a:solidFill>
                <a:latin typeface="Times"/>
                <a:ea typeface="Times"/>
                <a:cs typeface="Times"/>
                <a:sym typeface="Times"/>
              </a:rPr>
              <a:t>Have a user friendly interface</a:t>
            </a:r>
            <a:endParaRPr sz="1900">
              <a:solidFill>
                <a:srgbClr val="2B2C30"/>
              </a:solidFill>
              <a:latin typeface="Times"/>
              <a:ea typeface="Times"/>
              <a:cs typeface="Times"/>
              <a:sym typeface="Times"/>
            </a:endParaRPr>
          </a:p>
          <a:p>
            <a:pPr indent="-349250" lvl="1" marL="720000" rtl="0" algn="just">
              <a:lnSpc>
                <a:spcPct val="100000"/>
              </a:lnSpc>
              <a:spcBef>
                <a:spcPts val="0"/>
              </a:spcBef>
              <a:spcAft>
                <a:spcPts val="0"/>
              </a:spcAft>
              <a:buClr>
                <a:srgbClr val="2B2C30"/>
              </a:buClr>
              <a:buSzPts val="1900"/>
              <a:buFont typeface="Times"/>
              <a:buChar char="○"/>
            </a:pPr>
            <a:r>
              <a:rPr lang="en-GB" sz="1900">
                <a:solidFill>
                  <a:srgbClr val="2B2C30"/>
                </a:solidFill>
                <a:latin typeface="Times"/>
                <a:ea typeface="Times"/>
                <a:cs typeface="Times"/>
                <a:sym typeface="Times"/>
              </a:rPr>
              <a:t>Be easy to read and understand</a:t>
            </a:r>
            <a:endParaRPr sz="1900">
              <a:solidFill>
                <a:srgbClr val="2B2C30"/>
              </a:solidFill>
              <a:latin typeface="Times"/>
              <a:ea typeface="Times"/>
              <a:cs typeface="Times"/>
              <a:sym typeface="Times"/>
            </a:endParaRPr>
          </a:p>
          <a:p>
            <a:pPr indent="-349250" lvl="1" marL="720000" rtl="0" algn="just">
              <a:lnSpc>
                <a:spcPct val="100000"/>
              </a:lnSpc>
              <a:spcBef>
                <a:spcPts val="0"/>
              </a:spcBef>
              <a:spcAft>
                <a:spcPts val="0"/>
              </a:spcAft>
              <a:buClr>
                <a:srgbClr val="2B2C30"/>
              </a:buClr>
              <a:buSzPts val="1900"/>
              <a:buFont typeface="Times"/>
              <a:buChar char="○"/>
            </a:pPr>
            <a:r>
              <a:rPr lang="en-GB" sz="1900">
                <a:solidFill>
                  <a:srgbClr val="2B2C30"/>
                </a:solidFill>
                <a:latin typeface="Times"/>
                <a:ea typeface="Times"/>
                <a:cs typeface="Times"/>
                <a:sym typeface="Times"/>
              </a:rPr>
              <a:t>Be easy to debug</a:t>
            </a:r>
            <a:endParaRPr sz="1900">
              <a:solidFill>
                <a:srgbClr val="2B2C30"/>
              </a:solidFill>
              <a:latin typeface="Times"/>
              <a:ea typeface="Times"/>
              <a:cs typeface="Times"/>
              <a:sym typeface="Times"/>
            </a:endParaRPr>
          </a:p>
          <a:p>
            <a:pPr indent="-349250" lvl="1" marL="720000" rtl="0" algn="just">
              <a:lnSpc>
                <a:spcPct val="100000"/>
              </a:lnSpc>
              <a:spcBef>
                <a:spcPts val="0"/>
              </a:spcBef>
              <a:spcAft>
                <a:spcPts val="0"/>
              </a:spcAft>
              <a:buClr>
                <a:srgbClr val="2B2C30"/>
              </a:buClr>
              <a:buSzPts val="1900"/>
              <a:buFont typeface="Times"/>
              <a:buChar char="○"/>
            </a:pPr>
            <a:r>
              <a:rPr lang="en-GB" sz="1900">
                <a:solidFill>
                  <a:srgbClr val="2B2C30"/>
                </a:solidFill>
                <a:latin typeface="Times"/>
                <a:ea typeface="Times"/>
                <a:cs typeface="Times"/>
                <a:sym typeface="Times"/>
              </a:rPr>
              <a:t>Be easy to modify</a:t>
            </a:r>
            <a:endParaRPr sz="1900">
              <a:solidFill>
                <a:srgbClr val="2B2C30"/>
              </a:solidFill>
              <a:latin typeface="Times"/>
              <a:ea typeface="Times"/>
              <a:cs typeface="Times"/>
              <a:sym typeface="Times"/>
            </a:endParaRPr>
          </a:p>
          <a:p>
            <a:pPr indent="-349250" lvl="1" marL="720000" rtl="0" algn="just">
              <a:lnSpc>
                <a:spcPct val="100000"/>
              </a:lnSpc>
              <a:spcBef>
                <a:spcPts val="0"/>
              </a:spcBef>
              <a:spcAft>
                <a:spcPts val="0"/>
              </a:spcAft>
              <a:buClr>
                <a:srgbClr val="2B2C30"/>
              </a:buClr>
              <a:buSzPts val="1900"/>
              <a:buFont typeface="Times"/>
              <a:buChar char="○"/>
            </a:pPr>
            <a:r>
              <a:rPr lang="en-GB" sz="1900">
                <a:solidFill>
                  <a:srgbClr val="2B2C30"/>
                </a:solidFill>
                <a:latin typeface="Times"/>
                <a:ea typeface="Times"/>
                <a:cs typeface="Times"/>
                <a:sym typeface="Times"/>
              </a:rPr>
              <a:t>Be easy to maintain</a:t>
            </a:r>
            <a:endParaRPr sz="1900">
              <a:latin typeface="Times"/>
              <a:ea typeface="Times"/>
              <a:cs typeface="Times"/>
              <a:sym typeface="Time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8" name="Shape 98"/>
        <p:cNvGrpSpPr/>
        <p:nvPr/>
      </p:nvGrpSpPr>
      <p:grpSpPr>
        <a:xfrm>
          <a:off x="0" y="0"/>
          <a:ext cx="0" cy="0"/>
          <a:chOff x="0" y="0"/>
          <a:chExt cx="0" cy="0"/>
        </a:xfrm>
      </p:grpSpPr>
      <p:sp>
        <p:nvSpPr>
          <p:cNvPr id="99" name="Google Shape;99;p15"/>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00" name="Google Shape;100;p15"/>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1" name="Google Shape;101;p15"/>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3000">
                <a:solidFill>
                  <a:srgbClr val="2B2C30"/>
                </a:solidFill>
                <a:latin typeface="Times"/>
                <a:ea typeface="Times"/>
                <a:cs typeface="Times"/>
                <a:sym typeface="Times"/>
              </a:rPr>
              <a:t>Computer Program</a:t>
            </a:r>
            <a:endParaRPr sz="3800">
              <a:latin typeface="Times"/>
              <a:ea typeface="Times"/>
              <a:cs typeface="Times"/>
              <a:sym typeface="Times"/>
            </a:endParaRPr>
          </a:p>
        </p:txBody>
      </p:sp>
      <p:cxnSp>
        <p:nvCxnSpPr>
          <p:cNvPr id="102" name="Google Shape;102;p15"/>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103" name="Google Shape;103;p15"/>
          <p:cNvSpPr txBox="1"/>
          <p:nvPr/>
        </p:nvSpPr>
        <p:spPr>
          <a:xfrm>
            <a:off x="548725" y="676200"/>
            <a:ext cx="8244900" cy="2584800"/>
          </a:xfrm>
          <a:prstGeom prst="rect">
            <a:avLst/>
          </a:prstGeom>
          <a:noFill/>
          <a:ln>
            <a:noFill/>
          </a:ln>
        </p:spPr>
        <p:txBody>
          <a:bodyPr anchorCtr="0" anchor="t" bIns="91425" lIns="91425" spcFirstLastPara="1" rIns="91425" wrap="square" tIns="91425">
            <a:noAutofit/>
          </a:bodyPr>
          <a:lstStyle/>
          <a:p>
            <a:pPr indent="-355600" lvl="0" marL="360001" rtl="0" algn="just">
              <a:lnSpc>
                <a:spcPct val="100000"/>
              </a:lnSpc>
              <a:spcBef>
                <a:spcPts val="290"/>
              </a:spcBef>
              <a:spcAft>
                <a:spcPts val="0"/>
              </a:spcAft>
              <a:buClr>
                <a:srgbClr val="2B2C30"/>
              </a:buClr>
              <a:buSzPts val="2000"/>
              <a:buChar char="➢"/>
            </a:pPr>
            <a:r>
              <a:rPr lang="en-GB" sz="2000">
                <a:solidFill>
                  <a:srgbClr val="2B2C30"/>
                </a:solidFill>
                <a:latin typeface="Times"/>
                <a:ea typeface="Times"/>
                <a:cs typeface="Times"/>
                <a:sym typeface="Times"/>
              </a:rPr>
              <a:t>Programs consists of two things: </a:t>
            </a:r>
            <a:r>
              <a:rPr b="1" lang="en-GB" sz="2000">
                <a:solidFill>
                  <a:srgbClr val="2B2C30"/>
                </a:solidFill>
                <a:latin typeface="Times"/>
                <a:ea typeface="Times"/>
                <a:cs typeface="Times"/>
                <a:sym typeface="Times"/>
              </a:rPr>
              <a:t>Data Structures </a:t>
            </a:r>
            <a:r>
              <a:rPr lang="en-GB" sz="2000">
                <a:solidFill>
                  <a:srgbClr val="2B2C30"/>
                </a:solidFill>
                <a:latin typeface="Times"/>
                <a:ea typeface="Times"/>
                <a:cs typeface="Times"/>
                <a:sym typeface="Times"/>
              </a:rPr>
              <a:t>and</a:t>
            </a:r>
            <a:r>
              <a:rPr b="1" lang="en-GB" sz="2000">
                <a:solidFill>
                  <a:srgbClr val="2B2C30"/>
                </a:solidFill>
                <a:latin typeface="Times"/>
                <a:ea typeface="Times"/>
                <a:cs typeface="Times"/>
                <a:sym typeface="Times"/>
              </a:rPr>
              <a:t> Algorithms</a:t>
            </a:r>
            <a:r>
              <a:rPr lang="en-GB" sz="2000">
                <a:solidFill>
                  <a:srgbClr val="2B2C30"/>
                </a:solidFill>
                <a:latin typeface="Times"/>
                <a:ea typeface="Times"/>
                <a:cs typeface="Times"/>
                <a:sym typeface="Times"/>
              </a:rPr>
              <a:t>.</a:t>
            </a:r>
            <a:endParaRPr b="1" sz="2000">
              <a:solidFill>
                <a:srgbClr val="2B2C30"/>
              </a:solidFill>
              <a:latin typeface="Times"/>
              <a:ea typeface="Times"/>
              <a:cs typeface="Times"/>
              <a:sym typeface="Times"/>
            </a:endParaRPr>
          </a:p>
          <a:p>
            <a:pPr indent="-355600" lvl="0" marL="360001" rtl="0" algn="just">
              <a:lnSpc>
                <a:spcPct val="100000"/>
              </a:lnSpc>
              <a:spcBef>
                <a:spcPts val="0"/>
              </a:spcBef>
              <a:spcAft>
                <a:spcPts val="0"/>
              </a:spcAft>
              <a:buClr>
                <a:srgbClr val="2B2C30"/>
              </a:buClr>
              <a:buSzPts val="2000"/>
              <a:buChar char="➢"/>
            </a:pPr>
            <a:r>
              <a:rPr lang="en-GB" sz="2000">
                <a:solidFill>
                  <a:srgbClr val="2B2C30"/>
                </a:solidFill>
                <a:latin typeface="Times"/>
                <a:ea typeface="Times"/>
                <a:cs typeface="Times"/>
                <a:sym typeface="Times"/>
              </a:rPr>
              <a:t>A Good Program is a combination of both </a:t>
            </a:r>
            <a:r>
              <a:rPr b="1" lang="en-GB" sz="2000">
                <a:solidFill>
                  <a:srgbClr val="2B2C30"/>
                </a:solidFill>
                <a:latin typeface="Times"/>
                <a:ea typeface="Times"/>
                <a:cs typeface="Times"/>
                <a:sym typeface="Times"/>
              </a:rPr>
              <a:t>algorithm</a:t>
            </a:r>
            <a:r>
              <a:rPr lang="en-GB" sz="2000">
                <a:solidFill>
                  <a:srgbClr val="2B2C30"/>
                </a:solidFill>
                <a:latin typeface="Times"/>
                <a:ea typeface="Times"/>
                <a:cs typeface="Times"/>
                <a:sym typeface="Times"/>
              </a:rPr>
              <a:t> and a </a:t>
            </a:r>
            <a:r>
              <a:rPr b="1" lang="en-GB" sz="2000">
                <a:solidFill>
                  <a:srgbClr val="2B2C30"/>
                </a:solidFill>
                <a:latin typeface="Times"/>
                <a:ea typeface="Times"/>
                <a:cs typeface="Times"/>
                <a:sym typeface="Times"/>
              </a:rPr>
              <a:t>data structure.</a:t>
            </a:r>
            <a:endParaRPr b="1" sz="2000">
              <a:solidFill>
                <a:srgbClr val="2B2C30"/>
              </a:solidFill>
              <a:latin typeface="Times"/>
              <a:ea typeface="Times"/>
              <a:cs typeface="Times"/>
              <a:sym typeface="Times"/>
            </a:endParaRPr>
          </a:p>
          <a:p>
            <a:pPr indent="-355600" lvl="0" marL="360001" rtl="0" algn="just">
              <a:lnSpc>
                <a:spcPct val="100000"/>
              </a:lnSpc>
              <a:spcBef>
                <a:spcPts val="0"/>
              </a:spcBef>
              <a:spcAft>
                <a:spcPts val="0"/>
              </a:spcAft>
              <a:buClr>
                <a:srgbClr val="2B2C30"/>
              </a:buClr>
              <a:buSzPts val="2000"/>
              <a:buChar char="➢"/>
            </a:pPr>
            <a:r>
              <a:rPr lang="en-GB" sz="2000">
                <a:solidFill>
                  <a:srgbClr val="2B2C30"/>
                </a:solidFill>
                <a:latin typeface="Times"/>
                <a:ea typeface="Times"/>
                <a:cs typeface="Times"/>
                <a:sym typeface="Times"/>
              </a:rPr>
              <a:t>An </a:t>
            </a:r>
            <a:r>
              <a:rPr b="1" lang="en-GB" sz="2000">
                <a:solidFill>
                  <a:srgbClr val="2B2C30"/>
                </a:solidFill>
                <a:latin typeface="Times"/>
                <a:ea typeface="Times"/>
                <a:cs typeface="Times"/>
                <a:sym typeface="Times"/>
              </a:rPr>
              <a:t>algorithm</a:t>
            </a:r>
            <a:r>
              <a:rPr lang="en-GB" sz="2000">
                <a:solidFill>
                  <a:srgbClr val="2B2C30"/>
                </a:solidFill>
                <a:latin typeface="Times"/>
                <a:ea typeface="Times"/>
                <a:cs typeface="Times"/>
                <a:sym typeface="Times"/>
              </a:rPr>
              <a:t> is a step by step recipe for solving an instance of a problem.</a:t>
            </a:r>
            <a:endParaRPr sz="2000">
              <a:solidFill>
                <a:srgbClr val="2B2C30"/>
              </a:solidFill>
              <a:latin typeface="Times"/>
              <a:ea typeface="Times"/>
              <a:cs typeface="Times"/>
              <a:sym typeface="Times"/>
            </a:endParaRPr>
          </a:p>
          <a:p>
            <a:pPr indent="-355600" lvl="0" marL="360001" rtl="0" algn="just">
              <a:lnSpc>
                <a:spcPct val="100000"/>
              </a:lnSpc>
              <a:spcBef>
                <a:spcPts val="0"/>
              </a:spcBef>
              <a:spcAft>
                <a:spcPts val="0"/>
              </a:spcAft>
              <a:buClr>
                <a:srgbClr val="2B2C30"/>
              </a:buClr>
              <a:buSzPts val="2000"/>
              <a:buChar char="➢"/>
            </a:pPr>
            <a:r>
              <a:rPr lang="en-GB" sz="2000">
                <a:solidFill>
                  <a:srgbClr val="2B2C30"/>
                </a:solidFill>
                <a:latin typeface="Times"/>
                <a:ea typeface="Times"/>
                <a:cs typeface="Times"/>
                <a:sym typeface="Times"/>
              </a:rPr>
              <a:t>A </a:t>
            </a:r>
            <a:r>
              <a:rPr b="1" lang="en-GB" sz="2000">
                <a:solidFill>
                  <a:srgbClr val="2B2C30"/>
                </a:solidFill>
                <a:latin typeface="Times"/>
                <a:ea typeface="Times"/>
                <a:cs typeface="Times"/>
                <a:sym typeface="Times"/>
              </a:rPr>
              <a:t>data structure</a:t>
            </a:r>
            <a:r>
              <a:rPr lang="en-GB" sz="2000">
                <a:solidFill>
                  <a:srgbClr val="2B2C30"/>
                </a:solidFill>
                <a:latin typeface="Times"/>
                <a:ea typeface="Times"/>
                <a:cs typeface="Times"/>
                <a:sym typeface="Times"/>
              </a:rPr>
              <a:t> represents the logical relationship that exists between individual elements of data to carry out certain tasks.</a:t>
            </a:r>
            <a:endParaRPr sz="2000">
              <a:solidFill>
                <a:srgbClr val="2B2C30"/>
              </a:solidFill>
              <a:latin typeface="Times"/>
              <a:ea typeface="Times"/>
              <a:cs typeface="Times"/>
              <a:sym typeface="Times"/>
            </a:endParaRPr>
          </a:p>
          <a:p>
            <a:pPr indent="-355600" lvl="0" marL="360001" rtl="0" algn="just">
              <a:lnSpc>
                <a:spcPct val="100000"/>
              </a:lnSpc>
              <a:spcBef>
                <a:spcPts val="0"/>
              </a:spcBef>
              <a:spcAft>
                <a:spcPts val="0"/>
              </a:spcAft>
              <a:buClr>
                <a:srgbClr val="2B2C30"/>
              </a:buClr>
              <a:buSzPts val="2000"/>
              <a:buChar char="➢"/>
            </a:pPr>
            <a:r>
              <a:rPr lang="en-GB" sz="2000">
                <a:solidFill>
                  <a:srgbClr val="2B2C30"/>
                </a:solidFill>
                <a:latin typeface="Times"/>
                <a:ea typeface="Times"/>
                <a:cs typeface="Times"/>
                <a:sym typeface="Times"/>
              </a:rPr>
              <a:t>A </a:t>
            </a:r>
            <a:r>
              <a:rPr b="1" lang="en-GB" sz="2000">
                <a:solidFill>
                  <a:srgbClr val="2B2C30"/>
                </a:solidFill>
                <a:latin typeface="Times"/>
                <a:ea typeface="Times"/>
                <a:cs typeface="Times"/>
                <a:sym typeface="Times"/>
              </a:rPr>
              <a:t>data structure</a:t>
            </a:r>
            <a:r>
              <a:rPr lang="en-GB" sz="2000">
                <a:solidFill>
                  <a:srgbClr val="2B2C30"/>
                </a:solidFill>
                <a:latin typeface="Times"/>
                <a:ea typeface="Times"/>
                <a:cs typeface="Times"/>
                <a:sym typeface="Times"/>
              </a:rPr>
              <a:t> defines a way of organizing all data items that consider not only the elements stored but also stores the relationship between the elements.</a:t>
            </a:r>
            <a:endParaRPr sz="2000">
              <a:solidFill>
                <a:srgbClr val="2B2C30"/>
              </a:solidFill>
              <a:latin typeface="Times"/>
              <a:ea typeface="Times"/>
              <a:cs typeface="Times"/>
              <a:sym typeface="Times"/>
            </a:endParaRPr>
          </a:p>
        </p:txBody>
      </p:sp>
      <p:sp>
        <p:nvSpPr>
          <p:cNvPr id="104" name="Google Shape;104;p15"/>
          <p:cNvSpPr/>
          <p:nvPr/>
        </p:nvSpPr>
        <p:spPr>
          <a:xfrm>
            <a:off x="1039900" y="3501675"/>
            <a:ext cx="2560200" cy="534300"/>
          </a:xfrm>
          <a:prstGeom prst="rect">
            <a:avLst/>
          </a:prstGeom>
          <a:solidFill>
            <a:srgbClr val="EEEEEE"/>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Computer Program</a:t>
            </a:r>
            <a:endParaRPr b="1" sz="2000">
              <a:latin typeface="Times"/>
              <a:ea typeface="Times"/>
              <a:cs typeface="Times"/>
              <a:sym typeface="Times"/>
            </a:endParaRPr>
          </a:p>
        </p:txBody>
      </p:sp>
      <p:sp>
        <p:nvSpPr>
          <p:cNvPr id="105" name="Google Shape;105;p15"/>
          <p:cNvSpPr/>
          <p:nvPr/>
        </p:nvSpPr>
        <p:spPr>
          <a:xfrm>
            <a:off x="4472125" y="3501675"/>
            <a:ext cx="1954800" cy="534300"/>
          </a:xfrm>
          <a:prstGeom prst="rect">
            <a:avLst/>
          </a:prstGeom>
          <a:solidFill>
            <a:srgbClr val="EEEEEE"/>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Data Structure</a:t>
            </a:r>
            <a:endParaRPr b="1" sz="2000">
              <a:latin typeface="Times"/>
              <a:ea typeface="Times"/>
              <a:cs typeface="Times"/>
              <a:sym typeface="Times"/>
            </a:endParaRPr>
          </a:p>
        </p:txBody>
      </p:sp>
      <p:sp>
        <p:nvSpPr>
          <p:cNvPr id="106" name="Google Shape;106;p15"/>
          <p:cNvSpPr/>
          <p:nvPr/>
        </p:nvSpPr>
        <p:spPr>
          <a:xfrm>
            <a:off x="7124925" y="3501675"/>
            <a:ext cx="1381800" cy="534300"/>
          </a:xfrm>
          <a:prstGeom prst="rect">
            <a:avLst/>
          </a:prstGeom>
          <a:solidFill>
            <a:srgbClr val="EEEEEE"/>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Algorithm</a:t>
            </a:r>
            <a:endParaRPr b="1" sz="2000">
              <a:latin typeface="Times"/>
              <a:ea typeface="Times"/>
              <a:cs typeface="Times"/>
              <a:sym typeface="Times"/>
            </a:endParaRPr>
          </a:p>
        </p:txBody>
      </p:sp>
      <p:sp>
        <p:nvSpPr>
          <p:cNvPr id="107" name="Google Shape;107;p15"/>
          <p:cNvSpPr/>
          <p:nvPr/>
        </p:nvSpPr>
        <p:spPr>
          <a:xfrm>
            <a:off x="6529620" y="3569025"/>
            <a:ext cx="492600" cy="399600"/>
          </a:xfrm>
          <a:prstGeom prst="quadArrow">
            <a:avLst>
              <a:gd fmla="val 22500" name="adj1"/>
              <a:gd fmla="val 5232" name="adj2"/>
              <a:gd fmla="val 22500" name="adj3"/>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15"/>
          <p:cNvSpPr/>
          <p:nvPr/>
        </p:nvSpPr>
        <p:spPr>
          <a:xfrm>
            <a:off x="3741213" y="3673875"/>
            <a:ext cx="589800" cy="189900"/>
          </a:xfrm>
          <a:prstGeom prst="rightArrow">
            <a:avLst>
              <a:gd fmla="val 50000" name="adj1"/>
              <a:gd fmla="val 50000" name="adj2"/>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 name="Shape 112"/>
        <p:cNvGrpSpPr/>
        <p:nvPr/>
      </p:nvGrpSpPr>
      <p:grpSpPr>
        <a:xfrm>
          <a:off x="0" y="0"/>
          <a:ext cx="0" cy="0"/>
          <a:chOff x="0" y="0"/>
          <a:chExt cx="0" cy="0"/>
        </a:xfrm>
      </p:grpSpPr>
      <p:sp>
        <p:nvSpPr>
          <p:cNvPr id="113" name="Google Shape;113;p16"/>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14" name="Google Shape;114;p16"/>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15" name="Google Shape;115;p16"/>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3000">
                <a:solidFill>
                  <a:srgbClr val="2B2C30"/>
                </a:solidFill>
                <a:latin typeface="Times"/>
                <a:ea typeface="Times"/>
                <a:cs typeface="Times"/>
                <a:sym typeface="Times"/>
              </a:rPr>
              <a:t>Algorithms</a:t>
            </a:r>
            <a:endParaRPr sz="3800">
              <a:latin typeface="Times"/>
              <a:ea typeface="Times"/>
              <a:cs typeface="Times"/>
              <a:sym typeface="Times"/>
            </a:endParaRPr>
          </a:p>
        </p:txBody>
      </p:sp>
      <p:cxnSp>
        <p:nvCxnSpPr>
          <p:cNvPr id="116" name="Google Shape;116;p16"/>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117" name="Google Shape;117;p16"/>
          <p:cNvSpPr txBox="1"/>
          <p:nvPr/>
        </p:nvSpPr>
        <p:spPr>
          <a:xfrm>
            <a:off x="548725" y="676200"/>
            <a:ext cx="8244900" cy="4155000"/>
          </a:xfrm>
          <a:prstGeom prst="rect">
            <a:avLst/>
          </a:prstGeom>
          <a:noFill/>
          <a:ln>
            <a:noFill/>
          </a:ln>
        </p:spPr>
        <p:txBody>
          <a:bodyPr anchorCtr="0" anchor="t" bIns="91425" lIns="91425" spcFirstLastPara="1" rIns="91425" wrap="square" tIns="91425">
            <a:noAutofit/>
          </a:bodyPr>
          <a:lstStyle/>
          <a:p>
            <a:pPr indent="-368300" lvl="0" marL="360001" rtl="0" algn="just">
              <a:spcBef>
                <a:spcPts val="900"/>
              </a:spcBef>
              <a:spcAft>
                <a:spcPts val="0"/>
              </a:spcAft>
              <a:buSzPts val="2200"/>
              <a:buFont typeface="Times"/>
              <a:buChar char="➢"/>
            </a:pPr>
            <a:r>
              <a:rPr lang="en-GB" sz="2000">
                <a:latin typeface="Times"/>
                <a:ea typeface="Times"/>
                <a:cs typeface="Times"/>
                <a:sym typeface="Times"/>
              </a:rPr>
              <a:t>An algorithm is a step by step recipe for solving an instance of a problem.</a:t>
            </a:r>
            <a:endParaRPr sz="2000">
              <a:latin typeface="Times"/>
              <a:ea typeface="Times"/>
              <a:cs typeface="Times"/>
              <a:sym typeface="Times"/>
            </a:endParaRPr>
          </a:p>
          <a:p>
            <a:pPr indent="-368300" lvl="0" marL="360001" rtl="0" algn="just">
              <a:spcBef>
                <a:spcPts val="0"/>
              </a:spcBef>
              <a:spcAft>
                <a:spcPts val="0"/>
              </a:spcAft>
              <a:buSzPts val="2200"/>
              <a:buFont typeface="Times"/>
              <a:buChar char="➢"/>
            </a:pPr>
            <a:r>
              <a:rPr lang="en-GB" sz="2000">
                <a:latin typeface="Times"/>
                <a:ea typeface="Times"/>
                <a:cs typeface="Times"/>
                <a:sym typeface="Times"/>
              </a:rPr>
              <a:t>Every single procedure that a computer performs is an algorithm.</a:t>
            </a:r>
            <a:endParaRPr sz="2000">
              <a:latin typeface="Times"/>
              <a:ea typeface="Times"/>
              <a:cs typeface="Times"/>
              <a:sym typeface="Times"/>
            </a:endParaRPr>
          </a:p>
          <a:p>
            <a:pPr indent="-368300" lvl="0" marL="360001" rtl="0" algn="just">
              <a:spcBef>
                <a:spcPts val="0"/>
              </a:spcBef>
              <a:spcAft>
                <a:spcPts val="0"/>
              </a:spcAft>
              <a:buSzPts val="2200"/>
              <a:buFont typeface="Times"/>
              <a:buChar char="➢"/>
            </a:pPr>
            <a:r>
              <a:rPr lang="en-GB" sz="2000">
                <a:latin typeface="Times"/>
                <a:ea typeface="Times"/>
                <a:cs typeface="Times"/>
                <a:sym typeface="Times"/>
              </a:rPr>
              <a:t>An algorithm is a precise procedure for solving a problem in finite number of steps.</a:t>
            </a:r>
            <a:endParaRPr sz="2000">
              <a:latin typeface="Times"/>
              <a:ea typeface="Times"/>
              <a:cs typeface="Times"/>
              <a:sym typeface="Times"/>
            </a:endParaRPr>
          </a:p>
          <a:p>
            <a:pPr indent="-368300" lvl="0" marL="360001" rtl="0" algn="just">
              <a:spcBef>
                <a:spcPts val="0"/>
              </a:spcBef>
              <a:spcAft>
                <a:spcPts val="0"/>
              </a:spcAft>
              <a:buSzPts val="2200"/>
              <a:buFont typeface="Times"/>
              <a:buChar char="➢"/>
            </a:pPr>
            <a:r>
              <a:rPr lang="en-GB" sz="2000">
                <a:latin typeface="Times"/>
                <a:ea typeface="Times"/>
                <a:cs typeface="Times"/>
                <a:sym typeface="Times"/>
              </a:rPr>
              <a:t>An algorithm states the actions to be executed and the order in which these actions are to be executed.</a:t>
            </a:r>
            <a:endParaRPr sz="2000">
              <a:latin typeface="Times"/>
              <a:ea typeface="Times"/>
              <a:cs typeface="Times"/>
              <a:sym typeface="Times"/>
            </a:endParaRPr>
          </a:p>
          <a:p>
            <a:pPr indent="-368300" lvl="0" marL="360001" rtl="0" algn="just">
              <a:spcBef>
                <a:spcPts val="0"/>
              </a:spcBef>
              <a:spcAft>
                <a:spcPts val="0"/>
              </a:spcAft>
              <a:buSzPts val="2200"/>
              <a:buFont typeface="Times"/>
              <a:buChar char="➢"/>
            </a:pPr>
            <a:r>
              <a:rPr lang="en-GB" sz="2000">
                <a:latin typeface="Times"/>
                <a:ea typeface="Times"/>
                <a:cs typeface="Times"/>
                <a:sym typeface="Times"/>
              </a:rPr>
              <a:t>An algorithm is a well ordered collection of clear and simple instructions of definite and effectively computable operations that when executed produces a result and stops executing at some point in a finite amount of time rather.</a:t>
            </a:r>
            <a:endParaRPr sz="2000">
              <a:latin typeface="Times"/>
              <a:ea typeface="Times"/>
              <a:cs typeface="Times"/>
              <a:sym typeface="Time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 name="Shape 121"/>
        <p:cNvGrpSpPr/>
        <p:nvPr/>
      </p:nvGrpSpPr>
      <p:grpSpPr>
        <a:xfrm>
          <a:off x="0" y="0"/>
          <a:ext cx="0" cy="0"/>
          <a:chOff x="0" y="0"/>
          <a:chExt cx="0" cy="0"/>
        </a:xfrm>
      </p:grpSpPr>
      <p:sp>
        <p:nvSpPr>
          <p:cNvPr id="122" name="Google Shape;122;p17"/>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23" name="Google Shape;123;p17"/>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4" name="Google Shape;124;p17"/>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3000">
                <a:solidFill>
                  <a:srgbClr val="2B2C30"/>
                </a:solidFill>
                <a:latin typeface="Times"/>
                <a:ea typeface="Times"/>
                <a:cs typeface="Times"/>
                <a:sym typeface="Times"/>
              </a:rPr>
              <a:t>Properties of Algorithms</a:t>
            </a:r>
            <a:endParaRPr sz="3800">
              <a:latin typeface="Times"/>
              <a:ea typeface="Times"/>
              <a:cs typeface="Times"/>
              <a:sym typeface="Times"/>
            </a:endParaRPr>
          </a:p>
        </p:txBody>
      </p:sp>
      <p:cxnSp>
        <p:nvCxnSpPr>
          <p:cNvPr id="125" name="Google Shape;125;p17"/>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126" name="Google Shape;126;p17"/>
          <p:cNvSpPr txBox="1"/>
          <p:nvPr/>
        </p:nvSpPr>
        <p:spPr>
          <a:xfrm>
            <a:off x="548725" y="676200"/>
            <a:ext cx="8244900" cy="4155000"/>
          </a:xfrm>
          <a:prstGeom prst="rect">
            <a:avLst/>
          </a:prstGeom>
          <a:noFill/>
          <a:ln>
            <a:noFill/>
          </a:ln>
        </p:spPr>
        <p:txBody>
          <a:bodyPr anchorCtr="0" anchor="t" bIns="91425" lIns="91425" spcFirstLastPara="1" rIns="91425" wrap="square" tIns="91425">
            <a:noAutofit/>
          </a:bodyPr>
          <a:lstStyle/>
          <a:p>
            <a:pPr indent="0" lvl="0" marL="0" rtl="0" algn="just">
              <a:spcBef>
                <a:spcPts val="900"/>
              </a:spcBef>
              <a:spcAft>
                <a:spcPts val="0"/>
              </a:spcAft>
              <a:buNone/>
            </a:pPr>
            <a:r>
              <a:rPr lang="en-GB" sz="2000">
                <a:latin typeface="Times"/>
                <a:ea typeface="Times"/>
                <a:cs typeface="Times"/>
                <a:sym typeface="Times"/>
              </a:rPr>
              <a:t>An algorithm possesses the following properties:</a:t>
            </a:r>
            <a:endParaRPr sz="2000">
              <a:latin typeface="Times"/>
              <a:ea typeface="Times"/>
              <a:cs typeface="Times"/>
              <a:sym typeface="Times"/>
            </a:endParaRPr>
          </a:p>
          <a:p>
            <a:pPr indent="-361950" lvl="1" marL="720000" rtl="0" algn="just">
              <a:spcBef>
                <a:spcPts val="900"/>
              </a:spcBef>
              <a:spcAft>
                <a:spcPts val="0"/>
              </a:spcAft>
              <a:buSzPts val="2100"/>
              <a:buFont typeface="Times"/>
              <a:buChar char="○"/>
            </a:pPr>
            <a:r>
              <a:rPr lang="en-GB" sz="1900">
                <a:latin typeface="Times"/>
                <a:ea typeface="Times"/>
                <a:cs typeface="Times"/>
                <a:sym typeface="Times"/>
              </a:rPr>
              <a:t>It must be correct</a:t>
            </a:r>
            <a:endParaRPr sz="1900">
              <a:latin typeface="Times"/>
              <a:ea typeface="Times"/>
              <a:cs typeface="Times"/>
              <a:sym typeface="Times"/>
            </a:endParaRPr>
          </a:p>
          <a:p>
            <a:pPr indent="-361950" lvl="1" marL="720000" rtl="0" algn="just">
              <a:spcBef>
                <a:spcPts val="0"/>
              </a:spcBef>
              <a:spcAft>
                <a:spcPts val="0"/>
              </a:spcAft>
              <a:buSzPts val="2100"/>
              <a:buFont typeface="Times"/>
              <a:buChar char="○"/>
            </a:pPr>
            <a:r>
              <a:rPr lang="en-GB" sz="1900">
                <a:latin typeface="Times"/>
                <a:ea typeface="Times"/>
                <a:cs typeface="Times"/>
                <a:sym typeface="Times"/>
              </a:rPr>
              <a:t>It must be composed of a series of concrete steps</a:t>
            </a:r>
            <a:endParaRPr sz="1900">
              <a:latin typeface="Times"/>
              <a:ea typeface="Times"/>
              <a:cs typeface="Times"/>
              <a:sym typeface="Times"/>
            </a:endParaRPr>
          </a:p>
          <a:p>
            <a:pPr indent="-361950" lvl="1" marL="720000" rtl="0" algn="just">
              <a:spcBef>
                <a:spcPts val="0"/>
              </a:spcBef>
              <a:spcAft>
                <a:spcPts val="0"/>
              </a:spcAft>
              <a:buSzPts val="2100"/>
              <a:buFont typeface="Times"/>
              <a:buChar char="○"/>
            </a:pPr>
            <a:r>
              <a:rPr lang="en-GB" sz="1900">
                <a:latin typeface="Times"/>
                <a:ea typeface="Times"/>
                <a:cs typeface="Times"/>
                <a:sym typeface="Times"/>
              </a:rPr>
              <a:t>There can be no ambiguity as to which step will be performed next</a:t>
            </a:r>
            <a:endParaRPr sz="1900">
              <a:latin typeface="Times"/>
              <a:ea typeface="Times"/>
              <a:cs typeface="Times"/>
              <a:sym typeface="Times"/>
            </a:endParaRPr>
          </a:p>
          <a:p>
            <a:pPr indent="-361950" lvl="1" marL="720000" rtl="0" algn="just">
              <a:spcBef>
                <a:spcPts val="0"/>
              </a:spcBef>
              <a:spcAft>
                <a:spcPts val="0"/>
              </a:spcAft>
              <a:buSzPts val="2100"/>
              <a:buFont typeface="Times"/>
              <a:buChar char="○"/>
            </a:pPr>
            <a:r>
              <a:rPr lang="en-GB" sz="1900">
                <a:latin typeface="Times"/>
                <a:ea typeface="Times"/>
                <a:cs typeface="Times"/>
                <a:sym typeface="Times"/>
              </a:rPr>
              <a:t>It must be composed of a finite number of steps</a:t>
            </a:r>
            <a:endParaRPr sz="1900">
              <a:latin typeface="Times"/>
              <a:ea typeface="Times"/>
              <a:cs typeface="Times"/>
              <a:sym typeface="Times"/>
            </a:endParaRPr>
          </a:p>
          <a:p>
            <a:pPr indent="-361950" lvl="1" marL="720000" rtl="0" algn="just">
              <a:spcBef>
                <a:spcPts val="0"/>
              </a:spcBef>
              <a:spcAft>
                <a:spcPts val="0"/>
              </a:spcAft>
              <a:buSzPts val="2100"/>
              <a:buFont typeface="Times"/>
              <a:buChar char="○"/>
            </a:pPr>
            <a:r>
              <a:rPr lang="en-GB" sz="1900">
                <a:latin typeface="Times"/>
                <a:ea typeface="Times"/>
                <a:cs typeface="Times"/>
                <a:sym typeface="Times"/>
              </a:rPr>
              <a:t>It must terminate</a:t>
            </a:r>
            <a:endParaRPr sz="1900">
              <a:latin typeface="Times"/>
              <a:ea typeface="Times"/>
              <a:cs typeface="Times"/>
              <a:sym typeface="Times"/>
            </a:endParaRPr>
          </a:p>
          <a:p>
            <a:pPr indent="-361950" lvl="1" marL="720000" rtl="0" algn="just">
              <a:spcBef>
                <a:spcPts val="0"/>
              </a:spcBef>
              <a:spcAft>
                <a:spcPts val="0"/>
              </a:spcAft>
              <a:buSzPts val="2100"/>
              <a:buFont typeface="Times"/>
              <a:buChar char="○"/>
            </a:pPr>
            <a:r>
              <a:rPr lang="en-GB" sz="1900">
                <a:latin typeface="Times"/>
                <a:ea typeface="Times"/>
                <a:cs typeface="Times"/>
                <a:sym typeface="Times"/>
              </a:rPr>
              <a:t>It takes zero or more inputs</a:t>
            </a:r>
            <a:endParaRPr sz="1900">
              <a:latin typeface="Times"/>
              <a:ea typeface="Times"/>
              <a:cs typeface="Times"/>
              <a:sym typeface="Times"/>
            </a:endParaRPr>
          </a:p>
          <a:p>
            <a:pPr indent="-361950" lvl="1" marL="720000" rtl="0" algn="just">
              <a:spcBef>
                <a:spcPts val="0"/>
              </a:spcBef>
              <a:spcAft>
                <a:spcPts val="0"/>
              </a:spcAft>
              <a:buSzPts val="2100"/>
              <a:buFont typeface="Times"/>
              <a:buChar char="○"/>
            </a:pPr>
            <a:r>
              <a:rPr lang="en-GB" sz="1900">
                <a:latin typeface="Times"/>
                <a:ea typeface="Times"/>
                <a:cs typeface="Times"/>
                <a:sym typeface="Times"/>
              </a:rPr>
              <a:t>It should be efficient and flexible</a:t>
            </a:r>
            <a:endParaRPr sz="1900">
              <a:latin typeface="Times"/>
              <a:ea typeface="Times"/>
              <a:cs typeface="Times"/>
              <a:sym typeface="Times"/>
            </a:endParaRPr>
          </a:p>
          <a:p>
            <a:pPr indent="-361950" lvl="1" marL="720000" rtl="0" algn="just">
              <a:spcBef>
                <a:spcPts val="0"/>
              </a:spcBef>
              <a:spcAft>
                <a:spcPts val="0"/>
              </a:spcAft>
              <a:buSzPts val="2100"/>
              <a:buFont typeface="Times"/>
              <a:buChar char="○"/>
            </a:pPr>
            <a:r>
              <a:rPr lang="en-GB" sz="1900">
                <a:latin typeface="Times"/>
                <a:ea typeface="Times"/>
                <a:cs typeface="Times"/>
                <a:sym typeface="Times"/>
              </a:rPr>
              <a:t>It should use less memory space as much as possible</a:t>
            </a:r>
            <a:endParaRPr sz="1900">
              <a:latin typeface="Times"/>
              <a:ea typeface="Times"/>
              <a:cs typeface="Times"/>
              <a:sym typeface="Times"/>
            </a:endParaRPr>
          </a:p>
          <a:p>
            <a:pPr indent="-368300" lvl="1" marL="720000" rtl="0" algn="just">
              <a:spcBef>
                <a:spcPts val="0"/>
              </a:spcBef>
              <a:spcAft>
                <a:spcPts val="0"/>
              </a:spcAft>
              <a:buSzPts val="2200"/>
              <a:buFont typeface="Times"/>
              <a:buChar char="○"/>
            </a:pPr>
            <a:r>
              <a:rPr lang="en-GB" sz="1900">
                <a:latin typeface="Times"/>
                <a:ea typeface="Times"/>
                <a:cs typeface="Times"/>
                <a:sym typeface="Times"/>
              </a:rPr>
              <a:t>It results in one or more outpu</a:t>
            </a:r>
            <a:r>
              <a:rPr lang="en-GB" sz="2000">
                <a:latin typeface="Times"/>
                <a:ea typeface="Times"/>
                <a:cs typeface="Times"/>
                <a:sym typeface="Times"/>
              </a:rPr>
              <a:t>ts</a:t>
            </a:r>
            <a:endParaRPr sz="2000">
              <a:latin typeface="Times"/>
              <a:ea typeface="Times"/>
              <a:cs typeface="Times"/>
              <a:sym typeface="Time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0" name="Shape 130"/>
        <p:cNvGrpSpPr/>
        <p:nvPr/>
      </p:nvGrpSpPr>
      <p:grpSpPr>
        <a:xfrm>
          <a:off x="0" y="0"/>
          <a:ext cx="0" cy="0"/>
          <a:chOff x="0" y="0"/>
          <a:chExt cx="0" cy="0"/>
        </a:xfrm>
      </p:grpSpPr>
      <p:sp>
        <p:nvSpPr>
          <p:cNvPr id="131" name="Google Shape;131;p18"/>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32" name="Google Shape;132;p18"/>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3" name="Google Shape;133;p18"/>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3000">
                <a:solidFill>
                  <a:srgbClr val="2B2C30"/>
                </a:solidFill>
                <a:latin typeface="Times"/>
                <a:ea typeface="Times"/>
                <a:cs typeface="Times"/>
                <a:sym typeface="Times"/>
              </a:rPr>
              <a:t>Steps in Developing Algorithms</a:t>
            </a:r>
            <a:endParaRPr sz="3800">
              <a:latin typeface="Times"/>
              <a:ea typeface="Times"/>
              <a:cs typeface="Times"/>
              <a:sym typeface="Times"/>
            </a:endParaRPr>
          </a:p>
        </p:txBody>
      </p:sp>
      <p:cxnSp>
        <p:nvCxnSpPr>
          <p:cNvPr id="134" name="Google Shape;134;p18"/>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135" name="Google Shape;135;p18"/>
          <p:cNvSpPr txBox="1"/>
          <p:nvPr/>
        </p:nvSpPr>
        <p:spPr>
          <a:xfrm>
            <a:off x="548725" y="676200"/>
            <a:ext cx="8244900" cy="4155000"/>
          </a:xfrm>
          <a:prstGeom prst="rect">
            <a:avLst/>
          </a:prstGeom>
          <a:noFill/>
          <a:ln>
            <a:noFill/>
          </a:ln>
        </p:spPr>
        <p:txBody>
          <a:bodyPr anchorCtr="0" anchor="t" bIns="91425" lIns="91425" spcFirstLastPara="1" rIns="91425" wrap="square" tIns="91425">
            <a:noAutofit/>
          </a:bodyPr>
          <a:lstStyle/>
          <a:p>
            <a:pPr indent="-368300" lvl="0" marL="360001" rtl="0" algn="just">
              <a:spcBef>
                <a:spcPts val="900"/>
              </a:spcBef>
              <a:spcAft>
                <a:spcPts val="0"/>
              </a:spcAft>
              <a:buSzPts val="2200"/>
              <a:buFont typeface="Times"/>
              <a:buChar char="➢"/>
            </a:pPr>
            <a:r>
              <a:rPr lang="en-GB" sz="2000">
                <a:latin typeface="Times"/>
                <a:ea typeface="Times"/>
                <a:cs typeface="Times"/>
                <a:sym typeface="Times"/>
              </a:rPr>
              <a:t>Devising the Algorithm:</a:t>
            </a:r>
            <a:endParaRPr sz="2000">
              <a:latin typeface="Times"/>
              <a:ea typeface="Times"/>
              <a:cs typeface="Times"/>
              <a:sym typeface="Times"/>
            </a:endParaRPr>
          </a:p>
          <a:p>
            <a:pPr indent="-361950" lvl="1" marL="720000" rtl="0" algn="just">
              <a:spcBef>
                <a:spcPts val="0"/>
              </a:spcBef>
              <a:spcAft>
                <a:spcPts val="0"/>
              </a:spcAft>
              <a:buSzPts val="2100"/>
              <a:buFont typeface="Times"/>
              <a:buChar char="○"/>
            </a:pPr>
            <a:r>
              <a:rPr lang="en-GB" sz="1900">
                <a:latin typeface="Times"/>
                <a:ea typeface="Times"/>
                <a:cs typeface="Times"/>
                <a:sym typeface="Times"/>
              </a:rPr>
              <a:t>It's a method for solving a problem. Each step of an algorithm must be precisely defined and no vague statements should be used. </a:t>
            </a:r>
            <a:endParaRPr sz="1900">
              <a:latin typeface="Times"/>
              <a:ea typeface="Times"/>
              <a:cs typeface="Times"/>
              <a:sym typeface="Times"/>
            </a:endParaRPr>
          </a:p>
          <a:p>
            <a:pPr indent="-361950" lvl="1" marL="720000" rtl="0" algn="just">
              <a:spcBef>
                <a:spcPts val="0"/>
              </a:spcBef>
              <a:spcAft>
                <a:spcPts val="0"/>
              </a:spcAft>
              <a:buSzPts val="2100"/>
              <a:buFont typeface="Times"/>
              <a:buChar char="○"/>
            </a:pPr>
            <a:r>
              <a:rPr lang="en-GB" sz="1900">
                <a:latin typeface="Times"/>
                <a:ea typeface="Times"/>
                <a:cs typeface="Times"/>
                <a:sym typeface="Times"/>
              </a:rPr>
              <a:t>Pseudo code is used to describe the algorithm , in less formal language than a programming language.</a:t>
            </a:r>
            <a:endParaRPr sz="1900">
              <a:latin typeface="Times"/>
              <a:ea typeface="Times"/>
              <a:cs typeface="Times"/>
              <a:sym typeface="Times"/>
            </a:endParaRPr>
          </a:p>
          <a:p>
            <a:pPr indent="-368300" lvl="0" marL="360001" rtl="0" algn="just">
              <a:spcBef>
                <a:spcPts val="0"/>
              </a:spcBef>
              <a:spcAft>
                <a:spcPts val="0"/>
              </a:spcAft>
              <a:buSzPts val="2200"/>
              <a:buFont typeface="Times"/>
              <a:buChar char="➢"/>
            </a:pPr>
            <a:r>
              <a:rPr lang="en-GB" sz="2000">
                <a:latin typeface="Times"/>
                <a:ea typeface="Times"/>
                <a:cs typeface="Times"/>
                <a:sym typeface="Times"/>
              </a:rPr>
              <a:t>Validating the Algorithm:</a:t>
            </a:r>
            <a:endParaRPr sz="2000">
              <a:latin typeface="Times"/>
              <a:ea typeface="Times"/>
              <a:cs typeface="Times"/>
              <a:sym typeface="Times"/>
            </a:endParaRPr>
          </a:p>
          <a:p>
            <a:pPr indent="-361950" lvl="1" marL="720000" rtl="0" algn="just">
              <a:spcBef>
                <a:spcPts val="0"/>
              </a:spcBef>
              <a:spcAft>
                <a:spcPts val="0"/>
              </a:spcAft>
              <a:buSzPts val="2100"/>
              <a:buFont typeface="Times"/>
              <a:buChar char="○"/>
            </a:pPr>
            <a:r>
              <a:rPr lang="en-GB" sz="1900">
                <a:latin typeface="Times"/>
                <a:ea typeface="Times"/>
                <a:cs typeface="Times"/>
                <a:sym typeface="Times"/>
              </a:rPr>
              <a:t>The proof of correctness of the algorithm. </a:t>
            </a:r>
            <a:endParaRPr sz="1900">
              <a:latin typeface="Times"/>
              <a:ea typeface="Times"/>
              <a:cs typeface="Times"/>
              <a:sym typeface="Times"/>
            </a:endParaRPr>
          </a:p>
          <a:p>
            <a:pPr indent="-361950" lvl="1" marL="720000" rtl="0" algn="just">
              <a:spcBef>
                <a:spcPts val="0"/>
              </a:spcBef>
              <a:spcAft>
                <a:spcPts val="0"/>
              </a:spcAft>
              <a:buSzPts val="2100"/>
              <a:buFont typeface="Times"/>
              <a:buChar char="○"/>
            </a:pPr>
            <a:r>
              <a:rPr lang="en-GB" sz="1900">
                <a:latin typeface="Times"/>
                <a:ea typeface="Times"/>
                <a:cs typeface="Times"/>
                <a:sym typeface="Times"/>
              </a:rPr>
              <a:t>A human must be able to perform each step using paper and pencil by giving the required input , use the algorithm and get the required output in a finite amount of time.</a:t>
            </a:r>
            <a:endParaRPr sz="1900">
              <a:latin typeface="Times"/>
              <a:ea typeface="Times"/>
              <a:cs typeface="Times"/>
              <a:sym typeface="Times"/>
            </a:endParaRPr>
          </a:p>
          <a:p>
            <a:pPr indent="-368300" lvl="0" marL="360001" rtl="0" algn="just">
              <a:spcBef>
                <a:spcPts val="0"/>
              </a:spcBef>
              <a:spcAft>
                <a:spcPts val="0"/>
              </a:spcAft>
              <a:buSzPts val="2200"/>
              <a:buFont typeface="Times"/>
              <a:buChar char="➢"/>
            </a:pPr>
            <a:r>
              <a:rPr lang="en-GB" sz="2000">
                <a:latin typeface="Times"/>
                <a:ea typeface="Times"/>
                <a:cs typeface="Times"/>
                <a:sym typeface="Times"/>
              </a:rPr>
              <a:t>Expressing the algorithm:</a:t>
            </a:r>
            <a:endParaRPr sz="2000">
              <a:latin typeface="Times"/>
              <a:ea typeface="Times"/>
              <a:cs typeface="Times"/>
              <a:sym typeface="Times"/>
            </a:endParaRPr>
          </a:p>
          <a:p>
            <a:pPr indent="-361950" lvl="1" marL="720000" rtl="0" algn="just">
              <a:spcBef>
                <a:spcPts val="0"/>
              </a:spcBef>
              <a:spcAft>
                <a:spcPts val="0"/>
              </a:spcAft>
              <a:buSzPts val="2100"/>
              <a:buFont typeface="Times"/>
              <a:buChar char="○"/>
            </a:pPr>
            <a:r>
              <a:rPr lang="en-GB" sz="1900">
                <a:latin typeface="Times"/>
                <a:ea typeface="Times"/>
                <a:cs typeface="Times"/>
                <a:sym typeface="Times"/>
              </a:rPr>
              <a:t>To implement the algorithm in a programming language. </a:t>
            </a:r>
            <a:endParaRPr sz="1900">
              <a:latin typeface="Times"/>
              <a:ea typeface="Times"/>
              <a:cs typeface="Times"/>
              <a:sym typeface="Times"/>
            </a:endParaRPr>
          </a:p>
          <a:p>
            <a:pPr indent="-361950" lvl="1" marL="720000" rtl="0" algn="just">
              <a:spcBef>
                <a:spcPts val="0"/>
              </a:spcBef>
              <a:spcAft>
                <a:spcPts val="0"/>
              </a:spcAft>
              <a:buSzPts val="2100"/>
              <a:buFont typeface="Times"/>
              <a:buChar char="○"/>
            </a:pPr>
            <a:r>
              <a:rPr lang="en-GB" sz="1900">
                <a:latin typeface="Times"/>
                <a:ea typeface="Times"/>
                <a:cs typeface="Times"/>
                <a:sym typeface="Times"/>
              </a:rPr>
              <a:t>The algorithm used should terminate after a finite number of steps.</a:t>
            </a:r>
            <a:endParaRPr sz="1900">
              <a:latin typeface="Times"/>
              <a:ea typeface="Times"/>
              <a:cs typeface="Times"/>
              <a:sym typeface="Time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9" name="Shape 139"/>
        <p:cNvGrpSpPr/>
        <p:nvPr/>
      </p:nvGrpSpPr>
      <p:grpSpPr>
        <a:xfrm>
          <a:off x="0" y="0"/>
          <a:ext cx="0" cy="0"/>
          <a:chOff x="0" y="0"/>
          <a:chExt cx="0" cy="0"/>
        </a:xfrm>
      </p:grpSpPr>
      <p:sp>
        <p:nvSpPr>
          <p:cNvPr id="140" name="Google Shape;140;p19"/>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41" name="Google Shape;141;p19"/>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2" name="Google Shape;142;p19"/>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3000">
                <a:solidFill>
                  <a:srgbClr val="2B2C30"/>
                </a:solidFill>
                <a:latin typeface="Times"/>
                <a:ea typeface="Times"/>
                <a:cs typeface="Times"/>
                <a:sym typeface="Times"/>
              </a:rPr>
              <a:t>Efficiency of Algorithms</a:t>
            </a:r>
            <a:endParaRPr sz="3800">
              <a:latin typeface="Times"/>
              <a:ea typeface="Times"/>
              <a:cs typeface="Times"/>
              <a:sym typeface="Times"/>
            </a:endParaRPr>
          </a:p>
        </p:txBody>
      </p:sp>
      <p:cxnSp>
        <p:nvCxnSpPr>
          <p:cNvPr id="143" name="Google Shape;143;p19"/>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144" name="Google Shape;144;p19"/>
          <p:cNvSpPr txBox="1"/>
          <p:nvPr/>
        </p:nvSpPr>
        <p:spPr>
          <a:xfrm>
            <a:off x="548725" y="676200"/>
            <a:ext cx="8244900" cy="4155000"/>
          </a:xfrm>
          <a:prstGeom prst="rect">
            <a:avLst/>
          </a:prstGeom>
          <a:noFill/>
          <a:ln>
            <a:noFill/>
          </a:ln>
        </p:spPr>
        <p:txBody>
          <a:bodyPr anchorCtr="0" anchor="t" bIns="91425" lIns="91425" spcFirstLastPara="1" rIns="91425" wrap="square" tIns="91425">
            <a:noAutofit/>
          </a:bodyPr>
          <a:lstStyle/>
          <a:p>
            <a:pPr indent="-355600" lvl="0" marL="360001" rtl="0" algn="just">
              <a:spcBef>
                <a:spcPts val="900"/>
              </a:spcBef>
              <a:spcAft>
                <a:spcPts val="0"/>
              </a:spcAft>
              <a:buSzPts val="2000"/>
              <a:buFont typeface="Times"/>
              <a:buChar char="➢"/>
            </a:pPr>
            <a:r>
              <a:rPr lang="en-GB" sz="2000">
                <a:latin typeface="Times"/>
                <a:ea typeface="Times"/>
                <a:cs typeface="Times"/>
                <a:sym typeface="Times"/>
              </a:rPr>
              <a:t>Writing efficient programs is what every programmer hopes to be able to do. But what kinds of programs are efficient? The question leads to the concept of generalization of programs.</a:t>
            </a:r>
            <a:endParaRPr sz="2000">
              <a:latin typeface="Times"/>
              <a:ea typeface="Times"/>
              <a:cs typeface="Times"/>
              <a:sym typeface="Times"/>
            </a:endParaRPr>
          </a:p>
          <a:p>
            <a:pPr indent="-355600" lvl="0" marL="360001" rtl="0" algn="just">
              <a:spcBef>
                <a:spcPts val="0"/>
              </a:spcBef>
              <a:spcAft>
                <a:spcPts val="0"/>
              </a:spcAft>
              <a:buSzPts val="2000"/>
              <a:buFont typeface="Times"/>
              <a:buChar char="➢"/>
            </a:pPr>
            <a:r>
              <a:rPr lang="en-GB" sz="2000">
                <a:latin typeface="Times"/>
                <a:ea typeface="Times"/>
                <a:cs typeface="Times"/>
                <a:sym typeface="Times"/>
              </a:rPr>
              <a:t>Algorithms are programs in a general form. An algorithm is an idea upon which a program is built. </a:t>
            </a:r>
            <a:endParaRPr sz="2000">
              <a:latin typeface="Times"/>
              <a:ea typeface="Times"/>
              <a:cs typeface="Times"/>
              <a:sym typeface="Times"/>
            </a:endParaRPr>
          </a:p>
          <a:p>
            <a:pPr indent="-355600" lvl="0" marL="360001" rtl="0" algn="just">
              <a:spcBef>
                <a:spcPts val="0"/>
              </a:spcBef>
              <a:spcAft>
                <a:spcPts val="0"/>
              </a:spcAft>
              <a:buSzPts val="2000"/>
              <a:buFont typeface="Times"/>
              <a:buChar char="➢"/>
            </a:pPr>
            <a:r>
              <a:rPr lang="en-GB" sz="2000">
                <a:latin typeface="Times"/>
                <a:ea typeface="Times"/>
                <a:cs typeface="Times"/>
                <a:sym typeface="Times"/>
              </a:rPr>
              <a:t>An algorithm should meet three things:</a:t>
            </a:r>
            <a:endParaRPr sz="2000">
              <a:latin typeface="Times"/>
              <a:ea typeface="Times"/>
              <a:cs typeface="Times"/>
              <a:sym typeface="Times"/>
            </a:endParaRPr>
          </a:p>
          <a:p>
            <a:pPr indent="-349250" lvl="1" marL="720000" rtl="0" algn="just">
              <a:spcBef>
                <a:spcPts val="0"/>
              </a:spcBef>
              <a:spcAft>
                <a:spcPts val="0"/>
              </a:spcAft>
              <a:buSzPts val="1900"/>
              <a:buFont typeface="Times"/>
              <a:buChar char="○"/>
            </a:pPr>
            <a:r>
              <a:rPr lang="en-GB" sz="1900">
                <a:latin typeface="Times"/>
                <a:ea typeface="Times"/>
                <a:cs typeface="Times"/>
                <a:sym typeface="Times"/>
              </a:rPr>
              <a:t>It should be independent of the programming language in which the idea is realized</a:t>
            </a:r>
            <a:endParaRPr sz="1900">
              <a:latin typeface="Times"/>
              <a:ea typeface="Times"/>
              <a:cs typeface="Times"/>
              <a:sym typeface="Times"/>
            </a:endParaRPr>
          </a:p>
          <a:p>
            <a:pPr indent="-349250" lvl="1" marL="720000" rtl="0" algn="just">
              <a:spcBef>
                <a:spcPts val="0"/>
              </a:spcBef>
              <a:spcAft>
                <a:spcPts val="0"/>
              </a:spcAft>
              <a:buSzPts val="1900"/>
              <a:buFont typeface="Times"/>
              <a:buChar char="○"/>
            </a:pPr>
            <a:r>
              <a:rPr lang="en-GB" sz="1900">
                <a:latin typeface="Times"/>
                <a:ea typeface="Times"/>
                <a:cs typeface="Times"/>
                <a:sym typeface="Times"/>
              </a:rPr>
              <a:t>Every programmer having enough knowledge and experience should understand it</a:t>
            </a:r>
            <a:endParaRPr sz="1900">
              <a:latin typeface="Times"/>
              <a:ea typeface="Times"/>
              <a:cs typeface="Times"/>
              <a:sym typeface="Times"/>
            </a:endParaRPr>
          </a:p>
          <a:p>
            <a:pPr indent="-349250" lvl="1" marL="720000" rtl="0" algn="just">
              <a:spcBef>
                <a:spcPts val="0"/>
              </a:spcBef>
              <a:spcAft>
                <a:spcPts val="0"/>
              </a:spcAft>
              <a:buSzPts val="1900"/>
              <a:buFont typeface="Times"/>
              <a:buChar char="○"/>
            </a:pPr>
            <a:r>
              <a:rPr lang="en-GB" sz="1900">
                <a:latin typeface="Times"/>
                <a:ea typeface="Times"/>
                <a:cs typeface="Times"/>
                <a:sym typeface="Times"/>
              </a:rPr>
              <a:t>It should be applicable to inputs of all sizes</a:t>
            </a:r>
            <a:endParaRPr sz="1900">
              <a:latin typeface="Times"/>
              <a:ea typeface="Times"/>
              <a:cs typeface="Times"/>
              <a:sym typeface="Time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 name="Shape 148"/>
        <p:cNvGrpSpPr/>
        <p:nvPr/>
      </p:nvGrpSpPr>
      <p:grpSpPr>
        <a:xfrm>
          <a:off x="0" y="0"/>
          <a:ext cx="0" cy="0"/>
          <a:chOff x="0" y="0"/>
          <a:chExt cx="0" cy="0"/>
        </a:xfrm>
      </p:grpSpPr>
      <p:sp>
        <p:nvSpPr>
          <p:cNvPr id="149" name="Google Shape;149;p20"/>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50" name="Google Shape;150;p20"/>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51" name="Google Shape;151;p20"/>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3000">
                <a:solidFill>
                  <a:srgbClr val="2B2C30"/>
                </a:solidFill>
                <a:latin typeface="Times"/>
                <a:ea typeface="Times"/>
                <a:cs typeface="Times"/>
                <a:sym typeface="Times"/>
              </a:rPr>
              <a:t>Efficiency of Algorithms</a:t>
            </a:r>
            <a:endParaRPr sz="3800">
              <a:latin typeface="Times"/>
              <a:ea typeface="Times"/>
              <a:cs typeface="Times"/>
              <a:sym typeface="Times"/>
            </a:endParaRPr>
          </a:p>
        </p:txBody>
      </p:sp>
      <p:cxnSp>
        <p:nvCxnSpPr>
          <p:cNvPr id="152" name="Google Shape;152;p20"/>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153" name="Google Shape;153;p20"/>
          <p:cNvSpPr txBox="1"/>
          <p:nvPr/>
        </p:nvSpPr>
        <p:spPr>
          <a:xfrm>
            <a:off x="548725" y="676200"/>
            <a:ext cx="8244900" cy="4155000"/>
          </a:xfrm>
          <a:prstGeom prst="rect">
            <a:avLst/>
          </a:prstGeom>
          <a:noFill/>
          <a:ln>
            <a:noFill/>
          </a:ln>
        </p:spPr>
        <p:txBody>
          <a:bodyPr anchorCtr="0" anchor="t" bIns="91425" lIns="91425" spcFirstLastPara="1" rIns="91425" wrap="square" tIns="91425">
            <a:noAutofit/>
          </a:bodyPr>
          <a:lstStyle/>
          <a:p>
            <a:pPr indent="-368300" lvl="0" marL="360001" rtl="0" algn="just">
              <a:spcBef>
                <a:spcPts val="900"/>
              </a:spcBef>
              <a:spcAft>
                <a:spcPts val="0"/>
              </a:spcAft>
              <a:buSzPts val="2200"/>
              <a:buFont typeface="Times"/>
              <a:buChar char="➢"/>
            </a:pPr>
            <a:r>
              <a:rPr lang="en-GB" sz="2000">
                <a:latin typeface="Times"/>
                <a:ea typeface="Times"/>
                <a:cs typeface="Times"/>
                <a:sym typeface="Times"/>
              </a:rPr>
              <a:t>Efficiency of an algorithm denotes the rate at which an algorithm solves a problem of size n.</a:t>
            </a:r>
            <a:endParaRPr sz="2000">
              <a:latin typeface="Times"/>
              <a:ea typeface="Times"/>
              <a:cs typeface="Times"/>
              <a:sym typeface="Times"/>
            </a:endParaRPr>
          </a:p>
          <a:p>
            <a:pPr indent="-368300" lvl="0" marL="360001" rtl="0" algn="just">
              <a:spcBef>
                <a:spcPts val="0"/>
              </a:spcBef>
              <a:spcAft>
                <a:spcPts val="0"/>
              </a:spcAft>
              <a:buSzPts val="2200"/>
              <a:buFont typeface="Times"/>
              <a:buChar char="➢"/>
            </a:pPr>
            <a:r>
              <a:rPr lang="en-GB" sz="2000">
                <a:latin typeface="Times"/>
                <a:ea typeface="Times"/>
                <a:cs typeface="Times"/>
                <a:sym typeface="Times"/>
              </a:rPr>
              <a:t>It is measured by the amount of resources it uses, the </a:t>
            </a:r>
            <a:r>
              <a:rPr b="1" lang="en-GB" sz="2000">
                <a:latin typeface="Times"/>
                <a:ea typeface="Times"/>
                <a:cs typeface="Times"/>
                <a:sym typeface="Times"/>
              </a:rPr>
              <a:t>time</a:t>
            </a:r>
            <a:r>
              <a:rPr lang="en-GB" sz="2000">
                <a:latin typeface="Times"/>
                <a:ea typeface="Times"/>
                <a:cs typeface="Times"/>
                <a:sym typeface="Times"/>
              </a:rPr>
              <a:t> and the </a:t>
            </a:r>
            <a:r>
              <a:rPr b="1" lang="en-GB" sz="2000">
                <a:latin typeface="Times"/>
                <a:ea typeface="Times"/>
                <a:cs typeface="Times"/>
                <a:sym typeface="Times"/>
              </a:rPr>
              <a:t>space</a:t>
            </a:r>
            <a:r>
              <a:rPr lang="en-GB" sz="2000">
                <a:latin typeface="Times"/>
                <a:ea typeface="Times"/>
                <a:cs typeface="Times"/>
                <a:sym typeface="Times"/>
              </a:rPr>
              <a:t>.</a:t>
            </a:r>
            <a:endParaRPr sz="2000">
              <a:latin typeface="Times"/>
              <a:ea typeface="Times"/>
              <a:cs typeface="Times"/>
              <a:sym typeface="Times"/>
            </a:endParaRPr>
          </a:p>
          <a:p>
            <a:pPr indent="-368300" lvl="0" marL="360001" rtl="0" algn="just">
              <a:spcBef>
                <a:spcPts val="0"/>
              </a:spcBef>
              <a:spcAft>
                <a:spcPts val="0"/>
              </a:spcAft>
              <a:buSzPts val="2200"/>
              <a:buFont typeface="Times"/>
              <a:buChar char="➢"/>
            </a:pPr>
            <a:r>
              <a:rPr lang="en-GB" sz="2000">
                <a:latin typeface="Times"/>
                <a:ea typeface="Times"/>
                <a:cs typeface="Times"/>
                <a:sym typeface="Times"/>
              </a:rPr>
              <a:t>The </a:t>
            </a:r>
            <a:r>
              <a:rPr b="1" lang="en-GB" sz="2000">
                <a:latin typeface="Times"/>
                <a:ea typeface="Times"/>
                <a:cs typeface="Times"/>
                <a:sym typeface="Times"/>
              </a:rPr>
              <a:t>time</a:t>
            </a:r>
            <a:r>
              <a:rPr lang="en-GB" sz="2000">
                <a:latin typeface="Times"/>
                <a:ea typeface="Times"/>
                <a:cs typeface="Times"/>
                <a:sym typeface="Times"/>
              </a:rPr>
              <a:t> refers to the number of steps the algorithm executes while the </a:t>
            </a:r>
            <a:r>
              <a:rPr b="1" lang="en-GB" sz="2000">
                <a:latin typeface="Times"/>
                <a:ea typeface="Times"/>
                <a:cs typeface="Times"/>
                <a:sym typeface="Times"/>
              </a:rPr>
              <a:t>space</a:t>
            </a:r>
            <a:r>
              <a:rPr lang="en-GB" sz="2000">
                <a:latin typeface="Times"/>
                <a:ea typeface="Times"/>
                <a:cs typeface="Times"/>
                <a:sym typeface="Times"/>
              </a:rPr>
              <a:t> refers to the number of unit memory storage it requires.</a:t>
            </a:r>
            <a:endParaRPr sz="2000">
              <a:latin typeface="Times"/>
              <a:ea typeface="Times"/>
              <a:cs typeface="Times"/>
              <a:sym typeface="Times"/>
            </a:endParaRPr>
          </a:p>
          <a:p>
            <a:pPr indent="-368300" lvl="0" marL="360001" rtl="0" algn="just">
              <a:spcBef>
                <a:spcPts val="0"/>
              </a:spcBef>
              <a:spcAft>
                <a:spcPts val="0"/>
              </a:spcAft>
              <a:buSzPts val="2200"/>
              <a:buFont typeface="Times"/>
              <a:buChar char="➢"/>
            </a:pPr>
            <a:r>
              <a:rPr lang="en-GB" sz="2000">
                <a:latin typeface="Times"/>
                <a:ea typeface="Times"/>
                <a:cs typeface="Times"/>
                <a:sym typeface="Times"/>
              </a:rPr>
              <a:t>An algorithm’s complexity is measured by calculating the </a:t>
            </a:r>
            <a:r>
              <a:rPr b="1" lang="en-GB" sz="2000">
                <a:latin typeface="Times"/>
                <a:ea typeface="Times"/>
                <a:cs typeface="Times"/>
                <a:sym typeface="Times"/>
              </a:rPr>
              <a:t>time</a:t>
            </a:r>
            <a:r>
              <a:rPr lang="en-GB" sz="2000">
                <a:latin typeface="Times"/>
                <a:ea typeface="Times"/>
                <a:cs typeface="Times"/>
                <a:sym typeface="Times"/>
              </a:rPr>
              <a:t> taken and </a:t>
            </a:r>
            <a:r>
              <a:rPr b="1" lang="en-GB" sz="2000">
                <a:latin typeface="Times"/>
                <a:ea typeface="Times"/>
                <a:cs typeface="Times"/>
                <a:sym typeface="Times"/>
              </a:rPr>
              <a:t>space</a:t>
            </a:r>
            <a:r>
              <a:rPr lang="en-GB" sz="2000">
                <a:latin typeface="Times"/>
                <a:ea typeface="Times"/>
                <a:cs typeface="Times"/>
                <a:sym typeface="Times"/>
              </a:rPr>
              <a:t> required for performing the algorithm,</a:t>
            </a:r>
            <a:endParaRPr sz="2000">
              <a:latin typeface="Times"/>
              <a:ea typeface="Times"/>
              <a:cs typeface="Times"/>
              <a:sym typeface="Times"/>
            </a:endParaRPr>
          </a:p>
          <a:p>
            <a:pPr indent="-368300" lvl="0" marL="360001" rtl="0" algn="just">
              <a:spcBef>
                <a:spcPts val="0"/>
              </a:spcBef>
              <a:spcAft>
                <a:spcPts val="0"/>
              </a:spcAft>
              <a:buSzPts val="2200"/>
              <a:buFont typeface="Times"/>
              <a:buChar char="➢"/>
            </a:pPr>
            <a:r>
              <a:rPr lang="en-GB" sz="2000">
                <a:latin typeface="Times"/>
                <a:ea typeface="Times"/>
                <a:cs typeface="Times"/>
                <a:sym typeface="Times"/>
              </a:rPr>
              <a:t>The input size, denoted by n, is one parameter, used to characterize the instance of the problem.</a:t>
            </a:r>
            <a:endParaRPr sz="2000">
              <a:latin typeface="Times"/>
              <a:ea typeface="Times"/>
              <a:cs typeface="Times"/>
              <a:sym typeface="Times"/>
            </a:endParaRPr>
          </a:p>
          <a:p>
            <a:pPr indent="-368300" lvl="0" marL="360001" rtl="0" algn="just">
              <a:spcBef>
                <a:spcPts val="0"/>
              </a:spcBef>
              <a:spcAft>
                <a:spcPts val="0"/>
              </a:spcAft>
              <a:buSzPts val="2200"/>
              <a:buFont typeface="Times"/>
              <a:buChar char="➢"/>
            </a:pPr>
            <a:r>
              <a:rPr lang="en-GB" sz="2000">
                <a:latin typeface="Times"/>
                <a:ea typeface="Times"/>
                <a:cs typeface="Times"/>
                <a:sym typeface="Times"/>
              </a:rPr>
              <a:t>The input size n is the number of registers needed to hold the input (data segment size).</a:t>
            </a:r>
            <a:endParaRPr sz="2000">
              <a:latin typeface="Times"/>
              <a:ea typeface="Times"/>
              <a:cs typeface="Times"/>
              <a:sym typeface="Time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7" name="Shape 157"/>
        <p:cNvGrpSpPr/>
        <p:nvPr/>
      </p:nvGrpSpPr>
      <p:grpSpPr>
        <a:xfrm>
          <a:off x="0" y="0"/>
          <a:ext cx="0" cy="0"/>
          <a:chOff x="0" y="0"/>
          <a:chExt cx="0" cy="0"/>
        </a:xfrm>
      </p:grpSpPr>
      <p:sp>
        <p:nvSpPr>
          <p:cNvPr id="158" name="Google Shape;158;p21"/>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59" name="Google Shape;159;p21"/>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0" name="Google Shape;160;p21"/>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3000">
                <a:solidFill>
                  <a:srgbClr val="2B2C30"/>
                </a:solidFill>
                <a:latin typeface="Times"/>
                <a:ea typeface="Times"/>
                <a:cs typeface="Times"/>
                <a:sym typeface="Times"/>
              </a:rPr>
              <a:t>Time Complexity of Algorithms</a:t>
            </a:r>
            <a:endParaRPr sz="3800">
              <a:latin typeface="Times"/>
              <a:ea typeface="Times"/>
              <a:cs typeface="Times"/>
              <a:sym typeface="Times"/>
            </a:endParaRPr>
          </a:p>
        </p:txBody>
      </p:sp>
      <p:cxnSp>
        <p:nvCxnSpPr>
          <p:cNvPr id="161" name="Google Shape;161;p21"/>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162" name="Google Shape;162;p21"/>
          <p:cNvSpPr txBox="1"/>
          <p:nvPr/>
        </p:nvSpPr>
        <p:spPr>
          <a:xfrm>
            <a:off x="548725" y="611450"/>
            <a:ext cx="8244900" cy="4219800"/>
          </a:xfrm>
          <a:prstGeom prst="rect">
            <a:avLst/>
          </a:prstGeom>
          <a:noFill/>
          <a:ln>
            <a:noFill/>
          </a:ln>
        </p:spPr>
        <p:txBody>
          <a:bodyPr anchorCtr="0" anchor="t" bIns="91425" lIns="91425" spcFirstLastPara="1" rIns="91425" wrap="square" tIns="91425">
            <a:noAutofit/>
          </a:bodyPr>
          <a:lstStyle/>
          <a:p>
            <a:pPr indent="-368300" lvl="0" marL="360001" rtl="0" algn="just">
              <a:spcBef>
                <a:spcPts val="900"/>
              </a:spcBef>
              <a:spcAft>
                <a:spcPts val="0"/>
              </a:spcAft>
              <a:buSzPts val="2200"/>
              <a:buFont typeface="Times"/>
              <a:buChar char="➢"/>
            </a:pPr>
            <a:r>
              <a:rPr lang="en-GB" sz="2000">
                <a:latin typeface="Times"/>
                <a:ea typeface="Times"/>
                <a:cs typeface="Times"/>
                <a:sym typeface="Times"/>
              </a:rPr>
              <a:t>Time Complexity of an algorithms is the amount of time (or the number of step) needed by a program to complete its task ( to execute a particular algorithm)</a:t>
            </a:r>
            <a:endParaRPr sz="2000">
              <a:latin typeface="Times"/>
              <a:ea typeface="Times"/>
              <a:cs typeface="Times"/>
              <a:sym typeface="Times"/>
            </a:endParaRPr>
          </a:p>
          <a:p>
            <a:pPr indent="-368300" lvl="0" marL="360001" rtl="0" algn="just">
              <a:spcBef>
                <a:spcPts val="0"/>
              </a:spcBef>
              <a:spcAft>
                <a:spcPts val="0"/>
              </a:spcAft>
              <a:buSzPts val="2200"/>
              <a:buFont typeface="Times"/>
              <a:buChar char="➢"/>
            </a:pPr>
            <a:r>
              <a:rPr lang="en-GB" sz="2000">
                <a:latin typeface="Times"/>
                <a:ea typeface="Times"/>
                <a:cs typeface="Times"/>
                <a:sym typeface="Times"/>
              </a:rPr>
              <a:t>The way in which the number of steps required by an algorithm varies with the size of the problem it is solving.</a:t>
            </a:r>
            <a:endParaRPr sz="2000">
              <a:latin typeface="Times"/>
              <a:ea typeface="Times"/>
              <a:cs typeface="Times"/>
              <a:sym typeface="Times"/>
            </a:endParaRPr>
          </a:p>
          <a:p>
            <a:pPr indent="-368300" lvl="0" marL="360001" rtl="0" algn="just">
              <a:spcBef>
                <a:spcPts val="0"/>
              </a:spcBef>
              <a:spcAft>
                <a:spcPts val="0"/>
              </a:spcAft>
              <a:buSzPts val="2200"/>
              <a:buFont typeface="Times"/>
              <a:buChar char="➢"/>
            </a:pPr>
            <a:r>
              <a:rPr lang="en-GB" sz="2000">
                <a:latin typeface="Times"/>
                <a:ea typeface="Times"/>
                <a:cs typeface="Times"/>
                <a:sym typeface="Times"/>
              </a:rPr>
              <a:t>The time taken for a algorithm is comprised of two times:</a:t>
            </a:r>
            <a:endParaRPr sz="2000">
              <a:latin typeface="Times"/>
              <a:ea typeface="Times"/>
              <a:cs typeface="Times"/>
              <a:sym typeface="Times"/>
            </a:endParaRPr>
          </a:p>
          <a:p>
            <a:pPr indent="-361950" lvl="1" marL="720000" rtl="0" algn="just">
              <a:spcBef>
                <a:spcPts val="0"/>
              </a:spcBef>
              <a:spcAft>
                <a:spcPts val="0"/>
              </a:spcAft>
              <a:buSzPts val="2100"/>
              <a:buFont typeface="Times"/>
              <a:buChar char="○"/>
            </a:pPr>
            <a:r>
              <a:rPr b="1" lang="en-GB" sz="1900">
                <a:latin typeface="Times"/>
                <a:ea typeface="Times"/>
                <a:cs typeface="Times"/>
                <a:sym typeface="Times"/>
              </a:rPr>
              <a:t>Compilation Time</a:t>
            </a:r>
            <a:r>
              <a:rPr lang="en-GB" sz="1900">
                <a:latin typeface="Times"/>
                <a:ea typeface="Times"/>
                <a:cs typeface="Times"/>
                <a:sym typeface="Times"/>
              </a:rPr>
              <a:t>: is the time taken to compile an algorithm, While compiling it checks for he syntax and semantic errors in the program and links it with the standard libraries, your program has asked to.</a:t>
            </a:r>
            <a:endParaRPr sz="1900">
              <a:latin typeface="Times"/>
              <a:ea typeface="Times"/>
              <a:cs typeface="Times"/>
              <a:sym typeface="Times"/>
            </a:endParaRPr>
          </a:p>
          <a:p>
            <a:pPr indent="-361950" lvl="1" marL="720000" rtl="0" algn="just">
              <a:spcBef>
                <a:spcPts val="0"/>
              </a:spcBef>
              <a:spcAft>
                <a:spcPts val="0"/>
              </a:spcAft>
              <a:buSzPts val="2100"/>
              <a:buFont typeface="Times"/>
              <a:buChar char="○"/>
            </a:pPr>
            <a:r>
              <a:rPr b="1" lang="en-GB" sz="1900">
                <a:latin typeface="Times"/>
                <a:ea typeface="Times"/>
                <a:cs typeface="Times"/>
                <a:sym typeface="Times"/>
              </a:rPr>
              <a:t>Run Time</a:t>
            </a:r>
            <a:r>
              <a:rPr lang="en-GB" sz="1900">
                <a:latin typeface="Times"/>
                <a:ea typeface="Times"/>
                <a:cs typeface="Times"/>
                <a:sym typeface="Times"/>
              </a:rPr>
              <a:t>: is the time to execute the compiled program. The run time of an algorithm depend upon the amber of instructions present in the algorithm. The run time is in the control of the programmer, as the compiler to compile only the same number of statement, irrespective of the types of the compiler used. </a:t>
            </a:r>
            <a:endParaRPr sz="1900">
              <a:latin typeface="Times"/>
              <a:ea typeface="Times"/>
              <a:cs typeface="Times"/>
              <a:sym typeface="Time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6" name="Shape 166"/>
        <p:cNvGrpSpPr/>
        <p:nvPr/>
      </p:nvGrpSpPr>
      <p:grpSpPr>
        <a:xfrm>
          <a:off x="0" y="0"/>
          <a:ext cx="0" cy="0"/>
          <a:chOff x="0" y="0"/>
          <a:chExt cx="0" cy="0"/>
        </a:xfrm>
      </p:grpSpPr>
      <p:sp>
        <p:nvSpPr>
          <p:cNvPr id="167" name="Google Shape;167;p22"/>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68" name="Google Shape;168;p22"/>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9" name="Google Shape;169;p22"/>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3000">
                <a:solidFill>
                  <a:srgbClr val="2B2C30"/>
                </a:solidFill>
                <a:latin typeface="Times"/>
                <a:ea typeface="Times"/>
                <a:cs typeface="Times"/>
                <a:sym typeface="Times"/>
              </a:rPr>
              <a:t>Time Complexity of Algorithms</a:t>
            </a:r>
            <a:endParaRPr sz="3800">
              <a:latin typeface="Times"/>
              <a:ea typeface="Times"/>
              <a:cs typeface="Times"/>
              <a:sym typeface="Times"/>
            </a:endParaRPr>
          </a:p>
        </p:txBody>
      </p:sp>
      <p:cxnSp>
        <p:nvCxnSpPr>
          <p:cNvPr id="170" name="Google Shape;170;p22"/>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171" name="Google Shape;171;p22"/>
          <p:cNvSpPr txBox="1"/>
          <p:nvPr/>
        </p:nvSpPr>
        <p:spPr>
          <a:xfrm>
            <a:off x="548725" y="611450"/>
            <a:ext cx="8244900" cy="4219800"/>
          </a:xfrm>
          <a:prstGeom prst="rect">
            <a:avLst/>
          </a:prstGeom>
          <a:noFill/>
          <a:ln>
            <a:noFill/>
          </a:ln>
        </p:spPr>
        <p:txBody>
          <a:bodyPr anchorCtr="0" anchor="t" bIns="91425" lIns="91425" spcFirstLastPara="1" rIns="91425" wrap="square" tIns="91425">
            <a:noAutofit/>
          </a:bodyPr>
          <a:lstStyle/>
          <a:p>
            <a:pPr indent="-368300" lvl="0" marL="361950" rtl="0" algn="just">
              <a:spcBef>
                <a:spcPts val="900"/>
              </a:spcBef>
              <a:spcAft>
                <a:spcPts val="0"/>
              </a:spcAft>
              <a:buSzPts val="2200"/>
              <a:buFont typeface="Times"/>
              <a:buChar char="➢"/>
            </a:pPr>
            <a:r>
              <a:rPr lang="en-GB" sz="2000">
                <a:latin typeface="Times"/>
                <a:ea typeface="Times"/>
                <a:cs typeface="Times"/>
                <a:sym typeface="Times"/>
              </a:rPr>
              <a:t>Time complexity is normally expressed as an order of magnitude, </a:t>
            </a:r>
            <a:endParaRPr sz="2000">
              <a:latin typeface="Times"/>
              <a:ea typeface="Times"/>
              <a:cs typeface="Times"/>
              <a:sym typeface="Times"/>
            </a:endParaRPr>
          </a:p>
          <a:p>
            <a:pPr indent="0" lvl="0" marL="590550" rtl="0" algn="just">
              <a:spcBef>
                <a:spcPts val="900"/>
              </a:spcBef>
              <a:spcAft>
                <a:spcPts val="0"/>
              </a:spcAft>
              <a:buNone/>
            </a:pPr>
            <a:r>
              <a:rPr i="1" lang="en-GB" sz="2000">
                <a:latin typeface="Times"/>
                <a:ea typeface="Times"/>
                <a:cs typeface="Times"/>
                <a:sym typeface="Times"/>
              </a:rPr>
              <a:t>Example: O(n</a:t>
            </a:r>
            <a:r>
              <a:rPr baseline="30000" i="1" lang="en-GB" sz="2000">
                <a:latin typeface="Times"/>
                <a:ea typeface="Times"/>
                <a:cs typeface="Times"/>
                <a:sym typeface="Times"/>
              </a:rPr>
              <a:t>2</a:t>
            </a:r>
            <a:r>
              <a:rPr i="1" lang="en-GB" sz="2000">
                <a:latin typeface="Times"/>
                <a:ea typeface="Times"/>
                <a:cs typeface="Times"/>
                <a:sym typeface="Times"/>
              </a:rPr>
              <a:t>) means that is the size of the problem double then the algorithm an algorithms will takes four times as many steps to complete.</a:t>
            </a:r>
            <a:endParaRPr i="1" sz="2000">
              <a:latin typeface="Times"/>
              <a:ea typeface="Times"/>
              <a:cs typeface="Times"/>
              <a:sym typeface="Times"/>
            </a:endParaRPr>
          </a:p>
          <a:p>
            <a:pPr indent="-368300" lvl="0" marL="361950" rtl="0" algn="just">
              <a:spcBef>
                <a:spcPts val="900"/>
              </a:spcBef>
              <a:spcAft>
                <a:spcPts val="0"/>
              </a:spcAft>
              <a:buSzPts val="2200"/>
              <a:buFont typeface="Times"/>
              <a:buChar char="➢"/>
            </a:pPr>
            <a:r>
              <a:rPr lang="en-GB" sz="2000">
                <a:latin typeface="Times"/>
                <a:ea typeface="Times"/>
                <a:cs typeface="Times"/>
                <a:sym typeface="Times"/>
              </a:rPr>
              <a:t>Time complexity of a given algorithm can be defined for computation of function f() as the total number of statements that are executed for computing the values of f(n).</a:t>
            </a:r>
            <a:endParaRPr sz="2000">
              <a:latin typeface="Times"/>
              <a:ea typeface="Times"/>
              <a:cs typeface="Times"/>
              <a:sym typeface="Times"/>
            </a:endParaRPr>
          </a:p>
          <a:p>
            <a:pPr indent="-368300" lvl="0" marL="361950" rtl="0" algn="just">
              <a:spcBef>
                <a:spcPts val="0"/>
              </a:spcBef>
              <a:spcAft>
                <a:spcPts val="0"/>
              </a:spcAft>
              <a:buSzPts val="2200"/>
              <a:buFont typeface="Times"/>
              <a:buChar char="➢"/>
            </a:pPr>
            <a:r>
              <a:rPr lang="en-GB" sz="2000">
                <a:latin typeface="Times"/>
                <a:ea typeface="Times"/>
                <a:cs typeface="Times"/>
                <a:sym typeface="Times"/>
              </a:rPr>
              <a:t>Time complexity is a function dependent from the value of n. In practice it is more often more convenient to consider it as a function from  |n|</a:t>
            </a:r>
            <a:endParaRPr sz="2000">
              <a:latin typeface="Times"/>
              <a:ea typeface="Times"/>
              <a:cs typeface="Times"/>
              <a:sym typeface="Times"/>
            </a:endParaRPr>
          </a:p>
          <a:p>
            <a:pPr indent="-368300" lvl="0" marL="361950" rtl="0" algn="just">
              <a:spcBef>
                <a:spcPts val="0"/>
              </a:spcBef>
              <a:spcAft>
                <a:spcPts val="0"/>
              </a:spcAft>
              <a:buSzPts val="2200"/>
              <a:buFont typeface="Times"/>
              <a:buChar char="➢"/>
            </a:pPr>
            <a:r>
              <a:rPr lang="en-GB" sz="2000">
                <a:latin typeface="Times"/>
                <a:ea typeface="Times"/>
                <a:cs typeface="Times"/>
                <a:sym typeface="Times"/>
              </a:rPr>
              <a:t>Time complexity of an algorithm is generally classified as three types:</a:t>
            </a:r>
            <a:endParaRPr sz="2000">
              <a:latin typeface="Times"/>
              <a:ea typeface="Times"/>
              <a:cs typeface="Times"/>
              <a:sym typeface="Times"/>
            </a:endParaRPr>
          </a:p>
          <a:p>
            <a:pPr indent="-368300" lvl="1" marL="630000" rtl="0" algn="just">
              <a:spcBef>
                <a:spcPts val="0"/>
              </a:spcBef>
              <a:spcAft>
                <a:spcPts val="0"/>
              </a:spcAft>
              <a:buSzPts val="2200"/>
              <a:buFont typeface="Times"/>
              <a:buChar char="○"/>
            </a:pPr>
            <a:r>
              <a:rPr lang="en-GB" sz="2000">
                <a:latin typeface="Times"/>
                <a:ea typeface="Times"/>
                <a:cs typeface="Times"/>
                <a:sym typeface="Times"/>
              </a:rPr>
              <a:t>Worst case:</a:t>
            </a:r>
            <a:endParaRPr sz="2000">
              <a:latin typeface="Times"/>
              <a:ea typeface="Times"/>
              <a:cs typeface="Times"/>
              <a:sym typeface="Times"/>
            </a:endParaRPr>
          </a:p>
          <a:p>
            <a:pPr indent="-368300" lvl="1" marL="630000" rtl="0" algn="just">
              <a:spcBef>
                <a:spcPts val="0"/>
              </a:spcBef>
              <a:spcAft>
                <a:spcPts val="0"/>
              </a:spcAft>
              <a:buSzPts val="2200"/>
              <a:buFont typeface="Times"/>
              <a:buChar char="○"/>
            </a:pPr>
            <a:r>
              <a:rPr lang="en-GB" sz="2000">
                <a:latin typeface="Times"/>
                <a:ea typeface="Times"/>
                <a:cs typeface="Times"/>
                <a:sym typeface="Times"/>
              </a:rPr>
              <a:t>Average Case</a:t>
            </a:r>
            <a:endParaRPr sz="2000">
              <a:latin typeface="Times"/>
              <a:ea typeface="Times"/>
              <a:cs typeface="Times"/>
              <a:sym typeface="Times"/>
            </a:endParaRPr>
          </a:p>
          <a:p>
            <a:pPr indent="-368300" lvl="1" marL="630000" rtl="0" algn="just">
              <a:spcBef>
                <a:spcPts val="0"/>
              </a:spcBef>
              <a:spcAft>
                <a:spcPts val="0"/>
              </a:spcAft>
              <a:buSzPts val="2200"/>
              <a:buFont typeface="Times"/>
              <a:buChar char="○"/>
            </a:pPr>
            <a:r>
              <a:rPr lang="en-GB" sz="2000">
                <a:latin typeface="Times"/>
                <a:ea typeface="Times"/>
                <a:cs typeface="Times"/>
                <a:sym typeface="Times"/>
              </a:rPr>
              <a:t>Best Case</a:t>
            </a:r>
            <a:endParaRPr sz="2000">
              <a:latin typeface="Times"/>
              <a:ea typeface="Times"/>
              <a:cs typeface="Times"/>
              <a:sym typeface="Time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5" name="Shape 175"/>
        <p:cNvGrpSpPr/>
        <p:nvPr/>
      </p:nvGrpSpPr>
      <p:grpSpPr>
        <a:xfrm>
          <a:off x="0" y="0"/>
          <a:ext cx="0" cy="0"/>
          <a:chOff x="0" y="0"/>
          <a:chExt cx="0" cy="0"/>
        </a:xfrm>
      </p:grpSpPr>
      <p:sp>
        <p:nvSpPr>
          <p:cNvPr id="176" name="Google Shape;176;p23"/>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77" name="Google Shape;177;p23"/>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8" name="Google Shape;178;p23"/>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3000">
                <a:solidFill>
                  <a:srgbClr val="2B2C30"/>
                </a:solidFill>
                <a:latin typeface="Times"/>
                <a:ea typeface="Times"/>
                <a:cs typeface="Times"/>
                <a:sym typeface="Times"/>
              </a:rPr>
              <a:t>Time Complexity of Algorithms(Linear Search)</a:t>
            </a:r>
            <a:endParaRPr sz="3800">
              <a:latin typeface="Times"/>
              <a:ea typeface="Times"/>
              <a:cs typeface="Times"/>
              <a:sym typeface="Times"/>
            </a:endParaRPr>
          </a:p>
        </p:txBody>
      </p:sp>
      <p:cxnSp>
        <p:nvCxnSpPr>
          <p:cNvPr id="179" name="Google Shape;179;p23"/>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180" name="Google Shape;180;p23"/>
          <p:cNvSpPr txBox="1"/>
          <p:nvPr/>
        </p:nvSpPr>
        <p:spPr>
          <a:xfrm>
            <a:off x="453200" y="2018000"/>
            <a:ext cx="8340300" cy="2813100"/>
          </a:xfrm>
          <a:prstGeom prst="rect">
            <a:avLst/>
          </a:prstGeom>
          <a:noFill/>
          <a:ln>
            <a:noFill/>
          </a:ln>
        </p:spPr>
        <p:txBody>
          <a:bodyPr anchorCtr="0" anchor="t" bIns="91425" lIns="91425" spcFirstLastPara="1" rIns="91425" wrap="square" tIns="91425">
            <a:noAutofit/>
          </a:bodyPr>
          <a:lstStyle/>
          <a:p>
            <a:pPr indent="-342900" lvl="0" marL="360001" rtl="0" algn="just">
              <a:spcBef>
                <a:spcPts val="900"/>
              </a:spcBef>
              <a:spcAft>
                <a:spcPts val="0"/>
              </a:spcAft>
              <a:buSzPts val="1800"/>
              <a:buFont typeface="Times"/>
              <a:buChar char="➢"/>
            </a:pPr>
            <a:r>
              <a:rPr lang="en-GB" sz="1800">
                <a:latin typeface="Times"/>
                <a:ea typeface="Times"/>
                <a:cs typeface="Times"/>
                <a:sym typeface="Times"/>
              </a:rPr>
              <a:t>Case I:</a:t>
            </a:r>
            <a:endParaRPr sz="1800">
              <a:latin typeface="Times"/>
              <a:ea typeface="Times"/>
              <a:cs typeface="Times"/>
              <a:sym typeface="Times"/>
            </a:endParaRPr>
          </a:p>
          <a:p>
            <a:pPr indent="-336550" lvl="1" marL="914400" rtl="0" algn="just">
              <a:spcBef>
                <a:spcPts val="0"/>
              </a:spcBef>
              <a:spcAft>
                <a:spcPts val="0"/>
              </a:spcAft>
              <a:buSzPts val="1700"/>
              <a:buFont typeface="Times"/>
              <a:buChar char="○"/>
            </a:pPr>
            <a:r>
              <a:rPr lang="en-GB" sz="1700">
                <a:latin typeface="Times"/>
                <a:ea typeface="Times"/>
                <a:cs typeface="Times"/>
                <a:sym typeface="Times"/>
              </a:rPr>
              <a:t>We may find the Searching Item at First Place.</a:t>
            </a:r>
            <a:endParaRPr sz="1700">
              <a:latin typeface="Times"/>
              <a:ea typeface="Times"/>
              <a:cs typeface="Times"/>
              <a:sym typeface="Times"/>
            </a:endParaRPr>
          </a:p>
          <a:p>
            <a:pPr indent="-336550" lvl="1" marL="914400" rtl="0" algn="just">
              <a:spcBef>
                <a:spcPts val="0"/>
              </a:spcBef>
              <a:spcAft>
                <a:spcPts val="0"/>
              </a:spcAft>
              <a:buSzPts val="1700"/>
              <a:buFont typeface="Times"/>
              <a:buChar char="○"/>
            </a:pPr>
            <a:r>
              <a:rPr lang="en-GB" sz="1700">
                <a:latin typeface="Times"/>
                <a:ea typeface="Times"/>
                <a:cs typeface="Times"/>
                <a:sym typeface="Times"/>
              </a:rPr>
              <a:t>Only 1 comparison is made; Time Complexity: O(1); Best Case</a:t>
            </a:r>
            <a:endParaRPr sz="1700">
              <a:latin typeface="Times"/>
              <a:ea typeface="Times"/>
              <a:cs typeface="Times"/>
              <a:sym typeface="Times"/>
            </a:endParaRPr>
          </a:p>
          <a:p>
            <a:pPr indent="-342900" lvl="0" marL="360001" rtl="0" algn="just">
              <a:spcBef>
                <a:spcPts val="0"/>
              </a:spcBef>
              <a:spcAft>
                <a:spcPts val="0"/>
              </a:spcAft>
              <a:buSzPts val="1800"/>
              <a:buFont typeface="Times"/>
              <a:buChar char="➢"/>
            </a:pPr>
            <a:r>
              <a:rPr lang="en-GB" sz="1800">
                <a:latin typeface="Times"/>
                <a:ea typeface="Times"/>
                <a:cs typeface="Times"/>
                <a:sym typeface="Times"/>
              </a:rPr>
              <a:t>Case II:</a:t>
            </a:r>
            <a:endParaRPr sz="1800">
              <a:latin typeface="Times"/>
              <a:ea typeface="Times"/>
              <a:cs typeface="Times"/>
              <a:sym typeface="Times"/>
            </a:endParaRPr>
          </a:p>
          <a:p>
            <a:pPr indent="-336550" lvl="1" marL="914400" rtl="0" algn="just">
              <a:spcBef>
                <a:spcPts val="0"/>
              </a:spcBef>
              <a:spcAft>
                <a:spcPts val="0"/>
              </a:spcAft>
              <a:buSzPts val="1700"/>
              <a:buFont typeface="Times"/>
              <a:buChar char="○"/>
            </a:pPr>
            <a:r>
              <a:rPr lang="en-GB" sz="1700">
                <a:latin typeface="Times"/>
                <a:ea typeface="Times"/>
                <a:cs typeface="Times"/>
                <a:sym typeface="Times"/>
              </a:rPr>
              <a:t>We may find the Searching Item at middle Place.</a:t>
            </a:r>
            <a:endParaRPr sz="1700">
              <a:latin typeface="Times"/>
              <a:ea typeface="Times"/>
              <a:cs typeface="Times"/>
              <a:sym typeface="Times"/>
            </a:endParaRPr>
          </a:p>
          <a:p>
            <a:pPr indent="-336550" lvl="1" marL="914400" rtl="0" algn="just">
              <a:spcBef>
                <a:spcPts val="0"/>
              </a:spcBef>
              <a:spcAft>
                <a:spcPts val="0"/>
              </a:spcAft>
              <a:buSzPts val="1700"/>
              <a:buFont typeface="Times"/>
              <a:buChar char="○"/>
            </a:pPr>
            <a:r>
              <a:rPr lang="en-GB" sz="1700">
                <a:latin typeface="Times"/>
                <a:ea typeface="Times"/>
                <a:cs typeface="Times"/>
                <a:sym typeface="Times"/>
              </a:rPr>
              <a:t>The target is likely found after searching half the array; Time Complexity: O(n/2)→O(n) ; Average Case</a:t>
            </a:r>
            <a:endParaRPr sz="1700">
              <a:latin typeface="Times"/>
              <a:ea typeface="Times"/>
              <a:cs typeface="Times"/>
              <a:sym typeface="Times"/>
            </a:endParaRPr>
          </a:p>
          <a:p>
            <a:pPr indent="-342900" lvl="0" marL="360001" rtl="0" algn="just">
              <a:spcBef>
                <a:spcPts val="0"/>
              </a:spcBef>
              <a:spcAft>
                <a:spcPts val="0"/>
              </a:spcAft>
              <a:buSzPts val="1800"/>
              <a:buFont typeface="Times"/>
              <a:buChar char="➢"/>
            </a:pPr>
            <a:r>
              <a:rPr lang="en-GB" sz="1800">
                <a:latin typeface="Times"/>
                <a:ea typeface="Times"/>
                <a:cs typeface="Times"/>
                <a:sym typeface="Times"/>
              </a:rPr>
              <a:t>Case III:</a:t>
            </a:r>
            <a:endParaRPr sz="1800">
              <a:latin typeface="Times"/>
              <a:ea typeface="Times"/>
              <a:cs typeface="Times"/>
              <a:sym typeface="Times"/>
            </a:endParaRPr>
          </a:p>
          <a:p>
            <a:pPr indent="-336550" lvl="1" marL="914400" rtl="0" algn="just">
              <a:spcBef>
                <a:spcPts val="0"/>
              </a:spcBef>
              <a:spcAft>
                <a:spcPts val="0"/>
              </a:spcAft>
              <a:buSzPts val="1700"/>
              <a:buFont typeface="Times"/>
              <a:buChar char="○"/>
            </a:pPr>
            <a:r>
              <a:rPr lang="en-GB" sz="1700">
                <a:latin typeface="Times"/>
                <a:ea typeface="Times"/>
                <a:cs typeface="Times"/>
                <a:sym typeface="Times"/>
              </a:rPr>
              <a:t>We may find the Searching Item at Last Place.</a:t>
            </a:r>
            <a:endParaRPr sz="1700">
              <a:latin typeface="Times"/>
              <a:ea typeface="Times"/>
              <a:cs typeface="Times"/>
              <a:sym typeface="Times"/>
            </a:endParaRPr>
          </a:p>
          <a:p>
            <a:pPr indent="-336550" lvl="1" marL="914400" rtl="0" algn="just">
              <a:spcBef>
                <a:spcPts val="0"/>
              </a:spcBef>
              <a:spcAft>
                <a:spcPts val="0"/>
              </a:spcAft>
              <a:buSzPts val="1700"/>
              <a:buFont typeface="Times"/>
              <a:buChar char="○"/>
            </a:pPr>
            <a:r>
              <a:rPr lang="en-GB" sz="1700">
                <a:latin typeface="Times"/>
                <a:ea typeface="Times"/>
                <a:cs typeface="Times"/>
                <a:sym typeface="Times"/>
              </a:rPr>
              <a:t>The target is at the end, or doesn’t exist at all; Time Complexity: O(n); Worse Case</a:t>
            </a:r>
            <a:endParaRPr sz="1700">
              <a:latin typeface="Times"/>
              <a:ea typeface="Times"/>
              <a:cs typeface="Times"/>
              <a:sym typeface="Times"/>
            </a:endParaRPr>
          </a:p>
        </p:txBody>
      </p:sp>
      <p:graphicFrame>
        <p:nvGraphicFramePr>
          <p:cNvPr id="181" name="Google Shape;181;p23"/>
          <p:cNvGraphicFramePr/>
          <p:nvPr/>
        </p:nvGraphicFramePr>
        <p:xfrm>
          <a:off x="504650" y="1447600"/>
          <a:ext cx="3000000" cy="3000000"/>
        </p:xfrm>
        <a:graphic>
          <a:graphicData uri="http://schemas.openxmlformats.org/drawingml/2006/table">
            <a:tbl>
              <a:tblPr>
                <a:noFill/>
                <a:tableStyleId>{B6BE1013-BC80-4FEF-9545-A56E02D788A3}</a:tableStyleId>
              </a:tblPr>
              <a:tblGrid>
                <a:gridCol w="475875"/>
                <a:gridCol w="462750"/>
                <a:gridCol w="462750"/>
              </a:tblGrid>
              <a:tr h="322600">
                <a:tc>
                  <a:txBody>
                    <a:bodyPr/>
                    <a:lstStyle/>
                    <a:p>
                      <a:pPr indent="0" lvl="0" marL="0" rtl="0" algn="ctr">
                        <a:spcBef>
                          <a:spcPts val="0"/>
                        </a:spcBef>
                        <a:spcAft>
                          <a:spcPts val="0"/>
                        </a:spcAft>
                        <a:buNone/>
                      </a:pPr>
                      <a:r>
                        <a:rPr lang="en-GB" sz="2000">
                          <a:latin typeface="Times"/>
                          <a:ea typeface="Times"/>
                          <a:cs typeface="Times"/>
                          <a:sym typeface="Times"/>
                        </a:rPr>
                        <a:t>5</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a:ea typeface="Times"/>
                          <a:cs typeface="Times"/>
                          <a:sym typeface="Times"/>
                        </a:rPr>
                        <a:t>8</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a:ea typeface="Times"/>
                          <a:cs typeface="Times"/>
                          <a:sym typeface="Times"/>
                        </a:rPr>
                        <a:t>10</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82" name="Google Shape;182;p23"/>
          <p:cNvGraphicFramePr/>
          <p:nvPr/>
        </p:nvGraphicFramePr>
        <p:xfrm>
          <a:off x="1906000" y="1447600"/>
          <a:ext cx="3000000" cy="3000000"/>
        </p:xfrm>
        <a:graphic>
          <a:graphicData uri="http://schemas.openxmlformats.org/drawingml/2006/table">
            <a:tbl>
              <a:tblPr>
                <a:noFill/>
                <a:tableStyleId>{B6BE1013-BC80-4FEF-9545-A56E02D788A3}</a:tableStyleId>
              </a:tblPr>
              <a:tblGrid>
                <a:gridCol w="488000"/>
                <a:gridCol w="456150"/>
              </a:tblGrid>
              <a:tr h="322600">
                <a:tc>
                  <a:txBody>
                    <a:bodyPr/>
                    <a:lstStyle/>
                    <a:p>
                      <a:pPr indent="0" lvl="0" marL="0" rtl="0" algn="ctr">
                        <a:spcBef>
                          <a:spcPts val="0"/>
                        </a:spcBef>
                        <a:spcAft>
                          <a:spcPts val="0"/>
                        </a:spcAft>
                        <a:buNone/>
                      </a:pPr>
                      <a:r>
                        <a:rPr lang="en-GB" sz="2000">
                          <a:latin typeface="Times"/>
                          <a:ea typeface="Times"/>
                          <a:cs typeface="Times"/>
                          <a:sym typeface="Times"/>
                        </a:rPr>
                        <a:t>15</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a:ea typeface="Times"/>
                          <a:cs typeface="Times"/>
                          <a:sym typeface="Times"/>
                        </a:rPr>
                        <a:t>7</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cxnSp>
        <p:nvCxnSpPr>
          <p:cNvPr id="183" name="Google Shape;183;p23"/>
          <p:cNvCxnSpPr/>
          <p:nvPr/>
        </p:nvCxnSpPr>
        <p:spPr>
          <a:xfrm>
            <a:off x="692250" y="1133050"/>
            <a:ext cx="8100" cy="250500"/>
          </a:xfrm>
          <a:prstGeom prst="straightConnector1">
            <a:avLst/>
          </a:prstGeom>
          <a:noFill/>
          <a:ln cap="flat" cmpd="sng" w="38100">
            <a:solidFill>
              <a:srgbClr val="000000"/>
            </a:solidFill>
            <a:prstDash val="solid"/>
            <a:round/>
            <a:headEnd len="med" w="med" type="none"/>
            <a:tailEnd len="med" w="med" type="triangle"/>
          </a:ln>
        </p:spPr>
      </p:cxnSp>
      <p:sp>
        <p:nvSpPr>
          <p:cNvPr id="184" name="Google Shape;184;p23"/>
          <p:cNvSpPr/>
          <p:nvPr/>
        </p:nvSpPr>
        <p:spPr>
          <a:xfrm>
            <a:off x="458825" y="783300"/>
            <a:ext cx="468300" cy="349800"/>
          </a:xfrm>
          <a:prstGeom prst="ellipse">
            <a:avLst/>
          </a:prstGeom>
          <a:solidFill>
            <a:srgbClr val="EEEEEE"/>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solidFill>
                  <a:srgbClr val="0563C1"/>
                </a:solidFill>
                <a:latin typeface="Times"/>
                <a:ea typeface="Times"/>
                <a:cs typeface="Times"/>
                <a:sym typeface="Times"/>
              </a:rPr>
              <a:t>5</a:t>
            </a:r>
            <a:endParaRPr b="1" sz="2000">
              <a:solidFill>
                <a:srgbClr val="0563C1"/>
              </a:solidFill>
              <a:latin typeface="Times"/>
              <a:ea typeface="Times"/>
              <a:cs typeface="Times"/>
              <a:sym typeface="Times"/>
            </a:endParaRPr>
          </a:p>
        </p:txBody>
      </p:sp>
      <p:cxnSp>
        <p:nvCxnSpPr>
          <p:cNvPr id="185" name="Google Shape;185;p23"/>
          <p:cNvCxnSpPr/>
          <p:nvPr/>
        </p:nvCxnSpPr>
        <p:spPr>
          <a:xfrm>
            <a:off x="4502250" y="1133050"/>
            <a:ext cx="8100" cy="250500"/>
          </a:xfrm>
          <a:prstGeom prst="straightConnector1">
            <a:avLst/>
          </a:prstGeom>
          <a:noFill/>
          <a:ln cap="flat" cmpd="sng" w="38100">
            <a:solidFill>
              <a:srgbClr val="000000"/>
            </a:solidFill>
            <a:prstDash val="solid"/>
            <a:round/>
            <a:headEnd len="med" w="med" type="none"/>
            <a:tailEnd len="med" w="med" type="triangle"/>
          </a:ln>
        </p:spPr>
      </p:cxnSp>
      <p:sp>
        <p:nvSpPr>
          <p:cNvPr id="186" name="Google Shape;186;p23"/>
          <p:cNvSpPr/>
          <p:nvPr/>
        </p:nvSpPr>
        <p:spPr>
          <a:xfrm>
            <a:off x="4184875" y="733500"/>
            <a:ext cx="693000" cy="399600"/>
          </a:xfrm>
          <a:prstGeom prst="ellipse">
            <a:avLst/>
          </a:prstGeom>
          <a:solidFill>
            <a:srgbClr val="EEEEEE"/>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solidFill>
                  <a:srgbClr val="0563C1"/>
                </a:solidFill>
                <a:latin typeface="Times"/>
                <a:ea typeface="Times"/>
                <a:cs typeface="Times"/>
                <a:sym typeface="Times"/>
              </a:rPr>
              <a:t>10</a:t>
            </a:r>
            <a:endParaRPr b="1" sz="2000">
              <a:solidFill>
                <a:srgbClr val="0563C1"/>
              </a:solidFill>
              <a:latin typeface="Times"/>
              <a:ea typeface="Times"/>
              <a:cs typeface="Times"/>
              <a:sym typeface="Times"/>
            </a:endParaRPr>
          </a:p>
        </p:txBody>
      </p:sp>
      <p:cxnSp>
        <p:nvCxnSpPr>
          <p:cNvPr id="187" name="Google Shape;187;p23"/>
          <p:cNvCxnSpPr/>
          <p:nvPr/>
        </p:nvCxnSpPr>
        <p:spPr>
          <a:xfrm>
            <a:off x="8464650" y="1133050"/>
            <a:ext cx="8100" cy="250500"/>
          </a:xfrm>
          <a:prstGeom prst="straightConnector1">
            <a:avLst/>
          </a:prstGeom>
          <a:noFill/>
          <a:ln cap="flat" cmpd="sng" w="38100">
            <a:solidFill>
              <a:srgbClr val="000000"/>
            </a:solidFill>
            <a:prstDash val="solid"/>
            <a:round/>
            <a:headEnd len="med" w="med" type="none"/>
            <a:tailEnd len="med" w="med" type="triangle"/>
          </a:ln>
        </p:spPr>
      </p:cxnSp>
      <p:sp>
        <p:nvSpPr>
          <p:cNvPr id="188" name="Google Shape;188;p23"/>
          <p:cNvSpPr/>
          <p:nvPr/>
        </p:nvSpPr>
        <p:spPr>
          <a:xfrm>
            <a:off x="8231225" y="783300"/>
            <a:ext cx="468300" cy="349800"/>
          </a:xfrm>
          <a:prstGeom prst="ellipse">
            <a:avLst/>
          </a:prstGeom>
          <a:solidFill>
            <a:srgbClr val="EEEEEE"/>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solidFill>
                  <a:srgbClr val="0563C1"/>
                </a:solidFill>
                <a:latin typeface="Times"/>
                <a:ea typeface="Times"/>
                <a:cs typeface="Times"/>
                <a:sym typeface="Times"/>
              </a:rPr>
              <a:t>7</a:t>
            </a:r>
            <a:endParaRPr b="1" sz="2000">
              <a:solidFill>
                <a:srgbClr val="0563C1"/>
              </a:solidFill>
              <a:latin typeface="Times"/>
              <a:ea typeface="Times"/>
              <a:cs typeface="Times"/>
              <a:sym typeface="Times"/>
            </a:endParaRPr>
          </a:p>
        </p:txBody>
      </p:sp>
      <p:graphicFrame>
        <p:nvGraphicFramePr>
          <p:cNvPr id="189" name="Google Shape;189;p23"/>
          <p:cNvGraphicFramePr/>
          <p:nvPr/>
        </p:nvGraphicFramePr>
        <p:xfrm>
          <a:off x="3400250" y="1447600"/>
          <a:ext cx="3000000" cy="3000000"/>
        </p:xfrm>
        <a:graphic>
          <a:graphicData uri="http://schemas.openxmlformats.org/drawingml/2006/table">
            <a:tbl>
              <a:tblPr>
                <a:noFill/>
                <a:tableStyleId>{B6BE1013-BC80-4FEF-9545-A56E02D788A3}</a:tableStyleId>
              </a:tblPr>
              <a:tblGrid>
                <a:gridCol w="475875"/>
                <a:gridCol w="462750"/>
                <a:gridCol w="462750"/>
              </a:tblGrid>
              <a:tr h="322600">
                <a:tc>
                  <a:txBody>
                    <a:bodyPr/>
                    <a:lstStyle/>
                    <a:p>
                      <a:pPr indent="0" lvl="0" marL="0" rtl="0" algn="ctr">
                        <a:spcBef>
                          <a:spcPts val="0"/>
                        </a:spcBef>
                        <a:spcAft>
                          <a:spcPts val="0"/>
                        </a:spcAft>
                        <a:buNone/>
                      </a:pPr>
                      <a:r>
                        <a:rPr lang="en-GB" sz="2000">
                          <a:latin typeface="Times"/>
                          <a:ea typeface="Times"/>
                          <a:cs typeface="Times"/>
                          <a:sym typeface="Times"/>
                        </a:rPr>
                        <a:t>5</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a:ea typeface="Times"/>
                          <a:cs typeface="Times"/>
                          <a:sym typeface="Times"/>
                        </a:rPr>
                        <a:t>8</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a:ea typeface="Times"/>
                          <a:cs typeface="Times"/>
                          <a:sym typeface="Times"/>
                        </a:rPr>
                        <a:t>10</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90" name="Google Shape;190;p23"/>
          <p:cNvGraphicFramePr/>
          <p:nvPr/>
        </p:nvGraphicFramePr>
        <p:xfrm>
          <a:off x="4801600" y="1447600"/>
          <a:ext cx="3000000" cy="3000000"/>
        </p:xfrm>
        <a:graphic>
          <a:graphicData uri="http://schemas.openxmlformats.org/drawingml/2006/table">
            <a:tbl>
              <a:tblPr>
                <a:noFill/>
                <a:tableStyleId>{B6BE1013-BC80-4FEF-9545-A56E02D788A3}</a:tableStyleId>
              </a:tblPr>
              <a:tblGrid>
                <a:gridCol w="488000"/>
                <a:gridCol w="456150"/>
              </a:tblGrid>
              <a:tr h="322600">
                <a:tc>
                  <a:txBody>
                    <a:bodyPr/>
                    <a:lstStyle/>
                    <a:p>
                      <a:pPr indent="0" lvl="0" marL="0" rtl="0" algn="ctr">
                        <a:spcBef>
                          <a:spcPts val="0"/>
                        </a:spcBef>
                        <a:spcAft>
                          <a:spcPts val="0"/>
                        </a:spcAft>
                        <a:buNone/>
                      </a:pPr>
                      <a:r>
                        <a:rPr lang="en-GB" sz="2000">
                          <a:latin typeface="Times"/>
                          <a:ea typeface="Times"/>
                          <a:cs typeface="Times"/>
                          <a:sym typeface="Times"/>
                        </a:rPr>
                        <a:t>15</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a:ea typeface="Times"/>
                          <a:cs typeface="Times"/>
                          <a:sym typeface="Times"/>
                        </a:rPr>
                        <a:t>7</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91" name="Google Shape;191;p23"/>
          <p:cNvGraphicFramePr/>
          <p:nvPr/>
        </p:nvGraphicFramePr>
        <p:xfrm>
          <a:off x="6448250" y="1447600"/>
          <a:ext cx="3000000" cy="3000000"/>
        </p:xfrm>
        <a:graphic>
          <a:graphicData uri="http://schemas.openxmlformats.org/drawingml/2006/table">
            <a:tbl>
              <a:tblPr>
                <a:noFill/>
                <a:tableStyleId>{B6BE1013-BC80-4FEF-9545-A56E02D788A3}</a:tableStyleId>
              </a:tblPr>
              <a:tblGrid>
                <a:gridCol w="475875"/>
                <a:gridCol w="462750"/>
                <a:gridCol w="462750"/>
              </a:tblGrid>
              <a:tr h="322600">
                <a:tc>
                  <a:txBody>
                    <a:bodyPr/>
                    <a:lstStyle/>
                    <a:p>
                      <a:pPr indent="0" lvl="0" marL="0" rtl="0" algn="ctr">
                        <a:spcBef>
                          <a:spcPts val="0"/>
                        </a:spcBef>
                        <a:spcAft>
                          <a:spcPts val="0"/>
                        </a:spcAft>
                        <a:buNone/>
                      </a:pPr>
                      <a:r>
                        <a:rPr lang="en-GB" sz="2000">
                          <a:latin typeface="Times"/>
                          <a:ea typeface="Times"/>
                          <a:cs typeface="Times"/>
                          <a:sym typeface="Times"/>
                        </a:rPr>
                        <a:t>5</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a:ea typeface="Times"/>
                          <a:cs typeface="Times"/>
                          <a:sym typeface="Times"/>
                        </a:rPr>
                        <a:t>8</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a:ea typeface="Times"/>
                          <a:cs typeface="Times"/>
                          <a:sym typeface="Times"/>
                        </a:rPr>
                        <a:t>10</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92" name="Google Shape;192;p23"/>
          <p:cNvGraphicFramePr/>
          <p:nvPr/>
        </p:nvGraphicFramePr>
        <p:xfrm>
          <a:off x="7849600" y="1447600"/>
          <a:ext cx="3000000" cy="3000000"/>
        </p:xfrm>
        <a:graphic>
          <a:graphicData uri="http://schemas.openxmlformats.org/drawingml/2006/table">
            <a:tbl>
              <a:tblPr>
                <a:noFill/>
                <a:tableStyleId>{B6BE1013-BC80-4FEF-9545-A56E02D788A3}</a:tableStyleId>
              </a:tblPr>
              <a:tblGrid>
                <a:gridCol w="488000"/>
                <a:gridCol w="456150"/>
              </a:tblGrid>
              <a:tr h="322600">
                <a:tc>
                  <a:txBody>
                    <a:bodyPr/>
                    <a:lstStyle/>
                    <a:p>
                      <a:pPr indent="0" lvl="0" marL="0" rtl="0" algn="ctr">
                        <a:spcBef>
                          <a:spcPts val="0"/>
                        </a:spcBef>
                        <a:spcAft>
                          <a:spcPts val="0"/>
                        </a:spcAft>
                        <a:buNone/>
                      </a:pPr>
                      <a:r>
                        <a:rPr lang="en-GB" sz="2000">
                          <a:latin typeface="Times"/>
                          <a:ea typeface="Times"/>
                          <a:cs typeface="Times"/>
                          <a:sym typeface="Times"/>
                        </a:rPr>
                        <a:t>15</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a:ea typeface="Times"/>
                          <a:cs typeface="Times"/>
                          <a:sym typeface="Times"/>
                        </a:rPr>
                        <a:t>7</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6" name="Shape 196"/>
        <p:cNvGrpSpPr/>
        <p:nvPr/>
      </p:nvGrpSpPr>
      <p:grpSpPr>
        <a:xfrm>
          <a:off x="0" y="0"/>
          <a:ext cx="0" cy="0"/>
          <a:chOff x="0" y="0"/>
          <a:chExt cx="0" cy="0"/>
        </a:xfrm>
      </p:grpSpPr>
      <p:sp>
        <p:nvSpPr>
          <p:cNvPr id="197" name="Google Shape;197;p24"/>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98" name="Google Shape;198;p24"/>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99" name="Google Shape;199;p24"/>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3000">
                <a:solidFill>
                  <a:srgbClr val="2B2C30"/>
                </a:solidFill>
                <a:latin typeface="Times"/>
                <a:ea typeface="Times"/>
                <a:cs typeface="Times"/>
                <a:sym typeface="Times"/>
              </a:rPr>
              <a:t>Time Complexity of Algorithms</a:t>
            </a:r>
            <a:endParaRPr sz="3800">
              <a:latin typeface="Times"/>
              <a:ea typeface="Times"/>
              <a:cs typeface="Times"/>
              <a:sym typeface="Times"/>
            </a:endParaRPr>
          </a:p>
        </p:txBody>
      </p:sp>
      <p:cxnSp>
        <p:nvCxnSpPr>
          <p:cNvPr id="200" name="Google Shape;200;p24"/>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201" name="Google Shape;201;p24"/>
          <p:cNvSpPr txBox="1"/>
          <p:nvPr/>
        </p:nvSpPr>
        <p:spPr>
          <a:xfrm>
            <a:off x="548725" y="611450"/>
            <a:ext cx="8244900" cy="4219800"/>
          </a:xfrm>
          <a:prstGeom prst="rect">
            <a:avLst/>
          </a:prstGeom>
          <a:noFill/>
          <a:ln>
            <a:noFill/>
          </a:ln>
        </p:spPr>
        <p:txBody>
          <a:bodyPr anchorCtr="0" anchor="t" bIns="91425" lIns="91425" spcFirstLastPara="1" rIns="91425" wrap="square" tIns="91425">
            <a:noAutofit/>
          </a:bodyPr>
          <a:lstStyle/>
          <a:p>
            <a:pPr indent="-368300" lvl="0" marL="360001" rtl="0" algn="just">
              <a:spcBef>
                <a:spcPts val="900"/>
              </a:spcBef>
              <a:spcAft>
                <a:spcPts val="0"/>
              </a:spcAft>
              <a:buSzPts val="2200"/>
              <a:buFont typeface="Times"/>
              <a:buChar char="➢"/>
            </a:pPr>
            <a:r>
              <a:rPr b="1" lang="en-GB" sz="2000">
                <a:latin typeface="Times"/>
                <a:ea typeface="Times"/>
                <a:cs typeface="Times"/>
                <a:sym typeface="Times"/>
              </a:rPr>
              <a:t>Worst Case</a:t>
            </a:r>
            <a:r>
              <a:rPr lang="en-GB" sz="2000">
                <a:latin typeface="Times"/>
                <a:ea typeface="Times"/>
                <a:cs typeface="Times"/>
                <a:sym typeface="Times"/>
              </a:rPr>
              <a:t>: is the longest time that an algorithm will use over all instances of size for a given problem to produce desired result.</a:t>
            </a:r>
            <a:endParaRPr sz="2000">
              <a:latin typeface="Times"/>
              <a:ea typeface="Times"/>
              <a:cs typeface="Times"/>
              <a:sym typeface="Times"/>
            </a:endParaRPr>
          </a:p>
          <a:p>
            <a:pPr indent="-368300" lvl="0" marL="360001" rtl="0" algn="just">
              <a:spcBef>
                <a:spcPts val="0"/>
              </a:spcBef>
              <a:spcAft>
                <a:spcPts val="0"/>
              </a:spcAft>
              <a:buSzPts val="2200"/>
              <a:buFont typeface="Times"/>
              <a:buChar char="➢"/>
            </a:pPr>
            <a:r>
              <a:rPr b="1" lang="en-GB" sz="2000">
                <a:latin typeface="Times"/>
                <a:ea typeface="Times"/>
                <a:cs typeface="Times"/>
                <a:sym typeface="Times"/>
              </a:rPr>
              <a:t>Average Case</a:t>
            </a:r>
            <a:r>
              <a:rPr lang="en-GB" sz="2000">
                <a:latin typeface="Times"/>
                <a:ea typeface="Times"/>
                <a:cs typeface="Times"/>
                <a:sym typeface="Times"/>
              </a:rPr>
              <a:t>: is the average time (or average space) that the algorithm will use over all instances of size  n for a given problem to produce a desired result depends on he probably distribution of instances of the problem.</a:t>
            </a:r>
            <a:endParaRPr sz="2000">
              <a:latin typeface="Times"/>
              <a:ea typeface="Times"/>
              <a:cs typeface="Times"/>
              <a:sym typeface="Times"/>
            </a:endParaRPr>
          </a:p>
          <a:p>
            <a:pPr indent="-368300" lvl="0" marL="360001" rtl="0" algn="just">
              <a:spcBef>
                <a:spcPts val="0"/>
              </a:spcBef>
              <a:spcAft>
                <a:spcPts val="0"/>
              </a:spcAft>
              <a:buSzPts val="2200"/>
              <a:buFont typeface="Times"/>
              <a:buChar char="➢"/>
            </a:pPr>
            <a:r>
              <a:rPr b="1" lang="en-GB" sz="2000">
                <a:latin typeface="Times"/>
                <a:ea typeface="Times"/>
                <a:cs typeface="Times"/>
                <a:sym typeface="Times"/>
              </a:rPr>
              <a:t>Best Case</a:t>
            </a:r>
            <a:r>
              <a:rPr lang="en-GB" sz="2000">
                <a:latin typeface="Times"/>
                <a:ea typeface="Times"/>
                <a:cs typeface="Times"/>
                <a:sym typeface="Times"/>
              </a:rPr>
              <a:t>: is short time (or least space) that he algorithm will use over all the instances of size n for a given problem to produce desired result.</a:t>
            </a:r>
            <a:endParaRPr sz="2000">
              <a:latin typeface="Times"/>
              <a:ea typeface="Times"/>
              <a:cs typeface="Times"/>
              <a:sym typeface="Time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5" name="Shape 205"/>
        <p:cNvGrpSpPr/>
        <p:nvPr/>
      </p:nvGrpSpPr>
      <p:grpSpPr>
        <a:xfrm>
          <a:off x="0" y="0"/>
          <a:ext cx="0" cy="0"/>
          <a:chOff x="0" y="0"/>
          <a:chExt cx="0" cy="0"/>
        </a:xfrm>
      </p:grpSpPr>
      <p:sp>
        <p:nvSpPr>
          <p:cNvPr id="206" name="Google Shape;206;p25"/>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207" name="Google Shape;207;p25"/>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08" name="Google Shape;208;p25"/>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3000">
                <a:solidFill>
                  <a:srgbClr val="2B2C30"/>
                </a:solidFill>
                <a:latin typeface="Times"/>
                <a:ea typeface="Times"/>
                <a:cs typeface="Times"/>
                <a:sym typeface="Times"/>
              </a:rPr>
              <a:t>Time Complexity of Algorithms</a:t>
            </a:r>
            <a:endParaRPr sz="3800">
              <a:latin typeface="Times"/>
              <a:ea typeface="Times"/>
              <a:cs typeface="Times"/>
              <a:sym typeface="Times"/>
            </a:endParaRPr>
          </a:p>
        </p:txBody>
      </p:sp>
      <p:cxnSp>
        <p:nvCxnSpPr>
          <p:cNvPr id="209" name="Google Shape;209;p25"/>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pic>
        <p:nvPicPr>
          <p:cNvPr id="210" name="Google Shape;210;p25"/>
          <p:cNvPicPr preferRelativeResize="0"/>
          <p:nvPr/>
        </p:nvPicPr>
        <p:blipFill>
          <a:blip r:embed="rId6">
            <a:alphaModFix/>
          </a:blip>
          <a:stretch>
            <a:fillRect/>
          </a:stretch>
        </p:blipFill>
        <p:spPr>
          <a:xfrm>
            <a:off x="402850" y="694000"/>
            <a:ext cx="8395200" cy="4114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4" name="Shape 214"/>
        <p:cNvGrpSpPr/>
        <p:nvPr/>
      </p:nvGrpSpPr>
      <p:grpSpPr>
        <a:xfrm>
          <a:off x="0" y="0"/>
          <a:ext cx="0" cy="0"/>
          <a:chOff x="0" y="0"/>
          <a:chExt cx="0" cy="0"/>
        </a:xfrm>
      </p:grpSpPr>
      <p:sp>
        <p:nvSpPr>
          <p:cNvPr id="215" name="Google Shape;215;p26"/>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216" name="Google Shape;216;p26"/>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17" name="Google Shape;217;p26"/>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3000">
                <a:solidFill>
                  <a:srgbClr val="2B2C30"/>
                </a:solidFill>
                <a:latin typeface="Times"/>
                <a:ea typeface="Times"/>
                <a:cs typeface="Times"/>
                <a:sym typeface="Times"/>
              </a:rPr>
              <a:t>Time Complexity of Algorithms</a:t>
            </a:r>
            <a:endParaRPr sz="3800">
              <a:latin typeface="Times"/>
              <a:ea typeface="Times"/>
              <a:cs typeface="Times"/>
              <a:sym typeface="Times"/>
            </a:endParaRPr>
          </a:p>
        </p:txBody>
      </p:sp>
      <p:cxnSp>
        <p:nvCxnSpPr>
          <p:cNvPr id="218" name="Google Shape;218;p26"/>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pic>
        <p:nvPicPr>
          <p:cNvPr id="219" name="Google Shape;219;p26"/>
          <p:cNvPicPr preferRelativeResize="0"/>
          <p:nvPr/>
        </p:nvPicPr>
        <p:blipFill>
          <a:blip r:embed="rId6">
            <a:alphaModFix/>
          </a:blip>
          <a:stretch>
            <a:fillRect/>
          </a:stretch>
        </p:blipFill>
        <p:spPr>
          <a:xfrm>
            <a:off x="402850" y="685100"/>
            <a:ext cx="8395199" cy="41234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3" name="Shape 223"/>
        <p:cNvGrpSpPr/>
        <p:nvPr/>
      </p:nvGrpSpPr>
      <p:grpSpPr>
        <a:xfrm>
          <a:off x="0" y="0"/>
          <a:ext cx="0" cy="0"/>
          <a:chOff x="0" y="0"/>
          <a:chExt cx="0" cy="0"/>
        </a:xfrm>
      </p:grpSpPr>
      <p:sp>
        <p:nvSpPr>
          <p:cNvPr id="224" name="Google Shape;224;p27"/>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225" name="Google Shape;225;p27"/>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26" name="Google Shape;226;p27"/>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3000">
                <a:solidFill>
                  <a:srgbClr val="2B2C30"/>
                </a:solidFill>
                <a:latin typeface="Times"/>
                <a:ea typeface="Times"/>
                <a:cs typeface="Times"/>
                <a:sym typeface="Times"/>
              </a:rPr>
              <a:t>Space Complexity of Algorithms</a:t>
            </a:r>
            <a:endParaRPr sz="3800">
              <a:latin typeface="Times"/>
              <a:ea typeface="Times"/>
              <a:cs typeface="Times"/>
              <a:sym typeface="Times"/>
            </a:endParaRPr>
          </a:p>
        </p:txBody>
      </p:sp>
      <p:cxnSp>
        <p:nvCxnSpPr>
          <p:cNvPr id="227" name="Google Shape;227;p27"/>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228" name="Google Shape;228;p27"/>
          <p:cNvSpPr txBox="1"/>
          <p:nvPr/>
        </p:nvSpPr>
        <p:spPr>
          <a:xfrm>
            <a:off x="548725" y="676200"/>
            <a:ext cx="8244900" cy="4155000"/>
          </a:xfrm>
          <a:prstGeom prst="rect">
            <a:avLst/>
          </a:prstGeom>
          <a:noFill/>
          <a:ln>
            <a:noFill/>
          </a:ln>
        </p:spPr>
        <p:txBody>
          <a:bodyPr anchorCtr="0" anchor="t" bIns="91425" lIns="91425" spcFirstLastPara="1" rIns="91425" wrap="square" tIns="91425">
            <a:noAutofit/>
          </a:bodyPr>
          <a:lstStyle/>
          <a:p>
            <a:pPr indent="-368300" lvl="0" marL="360001" rtl="0" algn="just">
              <a:spcBef>
                <a:spcPts val="900"/>
              </a:spcBef>
              <a:spcAft>
                <a:spcPts val="0"/>
              </a:spcAft>
              <a:buSzPts val="2200"/>
              <a:buFont typeface="Times"/>
              <a:buChar char="➢"/>
            </a:pPr>
            <a:r>
              <a:rPr lang="en-GB" sz="2000">
                <a:latin typeface="Times"/>
                <a:ea typeface="Times"/>
                <a:cs typeface="Times"/>
                <a:sym typeface="Times"/>
              </a:rPr>
              <a:t>Space Complexity of a program is the amount of memory consumed by the algorithm ( apart from input and output, if required by specification) until it completes its execution.</a:t>
            </a:r>
            <a:endParaRPr sz="2000">
              <a:latin typeface="Times"/>
              <a:ea typeface="Times"/>
              <a:cs typeface="Times"/>
              <a:sym typeface="Times"/>
            </a:endParaRPr>
          </a:p>
          <a:p>
            <a:pPr indent="-368300" lvl="0" marL="360001" rtl="0" algn="just">
              <a:spcBef>
                <a:spcPts val="0"/>
              </a:spcBef>
              <a:spcAft>
                <a:spcPts val="0"/>
              </a:spcAft>
              <a:buSzPts val="2200"/>
              <a:buFont typeface="Times"/>
              <a:buChar char="➢"/>
            </a:pPr>
            <a:r>
              <a:rPr lang="en-GB" sz="2000">
                <a:latin typeface="Times"/>
                <a:ea typeface="Times"/>
                <a:cs typeface="Times"/>
                <a:sym typeface="Times"/>
              </a:rPr>
              <a:t>The way in which the amount of storage space required by an algorithm varies with the size of the problem to be solved. </a:t>
            </a:r>
            <a:endParaRPr sz="2000">
              <a:latin typeface="Times"/>
              <a:ea typeface="Times"/>
              <a:cs typeface="Times"/>
              <a:sym typeface="Times"/>
            </a:endParaRPr>
          </a:p>
          <a:p>
            <a:pPr indent="-368300" lvl="0" marL="360001" rtl="0" algn="just">
              <a:spcBef>
                <a:spcPts val="0"/>
              </a:spcBef>
              <a:spcAft>
                <a:spcPts val="0"/>
              </a:spcAft>
              <a:buSzPts val="2200"/>
              <a:buFont typeface="Times"/>
              <a:buChar char="➢"/>
            </a:pPr>
            <a:r>
              <a:rPr lang="en-GB" sz="2000">
                <a:latin typeface="Times"/>
                <a:ea typeface="Times"/>
                <a:cs typeface="Times"/>
                <a:sym typeface="Times"/>
              </a:rPr>
              <a:t>The space occupied by the program is generally by the following:</a:t>
            </a:r>
            <a:endParaRPr sz="2000">
              <a:latin typeface="Times"/>
              <a:ea typeface="Times"/>
              <a:cs typeface="Times"/>
              <a:sym typeface="Times"/>
            </a:endParaRPr>
          </a:p>
          <a:p>
            <a:pPr indent="-361950" lvl="1" marL="720000" rtl="0" algn="just">
              <a:spcBef>
                <a:spcPts val="0"/>
              </a:spcBef>
              <a:spcAft>
                <a:spcPts val="0"/>
              </a:spcAft>
              <a:buSzPts val="2100"/>
              <a:buFont typeface="Times"/>
              <a:buChar char="○"/>
            </a:pPr>
            <a:r>
              <a:rPr lang="en-GB" sz="1900">
                <a:latin typeface="Times"/>
                <a:ea typeface="Times"/>
                <a:cs typeface="Times"/>
                <a:sym typeface="Times"/>
              </a:rPr>
              <a:t>A fixed amount of memory occupied by the space for the program code and space occupied by the variables used in the program.</a:t>
            </a:r>
            <a:endParaRPr sz="1900">
              <a:latin typeface="Times"/>
              <a:ea typeface="Times"/>
              <a:cs typeface="Times"/>
              <a:sym typeface="Times"/>
            </a:endParaRPr>
          </a:p>
          <a:p>
            <a:pPr indent="-361950" lvl="1" marL="720000" rtl="0" algn="just">
              <a:spcBef>
                <a:spcPts val="0"/>
              </a:spcBef>
              <a:spcAft>
                <a:spcPts val="0"/>
              </a:spcAft>
              <a:buSzPts val="2100"/>
              <a:buFont typeface="Times"/>
              <a:buChar char="○"/>
            </a:pPr>
            <a:r>
              <a:rPr lang="en-GB" sz="1900">
                <a:latin typeface="Times"/>
                <a:ea typeface="Times"/>
                <a:cs typeface="Times"/>
                <a:sym typeface="Times"/>
              </a:rPr>
              <a:t>A variable amount of memory occupied by the component variable whose size is dependent on the problem being solved. This space increases or decreases depending upon whether the program uses iterative or recursive procedures.</a:t>
            </a:r>
            <a:endParaRPr sz="2000">
              <a:latin typeface="Times"/>
              <a:ea typeface="Times"/>
              <a:cs typeface="Times"/>
              <a:sym typeface="Time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2" name="Shape 232"/>
        <p:cNvGrpSpPr/>
        <p:nvPr/>
      </p:nvGrpSpPr>
      <p:grpSpPr>
        <a:xfrm>
          <a:off x="0" y="0"/>
          <a:ext cx="0" cy="0"/>
          <a:chOff x="0" y="0"/>
          <a:chExt cx="0" cy="0"/>
        </a:xfrm>
      </p:grpSpPr>
      <p:sp>
        <p:nvSpPr>
          <p:cNvPr id="233" name="Google Shape;233;p28"/>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234" name="Google Shape;234;p28"/>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35" name="Google Shape;235;p28"/>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3000">
                <a:solidFill>
                  <a:srgbClr val="2B2C30"/>
                </a:solidFill>
                <a:latin typeface="Times"/>
                <a:ea typeface="Times"/>
                <a:cs typeface="Times"/>
                <a:sym typeface="Times"/>
              </a:rPr>
              <a:t>Space Complexity of Algorithms</a:t>
            </a:r>
            <a:endParaRPr sz="3800">
              <a:latin typeface="Times"/>
              <a:ea typeface="Times"/>
              <a:cs typeface="Times"/>
              <a:sym typeface="Times"/>
            </a:endParaRPr>
          </a:p>
        </p:txBody>
      </p:sp>
      <p:cxnSp>
        <p:nvCxnSpPr>
          <p:cNvPr id="236" name="Google Shape;236;p28"/>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237" name="Google Shape;237;p28"/>
          <p:cNvSpPr txBox="1"/>
          <p:nvPr/>
        </p:nvSpPr>
        <p:spPr>
          <a:xfrm>
            <a:off x="548725" y="676200"/>
            <a:ext cx="8244900" cy="4155000"/>
          </a:xfrm>
          <a:prstGeom prst="rect">
            <a:avLst/>
          </a:prstGeom>
          <a:noFill/>
          <a:ln>
            <a:noFill/>
          </a:ln>
        </p:spPr>
        <p:txBody>
          <a:bodyPr anchorCtr="0" anchor="t" bIns="91425" lIns="91425" spcFirstLastPara="1" rIns="91425" wrap="square" tIns="91425">
            <a:noAutofit/>
          </a:bodyPr>
          <a:lstStyle/>
          <a:p>
            <a:pPr indent="-368300" lvl="0" marL="360001" rtl="0" algn="just">
              <a:spcBef>
                <a:spcPts val="900"/>
              </a:spcBef>
              <a:spcAft>
                <a:spcPts val="0"/>
              </a:spcAft>
              <a:buSzPts val="2200"/>
              <a:buFont typeface="Times"/>
              <a:buChar char="➢"/>
            </a:pPr>
            <a:r>
              <a:rPr lang="en-GB" sz="2000">
                <a:latin typeface="Times"/>
                <a:ea typeface="Times"/>
                <a:cs typeface="Times"/>
                <a:sym typeface="Times"/>
              </a:rPr>
              <a:t>The memory taken by the instructions is not in the control of the programmer as its totally dependent upon the compiler to assign this memory.</a:t>
            </a:r>
            <a:endParaRPr sz="2000">
              <a:latin typeface="Times"/>
              <a:ea typeface="Times"/>
              <a:cs typeface="Times"/>
              <a:sym typeface="Times"/>
            </a:endParaRPr>
          </a:p>
          <a:p>
            <a:pPr indent="-368300" lvl="0" marL="360001" rtl="0" algn="just">
              <a:spcBef>
                <a:spcPts val="0"/>
              </a:spcBef>
              <a:spcAft>
                <a:spcPts val="0"/>
              </a:spcAft>
              <a:buSzPts val="2200"/>
              <a:buFont typeface="Times"/>
              <a:buChar char="➢"/>
            </a:pPr>
            <a:r>
              <a:rPr lang="en-GB" sz="2000">
                <a:latin typeface="Times"/>
                <a:ea typeface="Times"/>
                <a:cs typeface="Times"/>
                <a:sym typeface="Times"/>
              </a:rPr>
              <a:t>But the memory space taken by the variables is in the control of a programmer. More the number of variables used, more will be the space taken by them in the memory.</a:t>
            </a:r>
            <a:endParaRPr sz="2000">
              <a:latin typeface="Times"/>
              <a:ea typeface="Times"/>
              <a:cs typeface="Times"/>
              <a:sym typeface="Times"/>
            </a:endParaRPr>
          </a:p>
          <a:p>
            <a:pPr indent="-368300" lvl="0" marL="360001" rtl="0" algn="just">
              <a:spcBef>
                <a:spcPts val="0"/>
              </a:spcBef>
              <a:spcAft>
                <a:spcPts val="0"/>
              </a:spcAft>
              <a:buSzPts val="2200"/>
              <a:buFont typeface="Times"/>
              <a:buChar char="➢"/>
            </a:pPr>
            <a:r>
              <a:rPr lang="en-GB" sz="2000">
                <a:latin typeface="Times"/>
                <a:ea typeface="Times"/>
                <a:cs typeface="Times"/>
                <a:sym typeface="Times"/>
              </a:rPr>
              <a:t>Space complexity is normally expressed as an order of magnitude.</a:t>
            </a:r>
            <a:endParaRPr sz="2000">
              <a:latin typeface="Times"/>
              <a:ea typeface="Times"/>
              <a:cs typeface="Times"/>
              <a:sym typeface="Times"/>
            </a:endParaRPr>
          </a:p>
          <a:p>
            <a:pPr indent="0" lvl="0" marL="457200" rtl="0" algn="just">
              <a:spcBef>
                <a:spcPts val="900"/>
              </a:spcBef>
              <a:spcAft>
                <a:spcPts val="900"/>
              </a:spcAft>
              <a:buNone/>
            </a:pPr>
            <a:r>
              <a:rPr i="1" lang="en-GB" sz="2000">
                <a:latin typeface="Times"/>
                <a:ea typeface="Times"/>
                <a:cs typeface="Times"/>
                <a:sym typeface="Times"/>
              </a:rPr>
              <a:t>Example: O(n?) means that if the size of the problem n doubles then four times as much working storage will be needed.</a:t>
            </a:r>
            <a:endParaRPr i="1" sz="2000">
              <a:latin typeface="Times"/>
              <a:ea typeface="Times"/>
              <a:cs typeface="Times"/>
              <a:sym typeface="Time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1" name="Shape 241"/>
        <p:cNvGrpSpPr/>
        <p:nvPr/>
      </p:nvGrpSpPr>
      <p:grpSpPr>
        <a:xfrm>
          <a:off x="0" y="0"/>
          <a:ext cx="0" cy="0"/>
          <a:chOff x="0" y="0"/>
          <a:chExt cx="0" cy="0"/>
        </a:xfrm>
      </p:grpSpPr>
      <p:sp>
        <p:nvSpPr>
          <p:cNvPr id="242" name="Google Shape;242;p29"/>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243" name="Google Shape;243;p29"/>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44" name="Google Shape;244;p29"/>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3000">
                <a:solidFill>
                  <a:srgbClr val="2B2C30"/>
                </a:solidFill>
                <a:latin typeface="Times"/>
                <a:ea typeface="Times"/>
                <a:cs typeface="Times"/>
                <a:sym typeface="Times"/>
              </a:rPr>
              <a:t>Space Complexity of Algorithms</a:t>
            </a:r>
            <a:endParaRPr sz="3800">
              <a:latin typeface="Times"/>
              <a:ea typeface="Times"/>
              <a:cs typeface="Times"/>
              <a:sym typeface="Times"/>
            </a:endParaRPr>
          </a:p>
        </p:txBody>
      </p:sp>
      <p:cxnSp>
        <p:nvCxnSpPr>
          <p:cNvPr id="245" name="Google Shape;245;p29"/>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246" name="Google Shape;246;p29"/>
          <p:cNvSpPr txBox="1"/>
          <p:nvPr/>
        </p:nvSpPr>
        <p:spPr>
          <a:xfrm>
            <a:off x="548725" y="676200"/>
            <a:ext cx="8244900" cy="4155000"/>
          </a:xfrm>
          <a:prstGeom prst="rect">
            <a:avLst/>
          </a:prstGeom>
          <a:noFill/>
          <a:ln>
            <a:noFill/>
          </a:ln>
        </p:spPr>
        <p:txBody>
          <a:bodyPr anchorCtr="0" anchor="t" bIns="91425" lIns="91425" spcFirstLastPara="1" rIns="91425" wrap="square" tIns="91425">
            <a:noAutofit/>
          </a:bodyPr>
          <a:lstStyle/>
          <a:p>
            <a:pPr indent="-368300" lvl="0" marL="360001" rtl="0" algn="just">
              <a:spcBef>
                <a:spcPts val="900"/>
              </a:spcBef>
              <a:spcAft>
                <a:spcPts val="0"/>
              </a:spcAft>
              <a:buSzPts val="2200"/>
              <a:buFont typeface="Times"/>
              <a:buChar char="➢"/>
            </a:pPr>
            <a:r>
              <a:rPr lang="en-GB" sz="2000">
                <a:latin typeface="Times"/>
                <a:ea typeface="Times"/>
                <a:cs typeface="Times"/>
                <a:sym typeface="Times"/>
              </a:rPr>
              <a:t>There are three different spaces considered for determining the amount of memory used by the algorithm.</a:t>
            </a:r>
            <a:endParaRPr sz="2000">
              <a:latin typeface="Times"/>
              <a:ea typeface="Times"/>
              <a:cs typeface="Times"/>
              <a:sym typeface="Times"/>
            </a:endParaRPr>
          </a:p>
          <a:p>
            <a:pPr indent="-361950" lvl="1" marL="720000" rtl="0" algn="just">
              <a:spcBef>
                <a:spcPts val="0"/>
              </a:spcBef>
              <a:spcAft>
                <a:spcPts val="0"/>
              </a:spcAft>
              <a:buSzPts val="2100"/>
              <a:buFont typeface="Times"/>
              <a:buChar char="○"/>
            </a:pPr>
            <a:r>
              <a:rPr b="1" lang="en-GB" sz="1900">
                <a:latin typeface="Times"/>
                <a:ea typeface="Times"/>
                <a:cs typeface="Times"/>
                <a:sym typeface="Times"/>
              </a:rPr>
              <a:t>Instruction Space</a:t>
            </a:r>
            <a:r>
              <a:rPr lang="en-GB" sz="1900">
                <a:latin typeface="Times"/>
                <a:ea typeface="Times"/>
                <a:cs typeface="Times"/>
                <a:sym typeface="Times"/>
              </a:rPr>
              <a:t> is the space in memory occupied by the compiled version of the program. We consider this space as a constant space for any value of n. We normally ignore this value , but remember that is there. The instruction space is independent of the size of the problem</a:t>
            </a:r>
            <a:endParaRPr sz="1900">
              <a:latin typeface="Times"/>
              <a:ea typeface="Times"/>
              <a:cs typeface="Times"/>
              <a:sym typeface="Times"/>
            </a:endParaRPr>
          </a:p>
          <a:p>
            <a:pPr indent="-361950" lvl="1" marL="720000" rtl="0" algn="just">
              <a:spcBef>
                <a:spcPts val="0"/>
              </a:spcBef>
              <a:spcAft>
                <a:spcPts val="0"/>
              </a:spcAft>
              <a:buSzPts val="2100"/>
              <a:buFont typeface="Times"/>
              <a:buChar char="○"/>
            </a:pPr>
            <a:r>
              <a:rPr b="1" lang="en-GB" sz="1900">
                <a:latin typeface="Times"/>
                <a:ea typeface="Times"/>
                <a:cs typeface="Times"/>
                <a:sym typeface="Times"/>
              </a:rPr>
              <a:t>Data Space</a:t>
            </a:r>
            <a:r>
              <a:rPr lang="en-GB" sz="1900">
                <a:latin typeface="Times"/>
                <a:ea typeface="Times"/>
                <a:cs typeface="Times"/>
                <a:sym typeface="Times"/>
              </a:rPr>
              <a:t> is the space in memory , which used to hold the variables , data structures, allocated memory and other data elements. The data space is related to the size of the problem.</a:t>
            </a:r>
            <a:endParaRPr sz="1900">
              <a:latin typeface="Times"/>
              <a:ea typeface="Times"/>
              <a:cs typeface="Times"/>
              <a:sym typeface="Times"/>
            </a:endParaRPr>
          </a:p>
          <a:p>
            <a:pPr indent="-361950" lvl="1" marL="720000" rtl="0" algn="just">
              <a:spcBef>
                <a:spcPts val="0"/>
              </a:spcBef>
              <a:spcAft>
                <a:spcPts val="0"/>
              </a:spcAft>
              <a:buSzPts val="2100"/>
              <a:buFont typeface="Times"/>
              <a:buChar char="○"/>
            </a:pPr>
            <a:r>
              <a:rPr b="1" lang="en-GB" sz="1900">
                <a:latin typeface="Times"/>
                <a:ea typeface="Times"/>
                <a:cs typeface="Times"/>
                <a:sym typeface="Times"/>
              </a:rPr>
              <a:t>Environment Space</a:t>
            </a:r>
            <a:r>
              <a:rPr lang="en-GB" sz="1900">
                <a:latin typeface="Times"/>
                <a:ea typeface="Times"/>
                <a:cs typeface="Times"/>
                <a:sym typeface="Times"/>
              </a:rPr>
              <a:t> is the space in memory used on the run time stack for each function call. This is related to the run time stack and holds the returning address of the previous function. The memory each function utilises on the stack is a constant as each item on the stack has a return value and pointer on it.</a:t>
            </a:r>
            <a:endParaRPr sz="1900">
              <a:latin typeface="Times"/>
              <a:ea typeface="Times"/>
              <a:cs typeface="Times"/>
              <a:sym typeface="Time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0" name="Shape 250"/>
        <p:cNvGrpSpPr/>
        <p:nvPr/>
      </p:nvGrpSpPr>
      <p:grpSpPr>
        <a:xfrm>
          <a:off x="0" y="0"/>
          <a:ext cx="0" cy="0"/>
          <a:chOff x="0" y="0"/>
          <a:chExt cx="0" cy="0"/>
        </a:xfrm>
      </p:grpSpPr>
      <p:sp>
        <p:nvSpPr>
          <p:cNvPr id="251" name="Google Shape;251;p30"/>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252" name="Google Shape;252;p30"/>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53" name="Google Shape;253;p30"/>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3000">
                <a:solidFill>
                  <a:srgbClr val="2B2C30"/>
                </a:solidFill>
                <a:latin typeface="Times"/>
                <a:ea typeface="Times"/>
                <a:cs typeface="Times"/>
                <a:sym typeface="Times"/>
              </a:rPr>
              <a:t>Space Complexity of Algorithms(Linear Search)</a:t>
            </a:r>
            <a:endParaRPr sz="3800">
              <a:latin typeface="Times"/>
              <a:ea typeface="Times"/>
              <a:cs typeface="Times"/>
              <a:sym typeface="Times"/>
            </a:endParaRPr>
          </a:p>
        </p:txBody>
      </p:sp>
      <p:cxnSp>
        <p:nvCxnSpPr>
          <p:cNvPr id="254" name="Google Shape;254;p30"/>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255" name="Google Shape;255;p30"/>
          <p:cNvSpPr txBox="1"/>
          <p:nvPr/>
        </p:nvSpPr>
        <p:spPr>
          <a:xfrm>
            <a:off x="453200" y="2018000"/>
            <a:ext cx="8340300" cy="2813100"/>
          </a:xfrm>
          <a:prstGeom prst="rect">
            <a:avLst/>
          </a:prstGeom>
          <a:noFill/>
          <a:ln>
            <a:noFill/>
          </a:ln>
        </p:spPr>
        <p:txBody>
          <a:bodyPr anchorCtr="0" anchor="t" bIns="91425" lIns="91425" spcFirstLastPara="1" rIns="91425" wrap="square" tIns="91425">
            <a:noAutofit/>
          </a:bodyPr>
          <a:lstStyle/>
          <a:p>
            <a:pPr indent="-342900" lvl="0" marL="360001" rtl="0" algn="just">
              <a:spcBef>
                <a:spcPts val="900"/>
              </a:spcBef>
              <a:spcAft>
                <a:spcPts val="0"/>
              </a:spcAft>
              <a:buSzPts val="1800"/>
              <a:buFont typeface="Times"/>
              <a:buChar char="➢"/>
            </a:pPr>
            <a:r>
              <a:rPr lang="en-GB" sz="1800">
                <a:latin typeface="Times"/>
                <a:ea typeface="Times"/>
                <a:cs typeface="Times"/>
                <a:sym typeface="Times"/>
              </a:rPr>
              <a:t>Case I:</a:t>
            </a:r>
            <a:endParaRPr sz="1800">
              <a:latin typeface="Times"/>
              <a:ea typeface="Times"/>
              <a:cs typeface="Times"/>
              <a:sym typeface="Times"/>
            </a:endParaRPr>
          </a:p>
          <a:p>
            <a:pPr indent="-336550" lvl="1" marL="914400" rtl="0" algn="just">
              <a:spcBef>
                <a:spcPts val="0"/>
              </a:spcBef>
              <a:spcAft>
                <a:spcPts val="0"/>
              </a:spcAft>
              <a:buSzPts val="1700"/>
              <a:buFont typeface="Times"/>
              <a:buChar char="○"/>
            </a:pPr>
            <a:r>
              <a:rPr lang="en-GB" sz="1700">
                <a:latin typeface="Times"/>
                <a:ea typeface="Times"/>
                <a:cs typeface="Times"/>
                <a:sym typeface="Times"/>
              </a:rPr>
              <a:t>We may find the Searching Item at First Place.</a:t>
            </a:r>
            <a:endParaRPr sz="1700">
              <a:latin typeface="Times"/>
              <a:ea typeface="Times"/>
              <a:cs typeface="Times"/>
              <a:sym typeface="Times"/>
            </a:endParaRPr>
          </a:p>
          <a:p>
            <a:pPr indent="-336550" lvl="1" marL="914400" rtl="0" algn="just">
              <a:spcBef>
                <a:spcPts val="0"/>
              </a:spcBef>
              <a:spcAft>
                <a:spcPts val="0"/>
              </a:spcAft>
              <a:buSzPts val="1700"/>
              <a:buFont typeface="Times"/>
              <a:buChar char="○"/>
            </a:pPr>
            <a:r>
              <a:rPr lang="en-GB" sz="1700">
                <a:latin typeface="Times"/>
                <a:ea typeface="Times"/>
                <a:cs typeface="Times"/>
                <a:sym typeface="Times"/>
              </a:rPr>
              <a:t>No Additional space Required; Space Complexity: O(1); Best Case</a:t>
            </a:r>
            <a:endParaRPr sz="1700">
              <a:latin typeface="Times"/>
              <a:ea typeface="Times"/>
              <a:cs typeface="Times"/>
              <a:sym typeface="Times"/>
            </a:endParaRPr>
          </a:p>
          <a:p>
            <a:pPr indent="-342900" lvl="0" marL="360001" rtl="0" algn="just">
              <a:spcBef>
                <a:spcPts val="0"/>
              </a:spcBef>
              <a:spcAft>
                <a:spcPts val="0"/>
              </a:spcAft>
              <a:buSzPts val="1800"/>
              <a:buFont typeface="Times"/>
              <a:buChar char="➢"/>
            </a:pPr>
            <a:r>
              <a:rPr lang="en-GB" sz="1800">
                <a:latin typeface="Times"/>
                <a:ea typeface="Times"/>
                <a:cs typeface="Times"/>
                <a:sym typeface="Times"/>
              </a:rPr>
              <a:t>Case II:</a:t>
            </a:r>
            <a:endParaRPr sz="1800">
              <a:latin typeface="Times"/>
              <a:ea typeface="Times"/>
              <a:cs typeface="Times"/>
              <a:sym typeface="Times"/>
            </a:endParaRPr>
          </a:p>
          <a:p>
            <a:pPr indent="-336550" lvl="1" marL="914400" rtl="0" algn="just">
              <a:spcBef>
                <a:spcPts val="0"/>
              </a:spcBef>
              <a:spcAft>
                <a:spcPts val="0"/>
              </a:spcAft>
              <a:buSzPts val="1700"/>
              <a:buFont typeface="Times"/>
              <a:buChar char="○"/>
            </a:pPr>
            <a:r>
              <a:rPr lang="en-GB" sz="1700">
                <a:latin typeface="Times"/>
                <a:ea typeface="Times"/>
                <a:cs typeface="Times"/>
                <a:sym typeface="Times"/>
              </a:rPr>
              <a:t>We may find the Searching Item at middle Place.</a:t>
            </a:r>
            <a:endParaRPr sz="1700">
              <a:latin typeface="Times"/>
              <a:ea typeface="Times"/>
              <a:cs typeface="Times"/>
              <a:sym typeface="Times"/>
            </a:endParaRPr>
          </a:p>
          <a:p>
            <a:pPr indent="-336550" lvl="1" marL="914400" rtl="0" algn="just">
              <a:spcBef>
                <a:spcPts val="0"/>
              </a:spcBef>
              <a:spcAft>
                <a:spcPts val="0"/>
              </a:spcAft>
              <a:buSzPts val="1700"/>
              <a:buFont typeface="Times"/>
              <a:buChar char="○"/>
            </a:pPr>
            <a:r>
              <a:rPr lang="en-GB" sz="1700">
                <a:latin typeface="Times"/>
                <a:ea typeface="Times"/>
                <a:cs typeface="Times"/>
                <a:sym typeface="Times"/>
              </a:rPr>
              <a:t>No Additional space Required; Space Complexity: O(1) ; Average Case</a:t>
            </a:r>
            <a:endParaRPr sz="1700">
              <a:latin typeface="Times"/>
              <a:ea typeface="Times"/>
              <a:cs typeface="Times"/>
              <a:sym typeface="Times"/>
            </a:endParaRPr>
          </a:p>
          <a:p>
            <a:pPr indent="-342900" lvl="0" marL="360001" rtl="0" algn="just">
              <a:spcBef>
                <a:spcPts val="0"/>
              </a:spcBef>
              <a:spcAft>
                <a:spcPts val="0"/>
              </a:spcAft>
              <a:buSzPts val="1800"/>
              <a:buFont typeface="Times"/>
              <a:buChar char="➢"/>
            </a:pPr>
            <a:r>
              <a:rPr lang="en-GB" sz="1800">
                <a:latin typeface="Times"/>
                <a:ea typeface="Times"/>
                <a:cs typeface="Times"/>
                <a:sym typeface="Times"/>
              </a:rPr>
              <a:t>Case III:</a:t>
            </a:r>
            <a:endParaRPr sz="1800">
              <a:latin typeface="Times"/>
              <a:ea typeface="Times"/>
              <a:cs typeface="Times"/>
              <a:sym typeface="Times"/>
            </a:endParaRPr>
          </a:p>
          <a:p>
            <a:pPr indent="-336550" lvl="1" marL="914400" rtl="0" algn="just">
              <a:spcBef>
                <a:spcPts val="0"/>
              </a:spcBef>
              <a:spcAft>
                <a:spcPts val="0"/>
              </a:spcAft>
              <a:buSzPts val="1700"/>
              <a:buFont typeface="Times"/>
              <a:buChar char="○"/>
            </a:pPr>
            <a:r>
              <a:rPr lang="en-GB" sz="1700">
                <a:latin typeface="Times"/>
                <a:ea typeface="Times"/>
                <a:cs typeface="Times"/>
                <a:sym typeface="Times"/>
              </a:rPr>
              <a:t>We may find the Searching Item at Last Place.</a:t>
            </a:r>
            <a:endParaRPr sz="1700">
              <a:latin typeface="Times"/>
              <a:ea typeface="Times"/>
              <a:cs typeface="Times"/>
              <a:sym typeface="Times"/>
            </a:endParaRPr>
          </a:p>
          <a:p>
            <a:pPr indent="-336550" lvl="1" marL="914400" rtl="0" algn="just">
              <a:spcBef>
                <a:spcPts val="0"/>
              </a:spcBef>
              <a:spcAft>
                <a:spcPts val="0"/>
              </a:spcAft>
              <a:buSzPts val="1700"/>
              <a:buFont typeface="Times"/>
              <a:buChar char="○"/>
            </a:pPr>
            <a:r>
              <a:rPr lang="en-GB" sz="1700">
                <a:latin typeface="Times"/>
                <a:ea typeface="Times"/>
                <a:cs typeface="Times"/>
                <a:sym typeface="Times"/>
              </a:rPr>
              <a:t>No Additional space Required; Space Complexity: O(1); Worse Case</a:t>
            </a:r>
            <a:endParaRPr sz="1700">
              <a:latin typeface="Times"/>
              <a:ea typeface="Times"/>
              <a:cs typeface="Times"/>
              <a:sym typeface="Times"/>
            </a:endParaRPr>
          </a:p>
        </p:txBody>
      </p:sp>
      <p:graphicFrame>
        <p:nvGraphicFramePr>
          <p:cNvPr id="256" name="Google Shape;256;p30"/>
          <p:cNvGraphicFramePr/>
          <p:nvPr/>
        </p:nvGraphicFramePr>
        <p:xfrm>
          <a:off x="504650" y="1447600"/>
          <a:ext cx="3000000" cy="3000000"/>
        </p:xfrm>
        <a:graphic>
          <a:graphicData uri="http://schemas.openxmlformats.org/drawingml/2006/table">
            <a:tbl>
              <a:tblPr>
                <a:noFill/>
                <a:tableStyleId>{B6BE1013-BC80-4FEF-9545-A56E02D788A3}</a:tableStyleId>
              </a:tblPr>
              <a:tblGrid>
                <a:gridCol w="475875"/>
                <a:gridCol w="462750"/>
                <a:gridCol w="462750"/>
              </a:tblGrid>
              <a:tr h="322600">
                <a:tc>
                  <a:txBody>
                    <a:bodyPr/>
                    <a:lstStyle/>
                    <a:p>
                      <a:pPr indent="0" lvl="0" marL="0" rtl="0" algn="ctr">
                        <a:spcBef>
                          <a:spcPts val="0"/>
                        </a:spcBef>
                        <a:spcAft>
                          <a:spcPts val="0"/>
                        </a:spcAft>
                        <a:buNone/>
                      </a:pPr>
                      <a:r>
                        <a:rPr lang="en-GB" sz="2000">
                          <a:latin typeface="Times"/>
                          <a:ea typeface="Times"/>
                          <a:cs typeface="Times"/>
                          <a:sym typeface="Times"/>
                        </a:rPr>
                        <a:t>5</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a:ea typeface="Times"/>
                          <a:cs typeface="Times"/>
                          <a:sym typeface="Times"/>
                        </a:rPr>
                        <a:t>8</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a:ea typeface="Times"/>
                          <a:cs typeface="Times"/>
                          <a:sym typeface="Times"/>
                        </a:rPr>
                        <a:t>10</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257" name="Google Shape;257;p30"/>
          <p:cNvGraphicFramePr/>
          <p:nvPr/>
        </p:nvGraphicFramePr>
        <p:xfrm>
          <a:off x="1906000" y="1447600"/>
          <a:ext cx="3000000" cy="3000000"/>
        </p:xfrm>
        <a:graphic>
          <a:graphicData uri="http://schemas.openxmlformats.org/drawingml/2006/table">
            <a:tbl>
              <a:tblPr>
                <a:noFill/>
                <a:tableStyleId>{B6BE1013-BC80-4FEF-9545-A56E02D788A3}</a:tableStyleId>
              </a:tblPr>
              <a:tblGrid>
                <a:gridCol w="488000"/>
                <a:gridCol w="456150"/>
              </a:tblGrid>
              <a:tr h="322600">
                <a:tc>
                  <a:txBody>
                    <a:bodyPr/>
                    <a:lstStyle/>
                    <a:p>
                      <a:pPr indent="0" lvl="0" marL="0" rtl="0" algn="ctr">
                        <a:spcBef>
                          <a:spcPts val="0"/>
                        </a:spcBef>
                        <a:spcAft>
                          <a:spcPts val="0"/>
                        </a:spcAft>
                        <a:buNone/>
                      </a:pPr>
                      <a:r>
                        <a:rPr lang="en-GB" sz="2000">
                          <a:latin typeface="Times"/>
                          <a:ea typeface="Times"/>
                          <a:cs typeface="Times"/>
                          <a:sym typeface="Times"/>
                        </a:rPr>
                        <a:t>15</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a:ea typeface="Times"/>
                          <a:cs typeface="Times"/>
                          <a:sym typeface="Times"/>
                        </a:rPr>
                        <a:t>7</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cxnSp>
        <p:nvCxnSpPr>
          <p:cNvPr id="258" name="Google Shape;258;p30"/>
          <p:cNvCxnSpPr/>
          <p:nvPr/>
        </p:nvCxnSpPr>
        <p:spPr>
          <a:xfrm>
            <a:off x="692250" y="1133050"/>
            <a:ext cx="8100" cy="250500"/>
          </a:xfrm>
          <a:prstGeom prst="straightConnector1">
            <a:avLst/>
          </a:prstGeom>
          <a:noFill/>
          <a:ln cap="flat" cmpd="sng" w="38100">
            <a:solidFill>
              <a:srgbClr val="000000"/>
            </a:solidFill>
            <a:prstDash val="solid"/>
            <a:round/>
            <a:headEnd len="med" w="med" type="none"/>
            <a:tailEnd len="med" w="med" type="triangle"/>
          </a:ln>
        </p:spPr>
      </p:cxnSp>
      <p:sp>
        <p:nvSpPr>
          <p:cNvPr id="259" name="Google Shape;259;p30"/>
          <p:cNvSpPr/>
          <p:nvPr/>
        </p:nvSpPr>
        <p:spPr>
          <a:xfrm>
            <a:off x="458825" y="783300"/>
            <a:ext cx="468300" cy="349800"/>
          </a:xfrm>
          <a:prstGeom prst="ellipse">
            <a:avLst/>
          </a:prstGeom>
          <a:solidFill>
            <a:srgbClr val="EEEEEE"/>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solidFill>
                  <a:srgbClr val="0563C1"/>
                </a:solidFill>
                <a:latin typeface="Times"/>
                <a:ea typeface="Times"/>
                <a:cs typeface="Times"/>
                <a:sym typeface="Times"/>
              </a:rPr>
              <a:t>5</a:t>
            </a:r>
            <a:endParaRPr b="1" sz="2000">
              <a:solidFill>
                <a:srgbClr val="0563C1"/>
              </a:solidFill>
              <a:latin typeface="Times"/>
              <a:ea typeface="Times"/>
              <a:cs typeface="Times"/>
              <a:sym typeface="Times"/>
            </a:endParaRPr>
          </a:p>
        </p:txBody>
      </p:sp>
      <p:cxnSp>
        <p:nvCxnSpPr>
          <p:cNvPr id="260" name="Google Shape;260;p30"/>
          <p:cNvCxnSpPr/>
          <p:nvPr/>
        </p:nvCxnSpPr>
        <p:spPr>
          <a:xfrm>
            <a:off x="4502250" y="1133050"/>
            <a:ext cx="8100" cy="250500"/>
          </a:xfrm>
          <a:prstGeom prst="straightConnector1">
            <a:avLst/>
          </a:prstGeom>
          <a:noFill/>
          <a:ln cap="flat" cmpd="sng" w="38100">
            <a:solidFill>
              <a:srgbClr val="000000"/>
            </a:solidFill>
            <a:prstDash val="solid"/>
            <a:round/>
            <a:headEnd len="med" w="med" type="none"/>
            <a:tailEnd len="med" w="med" type="triangle"/>
          </a:ln>
        </p:spPr>
      </p:cxnSp>
      <p:sp>
        <p:nvSpPr>
          <p:cNvPr id="261" name="Google Shape;261;p30"/>
          <p:cNvSpPr/>
          <p:nvPr/>
        </p:nvSpPr>
        <p:spPr>
          <a:xfrm>
            <a:off x="4184875" y="733500"/>
            <a:ext cx="693000" cy="399600"/>
          </a:xfrm>
          <a:prstGeom prst="ellipse">
            <a:avLst/>
          </a:prstGeom>
          <a:solidFill>
            <a:srgbClr val="EEEEEE"/>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solidFill>
                  <a:srgbClr val="0563C1"/>
                </a:solidFill>
                <a:latin typeface="Times"/>
                <a:ea typeface="Times"/>
                <a:cs typeface="Times"/>
                <a:sym typeface="Times"/>
              </a:rPr>
              <a:t>10</a:t>
            </a:r>
            <a:endParaRPr b="1" sz="2000">
              <a:solidFill>
                <a:srgbClr val="0563C1"/>
              </a:solidFill>
              <a:latin typeface="Times"/>
              <a:ea typeface="Times"/>
              <a:cs typeface="Times"/>
              <a:sym typeface="Times"/>
            </a:endParaRPr>
          </a:p>
        </p:txBody>
      </p:sp>
      <p:cxnSp>
        <p:nvCxnSpPr>
          <p:cNvPr id="262" name="Google Shape;262;p30"/>
          <p:cNvCxnSpPr/>
          <p:nvPr/>
        </p:nvCxnSpPr>
        <p:spPr>
          <a:xfrm>
            <a:off x="8464650" y="1133050"/>
            <a:ext cx="8100" cy="250500"/>
          </a:xfrm>
          <a:prstGeom prst="straightConnector1">
            <a:avLst/>
          </a:prstGeom>
          <a:noFill/>
          <a:ln cap="flat" cmpd="sng" w="38100">
            <a:solidFill>
              <a:srgbClr val="000000"/>
            </a:solidFill>
            <a:prstDash val="solid"/>
            <a:round/>
            <a:headEnd len="med" w="med" type="none"/>
            <a:tailEnd len="med" w="med" type="triangle"/>
          </a:ln>
        </p:spPr>
      </p:cxnSp>
      <p:sp>
        <p:nvSpPr>
          <p:cNvPr id="263" name="Google Shape;263;p30"/>
          <p:cNvSpPr/>
          <p:nvPr/>
        </p:nvSpPr>
        <p:spPr>
          <a:xfrm>
            <a:off x="8231225" y="783300"/>
            <a:ext cx="468300" cy="349800"/>
          </a:xfrm>
          <a:prstGeom prst="ellipse">
            <a:avLst/>
          </a:prstGeom>
          <a:solidFill>
            <a:srgbClr val="EEEEEE"/>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solidFill>
                  <a:srgbClr val="0563C1"/>
                </a:solidFill>
                <a:latin typeface="Times"/>
                <a:ea typeface="Times"/>
                <a:cs typeface="Times"/>
                <a:sym typeface="Times"/>
              </a:rPr>
              <a:t>7</a:t>
            </a:r>
            <a:endParaRPr b="1" sz="2000">
              <a:solidFill>
                <a:srgbClr val="0563C1"/>
              </a:solidFill>
              <a:latin typeface="Times"/>
              <a:ea typeface="Times"/>
              <a:cs typeface="Times"/>
              <a:sym typeface="Times"/>
            </a:endParaRPr>
          </a:p>
        </p:txBody>
      </p:sp>
      <p:graphicFrame>
        <p:nvGraphicFramePr>
          <p:cNvPr id="264" name="Google Shape;264;p30"/>
          <p:cNvGraphicFramePr/>
          <p:nvPr/>
        </p:nvGraphicFramePr>
        <p:xfrm>
          <a:off x="3400250" y="1447600"/>
          <a:ext cx="3000000" cy="3000000"/>
        </p:xfrm>
        <a:graphic>
          <a:graphicData uri="http://schemas.openxmlformats.org/drawingml/2006/table">
            <a:tbl>
              <a:tblPr>
                <a:noFill/>
                <a:tableStyleId>{B6BE1013-BC80-4FEF-9545-A56E02D788A3}</a:tableStyleId>
              </a:tblPr>
              <a:tblGrid>
                <a:gridCol w="475875"/>
                <a:gridCol w="462750"/>
                <a:gridCol w="462750"/>
              </a:tblGrid>
              <a:tr h="322600">
                <a:tc>
                  <a:txBody>
                    <a:bodyPr/>
                    <a:lstStyle/>
                    <a:p>
                      <a:pPr indent="0" lvl="0" marL="0" rtl="0" algn="ctr">
                        <a:spcBef>
                          <a:spcPts val="0"/>
                        </a:spcBef>
                        <a:spcAft>
                          <a:spcPts val="0"/>
                        </a:spcAft>
                        <a:buNone/>
                      </a:pPr>
                      <a:r>
                        <a:rPr lang="en-GB" sz="2000">
                          <a:latin typeface="Times"/>
                          <a:ea typeface="Times"/>
                          <a:cs typeface="Times"/>
                          <a:sym typeface="Times"/>
                        </a:rPr>
                        <a:t>5</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a:ea typeface="Times"/>
                          <a:cs typeface="Times"/>
                          <a:sym typeface="Times"/>
                        </a:rPr>
                        <a:t>8</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a:ea typeface="Times"/>
                          <a:cs typeface="Times"/>
                          <a:sym typeface="Times"/>
                        </a:rPr>
                        <a:t>10</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265" name="Google Shape;265;p30"/>
          <p:cNvGraphicFramePr/>
          <p:nvPr/>
        </p:nvGraphicFramePr>
        <p:xfrm>
          <a:off x="4801600" y="1447600"/>
          <a:ext cx="3000000" cy="3000000"/>
        </p:xfrm>
        <a:graphic>
          <a:graphicData uri="http://schemas.openxmlformats.org/drawingml/2006/table">
            <a:tbl>
              <a:tblPr>
                <a:noFill/>
                <a:tableStyleId>{B6BE1013-BC80-4FEF-9545-A56E02D788A3}</a:tableStyleId>
              </a:tblPr>
              <a:tblGrid>
                <a:gridCol w="488000"/>
                <a:gridCol w="456150"/>
              </a:tblGrid>
              <a:tr h="322600">
                <a:tc>
                  <a:txBody>
                    <a:bodyPr/>
                    <a:lstStyle/>
                    <a:p>
                      <a:pPr indent="0" lvl="0" marL="0" rtl="0" algn="ctr">
                        <a:spcBef>
                          <a:spcPts val="0"/>
                        </a:spcBef>
                        <a:spcAft>
                          <a:spcPts val="0"/>
                        </a:spcAft>
                        <a:buNone/>
                      </a:pPr>
                      <a:r>
                        <a:rPr lang="en-GB" sz="2000">
                          <a:latin typeface="Times"/>
                          <a:ea typeface="Times"/>
                          <a:cs typeface="Times"/>
                          <a:sym typeface="Times"/>
                        </a:rPr>
                        <a:t>15</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a:ea typeface="Times"/>
                          <a:cs typeface="Times"/>
                          <a:sym typeface="Times"/>
                        </a:rPr>
                        <a:t>7</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266" name="Google Shape;266;p30"/>
          <p:cNvGraphicFramePr/>
          <p:nvPr/>
        </p:nvGraphicFramePr>
        <p:xfrm>
          <a:off x="6448250" y="1447600"/>
          <a:ext cx="3000000" cy="3000000"/>
        </p:xfrm>
        <a:graphic>
          <a:graphicData uri="http://schemas.openxmlformats.org/drawingml/2006/table">
            <a:tbl>
              <a:tblPr>
                <a:noFill/>
                <a:tableStyleId>{B6BE1013-BC80-4FEF-9545-A56E02D788A3}</a:tableStyleId>
              </a:tblPr>
              <a:tblGrid>
                <a:gridCol w="475875"/>
                <a:gridCol w="462750"/>
                <a:gridCol w="462750"/>
              </a:tblGrid>
              <a:tr h="322600">
                <a:tc>
                  <a:txBody>
                    <a:bodyPr/>
                    <a:lstStyle/>
                    <a:p>
                      <a:pPr indent="0" lvl="0" marL="0" rtl="0" algn="ctr">
                        <a:spcBef>
                          <a:spcPts val="0"/>
                        </a:spcBef>
                        <a:spcAft>
                          <a:spcPts val="0"/>
                        </a:spcAft>
                        <a:buNone/>
                      </a:pPr>
                      <a:r>
                        <a:rPr lang="en-GB" sz="2000">
                          <a:latin typeface="Times"/>
                          <a:ea typeface="Times"/>
                          <a:cs typeface="Times"/>
                          <a:sym typeface="Times"/>
                        </a:rPr>
                        <a:t>5</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a:ea typeface="Times"/>
                          <a:cs typeface="Times"/>
                          <a:sym typeface="Times"/>
                        </a:rPr>
                        <a:t>8</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a:ea typeface="Times"/>
                          <a:cs typeface="Times"/>
                          <a:sym typeface="Times"/>
                        </a:rPr>
                        <a:t>10</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267" name="Google Shape;267;p30"/>
          <p:cNvGraphicFramePr/>
          <p:nvPr/>
        </p:nvGraphicFramePr>
        <p:xfrm>
          <a:off x="7849600" y="1447600"/>
          <a:ext cx="3000000" cy="3000000"/>
        </p:xfrm>
        <a:graphic>
          <a:graphicData uri="http://schemas.openxmlformats.org/drawingml/2006/table">
            <a:tbl>
              <a:tblPr>
                <a:noFill/>
                <a:tableStyleId>{B6BE1013-BC80-4FEF-9545-A56E02D788A3}</a:tableStyleId>
              </a:tblPr>
              <a:tblGrid>
                <a:gridCol w="488000"/>
                <a:gridCol w="456150"/>
              </a:tblGrid>
              <a:tr h="322600">
                <a:tc>
                  <a:txBody>
                    <a:bodyPr/>
                    <a:lstStyle/>
                    <a:p>
                      <a:pPr indent="0" lvl="0" marL="0" rtl="0" algn="ctr">
                        <a:spcBef>
                          <a:spcPts val="0"/>
                        </a:spcBef>
                        <a:spcAft>
                          <a:spcPts val="0"/>
                        </a:spcAft>
                        <a:buNone/>
                      </a:pPr>
                      <a:r>
                        <a:rPr lang="en-GB" sz="2000">
                          <a:latin typeface="Times"/>
                          <a:ea typeface="Times"/>
                          <a:cs typeface="Times"/>
                          <a:sym typeface="Times"/>
                        </a:rPr>
                        <a:t>15</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a:ea typeface="Times"/>
                          <a:cs typeface="Times"/>
                          <a:sym typeface="Times"/>
                        </a:rPr>
                        <a:t>7</a:t>
                      </a:r>
                      <a:endParaRPr sz="2000">
                        <a:latin typeface="Times"/>
                        <a:ea typeface="Times"/>
                        <a:cs typeface="Times"/>
                        <a:sym typeface="Time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1" name="Shape 271"/>
        <p:cNvGrpSpPr/>
        <p:nvPr/>
      </p:nvGrpSpPr>
      <p:grpSpPr>
        <a:xfrm>
          <a:off x="0" y="0"/>
          <a:ext cx="0" cy="0"/>
          <a:chOff x="0" y="0"/>
          <a:chExt cx="0" cy="0"/>
        </a:xfrm>
      </p:grpSpPr>
      <p:sp>
        <p:nvSpPr>
          <p:cNvPr id="272" name="Google Shape;272;p31"/>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273" name="Google Shape;273;p31"/>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74" name="Google Shape;274;p31"/>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3000">
                <a:solidFill>
                  <a:srgbClr val="2B2C30"/>
                </a:solidFill>
                <a:latin typeface="Times"/>
                <a:ea typeface="Times"/>
                <a:cs typeface="Times"/>
                <a:sym typeface="Times"/>
              </a:rPr>
              <a:t>Space Complexity of Algorithms</a:t>
            </a:r>
            <a:endParaRPr sz="3800">
              <a:latin typeface="Times"/>
              <a:ea typeface="Times"/>
              <a:cs typeface="Times"/>
              <a:sym typeface="Times"/>
            </a:endParaRPr>
          </a:p>
        </p:txBody>
      </p:sp>
      <p:cxnSp>
        <p:nvCxnSpPr>
          <p:cNvPr id="275" name="Google Shape;275;p31"/>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pic>
        <p:nvPicPr>
          <p:cNvPr id="276" name="Google Shape;276;p31"/>
          <p:cNvPicPr preferRelativeResize="0"/>
          <p:nvPr/>
        </p:nvPicPr>
        <p:blipFill>
          <a:blip r:embed="rId6">
            <a:alphaModFix/>
          </a:blip>
          <a:stretch>
            <a:fillRect/>
          </a:stretch>
        </p:blipFill>
        <p:spPr>
          <a:xfrm>
            <a:off x="402850" y="685100"/>
            <a:ext cx="8395200" cy="40590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0" name="Shape 280"/>
        <p:cNvGrpSpPr/>
        <p:nvPr/>
      </p:nvGrpSpPr>
      <p:grpSpPr>
        <a:xfrm>
          <a:off x="0" y="0"/>
          <a:ext cx="0" cy="0"/>
          <a:chOff x="0" y="0"/>
          <a:chExt cx="0" cy="0"/>
        </a:xfrm>
      </p:grpSpPr>
      <p:sp>
        <p:nvSpPr>
          <p:cNvPr id="281" name="Google Shape;281;p32"/>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282" name="Google Shape;282;p32"/>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83" name="Google Shape;283;p32"/>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rtl="0" algn="ctr">
              <a:lnSpc>
                <a:spcPct val="140010"/>
              </a:lnSpc>
              <a:spcBef>
                <a:spcPts val="0"/>
              </a:spcBef>
              <a:spcAft>
                <a:spcPts val="0"/>
              </a:spcAft>
              <a:buNone/>
            </a:pPr>
            <a:r>
              <a:rPr b="1" lang="en-GB" sz="3000">
                <a:solidFill>
                  <a:srgbClr val="2B2C30"/>
                </a:solidFill>
                <a:latin typeface="Times"/>
                <a:ea typeface="Times"/>
                <a:cs typeface="Times"/>
                <a:sym typeface="Times"/>
              </a:rPr>
              <a:t>Big O Notation (O)</a:t>
            </a:r>
            <a:endParaRPr b="1" sz="3000">
              <a:solidFill>
                <a:srgbClr val="2B2C30"/>
              </a:solidFill>
              <a:latin typeface="Times"/>
              <a:ea typeface="Times"/>
              <a:cs typeface="Times"/>
              <a:sym typeface="Times"/>
            </a:endParaRPr>
          </a:p>
        </p:txBody>
      </p:sp>
      <p:cxnSp>
        <p:nvCxnSpPr>
          <p:cNvPr id="284" name="Google Shape;284;p32"/>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285" name="Google Shape;285;p32"/>
          <p:cNvSpPr txBox="1"/>
          <p:nvPr/>
        </p:nvSpPr>
        <p:spPr>
          <a:xfrm>
            <a:off x="548725" y="676200"/>
            <a:ext cx="8244900" cy="4155000"/>
          </a:xfrm>
          <a:prstGeom prst="rect">
            <a:avLst/>
          </a:prstGeom>
          <a:noFill/>
          <a:ln>
            <a:noFill/>
          </a:ln>
        </p:spPr>
        <p:txBody>
          <a:bodyPr anchorCtr="0" anchor="t" bIns="91425" lIns="91425" spcFirstLastPara="1" rIns="91425" wrap="square" tIns="91425">
            <a:noAutofit/>
          </a:bodyPr>
          <a:lstStyle/>
          <a:p>
            <a:pPr indent="-342900" lvl="0" marL="360001" rtl="0" algn="l">
              <a:lnSpc>
                <a:spcPct val="100000"/>
              </a:lnSpc>
              <a:spcBef>
                <a:spcPts val="900"/>
              </a:spcBef>
              <a:spcAft>
                <a:spcPts val="0"/>
              </a:spcAft>
              <a:buSzPts val="1800"/>
              <a:buChar char="➢"/>
            </a:pPr>
            <a:r>
              <a:rPr lang="en-GB" sz="1800">
                <a:latin typeface="Times"/>
                <a:ea typeface="Times"/>
                <a:cs typeface="Times"/>
                <a:sym typeface="Times"/>
              </a:rPr>
              <a:t>It describes the worst-case time complexity, The maximum time an algorithm can take.</a:t>
            </a:r>
            <a:endParaRPr sz="1800">
              <a:latin typeface="Times"/>
              <a:ea typeface="Times"/>
              <a:cs typeface="Times"/>
              <a:sym typeface="Times"/>
            </a:endParaRPr>
          </a:p>
          <a:p>
            <a:pPr indent="-342900" lvl="0" marL="360001" rtl="0" algn="l">
              <a:lnSpc>
                <a:spcPct val="100000"/>
              </a:lnSpc>
              <a:spcBef>
                <a:spcPts val="0"/>
              </a:spcBef>
              <a:spcAft>
                <a:spcPts val="0"/>
              </a:spcAft>
              <a:buSzPts val="1800"/>
              <a:buChar char="➢"/>
            </a:pPr>
            <a:r>
              <a:rPr lang="en-GB" sz="1800">
                <a:latin typeface="Times"/>
                <a:ea typeface="Times"/>
                <a:cs typeface="Times"/>
                <a:sym typeface="Times"/>
              </a:rPr>
              <a:t>It provides an upper bound on the growth rate of the algorithm.</a:t>
            </a:r>
            <a:endParaRPr sz="1800">
              <a:latin typeface="Times"/>
              <a:ea typeface="Times"/>
              <a:cs typeface="Times"/>
              <a:sym typeface="Times"/>
            </a:endParaRPr>
          </a:p>
          <a:p>
            <a:pPr indent="-342900" lvl="0" marL="360001" rtl="0" algn="l">
              <a:lnSpc>
                <a:spcPct val="100000"/>
              </a:lnSpc>
              <a:spcBef>
                <a:spcPts val="0"/>
              </a:spcBef>
              <a:spcAft>
                <a:spcPts val="0"/>
              </a:spcAft>
              <a:buSzPts val="1800"/>
              <a:buFont typeface="Times"/>
              <a:buChar char="➢"/>
            </a:pPr>
            <a:r>
              <a:rPr lang="en-GB" sz="1800">
                <a:latin typeface="Times"/>
                <a:ea typeface="Times"/>
                <a:cs typeface="Times"/>
                <a:sym typeface="Times"/>
              </a:rPr>
              <a:t>Example:</a:t>
            </a:r>
            <a:endParaRPr sz="1800">
              <a:latin typeface="Times"/>
              <a:ea typeface="Times"/>
              <a:cs typeface="Times"/>
              <a:sym typeface="Times"/>
            </a:endParaRPr>
          </a:p>
          <a:p>
            <a:pPr indent="-342900" lvl="1" marL="720000" rtl="0" algn="l">
              <a:lnSpc>
                <a:spcPct val="100000"/>
              </a:lnSpc>
              <a:spcBef>
                <a:spcPts val="0"/>
              </a:spcBef>
              <a:spcAft>
                <a:spcPts val="0"/>
              </a:spcAft>
              <a:buSzPts val="1800"/>
              <a:buChar char="○"/>
            </a:pPr>
            <a:r>
              <a:rPr lang="en-GB" sz="1800">
                <a:latin typeface="Times"/>
                <a:ea typeface="Times"/>
                <a:cs typeface="Times"/>
                <a:sym typeface="Times"/>
              </a:rPr>
              <a:t>If an algorithm takes 3n² + 2n + 1 operations, we write O(n²).</a:t>
            </a:r>
            <a:endParaRPr sz="1800">
              <a:latin typeface="Times"/>
              <a:ea typeface="Times"/>
              <a:cs typeface="Times"/>
              <a:sym typeface="Times"/>
            </a:endParaRPr>
          </a:p>
          <a:p>
            <a:pPr indent="-342900" lvl="1" marL="720000" rtl="0" algn="l">
              <a:lnSpc>
                <a:spcPct val="100000"/>
              </a:lnSpc>
              <a:spcBef>
                <a:spcPts val="0"/>
              </a:spcBef>
              <a:spcAft>
                <a:spcPts val="0"/>
              </a:spcAft>
              <a:buSzPts val="1800"/>
              <a:buChar char="○"/>
            </a:pPr>
            <a:r>
              <a:rPr lang="en-GB" sz="1800">
                <a:latin typeface="Times"/>
                <a:ea typeface="Times"/>
                <a:cs typeface="Times"/>
                <a:sym typeface="Times"/>
              </a:rPr>
              <a:t>Common notations: </a:t>
            </a:r>
            <a:endParaRPr sz="1800">
              <a:latin typeface="Times"/>
              <a:ea typeface="Times"/>
              <a:cs typeface="Times"/>
              <a:sym typeface="Times"/>
            </a:endParaRPr>
          </a:p>
          <a:p>
            <a:pPr indent="-342900" lvl="2" marL="1371600" rtl="0" algn="l">
              <a:lnSpc>
                <a:spcPct val="100000"/>
              </a:lnSpc>
              <a:spcBef>
                <a:spcPts val="0"/>
              </a:spcBef>
              <a:spcAft>
                <a:spcPts val="0"/>
              </a:spcAft>
              <a:buSzPts val="1800"/>
              <a:buChar char="■"/>
            </a:pPr>
            <a:r>
              <a:rPr lang="en-GB" sz="1800">
                <a:latin typeface="Times"/>
                <a:ea typeface="Times"/>
                <a:cs typeface="Times"/>
                <a:sym typeface="Times"/>
              </a:rPr>
              <a:t>O(1) : (constant)</a:t>
            </a:r>
            <a:endParaRPr sz="1800">
              <a:latin typeface="Times"/>
              <a:ea typeface="Times"/>
              <a:cs typeface="Times"/>
              <a:sym typeface="Times"/>
            </a:endParaRPr>
          </a:p>
          <a:p>
            <a:pPr indent="-342900" lvl="2" marL="1371600" rtl="0" algn="l">
              <a:lnSpc>
                <a:spcPct val="100000"/>
              </a:lnSpc>
              <a:spcBef>
                <a:spcPts val="0"/>
              </a:spcBef>
              <a:spcAft>
                <a:spcPts val="0"/>
              </a:spcAft>
              <a:buSzPts val="1800"/>
              <a:buChar char="■"/>
            </a:pPr>
            <a:r>
              <a:rPr lang="en-GB" sz="1800">
                <a:latin typeface="Times"/>
                <a:ea typeface="Times"/>
                <a:cs typeface="Times"/>
                <a:sym typeface="Times"/>
              </a:rPr>
              <a:t>O(log n) : (logarithmic)</a:t>
            </a:r>
            <a:endParaRPr sz="1800">
              <a:latin typeface="Times"/>
              <a:ea typeface="Times"/>
              <a:cs typeface="Times"/>
              <a:sym typeface="Times"/>
            </a:endParaRPr>
          </a:p>
          <a:p>
            <a:pPr indent="-342900" lvl="2" marL="1371600" rtl="0" algn="l">
              <a:lnSpc>
                <a:spcPct val="100000"/>
              </a:lnSpc>
              <a:spcBef>
                <a:spcPts val="0"/>
              </a:spcBef>
              <a:spcAft>
                <a:spcPts val="0"/>
              </a:spcAft>
              <a:buSzPts val="1800"/>
              <a:buChar char="■"/>
            </a:pPr>
            <a:r>
              <a:rPr lang="en-GB" sz="1800">
                <a:latin typeface="Times"/>
                <a:ea typeface="Times"/>
                <a:cs typeface="Times"/>
                <a:sym typeface="Times"/>
              </a:rPr>
              <a:t>O(n) : (linear)</a:t>
            </a:r>
            <a:endParaRPr sz="1800">
              <a:latin typeface="Times"/>
              <a:ea typeface="Times"/>
              <a:cs typeface="Times"/>
              <a:sym typeface="Times"/>
            </a:endParaRPr>
          </a:p>
          <a:p>
            <a:pPr indent="-342900" lvl="2" marL="1371600" rtl="0" algn="l">
              <a:lnSpc>
                <a:spcPct val="100000"/>
              </a:lnSpc>
              <a:spcBef>
                <a:spcPts val="0"/>
              </a:spcBef>
              <a:spcAft>
                <a:spcPts val="0"/>
              </a:spcAft>
              <a:buSzPts val="1800"/>
              <a:buChar char="■"/>
            </a:pPr>
            <a:r>
              <a:rPr lang="en-GB" sz="1800">
                <a:latin typeface="Times"/>
                <a:ea typeface="Times"/>
                <a:cs typeface="Times"/>
                <a:sym typeface="Times"/>
              </a:rPr>
              <a:t>O(n²) : (quadratic)</a:t>
            </a:r>
            <a:endParaRPr sz="1800">
              <a:latin typeface="Times"/>
              <a:ea typeface="Times"/>
              <a:cs typeface="Times"/>
              <a:sym typeface="Times"/>
            </a:endParaRPr>
          </a:p>
          <a:p>
            <a:pPr indent="-342900" lvl="2" marL="1371600" rtl="0" algn="l">
              <a:lnSpc>
                <a:spcPct val="100000"/>
              </a:lnSpc>
              <a:spcBef>
                <a:spcPts val="0"/>
              </a:spcBef>
              <a:spcAft>
                <a:spcPts val="0"/>
              </a:spcAft>
              <a:buSzPts val="1800"/>
              <a:buChar char="■"/>
            </a:pPr>
            <a:r>
              <a:rPr lang="en-GB" sz="1800">
                <a:latin typeface="Times"/>
                <a:ea typeface="Times"/>
                <a:cs typeface="Times"/>
                <a:sym typeface="Times"/>
              </a:rPr>
              <a:t>O(2ⁿ) : (exponential)</a:t>
            </a:r>
            <a:endParaRPr sz="1800">
              <a:latin typeface="Times"/>
              <a:ea typeface="Times"/>
              <a:cs typeface="Times"/>
              <a:sym typeface="Times"/>
            </a:endParaRPr>
          </a:p>
          <a:p>
            <a:pPr indent="0" lvl="0" marL="914400" rtl="0" algn="l">
              <a:lnSpc>
                <a:spcPct val="100000"/>
              </a:lnSpc>
              <a:spcBef>
                <a:spcPts val="900"/>
              </a:spcBef>
              <a:spcAft>
                <a:spcPts val="900"/>
              </a:spcAft>
              <a:buNone/>
            </a:pPr>
            <a:r>
              <a:rPr i="1" lang="en-GB" sz="1800">
                <a:latin typeface="Times"/>
                <a:ea typeface="Times"/>
                <a:cs typeface="Times"/>
                <a:sym typeface="Times"/>
              </a:rPr>
              <a:t>“At most, the algorithm runs this fast.”</a:t>
            </a:r>
            <a:endParaRPr i="1" sz="1800">
              <a:latin typeface="Times"/>
              <a:ea typeface="Times"/>
              <a:cs typeface="Times"/>
              <a:sym typeface="Time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9" name="Shape 289"/>
        <p:cNvGrpSpPr/>
        <p:nvPr/>
      </p:nvGrpSpPr>
      <p:grpSpPr>
        <a:xfrm>
          <a:off x="0" y="0"/>
          <a:ext cx="0" cy="0"/>
          <a:chOff x="0" y="0"/>
          <a:chExt cx="0" cy="0"/>
        </a:xfrm>
      </p:grpSpPr>
      <p:sp>
        <p:nvSpPr>
          <p:cNvPr id="290" name="Google Shape;290;p33"/>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291" name="Google Shape;291;p33"/>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92" name="Google Shape;292;p33"/>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3000">
                <a:solidFill>
                  <a:srgbClr val="2B2C30"/>
                </a:solidFill>
                <a:latin typeface="Times"/>
                <a:ea typeface="Times"/>
                <a:cs typeface="Times"/>
                <a:sym typeface="Times"/>
              </a:rPr>
              <a:t>Big O Notation (O)</a:t>
            </a:r>
            <a:endParaRPr sz="3800">
              <a:latin typeface="Times"/>
              <a:ea typeface="Times"/>
              <a:cs typeface="Times"/>
              <a:sym typeface="Times"/>
            </a:endParaRPr>
          </a:p>
        </p:txBody>
      </p:sp>
      <p:cxnSp>
        <p:nvCxnSpPr>
          <p:cNvPr id="293" name="Google Shape;293;p33"/>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294" name="Google Shape;294;p33"/>
          <p:cNvSpPr txBox="1"/>
          <p:nvPr/>
        </p:nvSpPr>
        <p:spPr>
          <a:xfrm>
            <a:off x="548725" y="676200"/>
            <a:ext cx="8244900" cy="4155000"/>
          </a:xfrm>
          <a:prstGeom prst="rect">
            <a:avLst/>
          </a:prstGeom>
          <a:noFill/>
          <a:ln>
            <a:noFill/>
          </a:ln>
        </p:spPr>
        <p:txBody>
          <a:bodyPr anchorCtr="0" anchor="t" bIns="91425" lIns="91425" spcFirstLastPara="1" rIns="91425" wrap="square" tIns="91425">
            <a:noAutofit/>
          </a:bodyPr>
          <a:lstStyle/>
          <a:p>
            <a:pPr indent="-368300" lvl="0" marL="360001" rtl="0" algn="just">
              <a:spcBef>
                <a:spcPts val="900"/>
              </a:spcBef>
              <a:spcAft>
                <a:spcPts val="0"/>
              </a:spcAft>
              <a:buSzPts val="2200"/>
              <a:buFont typeface="Times"/>
              <a:buChar char="➢"/>
            </a:pPr>
            <a:r>
              <a:t/>
            </a:r>
            <a:endParaRPr sz="1900">
              <a:latin typeface="Times"/>
              <a:ea typeface="Times"/>
              <a:cs typeface="Times"/>
              <a:sym typeface="Times"/>
            </a:endParaRPr>
          </a:p>
        </p:txBody>
      </p:sp>
      <p:pic>
        <p:nvPicPr>
          <p:cNvPr id="295" name="Google Shape;295;p33"/>
          <p:cNvPicPr preferRelativeResize="0"/>
          <p:nvPr/>
        </p:nvPicPr>
        <p:blipFill>
          <a:blip r:embed="rId6">
            <a:alphaModFix/>
          </a:blip>
          <a:stretch>
            <a:fillRect/>
          </a:stretch>
        </p:blipFill>
        <p:spPr>
          <a:xfrm>
            <a:off x="3355025" y="2169050"/>
            <a:ext cx="5443025" cy="2662150"/>
          </a:xfrm>
          <a:prstGeom prst="rect">
            <a:avLst/>
          </a:prstGeom>
          <a:noFill/>
          <a:ln>
            <a:noFill/>
          </a:ln>
        </p:spPr>
      </p:pic>
      <p:pic>
        <p:nvPicPr>
          <p:cNvPr id="296" name="Google Shape;296;p33"/>
          <p:cNvPicPr preferRelativeResize="0"/>
          <p:nvPr/>
        </p:nvPicPr>
        <p:blipFill rotWithShape="1">
          <a:blip r:embed="rId7">
            <a:alphaModFix/>
          </a:blip>
          <a:srcRect b="0" l="0" r="37445" t="0"/>
          <a:stretch/>
        </p:blipFill>
        <p:spPr>
          <a:xfrm>
            <a:off x="402850" y="644800"/>
            <a:ext cx="3647200" cy="22255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0" name="Shape 300"/>
        <p:cNvGrpSpPr/>
        <p:nvPr/>
      </p:nvGrpSpPr>
      <p:grpSpPr>
        <a:xfrm>
          <a:off x="0" y="0"/>
          <a:ext cx="0" cy="0"/>
          <a:chOff x="0" y="0"/>
          <a:chExt cx="0" cy="0"/>
        </a:xfrm>
      </p:grpSpPr>
      <p:sp>
        <p:nvSpPr>
          <p:cNvPr id="301" name="Google Shape;301;p34"/>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302" name="Google Shape;302;p34"/>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03" name="Google Shape;303;p34"/>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3000">
                <a:solidFill>
                  <a:srgbClr val="2B2C30"/>
                </a:solidFill>
                <a:latin typeface="Times"/>
                <a:ea typeface="Times"/>
                <a:cs typeface="Times"/>
                <a:sym typeface="Times"/>
              </a:rPr>
              <a:t>Steps to Find Big O Notation</a:t>
            </a:r>
            <a:endParaRPr sz="3800">
              <a:latin typeface="Times"/>
              <a:ea typeface="Times"/>
              <a:cs typeface="Times"/>
              <a:sym typeface="Times"/>
            </a:endParaRPr>
          </a:p>
        </p:txBody>
      </p:sp>
      <p:cxnSp>
        <p:nvCxnSpPr>
          <p:cNvPr id="304" name="Google Shape;304;p34"/>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305" name="Google Shape;305;p34"/>
          <p:cNvSpPr txBox="1"/>
          <p:nvPr/>
        </p:nvSpPr>
        <p:spPr>
          <a:xfrm>
            <a:off x="548725" y="676200"/>
            <a:ext cx="8244900" cy="4155000"/>
          </a:xfrm>
          <a:prstGeom prst="rect">
            <a:avLst/>
          </a:prstGeom>
          <a:noFill/>
          <a:ln>
            <a:noFill/>
          </a:ln>
        </p:spPr>
        <p:txBody>
          <a:bodyPr anchorCtr="0" anchor="t" bIns="91425" lIns="91425" spcFirstLastPara="1" rIns="91425" wrap="square" tIns="91425">
            <a:noAutofit/>
          </a:bodyPr>
          <a:lstStyle/>
          <a:p>
            <a:pPr indent="-342900" lvl="0" marL="360001" rtl="0" algn="just">
              <a:spcBef>
                <a:spcPts val="0"/>
              </a:spcBef>
              <a:spcAft>
                <a:spcPts val="0"/>
              </a:spcAft>
              <a:buSzPts val="1800"/>
              <a:buFont typeface="Times"/>
              <a:buChar char="➢"/>
            </a:pPr>
            <a:r>
              <a:rPr lang="en-GB" sz="1800">
                <a:latin typeface="Times"/>
                <a:ea typeface="Times"/>
                <a:cs typeface="Times"/>
                <a:sym typeface="Times"/>
              </a:rPr>
              <a:t>Identify the Dominant Term:</a:t>
            </a:r>
            <a:endParaRPr sz="1800">
              <a:latin typeface="Times"/>
              <a:ea typeface="Times"/>
              <a:cs typeface="Times"/>
              <a:sym typeface="Times"/>
            </a:endParaRPr>
          </a:p>
          <a:p>
            <a:pPr indent="-342900" lvl="1" marL="720000" rtl="0" algn="just">
              <a:spcBef>
                <a:spcPts val="0"/>
              </a:spcBef>
              <a:spcAft>
                <a:spcPts val="0"/>
              </a:spcAft>
              <a:buSzPts val="1800"/>
              <a:buFont typeface="Times"/>
              <a:buChar char="○"/>
            </a:pPr>
            <a:r>
              <a:rPr lang="en-GB" sz="1800">
                <a:latin typeface="Times"/>
                <a:ea typeface="Times"/>
                <a:cs typeface="Times"/>
                <a:sym typeface="Times"/>
              </a:rPr>
              <a:t>Examine the function and identify the term with the highest order of growth as the input size increases.</a:t>
            </a:r>
            <a:endParaRPr sz="1800">
              <a:latin typeface="Times"/>
              <a:ea typeface="Times"/>
              <a:cs typeface="Times"/>
              <a:sym typeface="Times"/>
            </a:endParaRPr>
          </a:p>
          <a:p>
            <a:pPr indent="-342900" lvl="1" marL="720000" rtl="0" algn="just">
              <a:spcBef>
                <a:spcPts val="0"/>
              </a:spcBef>
              <a:spcAft>
                <a:spcPts val="0"/>
              </a:spcAft>
              <a:buSzPts val="1800"/>
              <a:buFont typeface="Times"/>
              <a:buChar char="○"/>
            </a:pPr>
            <a:r>
              <a:rPr lang="en-GB" sz="1800">
                <a:latin typeface="Times"/>
                <a:ea typeface="Times"/>
                <a:cs typeface="Times"/>
                <a:sym typeface="Times"/>
              </a:rPr>
              <a:t>Ignore any constant factors or lower-order terms.</a:t>
            </a:r>
            <a:endParaRPr sz="1800">
              <a:latin typeface="Times"/>
              <a:ea typeface="Times"/>
              <a:cs typeface="Times"/>
              <a:sym typeface="Times"/>
            </a:endParaRPr>
          </a:p>
          <a:p>
            <a:pPr indent="-342900" lvl="0" marL="360001" rtl="0" algn="just">
              <a:spcBef>
                <a:spcPts val="0"/>
              </a:spcBef>
              <a:spcAft>
                <a:spcPts val="0"/>
              </a:spcAft>
              <a:buSzPts val="1800"/>
              <a:buFont typeface="Times"/>
              <a:buChar char="➢"/>
            </a:pPr>
            <a:r>
              <a:rPr lang="en-GB" sz="1800">
                <a:latin typeface="Times"/>
                <a:ea typeface="Times"/>
                <a:cs typeface="Times"/>
                <a:sym typeface="Times"/>
              </a:rPr>
              <a:t>Determine the Order of Growth:</a:t>
            </a:r>
            <a:endParaRPr sz="1800">
              <a:latin typeface="Times"/>
              <a:ea typeface="Times"/>
              <a:cs typeface="Times"/>
              <a:sym typeface="Times"/>
            </a:endParaRPr>
          </a:p>
          <a:p>
            <a:pPr indent="-342900" lvl="1" marL="720000" rtl="0" algn="just">
              <a:spcBef>
                <a:spcPts val="0"/>
              </a:spcBef>
              <a:spcAft>
                <a:spcPts val="0"/>
              </a:spcAft>
              <a:buSzPts val="1800"/>
              <a:buFont typeface="Times"/>
              <a:buChar char="○"/>
            </a:pPr>
            <a:r>
              <a:rPr lang="en-GB" sz="1800">
                <a:latin typeface="Times"/>
                <a:ea typeface="Times"/>
                <a:cs typeface="Times"/>
                <a:sym typeface="Times"/>
              </a:rPr>
              <a:t>The order of growth of the dominant term determines the Big O notation.</a:t>
            </a:r>
            <a:endParaRPr sz="1800">
              <a:latin typeface="Times"/>
              <a:ea typeface="Times"/>
              <a:cs typeface="Times"/>
              <a:sym typeface="Times"/>
            </a:endParaRPr>
          </a:p>
          <a:p>
            <a:pPr indent="-342900" lvl="0" marL="360001" rtl="0" algn="just">
              <a:spcBef>
                <a:spcPts val="0"/>
              </a:spcBef>
              <a:spcAft>
                <a:spcPts val="0"/>
              </a:spcAft>
              <a:buSzPts val="1800"/>
              <a:buFont typeface="Times"/>
              <a:buChar char="➢"/>
            </a:pPr>
            <a:r>
              <a:rPr lang="en-GB" sz="1800">
                <a:latin typeface="Times"/>
                <a:ea typeface="Times"/>
                <a:cs typeface="Times"/>
                <a:sym typeface="Times"/>
              </a:rPr>
              <a:t>Write the Big O Notation:</a:t>
            </a:r>
            <a:endParaRPr sz="1800">
              <a:latin typeface="Times"/>
              <a:ea typeface="Times"/>
              <a:cs typeface="Times"/>
              <a:sym typeface="Times"/>
            </a:endParaRPr>
          </a:p>
          <a:p>
            <a:pPr indent="-342900" lvl="1" marL="720000" rtl="0" algn="just">
              <a:spcBef>
                <a:spcPts val="0"/>
              </a:spcBef>
              <a:spcAft>
                <a:spcPts val="0"/>
              </a:spcAft>
              <a:buSzPts val="1800"/>
              <a:buFont typeface="Times"/>
              <a:buChar char="○"/>
            </a:pPr>
            <a:r>
              <a:rPr lang="en-GB" sz="1800">
                <a:latin typeface="Times"/>
                <a:ea typeface="Times"/>
                <a:cs typeface="Times"/>
                <a:sym typeface="Times"/>
              </a:rPr>
              <a:t>The Big O notation is written as O(f(n)), where f(n) represents the dominant term.</a:t>
            </a:r>
            <a:endParaRPr sz="1800">
              <a:latin typeface="Times"/>
              <a:ea typeface="Times"/>
              <a:cs typeface="Times"/>
              <a:sym typeface="Times"/>
            </a:endParaRPr>
          </a:p>
          <a:p>
            <a:pPr indent="457200" lvl="0" marL="0" rtl="0" algn="just">
              <a:spcBef>
                <a:spcPts val="0"/>
              </a:spcBef>
              <a:spcAft>
                <a:spcPts val="0"/>
              </a:spcAft>
              <a:buNone/>
            </a:pPr>
            <a:r>
              <a:rPr i="1" lang="en-GB" sz="1800">
                <a:latin typeface="Times"/>
                <a:ea typeface="Times"/>
                <a:cs typeface="Times"/>
                <a:sym typeface="Times"/>
              </a:rPr>
              <a:t>For example, if the dominant term is n</a:t>
            </a:r>
            <a:r>
              <a:rPr baseline="30000" i="1" lang="en-GB" sz="1800">
                <a:latin typeface="Times"/>
                <a:ea typeface="Times"/>
                <a:cs typeface="Times"/>
                <a:sym typeface="Times"/>
              </a:rPr>
              <a:t>2</a:t>
            </a:r>
            <a:r>
              <a:rPr i="1" lang="en-GB" sz="1800">
                <a:latin typeface="Times"/>
                <a:ea typeface="Times"/>
                <a:cs typeface="Times"/>
                <a:sym typeface="Times"/>
              </a:rPr>
              <a:t>, the Big O notation would be O(n</a:t>
            </a:r>
            <a:r>
              <a:rPr baseline="30000" i="1" lang="en-GB" sz="1800">
                <a:latin typeface="Times"/>
                <a:ea typeface="Times"/>
                <a:cs typeface="Times"/>
                <a:sym typeface="Times"/>
              </a:rPr>
              <a:t>2</a:t>
            </a:r>
            <a:r>
              <a:rPr i="1" lang="en-GB" sz="1800">
                <a:latin typeface="Times"/>
                <a:ea typeface="Times"/>
                <a:cs typeface="Times"/>
                <a:sym typeface="Times"/>
              </a:rPr>
              <a:t>).</a:t>
            </a:r>
            <a:endParaRPr i="1" sz="1800">
              <a:latin typeface="Times"/>
              <a:ea typeface="Times"/>
              <a:cs typeface="Times"/>
              <a:sym typeface="Times"/>
            </a:endParaRPr>
          </a:p>
          <a:p>
            <a:pPr indent="-342900" lvl="0" marL="360001" rtl="0" algn="just">
              <a:spcBef>
                <a:spcPts val="0"/>
              </a:spcBef>
              <a:spcAft>
                <a:spcPts val="0"/>
              </a:spcAft>
              <a:buSzPts val="1800"/>
              <a:buFont typeface="Times"/>
              <a:buChar char="➢"/>
            </a:pPr>
            <a:r>
              <a:rPr lang="en-GB" sz="1800">
                <a:latin typeface="Times"/>
                <a:ea typeface="Times"/>
                <a:cs typeface="Times"/>
                <a:sym typeface="Times"/>
              </a:rPr>
              <a:t>Simplify the Notation (Optional):</a:t>
            </a:r>
            <a:endParaRPr sz="1800">
              <a:latin typeface="Times"/>
              <a:ea typeface="Times"/>
              <a:cs typeface="Times"/>
              <a:sym typeface="Times"/>
            </a:endParaRPr>
          </a:p>
          <a:p>
            <a:pPr indent="-342900" lvl="1" marL="720000" rtl="0" algn="just">
              <a:spcBef>
                <a:spcPts val="0"/>
              </a:spcBef>
              <a:spcAft>
                <a:spcPts val="0"/>
              </a:spcAft>
              <a:buSzPts val="1800"/>
              <a:buFont typeface="Times"/>
              <a:buChar char="○"/>
            </a:pPr>
            <a:r>
              <a:rPr lang="en-GB" sz="1800">
                <a:latin typeface="Times"/>
                <a:ea typeface="Times"/>
                <a:cs typeface="Times"/>
                <a:sym typeface="Times"/>
              </a:rPr>
              <a:t>In some cases, the Big O notation can be simplified by removing constant factors or by using a more concise notation.</a:t>
            </a:r>
            <a:endParaRPr sz="1800">
              <a:latin typeface="Times"/>
              <a:ea typeface="Times"/>
              <a:cs typeface="Times"/>
              <a:sym typeface="Times"/>
            </a:endParaRPr>
          </a:p>
          <a:p>
            <a:pPr indent="-342900" lvl="1" marL="720000" rtl="0" algn="just">
              <a:spcBef>
                <a:spcPts val="0"/>
              </a:spcBef>
              <a:spcAft>
                <a:spcPts val="0"/>
              </a:spcAft>
              <a:buSzPts val="1800"/>
              <a:buFont typeface="Times"/>
              <a:buChar char="○"/>
            </a:pPr>
            <a:r>
              <a:rPr lang="en-GB" sz="1800">
                <a:latin typeface="Times"/>
                <a:ea typeface="Times"/>
                <a:cs typeface="Times"/>
                <a:sym typeface="Times"/>
              </a:rPr>
              <a:t>For instance, O(2n) can be simplified to O(n)</a:t>
            </a:r>
            <a:endParaRPr sz="1900">
              <a:latin typeface="Times"/>
              <a:ea typeface="Times"/>
              <a:cs typeface="Times"/>
              <a:sym typeface="Time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9" name="Shape 309"/>
        <p:cNvGrpSpPr/>
        <p:nvPr/>
      </p:nvGrpSpPr>
      <p:grpSpPr>
        <a:xfrm>
          <a:off x="0" y="0"/>
          <a:ext cx="0" cy="0"/>
          <a:chOff x="0" y="0"/>
          <a:chExt cx="0" cy="0"/>
        </a:xfrm>
      </p:grpSpPr>
      <p:sp>
        <p:nvSpPr>
          <p:cNvPr id="310" name="Google Shape;310;p35"/>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311" name="Google Shape;311;p35"/>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12" name="Google Shape;312;p35"/>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rtl="0" algn="ctr">
              <a:lnSpc>
                <a:spcPct val="140010"/>
              </a:lnSpc>
              <a:spcBef>
                <a:spcPts val="0"/>
              </a:spcBef>
              <a:spcAft>
                <a:spcPts val="0"/>
              </a:spcAft>
              <a:buNone/>
            </a:pPr>
            <a:r>
              <a:rPr b="1" lang="en-GB" sz="3000">
                <a:solidFill>
                  <a:srgbClr val="2B2C30"/>
                </a:solidFill>
                <a:latin typeface="Times"/>
                <a:ea typeface="Times"/>
                <a:cs typeface="Times"/>
                <a:sym typeface="Times"/>
              </a:rPr>
              <a:t>Steps to Find Big O Notation</a:t>
            </a:r>
            <a:r>
              <a:rPr lang="en-GB" sz="3800">
                <a:latin typeface="Times"/>
                <a:ea typeface="Times"/>
                <a:cs typeface="Times"/>
                <a:sym typeface="Times"/>
              </a:rPr>
              <a:t>: </a:t>
            </a:r>
            <a:r>
              <a:rPr lang="en-GB" sz="3000">
                <a:latin typeface="Times"/>
                <a:ea typeface="Times"/>
                <a:cs typeface="Times"/>
                <a:sym typeface="Times"/>
              </a:rPr>
              <a:t>Example</a:t>
            </a:r>
            <a:endParaRPr b="1" sz="3000">
              <a:solidFill>
                <a:srgbClr val="2B2C30"/>
              </a:solidFill>
              <a:latin typeface="Times"/>
              <a:ea typeface="Times"/>
              <a:cs typeface="Times"/>
              <a:sym typeface="Times"/>
            </a:endParaRPr>
          </a:p>
        </p:txBody>
      </p:sp>
      <p:cxnSp>
        <p:nvCxnSpPr>
          <p:cNvPr id="313" name="Google Shape;313;p35"/>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314" name="Google Shape;314;p35"/>
          <p:cNvSpPr txBox="1"/>
          <p:nvPr/>
        </p:nvSpPr>
        <p:spPr>
          <a:xfrm>
            <a:off x="548725" y="676200"/>
            <a:ext cx="8244900" cy="4155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GB" sz="1800">
                <a:latin typeface="Times"/>
                <a:ea typeface="Times"/>
                <a:cs typeface="Times"/>
                <a:sym typeface="Times"/>
              </a:rPr>
              <a:t>Function: f(n) = 3n</a:t>
            </a:r>
            <a:r>
              <a:rPr baseline="30000" lang="en-GB" sz="1800">
                <a:latin typeface="Times"/>
                <a:ea typeface="Times"/>
                <a:cs typeface="Times"/>
                <a:sym typeface="Times"/>
              </a:rPr>
              <a:t>3</a:t>
            </a:r>
            <a:r>
              <a:rPr lang="en-GB" sz="1800">
                <a:latin typeface="Times"/>
                <a:ea typeface="Times"/>
                <a:cs typeface="Times"/>
                <a:sym typeface="Times"/>
              </a:rPr>
              <a:t> + 2n</a:t>
            </a:r>
            <a:r>
              <a:rPr baseline="30000" lang="en-GB" sz="1800">
                <a:latin typeface="Times"/>
                <a:ea typeface="Times"/>
                <a:cs typeface="Times"/>
                <a:sym typeface="Times"/>
              </a:rPr>
              <a:t>2</a:t>
            </a:r>
            <a:r>
              <a:rPr lang="en-GB" sz="1800">
                <a:latin typeface="Times"/>
                <a:ea typeface="Times"/>
                <a:cs typeface="Times"/>
                <a:sym typeface="Times"/>
              </a:rPr>
              <a:t> + 5n + 1</a:t>
            </a:r>
            <a:endParaRPr sz="1800">
              <a:latin typeface="Times"/>
              <a:ea typeface="Times"/>
              <a:cs typeface="Times"/>
              <a:sym typeface="Times"/>
            </a:endParaRPr>
          </a:p>
          <a:p>
            <a:pPr indent="-228600" lvl="1" marL="685800" rtl="0" algn="just">
              <a:spcBef>
                <a:spcPts val="0"/>
              </a:spcBef>
              <a:spcAft>
                <a:spcPts val="0"/>
              </a:spcAft>
              <a:buSzPts val="1800"/>
              <a:buFont typeface="Times"/>
              <a:buChar char="◆"/>
            </a:pPr>
            <a:r>
              <a:rPr lang="en-GB" sz="1800">
                <a:latin typeface="Times"/>
                <a:ea typeface="Times"/>
                <a:cs typeface="Times"/>
                <a:sym typeface="Times"/>
              </a:rPr>
              <a:t>Dominant Term: 3n</a:t>
            </a:r>
            <a:r>
              <a:rPr baseline="30000" lang="en-GB" sz="1800">
                <a:latin typeface="Times"/>
                <a:ea typeface="Times"/>
                <a:cs typeface="Times"/>
                <a:sym typeface="Times"/>
              </a:rPr>
              <a:t>3</a:t>
            </a:r>
            <a:endParaRPr baseline="30000" sz="1800">
              <a:latin typeface="Times"/>
              <a:ea typeface="Times"/>
              <a:cs typeface="Times"/>
              <a:sym typeface="Times"/>
            </a:endParaRPr>
          </a:p>
          <a:p>
            <a:pPr indent="-228600" lvl="1" marL="685800" rtl="0" algn="just">
              <a:spcBef>
                <a:spcPts val="0"/>
              </a:spcBef>
              <a:spcAft>
                <a:spcPts val="0"/>
              </a:spcAft>
              <a:buSzPts val="1800"/>
              <a:buFont typeface="Times"/>
              <a:buChar char="◆"/>
            </a:pPr>
            <a:r>
              <a:rPr lang="en-GB" sz="1800">
                <a:latin typeface="Times"/>
                <a:ea typeface="Times"/>
                <a:cs typeface="Times"/>
                <a:sym typeface="Times"/>
              </a:rPr>
              <a:t>Order of Growth: Cubic (n</a:t>
            </a:r>
            <a:r>
              <a:rPr baseline="30000" lang="en-GB" sz="1800">
                <a:latin typeface="Times"/>
                <a:ea typeface="Times"/>
                <a:cs typeface="Times"/>
                <a:sym typeface="Times"/>
              </a:rPr>
              <a:t>3</a:t>
            </a:r>
            <a:r>
              <a:rPr lang="en-GB" sz="1800">
                <a:latin typeface="Times"/>
                <a:ea typeface="Times"/>
                <a:cs typeface="Times"/>
                <a:sym typeface="Times"/>
              </a:rPr>
              <a:t>)</a:t>
            </a:r>
            <a:endParaRPr sz="1800">
              <a:latin typeface="Times"/>
              <a:ea typeface="Times"/>
              <a:cs typeface="Times"/>
              <a:sym typeface="Times"/>
            </a:endParaRPr>
          </a:p>
          <a:p>
            <a:pPr indent="-228600" lvl="1" marL="685800" rtl="0" algn="just">
              <a:spcBef>
                <a:spcPts val="0"/>
              </a:spcBef>
              <a:spcAft>
                <a:spcPts val="0"/>
              </a:spcAft>
              <a:buSzPts val="1800"/>
              <a:buFont typeface="Times"/>
              <a:buChar char="◆"/>
            </a:pPr>
            <a:r>
              <a:rPr lang="en-GB" sz="1800">
                <a:latin typeface="Times"/>
                <a:ea typeface="Times"/>
                <a:cs typeface="Times"/>
                <a:sym typeface="Times"/>
              </a:rPr>
              <a:t>Big O Notation: O(n</a:t>
            </a:r>
            <a:r>
              <a:rPr baseline="30000" lang="en-GB" sz="1800">
                <a:latin typeface="Times"/>
                <a:ea typeface="Times"/>
                <a:cs typeface="Times"/>
                <a:sym typeface="Times"/>
              </a:rPr>
              <a:t>3</a:t>
            </a:r>
            <a:r>
              <a:rPr lang="en-GB" sz="1800">
                <a:latin typeface="Times"/>
                <a:ea typeface="Times"/>
                <a:cs typeface="Times"/>
                <a:sym typeface="Times"/>
              </a:rPr>
              <a:t>)</a:t>
            </a:r>
            <a:endParaRPr sz="1800">
              <a:latin typeface="Times"/>
              <a:ea typeface="Times"/>
              <a:cs typeface="Times"/>
              <a:sym typeface="Times"/>
            </a:endParaRPr>
          </a:p>
          <a:p>
            <a:pPr indent="-228600" lvl="1" marL="685800" rtl="0" algn="just">
              <a:spcBef>
                <a:spcPts val="0"/>
              </a:spcBef>
              <a:spcAft>
                <a:spcPts val="0"/>
              </a:spcAft>
              <a:buSzPts val="1800"/>
              <a:buFont typeface="Times"/>
              <a:buChar char="◆"/>
            </a:pPr>
            <a:r>
              <a:rPr lang="en-GB" sz="1800">
                <a:latin typeface="Times"/>
                <a:ea typeface="Times"/>
                <a:cs typeface="Times"/>
                <a:sym typeface="Times"/>
              </a:rPr>
              <a:t>Simplified Notation: O(n</a:t>
            </a:r>
            <a:r>
              <a:rPr baseline="30000" lang="en-GB" sz="1800">
                <a:latin typeface="Times"/>
                <a:ea typeface="Times"/>
                <a:cs typeface="Times"/>
                <a:sym typeface="Times"/>
              </a:rPr>
              <a:t>3</a:t>
            </a:r>
            <a:r>
              <a:rPr lang="en-GB" sz="1800">
                <a:latin typeface="Times"/>
                <a:ea typeface="Times"/>
                <a:cs typeface="Times"/>
                <a:sym typeface="Times"/>
              </a:rPr>
              <a:t>)</a:t>
            </a:r>
            <a:endParaRPr sz="1800">
              <a:latin typeface="Times"/>
              <a:ea typeface="Times"/>
              <a:cs typeface="Times"/>
              <a:sym typeface="Time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8" name="Shape 318"/>
        <p:cNvGrpSpPr/>
        <p:nvPr/>
      </p:nvGrpSpPr>
      <p:grpSpPr>
        <a:xfrm>
          <a:off x="0" y="0"/>
          <a:ext cx="0" cy="0"/>
          <a:chOff x="0" y="0"/>
          <a:chExt cx="0" cy="0"/>
        </a:xfrm>
      </p:grpSpPr>
      <p:sp>
        <p:nvSpPr>
          <p:cNvPr id="319" name="Google Shape;319;p36"/>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320" name="Google Shape;320;p36"/>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21" name="Google Shape;321;p36"/>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3000">
                <a:solidFill>
                  <a:srgbClr val="2B2C30"/>
                </a:solidFill>
                <a:latin typeface="Times"/>
                <a:ea typeface="Times"/>
                <a:cs typeface="Times"/>
                <a:sym typeface="Times"/>
              </a:rPr>
              <a:t>Theta Notation </a:t>
            </a:r>
            <a:r>
              <a:rPr b="1" lang="en-GB" sz="3000">
                <a:latin typeface="Times"/>
                <a:ea typeface="Times"/>
                <a:cs typeface="Times"/>
                <a:sym typeface="Times"/>
              </a:rPr>
              <a:t>(Θ)</a:t>
            </a:r>
            <a:endParaRPr sz="3000">
              <a:latin typeface="Times"/>
              <a:ea typeface="Times"/>
              <a:cs typeface="Times"/>
              <a:sym typeface="Times"/>
            </a:endParaRPr>
          </a:p>
        </p:txBody>
      </p:sp>
      <p:cxnSp>
        <p:nvCxnSpPr>
          <p:cNvPr id="322" name="Google Shape;322;p36"/>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323" name="Google Shape;323;p36"/>
          <p:cNvSpPr txBox="1"/>
          <p:nvPr/>
        </p:nvSpPr>
        <p:spPr>
          <a:xfrm>
            <a:off x="548725" y="676200"/>
            <a:ext cx="8244900" cy="4155000"/>
          </a:xfrm>
          <a:prstGeom prst="rect">
            <a:avLst/>
          </a:prstGeom>
          <a:noFill/>
          <a:ln>
            <a:noFill/>
          </a:ln>
        </p:spPr>
        <p:txBody>
          <a:bodyPr anchorCtr="0" anchor="t" bIns="91425" lIns="91425" spcFirstLastPara="1" rIns="91425" wrap="square" tIns="91425">
            <a:noAutofit/>
          </a:bodyPr>
          <a:lstStyle/>
          <a:p>
            <a:pPr indent="-342900" lvl="0" marL="360001" rtl="0" algn="l">
              <a:lnSpc>
                <a:spcPct val="100000"/>
              </a:lnSpc>
              <a:spcBef>
                <a:spcPts val="900"/>
              </a:spcBef>
              <a:spcAft>
                <a:spcPts val="0"/>
              </a:spcAft>
              <a:buSzPts val="1800"/>
              <a:buChar char="➢"/>
            </a:pPr>
            <a:r>
              <a:rPr lang="en-GB" sz="1800">
                <a:latin typeface="Times"/>
                <a:ea typeface="Times"/>
                <a:cs typeface="Times"/>
                <a:sym typeface="Times"/>
              </a:rPr>
              <a:t>It describes the average-case or exact time complexity when an algorithm’s running time is the same in both the upper and lower bounds.</a:t>
            </a:r>
            <a:endParaRPr sz="1800">
              <a:latin typeface="Times"/>
              <a:ea typeface="Times"/>
              <a:cs typeface="Times"/>
              <a:sym typeface="Times"/>
            </a:endParaRPr>
          </a:p>
          <a:p>
            <a:pPr indent="-342900" lvl="0" marL="360001" rtl="0" algn="l">
              <a:lnSpc>
                <a:spcPct val="100000"/>
              </a:lnSpc>
              <a:spcBef>
                <a:spcPts val="0"/>
              </a:spcBef>
              <a:spcAft>
                <a:spcPts val="0"/>
              </a:spcAft>
              <a:buSzPts val="1800"/>
              <a:buChar char="➢"/>
            </a:pPr>
            <a:r>
              <a:rPr lang="en-GB" sz="1800">
                <a:latin typeface="Times"/>
                <a:ea typeface="Times"/>
                <a:cs typeface="Times"/>
                <a:sym typeface="Times"/>
              </a:rPr>
              <a:t>It provides a tight bound, meaning the algorithm takes this amount of time in the average case.</a:t>
            </a:r>
            <a:endParaRPr sz="1800">
              <a:latin typeface="Times"/>
              <a:ea typeface="Times"/>
              <a:cs typeface="Times"/>
              <a:sym typeface="Times"/>
            </a:endParaRPr>
          </a:p>
          <a:p>
            <a:pPr indent="-342900" lvl="0" marL="360001" rtl="0" algn="l">
              <a:lnSpc>
                <a:spcPct val="100000"/>
              </a:lnSpc>
              <a:spcBef>
                <a:spcPts val="0"/>
              </a:spcBef>
              <a:spcAft>
                <a:spcPts val="0"/>
              </a:spcAft>
              <a:buSzPts val="1800"/>
              <a:buFont typeface="Times"/>
              <a:buChar char="➢"/>
            </a:pPr>
            <a:r>
              <a:rPr lang="en-GB" sz="1800">
                <a:latin typeface="Times"/>
                <a:ea typeface="Times"/>
                <a:cs typeface="Times"/>
                <a:sym typeface="Times"/>
              </a:rPr>
              <a:t>Example:</a:t>
            </a:r>
            <a:endParaRPr sz="1800">
              <a:latin typeface="Times"/>
              <a:ea typeface="Times"/>
              <a:cs typeface="Times"/>
              <a:sym typeface="Times"/>
            </a:endParaRPr>
          </a:p>
          <a:p>
            <a:pPr indent="-342900" lvl="1" marL="720000" rtl="0" algn="l">
              <a:lnSpc>
                <a:spcPct val="100000"/>
              </a:lnSpc>
              <a:spcBef>
                <a:spcPts val="0"/>
              </a:spcBef>
              <a:spcAft>
                <a:spcPts val="0"/>
              </a:spcAft>
              <a:buSzPts val="1800"/>
              <a:buChar char="○"/>
            </a:pPr>
            <a:r>
              <a:rPr lang="en-GB" sz="1800">
                <a:latin typeface="Times"/>
                <a:ea typeface="Times"/>
                <a:cs typeface="Times"/>
                <a:sym typeface="Times"/>
              </a:rPr>
              <a:t>For </a:t>
            </a:r>
            <a:r>
              <a:rPr lang="en-GB" sz="1800">
                <a:solidFill>
                  <a:srgbClr val="188038"/>
                </a:solidFill>
                <a:latin typeface="Times"/>
                <a:ea typeface="Times"/>
                <a:cs typeface="Times"/>
                <a:sym typeface="Times"/>
              </a:rPr>
              <a:t>3n² + 2n + 1</a:t>
            </a:r>
            <a:r>
              <a:rPr lang="en-GB" sz="1800">
                <a:latin typeface="Times"/>
                <a:ea typeface="Times"/>
                <a:cs typeface="Times"/>
                <a:sym typeface="Times"/>
              </a:rPr>
              <a:t>, we write Θ(n²) if it behaves like n² for large inputs.</a:t>
            </a:r>
            <a:endParaRPr sz="1800">
              <a:latin typeface="Times"/>
              <a:ea typeface="Times"/>
              <a:cs typeface="Times"/>
              <a:sym typeface="Times"/>
            </a:endParaRPr>
          </a:p>
          <a:p>
            <a:pPr indent="-342900" lvl="1" marL="720000" rtl="0" algn="l">
              <a:lnSpc>
                <a:spcPct val="100000"/>
              </a:lnSpc>
              <a:spcBef>
                <a:spcPts val="0"/>
              </a:spcBef>
              <a:spcAft>
                <a:spcPts val="0"/>
              </a:spcAft>
              <a:buSzPts val="1800"/>
              <a:buChar char="○"/>
            </a:pPr>
            <a:r>
              <a:rPr lang="en-GB" sz="1800">
                <a:latin typeface="Times"/>
                <a:ea typeface="Times"/>
                <a:cs typeface="Times"/>
                <a:sym typeface="Times"/>
              </a:rPr>
              <a:t>Common notations: </a:t>
            </a:r>
            <a:endParaRPr sz="1800">
              <a:latin typeface="Times"/>
              <a:ea typeface="Times"/>
              <a:cs typeface="Times"/>
              <a:sym typeface="Times"/>
            </a:endParaRPr>
          </a:p>
          <a:p>
            <a:pPr indent="-342900" lvl="2" marL="1371600" rtl="0" algn="l">
              <a:lnSpc>
                <a:spcPct val="100000"/>
              </a:lnSpc>
              <a:spcBef>
                <a:spcPts val="0"/>
              </a:spcBef>
              <a:spcAft>
                <a:spcPts val="0"/>
              </a:spcAft>
              <a:buSzPts val="1800"/>
              <a:buChar char="■"/>
            </a:pPr>
            <a:r>
              <a:rPr lang="en-GB" sz="1800">
                <a:latin typeface="Times"/>
                <a:ea typeface="Times"/>
                <a:cs typeface="Times"/>
                <a:sym typeface="Times"/>
              </a:rPr>
              <a:t>Θ(1) : (constant)</a:t>
            </a:r>
            <a:endParaRPr sz="1800">
              <a:latin typeface="Times"/>
              <a:ea typeface="Times"/>
              <a:cs typeface="Times"/>
              <a:sym typeface="Times"/>
            </a:endParaRPr>
          </a:p>
          <a:p>
            <a:pPr indent="-342900" lvl="2" marL="1371600" rtl="0" algn="l">
              <a:lnSpc>
                <a:spcPct val="100000"/>
              </a:lnSpc>
              <a:spcBef>
                <a:spcPts val="0"/>
              </a:spcBef>
              <a:spcAft>
                <a:spcPts val="0"/>
              </a:spcAft>
              <a:buSzPts val="1800"/>
              <a:buChar char="■"/>
            </a:pPr>
            <a:r>
              <a:rPr lang="en-GB" sz="1800">
                <a:latin typeface="Times"/>
                <a:ea typeface="Times"/>
                <a:cs typeface="Times"/>
                <a:sym typeface="Times"/>
              </a:rPr>
              <a:t>Θ(log n) : (logarithmic)</a:t>
            </a:r>
            <a:endParaRPr sz="1800">
              <a:latin typeface="Times"/>
              <a:ea typeface="Times"/>
              <a:cs typeface="Times"/>
              <a:sym typeface="Times"/>
            </a:endParaRPr>
          </a:p>
          <a:p>
            <a:pPr indent="-342900" lvl="2" marL="1371600" rtl="0" algn="l">
              <a:lnSpc>
                <a:spcPct val="100000"/>
              </a:lnSpc>
              <a:spcBef>
                <a:spcPts val="0"/>
              </a:spcBef>
              <a:spcAft>
                <a:spcPts val="0"/>
              </a:spcAft>
              <a:buSzPts val="1800"/>
              <a:buChar char="■"/>
            </a:pPr>
            <a:r>
              <a:rPr lang="en-GB" sz="1800">
                <a:latin typeface="Times"/>
                <a:ea typeface="Times"/>
                <a:cs typeface="Times"/>
                <a:sym typeface="Times"/>
              </a:rPr>
              <a:t>Θ(n) : (linear)</a:t>
            </a:r>
            <a:endParaRPr sz="1800">
              <a:latin typeface="Times"/>
              <a:ea typeface="Times"/>
              <a:cs typeface="Times"/>
              <a:sym typeface="Times"/>
            </a:endParaRPr>
          </a:p>
          <a:p>
            <a:pPr indent="-342900" lvl="2" marL="1371600" rtl="0" algn="l">
              <a:lnSpc>
                <a:spcPct val="100000"/>
              </a:lnSpc>
              <a:spcBef>
                <a:spcPts val="0"/>
              </a:spcBef>
              <a:spcAft>
                <a:spcPts val="0"/>
              </a:spcAft>
              <a:buSzPts val="1800"/>
              <a:buChar char="■"/>
            </a:pPr>
            <a:r>
              <a:rPr lang="en-GB" sz="1800">
                <a:latin typeface="Times"/>
                <a:ea typeface="Times"/>
                <a:cs typeface="Times"/>
                <a:sym typeface="Times"/>
              </a:rPr>
              <a:t>Θ(n log n) : (logarithmic)</a:t>
            </a:r>
            <a:endParaRPr sz="1800">
              <a:latin typeface="Times"/>
              <a:ea typeface="Times"/>
              <a:cs typeface="Times"/>
              <a:sym typeface="Times"/>
            </a:endParaRPr>
          </a:p>
          <a:p>
            <a:pPr indent="-342900" lvl="2" marL="1371600" rtl="0" algn="l">
              <a:lnSpc>
                <a:spcPct val="100000"/>
              </a:lnSpc>
              <a:spcBef>
                <a:spcPts val="0"/>
              </a:spcBef>
              <a:spcAft>
                <a:spcPts val="0"/>
              </a:spcAft>
              <a:buSzPts val="1800"/>
              <a:buChar char="■"/>
            </a:pPr>
            <a:r>
              <a:rPr lang="en-GB" sz="1800">
                <a:latin typeface="Times"/>
                <a:ea typeface="Times"/>
                <a:cs typeface="Times"/>
                <a:sym typeface="Times"/>
              </a:rPr>
              <a:t>Θ(n²) : (exponential)</a:t>
            </a:r>
            <a:endParaRPr sz="1800">
              <a:latin typeface="Times"/>
              <a:ea typeface="Times"/>
              <a:cs typeface="Times"/>
              <a:sym typeface="Times"/>
            </a:endParaRPr>
          </a:p>
          <a:p>
            <a:pPr indent="0" lvl="0" marL="914400" rtl="0" algn="l">
              <a:lnSpc>
                <a:spcPct val="100000"/>
              </a:lnSpc>
              <a:spcBef>
                <a:spcPts val="900"/>
              </a:spcBef>
              <a:spcAft>
                <a:spcPts val="900"/>
              </a:spcAft>
              <a:buNone/>
            </a:pPr>
            <a:r>
              <a:rPr i="1" lang="en-GB" sz="1800">
                <a:latin typeface="Times"/>
                <a:ea typeface="Times"/>
                <a:cs typeface="Times"/>
                <a:sym typeface="Times"/>
              </a:rPr>
              <a:t>“The algorithm runs at this speed on average.”</a:t>
            </a:r>
            <a:endParaRPr i="1" sz="1800">
              <a:latin typeface="Times"/>
              <a:ea typeface="Times"/>
              <a:cs typeface="Times"/>
              <a:sym typeface="Time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7" name="Shape 327"/>
        <p:cNvGrpSpPr/>
        <p:nvPr/>
      </p:nvGrpSpPr>
      <p:grpSpPr>
        <a:xfrm>
          <a:off x="0" y="0"/>
          <a:ext cx="0" cy="0"/>
          <a:chOff x="0" y="0"/>
          <a:chExt cx="0" cy="0"/>
        </a:xfrm>
      </p:grpSpPr>
      <p:sp>
        <p:nvSpPr>
          <p:cNvPr id="328" name="Google Shape;328;p37"/>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329" name="Google Shape;329;p37"/>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30" name="Google Shape;330;p37"/>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3000">
                <a:solidFill>
                  <a:srgbClr val="2B2C30"/>
                </a:solidFill>
                <a:latin typeface="Times"/>
                <a:ea typeface="Times"/>
                <a:cs typeface="Times"/>
                <a:sym typeface="Times"/>
              </a:rPr>
              <a:t>Big Omega Notation </a:t>
            </a:r>
            <a:r>
              <a:rPr b="1" lang="en-GB" sz="3000">
                <a:latin typeface="Times"/>
                <a:ea typeface="Times"/>
                <a:cs typeface="Times"/>
                <a:sym typeface="Times"/>
              </a:rPr>
              <a:t>(Ω)</a:t>
            </a:r>
            <a:endParaRPr sz="3000">
              <a:latin typeface="Times"/>
              <a:ea typeface="Times"/>
              <a:cs typeface="Times"/>
              <a:sym typeface="Times"/>
            </a:endParaRPr>
          </a:p>
        </p:txBody>
      </p:sp>
      <p:cxnSp>
        <p:nvCxnSpPr>
          <p:cNvPr id="331" name="Google Shape;331;p37"/>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332" name="Google Shape;332;p37"/>
          <p:cNvSpPr txBox="1"/>
          <p:nvPr/>
        </p:nvSpPr>
        <p:spPr>
          <a:xfrm>
            <a:off x="548725" y="676200"/>
            <a:ext cx="8244900" cy="4155000"/>
          </a:xfrm>
          <a:prstGeom prst="rect">
            <a:avLst/>
          </a:prstGeom>
          <a:noFill/>
          <a:ln>
            <a:noFill/>
          </a:ln>
        </p:spPr>
        <p:txBody>
          <a:bodyPr anchorCtr="0" anchor="t" bIns="91425" lIns="91425" spcFirstLastPara="1" rIns="91425" wrap="square" tIns="91425">
            <a:noAutofit/>
          </a:bodyPr>
          <a:lstStyle/>
          <a:p>
            <a:pPr indent="-342900" lvl="0" marL="360001" rtl="0" algn="just">
              <a:lnSpc>
                <a:spcPct val="100000"/>
              </a:lnSpc>
              <a:spcBef>
                <a:spcPts val="900"/>
              </a:spcBef>
              <a:spcAft>
                <a:spcPts val="0"/>
              </a:spcAft>
              <a:buSzPts val="1800"/>
              <a:buChar char="➢"/>
            </a:pPr>
            <a:r>
              <a:rPr lang="en-GB" sz="1800">
                <a:latin typeface="Times"/>
                <a:ea typeface="Times"/>
                <a:cs typeface="Times"/>
                <a:sym typeface="Times"/>
              </a:rPr>
              <a:t>It describes the best-case time complexity; the minimum time an algorithm can take.</a:t>
            </a:r>
            <a:endParaRPr sz="1800">
              <a:latin typeface="Times"/>
              <a:ea typeface="Times"/>
              <a:cs typeface="Times"/>
              <a:sym typeface="Times"/>
            </a:endParaRPr>
          </a:p>
          <a:p>
            <a:pPr indent="-342900" lvl="0" marL="360001" rtl="0" algn="just">
              <a:lnSpc>
                <a:spcPct val="100000"/>
              </a:lnSpc>
              <a:spcBef>
                <a:spcPts val="0"/>
              </a:spcBef>
              <a:spcAft>
                <a:spcPts val="0"/>
              </a:spcAft>
              <a:buSzPts val="1800"/>
              <a:buChar char="➢"/>
            </a:pPr>
            <a:r>
              <a:rPr lang="en-GB" sz="1800">
                <a:latin typeface="Times"/>
                <a:ea typeface="Times"/>
                <a:cs typeface="Times"/>
                <a:sym typeface="Times"/>
              </a:rPr>
              <a:t>It provides a lower bound on the algorithm’s running time.</a:t>
            </a:r>
            <a:endParaRPr sz="1800">
              <a:latin typeface="Times"/>
              <a:ea typeface="Times"/>
              <a:cs typeface="Times"/>
              <a:sym typeface="Times"/>
            </a:endParaRPr>
          </a:p>
          <a:p>
            <a:pPr indent="-342900" lvl="0" marL="360001" rtl="0" algn="just">
              <a:lnSpc>
                <a:spcPct val="100000"/>
              </a:lnSpc>
              <a:spcBef>
                <a:spcPts val="0"/>
              </a:spcBef>
              <a:spcAft>
                <a:spcPts val="0"/>
              </a:spcAft>
              <a:buSzPts val="1800"/>
              <a:buFont typeface="Times"/>
              <a:buChar char="➢"/>
            </a:pPr>
            <a:r>
              <a:rPr lang="en-GB" sz="1800">
                <a:latin typeface="Times"/>
                <a:ea typeface="Times"/>
                <a:cs typeface="Times"/>
                <a:sym typeface="Times"/>
              </a:rPr>
              <a:t>Example:</a:t>
            </a:r>
            <a:endParaRPr sz="1800">
              <a:latin typeface="Times"/>
              <a:ea typeface="Times"/>
              <a:cs typeface="Times"/>
              <a:sym typeface="Times"/>
            </a:endParaRPr>
          </a:p>
          <a:p>
            <a:pPr indent="-342900" lvl="1" marL="720000" rtl="0" algn="just">
              <a:lnSpc>
                <a:spcPct val="100000"/>
              </a:lnSpc>
              <a:spcBef>
                <a:spcPts val="0"/>
              </a:spcBef>
              <a:spcAft>
                <a:spcPts val="0"/>
              </a:spcAft>
              <a:buSzPts val="1800"/>
              <a:buChar char="○"/>
            </a:pPr>
            <a:r>
              <a:rPr lang="en-GB" sz="1800">
                <a:latin typeface="Times"/>
                <a:ea typeface="Times"/>
                <a:cs typeface="Times"/>
                <a:sym typeface="Times"/>
              </a:rPr>
              <a:t>For the same expression 3n² + 2n + 1, Ω(n²) is correct because it will take at least n² time.</a:t>
            </a:r>
            <a:endParaRPr sz="1800">
              <a:latin typeface="Times"/>
              <a:ea typeface="Times"/>
              <a:cs typeface="Times"/>
              <a:sym typeface="Times"/>
            </a:endParaRPr>
          </a:p>
          <a:p>
            <a:pPr indent="-342900" lvl="1" marL="720000" rtl="0" algn="just">
              <a:lnSpc>
                <a:spcPct val="100000"/>
              </a:lnSpc>
              <a:spcBef>
                <a:spcPts val="0"/>
              </a:spcBef>
              <a:spcAft>
                <a:spcPts val="0"/>
              </a:spcAft>
              <a:buSzPts val="1800"/>
              <a:buChar char="○"/>
            </a:pPr>
            <a:r>
              <a:rPr lang="en-GB" sz="1800">
                <a:latin typeface="Times"/>
                <a:ea typeface="Times"/>
                <a:cs typeface="Times"/>
                <a:sym typeface="Times"/>
              </a:rPr>
              <a:t>Common notations: </a:t>
            </a:r>
            <a:endParaRPr sz="1800">
              <a:latin typeface="Times"/>
              <a:ea typeface="Times"/>
              <a:cs typeface="Times"/>
              <a:sym typeface="Times"/>
            </a:endParaRPr>
          </a:p>
          <a:p>
            <a:pPr indent="-342900" lvl="2" marL="1371600" rtl="0" algn="just">
              <a:lnSpc>
                <a:spcPct val="100000"/>
              </a:lnSpc>
              <a:spcBef>
                <a:spcPts val="0"/>
              </a:spcBef>
              <a:spcAft>
                <a:spcPts val="0"/>
              </a:spcAft>
              <a:buSzPts val="1800"/>
              <a:buChar char="■"/>
            </a:pPr>
            <a:r>
              <a:rPr lang="en-GB" sz="1800">
                <a:latin typeface="Times"/>
                <a:ea typeface="Times"/>
                <a:cs typeface="Times"/>
                <a:sym typeface="Times"/>
              </a:rPr>
              <a:t>Ω(1): (constant)</a:t>
            </a:r>
            <a:endParaRPr sz="1800">
              <a:latin typeface="Times"/>
              <a:ea typeface="Times"/>
              <a:cs typeface="Times"/>
              <a:sym typeface="Times"/>
            </a:endParaRPr>
          </a:p>
          <a:p>
            <a:pPr indent="-342900" lvl="2" marL="1371600" rtl="0" algn="just">
              <a:lnSpc>
                <a:spcPct val="100000"/>
              </a:lnSpc>
              <a:spcBef>
                <a:spcPts val="0"/>
              </a:spcBef>
              <a:spcAft>
                <a:spcPts val="0"/>
              </a:spcAft>
              <a:buSzPts val="1800"/>
              <a:buChar char="■"/>
            </a:pPr>
            <a:r>
              <a:rPr lang="en-GB" sz="1800">
                <a:latin typeface="Times"/>
                <a:ea typeface="Times"/>
                <a:cs typeface="Times"/>
                <a:sym typeface="Times"/>
              </a:rPr>
              <a:t>Ω(log n) : (logarithmic)</a:t>
            </a:r>
            <a:endParaRPr sz="1800">
              <a:latin typeface="Times"/>
              <a:ea typeface="Times"/>
              <a:cs typeface="Times"/>
              <a:sym typeface="Times"/>
            </a:endParaRPr>
          </a:p>
          <a:p>
            <a:pPr indent="-342900" lvl="2" marL="1371600" rtl="0" algn="just">
              <a:lnSpc>
                <a:spcPct val="100000"/>
              </a:lnSpc>
              <a:spcBef>
                <a:spcPts val="0"/>
              </a:spcBef>
              <a:spcAft>
                <a:spcPts val="0"/>
              </a:spcAft>
              <a:buSzPts val="1800"/>
              <a:buChar char="■"/>
            </a:pPr>
            <a:r>
              <a:rPr lang="en-GB" sz="1800">
                <a:latin typeface="Times"/>
                <a:ea typeface="Times"/>
                <a:cs typeface="Times"/>
                <a:sym typeface="Times"/>
              </a:rPr>
              <a:t>Ω(n) : (linear)</a:t>
            </a:r>
            <a:endParaRPr sz="1800">
              <a:latin typeface="Times"/>
              <a:ea typeface="Times"/>
              <a:cs typeface="Times"/>
              <a:sym typeface="Times"/>
            </a:endParaRPr>
          </a:p>
          <a:p>
            <a:pPr indent="-342900" lvl="2" marL="1371600" rtl="0" algn="just">
              <a:lnSpc>
                <a:spcPct val="100000"/>
              </a:lnSpc>
              <a:spcBef>
                <a:spcPts val="0"/>
              </a:spcBef>
              <a:spcAft>
                <a:spcPts val="0"/>
              </a:spcAft>
              <a:buSzPts val="1800"/>
              <a:buChar char="■"/>
            </a:pPr>
            <a:r>
              <a:rPr lang="en-GB" sz="1800">
                <a:latin typeface="Times"/>
                <a:ea typeface="Times"/>
                <a:cs typeface="Times"/>
                <a:sym typeface="Times"/>
              </a:rPr>
              <a:t>Ω(n²) : (exponential)</a:t>
            </a:r>
            <a:endParaRPr sz="1800">
              <a:latin typeface="Times"/>
              <a:ea typeface="Times"/>
              <a:cs typeface="Times"/>
              <a:sym typeface="Times"/>
            </a:endParaRPr>
          </a:p>
          <a:p>
            <a:pPr indent="0" lvl="0" marL="914400" rtl="0" algn="just">
              <a:lnSpc>
                <a:spcPct val="100000"/>
              </a:lnSpc>
              <a:spcBef>
                <a:spcPts val="900"/>
              </a:spcBef>
              <a:spcAft>
                <a:spcPts val="900"/>
              </a:spcAft>
              <a:buNone/>
            </a:pPr>
            <a:r>
              <a:rPr i="1" lang="en-GB" sz="1800">
                <a:latin typeface="Times"/>
                <a:ea typeface="Times"/>
                <a:cs typeface="Times"/>
                <a:sym typeface="Times"/>
              </a:rPr>
              <a:t>“The algorithm takes at least this much time.”</a:t>
            </a:r>
            <a:endParaRPr i="1" sz="1800">
              <a:latin typeface="Times"/>
              <a:ea typeface="Times"/>
              <a:cs typeface="Times"/>
              <a:sym typeface="Time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336" name="Shape 336"/>
        <p:cNvGrpSpPr/>
        <p:nvPr/>
      </p:nvGrpSpPr>
      <p:grpSpPr>
        <a:xfrm>
          <a:off x="0" y="0"/>
          <a:ext cx="0" cy="0"/>
          <a:chOff x="0" y="0"/>
          <a:chExt cx="0" cy="0"/>
        </a:xfrm>
      </p:grpSpPr>
      <p:sp>
        <p:nvSpPr>
          <p:cNvPr id="337" name="Google Shape;337;p38"/>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338" name="Google Shape;338;p38"/>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339" name="Google Shape;339;p38"/>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340" name="Google Shape;340;p38"/>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4000">
                <a:solidFill>
                  <a:srgbClr val="2B2C30"/>
                </a:solidFill>
              </a:rPr>
              <a:t>What is Flow</a:t>
            </a:r>
            <a:r>
              <a:rPr b="1" lang="en-GB" sz="4000">
                <a:solidFill>
                  <a:srgbClr val="2B2C30"/>
                </a:solidFill>
              </a:rPr>
              <a:t> Network?</a:t>
            </a:r>
            <a:endParaRPr sz="4800"/>
          </a:p>
        </p:txBody>
      </p:sp>
      <p:cxnSp>
        <p:nvCxnSpPr>
          <p:cNvPr id="341" name="Google Shape;341;p38"/>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342" name="Google Shape;342;p38"/>
          <p:cNvSpPr txBox="1"/>
          <p:nvPr/>
        </p:nvSpPr>
        <p:spPr>
          <a:xfrm>
            <a:off x="553925" y="906400"/>
            <a:ext cx="8196600" cy="39882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900"/>
              </a:spcBef>
              <a:spcAft>
                <a:spcPts val="0"/>
              </a:spcAft>
              <a:buSzPts val="2000"/>
              <a:buFont typeface="Times"/>
              <a:buChar char="➔"/>
            </a:pPr>
            <a:r>
              <a:rPr lang="en-GB" sz="2000">
                <a:latin typeface="Times"/>
                <a:ea typeface="Times"/>
                <a:cs typeface="Times"/>
                <a:sym typeface="Times"/>
              </a:rPr>
              <a:t>A </a:t>
            </a:r>
            <a:r>
              <a:rPr b="1" lang="en-GB" sz="2000">
                <a:latin typeface="Times"/>
                <a:ea typeface="Times"/>
                <a:cs typeface="Times"/>
                <a:sym typeface="Times"/>
              </a:rPr>
              <a:t>flow network</a:t>
            </a:r>
            <a:r>
              <a:rPr lang="en-GB" sz="2000">
                <a:latin typeface="Times"/>
                <a:ea typeface="Times"/>
                <a:cs typeface="Times"/>
                <a:sym typeface="Times"/>
              </a:rPr>
              <a:t> is a directed graph where each edge has a non-negative capacity, and two specific vertices are distinguished:</a:t>
            </a:r>
            <a:endParaRPr sz="2000">
              <a:latin typeface="Times"/>
              <a:ea typeface="Times"/>
              <a:cs typeface="Times"/>
              <a:sym typeface="Times"/>
            </a:endParaRPr>
          </a:p>
          <a:p>
            <a:pPr indent="-355600" lvl="1" marL="914400" rtl="0" algn="l">
              <a:lnSpc>
                <a:spcPct val="115000"/>
              </a:lnSpc>
              <a:spcBef>
                <a:spcPts val="0"/>
              </a:spcBef>
              <a:spcAft>
                <a:spcPts val="0"/>
              </a:spcAft>
              <a:buSzPts val="2000"/>
              <a:buChar char="◆"/>
            </a:pPr>
            <a:r>
              <a:rPr lang="en-GB" sz="2000">
                <a:latin typeface="Times"/>
                <a:ea typeface="Times"/>
                <a:cs typeface="Times"/>
                <a:sym typeface="Times"/>
              </a:rPr>
              <a:t>A </a:t>
            </a:r>
            <a:r>
              <a:rPr b="1" lang="en-GB" sz="2000">
                <a:latin typeface="Times"/>
                <a:ea typeface="Times"/>
                <a:cs typeface="Times"/>
                <a:sym typeface="Times"/>
              </a:rPr>
              <a:t>source</a:t>
            </a:r>
            <a:r>
              <a:rPr lang="en-GB" sz="2000">
                <a:latin typeface="Times"/>
                <a:ea typeface="Times"/>
                <a:cs typeface="Times"/>
                <a:sym typeface="Times"/>
              </a:rPr>
              <a:t> vertex (sss), where the flow originates.</a:t>
            </a:r>
            <a:endParaRPr sz="2000">
              <a:latin typeface="Times"/>
              <a:ea typeface="Times"/>
              <a:cs typeface="Times"/>
              <a:sym typeface="Times"/>
            </a:endParaRPr>
          </a:p>
          <a:p>
            <a:pPr indent="-355600" lvl="1" marL="914400" rtl="0" algn="l">
              <a:lnSpc>
                <a:spcPct val="115000"/>
              </a:lnSpc>
              <a:spcBef>
                <a:spcPts val="0"/>
              </a:spcBef>
              <a:spcAft>
                <a:spcPts val="0"/>
              </a:spcAft>
              <a:buSzPts val="2000"/>
              <a:buChar char="◆"/>
            </a:pPr>
            <a:r>
              <a:rPr lang="en-GB" sz="2000">
                <a:latin typeface="Times"/>
                <a:ea typeface="Times"/>
                <a:cs typeface="Times"/>
                <a:sym typeface="Times"/>
              </a:rPr>
              <a:t>A </a:t>
            </a:r>
            <a:r>
              <a:rPr b="1" lang="en-GB" sz="2000">
                <a:latin typeface="Times"/>
                <a:ea typeface="Times"/>
                <a:cs typeface="Times"/>
                <a:sym typeface="Times"/>
              </a:rPr>
              <a:t>sink</a:t>
            </a:r>
            <a:r>
              <a:rPr lang="en-GB" sz="2000">
                <a:latin typeface="Times"/>
                <a:ea typeface="Times"/>
                <a:cs typeface="Times"/>
                <a:sym typeface="Times"/>
              </a:rPr>
              <a:t> vertex (ttt), where the flow terminates.</a:t>
            </a:r>
            <a:endParaRPr sz="2000">
              <a:latin typeface="Times"/>
              <a:ea typeface="Times"/>
              <a:cs typeface="Times"/>
              <a:sym typeface="Times"/>
            </a:endParaRPr>
          </a:p>
          <a:p>
            <a:pPr indent="-355600" lvl="0" marL="457200" rtl="0" algn="l">
              <a:lnSpc>
                <a:spcPct val="115000"/>
              </a:lnSpc>
              <a:spcBef>
                <a:spcPts val="0"/>
              </a:spcBef>
              <a:spcAft>
                <a:spcPts val="0"/>
              </a:spcAft>
              <a:buSzPts val="2000"/>
              <a:buFont typeface="Times"/>
              <a:buChar char="➔"/>
            </a:pPr>
            <a:r>
              <a:rPr lang="en-GB" sz="2000">
                <a:latin typeface="Times"/>
                <a:ea typeface="Times"/>
                <a:cs typeface="Times"/>
                <a:sym typeface="Times"/>
              </a:rPr>
              <a:t>The goal in a flow network is to determine the maximum flow that can be sent from the source to the sink, without exceeding the capacities of the edges.</a:t>
            </a:r>
            <a:endParaRPr sz="2000">
              <a:solidFill>
                <a:schemeClr val="accent1"/>
              </a:solidFill>
              <a:latin typeface="Times"/>
              <a:ea typeface="Times"/>
              <a:cs typeface="Times"/>
              <a:sym typeface="Time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346" name="Shape 346"/>
        <p:cNvGrpSpPr/>
        <p:nvPr/>
      </p:nvGrpSpPr>
      <p:grpSpPr>
        <a:xfrm>
          <a:off x="0" y="0"/>
          <a:ext cx="0" cy="0"/>
          <a:chOff x="0" y="0"/>
          <a:chExt cx="0" cy="0"/>
        </a:xfrm>
      </p:grpSpPr>
      <p:sp>
        <p:nvSpPr>
          <p:cNvPr id="347" name="Google Shape;347;p39"/>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348" name="Google Shape;348;p39"/>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349" name="Google Shape;349;p39"/>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350" name="Google Shape;350;p39"/>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4000">
                <a:solidFill>
                  <a:srgbClr val="2B2C30"/>
                </a:solidFill>
              </a:rPr>
              <a:t>What is </a:t>
            </a:r>
            <a:r>
              <a:rPr b="1" lang="en-GB" sz="4000">
                <a:solidFill>
                  <a:srgbClr val="2B2C30"/>
                </a:solidFill>
              </a:rPr>
              <a:t>Flow?</a:t>
            </a:r>
            <a:endParaRPr sz="4800"/>
          </a:p>
        </p:txBody>
      </p:sp>
      <p:cxnSp>
        <p:nvCxnSpPr>
          <p:cNvPr id="351" name="Google Shape;351;p39"/>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352" name="Google Shape;352;p39"/>
          <p:cNvSpPr txBox="1"/>
          <p:nvPr/>
        </p:nvSpPr>
        <p:spPr>
          <a:xfrm>
            <a:off x="553925" y="906400"/>
            <a:ext cx="8196600" cy="39882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900"/>
              </a:spcBef>
              <a:spcAft>
                <a:spcPts val="0"/>
              </a:spcAft>
              <a:buSzPts val="2000"/>
              <a:buChar char="➔"/>
            </a:pPr>
            <a:r>
              <a:rPr b="1" lang="en-GB" sz="2000">
                <a:latin typeface="Times"/>
                <a:ea typeface="Times"/>
                <a:cs typeface="Times"/>
                <a:sym typeface="Times"/>
              </a:rPr>
              <a:t>Flow</a:t>
            </a:r>
            <a:r>
              <a:rPr lang="en-GB" sz="2000">
                <a:latin typeface="Times"/>
                <a:ea typeface="Times"/>
                <a:cs typeface="Times"/>
                <a:sym typeface="Times"/>
              </a:rPr>
              <a:t> refers to the quantity of material (e.g., water, data, traffic) that moves through the edges of a flow network. </a:t>
            </a:r>
            <a:endParaRPr sz="2000">
              <a:latin typeface="Times"/>
              <a:ea typeface="Times"/>
              <a:cs typeface="Times"/>
              <a:sym typeface="Times"/>
            </a:endParaRPr>
          </a:p>
          <a:p>
            <a:pPr indent="-355600" lvl="0" marL="457200" rtl="0" algn="l">
              <a:lnSpc>
                <a:spcPct val="115000"/>
              </a:lnSpc>
              <a:spcBef>
                <a:spcPts val="0"/>
              </a:spcBef>
              <a:spcAft>
                <a:spcPts val="0"/>
              </a:spcAft>
              <a:buSzPts val="2000"/>
              <a:buChar char="➔"/>
            </a:pPr>
            <a:r>
              <a:rPr lang="en-GB" sz="2000">
                <a:latin typeface="Times"/>
                <a:ea typeface="Times"/>
                <a:cs typeface="Times"/>
                <a:sym typeface="Times"/>
              </a:rPr>
              <a:t>Each edge can carry flow up to its capacity.</a:t>
            </a:r>
            <a:endParaRPr sz="2000">
              <a:latin typeface="Times"/>
              <a:ea typeface="Times"/>
              <a:cs typeface="Times"/>
              <a:sym typeface="Times"/>
            </a:endParaRPr>
          </a:p>
          <a:p>
            <a:pPr indent="-355600" lvl="0" marL="457200" rtl="0" algn="l">
              <a:lnSpc>
                <a:spcPct val="115000"/>
              </a:lnSpc>
              <a:spcBef>
                <a:spcPts val="0"/>
              </a:spcBef>
              <a:spcAft>
                <a:spcPts val="0"/>
              </a:spcAft>
              <a:buSzPts val="2000"/>
              <a:buFont typeface="Times"/>
              <a:buChar char="➔"/>
            </a:pPr>
            <a:r>
              <a:rPr lang="en-GB" sz="2000">
                <a:latin typeface="Times"/>
                <a:ea typeface="Times"/>
                <a:cs typeface="Times"/>
                <a:sym typeface="Times"/>
              </a:rPr>
              <a:t>The flow f(u,v)f(u, v)f(u,v) satisfies the following conditions:</a:t>
            </a:r>
            <a:endParaRPr sz="2000">
              <a:latin typeface="Times"/>
              <a:ea typeface="Times"/>
              <a:cs typeface="Times"/>
              <a:sym typeface="Times"/>
            </a:endParaRPr>
          </a:p>
          <a:p>
            <a:pPr indent="-355600" lvl="1" marL="914400" rtl="0" algn="l">
              <a:lnSpc>
                <a:spcPct val="115000"/>
              </a:lnSpc>
              <a:spcBef>
                <a:spcPts val="0"/>
              </a:spcBef>
              <a:spcAft>
                <a:spcPts val="0"/>
              </a:spcAft>
              <a:buSzPts val="2000"/>
              <a:buFont typeface="Times"/>
              <a:buChar char="◆"/>
            </a:pPr>
            <a:r>
              <a:rPr lang="en-GB" sz="2000">
                <a:latin typeface="Times"/>
                <a:ea typeface="Times"/>
                <a:cs typeface="Times"/>
                <a:sym typeface="Times"/>
              </a:rPr>
              <a:t>The flow of any edges cannot exceed its capacity</a:t>
            </a:r>
            <a:endParaRPr sz="2000">
              <a:latin typeface="Times"/>
              <a:ea typeface="Times"/>
              <a:cs typeface="Times"/>
              <a:sym typeface="Times"/>
            </a:endParaRPr>
          </a:p>
          <a:p>
            <a:pPr indent="457200" lvl="0" marL="457200" rtl="0" algn="l">
              <a:lnSpc>
                <a:spcPct val="115000"/>
              </a:lnSpc>
              <a:spcBef>
                <a:spcPts val="900"/>
              </a:spcBef>
              <a:spcAft>
                <a:spcPts val="0"/>
              </a:spcAft>
              <a:buNone/>
            </a:pPr>
            <a:r>
              <a:rPr lang="en-GB" sz="2000">
                <a:latin typeface="Times"/>
                <a:ea typeface="Times"/>
                <a:cs typeface="Times"/>
                <a:sym typeface="Times"/>
              </a:rPr>
              <a:t>0 ≤ f(u,v) ≤ c(u,v) </a:t>
            </a:r>
            <a:r>
              <a:rPr i="1" lang="en-GB" sz="2000">
                <a:latin typeface="Times"/>
                <a:ea typeface="Times"/>
                <a:cs typeface="Times"/>
                <a:sym typeface="Times"/>
              </a:rPr>
              <a:t>where c(u,v) is the capacity of edge (u,v).</a:t>
            </a:r>
            <a:endParaRPr i="1" sz="2000">
              <a:latin typeface="Times"/>
              <a:ea typeface="Times"/>
              <a:cs typeface="Times"/>
              <a:sym typeface="Times"/>
            </a:endParaRPr>
          </a:p>
          <a:p>
            <a:pPr indent="-355600" lvl="1" marL="914400" rtl="0" algn="l">
              <a:lnSpc>
                <a:spcPct val="115000"/>
              </a:lnSpc>
              <a:spcBef>
                <a:spcPts val="900"/>
              </a:spcBef>
              <a:spcAft>
                <a:spcPts val="0"/>
              </a:spcAft>
              <a:buSzPts val="2000"/>
              <a:buFont typeface="Times"/>
              <a:buChar char="◆"/>
            </a:pPr>
            <a:r>
              <a:rPr lang="en-GB" sz="2000">
                <a:latin typeface="Times"/>
                <a:ea typeface="Times"/>
                <a:cs typeface="Times"/>
                <a:sym typeface="Times"/>
              </a:rPr>
              <a:t>For all vertices u except the source and sink: </a:t>
            </a:r>
            <a:endParaRPr sz="2000">
              <a:latin typeface="Times"/>
              <a:ea typeface="Times"/>
              <a:cs typeface="Times"/>
              <a:sym typeface="Times"/>
            </a:endParaRPr>
          </a:p>
          <a:p>
            <a:pPr indent="0" lvl="0" marL="914400" rtl="0" algn="l">
              <a:lnSpc>
                <a:spcPct val="115000"/>
              </a:lnSpc>
              <a:spcBef>
                <a:spcPts val="900"/>
              </a:spcBef>
              <a:spcAft>
                <a:spcPts val="900"/>
              </a:spcAft>
              <a:buNone/>
            </a:pPr>
            <a:r>
              <a:rPr lang="en-GB" sz="2000">
                <a:latin typeface="Times"/>
                <a:ea typeface="Times"/>
                <a:cs typeface="Times"/>
                <a:sym typeface="Times"/>
              </a:rPr>
              <a:t>∑f(in to u)=∑f(out from u) </a:t>
            </a:r>
            <a:r>
              <a:rPr i="1" lang="en-GB" sz="2000">
                <a:latin typeface="Times"/>
                <a:ea typeface="Times"/>
                <a:cs typeface="Times"/>
                <a:sym typeface="Times"/>
              </a:rPr>
              <a:t>This is the conservation of flow property.</a:t>
            </a:r>
            <a:endParaRPr i="1" sz="2000">
              <a:solidFill>
                <a:schemeClr val="accent1"/>
              </a:solidFill>
              <a:latin typeface="Times"/>
              <a:ea typeface="Times"/>
              <a:cs typeface="Times"/>
              <a:sym typeface="Time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356" name="Shape 356"/>
        <p:cNvGrpSpPr/>
        <p:nvPr/>
      </p:nvGrpSpPr>
      <p:grpSpPr>
        <a:xfrm>
          <a:off x="0" y="0"/>
          <a:ext cx="0" cy="0"/>
          <a:chOff x="0" y="0"/>
          <a:chExt cx="0" cy="0"/>
        </a:xfrm>
      </p:grpSpPr>
      <p:sp>
        <p:nvSpPr>
          <p:cNvPr id="357" name="Google Shape;357;p40"/>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358" name="Google Shape;358;p40"/>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359" name="Google Shape;359;p40"/>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360" name="Google Shape;360;p40"/>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4000">
                <a:solidFill>
                  <a:srgbClr val="2B2C30"/>
                </a:solidFill>
              </a:rPr>
              <a:t>Properties of Flow in a </a:t>
            </a:r>
            <a:r>
              <a:rPr b="1" lang="en-GB" sz="4000">
                <a:solidFill>
                  <a:srgbClr val="2B2C30"/>
                </a:solidFill>
              </a:rPr>
              <a:t>Flow Network</a:t>
            </a:r>
            <a:endParaRPr sz="4800"/>
          </a:p>
        </p:txBody>
      </p:sp>
      <p:cxnSp>
        <p:nvCxnSpPr>
          <p:cNvPr id="361" name="Google Shape;361;p40"/>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362" name="Google Shape;362;p40"/>
          <p:cNvSpPr txBox="1"/>
          <p:nvPr/>
        </p:nvSpPr>
        <p:spPr>
          <a:xfrm>
            <a:off x="553925" y="906400"/>
            <a:ext cx="8196600" cy="3970200"/>
          </a:xfrm>
          <a:prstGeom prst="rect">
            <a:avLst/>
          </a:prstGeom>
          <a:noFill/>
          <a:ln>
            <a:noFill/>
          </a:ln>
        </p:spPr>
        <p:txBody>
          <a:bodyPr anchorCtr="0" anchor="t" bIns="91425" lIns="91425" spcFirstLastPara="1" rIns="91425" wrap="square" tIns="91425">
            <a:noAutofit/>
          </a:bodyPr>
          <a:lstStyle/>
          <a:p>
            <a:pPr indent="-349250" lvl="0" marL="457200" rtl="0" algn="l">
              <a:lnSpc>
                <a:spcPct val="100000"/>
              </a:lnSpc>
              <a:spcBef>
                <a:spcPts val="900"/>
              </a:spcBef>
              <a:spcAft>
                <a:spcPts val="0"/>
              </a:spcAft>
              <a:buSzPts val="1900"/>
              <a:buAutoNum type="arabicPeriod"/>
            </a:pPr>
            <a:r>
              <a:rPr b="1" lang="en-GB" sz="1900">
                <a:latin typeface="Times"/>
                <a:ea typeface="Times"/>
                <a:cs typeface="Times"/>
                <a:sym typeface="Times"/>
              </a:rPr>
              <a:t>Capacity Constraint</a:t>
            </a:r>
            <a:r>
              <a:rPr lang="en-GB" sz="1900">
                <a:latin typeface="Times"/>
                <a:ea typeface="Times"/>
                <a:cs typeface="Times"/>
                <a:sym typeface="Times"/>
              </a:rPr>
              <a:t>: The flow on an edge cannot exceed its capacity.</a:t>
            </a:r>
            <a:endParaRPr sz="1900">
              <a:latin typeface="Times"/>
              <a:ea typeface="Times"/>
              <a:cs typeface="Times"/>
              <a:sym typeface="Times"/>
            </a:endParaRPr>
          </a:p>
          <a:p>
            <a:pPr indent="0" lvl="0" marL="457200" rtl="0" algn="l">
              <a:lnSpc>
                <a:spcPct val="100000"/>
              </a:lnSpc>
              <a:spcBef>
                <a:spcPts val="900"/>
              </a:spcBef>
              <a:spcAft>
                <a:spcPts val="0"/>
              </a:spcAft>
              <a:buNone/>
            </a:pPr>
            <a:r>
              <a:rPr lang="en-GB" sz="1900">
                <a:latin typeface="Times"/>
                <a:ea typeface="Times"/>
                <a:cs typeface="Times"/>
                <a:sym typeface="Times"/>
              </a:rPr>
              <a:t>0 ≤ f(u,v) ≤ c(u,v)</a:t>
            </a:r>
            <a:endParaRPr sz="1900">
              <a:latin typeface="Times"/>
              <a:ea typeface="Times"/>
              <a:cs typeface="Times"/>
              <a:sym typeface="Times"/>
            </a:endParaRPr>
          </a:p>
          <a:p>
            <a:pPr indent="-349250" lvl="0" marL="457200" rtl="0" algn="l">
              <a:lnSpc>
                <a:spcPct val="100000"/>
              </a:lnSpc>
              <a:spcBef>
                <a:spcPts val="900"/>
              </a:spcBef>
              <a:spcAft>
                <a:spcPts val="0"/>
              </a:spcAft>
              <a:buSzPts val="1900"/>
              <a:buAutoNum type="arabicPeriod"/>
            </a:pPr>
            <a:r>
              <a:rPr b="1" lang="en-GB" sz="1900">
                <a:latin typeface="Times"/>
                <a:ea typeface="Times"/>
                <a:cs typeface="Times"/>
                <a:sym typeface="Times"/>
              </a:rPr>
              <a:t>Flow Conservation</a:t>
            </a:r>
            <a:r>
              <a:rPr lang="en-GB" sz="1900">
                <a:latin typeface="Times"/>
                <a:ea typeface="Times"/>
                <a:cs typeface="Times"/>
                <a:sym typeface="Times"/>
              </a:rPr>
              <a:t>: For any vertex uuu other than the source (s) and sink (t), the total incoming flow equals the total outgoing flow.</a:t>
            </a:r>
            <a:endParaRPr sz="1900">
              <a:latin typeface="Times"/>
              <a:ea typeface="Times"/>
              <a:cs typeface="Times"/>
              <a:sym typeface="Times"/>
            </a:endParaRPr>
          </a:p>
          <a:p>
            <a:pPr indent="0" lvl="0" marL="457200" rtl="0" algn="l">
              <a:lnSpc>
                <a:spcPct val="100000"/>
              </a:lnSpc>
              <a:spcBef>
                <a:spcPts val="900"/>
              </a:spcBef>
              <a:spcAft>
                <a:spcPts val="0"/>
              </a:spcAft>
              <a:buNone/>
            </a:pPr>
            <a:r>
              <a:rPr lang="en-GB" sz="1900">
                <a:latin typeface="Times"/>
                <a:ea typeface="Times"/>
                <a:cs typeface="Times"/>
                <a:sym typeface="Times"/>
              </a:rPr>
              <a:t>∑f(v,u) = ∑f(u,w) where v and w are adjacent vertices to u.</a:t>
            </a:r>
            <a:endParaRPr sz="1900">
              <a:latin typeface="Times"/>
              <a:ea typeface="Times"/>
              <a:cs typeface="Times"/>
              <a:sym typeface="Times"/>
            </a:endParaRPr>
          </a:p>
          <a:p>
            <a:pPr indent="-349250" lvl="0" marL="457200" rtl="0" algn="l">
              <a:lnSpc>
                <a:spcPct val="100000"/>
              </a:lnSpc>
              <a:spcBef>
                <a:spcPts val="900"/>
              </a:spcBef>
              <a:spcAft>
                <a:spcPts val="0"/>
              </a:spcAft>
              <a:buSzPts val="1900"/>
              <a:buAutoNum type="arabicPeriod"/>
            </a:pPr>
            <a:r>
              <a:rPr b="1" lang="en-GB" sz="1900">
                <a:latin typeface="Times"/>
                <a:ea typeface="Times"/>
                <a:cs typeface="Times"/>
                <a:sym typeface="Times"/>
              </a:rPr>
              <a:t>Skew Symmetry</a:t>
            </a:r>
            <a:r>
              <a:rPr lang="en-GB" sz="1900">
                <a:latin typeface="Times"/>
                <a:ea typeface="Times"/>
                <a:cs typeface="Times"/>
                <a:sym typeface="Times"/>
              </a:rPr>
              <a:t>: The flow in the reverse direction of an edge negates the flow in the forward direction.</a:t>
            </a:r>
            <a:endParaRPr sz="1900">
              <a:latin typeface="Times"/>
              <a:ea typeface="Times"/>
              <a:cs typeface="Times"/>
              <a:sym typeface="Times"/>
            </a:endParaRPr>
          </a:p>
          <a:p>
            <a:pPr indent="0" lvl="0" marL="457200" rtl="0" algn="l">
              <a:lnSpc>
                <a:spcPct val="100000"/>
              </a:lnSpc>
              <a:spcBef>
                <a:spcPts val="900"/>
              </a:spcBef>
              <a:spcAft>
                <a:spcPts val="0"/>
              </a:spcAft>
              <a:buNone/>
            </a:pPr>
            <a:r>
              <a:rPr lang="en-GB" sz="1900">
                <a:latin typeface="Times"/>
                <a:ea typeface="Times"/>
                <a:cs typeface="Times"/>
                <a:sym typeface="Times"/>
              </a:rPr>
              <a:t>f(u,v)=−f(v,u)</a:t>
            </a:r>
            <a:endParaRPr sz="1900">
              <a:latin typeface="Times"/>
              <a:ea typeface="Times"/>
              <a:cs typeface="Times"/>
              <a:sym typeface="Times"/>
            </a:endParaRPr>
          </a:p>
          <a:p>
            <a:pPr indent="-349250" lvl="0" marL="457200" rtl="0" algn="l">
              <a:lnSpc>
                <a:spcPct val="100000"/>
              </a:lnSpc>
              <a:spcBef>
                <a:spcPts val="900"/>
              </a:spcBef>
              <a:spcAft>
                <a:spcPts val="0"/>
              </a:spcAft>
              <a:buSzPts val="1900"/>
              <a:buAutoNum type="arabicPeriod"/>
            </a:pPr>
            <a:r>
              <a:rPr b="1" lang="en-GB" sz="1900">
                <a:latin typeface="Times"/>
                <a:ea typeface="Times"/>
                <a:cs typeface="Times"/>
                <a:sym typeface="Times"/>
              </a:rPr>
              <a:t>Flow Value</a:t>
            </a:r>
            <a:r>
              <a:rPr lang="en-GB" sz="1900">
                <a:latin typeface="Times"/>
                <a:ea typeface="Times"/>
                <a:cs typeface="Times"/>
                <a:sym typeface="Times"/>
              </a:rPr>
              <a:t>: The total flow value is defined as the total flow leaving the source, which is also equal to the total flow entering the sink.</a:t>
            </a:r>
            <a:endParaRPr sz="1900">
              <a:latin typeface="Times"/>
              <a:ea typeface="Times"/>
              <a:cs typeface="Times"/>
              <a:sym typeface="Times"/>
            </a:endParaRPr>
          </a:p>
          <a:p>
            <a:pPr indent="0" lvl="0" marL="457200" rtl="0" algn="l">
              <a:lnSpc>
                <a:spcPct val="100000"/>
              </a:lnSpc>
              <a:spcBef>
                <a:spcPts val="900"/>
              </a:spcBef>
              <a:spcAft>
                <a:spcPts val="900"/>
              </a:spcAft>
              <a:buNone/>
            </a:pPr>
            <a:r>
              <a:rPr lang="en-GB" sz="1900">
                <a:latin typeface="Times"/>
                <a:ea typeface="Times"/>
                <a:cs typeface="Times"/>
                <a:sym typeface="Times"/>
              </a:rPr>
              <a:t>Value of flow = ∑f(s,u) = ∑f(v,t)</a:t>
            </a:r>
            <a:endParaRPr sz="1900">
              <a:solidFill>
                <a:schemeClr val="accent1"/>
              </a:solidFill>
              <a:latin typeface="Times"/>
              <a:ea typeface="Times"/>
              <a:cs typeface="Times"/>
              <a:sym typeface="Time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366" name="Shape 366"/>
        <p:cNvGrpSpPr/>
        <p:nvPr/>
      </p:nvGrpSpPr>
      <p:grpSpPr>
        <a:xfrm>
          <a:off x="0" y="0"/>
          <a:ext cx="0" cy="0"/>
          <a:chOff x="0" y="0"/>
          <a:chExt cx="0" cy="0"/>
        </a:xfrm>
      </p:grpSpPr>
      <p:sp>
        <p:nvSpPr>
          <p:cNvPr id="367" name="Google Shape;367;p41"/>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368" name="Google Shape;368;p41"/>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369" name="Google Shape;369;p41"/>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370" name="Google Shape;370;p41"/>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4000">
                <a:solidFill>
                  <a:srgbClr val="2B2C30"/>
                </a:solidFill>
              </a:rPr>
              <a:t>Flow Network</a:t>
            </a:r>
            <a:endParaRPr sz="4800"/>
          </a:p>
        </p:txBody>
      </p:sp>
      <p:cxnSp>
        <p:nvCxnSpPr>
          <p:cNvPr id="371" name="Google Shape;371;p41"/>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372" name="Google Shape;372;p41"/>
          <p:cNvSpPr/>
          <p:nvPr/>
        </p:nvSpPr>
        <p:spPr>
          <a:xfrm>
            <a:off x="4173876" y="1043075"/>
            <a:ext cx="1205400" cy="9975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a</a:t>
            </a:r>
            <a:endParaRPr b="1" sz="2000">
              <a:latin typeface="Times"/>
              <a:ea typeface="Times"/>
              <a:cs typeface="Times"/>
              <a:sym typeface="Times"/>
            </a:endParaRPr>
          </a:p>
        </p:txBody>
      </p:sp>
      <p:sp>
        <p:nvSpPr>
          <p:cNvPr id="373" name="Google Shape;373;p41"/>
          <p:cNvSpPr/>
          <p:nvPr/>
        </p:nvSpPr>
        <p:spPr>
          <a:xfrm>
            <a:off x="4173876" y="3746801"/>
            <a:ext cx="1205400" cy="9975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b</a:t>
            </a:r>
            <a:endParaRPr b="1" sz="2000">
              <a:latin typeface="Times"/>
              <a:ea typeface="Times"/>
              <a:cs typeface="Times"/>
              <a:sym typeface="Times"/>
            </a:endParaRPr>
          </a:p>
        </p:txBody>
      </p:sp>
      <p:sp>
        <p:nvSpPr>
          <p:cNvPr id="374" name="Google Shape;374;p41"/>
          <p:cNvSpPr/>
          <p:nvPr/>
        </p:nvSpPr>
        <p:spPr>
          <a:xfrm>
            <a:off x="6347976" y="2418180"/>
            <a:ext cx="1205400" cy="9975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t</a:t>
            </a:r>
            <a:endParaRPr b="1" sz="2000">
              <a:latin typeface="Times"/>
              <a:ea typeface="Times"/>
              <a:cs typeface="Times"/>
              <a:sym typeface="Times"/>
            </a:endParaRPr>
          </a:p>
        </p:txBody>
      </p:sp>
      <p:sp>
        <p:nvSpPr>
          <p:cNvPr id="375" name="Google Shape;375;p41"/>
          <p:cNvSpPr/>
          <p:nvPr/>
        </p:nvSpPr>
        <p:spPr>
          <a:xfrm>
            <a:off x="1999850" y="2418180"/>
            <a:ext cx="1205400" cy="9975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s</a:t>
            </a:r>
            <a:endParaRPr b="1" sz="2000">
              <a:latin typeface="Times"/>
              <a:ea typeface="Times"/>
              <a:cs typeface="Times"/>
              <a:sym typeface="Times"/>
            </a:endParaRPr>
          </a:p>
        </p:txBody>
      </p:sp>
      <p:cxnSp>
        <p:nvCxnSpPr>
          <p:cNvPr id="376" name="Google Shape;376;p41"/>
          <p:cNvCxnSpPr>
            <a:stCxn id="375" idx="7"/>
            <a:endCxn id="372" idx="2"/>
          </p:cNvCxnSpPr>
          <p:nvPr/>
        </p:nvCxnSpPr>
        <p:spPr>
          <a:xfrm flipH="1" rot="10800000">
            <a:off x="3028723" y="1541860"/>
            <a:ext cx="1145100" cy="1022400"/>
          </a:xfrm>
          <a:prstGeom prst="straightConnector1">
            <a:avLst/>
          </a:prstGeom>
          <a:noFill/>
          <a:ln cap="flat" cmpd="sng" w="19050">
            <a:solidFill>
              <a:srgbClr val="000000"/>
            </a:solidFill>
            <a:prstDash val="solid"/>
            <a:round/>
            <a:headEnd len="med" w="med" type="none"/>
            <a:tailEnd len="med" w="med" type="triangle"/>
          </a:ln>
        </p:spPr>
      </p:cxnSp>
      <p:cxnSp>
        <p:nvCxnSpPr>
          <p:cNvPr id="377" name="Google Shape;377;p41"/>
          <p:cNvCxnSpPr>
            <a:stCxn id="375" idx="5"/>
            <a:endCxn id="373" idx="2"/>
          </p:cNvCxnSpPr>
          <p:nvPr/>
        </p:nvCxnSpPr>
        <p:spPr>
          <a:xfrm>
            <a:off x="3028723" y="3269599"/>
            <a:ext cx="1145100" cy="975900"/>
          </a:xfrm>
          <a:prstGeom prst="straightConnector1">
            <a:avLst/>
          </a:prstGeom>
          <a:noFill/>
          <a:ln cap="flat" cmpd="sng" w="19050">
            <a:solidFill>
              <a:srgbClr val="000000"/>
            </a:solidFill>
            <a:prstDash val="solid"/>
            <a:round/>
            <a:headEnd len="med" w="med" type="none"/>
            <a:tailEnd len="med" w="med" type="triangle"/>
          </a:ln>
        </p:spPr>
      </p:cxnSp>
      <p:cxnSp>
        <p:nvCxnSpPr>
          <p:cNvPr id="378" name="Google Shape;378;p41"/>
          <p:cNvCxnSpPr>
            <a:stCxn id="372" idx="6"/>
            <a:endCxn id="374" idx="1"/>
          </p:cNvCxnSpPr>
          <p:nvPr/>
        </p:nvCxnSpPr>
        <p:spPr>
          <a:xfrm>
            <a:off x="5379276" y="1541825"/>
            <a:ext cx="1145100" cy="1022400"/>
          </a:xfrm>
          <a:prstGeom prst="straightConnector1">
            <a:avLst/>
          </a:prstGeom>
          <a:noFill/>
          <a:ln cap="flat" cmpd="sng" w="19050">
            <a:solidFill>
              <a:srgbClr val="000000"/>
            </a:solidFill>
            <a:prstDash val="solid"/>
            <a:round/>
            <a:headEnd len="med" w="med" type="none"/>
            <a:tailEnd len="med" w="med" type="triangle"/>
          </a:ln>
        </p:spPr>
      </p:cxnSp>
      <p:cxnSp>
        <p:nvCxnSpPr>
          <p:cNvPr id="379" name="Google Shape;379;p41"/>
          <p:cNvCxnSpPr>
            <a:stCxn id="373" idx="6"/>
            <a:endCxn id="374" idx="3"/>
          </p:cNvCxnSpPr>
          <p:nvPr/>
        </p:nvCxnSpPr>
        <p:spPr>
          <a:xfrm flipH="1" rot="10800000">
            <a:off x="5379276" y="3269651"/>
            <a:ext cx="1145100" cy="975900"/>
          </a:xfrm>
          <a:prstGeom prst="straightConnector1">
            <a:avLst/>
          </a:prstGeom>
          <a:noFill/>
          <a:ln cap="flat" cmpd="sng" w="19050">
            <a:solidFill>
              <a:srgbClr val="000000"/>
            </a:solidFill>
            <a:prstDash val="solid"/>
            <a:round/>
            <a:headEnd len="med" w="med" type="none"/>
            <a:tailEnd len="med" w="med" type="triangle"/>
          </a:ln>
        </p:spPr>
      </p:cxnSp>
      <p:cxnSp>
        <p:nvCxnSpPr>
          <p:cNvPr id="380" name="Google Shape;380;p41"/>
          <p:cNvCxnSpPr>
            <a:stCxn id="372" idx="4"/>
            <a:endCxn id="373" idx="0"/>
          </p:cNvCxnSpPr>
          <p:nvPr/>
        </p:nvCxnSpPr>
        <p:spPr>
          <a:xfrm>
            <a:off x="4776576" y="2040575"/>
            <a:ext cx="0" cy="1706100"/>
          </a:xfrm>
          <a:prstGeom prst="straightConnector1">
            <a:avLst/>
          </a:prstGeom>
          <a:noFill/>
          <a:ln cap="flat" cmpd="sng" w="19050">
            <a:solidFill>
              <a:srgbClr val="000000"/>
            </a:solidFill>
            <a:prstDash val="solid"/>
            <a:round/>
            <a:headEnd len="med" w="med" type="none"/>
            <a:tailEnd len="med" w="med" type="triangle"/>
          </a:ln>
        </p:spPr>
      </p:cxnSp>
      <p:sp>
        <p:nvSpPr>
          <p:cNvPr id="381" name="Google Shape;381;p41"/>
          <p:cNvSpPr txBox="1"/>
          <p:nvPr/>
        </p:nvSpPr>
        <p:spPr>
          <a:xfrm>
            <a:off x="3029050" y="1475875"/>
            <a:ext cx="760200" cy="56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7/10</a:t>
            </a:r>
            <a:endParaRPr b="1" sz="1800">
              <a:latin typeface="Times"/>
              <a:ea typeface="Times"/>
              <a:cs typeface="Times"/>
              <a:sym typeface="Times"/>
            </a:endParaRPr>
          </a:p>
        </p:txBody>
      </p:sp>
      <p:sp>
        <p:nvSpPr>
          <p:cNvPr id="382" name="Google Shape;382;p41"/>
          <p:cNvSpPr txBox="1"/>
          <p:nvPr/>
        </p:nvSpPr>
        <p:spPr>
          <a:xfrm>
            <a:off x="5965550" y="1611400"/>
            <a:ext cx="1205400" cy="49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4/10</a:t>
            </a:r>
            <a:endParaRPr b="1" sz="1800">
              <a:latin typeface="Times"/>
              <a:ea typeface="Times"/>
              <a:cs typeface="Times"/>
              <a:sym typeface="Times"/>
            </a:endParaRPr>
          </a:p>
        </p:txBody>
      </p:sp>
      <p:sp>
        <p:nvSpPr>
          <p:cNvPr id="383" name="Google Shape;383;p41"/>
          <p:cNvSpPr txBox="1"/>
          <p:nvPr/>
        </p:nvSpPr>
        <p:spPr>
          <a:xfrm>
            <a:off x="5774750" y="3863825"/>
            <a:ext cx="1396200" cy="38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8/10</a:t>
            </a:r>
            <a:endParaRPr b="1" sz="1800">
              <a:latin typeface="Times"/>
              <a:ea typeface="Times"/>
              <a:cs typeface="Times"/>
              <a:sym typeface="Times"/>
            </a:endParaRPr>
          </a:p>
        </p:txBody>
      </p:sp>
      <p:sp>
        <p:nvSpPr>
          <p:cNvPr id="384" name="Google Shape;384;p41"/>
          <p:cNvSpPr txBox="1"/>
          <p:nvPr/>
        </p:nvSpPr>
        <p:spPr>
          <a:xfrm>
            <a:off x="3086100" y="3746800"/>
            <a:ext cx="703500" cy="3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5/5</a:t>
            </a:r>
            <a:endParaRPr b="1" sz="1800">
              <a:latin typeface="Times"/>
              <a:ea typeface="Times"/>
              <a:cs typeface="Times"/>
              <a:sym typeface="Times"/>
            </a:endParaRPr>
          </a:p>
        </p:txBody>
      </p:sp>
      <p:sp>
        <p:nvSpPr>
          <p:cNvPr id="385" name="Google Shape;385;p41"/>
          <p:cNvSpPr txBox="1"/>
          <p:nvPr/>
        </p:nvSpPr>
        <p:spPr>
          <a:xfrm>
            <a:off x="4776673" y="2564214"/>
            <a:ext cx="1508100" cy="56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3/15</a:t>
            </a:r>
            <a:endParaRPr b="1" sz="1800">
              <a:latin typeface="Times"/>
              <a:ea typeface="Times"/>
              <a:cs typeface="Times"/>
              <a:sym typeface="Time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389" name="Shape 389"/>
        <p:cNvGrpSpPr/>
        <p:nvPr/>
      </p:nvGrpSpPr>
      <p:grpSpPr>
        <a:xfrm>
          <a:off x="0" y="0"/>
          <a:ext cx="0" cy="0"/>
          <a:chOff x="0" y="0"/>
          <a:chExt cx="0" cy="0"/>
        </a:xfrm>
      </p:grpSpPr>
      <p:sp>
        <p:nvSpPr>
          <p:cNvPr id="390" name="Google Shape;390;p42"/>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391" name="Google Shape;391;p42"/>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392" name="Google Shape;392;p42"/>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393" name="Google Shape;393;p42"/>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4000">
                <a:solidFill>
                  <a:srgbClr val="2B2C30"/>
                </a:solidFill>
              </a:rPr>
              <a:t>Flow Network</a:t>
            </a:r>
            <a:endParaRPr sz="4800"/>
          </a:p>
        </p:txBody>
      </p:sp>
      <p:cxnSp>
        <p:nvCxnSpPr>
          <p:cNvPr id="394" name="Google Shape;394;p42"/>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395" name="Google Shape;395;p42"/>
          <p:cNvSpPr/>
          <p:nvPr/>
        </p:nvSpPr>
        <p:spPr>
          <a:xfrm>
            <a:off x="7391589" y="2444800"/>
            <a:ext cx="484800" cy="5544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a</a:t>
            </a:r>
            <a:endParaRPr b="1" sz="2000">
              <a:latin typeface="Times"/>
              <a:ea typeface="Times"/>
              <a:cs typeface="Times"/>
              <a:sym typeface="Times"/>
            </a:endParaRPr>
          </a:p>
        </p:txBody>
      </p:sp>
      <p:sp>
        <p:nvSpPr>
          <p:cNvPr id="396" name="Google Shape;396;p42"/>
          <p:cNvSpPr/>
          <p:nvPr/>
        </p:nvSpPr>
        <p:spPr>
          <a:xfrm>
            <a:off x="7391589" y="3947799"/>
            <a:ext cx="484800" cy="5544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b</a:t>
            </a:r>
            <a:endParaRPr b="1" sz="2000">
              <a:latin typeface="Times"/>
              <a:ea typeface="Times"/>
              <a:cs typeface="Times"/>
              <a:sym typeface="Times"/>
            </a:endParaRPr>
          </a:p>
        </p:txBody>
      </p:sp>
      <p:sp>
        <p:nvSpPr>
          <p:cNvPr id="397" name="Google Shape;397;p42"/>
          <p:cNvSpPr/>
          <p:nvPr/>
        </p:nvSpPr>
        <p:spPr>
          <a:xfrm>
            <a:off x="8265709" y="3209220"/>
            <a:ext cx="484800" cy="5544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t</a:t>
            </a:r>
            <a:endParaRPr b="1" sz="2000">
              <a:latin typeface="Times"/>
              <a:ea typeface="Times"/>
              <a:cs typeface="Times"/>
              <a:sym typeface="Times"/>
            </a:endParaRPr>
          </a:p>
        </p:txBody>
      </p:sp>
      <p:sp>
        <p:nvSpPr>
          <p:cNvPr id="398" name="Google Shape;398;p42"/>
          <p:cNvSpPr/>
          <p:nvPr/>
        </p:nvSpPr>
        <p:spPr>
          <a:xfrm>
            <a:off x="6517500" y="3209220"/>
            <a:ext cx="484800" cy="5544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s</a:t>
            </a:r>
            <a:endParaRPr b="1" sz="2000">
              <a:latin typeface="Times"/>
              <a:ea typeface="Times"/>
              <a:cs typeface="Times"/>
              <a:sym typeface="Times"/>
            </a:endParaRPr>
          </a:p>
        </p:txBody>
      </p:sp>
      <p:cxnSp>
        <p:nvCxnSpPr>
          <p:cNvPr id="399" name="Google Shape;399;p42"/>
          <p:cNvCxnSpPr>
            <a:stCxn id="398" idx="7"/>
            <a:endCxn id="395" idx="2"/>
          </p:cNvCxnSpPr>
          <p:nvPr/>
        </p:nvCxnSpPr>
        <p:spPr>
          <a:xfrm flipH="1" rot="10800000">
            <a:off x="6931303" y="2721910"/>
            <a:ext cx="460200" cy="568500"/>
          </a:xfrm>
          <a:prstGeom prst="straightConnector1">
            <a:avLst/>
          </a:prstGeom>
          <a:noFill/>
          <a:ln cap="flat" cmpd="sng" w="19050">
            <a:solidFill>
              <a:srgbClr val="000000"/>
            </a:solidFill>
            <a:prstDash val="solid"/>
            <a:round/>
            <a:headEnd len="med" w="med" type="none"/>
            <a:tailEnd len="med" w="med" type="triangle"/>
          </a:ln>
        </p:spPr>
      </p:cxnSp>
      <p:cxnSp>
        <p:nvCxnSpPr>
          <p:cNvPr id="400" name="Google Shape;400;p42"/>
          <p:cNvCxnSpPr>
            <a:stCxn id="398" idx="5"/>
            <a:endCxn id="396" idx="2"/>
          </p:cNvCxnSpPr>
          <p:nvPr/>
        </p:nvCxnSpPr>
        <p:spPr>
          <a:xfrm>
            <a:off x="6931303" y="3682430"/>
            <a:ext cx="460200" cy="542700"/>
          </a:xfrm>
          <a:prstGeom prst="straightConnector1">
            <a:avLst/>
          </a:prstGeom>
          <a:noFill/>
          <a:ln cap="flat" cmpd="sng" w="19050">
            <a:solidFill>
              <a:srgbClr val="000000"/>
            </a:solidFill>
            <a:prstDash val="solid"/>
            <a:round/>
            <a:headEnd len="med" w="med" type="none"/>
            <a:tailEnd len="med" w="med" type="triangle"/>
          </a:ln>
        </p:spPr>
      </p:cxnSp>
      <p:cxnSp>
        <p:nvCxnSpPr>
          <p:cNvPr id="401" name="Google Shape;401;p42"/>
          <p:cNvCxnSpPr>
            <a:stCxn id="395" idx="6"/>
            <a:endCxn id="397" idx="1"/>
          </p:cNvCxnSpPr>
          <p:nvPr/>
        </p:nvCxnSpPr>
        <p:spPr>
          <a:xfrm>
            <a:off x="7876389" y="2722000"/>
            <a:ext cx="460200" cy="568500"/>
          </a:xfrm>
          <a:prstGeom prst="straightConnector1">
            <a:avLst/>
          </a:prstGeom>
          <a:noFill/>
          <a:ln cap="flat" cmpd="sng" w="19050">
            <a:solidFill>
              <a:srgbClr val="000000"/>
            </a:solidFill>
            <a:prstDash val="solid"/>
            <a:round/>
            <a:headEnd len="med" w="med" type="none"/>
            <a:tailEnd len="med" w="med" type="triangle"/>
          </a:ln>
        </p:spPr>
      </p:cxnSp>
      <p:cxnSp>
        <p:nvCxnSpPr>
          <p:cNvPr id="402" name="Google Shape;402;p42"/>
          <p:cNvCxnSpPr>
            <a:stCxn id="396" idx="6"/>
            <a:endCxn id="397" idx="3"/>
          </p:cNvCxnSpPr>
          <p:nvPr/>
        </p:nvCxnSpPr>
        <p:spPr>
          <a:xfrm flipH="1" rot="10800000">
            <a:off x="7876389" y="3682299"/>
            <a:ext cx="460200" cy="542700"/>
          </a:xfrm>
          <a:prstGeom prst="straightConnector1">
            <a:avLst/>
          </a:prstGeom>
          <a:noFill/>
          <a:ln cap="flat" cmpd="sng" w="19050">
            <a:solidFill>
              <a:srgbClr val="000000"/>
            </a:solidFill>
            <a:prstDash val="solid"/>
            <a:round/>
            <a:headEnd len="med" w="med" type="none"/>
            <a:tailEnd len="med" w="med" type="triangle"/>
          </a:ln>
        </p:spPr>
      </p:cxnSp>
      <p:cxnSp>
        <p:nvCxnSpPr>
          <p:cNvPr id="403" name="Google Shape;403;p42"/>
          <p:cNvCxnSpPr>
            <a:stCxn id="395" idx="4"/>
            <a:endCxn id="396" idx="0"/>
          </p:cNvCxnSpPr>
          <p:nvPr/>
        </p:nvCxnSpPr>
        <p:spPr>
          <a:xfrm>
            <a:off x="7633989" y="2999200"/>
            <a:ext cx="0" cy="948600"/>
          </a:xfrm>
          <a:prstGeom prst="straightConnector1">
            <a:avLst/>
          </a:prstGeom>
          <a:noFill/>
          <a:ln cap="flat" cmpd="sng" w="19050">
            <a:solidFill>
              <a:srgbClr val="000000"/>
            </a:solidFill>
            <a:prstDash val="solid"/>
            <a:round/>
            <a:headEnd len="med" w="med" type="none"/>
            <a:tailEnd len="med" w="med" type="triangle"/>
          </a:ln>
        </p:spPr>
      </p:cxnSp>
      <p:sp>
        <p:nvSpPr>
          <p:cNvPr id="404" name="Google Shape;404;p42"/>
          <p:cNvSpPr txBox="1"/>
          <p:nvPr/>
        </p:nvSpPr>
        <p:spPr>
          <a:xfrm>
            <a:off x="6630650" y="2685400"/>
            <a:ext cx="606300" cy="3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7/10</a:t>
            </a:r>
            <a:endParaRPr b="1" sz="1800">
              <a:latin typeface="Times"/>
              <a:ea typeface="Times"/>
              <a:cs typeface="Times"/>
              <a:sym typeface="Times"/>
            </a:endParaRPr>
          </a:p>
        </p:txBody>
      </p:sp>
      <p:sp>
        <p:nvSpPr>
          <p:cNvPr id="405" name="Google Shape;405;p42"/>
          <p:cNvSpPr txBox="1"/>
          <p:nvPr/>
        </p:nvSpPr>
        <p:spPr>
          <a:xfrm>
            <a:off x="7990250" y="2636200"/>
            <a:ext cx="6063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4</a:t>
            </a:r>
            <a:r>
              <a:rPr b="1" lang="en-GB" sz="1800">
                <a:latin typeface="Times"/>
                <a:ea typeface="Times"/>
                <a:cs typeface="Times"/>
                <a:sym typeface="Times"/>
              </a:rPr>
              <a:t>/10</a:t>
            </a:r>
            <a:endParaRPr b="1" sz="1800">
              <a:latin typeface="Times"/>
              <a:ea typeface="Times"/>
              <a:cs typeface="Times"/>
              <a:sym typeface="Times"/>
            </a:endParaRPr>
          </a:p>
        </p:txBody>
      </p:sp>
      <p:sp>
        <p:nvSpPr>
          <p:cNvPr id="406" name="Google Shape;406;p42"/>
          <p:cNvSpPr txBox="1"/>
          <p:nvPr/>
        </p:nvSpPr>
        <p:spPr>
          <a:xfrm>
            <a:off x="7990250" y="3879700"/>
            <a:ext cx="606300" cy="34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8</a:t>
            </a:r>
            <a:r>
              <a:rPr b="1" lang="en-GB" sz="1800">
                <a:latin typeface="Times"/>
                <a:ea typeface="Times"/>
                <a:cs typeface="Times"/>
                <a:sym typeface="Times"/>
              </a:rPr>
              <a:t>/10</a:t>
            </a:r>
            <a:endParaRPr b="1" sz="1800">
              <a:latin typeface="Times"/>
              <a:ea typeface="Times"/>
              <a:cs typeface="Times"/>
              <a:sym typeface="Times"/>
            </a:endParaRPr>
          </a:p>
        </p:txBody>
      </p:sp>
      <p:sp>
        <p:nvSpPr>
          <p:cNvPr id="407" name="Google Shape;407;p42"/>
          <p:cNvSpPr txBox="1"/>
          <p:nvPr/>
        </p:nvSpPr>
        <p:spPr>
          <a:xfrm>
            <a:off x="6675750" y="3797200"/>
            <a:ext cx="561300" cy="34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5</a:t>
            </a:r>
            <a:r>
              <a:rPr b="1" lang="en-GB" sz="1800">
                <a:latin typeface="Times"/>
                <a:ea typeface="Times"/>
                <a:cs typeface="Times"/>
                <a:sym typeface="Times"/>
              </a:rPr>
              <a:t>/5</a:t>
            </a:r>
            <a:endParaRPr b="1" sz="1800">
              <a:latin typeface="Times"/>
              <a:ea typeface="Times"/>
              <a:cs typeface="Times"/>
              <a:sym typeface="Times"/>
            </a:endParaRPr>
          </a:p>
        </p:txBody>
      </p:sp>
      <p:sp>
        <p:nvSpPr>
          <p:cNvPr id="408" name="Google Shape;408;p42"/>
          <p:cNvSpPr txBox="1"/>
          <p:nvPr/>
        </p:nvSpPr>
        <p:spPr>
          <a:xfrm>
            <a:off x="7633950" y="3290400"/>
            <a:ext cx="606300" cy="3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3</a:t>
            </a:r>
            <a:r>
              <a:rPr b="1" lang="en-GB" sz="1800">
                <a:latin typeface="Times"/>
                <a:ea typeface="Times"/>
                <a:cs typeface="Times"/>
                <a:sym typeface="Times"/>
              </a:rPr>
              <a:t>/15</a:t>
            </a:r>
            <a:endParaRPr b="1" sz="1800">
              <a:latin typeface="Times"/>
              <a:ea typeface="Times"/>
              <a:cs typeface="Times"/>
              <a:sym typeface="Times"/>
            </a:endParaRPr>
          </a:p>
        </p:txBody>
      </p:sp>
      <p:sp>
        <p:nvSpPr>
          <p:cNvPr id="409" name="Google Shape;409;p42"/>
          <p:cNvSpPr txBox="1"/>
          <p:nvPr/>
        </p:nvSpPr>
        <p:spPr>
          <a:xfrm>
            <a:off x="553925" y="906400"/>
            <a:ext cx="8201700" cy="3970200"/>
          </a:xfrm>
          <a:prstGeom prst="rect">
            <a:avLst/>
          </a:prstGeom>
          <a:noFill/>
          <a:ln>
            <a:noFill/>
          </a:ln>
        </p:spPr>
        <p:txBody>
          <a:bodyPr anchorCtr="0" anchor="t" bIns="91425" lIns="91425" spcFirstLastPara="1" rIns="91425" wrap="square" tIns="91425">
            <a:noAutofit/>
          </a:bodyPr>
          <a:lstStyle/>
          <a:p>
            <a:pPr indent="-349250" lvl="0" marL="457200" rtl="0" algn="l">
              <a:spcBef>
                <a:spcPts val="900"/>
              </a:spcBef>
              <a:spcAft>
                <a:spcPts val="0"/>
              </a:spcAft>
              <a:buSzPts val="1900"/>
              <a:buAutoNum type="arabicPeriod"/>
            </a:pPr>
            <a:r>
              <a:rPr b="1" lang="en-GB" sz="1900">
                <a:latin typeface="Times"/>
                <a:ea typeface="Times"/>
                <a:cs typeface="Times"/>
                <a:sym typeface="Times"/>
              </a:rPr>
              <a:t>Capacity Constraint</a:t>
            </a:r>
            <a:r>
              <a:rPr lang="en-GB" sz="1900">
                <a:latin typeface="Times"/>
                <a:ea typeface="Times"/>
                <a:cs typeface="Times"/>
                <a:sym typeface="Times"/>
              </a:rPr>
              <a:t>: 0 ≤ f(u,v) ≤ c(u,v)</a:t>
            </a:r>
            <a:endParaRPr sz="1900">
              <a:latin typeface="Times"/>
              <a:ea typeface="Times"/>
              <a:cs typeface="Times"/>
              <a:sym typeface="Times"/>
            </a:endParaRPr>
          </a:p>
          <a:p>
            <a:pPr indent="0" lvl="0" marL="457200" rtl="0" algn="l">
              <a:spcBef>
                <a:spcPts val="900"/>
              </a:spcBef>
              <a:spcAft>
                <a:spcPts val="0"/>
              </a:spcAft>
              <a:buNone/>
            </a:pPr>
            <a:r>
              <a:rPr lang="en-GB" sz="1600">
                <a:latin typeface="Times"/>
                <a:ea typeface="Times"/>
                <a:cs typeface="Times"/>
                <a:sym typeface="Times"/>
              </a:rPr>
              <a:t>f(s,a) = 7≤10, f(s,b) = 5≤5, f(a,b) = 3≤15, f(a, t) = 4≤10, f(b, t) = 8≤10</a:t>
            </a:r>
            <a:endParaRPr b="1" sz="1600">
              <a:latin typeface="Times"/>
              <a:ea typeface="Times"/>
              <a:cs typeface="Times"/>
              <a:sym typeface="Times"/>
            </a:endParaRPr>
          </a:p>
          <a:p>
            <a:pPr indent="-349250" lvl="0" marL="457200" rtl="0" algn="l">
              <a:spcBef>
                <a:spcPts val="900"/>
              </a:spcBef>
              <a:spcAft>
                <a:spcPts val="0"/>
              </a:spcAft>
              <a:buSzPts val="1900"/>
              <a:buAutoNum type="arabicPeriod"/>
            </a:pPr>
            <a:r>
              <a:rPr b="1" lang="en-GB" sz="1900">
                <a:latin typeface="Times"/>
                <a:ea typeface="Times"/>
                <a:cs typeface="Times"/>
                <a:sym typeface="Times"/>
              </a:rPr>
              <a:t>Flow Conservation</a:t>
            </a:r>
            <a:r>
              <a:rPr lang="en-GB" sz="1900">
                <a:latin typeface="Times"/>
                <a:ea typeface="Times"/>
                <a:cs typeface="Times"/>
                <a:sym typeface="Times"/>
              </a:rPr>
              <a:t>: ∑f(v,u) = ∑f(u,w)</a:t>
            </a:r>
            <a:endParaRPr sz="1900">
              <a:latin typeface="Times"/>
              <a:ea typeface="Times"/>
              <a:cs typeface="Times"/>
              <a:sym typeface="Times"/>
            </a:endParaRPr>
          </a:p>
          <a:p>
            <a:pPr indent="0" lvl="0" marL="457200" rtl="0" algn="l">
              <a:spcBef>
                <a:spcPts val="900"/>
              </a:spcBef>
              <a:spcAft>
                <a:spcPts val="0"/>
              </a:spcAft>
              <a:buNone/>
            </a:pPr>
            <a:r>
              <a:rPr lang="en-GB" sz="1700">
                <a:latin typeface="Times"/>
                <a:ea typeface="Times"/>
                <a:cs typeface="Times"/>
                <a:sym typeface="Times"/>
              </a:rPr>
              <a:t>f(in to a) = </a:t>
            </a:r>
            <a:r>
              <a:rPr lang="en-GB" sz="1600">
                <a:latin typeface="Times"/>
                <a:ea typeface="Times"/>
                <a:cs typeface="Times"/>
                <a:sym typeface="Times"/>
              </a:rPr>
              <a:t>f(s,a) </a:t>
            </a:r>
            <a:r>
              <a:rPr lang="en-GB" sz="1700">
                <a:latin typeface="Times"/>
                <a:ea typeface="Times"/>
                <a:cs typeface="Times"/>
                <a:sym typeface="Times"/>
              </a:rPr>
              <a:t>= 7, f( out from a) = </a:t>
            </a:r>
            <a:r>
              <a:rPr lang="en-GB" sz="1600">
                <a:latin typeface="Times"/>
                <a:ea typeface="Times"/>
                <a:cs typeface="Times"/>
                <a:sym typeface="Times"/>
              </a:rPr>
              <a:t>f(a, t) + f(a, b) = 4 + 3=7,</a:t>
            </a:r>
            <a:endParaRPr sz="1600">
              <a:latin typeface="Times"/>
              <a:ea typeface="Times"/>
              <a:cs typeface="Times"/>
              <a:sym typeface="Times"/>
            </a:endParaRPr>
          </a:p>
          <a:p>
            <a:pPr indent="0" lvl="0" marL="457200" rtl="0" algn="l">
              <a:spcBef>
                <a:spcPts val="900"/>
              </a:spcBef>
              <a:spcAft>
                <a:spcPts val="0"/>
              </a:spcAft>
              <a:buNone/>
            </a:pPr>
            <a:r>
              <a:rPr lang="en-GB" sz="1700">
                <a:latin typeface="Times"/>
                <a:ea typeface="Times"/>
                <a:cs typeface="Times"/>
                <a:sym typeface="Times"/>
              </a:rPr>
              <a:t>f(in to b) = </a:t>
            </a:r>
            <a:r>
              <a:rPr lang="en-GB" sz="1600">
                <a:latin typeface="Times"/>
                <a:ea typeface="Times"/>
                <a:cs typeface="Times"/>
                <a:sym typeface="Times"/>
              </a:rPr>
              <a:t>f(s,b) + f(a,b) </a:t>
            </a:r>
            <a:r>
              <a:rPr lang="en-GB" sz="1700">
                <a:latin typeface="Times"/>
                <a:ea typeface="Times"/>
                <a:cs typeface="Times"/>
                <a:sym typeface="Times"/>
              </a:rPr>
              <a:t>= 5 + 3 = 8, f( out from b) = </a:t>
            </a:r>
            <a:r>
              <a:rPr lang="en-GB" sz="1600">
                <a:latin typeface="Times"/>
                <a:ea typeface="Times"/>
                <a:cs typeface="Times"/>
                <a:sym typeface="Times"/>
              </a:rPr>
              <a:t>f(b, t) = 8</a:t>
            </a:r>
            <a:endParaRPr sz="1600">
              <a:latin typeface="Times"/>
              <a:ea typeface="Times"/>
              <a:cs typeface="Times"/>
              <a:sym typeface="Times"/>
            </a:endParaRPr>
          </a:p>
          <a:p>
            <a:pPr indent="-349250" lvl="0" marL="457200" rtl="0" algn="l">
              <a:spcBef>
                <a:spcPts val="900"/>
              </a:spcBef>
              <a:spcAft>
                <a:spcPts val="0"/>
              </a:spcAft>
              <a:buSzPts val="1900"/>
              <a:buAutoNum type="arabicPeriod"/>
            </a:pPr>
            <a:r>
              <a:rPr b="1" lang="en-GB" sz="1900">
                <a:latin typeface="Times"/>
                <a:ea typeface="Times"/>
                <a:cs typeface="Times"/>
                <a:sym typeface="Times"/>
              </a:rPr>
              <a:t>Skew Symmetry</a:t>
            </a:r>
            <a:r>
              <a:rPr lang="en-GB" sz="1900">
                <a:latin typeface="Times"/>
                <a:ea typeface="Times"/>
                <a:cs typeface="Times"/>
                <a:sym typeface="Times"/>
              </a:rPr>
              <a:t>: f(u,v)=−f(v,u)</a:t>
            </a:r>
            <a:endParaRPr sz="1900">
              <a:latin typeface="Times"/>
              <a:ea typeface="Times"/>
              <a:cs typeface="Times"/>
              <a:sym typeface="Times"/>
            </a:endParaRPr>
          </a:p>
          <a:p>
            <a:pPr indent="0" lvl="0" marL="457200" rtl="0" algn="l">
              <a:spcBef>
                <a:spcPts val="900"/>
              </a:spcBef>
              <a:spcAft>
                <a:spcPts val="0"/>
              </a:spcAft>
              <a:buNone/>
            </a:pPr>
            <a:r>
              <a:rPr lang="en-GB" sz="1700">
                <a:latin typeface="Times"/>
                <a:ea typeface="Times"/>
                <a:cs typeface="Times"/>
                <a:sym typeface="Times"/>
              </a:rPr>
              <a:t>f(a,b) = 3, f(b,a) = -3</a:t>
            </a:r>
            <a:endParaRPr sz="1700">
              <a:latin typeface="Times"/>
              <a:ea typeface="Times"/>
              <a:cs typeface="Times"/>
              <a:sym typeface="Times"/>
            </a:endParaRPr>
          </a:p>
          <a:p>
            <a:pPr indent="-349250" lvl="0" marL="457200" rtl="0" algn="l">
              <a:spcBef>
                <a:spcPts val="900"/>
              </a:spcBef>
              <a:spcAft>
                <a:spcPts val="0"/>
              </a:spcAft>
              <a:buSzPts val="1900"/>
              <a:buAutoNum type="arabicPeriod"/>
            </a:pPr>
            <a:r>
              <a:rPr b="1" lang="en-GB" sz="1900">
                <a:latin typeface="Times"/>
                <a:ea typeface="Times"/>
                <a:cs typeface="Times"/>
                <a:sym typeface="Times"/>
              </a:rPr>
              <a:t>Flow Value</a:t>
            </a:r>
            <a:r>
              <a:rPr lang="en-GB" sz="1900">
                <a:latin typeface="Times"/>
                <a:ea typeface="Times"/>
                <a:cs typeface="Times"/>
                <a:sym typeface="Times"/>
              </a:rPr>
              <a:t>:Value of flow = ∑f(s,u) = ∑f(v,t)</a:t>
            </a:r>
            <a:endParaRPr sz="1900">
              <a:latin typeface="Times"/>
              <a:ea typeface="Times"/>
              <a:cs typeface="Times"/>
              <a:sym typeface="Times"/>
            </a:endParaRPr>
          </a:p>
          <a:p>
            <a:pPr indent="0" lvl="0" marL="0" rtl="0" algn="l">
              <a:spcBef>
                <a:spcPts val="900"/>
              </a:spcBef>
              <a:spcAft>
                <a:spcPts val="0"/>
              </a:spcAft>
              <a:buNone/>
            </a:pPr>
            <a:r>
              <a:rPr lang="en-GB" sz="1900">
                <a:latin typeface="Times"/>
                <a:ea typeface="Times"/>
                <a:cs typeface="Times"/>
                <a:sym typeface="Times"/>
              </a:rPr>
              <a:t>	</a:t>
            </a:r>
            <a:r>
              <a:rPr lang="en-GB" sz="1700">
                <a:latin typeface="Times"/>
                <a:ea typeface="Times"/>
                <a:cs typeface="Times"/>
                <a:sym typeface="Times"/>
              </a:rPr>
              <a:t>Total flow leaving source ‘s’ = f(s,a) + f(s,b) = 7 + 5 = 12</a:t>
            </a:r>
            <a:endParaRPr sz="1700">
              <a:latin typeface="Times"/>
              <a:ea typeface="Times"/>
              <a:cs typeface="Times"/>
              <a:sym typeface="Times"/>
            </a:endParaRPr>
          </a:p>
          <a:p>
            <a:pPr indent="457200" lvl="0" marL="0" rtl="0" algn="l">
              <a:spcBef>
                <a:spcPts val="900"/>
              </a:spcBef>
              <a:spcAft>
                <a:spcPts val="900"/>
              </a:spcAft>
              <a:buNone/>
            </a:pPr>
            <a:r>
              <a:rPr lang="en-GB" sz="1700">
                <a:latin typeface="Times"/>
                <a:ea typeface="Times"/>
                <a:cs typeface="Times"/>
                <a:sym typeface="Times"/>
              </a:rPr>
              <a:t>Total flow leaving source ‘s’ = f(a,t) + f(b,t) = 4 + 8 = 12</a:t>
            </a:r>
            <a:endParaRPr sz="1700">
              <a:latin typeface="Times"/>
              <a:ea typeface="Times"/>
              <a:cs typeface="Times"/>
              <a:sym typeface="Time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413" name="Shape 413"/>
        <p:cNvGrpSpPr/>
        <p:nvPr/>
      </p:nvGrpSpPr>
      <p:grpSpPr>
        <a:xfrm>
          <a:off x="0" y="0"/>
          <a:ext cx="0" cy="0"/>
          <a:chOff x="0" y="0"/>
          <a:chExt cx="0" cy="0"/>
        </a:xfrm>
      </p:grpSpPr>
      <p:sp>
        <p:nvSpPr>
          <p:cNvPr id="414" name="Google Shape;414;p43"/>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415" name="Google Shape;415;p43"/>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416" name="Google Shape;416;p43"/>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417" name="Google Shape;417;p43"/>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4000">
                <a:solidFill>
                  <a:srgbClr val="2B2C30"/>
                </a:solidFill>
              </a:rPr>
              <a:t>What is the Max </a:t>
            </a:r>
            <a:r>
              <a:rPr b="1" lang="en-GB" sz="4000">
                <a:solidFill>
                  <a:srgbClr val="2B2C30"/>
                </a:solidFill>
              </a:rPr>
              <a:t>Flow Problem?</a:t>
            </a:r>
            <a:endParaRPr sz="4800"/>
          </a:p>
        </p:txBody>
      </p:sp>
      <p:cxnSp>
        <p:nvCxnSpPr>
          <p:cNvPr id="418" name="Google Shape;418;p43"/>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419" name="Google Shape;419;p43"/>
          <p:cNvSpPr txBox="1"/>
          <p:nvPr/>
        </p:nvSpPr>
        <p:spPr>
          <a:xfrm>
            <a:off x="553925" y="906400"/>
            <a:ext cx="8201700" cy="3970200"/>
          </a:xfrm>
          <a:prstGeom prst="rect">
            <a:avLst/>
          </a:prstGeom>
          <a:noFill/>
          <a:ln>
            <a:noFill/>
          </a:ln>
        </p:spPr>
        <p:txBody>
          <a:bodyPr anchorCtr="0" anchor="t" bIns="91425" lIns="91425" spcFirstLastPara="1" rIns="91425" wrap="square" tIns="91425">
            <a:noAutofit/>
          </a:bodyPr>
          <a:lstStyle/>
          <a:p>
            <a:pPr indent="-355600" lvl="0" marL="457200" rtl="0" algn="l">
              <a:lnSpc>
                <a:spcPct val="100000"/>
              </a:lnSpc>
              <a:spcBef>
                <a:spcPts val="900"/>
              </a:spcBef>
              <a:spcAft>
                <a:spcPts val="0"/>
              </a:spcAft>
              <a:buSzPts val="2000"/>
              <a:buChar char="➔"/>
            </a:pPr>
            <a:r>
              <a:rPr lang="en-GB" sz="2000">
                <a:latin typeface="Times"/>
                <a:ea typeface="Times"/>
                <a:cs typeface="Times"/>
                <a:sym typeface="Times"/>
              </a:rPr>
              <a:t>The </a:t>
            </a:r>
            <a:r>
              <a:rPr b="1" lang="en-GB" sz="2000">
                <a:latin typeface="Times"/>
                <a:ea typeface="Times"/>
                <a:cs typeface="Times"/>
                <a:sym typeface="Times"/>
              </a:rPr>
              <a:t>max flow problem</a:t>
            </a:r>
            <a:r>
              <a:rPr lang="en-GB" sz="2000">
                <a:latin typeface="Times"/>
                <a:ea typeface="Times"/>
                <a:cs typeface="Times"/>
                <a:sym typeface="Times"/>
              </a:rPr>
              <a:t> involves finding the maximum possible flow that can be sent from a </a:t>
            </a:r>
            <a:r>
              <a:rPr b="1" lang="en-GB" sz="2000">
                <a:latin typeface="Times"/>
                <a:ea typeface="Times"/>
                <a:cs typeface="Times"/>
                <a:sym typeface="Times"/>
              </a:rPr>
              <a:t>source</a:t>
            </a:r>
            <a:r>
              <a:rPr lang="en-GB" sz="2000">
                <a:latin typeface="Times"/>
                <a:ea typeface="Times"/>
                <a:cs typeface="Times"/>
                <a:sym typeface="Times"/>
              </a:rPr>
              <a:t> vertex (s) to a </a:t>
            </a:r>
            <a:r>
              <a:rPr b="1" lang="en-GB" sz="2000">
                <a:latin typeface="Times"/>
                <a:ea typeface="Times"/>
                <a:cs typeface="Times"/>
                <a:sym typeface="Times"/>
              </a:rPr>
              <a:t>sink</a:t>
            </a:r>
            <a:r>
              <a:rPr lang="en-GB" sz="2000">
                <a:latin typeface="Times"/>
                <a:ea typeface="Times"/>
                <a:cs typeface="Times"/>
                <a:sym typeface="Times"/>
              </a:rPr>
              <a:t> vertex (t) in a flow network, without exceeding the capacities of the edges.</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Char char="➔"/>
            </a:pPr>
            <a:r>
              <a:rPr lang="en-GB" sz="2000">
                <a:latin typeface="Times"/>
                <a:ea typeface="Times"/>
                <a:cs typeface="Times"/>
                <a:sym typeface="Times"/>
              </a:rPr>
              <a:t>The solution to this problem is the maximum amount of flow that satisfies:</a:t>
            </a:r>
            <a:endParaRPr sz="2000">
              <a:latin typeface="Times"/>
              <a:ea typeface="Times"/>
              <a:cs typeface="Times"/>
              <a:sym typeface="Times"/>
            </a:endParaRPr>
          </a:p>
          <a:p>
            <a:pPr indent="-355600" lvl="1" marL="914400" rtl="0" algn="l">
              <a:lnSpc>
                <a:spcPct val="100000"/>
              </a:lnSpc>
              <a:spcBef>
                <a:spcPts val="0"/>
              </a:spcBef>
              <a:spcAft>
                <a:spcPts val="0"/>
              </a:spcAft>
              <a:buSzPts val="2000"/>
              <a:buChar char="◆"/>
            </a:pPr>
            <a:r>
              <a:rPr b="1" lang="en-GB" sz="2000">
                <a:latin typeface="Times"/>
                <a:ea typeface="Times"/>
                <a:cs typeface="Times"/>
                <a:sym typeface="Times"/>
              </a:rPr>
              <a:t>Capacity Constraint</a:t>
            </a:r>
            <a:r>
              <a:rPr lang="en-GB" sz="2000">
                <a:latin typeface="Times"/>
                <a:ea typeface="Times"/>
                <a:cs typeface="Times"/>
                <a:sym typeface="Times"/>
              </a:rPr>
              <a:t>: Flow on each edge does not exceed its capacity.</a:t>
            </a:r>
            <a:endParaRPr sz="2000">
              <a:latin typeface="Times"/>
              <a:ea typeface="Times"/>
              <a:cs typeface="Times"/>
              <a:sym typeface="Times"/>
            </a:endParaRPr>
          </a:p>
          <a:p>
            <a:pPr indent="-355600" lvl="1" marL="914400" rtl="0" algn="l">
              <a:lnSpc>
                <a:spcPct val="100000"/>
              </a:lnSpc>
              <a:spcBef>
                <a:spcPts val="0"/>
              </a:spcBef>
              <a:spcAft>
                <a:spcPts val="0"/>
              </a:spcAft>
              <a:buSzPts val="2000"/>
              <a:buChar char="◆"/>
            </a:pPr>
            <a:r>
              <a:rPr b="1" lang="en-GB" sz="2000">
                <a:latin typeface="Times"/>
                <a:ea typeface="Times"/>
                <a:cs typeface="Times"/>
                <a:sym typeface="Times"/>
              </a:rPr>
              <a:t>Flow Conservation</a:t>
            </a:r>
            <a:r>
              <a:rPr lang="en-GB" sz="2000">
                <a:latin typeface="Times"/>
                <a:ea typeface="Times"/>
                <a:cs typeface="Times"/>
                <a:sym typeface="Times"/>
              </a:rPr>
              <a:t>: Total flow into a vertex (except sss and ttt) equals total flow out of the vertex.</a:t>
            </a:r>
            <a:endParaRPr sz="2000">
              <a:latin typeface="Times"/>
              <a:ea typeface="Times"/>
              <a:cs typeface="Times"/>
              <a:sym typeface="Times"/>
            </a:endParaRPr>
          </a:p>
          <a:p>
            <a:pPr indent="-355600" lvl="1" marL="914400" rtl="0" algn="l">
              <a:lnSpc>
                <a:spcPct val="100000"/>
              </a:lnSpc>
              <a:spcBef>
                <a:spcPts val="0"/>
              </a:spcBef>
              <a:spcAft>
                <a:spcPts val="0"/>
              </a:spcAft>
              <a:buSzPts val="2000"/>
              <a:buChar char="◆"/>
            </a:pPr>
            <a:r>
              <a:rPr b="1" lang="en-GB" sz="2000">
                <a:latin typeface="Times"/>
                <a:ea typeface="Times"/>
                <a:cs typeface="Times"/>
                <a:sym typeface="Times"/>
              </a:rPr>
              <a:t>Skew Symmetry</a:t>
            </a:r>
            <a:r>
              <a:rPr lang="en-GB" sz="2000">
                <a:latin typeface="Times"/>
                <a:ea typeface="Times"/>
                <a:cs typeface="Times"/>
                <a:sym typeface="Times"/>
              </a:rPr>
              <a:t>: Flow in the reverse direction negates flow in the forward direction.</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Char char="➔"/>
            </a:pPr>
            <a:r>
              <a:rPr lang="en-GB" sz="2000">
                <a:latin typeface="Times"/>
                <a:ea typeface="Times"/>
                <a:cs typeface="Times"/>
                <a:sym typeface="Times"/>
              </a:rPr>
              <a:t>This problem can be solved by </a:t>
            </a:r>
            <a:r>
              <a:rPr i="1" lang="en-GB" sz="2000">
                <a:latin typeface="Times"/>
                <a:ea typeface="Times"/>
                <a:cs typeface="Times"/>
                <a:sym typeface="Times"/>
              </a:rPr>
              <a:t>Ford-Fulkerson Algorithm and Edmonds-Karp Algorithm</a:t>
            </a:r>
            <a:endParaRPr i="1" sz="2800">
              <a:latin typeface="Times"/>
              <a:ea typeface="Times"/>
              <a:cs typeface="Times"/>
              <a:sym typeface="Time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423" name="Shape 423"/>
        <p:cNvGrpSpPr/>
        <p:nvPr/>
      </p:nvGrpSpPr>
      <p:grpSpPr>
        <a:xfrm>
          <a:off x="0" y="0"/>
          <a:ext cx="0" cy="0"/>
          <a:chOff x="0" y="0"/>
          <a:chExt cx="0" cy="0"/>
        </a:xfrm>
      </p:grpSpPr>
      <p:sp>
        <p:nvSpPr>
          <p:cNvPr id="424" name="Google Shape;424;p44"/>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425" name="Google Shape;425;p44"/>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426" name="Google Shape;426;p44"/>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427" name="Google Shape;427;p44"/>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Ford-Fulkerson Algorithm</a:t>
            </a:r>
            <a:endParaRPr b="1" sz="4000">
              <a:latin typeface="Times"/>
              <a:ea typeface="Times"/>
              <a:cs typeface="Times"/>
              <a:sym typeface="Times"/>
            </a:endParaRPr>
          </a:p>
        </p:txBody>
      </p:sp>
      <p:cxnSp>
        <p:nvCxnSpPr>
          <p:cNvPr id="428" name="Google Shape;428;p44"/>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429" name="Google Shape;429;p44"/>
          <p:cNvSpPr txBox="1"/>
          <p:nvPr/>
        </p:nvSpPr>
        <p:spPr>
          <a:xfrm>
            <a:off x="553925" y="906400"/>
            <a:ext cx="8201700" cy="397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900"/>
              </a:spcBef>
              <a:spcAft>
                <a:spcPts val="0"/>
              </a:spcAft>
              <a:buNone/>
            </a:pPr>
            <a:r>
              <a:rPr lang="en-GB" sz="2000">
                <a:latin typeface="Times"/>
                <a:ea typeface="Times"/>
                <a:cs typeface="Times"/>
                <a:sym typeface="Times"/>
              </a:rPr>
              <a:t>The </a:t>
            </a:r>
            <a:r>
              <a:rPr b="1" lang="en-GB" sz="2000">
                <a:latin typeface="Times"/>
                <a:ea typeface="Times"/>
                <a:cs typeface="Times"/>
                <a:sym typeface="Times"/>
              </a:rPr>
              <a:t>Ford-Fulkerson</a:t>
            </a:r>
            <a:r>
              <a:rPr lang="en-GB" sz="2000">
                <a:latin typeface="Times"/>
                <a:ea typeface="Times"/>
                <a:cs typeface="Times"/>
                <a:sym typeface="Times"/>
              </a:rPr>
              <a:t> method is commonly used to compute the max flow. </a:t>
            </a:r>
            <a:endParaRPr sz="2000">
              <a:latin typeface="Times"/>
              <a:ea typeface="Times"/>
              <a:cs typeface="Times"/>
              <a:sym typeface="Times"/>
            </a:endParaRPr>
          </a:p>
          <a:p>
            <a:pPr indent="0" lvl="0" marL="0" rtl="0" algn="l">
              <a:lnSpc>
                <a:spcPct val="100000"/>
              </a:lnSpc>
              <a:spcBef>
                <a:spcPts val="900"/>
              </a:spcBef>
              <a:spcAft>
                <a:spcPts val="0"/>
              </a:spcAft>
              <a:buNone/>
            </a:pPr>
            <a:r>
              <a:rPr lang="en-GB" sz="2000">
                <a:latin typeface="Times"/>
                <a:ea typeface="Times"/>
                <a:cs typeface="Times"/>
                <a:sym typeface="Times"/>
              </a:rPr>
              <a:t>It iteratively augments the flow along paths from sss to ttt until no further augmentation is possible.</a:t>
            </a:r>
            <a:endParaRPr sz="2000">
              <a:latin typeface="Times"/>
              <a:ea typeface="Times"/>
              <a:cs typeface="Times"/>
              <a:sym typeface="Times"/>
            </a:endParaRPr>
          </a:p>
          <a:p>
            <a:pPr indent="0" lvl="0" marL="0" rtl="0" algn="l">
              <a:lnSpc>
                <a:spcPct val="100000"/>
              </a:lnSpc>
              <a:spcBef>
                <a:spcPts val="1200"/>
              </a:spcBef>
              <a:spcAft>
                <a:spcPts val="0"/>
              </a:spcAft>
              <a:buNone/>
            </a:pPr>
            <a:r>
              <a:rPr b="1" lang="en-GB" sz="2000">
                <a:latin typeface="Times"/>
                <a:ea typeface="Times"/>
                <a:cs typeface="Times"/>
                <a:sym typeface="Times"/>
              </a:rPr>
              <a:t>Step-by-Step Flow Calculation</a:t>
            </a:r>
            <a:endParaRPr b="1" sz="2000">
              <a:latin typeface="Times"/>
              <a:ea typeface="Times"/>
              <a:cs typeface="Times"/>
              <a:sym typeface="Times"/>
            </a:endParaRPr>
          </a:p>
          <a:p>
            <a:pPr indent="-355600" lvl="0" marL="457200" rtl="0" algn="l">
              <a:lnSpc>
                <a:spcPct val="100000"/>
              </a:lnSpc>
              <a:spcBef>
                <a:spcPts val="900"/>
              </a:spcBef>
              <a:spcAft>
                <a:spcPts val="0"/>
              </a:spcAft>
              <a:buSzPts val="2000"/>
              <a:buAutoNum type="arabicPeriod"/>
            </a:pPr>
            <a:r>
              <a:rPr b="1" lang="en-GB" sz="2000">
                <a:latin typeface="Times"/>
                <a:ea typeface="Times"/>
                <a:cs typeface="Times"/>
                <a:sym typeface="Times"/>
              </a:rPr>
              <a:t>Initialize the Flow</a:t>
            </a:r>
            <a:r>
              <a:rPr lang="en-GB" sz="2000">
                <a:latin typeface="Times"/>
                <a:ea typeface="Times"/>
                <a:cs typeface="Times"/>
                <a:sym typeface="Times"/>
              </a:rPr>
              <a:t>: Initially, all flow values; f(u,v)=0.</a:t>
            </a:r>
            <a:endParaRPr sz="2000">
              <a:latin typeface="Times"/>
              <a:ea typeface="Times"/>
              <a:cs typeface="Times"/>
              <a:sym typeface="Times"/>
            </a:endParaRPr>
          </a:p>
          <a:p>
            <a:pPr indent="-355600" lvl="0" marL="457200" rtl="0" algn="l">
              <a:lnSpc>
                <a:spcPct val="100000"/>
              </a:lnSpc>
              <a:spcBef>
                <a:spcPts val="0"/>
              </a:spcBef>
              <a:spcAft>
                <a:spcPts val="0"/>
              </a:spcAft>
              <a:buSzPts val="2000"/>
              <a:buAutoNum type="arabicPeriod"/>
            </a:pPr>
            <a:r>
              <a:rPr b="1" lang="en-GB" sz="2000">
                <a:latin typeface="Times"/>
                <a:ea typeface="Times"/>
                <a:cs typeface="Times"/>
                <a:sym typeface="Times"/>
              </a:rPr>
              <a:t>Find an Augmenting Path</a:t>
            </a:r>
            <a:r>
              <a:rPr lang="en-GB" sz="2000">
                <a:latin typeface="Times"/>
                <a:ea typeface="Times"/>
                <a:cs typeface="Times"/>
                <a:sym typeface="Times"/>
              </a:rPr>
              <a:t>: Use a path-finding algorithm like DFS or BFS to find a path from source ‘s’ to sink ‘t’ where the remaining capacity; r</a:t>
            </a:r>
            <a:r>
              <a:rPr lang="en-GB" sz="2000">
                <a:latin typeface="Times"/>
                <a:ea typeface="Times"/>
                <a:cs typeface="Times"/>
                <a:sym typeface="Times"/>
              </a:rPr>
              <a:t>(u,v) = </a:t>
            </a:r>
            <a:r>
              <a:rPr lang="en-GB" sz="2000">
                <a:latin typeface="Times"/>
                <a:ea typeface="Times"/>
                <a:cs typeface="Times"/>
                <a:sym typeface="Times"/>
              </a:rPr>
              <a:t>c(u,v)−f(u,v) &gt; 0.</a:t>
            </a:r>
            <a:endParaRPr sz="2000">
              <a:latin typeface="Times"/>
              <a:ea typeface="Times"/>
              <a:cs typeface="Times"/>
              <a:sym typeface="Times"/>
            </a:endParaRPr>
          </a:p>
          <a:p>
            <a:pPr indent="-355600" lvl="0" marL="457200" rtl="0" algn="l">
              <a:lnSpc>
                <a:spcPct val="100000"/>
              </a:lnSpc>
              <a:spcBef>
                <a:spcPts val="0"/>
              </a:spcBef>
              <a:spcAft>
                <a:spcPts val="0"/>
              </a:spcAft>
              <a:buSzPts val="2000"/>
              <a:buAutoNum type="arabicPeriod"/>
            </a:pPr>
            <a:r>
              <a:rPr b="1" lang="en-GB" sz="2000">
                <a:latin typeface="Times"/>
                <a:ea typeface="Times"/>
                <a:cs typeface="Times"/>
                <a:sym typeface="Times"/>
              </a:rPr>
              <a:t>Augment Flow</a:t>
            </a:r>
            <a:r>
              <a:rPr lang="en-GB" sz="2000">
                <a:latin typeface="Times"/>
                <a:ea typeface="Times"/>
                <a:cs typeface="Times"/>
                <a:sym typeface="Times"/>
              </a:rPr>
              <a:t>: Increase the flow along the path by the minimum residual capacity.</a:t>
            </a:r>
            <a:endParaRPr sz="2000">
              <a:latin typeface="Times"/>
              <a:ea typeface="Times"/>
              <a:cs typeface="Times"/>
              <a:sym typeface="Time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433" name="Shape 433"/>
        <p:cNvGrpSpPr/>
        <p:nvPr/>
      </p:nvGrpSpPr>
      <p:grpSpPr>
        <a:xfrm>
          <a:off x="0" y="0"/>
          <a:ext cx="0" cy="0"/>
          <a:chOff x="0" y="0"/>
          <a:chExt cx="0" cy="0"/>
        </a:xfrm>
      </p:grpSpPr>
      <p:sp>
        <p:nvSpPr>
          <p:cNvPr id="434" name="Google Shape;434;p45"/>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435" name="Google Shape;435;p45"/>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436" name="Google Shape;436;p45"/>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437" name="Google Shape;437;p45"/>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Ford-Fulkerson Algorithm</a:t>
            </a:r>
            <a:endParaRPr b="1" sz="4000">
              <a:latin typeface="Times"/>
              <a:ea typeface="Times"/>
              <a:cs typeface="Times"/>
              <a:sym typeface="Times"/>
            </a:endParaRPr>
          </a:p>
        </p:txBody>
      </p:sp>
      <p:cxnSp>
        <p:nvCxnSpPr>
          <p:cNvPr id="438" name="Google Shape;438;p45"/>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439" name="Google Shape;439;p45"/>
          <p:cNvSpPr txBox="1"/>
          <p:nvPr/>
        </p:nvSpPr>
        <p:spPr>
          <a:xfrm>
            <a:off x="553925" y="906400"/>
            <a:ext cx="5013900" cy="397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900"/>
              </a:spcBef>
              <a:spcAft>
                <a:spcPts val="0"/>
              </a:spcAft>
              <a:buNone/>
            </a:pPr>
            <a:r>
              <a:rPr b="1" lang="en-GB" sz="2000">
                <a:latin typeface="Times"/>
                <a:ea typeface="Times"/>
                <a:cs typeface="Times"/>
                <a:sym typeface="Times"/>
              </a:rPr>
              <a:t>Initial Path</a:t>
            </a:r>
            <a:r>
              <a:rPr lang="en-GB" sz="2000">
                <a:latin typeface="Times"/>
                <a:ea typeface="Times"/>
                <a:cs typeface="Times"/>
                <a:sym typeface="Times"/>
              </a:rPr>
              <a:t>: s→a→t</a:t>
            </a:r>
            <a:endParaRPr sz="2000">
              <a:latin typeface="Times"/>
              <a:ea typeface="Times"/>
              <a:cs typeface="Times"/>
              <a:sym typeface="Times"/>
            </a:endParaRPr>
          </a:p>
          <a:p>
            <a:pPr indent="-355600" lvl="0" marL="457200" rtl="0" algn="l">
              <a:lnSpc>
                <a:spcPct val="100000"/>
              </a:lnSpc>
              <a:spcBef>
                <a:spcPts val="900"/>
              </a:spcBef>
              <a:spcAft>
                <a:spcPts val="0"/>
              </a:spcAft>
              <a:buSzPts val="2000"/>
              <a:buFont typeface="Times"/>
              <a:buChar char="●"/>
            </a:pPr>
            <a:r>
              <a:rPr lang="en-GB" sz="2000">
                <a:latin typeface="Times"/>
                <a:ea typeface="Times"/>
                <a:cs typeface="Times"/>
                <a:sym typeface="Times"/>
              </a:rPr>
              <a:t>Residual capacity: </a:t>
            </a:r>
            <a:r>
              <a:rPr i="1" lang="en-GB" sz="2000">
                <a:latin typeface="Times"/>
                <a:ea typeface="Times"/>
                <a:cs typeface="Times"/>
                <a:sym typeface="Times"/>
              </a:rPr>
              <a:t>min⁡(10,10) = 10</a:t>
            </a:r>
            <a:endParaRPr i="1" sz="2000">
              <a:latin typeface="Times"/>
              <a:ea typeface="Times"/>
              <a:cs typeface="Times"/>
              <a:sym typeface="Times"/>
            </a:endParaRPr>
          </a:p>
          <a:p>
            <a:pPr indent="-355600" lvl="0" marL="457200" rtl="0" algn="l">
              <a:lnSpc>
                <a:spcPct val="100000"/>
              </a:lnSpc>
              <a:spcBef>
                <a:spcPts val="0"/>
              </a:spcBef>
              <a:spcAft>
                <a:spcPts val="0"/>
              </a:spcAft>
              <a:buSzPts val="2000"/>
              <a:buFont typeface="Times"/>
              <a:buChar char="●"/>
            </a:pPr>
            <a:r>
              <a:rPr lang="en-GB" sz="2000">
                <a:latin typeface="Times"/>
                <a:ea typeface="Times"/>
                <a:cs typeface="Times"/>
                <a:sym typeface="Times"/>
              </a:rPr>
              <a:t>Augment flow: </a:t>
            </a:r>
            <a:r>
              <a:rPr i="1" lang="en-GB" sz="2000">
                <a:latin typeface="Times"/>
                <a:ea typeface="Times"/>
                <a:cs typeface="Times"/>
                <a:sym typeface="Times"/>
              </a:rPr>
              <a:t>f(s,a) = 10, f(a,t) = 10</a:t>
            </a:r>
            <a:endParaRPr i="1" sz="2000">
              <a:latin typeface="Times"/>
              <a:ea typeface="Times"/>
              <a:cs typeface="Times"/>
              <a:sym typeface="Times"/>
            </a:endParaRPr>
          </a:p>
          <a:p>
            <a:pPr indent="0" lvl="0" marL="0" rtl="0" algn="l">
              <a:lnSpc>
                <a:spcPct val="100000"/>
              </a:lnSpc>
              <a:spcBef>
                <a:spcPts val="900"/>
              </a:spcBef>
              <a:spcAft>
                <a:spcPts val="0"/>
              </a:spcAft>
              <a:buNone/>
            </a:pPr>
            <a:r>
              <a:rPr b="1" lang="en-GB" sz="2000">
                <a:latin typeface="Times"/>
                <a:ea typeface="Times"/>
                <a:cs typeface="Times"/>
                <a:sym typeface="Times"/>
              </a:rPr>
              <a:t>Next Path</a:t>
            </a:r>
            <a:r>
              <a:rPr lang="en-GB" sz="2000">
                <a:latin typeface="Times"/>
                <a:ea typeface="Times"/>
                <a:cs typeface="Times"/>
                <a:sym typeface="Times"/>
              </a:rPr>
              <a:t>: s→b→t</a:t>
            </a:r>
            <a:endParaRPr sz="2000">
              <a:latin typeface="Times"/>
              <a:ea typeface="Times"/>
              <a:cs typeface="Times"/>
              <a:sym typeface="Times"/>
            </a:endParaRPr>
          </a:p>
          <a:p>
            <a:pPr indent="-355600" lvl="0" marL="457200" rtl="0" algn="l">
              <a:lnSpc>
                <a:spcPct val="100000"/>
              </a:lnSpc>
              <a:spcBef>
                <a:spcPts val="900"/>
              </a:spcBef>
              <a:spcAft>
                <a:spcPts val="0"/>
              </a:spcAft>
              <a:buSzPts val="2000"/>
              <a:buFont typeface="Times"/>
              <a:buChar char="●"/>
            </a:pPr>
            <a:r>
              <a:rPr lang="en-GB" sz="2000">
                <a:latin typeface="Times"/>
                <a:ea typeface="Times"/>
                <a:cs typeface="Times"/>
                <a:sym typeface="Times"/>
              </a:rPr>
              <a:t>Residual capacity: </a:t>
            </a:r>
            <a:r>
              <a:rPr i="1" lang="en-GB" sz="2000">
                <a:latin typeface="Times"/>
                <a:ea typeface="Times"/>
                <a:cs typeface="Times"/>
                <a:sym typeface="Times"/>
              </a:rPr>
              <a:t>min⁡(5,10) = 5</a:t>
            </a:r>
            <a:endParaRPr i="1" sz="2000">
              <a:latin typeface="Times"/>
              <a:ea typeface="Times"/>
              <a:cs typeface="Times"/>
              <a:sym typeface="Times"/>
            </a:endParaRPr>
          </a:p>
          <a:p>
            <a:pPr indent="-355600" lvl="0" marL="457200" rtl="0" algn="l">
              <a:lnSpc>
                <a:spcPct val="100000"/>
              </a:lnSpc>
              <a:spcBef>
                <a:spcPts val="0"/>
              </a:spcBef>
              <a:spcAft>
                <a:spcPts val="0"/>
              </a:spcAft>
              <a:buSzPts val="2000"/>
              <a:buFont typeface="Times"/>
              <a:buChar char="●"/>
            </a:pPr>
            <a:r>
              <a:rPr lang="en-GB" sz="2000">
                <a:latin typeface="Times"/>
                <a:ea typeface="Times"/>
                <a:cs typeface="Times"/>
                <a:sym typeface="Times"/>
              </a:rPr>
              <a:t>Augment flow: </a:t>
            </a:r>
            <a:r>
              <a:rPr i="1" lang="en-GB" sz="2000">
                <a:latin typeface="Times"/>
                <a:ea typeface="Times"/>
                <a:cs typeface="Times"/>
                <a:sym typeface="Times"/>
              </a:rPr>
              <a:t>f(s,b) = 5, f(b,t) = 5</a:t>
            </a:r>
            <a:endParaRPr i="1" sz="2000">
              <a:latin typeface="Times"/>
              <a:ea typeface="Times"/>
              <a:cs typeface="Times"/>
              <a:sym typeface="Times"/>
            </a:endParaRPr>
          </a:p>
          <a:p>
            <a:pPr indent="0" lvl="0" marL="0" rtl="0" algn="l">
              <a:lnSpc>
                <a:spcPct val="100000"/>
              </a:lnSpc>
              <a:spcBef>
                <a:spcPts val="900"/>
              </a:spcBef>
              <a:spcAft>
                <a:spcPts val="0"/>
              </a:spcAft>
              <a:buNone/>
            </a:pPr>
            <a:r>
              <a:rPr b="1" lang="en-GB" sz="2000">
                <a:latin typeface="Times"/>
                <a:ea typeface="Times"/>
                <a:cs typeface="Times"/>
                <a:sym typeface="Times"/>
              </a:rPr>
              <a:t>Final Flow</a:t>
            </a:r>
            <a:r>
              <a:rPr lang="en-GB" sz="2000">
                <a:latin typeface="Times"/>
                <a:ea typeface="Times"/>
                <a:cs typeface="Times"/>
                <a:sym typeface="Times"/>
              </a:rPr>
              <a:t>:</a:t>
            </a:r>
            <a:endParaRPr sz="2000">
              <a:latin typeface="Times"/>
              <a:ea typeface="Times"/>
              <a:cs typeface="Times"/>
              <a:sym typeface="Times"/>
            </a:endParaRPr>
          </a:p>
          <a:p>
            <a:pPr indent="-355600" lvl="0" marL="457200" rtl="0" algn="l">
              <a:lnSpc>
                <a:spcPct val="100000"/>
              </a:lnSpc>
              <a:spcBef>
                <a:spcPts val="900"/>
              </a:spcBef>
              <a:spcAft>
                <a:spcPts val="0"/>
              </a:spcAft>
              <a:buSzPts val="2000"/>
              <a:buFont typeface="Times"/>
              <a:buChar char="●"/>
            </a:pPr>
            <a:r>
              <a:rPr lang="en-GB" sz="2000">
                <a:latin typeface="Times"/>
                <a:ea typeface="Times"/>
                <a:cs typeface="Times"/>
                <a:sym typeface="Times"/>
              </a:rPr>
              <a:t>Total flow = </a:t>
            </a:r>
            <a:r>
              <a:rPr i="1" lang="en-GB" sz="2000">
                <a:latin typeface="Times"/>
                <a:ea typeface="Times"/>
                <a:cs typeface="Times"/>
                <a:sym typeface="Times"/>
              </a:rPr>
              <a:t>f(s,a)+f(s,b) = 10+5 = 15</a:t>
            </a:r>
            <a:endParaRPr sz="2000">
              <a:latin typeface="Times"/>
              <a:ea typeface="Times"/>
              <a:cs typeface="Times"/>
              <a:sym typeface="Times"/>
            </a:endParaRPr>
          </a:p>
        </p:txBody>
      </p:sp>
      <p:sp>
        <p:nvSpPr>
          <p:cNvPr id="440" name="Google Shape;440;p45"/>
          <p:cNvSpPr/>
          <p:nvPr/>
        </p:nvSpPr>
        <p:spPr>
          <a:xfrm>
            <a:off x="6867055" y="1774975"/>
            <a:ext cx="644700" cy="6867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a</a:t>
            </a:r>
            <a:endParaRPr b="1" sz="2000">
              <a:latin typeface="Times"/>
              <a:ea typeface="Times"/>
              <a:cs typeface="Times"/>
              <a:sym typeface="Times"/>
            </a:endParaRPr>
          </a:p>
        </p:txBody>
      </p:sp>
      <p:sp>
        <p:nvSpPr>
          <p:cNvPr id="441" name="Google Shape;441;p45"/>
          <p:cNvSpPr/>
          <p:nvPr/>
        </p:nvSpPr>
        <p:spPr>
          <a:xfrm>
            <a:off x="6867055" y="3636700"/>
            <a:ext cx="644700" cy="6867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b</a:t>
            </a:r>
            <a:endParaRPr b="1" sz="2000">
              <a:latin typeface="Times"/>
              <a:ea typeface="Times"/>
              <a:cs typeface="Times"/>
              <a:sym typeface="Times"/>
            </a:endParaRPr>
          </a:p>
        </p:txBody>
      </p:sp>
      <p:sp>
        <p:nvSpPr>
          <p:cNvPr id="442" name="Google Shape;442;p45"/>
          <p:cNvSpPr/>
          <p:nvPr/>
        </p:nvSpPr>
        <p:spPr>
          <a:xfrm>
            <a:off x="8029550" y="2721841"/>
            <a:ext cx="644700" cy="6867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t</a:t>
            </a:r>
            <a:endParaRPr b="1" sz="2000">
              <a:latin typeface="Times"/>
              <a:ea typeface="Times"/>
              <a:cs typeface="Times"/>
              <a:sym typeface="Times"/>
            </a:endParaRPr>
          </a:p>
        </p:txBody>
      </p:sp>
      <p:sp>
        <p:nvSpPr>
          <p:cNvPr id="443" name="Google Shape;443;p45"/>
          <p:cNvSpPr/>
          <p:nvPr/>
        </p:nvSpPr>
        <p:spPr>
          <a:xfrm>
            <a:off x="5704600" y="2721841"/>
            <a:ext cx="644700" cy="6867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s</a:t>
            </a:r>
            <a:endParaRPr b="1" sz="2000">
              <a:latin typeface="Times"/>
              <a:ea typeface="Times"/>
              <a:cs typeface="Times"/>
              <a:sym typeface="Times"/>
            </a:endParaRPr>
          </a:p>
        </p:txBody>
      </p:sp>
      <p:cxnSp>
        <p:nvCxnSpPr>
          <p:cNvPr id="444" name="Google Shape;444;p45"/>
          <p:cNvCxnSpPr>
            <a:stCxn id="443" idx="7"/>
            <a:endCxn id="440" idx="2"/>
          </p:cNvCxnSpPr>
          <p:nvPr/>
        </p:nvCxnSpPr>
        <p:spPr>
          <a:xfrm flipH="1" rot="10800000">
            <a:off x="6254886" y="2118306"/>
            <a:ext cx="612300" cy="704100"/>
          </a:xfrm>
          <a:prstGeom prst="straightConnector1">
            <a:avLst/>
          </a:prstGeom>
          <a:noFill/>
          <a:ln cap="flat" cmpd="sng" w="19050">
            <a:solidFill>
              <a:srgbClr val="000000"/>
            </a:solidFill>
            <a:prstDash val="solid"/>
            <a:round/>
            <a:headEnd len="med" w="med" type="none"/>
            <a:tailEnd len="med" w="med" type="triangle"/>
          </a:ln>
        </p:spPr>
      </p:cxnSp>
      <p:cxnSp>
        <p:nvCxnSpPr>
          <p:cNvPr id="445" name="Google Shape;445;p45"/>
          <p:cNvCxnSpPr>
            <a:stCxn id="443" idx="5"/>
            <a:endCxn id="441" idx="2"/>
          </p:cNvCxnSpPr>
          <p:nvPr/>
        </p:nvCxnSpPr>
        <p:spPr>
          <a:xfrm>
            <a:off x="6254886" y="3307976"/>
            <a:ext cx="612300" cy="672000"/>
          </a:xfrm>
          <a:prstGeom prst="straightConnector1">
            <a:avLst/>
          </a:prstGeom>
          <a:noFill/>
          <a:ln cap="flat" cmpd="sng" w="19050">
            <a:solidFill>
              <a:srgbClr val="000000"/>
            </a:solidFill>
            <a:prstDash val="solid"/>
            <a:round/>
            <a:headEnd len="med" w="med" type="none"/>
            <a:tailEnd len="med" w="med" type="triangle"/>
          </a:ln>
        </p:spPr>
      </p:cxnSp>
      <p:cxnSp>
        <p:nvCxnSpPr>
          <p:cNvPr id="446" name="Google Shape;446;p45"/>
          <p:cNvCxnSpPr>
            <a:stCxn id="440" idx="6"/>
            <a:endCxn id="442" idx="1"/>
          </p:cNvCxnSpPr>
          <p:nvPr/>
        </p:nvCxnSpPr>
        <p:spPr>
          <a:xfrm>
            <a:off x="7511755" y="2118325"/>
            <a:ext cx="612300" cy="704100"/>
          </a:xfrm>
          <a:prstGeom prst="straightConnector1">
            <a:avLst/>
          </a:prstGeom>
          <a:noFill/>
          <a:ln cap="flat" cmpd="sng" w="19050">
            <a:solidFill>
              <a:srgbClr val="000000"/>
            </a:solidFill>
            <a:prstDash val="solid"/>
            <a:round/>
            <a:headEnd len="med" w="med" type="none"/>
            <a:tailEnd len="med" w="med" type="triangle"/>
          </a:ln>
        </p:spPr>
      </p:cxnSp>
      <p:cxnSp>
        <p:nvCxnSpPr>
          <p:cNvPr id="447" name="Google Shape;447;p45"/>
          <p:cNvCxnSpPr>
            <a:stCxn id="441" idx="6"/>
            <a:endCxn id="442" idx="3"/>
          </p:cNvCxnSpPr>
          <p:nvPr/>
        </p:nvCxnSpPr>
        <p:spPr>
          <a:xfrm flipH="1" rot="10800000">
            <a:off x="7511755" y="3308050"/>
            <a:ext cx="612300" cy="672000"/>
          </a:xfrm>
          <a:prstGeom prst="straightConnector1">
            <a:avLst/>
          </a:prstGeom>
          <a:noFill/>
          <a:ln cap="flat" cmpd="sng" w="19050">
            <a:solidFill>
              <a:srgbClr val="000000"/>
            </a:solidFill>
            <a:prstDash val="solid"/>
            <a:round/>
            <a:headEnd len="med" w="med" type="none"/>
            <a:tailEnd len="med" w="med" type="triangle"/>
          </a:ln>
        </p:spPr>
      </p:cxnSp>
      <p:cxnSp>
        <p:nvCxnSpPr>
          <p:cNvPr id="448" name="Google Shape;448;p45"/>
          <p:cNvCxnSpPr>
            <a:stCxn id="440" idx="4"/>
            <a:endCxn id="441" idx="0"/>
          </p:cNvCxnSpPr>
          <p:nvPr/>
        </p:nvCxnSpPr>
        <p:spPr>
          <a:xfrm>
            <a:off x="7189405" y="2461675"/>
            <a:ext cx="0" cy="1175100"/>
          </a:xfrm>
          <a:prstGeom prst="straightConnector1">
            <a:avLst/>
          </a:prstGeom>
          <a:noFill/>
          <a:ln cap="flat" cmpd="sng" w="19050">
            <a:solidFill>
              <a:srgbClr val="000000"/>
            </a:solidFill>
            <a:prstDash val="solid"/>
            <a:round/>
            <a:headEnd len="med" w="med" type="none"/>
            <a:tailEnd len="med" w="med" type="triangle"/>
          </a:ln>
        </p:spPr>
      </p:cxnSp>
      <p:sp>
        <p:nvSpPr>
          <p:cNvPr id="449" name="Google Shape;449;p45"/>
          <p:cNvSpPr txBox="1"/>
          <p:nvPr/>
        </p:nvSpPr>
        <p:spPr>
          <a:xfrm>
            <a:off x="6165001" y="2073000"/>
            <a:ext cx="4965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10</a:t>
            </a:r>
            <a:endParaRPr b="1" sz="1800">
              <a:latin typeface="Times"/>
              <a:ea typeface="Times"/>
              <a:cs typeface="Times"/>
              <a:sym typeface="Times"/>
            </a:endParaRPr>
          </a:p>
        </p:txBody>
      </p:sp>
      <p:sp>
        <p:nvSpPr>
          <p:cNvPr id="450" name="Google Shape;450;p45"/>
          <p:cNvSpPr txBox="1"/>
          <p:nvPr/>
        </p:nvSpPr>
        <p:spPr>
          <a:xfrm>
            <a:off x="7754824" y="2012050"/>
            <a:ext cx="714900" cy="49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10</a:t>
            </a:r>
            <a:endParaRPr b="1" sz="1800">
              <a:latin typeface="Times"/>
              <a:ea typeface="Times"/>
              <a:cs typeface="Times"/>
              <a:sym typeface="Times"/>
            </a:endParaRPr>
          </a:p>
        </p:txBody>
      </p:sp>
      <p:sp>
        <p:nvSpPr>
          <p:cNvPr id="451" name="Google Shape;451;p45"/>
          <p:cNvSpPr txBox="1"/>
          <p:nvPr/>
        </p:nvSpPr>
        <p:spPr>
          <a:xfrm>
            <a:off x="7824924" y="3552350"/>
            <a:ext cx="644700" cy="4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10</a:t>
            </a:r>
            <a:endParaRPr b="1" sz="1800">
              <a:latin typeface="Times"/>
              <a:ea typeface="Times"/>
              <a:cs typeface="Times"/>
              <a:sym typeface="Times"/>
            </a:endParaRPr>
          </a:p>
        </p:txBody>
      </p:sp>
      <p:sp>
        <p:nvSpPr>
          <p:cNvPr id="452" name="Google Shape;452;p45"/>
          <p:cNvSpPr txBox="1"/>
          <p:nvPr/>
        </p:nvSpPr>
        <p:spPr>
          <a:xfrm>
            <a:off x="6094439" y="3450150"/>
            <a:ext cx="567000" cy="4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5</a:t>
            </a:r>
            <a:endParaRPr b="1" sz="1800">
              <a:latin typeface="Times"/>
              <a:ea typeface="Times"/>
              <a:cs typeface="Times"/>
              <a:sym typeface="Times"/>
            </a:endParaRPr>
          </a:p>
        </p:txBody>
      </p:sp>
      <p:sp>
        <p:nvSpPr>
          <p:cNvPr id="453" name="Google Shape;453;p45"/>
          <p:cNvSpPr txBox="1"/>
          <p:nvPr/>
        </p:nvSpPr>
        <p:spPr>
          <a:xfrm>
            <a:off x="7189372" y="2822397"/>
            <a:ext cx="8064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15</a:t>
            </a:r>
            <a:endParaRPr b="1" sz="1800">
              <a:latin typeface="Times"/>
              <a:ea typeface="Times"/>
              <a:cs typeface="Times"/>
              <a:sym typeface="Time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457" name="Shape 457"/>
        <p:cNvGrpSpPr/>
        <p:nvPr/>
      </p:nvGrpSpPr>
      <p:grpSpPr>
        <a:xfrm>
          <a:off x="0" y="0"/>
          <a:ext cx="0" cy="0"/>
          <a:chOff x="0" y="0"/>
          <a:chExt cx="0" cy="0"/>
        </a:xfrm>
      </p:grpSpPr>
      <p:sp>
        <p:nvSpPr>
          <p:cNvPr id="458" name="Google Shape;458;p46"/>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459" name="Google Shape;459;p46"/>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460" name="Google Shape;460;p46"/>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461" name="Google Shape;461;p46"/>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Ford-Fulkerson Algorithm</a:t>
            </a:r>
            <a:endParaRPr b="1" sz="4000">
              <a:latin typeface="Times"/>
              <a:ea typeface="Times"/>
              <a:cs typeface="Times"/>
              <a:sym typeface="Times"/>
            </a:endParaRPr>
          </a:p>
        </p:txBody>
      </p:sp>
      <p:cxnSp>
        <p:nvCxnSpPr>
          <p:cNvPr id="462" name="Google Shape;462;p46"/>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463" name="Google Shape;463;p46"/>
          <p:cNvSpPr txBox="1"/>
          <p:nvPr/>
        </p:nvSpPr>
        <p:spPr>
          <a:xfrm>
            <a:off x="553925" y="906400"/>
            <a:ext cx="8201700" cy="397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400"/>
              </a:spcBef>
              <a:spcAft>
                <a:spcPts val="0"/>
              </a:spcAft>
              <a:buNone/>
            </a:pPr>
            <a:r>
              <a:rPr b="1" lang="en-GB" sz="2000">
                <a:latin typeface="Times"/>
                <a:ea typeface="Times"/>
                <a:cs typeface="Times"/>
                <a:sym typeface="Times"/>
              </a:rPr>
              <a:t>Verify Properties</a:t>
            </a:r>
            <a:endParaRPr b="1" sz="2000">
              <a:latin typeface="Times"/>
              <a:ea typeface="Times"/>
              <a:cs typeface="Times"/>
              <a:sym typeface="Times"/>
            </a:endParaRPr>
          </a:p>
          <a:p>
            <a:pPr indent="-355600" lvl="0" marL="457200" rtl="0" algn="l">
              <a:lnSpc>
                <a:spcPct val="100000"/>
              </a:lnSpc>
              <a:spcBef>
                <a:spcPts val="900"/>
              </a:spcBef>
              <a:spcAft>
                <a:spcPts val="0"/>
              </a:spcAft>
              <a:buSzPts val="2000"/>
              <a:buAutoNum type="arabicPeriod"/>
            </a:pPr>
            <a:r>
              <a:rPr b="1" lang="en-GB" sz="2000">
                <a:latin typeface="Times"/>
                <a:ea typeface="Times"/>
                <a:cs typeface="Times"/>
                <a:sym typeface="Times"/>
              </a:rPr>
              <a:t>Capacity Constraint</a:t>
            </a:r>
            <a:r>
              <a:rPr lang="en-GB" sz="2000">
                <a:latin typeface="Times"/>
                <a:ea typeface="Times"/>
                <a:cs typeface="Times"/>
                <a:sym typeface="Times"/>
              </a:rPr>
              <a:t>:</a:t>
            </a:r>
            <a:endParaRPr sz="2000">
              <a:latin typeface="Times"/>
              <a:ea typeface="Times"/>
              <a:cs typeface="Times"/>
              <a:sym typeface="Times"/>
            </a:endParaRPr>
          </a:p>
          <a:p>
            <a:pPr indent="-355600" lvl="1" marL="630000" rtl="0" algn="l">
              <a:lnSpc>
                <a:spcPct val="100000"/>
              </a:lnSpc>
              <a:spcBef>
                <a:spcPts val="0"/>
              </a:spcBef>
              <a:spcAft>
                <a:spcPts val="0"/>
              </a:spcAft>
              <a:buSzPts val="2000"/>
              <a:buFont typeface="Times"/>
              <a:buChar char="○"/>
            </a:pPr>
            <a:r>
              <a:rPr lang="en-GB" sz="2000">
                <a:latin typeface="Times"/>
                <a:ea typeface="Times"/>
                <a:cs typeface="Times"/>
                <a:sym typeface="Times"/>
              </a:rPr>
              <a:t>f(s,a) = 10 ≤ c(s,a) = 10, </a:t>
            </a:r>
            <a:r>
              <a:rPr lang="en-GB" sz="2000">
                <a:latin typeface="Times"/>
                <a:ea typeface="Times"/>
                <a:cs typeface="Times"/>
                <a:sym typeface="Times"/>
              </a:rPr>
              <a:t>f(a,t) = 10 ≤ c(a,t)=10</a:t>
            </a:r>
            <a:r>
              <a:rPr lang="en-GB" sz="2000">
                <a:latin typeface="Times"/>
                <a:ea typeface="Times"/>
                <a:cs typeface="Times"/>
                <a:sym typeface="Times"/>
              </a:rPr>
              <a:t> </a:t>
            </a:r>
            <a:endParaRPr sz="2000">
              <a:latin typeface="Times"/>
              <a:ea typeface="Times"/>
              <a:cs typeface="Times"/>
              <a:sym typeface="Times"/>
            </a:endParaRPr>
          </a:p>
          <a:p>
            <a:pPr indent="-355600" lvl="1" marL="630000" rtl="0" algn="l">
              <a:lnSpc>
                <a:spcPct val="100000"/>
              </a:lnSpc>
              <a:spcBef>
                <a:spcPts val="0"/>
              </a:spcBef>
              <a:spcAft>
                <a:spcPts val="0"/>
              </a:spcAft>
              <a:buSzPts val="2000"/>
              <a:buFont typeface="Times"/>
              <a:buChar char="○"/>
            </a:pPr>
            <a:r>
              <a:rPr lang="en-GB" sz="2000">
                <a:latin typeface="Times"/>
                <a:ea typeface="Times"/>
                <a:cs typeface="Times"/>
                <a:sym typeface="Times"/>
              </a:rPr>
              <a:t>f(s,b) = 5 ≤ c(s,b) = 5, </a:t>
            </a:r>
            <a:r>
              <a:rPr lang="en-GB" sz="2000">
                <a:latin typeface="Times"/>
                <a:ea typeface="Times"/>
                <a:cs typeface="Times"/>
                <a:sym typeface="Times"/>
              </a:rPr>
              <a:t>f(b,t) = 5 ≤ c(b,t) = 10</a:t>
            </a:r>
            <a:endParaRPr sz="2000">
              <a:latin typeface="Times"/>
              <a:ea typeface="Times"/>
              <a:cs typeface="Times"/>
              <a:sym typeface="Times"/>
            </a:endParaRPr>
          </a:p>
          <a:p>
            <a:pPr indent="-355600" lvl="0" marL="457200" rtl="0" algn="l">
              <a:lnSpc>
                <a:spcPct val="100000"/>
              </a:lnSpc>
              <a:spcBef>
                <a:spcPts val="0"/>
              </a:spcBef>
              <a:spcAft>
                <a:spcPts val="0"/>
              </a:spcAft>
              <a:buSzPts val="2000"/>
              <a:buAutoNum type="arabicPeriod"/>
            </a:pPr>
            <a:r>
              <a:rPr b="1" lang="en-GB" sz="2000">
                <a:latin typeface="Times"/>
                <a:ea typeface="Times"/>
                <a:cs typeface="Times"/>
                <a:sym typeface="Times"/>
              </a:rPr>
              <a:t>Flow Conservation</a:t>
            </a:r>
            <a:r>
              <a:rPr lang="en-GB" sz="2000">
                <a:latin typeface="Times"/>
                <a:ea typeface="Times"/>
                <a:cs typeface="Times"/>
                <a:sym typeface="Times"/>
              </a:rPr>
              <a:t>:</a:t>
            </a:r>
            <a:endParaRPr sz="2000">
              <a:latin typeface="Times"/>
              <a:ea typeface="Times"/>
              <a:cs typeface="Times"/>
              <a:sym typeface="Times"/>
            </a:endParaRPr>
          </a:p>
          <a:p>
            <a:pPr indent="-355600" lvl="1" marL="630000" rtl="0" algn="l">
              <a:lnSpc>
                <a:spcPct val="100000"/>
              </a:lnSpc>
              <a:spcBef>
                <a:spcPts val="0"/>
              </a:spcBef>
              <a:spcAft>
                <a:spcPts val="0"/>
              </a:spcAft>
              <a:buSzPts val="2000"/>
              <a:buFont typeface="Times"/>
              <a:buChar char="○"/>
            </a:pPr>
            <a:r>
              <a:rPr lang="en-GB" sz="2000">
                <a:latin typeface="Times"/>
                <a:ea typeface="Times"/>
                <a:cs typeface="Times"/>
                <a:sym typeface="Times"/>
              </a:rPr>
              <a:t>f(in to a) = f(s,a) = 10, f(out from a) = f(a,t) = 10</a:t>
            </a:r>
            <a:endParaRPr sz="2000">
              <a:latin typeface="Times"/>
              <a:ea typeface="Times"/>
              <a:cs typeface="Times"/>
              <a:sym typeface="Times"/>
            </a:endParaRPr>
          </a:p>
          <a:p>
            <a:pPr indent="-355600" lvl="1" marL="630000" rtl="0" algn="l">
              <a:spcBef>
                <a:spcPts val="0"/>
              </a:spcBef>
              <a:spcAft>
                <a:spcPts val="0"/>
              </a:spcAft>
              <a:buSzPts val="2000"/>
              <a:buFont typeface="Times"/>
              <a:buChar char="○"/>
            </a:pPr>
            <a:r>
              <a:rPr lang="en-GB" sz="2000">
                <a:latin typeface="Times"/>
                <a:ea typeface="Times"/>
                <a:cs typeface="Times"/>
                <a:sym typeface="Times"/>
              </a:rPr>
              <a:t>f(in to b) = f(s,b) = 5, f(out from b) = f(b,t) = 5</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AutoNum type="arabicPeriod"/>
            </a:pPr>
            <a:r>
              <a:rPr b="1" lang="en-GB" sz="2000">
                <a:latin typeface="Times"/>
                <a:ea typeface="Times"/>
                <a:cs typeface="Times"/>
                <a:sym typeface="Times"/>
              </a:rPr>
              <a:t>Flow Value</a:t>
            </a:r>
            <a:r>
              <a:rPr lang="en-GB" sz="2000">
                <a:latin typeface="Times"/>
                <a:ea typeface="Times"/>
                <a:cs typeface="Times"/>
                <a:sym typeface="Times"/>
              </a:rPr>
              <a:t>:</a:t>
            </a:r>
            <a:endParaRPr sz="2000">
              <a:latin typeface="Times"/>
              <a:ea typeface="Times"/>
              <a:cs typeface="Times"/>
              <a:sym typeface="Times"/>
            </a:endParaRPr>
          </a:p>
          <a:p>
            <a:pPr indent="-355600" lvl="1" marL="630000" rtl="0" algn="l">
              <a:lnSpc>
                <a:spcPct val="100000"/>
              </a:lnSpc>
              <a:spcBef>
                <a:spcPts val="0"/>
              </a:spcBef>
              <a:spcAft>
                <a:spcPts val="0"/>
              </a:spcAft>
              <a:buSzPts val="2000"/>
              <a:buFont typeface="Times"/>
              <a:buChar char="○"/>
            </a:pPr>
            <a:r>
              <a:rPr lang="en-GB" sz="2000">
                <a:latin typeface="Times"/>
                <a:ea typeface="Times"/>
                <a:cs typeface="Times"/>
                <a:sym typeface="Times"/>
              </a:rPr>
              <a:t>Total flow leaving s: f(s,a)+f(s,b)=10+5=15</a:t>
            </a:r>
            <a:endParaRPr sz="2000">
              <a:latin typeface="Times"/>
              <a:ea typeface="Times"/>
              <a:cs typeface="Times"/>
              <a:sym typeface="Times"/>
            </a:endParaRPr>
          </a:p>
          <a:p>
            <a:pPr indent="-355600" lvl="1" marL="630000" rtl="0" algn="l">
              <a:lnSpc>
                <a:spcPct val="100000"/>
              </a:lnSpc>
              <a:spcBef>
                <a:spcPts val="0"/>
              </a:spcBef>
              <a:spcAft>
                <a:spcPts val="0"/>
              </a:spcAft>
              <a:buSzPts val="2000"/>
              <a:buFont typeface="Times"/>
              <a:buChar char="○"/>
            </a:pPr>
            <a:r>
              <a:rPr lang="en-GB" sz="2000">
                <a:latin typeface="Times"/>
                <a:ea typeface="Times"/>
                <a:cs typeface="Times"/>
                <a:sym typeface="Times"/>
              </a:rPr>
              <a:t>Total flow entering t: f(a,t)+f(b,t)=10+5=15</a:t>
            </a:r>
            <a:endParaRPr sz="2000">
              <a:latin typeface="Times"/>
              <a:ea typeface="Times"/>
              <a:cs typeface="Times"/>
              <a:sym typeface="Times"/>
            </a:endParaRPr>
          </a:p>
          <a:p>
            <a:pPr indent="0" lvl="0" marL="0" rtl="0" algn="l">
              <a:lnSpc>
                <a:spcPct val="100000"/>
              </a:lnSpc>
              <a:spcBef>
                <a:spcPts val="900"/>
              </a:spcBef>
              <a:spcAft>
                <a:spcPts val="900"/>
              </a:spcAft>
              <a:buNone/>
            </a:pPr>
            <a:r>
              <a:rPr lang="en-GB" sz="2000">
                <a:latin typeface="Times"/>
                <a:ea typeface="Times"/>
                <a:cs typeface="Times"/>
                <a:sym typeface="Times"/>
              </a:rPr>
              <a:t>The </a:t>
            </a:r>
            <a:r>
              <a:rPr b="1" lang="en-GB" sz="2000">
                <a:latin typeface="Times"/>
                <a:ea typeface="Times"/>
                <a:cs typeface="Times"/>
                <a:sym typeface="Times"/>
              </a:rPr>
              <a:t>maximum flow</a:t>
            </a:r>
            <a:r>
              <a:rPr lang="en-GB" sz="2000">
                <a:latin typeface="Times"/>
                <a:ea typeface="Times"/>
                <a:cs typeface="Times"/>
                <a:sym typeface="Times"/>
              </a:rPr>
              <a:t> from s to t in this flow network is:</a:t>
            </a:r>
            <a:r>
              <a:rPr b="1" lang="en-GB" sz="2000">
                <a:latin typeface="Times"/>
                <a:ea typeface="Times"/>
                <a:cs typeface="Times"/>
                <a:sym typeface="Times"/>
              </a:rPr>
              <a:t>15</a:t>
            </a:r>
            <a:endParaRPr b="1" sz="2000">
              <a:latin typeface="Times"/>
              <a:ea typeface="Times"/>
              <a:cs typeface="Times"/>
              <a:sym typeface="Times"/>
            </a:endParaRPr>
          </a:p>
        </p:txBody>
      </p:sp>
      <p:sp>
        <p:nvSpPr>
          <p:cNvPr id="464" name="Google Shape;464;p46"/>
          <p:cNvSpPr/>
          <p:nvPr/>
        </p:nvSpPr>
        <p:spPr>
          <a:xfrm>
            <a:off x="7290786" y="893100"/>
            <a:ext cx="521100" cy="4620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a</a:t>
            </a:r>
            <a:endParaRPr b="1" sz="2000">
              <a:latin typeface="Times"/>
              <a:ea typeface="Times"/>
              <a:cs typeface="Times"/>
              <a:sym typeface="Times"/>
            </a:endParaRPr>
          </a:p>
        </p:txBody>
      </p:sp>
      <p:sp>
        <p:nvSpPr>
          <p:cNvPr id="465" name="Google Shape;465;p46"/>
          <p:cNvSpPr/>
          <p:nvPr/>
        </p:nvSpPr>
        <p:spPr>
          <a:xfrm>
            <a:off x="7290786" y="2145177"/>
            <a:ext cx="521100" cy="4620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b</a:t>
            </a:r>
            <a:endParaRPr b="1" sz="2000">
              <a:latin typeface="Times"/>
              <a:ea typeface="Times"/>
              <a:cs typeface="Times"/>
              <a:sym typeface="Times"/>
            </a:endParaRPr>
          </a:p>
        </p:txBody>
      </p:sp>
      <p:sp>
        <p:nvSpPr>
          <p:cNvPr id="466" name="Google Shape;466;p46"/>
          <p:cNvSpPr/>
          <p:nvPr/>
        </p:nvSpPr>
        <p:spPr>
          <a:xfrm>
            <a:off x="8229554" y="1529902"/>
            <a:ext cx="521100" cy="4620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t</a:t>
            </a:r>
            <a:endParaRPr b="1" sz="2000">
              <a:latin typeface="Times"/>
              <a:ea typeface="Times"/>
              <a:cs typeface="Times"/>
              <a:sym typeface="Times"/>
            </a:endParaRPr>
          </a:p>
        </p:txBody>
      </p:sp>
      <p:sp>
        <p:nvSpPr>
          <p:cNvPr id="467" name="Google Shape;467;p46"/>
          <p:cNvSpPr/>
          <p:nvPr/>
        </p:nvSpPr>
        <p:spPr>
          <a:xfrm>
            <a:off x="6352050" y="1529902"/>
            <a:ext cx="521100" cy="4620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s</a:t>
            </a:r>
            <a:endParaRPr b="1" sz="2000">
              <a:latin typeface="Times"/>
              <a:ea typeface="Times"/>
              <a:cs typeface="Times"/>
              <a:sym typeface="Times"/>
            </a:endParaRPr>
          </a:p>
        </p:txBody>
      </p:sp>
      <p:cxnSp>
        <p:nvCxnSpPr>
          <p:cNvPr id="468" name="Google Shape;468;p46"/>
          <p:cNvCxnSpPr>
            <a:stCxn id="467" idx="7"/>
            <a:endCxn id="464" idx="2"/>
          </p:cNvCxnSpPr>
          <p:nvPr/>
        </p:nvCxnSpPr>
        <p:spPr>
          <a:xfrm flipH="1" rot="10800000">
            <a:off x="6796837" y="1124160"/>
            <a:ext cx="493800" cy="473400"/>
          </a:xfrm>
          <a:prstGeom prst="straightConnector1">
            <a:avLst/>
          </a:prstGeom>
          <a:noFill/>
          <a:ln cap="flat" cmpd="sng" w="19050">
            <a:solidFill>
              <a:srgbClr val="000000"/>
            </a:solidFill>
            <a:prstDash val="solid"/>
            <a:round/>
            <a:headEnd len="med" w="med" type="none"/>
            <a:tailEnd len="med" w="med" type="triangle"/>
          </a:ln>
        </p:spPr>
      </p:cxnSp>
      <p:cxnSp>
        <p:nvCxnSpPr>
          <p:cNvPr id="469" name="Google Shape;469;p46"/>
          <p:cNvCxnSpPr>
            <a:stCxn id="467" idx="5"/>
            <a:endCxn id="465" idx="2"/>
          </p:cNvCxnSpPr>
          <p:nvPr/>
        </p:nvCxnSpPr>
        <p:spPr>
          <a:xfrm>
            <a:off x="6796837" y="1924243"/>
            <a:ext cx="493800" cy="451800"/>
          </a:xfrm>
          <a:prstGeom prst="straightConnector1">
            <a:avLst/>
          </a:prstGeom>
          <a:noFill/>
          <a:ln cap="flat" cmpd="sng" w="19050">
            <a:solidFill>
              <a:srgbClr val="000000"/>
            </a:solidFill>
            <a:prstDash val="solid"/>
            <a:round/>
            <a:headEnd len="med" w="med" type="none"/>
            <a:tailEnd len="med" w="med" type="triangle"/>
          </a:ln>
        </p:spPr>
      </p:cxnSp>
      <p:cxnSp>
        <p:nvCxnSpPr>
          <p:cNvPr id="470" name="Google Shape;470;p46"/>
          <p:cNvCxnSpPr>
            <a:stCxn id="464" idx="6"/>
            <a:endCxn id="466" idx="1"/>
          </p:cNvCxnSpPr>
          <p:nvPr/>
        </p:nvCxnSpPr>
        <p:spPr>
          <a:xfrm>
            <a:off x="7811886" y="1124100"/>
            <a:ext cx="494100" cy="473400"/>
          </a:xfrm>
          <a:prstGeom prst="straightConnector1">
            <a:avLst/>
          </a:prstGeom>
          <a:noFill/>
          <a:ln cap="flat" cmpd="sng" w="19050">
            <a:solidFill>
              <a:srgbClr val="000000"/>
            </a:solidFill>
            <a:prstDash val="solid"/>
            <a:round/>
            <a:headEnd len="med" w="med" type="none"/>
            <a:tailEnd len="med" w="med" type="triangle"/>
          </a:ln>
        </p:spPr>
      </p:cxnSp>
      <p:cxnSp>
        <p:nvCxnSpPr>
          <p:cNvPr id="471" name="Google Shape;471;p46"/>
          <p:cNvCxnSpPr>
            <a:stCxn id="465" idx="6"/>
            <a:endCxn id="466" idx="3"/>
          </p:cNvCxnSpPr>
          <p:nvPr/>
        </p:nvCxnSpPr>
        <p:spPr>
          <a:xfrm flipH="1" rot="10800000">
            <a:off x="7811886" y="1924377"/>
            <a:ext cx="494100" cy="451800"/>
          </a:xfrm>
          <a:prstGeom prst="straightConnector1">
            <a:avLst/>
          </a:prstGeom>
          <a:noFill/>
          <a:ln cap="flat" cmpd="sng" w="19050">
            <a:solidFill>
              <a:srgbClr val="000000"/>
            </a:solidFill>
            <a:prstDash val="solid"/>
            <a:round/>
            <a:headEnd len="med" w="med" type="none"/>
            <a:tailEnd len="med" w="med" type="triangle"/>
          </a:ln>
        </p:spPr>
      </p:cxnSp>
      <p:cxnSp>
        <p:nvCxnSpPr>
          <p:cNvPr id="472" name="Google Shape;472;p46"/>
          <p:cNvCxnSpPr>
            <a:stCxn id="464" idx="4"/>
            <a:endCxn id="465" idx="0"/>
          </p:cNvCxnSpPr>
          <p:nvPr/>
        </p:nvCxnSpPr>
        <p:spPr>
          <a:xfrm>
            <a:off x="7551336" y="1355100"/>
            <a:ext cx="0" cy="790200"/>
          </a:xfrm>
          <a:prstGeom prst="straightConnector1">
            <a:avLst/>
          </a:prstGeom>
          <a:noFill/>
          <a:ln cap="flat" cmpd="sng" w="19050">
            <a:solidFill>
              <a:srgbClr val="000000"/>
            </a:solidFill>
            <a:prstDash val="solid"/>
            <a:round/>
            <a:headEnd len="med" w="med" type="none"/>
            <a:tailEnd len="med" w="med" type="triangle"/>
          </a:ln>
        </p:spPr>
      </p:cxnSp>
      <p:sp>
        <p:nvSpPr>
          <p:cNvPr id="473" name="Google Shape;473;p46"/>
          <p:cNvSpPr txBox="1"/>
          <p:nvPr/>
        </p:nvSpPr>
        <p:spPr>
          <a:xfrm>
            <a:off x="6630331" y="1093528"/>
            <a:ext cx="494400" cy="26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10</a:t>
            </a:r>
            <a:endParaRPr b="1" sz="1800">
              <a:latin typeface="Times"/>
              <a:ea typeface="Times"/>
              <a:cs typeface="Times"/>
              <a:sym typeface="Times"/>
            </a:endParaRPr>
          </a:p>
        </p:txBody>
      </p:sp>
      <p:sp>
        <p:nvSpPr>
          <p:cNvPr id="474" name="Google Shape;474;p46"/>
          <p:cNvSpPr txBox="1"/>
          <p:nvPr/>
        </p:nvSpPr>
        <p:spPr>
          <a:xfrm>
            <a:off x="8007700" y="1052542"/>
            <a:ext cx="577200" cy="33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10</a:t>
            </a:r>
            <a:endParaRPr b="1" sz="1800">
              <a:latin typeface="Times"/>
              <a:ea typeface="Times"/>
              <a:cs typeface="Times"/>
              <a:sym typeface="Times"/>
            </a:endParaRPr>
          </a:p>
        </p:txBody>
      </p:sp>
      <p:sp>
        <p:nvSpPr>
          <p:cNvPr id="475" name="Google Shape;475;p46"/>
          <p:cNvSpPr txBox="1"/>
          <p:nvPr/>
        </p:nvSpPr>
        <p:spPr>
          <a:xfrm>
            <a:off x="8064308" y="2088449"/>
            <a:ext cx="521100" cy="28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10</a:t>
            </a:r>
            <a:endParaRPr b="1" sz="1800">
              <a:latin typeface="Times"/>
              <a:ea typeface="Times"/>
              <a:cs typeface="Times"/>
              <a:sym typeface="Times"/>
            </a:endParaRPr>
          </a:p>
        </p:txBody>
      </p:sp>
      <p:sp>
        <p:nvSpPr>
          <p:cNvPr id="476" name="Google Shape;476;p46"/>
          <p:cNvSpPr txBox="1"/>
          <p:nvPr/>
        </p:nvSpPr>
        <p:spPr>
          <a:xfrm>
            <a:off x="6666863" y="2019716"/>
            <a:ext cx="457500" cy="28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5</a:t>
            </a:r>
            <a:endParaRPr b="1" sz="1800">
              <a:latin typeface="Times"/>
              <a:ea typeface="Times"/>
              <a:cs typeface="Times"/>
              <a:sym typeface="Times"/>
            </a:endParaRPr>
          </a:p>
        </p:txBody>
      </p:sp>
      <p:sp>
        <p:nvSpPr>
          <p:cNvPr id="477" name="Google Shape;477;p46"/>
          <p:cNvSpPr txBox="1"/>
          <p:nvPr/>
        </p:nvSpPr>
        <p:spPr>
          <a:xfrm>
            <a:off x="7551071" y="1597529"/>
            <a:ext cx="651300" cy="26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15</a:t>
            </a:r>
            <a:endParaRPr b="1" sz="1800">
              <a:latin typeface="Times"/>
              <a:ea typeface="Times"/>
              <a:cs typeface="Times"/>
              <a:sym typeface="Times"/>
            </a:endParaRPr>
          </a:p>
        </p:txBody>
      </p:sp>
      <p:sp>
        <p:nvSpPr>
          <p:cNvPr id="478" name="Google Shape;478;p46"/>
          <p:cNvSpPr/>
          <p:nvPr/>
        </p:nvSpPr>
        <p:spPr>
          <a:xfrm>
            <a:off x="7301966" y="2721900"/>
            <a:ext cx="544200" cy="5691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a</a:t>
            </a:r>
            <a:endParaRPr b="1" sz="2000">
              <a:latin typeface="Times"/>
              <a:ea typeface="Times"/>
              <a:cs typeface="Times"/>
              <a:sym typeface="Times"/>
            </a:endParaRPr>
          </a:p>
        </p:txBody>
      </p:sp>
      <p:sp>
        <p:nvSpPr>
          <p:cNvPr id="479" name="Google Shape;479;p46"/>
          <p:cNvSpPr/>
          <p:nvPr/>
        </p:nvSpPr>
        <p:spPr>
          <a:xfrm>
            <a:off x="7301966" y="4264600"/>
            <a:ext cx="544200" cy="5691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b</a:t>
            </a:r>
            <a:endParaRPr b="1" sz="2000">
              <a:latin typeface="Times"/>
              <a:ea typeface="Times"/>
              <a:cs typeface="Times"/>
              <a:sym typeface="Times"/>
            </a:endParaRPr>
          </a:p>
        </p:txBody>
      </p:sp>
      <p:sp>
        <p:nvSpPr>
          <p:cNvPr id="480" name="Google Shape;480;p46"/>
          <p:cNvSpPr/>
          <p:nvPr/>
        </p:nvSpPr>
        <p:spPr>
          <a:xfrm>
            <a:off x="8282541" y="3506511"/>
            <a:ext cx="544200" cy="5691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t</a:t>
            </a:r>
            <a:endParaRPr b="1" sz="2000">
              <a:latin typeface="Times"/>
              <a:ea typeface="Times"/>
              <a:cs typeface="Times"/>
              <a:sym typeface="Times"/>
            </a:endParaRPr>
          </a:p>
        </p:txBody>
      </p:sp>
      <p:sp>
        <p:nvSpPr>
          <p:cNvPr id="481" name="Google Shape;481;p46"/>
          <p:cNvSpPr/>
          <p:nvPr/>
        </p:nvSpPr>
        <p:spPr>
          <a:xfrm>
            <a:off x="6321425" y="3506511"/>
            <a:ext cx="544200" cy="5691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s</a:t>
            </a:r>
            <a:endParaRPr b="1" sz="2000">
              <a:latin typeface="Times"/>
              <a:ea typeface="Times"/>
              <a:cs typeface="Times"/>
              <a:sym typeface="Times"/>
            </a:endParaRPr>
          </a:p>
        </p:txBody>
      </p:sp>
      <p:cxnSp>
        <p:nvCxnSpPr>
          <p:cNvPr id="482" name="Google Shape;482;p46"/>
          <p:cNvCxnSpPr>
            <a:stCxn id="481" idx="7"/>
            <a:endCxn id="478" idx="2"/>
          </p:cNvCxnSpPr>
          <p:nvPr/>
        </p:nvCxnSpPr>
        <p:spPr>
          <a:xfrm flipH="1" rot="10800000">
            <a:off x="6785929" y="3006354"/>
            <a:ext cx="516000" cy="583500"/>
          </a:xfrm>
          <a:prstGeom prst="straightConnector1">
            <a:avLst/>
          </a:prstGeom>
          <a:noFill/>
          <a:ln cap="flat" cmpd="sng" w="19050">
            <a:solidFill>
              <a:srgbClr val="000000"/>
            </a:solidFill>
            <a:prstDash val="solid"/>
            <a:round/>
            <a:headEnd len="med" w="med" type="none"/>
            <a:tailEnd len="med" w="med" type="triangle"/>
          </a:ln>
        </p:spPr>
      </p:cxnSp>
      <p:cxnSp>
        <p:nvCxnSpPr>
          <p:cNvPr id="483" name="Google Shape;483;p46"/>
          <p:cNvCxnSpPr>
            <a:stCxn id="481" idx="5"/>
            <a:endCxn id="479" idx="2"/>
          </p:cNvCxnSpPr>
          <p:nvPr/>
        </p:nvCxnSpPr>
        <p:spPr>
          <a:xfrm>
            <a:off x="6785929" y="3992269"/>
            <a:ext cx="516000" cy="556800"/>
          </a:xfrm>
          <a:prstGeom prst="straightConnector1">
            <a:avLst/>
          </a:prstGeom>
          <a:noFill/>
          <a:ln cap="flat" cmpd="sng" w="19050">
            <a:solidFill>
              <a:srgbClr val="000000"/>
            </a:solidFill>
            <a:prstDash val="solid"/>
            <a:round/>
            <a:headEnd len="med" w="med" type="none"/>
            <a:tailEnd len="med" w="med" type="triangle"/>
          </a:ln>
        </p:spPr>
      </p:cxnSp>
      <p:cxnSp>
        <p:nvCxnSpPr>
          <p:cNvPr id="484" name="Google Shape;484;p46"/>
          <p:cNvCxnSpPr>
            <a:stCxn id="478" idx="6"/>
            <a:endCxn id="480" idx="1"/>
          </p:cNvCxnSpPr>
          <p:nvPr/>
        </p:nvCxnSpPr>
        <p:spPr>
          <a:xfrm>
            <a:off x="7846166" y="3006450"/>
            <a:ext cx="516000" cy="583500"/>
          </a:xfrm>
          <a:prstGeom prst="straightConnector1">
            <a:avLst/>
          </a:prstGeom>
          <a:noFill/>
          <a:ln cap="flat" cmpd="sng" w="19050">
            <a:solidFill>
              <a:srgbClr val="000000"/>
            </a:solidFill>
            <a:prstDash val="solid"/>
            <a:round/>
            <a:headEnd len="med" w="med" type="none"/>
            <a:tailEnd len="med" w="med" type="triangle"/>
          </a:ln>
        </p:spPr>
      </p:cxnSp>
      <p:cxnSp>
        <p:nvCxnSpPr>
          <p:cNvPr id="485" name="Google Shape;485;p46"/>
          <p:cNvCxnSpPr>
            <a:stCxn id="479" idx="6"/>
            <a:endCxn id="480" idx="3"/>
          </p:cNvCxnSpPr>
          <p:nvPr/>
        </p:nvCxnSpPr>
        <p:spPr>
          <a:xfrm flipH="1" rot="10800000">
            <a:off x="7846166" y="3992350"/>
            <a:ext cx="516000" cy="556800"/>
          </a:xfrm>
          <a:prstGeom prst="straightConnector1">
            <a:avLst/>
          </a:prstGeom>
          <a:noFill/>
          <a:ln cap="flat" cmpd="sng" w="19050">
            <a:solidFill>
              <a:srgbClr val="000000"/>
            </a:solidFill>
            <a:prstDash val="solid"/>
            <a:round/>
            <a:headEnd len="med" w="med" type="none"/>
            <a:tailEnd len="med" w="med" type="triangle"/>
          </a:ln>
        </p:spPr>
      </p:cxnSp>
      <p:cxnSp>
        <p:nvCxnSpPr>
          <p:cNvPr id="486" name="Google Shape;486;p46"/>
          <p:cNvCxnSpPr>
            <a:stCxn id="478" idx="4"/>
            <a:endCxn id="479" idx="0"/>
          </p:cNvCxnSpPr>
          <p:nvPr/>
        </p:nvCxnSpPr>
        <p:spPr>
          <a:xfrm>
            <a:off x="7574066" y="3291000"/>
            <a:ext cx="0" cy="973500"/>
          </a:xfrm>
          <a:prstGeom prst="straightConnector1">
            <a:avLst/>
          </a:prstGeom>
          <a:noFill/>
          <a:ln cap="flat" cmpd="sng" w="19050">
            <a:solidFill>
              <a:srgbClr val="000000"/>
            </a:solidFill>
            <a:prstDash val="solid"/>
            <a:round/>
            <a:headEnd len="med" w="med" type="none"/>
            <a:tailEnd len="med" w="med" type="triangle"/>
          </a:ln>
        </p:spPr>
      </p:cxnSp>
      <p:sp>
        <p:nvSpPr>
          <p:cNvPr id="487" name="Google Shape;487;p46"/>
          <p:cNvSpPr txBox="1"/>
          <p:nvPr/>
        </p:nvSpPr>
        <p:spPr>
          <a:xfrm>
            <a:off x="6381350" y="2968850"/>
            <a:ext cx="7470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10/</a:t>
            </a:r>
            <a:r>
              <a:rPr b="1" lang="en-GB" sz="1800">
                <a:latin typeface="Times"/>
                <a:ea typeface="Times"/>
                <a:cs typeface="Times"/>
                <a:sym typeface="Times"/>
              </a:rPr>
              <a:t>10</a:t>
            </a:r>
            <a:endParaRPr b="1" sz="1800">
              <a:latin typeface="Times"/>
              <a:ea typeface="Times"/>
              <a:cs typeface="Times"/>
              <a:sym typeface="Times"/>
            </a:endParaRPr>
          </a:p>
        </p:txBody>
      </p:sp>
      <p:sp>
        <p:nvSpPr>
          <p:cNvPr id="488" name="Google Shape;488;p46"/>
          <p:cNvSpPr txBox="1"/>
          <p:nvPr/>
        </p:nvSpPr>
        <p:spPr>
          <a:xfrm>
            <a:off x="8050800" y="2918350"/>
            <a:ext cx="747000" cy="4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10/10</a:t>
            </a:r>
            <a:endParaRPr b="1" sz="1800">
              <a:latin typeface="Times"/>
              <a:ea typeface="Times"/>
              <a:cs typeface="Times"/>
              <a:sym typeface="Times"/>
            </a:endParaRPr>
          </a:p>
        </p:txBody>
      </p:sp>
      <p:sp>
        <p:nvSpPr>
          <p:cNvPr id="489" name="Google Shape;489;p46"/>
          <p:cNvSpPr txBox="1"/>
          <p:nvPr/>
        </p:nvSpPr>
        <p:spPr>
          <a:xfrm>
            <a:off x="8109922" y="4194700"/>
            <a:ext cx="680400" cy="35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5/</a:t>
            </a:r>
            <a:r>
              <a:rPr b="1" lang="en-GB" sz="1800">
                <a:latin typeface="Times"/>
                <a:ea typeface="Times"/>
                <a:cs typeface="Times"/>
                <a:sym typeface="Times"/>
              </a:rPr>
              <a:t>10</a:t>
            </a:r>
            <a:endParaRPr b="1" sz="1800">
              <a:latin typeface="Times"/>
              <a:ea typeface="Times"/>
              <a:cs typeface="Times"/>
              <a:sym typeface="Times"/>
            </a:endParaRPr>
          </a:p>
        </p:txBody>
      </p:sp>
      <p:sp>
        <p:nvSpPr>
          <p:cNvPr id="490" name="Google Shape;490;p46"/>
          <p:cNvSpPr txBox="1"/>
          <p:nvPr/>
        </p:nvSpPr>
        <p:spPr>
          <a:xfrm>
            <a:off x="6650258" y="4110017"/>
            <a:ext cx="477900" cy="35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5/5</a:t>
            </a:r>
            <a:endParaRPr b="1" sz="1800">
              <a:latin typeface="Times"/>
              <a:ea typeface="Times"/>
              <a:cs typeface="Times"/>
              <a:sym typeface="Times"/>
            </a:endParaRPr>
          </a:p>
        </p:txBody>
      </p:sp>
      <p:sp>
        <p:nvSpPr>
          <p:cNvPr id="491" name="Google Shape;491;p46"/>
          <p:cNvSpPr txBox="1"/>
          <p:nvPr/>
        </p:nvSpPr>
        <p:spPr>
          <a:xfrm>
            <a:off x="7573843" y="3589836"/>
            <a:ext cx="6804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15</a:t>
            </a:r>
            <a:endParaRPr b="1" sz="1800">
              <a:latin typeface="Times"/>
              <a:ea typeface="Times"/>
              <a:cs typeface="Times"/>
              <a:sym typeface="Times"/>
            </a:endParaRPr>
          </a:p>
        </p:txBody>
      </p:sp>
      <p:cxnSp>
        <p:nvCxnSpPr>
          <p:cNvPr id="492" name="Google Shape;492;p46"/>
          <p:cNvCxnSpPr>
            <a:stCxn id="475" idx="3"/>
            <a:endCxn id="488" idx="0"/>
          </p:cNvCxnSpPr>
          <p:nvPr/>
        </p:nvCxnSpPr>
        <p:spPr>
          <a:xfrm flipH="1">
            <a:off x="8424308" y="2232299"/>
            <a:ext cx="161100" cy="6861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496" name="Shape 496"/>
        <p:cNvGrpSpPr/>
        <p:nvPr/>
      </p:nvGrpSpPr>
      <p:grpSpPr>
        <a:xfrm>
          <a:off x="0" y="0"/>
          <a:ext cx="0" cy="0"/>
          <a:chOff x="0" y="0"/>
          <a:chExt cx="0" cy="0"/>
        </a:xfrm>
      </p:grpSpPr>
      <p:sp>
        <p:nvSpPr>
          <p:cNvPr id="497" name="Google Shape;497;p47"/>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498" name="Google Shape;498;p47"/>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499" name="Google Shape;499;p47"/>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500" name="Google Shape;500;p47"/>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History of </a:t>
            </a:r>
            <a:r>
              <a:rPr b="1" lang="en-GB" sz="4000">
                <a:latin typeface="Times"/>
                <a:ea typeface="Times"/>
                <a:cs typeface="Times"/>
                <a:sym typeface="Times"/>
              </a:rPr>
              <a:t>Ford-Fulkerson Algorithm</a:t>
            </a:r>
            <a:endParaRPr b="1" sz="4000">
              <a:latin typeface="Times"/>
              <a:ea typeface="Times"/>
              <a:cs typeface="Times"/>
              <a:sym typeface="Times"/>
            </a:endParaRPr>
          </a:p>
        </p:txBody>
      </p:sp>
      <p:cxnSp>
        <p:nvCxnSpPr>
          <p:cNvPr id="501" name="Google Shape;501;p47"/>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502" name="Google Shape;502;p47"/>
          <p:cNvSpPr txBox="1"/>
          <p:nvPr/>
        </p:nvSpPr>
        <p:spPr>
          <a:xfrm>
            <a:off x="553925" y="906400"/>
            <a:ext cx="8201700" cy="3970200"/>
          </a:xfrm>
          <a:prstGeom prst="rect">
            <a:avLst/>
          </a:prstGeom>
          <a:noFill/>
          <a:ln>
            <a:noFill/>
          </a:ln>
        </p:spPr>
        <p:txBody>
          <a:bodyPr anchorCtr="0" anchor="t" bIns="91425" lIns="91425" spcFirstLastPara="1" rIns="91425" wrap="square" tIns="91425">
            <a:noAutofit/>
          </a:bodyPr>
          <a:lstStyle/>
          <a:p>
            <a:pPr indent="-355600" lvl="0" marL="457200" rtl="0" algn="l">
              <a:lnSpc>
                <a:spcPct val="100000"/>
              </a:lnSpc>
              <a:spcBef>
                <a:spcPts val="900"/>
              </a:spcBef>
              <a:spcAft>
                <a:spcPts val="0"/>
              </a:spcAft>
              <a:buSzPts val="2000"/>
              <a:buFont typeface="Times"/>
              <a:buChar char="➔"/>
            </a:pPr>
            <a:r>
              <a:rPr lang="en-GB" sz="2000">
                <a:latin typeface="Times"/>
                <a:ea typeface="Times"/>
                <a:cs typeface="Times"/>
                <a:sym typeface="Times"/>
              </a:rPr>
              <a:t>The </a:t>
            </a:r>
            <a:r>
              <a:rPr b="1" lang="en-GB" sz="2000">
                <a:latin typeface="Times"/>
                <a:ea typeface="Times"/>
                <a:cs typeface="Times"/>
                <a:sym typeface="Times"/>
              </a:rPr>
              <a:t>Ford-Fulkerson Algorithm</a:t>
            </a:r>
            <a:r>
              <a:rPr lang="en-GB" sz="2000">
                <a:latin typeface="Times"/>
                <a:ea typeface="Times"/>
                <a:cs typeface="Times"/>
                <a:sym typeface="Times"/>
              </a:rPr>
              <a:t> was introduced by </a:t>
            </a:r>
            <a:r>
              <a:rPr b="1" lang="en-GB" sz="2000">
                <a:latin typeface="Times"/>
                <a:ea typeface="Times"/>
                <a:cs typeface="Times"/>
                <a:sym typeface="Times"/>
              </a:rPr>
              <a:t>L.R. Ford Jr.</a:t>
            </a:r>
            <a:r>
              <a:rPr lang="en-GB" sz="2000">
                <a:latin typeface="Times"/>
                <a:ea typeface="Times"/>
                <a:cs typeface="Times"/>
                <a:sym typeface="Times"/>
              </a:rPr>
              <a:t> and </a:t>
            </a:r>
            <a:r>
              <a:rPr b="1" lang="en-GB" sz="2000">
                <a:latin typeface="Times"/>
                <a:ea typeface="Times"/>
                <a:cs typeface="Times"/>
                <a:sym typeface="Times"/>
              </a:rPr>
              <a:t>D.R. Fulkerson</a:t>
            </a:r>
            <a:r>
              <a:rPr lang="en-GB" sz="2000">
                <a:latin typeface="Times"/>
                <a:ea typeface="Times"/>
                <a:cs typeface="Times"/>
                <a:sym typeface="Times"/>
              </a:rPr>
              <a:t> in 1956. </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Char char="➔"/>
            </a:pPr>
            <a:r>
              <a:rPr lang="en-GB" sz="2000">
                <a:latin typeface="Times"/>
                <a:ea typeface="Times"/>
                <a:cs typeface="Times"/>
                <a:sym typeface="Times"/>
              </a:rPr>
              <a:t>Their pioneering work laid the foundation for solving the </a:t>
            </a:r>
            <a:r>
              <a:rPr b="1" lang="en-GB" sz="2000">
                <a:latin typeface="Times"/>
                <a:ea typeface="Times"/>
                <a:cs typeface="Times"/>
                <a:sym typeface="Times"/>
              </a:rPr>
              <a:t>maximum flow problem</a:t>
            </a:r>
            <a:r>
              <a:rPr lang="en-GB" sz="2000">
                <a:latin typeface="Times"/>
                <a:ea typeface="Times"/>
                <a:cs typeface="Times"/>
                <a:sym typeface="Times"/>
              </a:rPr>
              <a:t>, a core problem in graph theory and combinatorial optimization. </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Char char="➔"/>
            </a:pPr>
            <a:r>
              <a:rPr lang="en-GB" sz="2000">
                <a:latin typeface="Times"/>
                <a:ea typeface="Times"/>
                <a:cs typeface="Times"/>
                <a:sym typeface="Times"/>
              </a:rPr>
              <a:t>Their algorithm leverages augmenting paths and the concept of residual capacities to iteratively improve the flow in a flow network.</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Char char="➔"/>
            </a:pPr>
            <a:r>
              <a:rPr lang="en-GB" sz="2000">
                <a:latin typeface="Times"/>
                <a:ea typeface="Times"/>
                <a:cs typeface="Times"/>
                <a:sym typeface="Times"/>
              </a:rPr>
              <a:t>The development of the algorithm was motivated by practical applications, such as optimizing the flow of resources through transportation networks, communication systems, and other infrastructure problems.</a:t>
            </a:r>
            <a:endParaRPr sz="2000">
              <a:latin typeface="Times"/>
              <a:ea typeface="Times"/>
              <a:cs typeface="Times"/>
              <a:sym typeface="Time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506" name="Shape 506"/>
        <p:cNvGrpSpPr/>
        <p:nvPr/>
      </p:nvGrpSpPr>
      <p:grpSpPr>
        <a:xfrm>
          <a:off x="0" y="0"/>
          <a:ext cx="0" cy="0"/>
          <a:chOff x="0" y="0"/>
          <a:chExt cx="0" cy="0"/>
        </a:xfrm>
      </p:grpSpPr>
      <p:sp>
        <p:nvSpPr>
          <p:cNvPr id="507" name="Google Shape;507;p48"/>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508" name="Google Shape;508;p48"/>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509" name="Google Shape;509;p48"/>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510" name="Google Shape;510;p48"/>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Intro.</a:t>
            </a:r>
            <a:r>
              <a:rPr b="1" lang="en-GB" sz="4000">
                <a:latin typeface="Times"/>
                <a:ea typeface="Times"/>
                <a:cs typeface="Times"/>
                <a:sym typeface="Times"/>
              </a:rPr>
              <a:t> to Ford-Fulkerson Algorithm</a:t>
            </a:r>
            <a:endParaRPr b="1" sz="4000">
              <a:latin typeface="Times"/>
              <a:ea typeface="Times"/>
              <a:cs typeface="Times"/>
              <a:sym typeface="Times"/>
            </a:endParaRPr>
          </a:p>
        </p:txBody>
      </p:sp>
      <p:cxnSp>
        <p:nvCxnSpPr>
          <p:cNvPr id="511" name="Google Shape;511;p48"/>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512" name="Google Shape;512;p48"/>
          <p:cNvSpPr txBox="1"/>
          <p:nvPr/>
        </p:nvSpPr>
        <p:spPr>
          <a:xfrm>
            <a:off x="553925" y="906400"/>
            <a:ext cx="8201700" cy="3970200"/>
          </a:xfrm>
          <a:prstGeom prst="rect">
            <a:avLst/>
          </a:prstGeom>
          <a:noFill/>
          <a:ln>
            <a:noFill/>
          </a:ln>
        </p:spPr>
        <p:txBody>
          <a:bodyPr anchorCtr="0" anchor="t" bIns="91425" lIns="91425" spcFirstLastPara="1" rIns="91425" wrap="square" tIns="91425">
            <a:noAutofit/>
          </a:bodyPr>
          <a:lstStyle/>
          <a:p>
            <a:pPr indent="-355600" lvl="0" marL="457200" rtl="0" algn="l">
              <a:lnSpc>
                <a:spcPct val="100000"/>
              </a:lnSpc>
              <a:spcBef>
                <a:spcPts val="900"/>
              </a:spcBef>
              <a:spcAft>
                <a:spcPts val="0"/>
              </a:spcAft>
              <a:buSzPts val="2000"/>
              <a:buFont typeface="Times"/>
              <a:buChar char="➔"/>
            </a:pPr>
            <a:r>
              <a:rPr lang="en-GB" sz="2000">
                <a:latin typeface="Times"/>
                <a:ea typeface="Times"/>
                <a:cs typeface="Times"/>
                <a:sym typeface="Times"/>
              </a:rPr>
              <a:t>T</a:t>
            </a:r>
            <a:r>
              <a:rPr lang="en-GB" sz="2000">
                <a:latin typeface="Times"/>
                <a:ea typeface="Times"/>
                <a:cs typeface="Times"/>
                <a:sym typeface="Times"/>
              </a:rPr>
              <a:t>he </a:t>
            </a:r>
            <a:r>
              <a:rPr b="1" lang="en-GB" sz="2000">
                <a:latin typeface="Times"/>
                <a:ea typeface="Times"/>
                <a:cs typeface="Times"/>
                <a:sym typeface="Times"/>
              </a:rPr>
              <a:t>Ford-Fulkerson Algorithm</a:t>
            </a:r>
            <a:r>
              <a:rPr lang="en-GB" sz="2000">
                <a:latin typeface="Times"/>
                <a:ea typeface="Times"/>
                <a:cs typeface="Times"/>
                <a:sym typeface="Times"/>
              </a:rPr>
              <a:t> is a method for computing the </a:t>
            </a:r>
            <a:r>
              <a:rPr b="1" lang="en-GB" sz="2000">
                <a:latin typeface="Times"/>
                <a:ea typeface="Times"/>
                <a:cs typeface="Times"/>
                <a:sym typeface="Times"/>
              </a:rPr>
              <a:t>maximum flow</a:t>
            </a:r>
            <a:r>
              <a:rPr lang="en-GB" sz="2000">
                <a:latin typeface="Times"/>
                <a:ea typeface="Times"/>
                <a:cs typeface="Times"/>
                <a:sym typeface="Times"/>
              </a:rPr>
              <a:t> in a </a:t>
            </a:r>
            <a:r>
              <a:rPr b="1" lang="en-GB" sz="2000">
                <a:latin typeface="Times"/>
                <a:ea typeface="Times"/>
                <a:cs typeface="Times"/>
                <a:sym typeface="Times"/>
              </a:rPr>
              <a:t>flow network</a:t>
            </a:r>
            <a:r>
              <a:rPr lang="en-GB" sz="2000">
                <a:latin typeface="Times"/>
                <a:ea typeface="Times"/>
                <a:cs typeface="Times"/>
                <a:sym typeface="Times"/>
              </a:rPr>
              <a:t>. </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Char char="➔"/>
            </a:pPr>
            <a:r>
              <a:rPr lang="en-GB" sz="2000">
                <a:latin typeface="Times"/>
                <a:ea typeface="Times"/>
                <a:cs typeface="Times"/>
                <a:sym typeface="Times"/>
              </a:rPr>
              <a:t>It works by:</a:t>
            </a:r>
            <a:endParaRPr sz="2000">
              <a:latin typeface="Times"/>
              <a:ea typeface="Times"/>
              <a:cs typeface="Times"/>
              <a:sym typeface="Times"/>
            </a:endParaRPr>
          </a:p>
          <a:p>
            <a:pPr indent="-355600" lvl="0" marL="914400" rtl="0" algn="l">
              <a:lnSpc>
                <a:spcPct val="100000"/>
              </a:lnSpc>
              <a:spcBef>
                <a:spcPts val="0"/>
              </a:spcBef>
              <a:spcAft>
                <a:spcPts val="0"/>
              </a:spcAft>
              <a:buSzPts val="2000"/>
              <a:buAutoNum type="arabicPeriod"/>
            </a:pPr>
            <a:r>
              <a:rPr b="1" lang="en-GB" sz="2000">
                <a:latin typeface="Times"/>
                <a:ea typeface="Times"/>
                <a:cs typeface="Times"/>
                <a:sym typeface="Times"/>
              </a:rPr>
              <a:t>Finding augmenting paths</a:t>
            </a:r>
            <a:r>
              <a:rPr lang="en-GB" sz="2000">
                <a:latin typeface="Times"/>
                <a:ea typeface="Times"/>
                <a:cs typeface="Times"/>
                <a:sym typeface="Times"/>
              </a:rPr>
              <a:t> in the network from the source (sss) to the sink (ttt) that can carry additional flow.</a:t>
            </a:r>
            <a:endParaRPr sz="2000">
              <a:latin typeface="Times"/>
              <a:ea typeface="Times"/>
              <a:cs typeface="Times"/>
              <a:sym typeface="Times"/>
            </a:endParaRPr>
          </a:p>
          <a:p>
            <a:pPr indent="-355600" lvl="0" marL="914400" rtl="0" algn="l">
              <a:lnSpc>
                <a:spcPct val="100000"/>
              </a:lnSpc>
              <a:spcBef>
                <a:spcPts val="0"/>
              </a:spcBef>
              <a:spcAft>
                <a:spcPts val="0"/>
              </a:spcAft>
              <a:buSzPts val="2000"/>
              <a:buAutoNum type="arabicPeriod"/>
            </a:pPr>
            <a:r>
              <a:rPr b="1" lang="en-GB" sz="2000">
                <a:latin typeface="Times"/>
                <a:ea typeface="Times"/>
                <a:cs typeface="Times"/>
                <a:sym typeface="Times"/>
              </a:rPr>
              <a:t>Augmenting flow</a:t>
            </a:r>
            <a:r>
              <a:rPr lang="en-GB" sz="2000">
                <a:latin typeface="Times"/>
                <a:ea typeface="Times"/>
                <a:cs typeface="Times"/>
                <a:sym typeface="Times"/>
              </a:rPr>
              <a:t> along these paths based on the residual capacity (the remaining capacity after accounting for the current flow).</a:t>
            </a:r>
            <a:endParaRPr sz="2000">
              <a:latin typeface="Times"/>
              <a:ea typeface="Times"/>
              <a:cs typeface="Times"/>
              <a:sym typeface="Times"/>
            </a:endParaRPr>
          </a:p>
          <a:p>
            <a:pPr indent="-355600" lvl="0" marL="914400" rtl="0" algn="l">
              <a:lnSpc>
                <a:spcPct val="100000"/>
              </a:lnSpc>
              <a:spcBef>
                <a:spcPts val="0"/>
              </a:spcBef>
              <a:spcAft>
                <a:spcPts val="0"/>
              </a:spcAft>
              <a:buSzPts val="2000"/>
              <a:buAutoNum type="arabicPeriod"/>
            </a:pPr>
            <a:r>
              <a:rPr b="1" lang="en-GB" sz="2000">
                <a:latin typeface="Times"/>
                <a:ea typeface="Times"/>
                <a:cs typeface="Times"/>
                <a:sym typeface="Times"/>
              </a:rPr>
              <a:t>Iteratively repeating</a:t>
            </a:r>
            <a:r>
              <a:rPr lang="en-GB" sz="2000">
                <a:latin typeface="Times"/>
                <a:ea typeface="Times"/>
                <a:cs typeface="Times"/>
                <a:sym typeface="Times"/>
              </a:rPr>
              <a:t> until no more augmenting paths are found.</a:t>
            </a:r>
            <a:endParaRPr sz="2000">
              <a:latin typeface="Times"/>
              <a:ea typeface="Times"/>
              <a:cs typeface="Times"/>
              <a:sym typeface="Time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516" name="Shape 516"/>
        <p:cNvGrpSpPr/>
        <p:nvPr/>
      </p:nvGrpSpPr>
      <p:grpSpPr>
        <a:xfrm>
          <a:off x="0" y="0"/>
          <a:ext cx="0" cy="0"/>
          <a:chOff x="0" y="0"/>
          <a:chExt cx="0" cy="0"/>
        </a:xfrm>
      </p:grpSpPr>
      <p:sp>
        <p:nvSpPr>
          <p:cNvPr id="517" name="Google Shape;517;p49"/>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518" name="Google Shape;518;p49"/>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519" name="Google Shape;519;p49"/>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520" name="Google Shape;520;p49"/>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Ford-Fulkerson Algorithm</a:t>
            </a:r>
            <a:endParaRPr b="1" sz="4000">
              <a:latin typeface="Times"/>
              <a:ea typeface="Times"/>
              <a:cs typeface="Times"/>
              <a:sym typeface="Times"/>
            </a:endParaRPr>
          </a:p>
        </p:txBody>
      </p:sp>
      <p:cxnSp>
        <p:nvCxnSpPr>
          <p:cNvPr id="521" name="Google Shape;521;p49"/>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522" name="Google Shape;522;p49"/>
          <p:cNvSpPr txBox="1"/>
          <p:nvPr/>
        </p:nvSpPr>
        <p:spPr>
          <a:xfrm>
            <a:off x="553925" y="906400"/>
            <a:ext cx="8201700" cy="3970200"/>
          </a:xfrm>
          <a:prstGeom prst="rect">
            <a:avLst/>
          </a:prstGeom>
          <a:noFill/>
          <a:ln>
            <a:noFill/>
          </a:ln>
        </p:spPr>
        <p:txBody>
          <a:bodyPr anchorCtr="0" anchor="t" bIns="91425" lIns="91425" spcFirstLastPara="1" rIns="91425" wrap="square" tIns="91425">
            <a:noAutofit/>
          </a:bodyPr>
          <a:lstStyle/>
          <a:p>
            <a:pPr indent="-349250" lvl="0" marL="457200" rtl="0" algn="l">
              <a:lnSpc>
                <a:spcPct val="100000"/>
              </a:lnSpc>
              <a:spcBef>
                <a:spcPts val="900"/>
              </a:spcBef>
              <a:spcAft>
                <a:spcPts val="0"/>
              </a:spcAft>
              <a:buSzPts val="1900"/>
              <a:buAutoNum type="arabicPeriod"/>
            </a:pPr>
            <a:r>
              <a:rPr b="1" lang="en-GB" sz="1900">
                <a:latin typeface="Times"/>
                <a:ea typeface="Times"/>
                <a:cs typeface="Times"/>
                <a:sym typeface="Times"/>
              </a:rPr>
              <a:t>Flow Network</a:t>
            </a:r>
            <a:r>
              <a:rPr lang="en-GB" sz="1900">
                <a:latin typeface="Times"/>
                <a:ea typeface="Times"/>
                <a:cs typeface="Times"/>
                <a:sym typeface="Times"/>
              </a:rPr>
              <a:t>: A directed graph where each edge (u,v) has:</a:t>
            </a:r>
            <a:endParaRPr sz="1900">
              <a:latin typeface="Times"/>
              <a:ea typeface="Times"/>
              <a:cs typeface="Times"/>
              <a:sym typeface="Times"/>
            </a:endParaRPr>
          </a:p>
          <a:p>
            <a:pPr indent="-349250" lvl="1" marL="914400" rtl="0" algn="l">
              <a:lnSpc>
                <a:spcPct val="100000"/>
              </a:lnSpc>
              <a:spcBef>
                <a:spcPts val="0"/>
              </a:spcBef>
              <a:spcAft>
                <a:spcPts val="0"/>
              </a:spcAft>
              <a:buSzPts val="1900"/>
              <a:buChar char="○"/>
            </a:pPr>
            <a:r>
              <a:rPr lang="en-GB" sz="1900">
                <a:latin typeface="Times"/>
                <a:ea typeface="Times"/>
                <a:cs typeface="Times"/>
                <a:sym typeface="Times"/>
              </a:rPr>
              <a:t>A </a:t>
            </a:r>
            <a:r>
              <a:rPr b="1" lang="en-GB" sz="1900">
                <a:latin typeface="Times"/>
                <a:ea typeface="Times"/>
                <a:cs typeface="Times"/>
                <a:sym typeface="Times"/>
              </a:rPr>
              <a:t>capacity</a:t>
            </a:r>
            <a:r>
              <a:rPr lang="en-GB" sz="1900">
                <a:latin typeface="Times"/>
                <a:ea typeface="Times"/>
                <a:cs typeface="Times"/>
                <a:sym typeface="Times"/>
              </a:rPr>
              <a:t> c(u,v) the maximum amount of flow allowed through the edge.</a:t>
            </a:r>
            <a:endParaRPr sz="1900">
              <a:latin typeface="Times"/>
              <a:ea typeface="Times"/>
              <a:cs typeface="Times"/>
              <a:sym typeface="Times"/>
            </a:endParaRPr>
          </a:p>
          <a:p>
            <a:pPr indent="-349250" lvl="1" marL="914400" rtl="0" algn="l">
              <a:lnSpc>
                <a:spcPct val="100000"/>
              </a:lnSpc>
              <a:spcBef>
                <a:spcPts val="0"/>
              </a:spcBef>
              <a:spcAft>
                <a:spcPts val="0"/>
              </a:spcAft>
              <a:buSzPts val="1900"/>
              <a:buChar char="○"/>
            </a:pPr>
            <a:r>
              <a:rPr lang="en-GB" sz="1900">
                <a:latin typeface="Times"/>
                <a:ea typeface="Times"/>
                <a:cs typeface="Times"/>
                <a:sym typeface="Times"/>
              </a:rPr>
              <a:t>A </a:t>
            </a:r>
            <a:r>
              <a:rPr b="1" lang="en-GB" sz="1900">
                <a:latin typeface="Times"/>
                <a:ea typeface="Times"/>
                <a:cs typeface="Times"/>
                <a:sym typeface="Times"/>
              </a:rPr>
              <a:t>flow</a:t>
            </a:r>
            <a:r>
              <a:rPr lang="en-GB" sz="1900">
                <a:latin typeface="Times"/>
                <a:ea typeface="Times"/>
                <a:cs typeface="Times"/>
                <a:sym typeface="Times"/>
              </a:rPr>
              <a:t> f(u,v): the current amount of flow through the edge.</a:t>
            </a:r>
            <a:endParaRPr sz="1900">
              <a:latin typeface="Times"/>
              <a:ea typeface="Times"/>
              <a:cs typeface="Times"/>
              <a:sym typeface="Times"/>
            </a:endParaRPr>
          </a:p>
          <a:p>
            <a:pPr indent="-349250" lvl="0" marL="457200" rtl="0" algn="l">
              <a:lnSpc>
                <a:spcPct val="100000"/>
              </a:lnSpc>
              <a:spcBef>
                <a:spcPts val="0"/>
              </a:spcBef>
              <a:spcAft>
                <a:spcPts val="0"/>
              </a:spcAft>
              <a:buSzPts val="1900"/>
              <a:buAutoNum type="arabicPeriod"/>
            </a:pPr>
            <a:r>
              <a:rPr b="1" lang="en-GB" sz="1900">
                <a:latin typeface="Times"/>
                <a:ea typeface="Times"/>
                <a:cs typeface="Times"/>
                <a:sym typeface="Times"/>
              </a:rPr>
              <a:t>Residual Capacity</a:t>
            </a:r>
            <a:r>
              <a:rPr lang="en-GB" sz="1900">
                <a:latin typeface="Times"/>
                <a:ea typeface="Times"/>
                <a:cs typeface="Times"/>
                <a:sym typeface="Times"/>
              </a:rPr>
              <a:t>: The remaining capacity of an edge after accounting for the current flow:</a:t>
            </a:r>
            <a:br>
              <a:rPr lang="en-GB" sz="1900">
                <a:latin typeface="Times"/>
                <a:ea typeface="Times"/>
                <a:cs typeface="Times"/>
                <a:sym typeface="Times"/>
              </a:rPr>
            </a:br>
            <a:r>
              <a:rPr lang="en-GB" sz="1900">
                <a:latin typeface="Times"/>
                <a:ea typeface="Times"/>
                <a:cs typeface="Times"/>
                <a:sym typeface="Times"/>
              </a:rPr>
              <a:t>r(u,v)=c(u,v)−f(u,v)</a:t>
            </a:r>
            <a:br>
              <a:rPr lang="en-GB" sz="1900">
                <a:latin typeface="Times"/>
                <a:ea typeface="Times"/>
                <a:cs typeface="Times"/>
                <a:sym typeface="Times"/>
              </a:rPr>
            </a:br>
            <a:r>
              <a:rPr lang="en-GB" sz="1900">
                <a:latin typeface="Times"/>
                <a:ea typeface="Times"/>
                <a:cs typeface="Times"/>
                <a:sym typeface="Times"/>
              </a:rPr>
              <a:t>This residual capacity determines if an edge can accommodate more flow.</a:t>
            </a:r>
            <a:endParaRPr sz="1900">
              <a:latin typeface="Times"/>
              <a:ea typeface="Times"/>
              <a:cs typeface="Times"/>
              <a:sym typeface="Times"/>
            </a:endParaRPr>
          </a:p>
          <a:p>
            <a:pPr indent="-349250" lvl="0" marL="457200" rtl="0" algn="l">
              <a:lnSpc>
                <a:spcPct val="100000"/>
              </a:lnSpc>
              <a:spcBef>
                <a:spcPts val="0"/>
              </a:spcBef>
              <a:spcAft>
                <a:spcPts val="0"/>
              </a:spcAft>
              <a:buSzPts val="1900"/>
              <a:buAutoNum type="arabicPeriod"/>
            </a:pPr>
            <a:r>
              <a:rPr b="1" lang="en-GB" sz="1900">
                <a:latin typeface="Times"/>
                <a:ea typeface="Times"/>
                <a:cs typeface="Times"/>
                <a:sym typeface="Times"/>
              </a:rPr>
              <a:t>Augmenting Path</a:t>
            </a:r>
            <a:r>
              <a:rPr lang="en-GB" sz="1900">
                <a:latin typeface="Times"/>
                <a:ea typeface="Times"/>
                <a:cs typeface="Times"/>
                <a:sym typeface="Times"/>
              </a:rPr>
              <a:t>: A path from the source to the sink where every edge has positive residual capacity. Flow can be increased along such paths.</a:t>
            </a:r>
            <a:endParaRPr sz="1900">
              <a:latin typeface="Times"/>
              <a:ea typeface="Times"/>
              <a:cs typeface="Times"/>
              <a:sym typeface="Times"/>
            </a:endParaRPr>
          </a:p>
          <a:p>
            <a:pPr indent="-349250" lvl="0" marL="457200" rtl="0" algn="l">
              <a:lnSpc>
                <a:spcPct val="100000"/>
              </a:lnSpc>
              <a:spcBef>
                <a:spcPts val="0"/>
              </a:spcBef>
              <a:spcAft>
                <a:spcPts val="0"/>
              </a:spcAft>
              <a:buSzPts val="1900"/>
              <a:buAutoNum type="arabicPeriod"/>
            </a:pPr>
            <a:r>
              <a:rPr b="1" lang="en-GB" sz="1900">
                <a:latin typeface="Times"/>
                <a:ea typeface="Times"/>
                <a:cs typeface="Times"/>
                <a:sym typeface="Times"/>
              </a:rPr>
              <a:t>Termination</a:t>
            </a:r>
            <a:r>
              <a:rPr lang="en-GB" sz="1900">
                <a:latin typeface="Times"/>
                <a:ea typeface="Times"/>
                <a:cs typeface="Times"/>
                <a:sym typeface="Times"/>
              </a:rPr>
              <a:t>: The algorithm terminates when no augmenting path exists in the residual graph. At this point, the flow in the network is maximum.</a:t>
            </a:r>
            <a:endParaRPr sz="2000">
              <a:latin typeface="Times"/>
              <a:ea typeface="Times"/>
              <a:cs typeface="Times"/>
              <a:sym typeface="Time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526" name="Shape 526"/>
        <p:cNvGrpSpPr/>
        <p:nvPr/>
      </p:nvGrpSpPr>
      <p:grpSpPr>
        <a:xfrm>
          <a:off x="0" y="0"/>
          <a:ext cx="0" cy="0"/>
          <a:chOff x="0" y="0"/>
          <a:chExt cx="0" cy="0"/>
        </a:xfrm>
      </p:grpSpPr>
      <p:sp>
        <p:nvSpPr>
          <p:cNvPr id="527" name="Google Shape;527;p50"/>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528" name="Google Shape;528;p50"/>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529" name="Google Shape;529;p50"/>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530" name="Google Shape;530;p50"/>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Appln. of</a:t>
            </a:r>
            <a:r>
              <a:rPr b="1" lang="en-GB" sz="4000">
                <a:latin typeface="Times"/>
                <a:ea typeface="Times"/>
                <a:cs typeface="Times"/>
                <a:sym typeface="Times"/>
              </a:rPr>
              <a:t> Ford-Fulkerson Algorithm</a:t>
            </a:r>
            <a:endParaRPr b="1" sz="4000">
              <a:latin typeface="Times"/>
              <a:ea typeface="Times"/>
              <a:cs typeface="Times"/>
              <a:sym typeface="Times"/>
            </a:endParaRPr>
          </a:p>
        </p:txBody>
      </p:sp>
      <p:cxnSp>
        <p:nvCxnSpPr>
          <p:cNvPr id="531" name="Google Shape;531;p50"/>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532" name="Google Shape;532;p50"/>
          <p:cNvSpPr txBox="1"/>
          <p:nvPr/>
        </p:nvSpPr>
        <p:spPr>
          <a:xfrm>
            <a:off x="553925" y="906400"/>
            <a:ext cx="8201700" cy="3970200"/>
          </a:xfrm>
          <a:prstGeom prst="rect">
            <a:avLst/>
          </a:prstGeom>
          <a:noFill/>
          <a:ln>
            <a:noFill/>
          </a:ln>
        </p:spPr>
        <p:txBody>
          <a:bodyPr anchorCtr="0" anchor="t" bIns="91425" lIns="91425" spcFirstLastPara="1" rIns="91425" wrap="square" tIns="91425">
            <a:noAutofit/>
          </a:bodyPr>
          <a:lstStyle/>
          <a:p>
            <a:pPr indent="-355600" lvl="0" marL="457200" rtl="0" algn="l">
              <a:lnSpc>
                <a:spcPct val="100000"/>
              </a:lnSpc>
              <a:spcBef>
                <a:spcPts val="900"/>
              </a:spcBef>
              <a:spcAft>
                <a:spcPts val="0"/>
              </a:spcAft>
              <a:buSzPts val="2000"/>
              <a:buFont typeface="Times"/>
              <a:buChar char="➔"/>
            </a:pPr>
            <a:r>
              <a:rPr lang="en-GB" sz="2000">
                <a:latin typeface="Times"/>
                <a:ea typeface="Times"/>
                <a:cs typeface="Times"/>
                <a:sym typeface="Times"/>
              </a:rPr>
              <a:t>The Ford-Fulkerson Algorithm has numerous applications, including:</a:t>
            </a:r>
            <a:endParaRPr sz="2000">
              <a:latin typeface="Times"/>
              <a:ea typeface="Times"/>
              <a:cs typeface="Times"/>
              <a:sym typeface="Times"/>
            </a:endParaRPr>
          </a:p>
          <a:p>
            <a:pPr indent="-355600" lvl="1" marL="914400" rtl="0" algn="l">
              <a:lnSpc>
                <a:spcPct val="100000"/>
              </a:lnSpc>
              <a:spcBef>
                <a:spcPts val="0"/>
              </a:spcBef>
              <a:spcAft>
                <a:spcPts val="0"/>
              </a:spcAft>
              <a:buSzPts val="2000"/>
              <a:buFont typeface="Times"/>
              <a:buChar char="◆"/>
            </a:pPr>
            <a:r>
              <a:rPr lang="en-GB" sz="2000">
                <a:latin typeface="Times"/>
                <a:ea typeface="Times"/>
                <a:cs typeface="Times"/>
                <a:sym typeface="Times"/>
              </a:rPr>
              <a:t>Network routing and logistics.</a:t>
            </a:r>
            <a:endParaRPr sz="2000">
              <a:latin typeface="Times"/>
              <a:ea typeface="Times"/>
              <a:cs typeface="Times"/>
              <a:sym typeface="Times"/>
            </a:endParaRPr>
          </a:p>
          <a:p>
            <a:pPr indent="-355600" lvl="1" marL="914400" rtl="0" algn="l">
              <a:lnSpc>
                <a:spcPct val="100000"/>
              </a:lnSpc>
              <a:spcBef>
                <a:spcPts val="0"/>
              </a:spcBef>
              <a:spcAft>
                <a:spcPts val="0"/>
              </a:spcAft>
              <a:buSzPts val="2000"/>
              <a:buFont typeface="Times"/>
              <a:buChar char="◆"/>
            </a:pPr>
            <a:r>
              <a:rPr lang="en-GB" sz="2000">
                <a:latin typeface="Times"/>
                <a:ea typeface="Times"/>
                <a:cs typeface="Times"/>
                <a:sym typeface="Times"/>
              </a:rPr>
              <a:t>Bipartite matching in job assignments.</a:t>
            </a:r>
            <a:endParaRPr sz="2000">
              <a:latin typeface="Times"/>
              <a:ea typeface="Times"/>
              <a:cs typeface="Times"/>
              <a:sym typeface="Times"/>
            </a:endParaRPr>
          </a:p>
          <a:p>
            <a:pPr indent="-355600" lvl="1" marL="914400" rtl="0" algn="l">
              <a:lnSpc>
                <a:spcPct val="100000"/>
              </a:lnSpc>
              <a:spcBef>
                <a:spcPts val="0"/>
              </a:spcBef>
              <a:spcAft>
                <a:spcPts val="0"/>
              </a:spcAft>
              <a:buSzPts val="2000"/>
              <a:buFont typeface="Times"/>
              <a:buChar char="◆"/>
            </a:pPr>
            <a:r>
              <a:rPr lang="en-GB" sz="2000">
                <a:latin typeface="Times"/>
                <a:ea typeface="Times"/>
                <a:cs typeface="Times"/>
                <a:sym typeface="Times"/>
              </a:rPr>
              <a:t>Connectivity problems in graphs (e.g., minimum cut).</a:t>
            </a:r>
            <a:endParaRPr sz="2000">
              <a:latin typeface="Times"/>
              <a:ea typeface="Times"/>
              <a:cs typeface="Times"/>
              <a:sym typeface="Times"/>
            </a:endParaRPr>
          </a:p>
          <a:p>
            <a:pPr indent="0" lvl="0" marL="0" rtl="0" algn="l">
              <a:lnSpc>
                <a:spcPct val="100000"/>
              </a:lnSpc>
              <a:spcBef>
                <a:spcPts val="900"/>
              </a:spcBef>
              <a:spcAft>
                <a:spcPts val="900"/>
              </a:spcAft>
              <a:buNone/>
            </a:pPr>
            <a:r>
              <a:t/>
            </a:r>
            <a:endParaRPr sz="2000">
              <a:latin typeface="Times"/>
              <a:ea typeface="Times"/>
              <a:cs typeface="Times"/>
              <a:sym typeface="Time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536" name="Shape 536"/>
        <p:cNvGrpSpPr/>
        <p:nvPr/>
      </p:nvGrpSpPr>
      <p:grpSpPr>
        <a:xfrm>
          <a:off x="0" y="0"/>
          <a:ext cx="0" cy="0"/>
          <a:chOff x="0" y="0"/>
          <a:chExt cx="0" cy="0"/>
        </a:xfrm>
      </p:grpSpPr>
      <p:sp>
        <p:nvSpPr>
          <p:cNvPr id="537" name="Google Shape;537;p51"/>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538" name="Google Shape;538;p51"/>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539" name="Google Shape;539;p51"/>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540" name="Google Shape;540;p51"/>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Ford-Fulkerson Algorithm</a:t>
            </a:r>
            <a:endParaRPr b="1" sz="4000">
              <a:latin typeface="Times"/>
              <a:ea typeface="Times"/>
              <a:cs typeface="Times"/>
              <a:sym typeface="Times"/>
            </a:endParaRPr>
          </a:p>
        </p:txBody>
      </p:sp>
      <p:cxnSp>
        <p:nvCxnSpPr>
          <p:cNvPr id="541" name="Google Shape;541;p51"/>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542" name="Google Shape;542;p51"/>
          <p:cNvSpPr/>
          <p:nvPr/>
        </p:nvSpPr>
        <p:spPr>
          <a:xfrm>
            <a:off x="1496300" y="2970264"/>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s</a:t>
            </a:r>
            <a:endParaRPr sz="3000">
              <a:latin typeface="Times"/>
              <a:ea typeface="Times"/>
              <a:cs typeface="Times"/>
              <a:sym typeface="Times"/>
            </a:endParaRPr>
          </a:p>
        </p:txBody>
      </p:sp>
      <p:sp>
        <p:nvSpPr>
          <p:cNvPr id="543" name="Google Shape;543;p51"/>
          <p:cNvSpPr/>
          <p:nvPr/>
        </p:nvSpPr>
        <p:spPr>
          <a:xfrm>
            <a:off x="7064682" y="297028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t</a:t>
            </a:r>
            <a:endParaRPr sz="3000">
              <a:latin typeface="Times"/>
              <a:ea typeface="Times"/>
              <a:cs typeface="Times"/>
              <a:sym typeface="Times"/>
            </a:endParaRPr>
          </a:p>
        </p:txBody>
      </p:sp>
      <p:sp>
        <p:nvSpPr>
          <p:cNvPr id="544" name="Google Shape;544;p51"/>
          <p:cNvSpPr/>
          <p:nvPr/>
        </p:nvSpPr>
        <p:spPr>
          <a:xfrm>
            <a:off x="3073956" y="167231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a</a:t>
            </a:r>
            <a:endParaRPr sz="3000">
              <a:latin typeface="Times"/>
              <a:ea typeface="Times"/>
              <a:cs typeface="Times"/>
              <a:sym typeface="Times"/>
            </a:endParaRPr>
          </a:p>
        </p:txBody>
      </p:sp>
      <p:sp>
        <p:nvSpPr>
          <p:cNvPr id="545" name="Google Shape;545;p51"/>
          <p:cNvSpPr/>
          <p:nvPr/>
        </p:nvSpPr>
        <p:spPr>
          <a:xfrm>
            <a:off x="3073956" y="404314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c</a:t>
            </a:r>
            <a:endParaRPr sz="3000">
              <a:latin typeface="Times"/>
              <a:ea typeface="Times"/>
              <a:cs typeface="Times"/>
              <a:sym typeface="Times"/>
            </a:endParaRPr>
          </a:p>
        </p:txBody>
      </p:sp>
      <p:sp>
        <p:nvSpPr>
          <p:cNvPr id="546" name="Google Shape;546;p51"/>
          <p:cNvSpPr/>
          <p:nvPr/>
        </p:nvSpPr>
        <p:spPr>
          <a:xfrm>
            <a:off x="5378672" y="404314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d</a:t>
            </a:r>
            <a:endParaRPr sz="3000">
              <a:latin typeface="Times"/>
              <a:ea typeface="Times"/>
              <a:cs typeface="Times"/>
              <a:sym typeface="Times"/>
            </a:endParaRPr>
          </a:p>
        </p:txBody>
      </p:sp>
      <p:sp>
        <p:nvSpPr>
          <p:cNvPr id="547" name="Google Shape;547;p51"/>
          <p:cNvSpPr/>
          <p:nvPr/>
        </p:nvSpPr>
        <p:spPr>
          <a:xfrm>
            <a:off x="5378672" y="1672294"/>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b</a:t>
            </a:r>
            <a:endParaRPr sz="3000">
              <a:latin typeface="Times"/>
              <a:ea typeface="Times"/>
              <a:cs typeface="Times"/>
              <a:sym typeface="Times"/>
            </a:endParaRPr>
          </a:p>
        </p:txBody>
      </p:sp>
      <p:cxnSp>
        <p:nvCxnSpPr>
          <p:cNvPr id="548" name="Google Shape;548;p51"/>
          <p:cNvCxnSpPr>
            <a:stCxn id="542" idx="7"/>
            <a:endCxn id="544" idx="3"/>
          </p:cNvCxnSpPr>
          <p:nvPr/>
        </p:nvCxnSpPr>
        <p:spPr>
          <a:xfrm flipH="1" rot="10800000">
            <a:off x="2054780" y="2164261"/>
            <a:ext cx="1115100" cy="890400"/>
          </a:xfrm>
          <a:prstGeom prst="straightConnector1">
            <a:avLst/>
          </a:prstGeom>
          <a:noFill/>
          <a:ln cap="flat" cmpd="sng" w="9525">
            <a:solidFill>
              <a:schemeClr val="dk2"/>
            </a:solidFill>
            <a:prstDash val="solid"/>
            <a:round/>
            <a:headEnd len="med" w="med" type="none"/>
            <a:tailEnd len="med" w="med" type="triangle"/>
          </a:ln>
        </p:spPr>
      </p:cxnSp>
      <p:cxnSp>
        <p:nvCxnSpPr>
          <p:cNvPr id="549" name="Google Shape;549;p51"/>
          <p:cNvCxnSpPr>
            <a:stCxn id="544" idx="6"/>
            <a:endCxn id="547" idx="2"/>
          </p:cNvCxnSpPr>
          <p:nvPr/>
        </p:nvCxnSpPr>
        <p:spPr>
          <a:xfrm>
            <a:off x="3728256" y="1960462"/>
            <a:ext cx="1650300" cy="0"/>
          </a:xfrm>
          <a:prstGeom prst="straightConnector1">
            <a:avLst/>
          </a:prstGeom>
          <a:noFill/>
          <a:ln cap="flat" cmpd="sng" w="9525">
            <a:solidFill>
              <a:schemeClr val="dk2"/>
            </a:solidFill>
            <a:prstDash val="solid"/>
            <a:round/>
            <a:headEnd len="med" w="med" type="none"/>
            <a:tailEnd len="med" w="med" type="triangle"/>
          </a:ln>
        </p:spPr>
      </p:cxnSp>
      <p:cxnSp>
        <p:nvCxnSpPr>
          <p:cNvPr id="550" name="Google Shape;550;p51"/>
          <p:cNvCxnSpPr>
            <a:stCxn id="547" idx="6"/>
            <a:endCxn id="543" idx="1"/>
          </p:cNvCxnSpPr>
          <p:nvPr/>
        </p:nvCxnSpPr>
        <p:spPr>
          <a:xfrm>
            <a:off x="6032972" y="1960444"/>
            <a:ext cx="1127400" cy="1094100"/>
          </a:xfrm>
          <a:prstGeom prst="straightConnector1">
            <a:avLst/>
          </a:prstGeom>
          <a:noFill/>
          <a:ln cap="flat" cmpd="sng" w="9525">
            <a:solidFill>
              <a:schemeClr val="dk2"/>
            </a:solidFill>
            <a:prstDash val="solid"/>
            <a:round/>
            <a:headEnd len="med" w="med" type="none"/>
            <a:tailEnd len="med" w="med" type="triangle"/>
          </a:ln>
        </p:spPr>
      </p:cxnSp>
      <p:cxnSp>
        <p:nvCxnSpPr>
          <p:cNvPr id="551" name="Google Shape;551;p51"/>
          <p:cNvCxnSpPr>
            <a:stCxn id="542" idx="5"/>
            <a:endCxn id="545" idx="1"/>
          </p:cNvCxnSpPr>
          <p:nvPr/>
        </p:nvCxnSpPr>
        <p:spPr>
          <a:xfrm>
            <a:off x="2054780" y="3462167"/>
            <a:ext cx="1115100" cy="665400"/>
          </a:xfrm>
          <a:prstGeom prst="straightConnector1">
            <a:avLst/>
          </a:prstGeom>
          <a:noFill/>
          <a:ln cap="flat" cmpd="sng" w="9525">
            <a:solidFill>
              <a:schemeClr val="dk2"/>
            </a:solidFill>
            <a:prstDash val="solid"/>
            <a:round/>
            <a:headEnd len="med" w="med" type="none"/>
            <a:tailEnd len="med" w="med" type="triangle"/>
          </a:ln>
        </p:spPr>
      </p:cxnSp>
      <p:cxnSp>
        <p:nvCxnSpPr>
          <p:cNvPr id="552" name="Google Shape;552;p51"/>
          <p:cNvCxnSpPr>
            <a:stCxn id="545" idx="6"/>
            <a:endCxn id="546" idx="2"/>
          </p:cNvCxnSpPr>
          <p:nvPr/>
        </p:nvCxnSpPr>
        <p:spPr>
          <a:xfrm>
            <a:off x="3728256" y="4331292"/>
            <a:ext cx="1650300" cy="0"/>
          </a:xfrm>
          <a:prstGeom prst="straightConnector1">
            <a:avLst/>
          </a:prstGeom>
          <a:noFill/>
          <a:ln cap="flat" cmpd="sng" w="9525">
            <a:solidFill>
              <a:schemeClr val="dk2"/>
            </a:solidFill>
            <a:prstDash val="solid"/>
            <a:round/>
            <a:headEnd len="med" w="med" type="none"/>
            <a:tailEnd len="med" w="med" type="triangle"/>
          </a:ln>
        </p:spPr>
      </p:cxnSp>
      <p:cxnSp>
        <p:nvCxnSpPr>
          <p:cNvPr id="553" name="Google Shape;553;p51"/>
          <p:cNvCxnSpPr>
            <a:stCxn id="546" idx="6"/>
            <a:endCxn id="543" idx="3"/>
          </p:cNvCxnSpPr>
          <p:nvPr/>
        </p:nvCxnSpPr>
        <p:spPr>
          <a:xfrm flipH="1" rot="10800000">
            <a:off x="6032972" y="3462192"/>
            <a:ext cx="1127400" cy="869100"/>
          </a:xfrm>
          <a:prstGeom prst="straightConnector1">
            <a:avLst/>
          </a:prstGeom>
          <a:noFill/>
          <a:ln cap="flat" cmpd="sng" w="9525">
            <a:solidFill>
              <a:schemeClr val="dk2"/>
            </a:solidFill>
            <a:prstDash val="solid"/>
            <a:round/>
            <a:headEnd len="med" w="med" type="none"/>
            <a:tailEnd len="med" w="med" type="triangle"/>
          </a:ln>
        </p:spPr>
      </p:cxnSp>
      <p:cxnSp>
        <p:nvCxnSpPr>
          <p:cNvPr id="554" name="Google Shape;554;p51"/>
          <p:cNvCxnSpPr>
            <a:stCxn id="545" idx="0"/>
            <a:endCxn id="544" idx="4"/>
          </p:cNvCxnSpPr>
          <p:nvPr/>
        </p:nvCxnSpPr>
        <p:spPr>
          <a:xfrm rot="10800000">
            <a:off x="3401106" y="2248542"/>
            <a:ext cx="0" cy="1794600"/>
          </a:xfrm>
          <a:prstGeom prst="straightConnector1">
            <a:avLst/>
          </a:prstGeom>
          <a:noFill/>
          <a:ln cap="flat" cmpd="sng" w="9525">
            <a:solidFill>
              <a:schemeClr val="dk2"/>
            </a:solidFill>
            <a:prstDash val="solid"/>
            <a:round/>
            <a:headEnd len="med" w="med" type="none"/>
            <a:tailEnd len="med" w="med" type="triangle"/>
          </a:ln>
        </p:spPr>
      </p:cxnSp>
      <p:cxnSp>
        <p:nvCxnSpPr>
          <p:cNvPr id="555" name="Google Shape;555;p51"/>
          <p:cNvCxnSpPr>
            <a:stCxn id="547" idx="3"/>
            <a:endCxn id="545" idx="7"/>
          </p:cNvCxnSpPr>
          <p:nvPr/>
        </p:nvCxnSpPr>
        <p:spPr>
          <a:xfrm flipH="1">
            <a:off x="3632492" y="2164197"/>
            <a:ext cx="1842000" cy="1963200"/>
          </a:xfrm>
          <a:prstGeom prst="straightConnector1">
            <a:avLst/>
          </a:prstGeom>
          <a:noFill/>
          <a:ln cap="flat" cmpd="sng" w="9525">
            <a:solidFill>
              <a:schemeClr val="dk2"/>
            </a:solidFill>
            <a:prstDash val="solid"/>
            <a:round/>
            <a:headEnd len="med" w="med" type="none"/>
            <a:tailEnd len="med" w="med" type="triangle"/>
          </a:ln>
        </p:spPr>
      </p:cxnSp>
      <p:cxnSp>
        <p:nvCxnSpPr>
          <p:cNvPr id="556" name="Google Shape;556;p51"/>
          <p:cNvCxnSpPr>
            <a:stCxn id="546" idx="0"/>
            <a:endCxn id="547" idx="4"/>
          </p:cNvCxnSpPr>
          <p:nvPr/>
        </p:nvCxnSpPr>
        <p:spPr>
          <a:xfrm rot="10800000">
            <a:off x="5705822" y="2248542"/>
            <a:ext cx="0" cy="1794600"/>
          </a:xfrm>
          <a:prstGeom prst="straightConnector1">
            <a:avLst/>
          </a:prstGeom>
          <a:noFill/>
          <a:ln cap="flat" cmpd="sng" w="9525">
            <a:solidFill>
              <a:schemeClr val="dk2"/>
            </a:solidFill>
            <a:prstDash val="solid"/>
            <a:round/>
            <a:headEnd len="med" w="med" type="none"/>
            <a:tailEnd len="med" w="med" type="triangle"/>
          </a:ln>
        </p:spPr>
      </p:cxnSp>
      <p:sp>
        <p:nvSpPr>
          <p:cNvPr id="557" name="Google Shape;557;p51"/>
          <p:cNvSpPr txBox="1"/>
          <p:nvPr/>
        </p:nvSpPr>
        <p:spPr>
          <a:xfrm>
            <a:off x="2013089" y="2062466"/>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16</a:t>
            </a:r>
            <a:endParaRPr sz="2000">
              <a:latin typeface="Times"/>
              <a:ea typeface="Times"/>
              <a:cs typeface="Times"/>
              <a:sym typeface="Times"/>
            </a:endParaRPr>
          </a:p>
        </p:txBody>
      </p:sp>
      <p:sp>
        <p:nvSpPr>
          <p:cNvPr id="558" name="Google Shape;558;p51"/>
          <p:cNvSpPr txBox="1"/>
          <p:nvPr/>
        </p:nvSpPr>
        <p:spPr>
          <a:xfrm>
            <a:off x="3994568" y="1388125"/>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12</a:t>
            </a:r>
            <a:endParaRPr sz="2000">
              <a:latin typeface="Times"/>
              <a:ea typeface="Times"/>
              <a:cs typeface="Times"/>
              <a:sym typeface="Times"/>
            </a:endParaRPr>
          </a:p>
        </p:txBody>
      </p:sp>
      <p:sp>
        <p:nvSpPr>
          <p:cNvPr id="559" name="Google Shape;559;p51"/>
          <p:cNvSpPr txBox="1"/>
          <p:nvPr/>
        </p:nvSpPr>
        <p:spPr>
          <a:xfrm>
            <a:off x="6455361" y="1922031"/>
            <a:ext cx="7767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20</a:t>
            </a:r>
            <a:endParaRPr sz="2000">
              <a:latin typeface="Times"/>
              <a:ea typeface="Times"/>
              <a:cs typeface="Times"/>
              <a:sym typeface="Times"/>
            </a:endParaRPr>
          </a:p>
        </p:txBody>
      </p:sp>
      <p:sp>
        <p:nvSpPr>
          <p:cNvPr id="560" name="Google Shape;560;p51"/>
          <p:cNvSpPr txBox="1"/>
          <p:nvPr/>
        </p:nvSpPr>
        <p:spPr>
          <a:xfrm>
            <a:off x="6409239" y="3828271"/>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4</a:t>
            </a:r>
            <a:endParaRPr sz="2000">
              <a:latin typeface="Times"/>
              <a:ea typeface="Times"/>
              <a:cs typeface="Times"/>
              <a:sym typeface="Times"/>
            </a:endParaRPr>
          </a:p>
        </p:txBody>
      </p:sp>
      <p:sp>
        <p:nvSpPr>
          <p:cNvPr id="561" name="Google Shape;561;p51"/>
          <p:cNvSpPr txBox="1"/>
          <p:nvPr/>
        </p:nvSpPr>
        <p:spPr>
          <a:xfrm>
            <a:off x="4118888" y="4378149"/>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14</a:t>
            </a:r>
            <a:endParaRPr sz="2000">
              <a:latin typeface="Times"/>
              <a:ea typeface="Times"/>
              <a:cs typeface="Times"/>
              <a:sym typeface="Times"/>
            </a:endParaRPr>
          </a:p>
        </p:txBody>
      </p:sp>
      <p:sp>
        <p:nvSpPr>
          <p:cNvPr id="562" name="Google Shape;562;p51"/>
          <p:cNvSpPr txBox="1"/>
          <p:nvPr/>
        </p:nvSpPr>
        <p:spPr>
          <a:xfrm>
            <a:off x="3936437" y="2591721"/>
            <a:ext cx="9873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9</a:t>
            </a:r>
            <a:endParaRPr sz="2000">
              <a:latin typeface="Times"/>
              <a:ea typeface="Times"/>
              <a:cs typeface="Times"/>
              <a:sym typeface="Times"/>
            </a:endParaRPr>
          </a:p>
        </p:txBody>
      </p:sp>
      <p:sp>
        <p:nvSpPr>
          <p:cNvPr id="563" name="Google Shape;563;p51"/>
          <p:cNvSpPr txBox="1"/>
          <p:nvPr/>
        </p:nvSpPr>
        <p:spPr>
          <a:xfrm>
            <a:off x="2859089" y="2871834"/>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4</a:t>
            </a:r>
            <a:endParaRPr sz="2000">
              <a:latin typeface="Times"/>
              <a:ea typeface="Times"/>
              <a:cs typeface="Times"/>
              <a:sym typeface="Times"/>
            </a:endParaRPr>
          </a:p>
        </p:txBody>
      </p:sp>
      <p:sp>
        <p:nvSpPr>
          <p:cNvPr id="564" name="Google Shape;564;p51"/>
          <p:cNvSpPr txBox="1"/>
          <p:nvPr/>
        </p:nvSpPr>
        <p:spPr>
          <a:xfrm>
            <a:off x="2013073" y="3774440"/>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13</a:t>
            </a:r>
            <a:endParaRPr sz="2000">
              <a:latin typeface="Times"/>
              <a:ea typeface="Times"/>
              <a:cs typeface="Times"/>
              <a:sym typeface="Times"/>
            </a:endParaRPr>
          </a:p>
        </p:txBody>
      </p:sp>
      <p:sp>
        <p:nvSpPr>
          <p:cNvPr id="565" name="Google Shape;565;p51"/>
          <p:cNvSpPr txBox="1"/>
          <p:nvPr/>
        </p:nvSpPr>
        <p:spPr>
          <a:xfrm>
            <a:off x="5754885" y="2982577"/>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7</a:t>
            </a:r>
            <a:endParaRPr sz="2000">
              <a:latin typeface="Times"/>
              <a:ea typeface="Times"/>
              <a:cs typeface="Times"/>
              <a:sym typeface="Times"/>
            </a:endParaRPr>
          </a:p>
        </p:txBody>
      </p:sp>
      <p:sp>
        <p:nvSpPr>
          <p:cNvPr id="566" name="Google Shape;566;p51"/>
          <p:cNvSpPr txBox="1"/>
          <p:nvPr/>
        </p:nvSpPr>
        <p:spPr>
          <a:xfrm>
            <a:off x="575500" y="913600"/>
            <a:ext cx="8175000" cy="5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Example 1:</a:t>
            </a:r>
            <a:endParaRPr sz="2000">
              <a:latin typeface="Times"/>
              <a:ea typeface="Times"/>
              <a:cs typeface="Times"/>
              <a:sym typeface="Time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570" name="Shape 570"/>
        <p:cNvGrpSpPr/>
        <p:nvPr/>
      </p:nvGrpSpPr>
      <p:grpSpPr>
        <a:xfrm>
          <a:off x="0" y="0"/>
          <a:ext cx="0" cy="0"/>
          <a:chOff x="0" y="0"/>
          <a:chExt cx="0" cy="0"/>
        </a:xfrm>
      </p:grpSpPr>
      <p:sp>
        <p:nvSpPr>
          <p:cNvPr id="571" name="Google Shape;571;p52"/>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572" name="Google Shape;572;p52"/>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573" name="Google Shape;573;p52"/>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574" name="Google Shape;574;p52"/>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Ford-Fulkerson Algorithm</a:t>
            </a:r>
            <a:endParaRPr b="1" sz="4000">
              <a:latin typeface="Times"/>
              <a:ea typeface="Times"/>
              <a:cs typeface="Times"/>
              <a:sym typeface="Times"/>
            </a:endParaRPr>
          </a:p>
        </p:txBody>
      </p:sp>
      <p:cxnSp>
        <p:nvCxnSpPr>
          <p:cNvPr id="575" name="Google Shape;575;p52"/>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576" name="Google Shape;576;p52"/>
          <p:cNvSpPr/>
          <p:nvPr/>
        </p:nvSpPr>
        <p:spPr>
          <a:xfrm>
            <a:off x="1496300" y="2970264"/>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s</a:t>
            </a:r>
            <a:endParaRPr sz="3000">
              <a:latin typeface="Times"/>
              <a:ea typeface="Times"/>
              <a:cs typeface="Times"/>
              <a:sym typeface="Times"/>
            </a:endParaRPr>
          </a:p>
        </p:txBody>
      </p:sp>
      <p:sp>
        <p:nvSpPr>
          <p:cNvPr id="577" name="Google Shape;577;p52"/>
          <p:cNvSpPr/>
          <p:nvPr/>
        </p:nvSpPr>
        <p:spPr>
          <a:xfrm>
            <a:off x="7064682" y="297028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t</a:t>
            </a:r>
            <a:endParaRPr sz="3000">
              <a:latin typeface="Times"/>
              <a:ea typeface="Times"/>
              <a:cs typeface="Times"/>
              <a:sym typeface="Times"/>
            </a:endParaRPr>
          </a:p>
        </p:txBody>
      </p:sp>
      <p:sp>
        <p:nvSpPr>
          <p:cNvPr id="578" name="Google Shape;578;p52"/>
          <p:cNvSpPr/>
          <p:nvPr/>
        </p:nvSpPr>
        <p:spPr>
          <a:xfrm>
            <a:off x="3073956" y="167231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a</a:t>
            </a:r>
            <a:endParaRPr sz="3000">
              <a:latin typeface="Times"/>
              <a:ea typeface="Times"/>
              <a:cs typeface="Times"/>
              <a:sym typeface="Times"/>
            </a:endParaRPr>
          </a:p>
        </p:txBody>
      </p:sp>
      <p:sp>
        <p:nvSpPr>
          <p:cNvPr id="579" name="Google Shape;579;p52"/>
          <p:cNvSpPr/>
          <p:nvPr/>
        </p:nvSpPr>
        <p:spPr>
          <a:xfrm>
            <a:off x="3073956" y="404314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c</a:t>
            </a:r>
            <a:endParaRPr sz="3000">
              <a:latin typeface="Times"/>
              <a:ea typeface="Times"/>
              <a:cs typeface="Times"/>
              <a:sym typeface="Times"/>
            </a:endParaRPr>
          </a:p>
        </p:txBody>
      </p:sp>
      <p:sp>
        <p:nvSpPr>
          <p:cNvPr id="580" name="Google Shape;580;p52"/>
          <p:cNvSpPr/>
          <p:nvPr/>
        </p:nvSpPr>
        <p:spPr>
          <a:xfrm>
            <a:off x="5378672" y="404314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d</a:t>
            </a:r>
            <a:endParaRPr sz="3000">
              <a:latin typeface="Times"/>
              <a:ea typeface="Times"/>
              <a:cs typeface="Times"/>
              <a:sym typeface="Times"/>
            </a:endParaRPr>
          </a:p>
        </p:txBody>
      </p:sp>
      <p:sp>
        <p:nvSpPr>
          <p:cNvPr id="581" name="Google Shape;581;p52"/>
          <p:cNvSpPr/>
          <p:nvPr/>
        </p:nvSpPr>
        <p:spPr>
          <a:xfrm>
            <a:off x="5378672" y="1672294"/>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b</a:t>
            </a:r>
            <a:endParaRPr sz="3000">
              <a:latin typeface="Times"/>
              <a:ea typeface="Times"/>
              <a:cs typeface="Times"/>
              <a:sym typeface="Times"/>
            </a:endParaRPr>
          </a:p>
        </p:txBody>
      </p:sp>
      <p:cxnSp>
        <p:nvCxnSpPr>
          <p:cNvPr id="582" name="Google Shape;582;p52"/>
          <p:cNvCxnSpPr>
            <a:stCxn id="576" idx="7"/>
            <a:endCxn id="578" idx="3"/>
          </p:cNvCxnSpPr>
          <p:nvPr/>
        </p:nvCxnSpPr>
        <p:spPr>
          <a:xfrm flipH="1" rot="10800000">
            <a:off x="2054780" y="2164261"/>
            <a:ext cx="1115100" cy="890400"/>
          </a:xfrm>
          <a:prstGeom prst="straightConnector1">
            <a:avLst/>
          </a:prstGeom>
          <a:noFill/>
          <a:ln cap="flat" cmpd="sng" w="9525">
            <a:solidFill>
              <a:schemeClr val="dk2"/>
            </a:solidFill>
            <a:prstDash val="solid"/>
            <a:round/>
            <a:headEnd len="med" w="med" type="none"/>
            <a:tailEnd len="med" w="med" type="triangle"/>
          </a:ln>
        </p:spPr>
      </p:cxnSp>
      <p:cxnSp>
        <p:nvCxnSpPr>
          <p:cNvPr id="583" name="Google Shape;583;p52"/>
          <p:cNvCxnSpPr>
            <a:stCxn id="578" idx="6"/>
            <a:endCxn id="581" idx="2"/>
          </p:cNvCxnSpPr>
          <p:nvPr/>
        </p:nvCxnSpPr>
        <p:spPr>
          <a:xfrm>
            <a:off x="3728256" y="1960462"/>
            <a:ext cx="1650300" cy="0"/>
          </a:xfrm>
          <a:prstGeom prst="straightConnector1">
            <a:avLst/>
          </a:prstGeom>
          <a:noFill/>
          <a:ln cap="flat" cmpd="sng" w="9525">
            <a:solidFill>
              <a:schemeClr val="dk2"/>
            </a:solidFill>
            <a:prstDash val="solid"/>
            <a:round/>
            <a:headEnd len="med" w="med" type="none"/>
            <a:tailEnd len="med" w="med" type="triangle"/>
          </a:ln>
        </p:spPr>
      </p:cxnSp>
      <p:cxnSp>
        <p:nvCxnSpPr>
          <p:cNvPr id="584" name="Google Shape;584;p52"/>
          <p:cNvCxnSpPr>
            <a:stCxn id="581" idx="6"/>
            <a:endCxn id="577" idx="1"/>
          </p:cNvCxnSpPr>
          <p:nvPr/>
        </p:nvCxnSpPr>
        <p:spPr>
          <a:xfrm>
            <a:off x="6032972" y="1960444"/>
            <a:ext cx="1127400" cy="1094100"/>
          </a:xfrm>
          <a:prstGeom prst="straightConnector1">
            <a:avLst/>
          </a:prstGeom>
          <a:noFill/>
          <a:ln cap="flat" cmpd="sng" w="9525">
            <a:solidFill>
              <a:schemeClr val="dk2"/>
            </a:solidFill>
            <a:prstDash val="solid"/>
            <a:round/>
            <a:headEnd len="med" w="med" type="none"/>
            <a:tailEnd len="med" w="med" type="triangle"/>
          </a:ln>
        </p:spPr>
      </p:cxnSp>
      <p:cxnSp>
        <p:nvCxnSpPr>
          <p:cNvPr id="585" name="Google Shape;585;p52"/>
          <p:cNvCxnSpPr>
            <a:stCxn id="576" idx="5"/>
            <a:endCxn id="579" idx="1"/>
          </p:cNvCxnSpPr>
          <p:nvPr/>
        </p:nvCxnSpPr>
        <p:spPr>
          <a:xfrm>
            <a:off x="2054780" y="3462167"/>
            <a:ext cx="1115100" cy="665400"/>
          </a:xfrm>
          <a:prstGeom prst="straightConnector1">
            <a:avLst/>
          </a:prstGeom>
          <a:noFill/>
          <a:ln cap="flat" cmpd="sng" w="9525">
            <a:solidFill>
              <a:schemeClr val="dk2"/>
            </a:solidFill>
            <a:prstDash val="solid"/>
            <a:round/>
            <a:headEnd len="med" w="med" type="none"/>
            <a:tailEnd len="med" w="med" type="triangle"/>
          </a:ln>
        </p:spPr>
      </p:cxnSp>
      <p:cxnSp>
        <p:nvCxnSpPr>
          <p:cNvPr id="586" name="Google Shape;586;p52"/>
          <p:cNvCxnSpPr>
            <a:stCxn id="579" idx="6"/>
            <a:endCxn id="580" idx="2"/>
          </p:cNvCxnSpPr>
          <p:nvPr/>
        </p:nvCxnSpPr>
        <p:spPr>
          <a:xfrm>
            <a:off x="3728256" y="4331292"/>
            <a:ext cx="1650300" cy="0"/>
          </a:xfrm>
          <a:prstGeom prst="straightConnector1">
            <a:avLst/>
          </a:prstGeom>
          <a:noFill/>
          <a:ln cap="flat" cmpd="sng" w="9525">
            <a:solidFill>
              <a:schemeClr val="dk2"/>
            </a:solidFill>
            <a:prstDash val="solid"/>
            <a:round/>
            <a:headEnd len="med" w="med" type="none"/>
            <a:tailEnd len="med" w="med" type="triangle"/>
          </a:ln>
        </p:spPr>
      </p:cxnSp>
      <p:cxnSp>
        <p:nvCxnSpPr>
          <p:cNvPr id="587" name="Google Shape;587;p52"/>
          <p:cNvCxnSpPr>
            <a:stCxn id="580" idx="6"/>
            <a:endCxn id="577" idx="3"/>
          </p:cNvCxnSpPr>
          <p:nvPr/>
        </p:nvCxnSpPr>
        <p:spPr>
          <a:xfrm flipH="1" rot="10800000">
            <a:off x="6032972" y="3462192"/>
            <a:ext cx="1127400" cy="869100"/>
          </a:xfrm>
          <a:prstGeom prst="straightConnector1">
            <a:avLst/>
          </a:prstGeom>
          <a:noFill/>
          <a:ln cap="flat" cmpd="sng" w="9525">
            <a:solidFill>
              <a:schemeClr val="dk2"/>
            </a:solidFill>
            <a:prstDash val="solid"/>
            <a:round/>
            <a:headEnd len="med" w="med" type="none"/>
            <a:tailEnd len="med" w="med" type="triangle"/>
          </a:ln>
        </p:spPr>
      </p:cxnSp>
      <p:cxnSp>
        <p:nvCxnSpPr>
          <p:cNvPr id="588" name="Google Shape;588;p52"/>
          <p:cNvCxnSpPr>
            <a:stCxn id="579" idx="0"/>
            <a:endCxn id="578" idx="4"/>
          </p:cNvCxnSpPr>
          <p:nvPr/>
        </p:nvCxnSpPr>
        <p:spPr>
          <a:xfrm rot="10800000">
            <a:off x="3401106" y="2248542"/>
            <a:ext cx="0" cy="1794600"/>
          </a:xfrm>
          <a:prstGeom prst="straightConnector1">
            <a:avLst/>
          </a:prstGeom>
          <a:noFill/>
          <a:ln cap="flat" cmpd="sng" w="9525">
            <a:solidFill>
              <a:schemeClr val="dk2"/>
            </a:solidFill>
            <a:prstDash val="solid"/>
            <a:round/>
            <a:headEnd len="med" w="med" type="none"/>
            <a:tailEnd len="med" w="med" type="triangle"/>
          </a:ln>
        </p:spPr>
      </p:cxnSp>
      <p:cxnSp>
        <p:nvCxnSpPr>
          <p:cNvPr id="589" name="Google Shape;589;p52"/>
          <p:cNvCxnSpPr>
            <a:stCxn id="581" idx="3"/>
            <a:endCxn id="579" idx="7"/>
          </p:cNvCxnSpPr>
          <p:nvPr/>
        </p:nvCxnSpPr>
        <p:spPr>
          <a:xfrm flipH="1">
            <a:off x="3632492" y="2164197"/>
            <a:ext cx="1842000" cy="1963200"/>
          </a:xfrm>
          <a:prstGeom prst="straightConnector1">
            <a:avLst/>
          </a:prstGeom>
          <a:noFill/>
          <a:ln cap="flat" cmpd="sng" w="9525">
            <a:solidFill>
              <a:schemeClr val="dk2"/>
            </a:solidFill>
            <a:prstDash val="solid"/>
            <a:round/>
            <a:headEnd len="med" w="med" type="none"/>
            <a:tailEnd len="med" w="med" type="triangle"/>
          </a:ln>
        </p:spPr>
      </p:cxnSp>
      <p:cxnSp>
        <p:nvCxnSpPr>
          <p:cNvPr id="590" name="Google Shape;590;p52"/>
          <p:cNvCxnSpPr>
            <a:stCxn id="580" idx="0"/>
            <a:endCxn id="581" idx="4"/>
          </p:cNvCxnSpPr>
          <p:nvPr/>
        </p:nvCxnSpPr>
        <p:spPr>
          <a:xfrm rot="10800000">
            <a:off x="5705822" y="2248542"/>
            <a:ext cx="0" cy="1794600"/>
          </a:xfrm>
          <a:prstGeom prst="straightConnector1">
            <a:avLst/>
          </a:prstGeom>
          <a:noFill/>
          <a:ln cap="flat" cmpd="sng" w="9525">
            <a:solidFill>
              <a:schemeClr val="dk2"/>
            </a:solidFill>
            <a:prstDash val="solid"/>
            <a:round/>
            <a:headEnd len="med" w="med" type="none"/>
            <a:tailEnd len="med" w="med" type="triangle"/>
          </a:ln>
        </p:spPr>
      </p:cxnSp>
      <p:sp>
        <p:nvSpPr>
          <p:cNvPr id="591" name="Google Shape;591;p52"/>
          <p:cNvSpPr txBox="1"/>
          <p:nvPr/>
        </p:nvSpPr>
        <p:spPr>
          <a:xfrm>
            <a:off x="2013089" y="2062466"/>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16</a:t>
            </a:r>
            <a:endParaRPr sz="2000">
              <a:latin typeface="Times"/>
              <a:ea typeface="Times"/>
              <a:cs typeface="Times"/>
              <a:sym typeface="Times"/>
            </a:endParaRPr>
          </a:p>
        </p:txBody>
      </p:sp>
      <p:sp>
        <p:nvSpPr>
          <p:cNvPr id="592" name="Google Shape;592;p52"/>
          <p:cNvSpPr txBox="1"/>
          <p:nvPr/>
        </p:nvSpPr>
        <p:spPr>
          <a:xfrm>
            <a:off x="3994568" y="1388125"/>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12</a:t>
            </a:r>
            <a:endParaRPr sz="2000">
              <a:latin typeface="Times"/>
              <a:ea typeface="Times"/>
              <a:cs typeface="Times"/>
              <a:sym typeface="Times"/>
            </a:endParaRPr>
          </a:p>
        </p:txBody>
      </p:sp>
      <p:sp>
        <p:nvSpPr>
          <p:cNvPr id="593" name="Google Shape;593;p52"/>
          <p:cNvSpPr txBox="1"/>
          <p:nvPr/>
        </p:nvSpPr>
        <p:spPr>
          <a:xfrm>
            <a:off x="6455361" y="1922031"/>
            <a:ext cx="7767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20</a:t>
            </a:r>
            <a:endParaRPr sz="2000">
              <a:latin typeface="Times"/>
              <a:ea typeface="Times"/>
              <a:cs typeface="Times"/>
              <a:sym typeface="Times"/>
            </a:endParaRPr>
          </a:p>
        </p:txBody>
      </p:sp>
      <p:sp>
        <p:nvSpPr>
          <p:cNvPr id="594" name="Google Shape;594;p52"/>
          <p:cNvSpPr txBox="1"/>
          <p:nvPr/>
        </p:nvSpPr>
        <p:spPr>
          <a:xfrm>
            <a:off x="6409239" y="3828271"/>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4</a:t>
            </a:r>
            <a:endParaRPr sz="2000">
              <a:latin typeface="Times"/>
              <a:ea typeface="Times"/>
              <a:cs typeface="Times"/>
              <a:sym typeface="Times"/>
            </a:endParaRPr>
          </a:p>
        </p:txBody>
      </p:sp>
      <p:sp>
        <p:nvSpPr>
          <p:cNvPr id="595" name="Google Shape;595;p52"/>
          <p:cNvSpPr txBox="1"/>
          <p:nvPr/>
        </p:nvSpPr>
        <p:spPr>
          <a:xfrm>
            <a:off x="4118888" y="4378149"/>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14</a:t>
            </a:r>
            <a:endParaRPr sz="2000">
              <a:latin typeface="Times"/>
              <a:ea typeface="Times"/>
              <a:cs typeface="Times"/>
              <a:sym typeface="Times"/>
            </a:endParaRPr>
          </a:p>
        </p:txBody>
      </p:sp>
      <p:sp>
        <p:nvSpPr>
          <p:cNvPr id="596" name="Google Shape;596;p52"/>
          <p:cNvSpPr txBox="1"/>
          <p:nvPr/>
        </p:nvSpPr>
        <p:spPr>
          <a:xfrm>
            <a:off x="3936437" y="2591721"/>
            <a:ext cx="9873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9</a:t>
            </a:r>
            <a:endParaRPr sz="2000">
              <a:latin typeface="Times"/>
              <a:ea typeface="Times"/>
              <a:cs typeface="Times"/>
              <a:sym typeface="Times"/>
            </a:endParaRPr>
          </a:p>
        </p:txBody>
      </p:sp>
      <p:sp>
        <p:nvSpPr>
          <p:cNvPr id="597" name="Google Shape;597;p52"/>
          <p:cNvSpPr txBox="1"/>
          <p:nvPr/>
        </p:nvSpPr>
        <p:spPr>
          <a:xfrm>
            <a:off x="2859089" y="2871834"/>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4</a:t>
            </a:r>
            <a:endParaRPr sz="2000">
              <a:latin typeface="Times"/>
              <a:ea typeface="Times"/>
              <a:cs typeface="Times"/>
              <a:sym typeface="Times"/>
            </a:endParaRPr>
          </a:p>
        </p:txBody>
      </p:sp>
      <p:sp>
        <p:nvSpPr>
          <p:cNvPr id="598" name="Google Shape;598;p52"/>
          <p:cNvSpPr txBox="1"/>
          <p:nvPr/>
        </p:nvSpPr>
        <p:spPr>
          <a:xfrm>
            <a:off x="2013073" y="3774440"/>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13</a:t>
            </a:r>
            <a:endParaRPr sz="2000">
              <a:latin typeface="Times"/>
              <a:ea typeface="Times"/>
              <a:cs typeface="Times"/>
              <a:sym typeface="Times"/>
            </a:endParaRPr>
          </a:p>
        </p:txBody>
      </p:sp>
      <p:sp>
        <p:nvSpPr>
          <p:cNvPr id="599" name="Google Shape;599;p52"/>
          <p:cNvSpPr txBox="1"/>
          <p:nvPr/>
        </p:nvSpPr>
        <p:spPr>
          <a:xfrm>
            <a:off x="5754885" y="2982577"/>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7</a:t>
            </a:r>
            <a:endParaRPr sz="2000">
              <a:latin typeface="Times"/>
              <a:ea typeface="Times"/>
              <a:cs typeface="Times"/>
              <a:sym typeface="Times"/>
            </a:endParaRPr>
          </a:p>
        </p:txBody>
      </p:sp>
      <p:sp>
        <p:nvSpPr>
          <p:cNvPr id="600" name="Google Shape;600;p52"/>
          <p:cNvSpPr txBox="1"/>
          <p:nvPr/>
        </p:nvSpPr>
        <p:spPr>
          <a:xfrm>
            <a:off x="575500" y="913600"/>
            <a:ext cx="8175000" cy="5310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SzPts val="2000"/>
              <a:buFont typeface="Times"/>
              <a:buAutoNum type="arabicPeriod"/>
            </a:pPr>
            <a:r>
              <a:rPr lang="en-GB" sz="2000">
                <a:latin typeface="Times"/>
                <a:ea typeface="Times"/>
                <a:cs typeface="Times"/>
                <a:sym typeface="Times"/>
              </a:rPr>
              <a:t>Initialize all flow to zero </a:t>
            </a:r>
            <a:endParaRPr sz="2000">
              <a:latin typeface="Times"/>
              <a:ea typeface="Times"/>
              <a:cs typeface="Times"/>
              <a:sym typeface="Time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604" name="Shape 604"/>
        <p:cNvGrpSpPr/>
        <p:nvPr/>
      </p:nvGrpSpPr>
      <p:grpSpPr>
        <a:xfrm>
          <a:off x="0" y="0"/>
          <a:ext cx="0" cy="0"/>
          <a:chOff x="0" y="0"/>
          <a:chExt cx="0" cy="0"/>
        </a:xfrm>
      </p:grpSpPr>
      <p:sp>
        <p:nvSpPr>
          <p:cNvPr id="605" name="Google Shape;605;p53"/>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606" name="Google Shape;606;p53"/>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607" name="Google Shape;607;p53"/>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608" name="Google Shape;608;p53"/>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Ford-Fulkerson Algorithm</a:t>
            </a:r>
            <a:endParaRPr b="1" sz="4000">
              <a:latin typeface="Times"/>
              <a:ea typeface="Times"/>
              <a:cs typeface="Times"/>
              <a:sym typeface="Times"/>
            </a:endParaRPr>
          </a:p>
        </p:txBody>
      </p:sp>
      <p:cxnSp>
        <p:nvCxnSpPr>
          <p:cNvPr id="609" name="Google Shape;609;p53"/>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610" name="Google Shape;610;p53"/>
          <p:cNvSpPr txBox="1"/>
          <p:nvPr/>
        </p:nvSpPr>
        <p:spPr>
          <a:xfrm>
            <a:off x="575500" y="913600"/>
            <a:ext cx="8175000" cy="39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Times"/>
                <a:ea typeface="Times"/>
                <a:cs typeface="Times"/>
                <a:sym typeface="Times"/>
              </a:rPr>
              <a:t>2. </a:t>
            </a:r>
            <a:r>
              <a:rPr lang="en-GB" sz="2100">
                <a:latin typeface="Times"/>
                <a:ea typeface="Times"/>
                <a:cs typeface="Times"/>
                <a:sym typeface="Times"/>
              </a:rPr>
              <a:t>Finding</a:t>
            </a:r>
            <a:r>
              <a:rPr lang="en-GB" sz="2100">
                <a:latin typeface="Times"/>
                <a:ea typeface="Times"/>
                <a:cs typeface="Times"/>
                <a:sym typeface="Times"/>
              </a:rPr>
              <a:t> Augmenting paths and repeat</a:t>
            </a:r>
            <a:endParaRPr sz="2100">
              <a:latin typeface="Times"/>
              <a:ea typeface="Times"/>
              <a:cs typeface="Times"/>
              <a:sym typeface="Times"/>
            </a:endParaRPr>
          </a:p>
          <a:p>
            <a:pPr indent="-349250" lvl="0" marL="630000" rtl="0" algn="l">
              <a:spcBef>
                <a:spcPts val="0"/>
              </a:spcBef>
              <a:spcAft>
                <a:spcPts val="0"/>
              </a:spcAft>
              <a:buSzPts val="1900"/>
              <a:buFont typeface="Times"/>
              <a:buChar char="●"/>
            </a:pPr>
            <a:r>
              <a:rPr lang="en-GB" sz="1900">
                <a:latin typeface="Times"/>
                <a:ea typeface="Times"/>
                <a:cs typeface="Times"/>
                <a:sym typeface="Times"/>
              </a:rPr>
              <a:t>Initial path: s⟶a⟶b⟶t </a:t>
            </a:r>
            <a:endParaRPr sz="1900">
              <a:latin typeface="Times"/>
              <a:ea typeface="Times"/>
              <a:cs typeface="Times"/>
              <a:sym typeface="Times"/>
            </a:endParaRPr>
          </a:p>
          <a:p>
            <a:pPr indent="-349250" lvl="1" marL="990001" rtl="0" algn="l">
              <a:spcBef>
                <a:spcPts val="0"/>
              </a:spcBef>
              <a:spcAft>
                <a:spcPts val="0"/>
              </a:spcAft>
              <a:buSzPts val="1900"/>
              <a:buFont typeface="Times"/>
              <a:buChar char="○"/>
            </a:pPr>
            <a:r>
              <a:rPr lang="en-GB" sz="1900">
                <a:latin typeface="Times"/>
                <a:ea typeface="Times"/>
                <a:cs typeface="Times"/>
                <a:sym typeface="Times"/>
              </a:rPr>
              <a:t>Residual Capacity: min(16, 12, 20) = 12</a:t>
            </a:r>
            <a:endParaRPr sz="1900">
              <a:latin typeface="Times"/>
              <a:ea typeface="Times"/>
              <a:cs typeface="Times"/>
              <a:sym typeface="Times"/>
            </a:endParaRPr>
          </a:p>
          <a:p>
            <a:pPr indent="-349250" lvl="1" marL="990001" rtl="0" algn="l">
              <a:spcBef>
                <a:spcPts val="0"/>
              </a:spcBef>
              <a:spcAft>
                <a:spcPts val="0"/>
              </a:spcAft>
              <a:buSzPts val="1900"/>
              <a:buFont typeface="Times"/>
              <a:buChar char="○"/>
            </a:pPr>
            <a:r>
              <a:rPr lang="en-GB" sz="1900">
                <a:latin typeface="Times"/>
                <a:ea typeface="Times"/>
                <a:cs typeface="Times"/>
                <a:sym typeface="Times"/>
              </a:rPr>
              <a:t>Augment flow: f(s,a) = </a:t>
            </a:r>
            <a:r>
              <a:rPr lang="en-GB" sz="1900">
                <a:latin typeface="Times"/>
                <a:ea typeface="Times"/>
                <a:cs typeface="Times"/>
                <a:sym typeface="Times"/>
              </a:rPr>
              <a:t>f(a,b) = f(b,t) = 12;</a:t>
            </a:r>
            <a:endParaRPr sz="1900">
              <a:latin typeface="Times"/>
              <a:ea typeface="Times"/>
              <a:cs typeface="Times"/>
              <a:sym typeface="Times"/>
            </a:endParaRPr>
          </a:p>
          <a:p>
            <a:pPr indent="-349250" lvl="1" marL="990001" rtl="0" algn="l">
              <a:spcBef>
                <a:spcPts val="0"/>
              </a:spcBef>
              <a:spcAft>
                <a:spcPts val="0"/>
              </a:spcAft>
              <a:buSzPts val="1900"/>
              <a:buFont typeface="Times"/>
              <a:buChar char="○"/>
            </a:pPr>
            <a:r>
              <a:rPr lang="en-GB" sz="1900">
                <a:latin typeface="Times"/>
                <a:ea typeface="Times"/>
                <a:cs typeface="Times"/>
                <a:sym typeface="Times"/>
              </a:rPr>
              <a:t>Flow: 12</a:t>
            </a:r>
            <a:endParaRPr sz="1900">
              <a:latin typeface="Times"/>
              <a:ea typeface="Times"/>
              <a:cs typeface="Times"/>
              <a:sym typeface="Times"/>
            </a:endParaRPr>
          </a:p>
          <a:p>
            <a:pPr indent="-349250" lvl="0" marL="630000" rtl="0" algn="l">
              <a:spcBef>
                <a:spcPts val="0"/>
              </a:spcBef>
              <a:spcAft>
                <a:spcPts val="0"/>
              </a:spcAft>
              <a:buSzPts val="1900"/>
              <a:buFont typeface="Times"/>
              <a:buChar char="●"/>
            </a:pPr>
            <a:r>
              <a:rPr lang="en-GB" sz="1900">
                <a:latin typeface="Times"/>
                <a:ea typeface="Times"/>
                <a:cs typeface="Times"/>
                <a:sym typeface="Times"/>
              </a:rPr>
              <a:t>Next path: </a:t>
            </a:r>
            <a:r>
              <a:rPr lang="en-GB" sz="1900">
                <a:latin typeface="Times"/>
                <a:ea typeface="Times"/>
                <a:cs typeface="Times"/>
                <a:sym typeface="Times"/>
              </a:rPr>
              <a:t>s⟶c⟶d⟶t </a:t>
            </a:r>
            <a:endParaRPr sz="1900">
              <a:latin typeface="Times"/>
              <a:ea typeface="Times"/>
              <a:cs typeface="Times"/>
              <a:sym typeface="Times"/>
            </a:endParaRPr>
          </a:p>
          <a:p>
            <a:pPr indent="-349250" lvl="1" marL="990001" rtl="0" algn="l">
              <a:spcBef>
                <a:spcPts val="0"/>
              </a:spcBef>
              <a:spcAft>
                <a:spcPts val="0"/>
              </a:spcAft>
              <a:buSzPts val="1900"/>
              <a:buFont typeface="Times"/>
              <a:buChar char="○"/>
            </a:pPr>
            <a:r>
              <a:rPr lang="en-GB" sz="1900">
                <a:latin typeface="Times"/>
                <a:ea typeface="Times"/>
                <a:cs typeface="Times"/>
                <a:sym typeface="Times"/>
              </a:rPr>
              <a:t>Residual Capacity: min(13, 14, 4) = 4</a:t>
            </a:r>
            <a:endParaRPr sz="1900">
              <a:latin typeface="Times"/>
              <a:ea typeface="Times"/>
              <a:cs typeface="Times"/>
              <a:sym typeface="Times"/>
            </a:endParaRPr>
          </a:p>
          <a:p>
            <a:pPr indent="-349250" lvl="1" marL="990001" rtl="0" algn="l">
              <a:spcBef>
                <a:spcPts val="0"/>
              </a:spcBef>
              <a:spcAft>
                <a:spcPts val="0"/>
              </a:spcAft>
              <a:buSzPts val="1900"/>
              <a:buFont typeface="Times"/>
              <a:buChar char="○"/>
            </a:pPr>
            <a:r>
              <a:rPr lang="en-GB" sz="1900">
                <a:latin typeface="Times"/>
                <a:ea typeface="Times"/>
                <a:cs typeface="Times"/>
                <a:sym typeface="Times"/>
              </a:rPr>
              <a:t>Augment flow: f(s,c) = f(c,d) = f(d,t) = 4;</a:t>
            </a:r>
            <a:endParaRPr sz="1900">
              <a:latin typeface="Times"/>
              <a:ea typeface="Times"/>
              <a:cs typeface="Times"/>
              <a:sym typeface="Times"/>
            </a:endParaRPr>
          </a:p>
          <a:p>
            <a:pPr indent="-349250" lvl="1" marL="990001" rtl="0" algn="l">
              <a:spcBef>
                <a:spcPts val="0"/>
              </a:spcBef>
              <a:spcAft>
                <a:spcPts val="0"/>
              </a:spcAft>
              <a:buSzPts val="1900"/>
              <a:buFont typeface="Times"/>
              <a:buChar char="○"/>
            </a:pPr>
            <a:r>
              <a:rPr lang="en-GB" sz="1900">
                <a:latin typeface="Times"/>
                <a:ea typeface="Times"/>
                <a:cs typeface="Times"/>
                <a:sym typeface="Times"/>
              </a:rPr>
              <a:t>Flow:  12 + 4 = 16</a:t>
            </a:r>
            <a:endParaRPr sz="1900">
              <a:latin typeface="Times"/>
              <a:ea typeface="Times"/>
              <a:cs typeface="Times"/>
              <a:sym typeface="Times"/>
            </a:endParaRPr>
          </a:p>
          <a:p>
            <a:pPr indent="-349250" lvl="0" marL="630000" rtl="0" algn="l">
              <a:spcBef>
                <a:spcPts val="0"/>
              </a:spcBef>
              <a:spcAft>
                <a:spcPts val="0"/>
              </a:spcAft>
              <a:buSzPts val="1900"/>
              <a:buFont typeface="Times"/>
              <a:buChar char="●"/>
            </a:pPr>
            <a:r>
              <a:rPr lang="en-GB" sz="1900">
                <a:latin typeface="Times"/>
                <a:ea typeface="Times"/>
                <a:cs typeface="Times"/>
                <a:sym typeface="Times"/>
              </a:rPr>
              <a:t>Next path: s⟶c⟶d⟶b⟶t </a:t>
            </a:r>
            <a:endParaRPr sz="1900">
              <a:latin typeface="Times"/>
              <a:ea typeface="Times"/>
              <a:cs typeface="Times"/>
              <a:sym typeface="Times"/>
            </a:endParaRPr>
          </a:p>
          <a:p>
            <a:pPr indent="-349250" lvl="1" marL="990001" rtl="0" algn="l">
              <a:spcBef>
                <a:spcPts val="0"/>
              </a:spcBef>
              <a:spcAft>
                <a:spcPts val="0"/>
              </a:spcAft>
              <a:buSzPts val="1900"/>
              <a:buFont typeface="Times"/>
              <a:buChar char="○"/>
            </a:pPr>
            <a:r>
              <a:rPr lang="en-GB" sz="1900">
                <a:latin typeface="Times"/>
                <a:ea typeface="Times"/>
                <a:cs typeface="Times"/>
                <a:sym typeface="Times"/>
              </a:rPr>
              <a:t>Residual Capacity: min(7,10,7,8) = 7</a:t>
            </a:r>
            <a:endParaRPr sz="1900">
              <a:latin typeface="Times"/>
              <a:ea typeface="Times"/>
              <a:cs typeface="Times"/>
              <a:sym typeface="Times"/>
            </a:endParaRPr>
          </a:p>
          <a:p>
            <a:pPr indent="-349250" lvl="1" marL="990001" rtl="0" algn="l">
              <a:spcBef>
                <a:spcPts val="0"/>
              </a:spcBef>
              <a:spcAft>
                <a:spcPts val="0"/>
              </a:spcAft>
              <a:buSzPts val="1900"/>
              <a:buFont typeface="Times"/>
              <a:buChar char="○"/>
            </a:pPr>
            <a:r>
              <a:rPr lang="en-GB" sz="1900">
                <a:latin typeface="Times"/>
                <a:ea typeface="Times"/>
                <a:cs typeface="Times"/>
                <a:sym typeface="Times"/>
              </a:rPr>
              <a:t>Augment flow: f(s,c) = f(c,d) = 13; f(d,b) = 7; f(b,t) = 19</a:t>
            </a:r>
            <a:endParaRPr sz="1900">
              <a:latin typeface="Times"/>
              <a:ea typeface="Times"/>
              <a:cs typeface="Times"/>
              <a:sym typeface="Times"/>
            </a:endParaRPr>
          </a:p>
          <a:p>
            <a:pPr indent="-349250" lvl="1" marL="990001" rtl="0" algn="l">
              <a:spcBef>
                <a:spcPts val="0"/>
              </a:spcBef>
              <a:spcAft>
                <a:spcPts val="0"/>
              </a:spcAft>
              <a:buSzPts val="1900"/>
              <a:buFont typeface="Times"/>
              <a:buChar char="○"/>
            </a:pPr>
            <a:r>
              <a:rPr lang="en-GB" sz="1900">
                <a:latin typeface="Times"/>
                <a:ea typeface="Times"/>
                <a:cs typeface="Times"/>
                <a:sym typeface="Times"/>
              </a:rPr>
              <a:t>Flow: 12+7=19; The </a:t>
            </a:r>
            <a:r>
              <a:rPr b="1" lang="en-GB" sz="1900">
                <a:latin typeface="Times"/>
                <a:ea typeface="Times"/>
                <a:cs typeface="Times"/>
                <a:sym typeface="Times"/>
              </a:rPr>
              <a:t>maximum flow</a:t>
            </a:r>
            <a:r>
              <a:rPr lang="en-GB" sz="1900">
                <a:latin typeface="Times"/>
                <a:ea typeface="Times"/>
                <a:cs typeface="Times"/>
                <a:sym typeface="Times"/>
              </a:rPr>
              <a:t> from s to t in this flow network is:</a:t>
            </a:r>
            <a:r>
              <a:rPr b="1" lang="en-GB" sz="1900">
                <a:latin typeface="Times"/>
                <a:ea typeface="Times"/>
                <a:cs typeface="Times"/>
                <a:sym typeface="Times"/>
              </a:rPr>
              <a:t>19</a:t>
            </a:r>
            <a:endParaRPr sz="1900">
              <a:latin typeface="Times"/>
              <a:ea typeface="Times"/>
              <a:cs typeface="Times"/>
              <a:sym typeface="Time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614" name="Shape 614"/>
        <p:cNvGrpSpPr/>
        <p:nvPr/>
      </p:nvGrpSpPr>
      <p:grpSpPr>
        <a:xfrm>
          <a:off x="0" y="0"/>
          <a:ext cx="0" cy="0"/>
          <a:chOff x="0" y="0"/>
          <a:chExt cx="0" cy="0"/>
        </a:xfrm>
      </p:grpSpPr>
      <p:sp>
        <p:nvSpPr>
          <p:cNvPr id="615" name="Google Shape;615;p54"/>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616" name="Google Shape;616;p54"/>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617" name="Google Shape;617;p54"/>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618" name="Google Shape;618;p54"/>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Ford-Fulkerson Algorithm</a:t>
            </a:r>
            <a:endParaRPr b="1" sz="4000">
              <a:latin typeface="Times"/>
              <a:ea typeface="Times"/>
              <a:cs typeface="Times"/>
              <a:sym typeface="Times"/>
            </a:endParaRPr>
          </a:p>
        </p:txBody>
      </p:sp>
      <p:cxnSp>
        <p:nvCxnSpPr>
          <p:cNvPr id="619" name="Google Shape;619;p54"/>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620" name="Google Shape;620;p54"/>
          <p:cNvSpPr/>
          <p:nvPr/>
        </p:nvSpPr>
        <p:spPr>
          <a:xfrm>
            <a:off x="1496300" y="3001428"/>
            <a:ext cx="654300" cy="590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s</a:t>
            </a:r>
            <a:endParaRPr sz="3000">
              <a:latin typeface="Times"/>
              <a:ea typeface="Times"/>
              <a:cs typeface="Times"/>
              <a:sym typeface="Times"/>
            </a:endParaRPr>
          </a:p>
        </p:txBody>
      </p:sp>
      <p:sp>
        <p:nvSpPr>
          <p:cNvPr id="621" name="Google Shape;621;p54"/>
          <p:cNvSpPr/>
          <p:nvPr/>
        </p:nvSpPr>
        <p:spPr>
          <a:xfrm>
            <a:off x="7064675" y="3001446"/>
            <a:ext cx="654300" cy="590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t</a:t>
            </a:r>
            <a:endParaRPr sz="3000">
              <a:latin typeface="Times"/>
              <a:ea typeface="Times"/>
              <a:cs typeface="Times"/>
              <a:sym typeface="Times"/>
            </a:endParaRPr>
          </a:p>
        </p:txBody>
      </p:sp>
      <p:sp>
        <p:nvSpPr>
          <p:cNvPr id="622" name="Google Shape;622;p54"/>
          <p:cNvSpPr/>
          <p:nvPr/>
        </p:nvSpPr>
        <p:spPr>
          <a:xfrm>
            <a:off x="3073954" y="1672229"/>
            <a:ext cx="654300" cy="590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a</a:t>
            </a:r>
            <a:endParaRPr sz="3000">
              <a:latin typeface="Times"/>
              <a:ea typeface="Times"/>
              <a:cs typeface="Times"/>
              <a:sym typeface="Times"/>
            </a:endParaRPr>
          </a:p>
        </p:txBody>
      </p:sp>
      <p:sp>
        <p:nvSpPr>
          <p:cNvPr id="623" name="Google Shape;623;p54"/>
          <p:cNvSpPr/>
          <p:nvPr/>
        </p:nvSpPr>
        <p:spPr>
          <a:xfrm>
            <a:off x="3073954" y="4100133"/>
            <a:ext cx="654300" cy="590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c</a:t>
            </a:r>
            <a:endParaRPr sz="3000">
              <a:latin typeface="Times"/>
              <a:ea typeface="Times"/>
              <a:cs typeface="Times"/>
              <a:sym typeface="Times"/>
            </a:endParaRPr>
          </a:p>
        </p:txBody>
      </p:sp>
      <p:sp>
        <p:nvSpPr>
          <p:cNvPr id="624" name="Google Shape;624;p54"/>
          <p:cNvSpPr/>
          <p:nvPr/>
        </p:nvSpPr>
        <p:spPr>
          <a:xfrm>
            <a:off x="5378667" y="4100133"/>
            <a:ext cx="654300" cy="590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d</a:t>
            </a:r>
            <a:endParaRPr sz="3000">
              <a:latin typeface="Times"/>
              <a:ea typeface="Times"/>
              <a:cs typeface="Times"/>
              <a:sym typeface="Times"/>
            </a:endParaRPr>
          </a:p>
        </p:txBody>
      </p:sp>
      <p:sp>
        <p:nvSpPr>
          <p:cNvPr id="625" name="Google Shape;625;p54"/>
          <p:cNvSpPr/>
          <p:nvPr/>
        </p:nvSpPr>
        <p:spPr>
          <a:xfrm>
            <a:off x="5378667" y="1672210"/>
            <a:ext cx="654300" cy="590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b</a:t>
            </a:r>
            <a:endParaRPr sz="3000">
              <a:latin typeface="Times"/>
              <a:ea typeface="Times"/>
              <a:cs typeface="Times"/>
              <a:sym typeface="Times"/>
            </a:endParaRPr>
          </a:p>
        </p:txBody>
      </p:sp>
      <p:cxnSp>
        <p:nvCxnSpPr>
          <p:cNvPr id="626" name="Google Shape;626;p54"/>
          <p:cNvCxnSpPr>
            <a:stCxn id="620" idx="7"/>
            <a:endCxn id="622" idx="3"/>
          </p:cNvCxnSpPr>
          <p:nvPr/>
        </p:nvCxnSpPr>
        <p:spPr>
          <a:xfrm flipH="1" rot="10800000">
            <a:off x="2054780" y="2175846"/>
            <a:ext cx="1115100" cy="912000"/>
          </a:xfrm>
          <a:prstGeom prst="straightConnector1">
            <a:avLst/>
          </a:prstGeom>
          <a:noFill/>
          <a:ln cap="flat" cmpd="sng" w="9525">
            <a:solidFill>
              <a:schemeClr val="dk2"/>
            </a:solidFill>
            <a:prstDash val="solid"/>
            <a:round/>
            <a:headEnd len="med" w="med" type="none"/>
            <a:tailEnd len="med" w="med" type="triangle"/>
          </a:ln>
        </p:spPr>
      </p:cxnSp>
      <p:cxnSp>
        <p:nvCxnSpPr>
          <p:cNvPr id="627" name="Google Shape;627;p54"/>
          <p:cNvCxnSpPr>
            <a:stCxn id="622" idx="6"/>
            <a:endCxn id="625" idx="2"/>
          </p:cNvCxnSpPr>
          <p:nvPr/>
        </p:nvCxnSpPr>
        <p:spPr>
          <a:xfrm>
            <a:off x="3728254" y="1967279"/>
            <a:ext cx="1650300" cy="0"/>
          </a:xfrm>
          <a:prstGeom prst="straightConnector1">
            <a:avLst/>
          </a:prstGeom>
          <a:noFill/>
          <a:ln cap="flat" cmpd="sng" w="9525">
            <a:solidFill>
              <a:schemeClr val="dk2"/>
            </a:solidFill>
            <a:prstDash val="solid"/>
            <a:round/>
            <a:headEnd len="med" w="med" type="none"/>
            <a:tailEnd len="med" w="med" type="triangle"/>
          </a:ln>
        </p:spPr>
      </p:cxnSp>
      <p:cxnSp>
        <p:nvCxnSpPr>
          <p:cNvPr id="628" name="Google Shape;628;p54"/>
          <p:cNvCxnSpPr>
            <a:stCxn id="625" idx="6"/>
            <a:endCxn id="621" idx="1"/>
          </p:cNvCxnSpPr>
          <p:nvPr/>
        </p:nvCxnSpPr>
        <p:spPr>
          <a:xfrm>
            <a:off x="6032967" y="1967260"/>
            <a:ext cx="1127400" cy="1120500"/>
          </a:xfrm>
          <a:prstGeom prst="straightConnector1">
            <a:avLst/>
          </a:prstGeom>
          <a:noFill/>
          <a:ln cap="flat" cmpd="sng" w="9525">
            <a:solidFill>
              <a:schemeClr val="dk2"/>
            </a:solidFill>
            <a:prstDash val="solid"/>
            <a:round/>
            <a:headEnd len="med" w="med" type="none"/>
            <a:tailEnd len="med" w="med" type="triangle"/>
          </a:ln>
        </p:spPr>
      </p:cxnSp>
      <p:cxnSp>
        <p:nvCxnSpPr>
          <p:cNvPr id="629" name="Google Shape;629;p54"/>
          <p:cNvCxnSpPr>
            <a:stCxn id="620" idx="5"/>
            <a:endCxn id="623" idx="1"/>
          </p:cNvCxnSpPr>
          <p:nvPr/>
        </p:nvCxnSpPr>
        <p:spPr>
          <a:xfrm>
            <a:off x="2054780" y="3505109"/>
            <a:ext cx="1115100" cy="681300"/>
          </a:xfrm>
          <a:prstGeom prst="straightConnector1">
            <a:avLst/>
          </a:prstGeom>
          <a:noFill/>
          <a:ln cap="flat" cmpd="sng" w="9525">
            <a:solidFill>
              <a:schemeClr val="dk2"/>
            </a:solidFill>
            <a:prstDash val="solid"/>
            <a:round/>
            <a:headEnd len="med" w="med" type="none"/>
            <a:tailEnd len="med" w="med" type="triangle"/>
          </a:ln>
        </p:spPr>
      </p:cxnSp>
      <p:cxnSp>
        <p:nvCxnSpPr>
          <p:cNvPr id="630" name="Google Shape;630;p54"/>
          <p:cNvCxnSpPr>
            <a:stCxn id="623" idx="6"/>
            <a:endCxn id="624" idx="2"/>
          </p:cNvCxnSpPr>
          <p:nvPr/>
        </p:nvCxnSpPr>
        <p:spPr>
          <a:xfrm>
            <a:off x="3728254" y="4395183"/>
            <a:ext cx="1650300" cy="0"/>
          </a:xfrm>
          <a:prstGeom prst="straightConnector1">
            <a:avLst/>
          </a:prstGeom>
          <a:noFill/>
          <a:ln cap="flat" cmpd="sng" w="9525">
            <a:solidFill>
              <a:schemeClr val="dk2"/>
            </a:solidFill>
            <a:prstDash val="solid"/>
            <a:round/>
            <a:headEnd len="med" w="med" type="none"/>
            <a:tailEnd len="med" w="med" type="triangle"/>
          </a:ln>
        </p:spPr>
      </p:cxnSp>
      <p:cxnSp>
        <p:nvCxnSpPr>
          <p:cNvPr id="631" name="Google Shape;631;p54"/>
          <p:cNvCxnSpPr>
            <a:stCxn id="624" idx="6"/>
            <a:endCxn id="621" idx="3"/>
          </p:cNvCxnSpPr>
          <p:nvPr/>
        </p:nvCxnSpPr>
        <p:spPr>
          <a:xfrm flipH="1" rot="10800000">
            <a:off x="6032967" y="3505083"/>
            <a:ext cx="1127400" cy="890100"/>
          </a:xfrm>
          <a:prstGeom prst="straightConnector1">
            <a:avLst/>
          </a:prstGeom>
          <a:noFill/>
          <a:ln cap="flat" cmpd="sng" w="9525">
            <a:solidFill>
              <a:schemeClr val="dk2"/>
            </a:solidFill>
            <a:prstDash val="solid"/>
            <a:round/>
            <a:headEnd len="med" w="med" type="none"/>
            <a:tailEnd len="med" w="med" type="triangle"/>
          </a:ln>
        </p:spPr>
      </p:cxnSp>
      <p:cxnSp>
        <p:nvCxnSpPr>
          <p:cNvPr id="632" name="Google Shape;632;p54"/>
          <p:cNvCxnSpPr>
            <a:stCxn id="623" idx="0"/>
            <a:endCxn id="622" idx="4"/>
          </p:cNvCxnSpPr>
          <p:nvPr/>
        </p:nvCxnSpPr>
        <p:spPr>
          <a:xfrm rot="10800000">
            <a:off x="3401104" y="2262333"/>
            <a:ext cx="0" cy="1837800"/>
          </a:xfrm>
          <a:prstGeom prst="straightConnector1">
            <a:avLst/>
          </a:prstGeom>
          <a:noFill/>
          <a:ln cap="flat" cmpd="sng" w="9525">
            <a:solidFill>
              <a:schemeClr val="dk2"/>
            </a:solidFill>
            <a:prstDash val="solid"/>
            <a:round/>
            <a:headEnd len="med" w="med" type="none"/>
            <a:tailEnd len="med" w="med" type="triangle"/>
          </a:ln>
        </p:spPr>
      </p:cxnSp>
      <p:cxnSp>
        <p:nvCxnSpPr>
          <p:cNvPr id="633" name="Google Shape;633;p54"/>
          <p:cNvCxnSpPr>
            <a:stCxn id="625" idx="3"/>
            <a:endCxn id="623" idx="7"/>
          </p:cNvCxnSpPr>
          <p:nvPr/>
        </p:nvCxnSpPr>
        <p:spPr>
          <a:xfrm flipH="1">
            <a:off x="3632487" y="2175892"/>
            <a:ext cx="1842000" cy="2010600"/>
          </a:xfrm>
          <a:prstGeom prst="straightConnector1">
            <a:avLst/>
          </a:prstGeom>
          <a:noFill/>
          <a:ln cap="flat" cmpd="sng" w="9525">
            <a:solidFill>
              <a:schemeClr val="dk2"/>
            </a:solidFill>
            <a:prstDash val="solid"/>
            <a:round/>
            <a:headEnd len="med" w="med" type="none"/>
            <a:tailEnd len="med" w="med" type="triangle"/>
          </a:ln>
        </p:spPr>
      </p:cxnSp>
      <p:cxnSp>
        <p:nvCxnSpPr>
          <p:cNvPr id="634" name="Google Shape;634;p54"/>
          <p:cNvCxnSpPr>
            <a:stCxn id="624" idx="0"/>
            <a:endCxn id="625" idx="4"/>
          </p:cNvCxnSpPr>
          <p:nvPr/>
        </p:nvCxnSpPr>
        <p:spPr>
          <a:xfrm rot="10800000">
            <a:off x="5705817" y="2262333"/>
            <a:ext cx="0" cy="1837800"/>
          </a:xfrm>
          <a:prstGeom prst="straightConnector1">
            <a:avLst/>
          </a:prstGeom>
          <a:noFill/>
          <a:ln cap="flat" cmpd="sng" w="9525">
            <a:solidFill>
              <a:schemeClr val="dk2"/>
            </a:solidFill>
            <a:prstDash val="solid"/>
            <a:round/>
            <a:headEnd len="med" w="med" type="none"/>
            <a:tailEnd len="med" w="med" type="triangle"/>
          </a:ln>
        </p:spPr>
      </p:cxnSp>
      <p:sp>
        <p:nvSpPr>
          <p:cNvPr id="635" name="Google Shape;635;p54"/>
          <p:cNvSpPr txBox="1"/>
          <p:nvPr/>
        </p:nvSpPr>
        <p:spPr>
          <a:xfrm>
            <a:off x="2013088" y="2071775"/>
            <a:ext cx="869100" cy="4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12</a:t>
            </a:r>
            <a:r>
              <a:rPr lang="en-GB" sz="2000">
                <a:solidFill>
                  <a:srgbClr val="4A86E8"/>
                </a:solidFill>
                <a:latin typeface="Times"/>
                <a:ea typeface="Times"/>
                <a:cs typeface="Times"/>
                <a:sym typeface="Times"/>
              </a:rPr>
              <a:t>/</a:t>
            </a:r>
            <a:r>
              <a:rPr lang="en-GB" sz="2000">
                <a:latin typeface="Times"/>
                <a:ea typeface="Times"/>
                <a:cs typeface="Times"/>
                <a:sym typeface="Times"/>
              </a:rPr>
              <a:t>16</a:t>
            </a:r>
            <a:endParaRPr sz="2000">
              <a:latin typeface="Times"/>
              <a:ea typeface="Times"/>
              <a:cs typeface="Times"/>
              <a:sym typeface="Times"/>
            </a:endParaRPr>
          </a:p>
        </p:txBody>
      </p:sp>
      <p:sp>
        <p:nvSpPr>
          <p:cNvPr id="636" name="Google Shape;636;p54"/>
          <p:cNvSpPr txBox="1"/>
          <p:nvPr/>
        </p:nvSpPr>
        <p:spPr>
          <a:xfrm>
            <a:off x="3994564" y="1381200"/>
            <a:ext cx="869100" cy="4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12</a:t>
            </a:r>
            <a:r>
              <a:rPr lang="en-GB" sz="2000">
                <a:solidFill>
                  <a:srgbClr val="4A86E8"/>
                </a:solidFill>
                <a:latin typeface="Times"/>
                <a:ea typeface="Times"/>
                <a:cs typeface="Times"/>
                <a:sym typeface="Times"/>
              </a:rPr>
              <a:t>/</a:t>
            </a:r>
            <a:r>
              <a:rPr lang="en-GB" sz="2000">
                <a:latin typeface="Times"/>
                <a:ea typeface="Times"/>
                <a:cs typeface="Times"/>
                <a:sym typeface="Times"/>
              </a:rPr>
              <a:t>12</a:t>
            </a:r>
            <a:endParaRPr sz="2000">
              <a:latin typeface="Times"/>
              <a:ea typeface="Times"/>
              <a:cs typeface="Times"/>
              <a:sym typeface="Times"/>
            </a:endParaRPr>
          </a:p>
        </p:txBody>
      </p:sp>
      <p:sp>
        <p:nvSpPr>
          <p:cNvPr id="637" name="Google Shape;637;p54"/>
          <p:cNvSpPr txBox="1"/>
          <p:nvPr/>
        </p:nvSpPr>
        <p:spPr>
          <a:xfrm>
            <a:off x="6455355" y="1927959"/>
            <a:ext cx="776700" cy="4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19</a:t>
            </a:r>
            <a:r>
              <a:rPr lang="en-GB" sz="2000">
                <a:solidFill>
                  <a:srgbClr val="4A86E8"/>
                </a:solidFill>
                <a:latin typeface="Times"/>
                <a:ea typeface="Times"/>
                <a:cs typeface="Times"/>
                <a:sym typeface="Times"/>
              </a:rPr>
              <a:t>/</a:t>
            </a:r>
            <a:r>
              <a:rPr lang="en-GB" sz="2000">
                <a:latin typeface="Times"/>
                <a:ea typeface="Times"/>
                <a:cs typeface="Times"/>
                <a:sym typeface="Times"/>
              </a:rPr>
              <a:t>20</a:t>
            </a:r>
            <a:endParaRPr sz="2000">
              <a:latin typeface="Times"/>
              <a:ea typeface="Times"/>
              <a:cs typeface="Times"/>
              <a:sym typeface="Times"/>
            </a:endParaRPr>
          </a:p>
        </p:txBody>
      </p:sp>
      <p:sp>
        <p:nvSpPr>
          <p:cNvPr id="638" name="Google Shape;638;p54"/>
          <p:cNvSpPr txBox="1"/>
          <p:nvPr/>
        </p:nvSpPr>
        <p:spPr>
          <a:xfrm>
            <a:off x="6409233" y="3880090"/>
            <a:ext cx="869100" cy="4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4</a:t>
            </a:r>
            <a:r>
              <a:rPr lang="en-GB" sz="2000">
                <a:solidFill>
                  <a:srgbClr val="4A86E8"/>
                </a:solidFill>
                <a:latin typeface="Times"/>
                <a:ea typeface="Times"/>
                <a:cs typeface="Times"/>
                <a:sym typeface="Times"/>
              </a:rPr>
              <a:t>/</a:t>
            </a:r>
            <a:r>
              <a:rPr lang="en-GB" sz="2000">
                <a:latin typeface="Times"/>
                <a:ea typeface="Times"/>
                <a:cs typeface="Times"/>
                <a:sym typeface="Times"/>
              </a:rPr>
              <a:t>4</a:t>
            </a:r>
            <a:endParaRPr sz="2000">
              <a:latin typeface="Times"/>
              <a:ea typeface="Times"/>
              <a:cs typeface="Times"/>
              <a:sym typeface="Times"/>
            </a:endParaRPr>
          </a:p>
        </p:txBody>
      </p:sp>
      <p:sp>
        <p:nvSpPr>
          <p:cNvPr id="639" name="Google Shape;639;p54"/>
          <p:cNvSpPr txBox="1"/>
          <p:nvPr/>
        </p:nvSpPr>
        <p:spPr>
          <a:xfrm>
            <a:off x="4118885" y="4443206"/>
            <a:ext cx="869100" cy="4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11</a:t>
            </a:r>
            <a:r>
              <a:rPr lang="en-GB" sz="2000">
                <a:solidFill>
                  <a:srgbClr val="4A86E8"/>
                </a:solidFill>
                <a:latin typeface="Times"/>
                <a:ea typeface="Times"/>
                <a:cs typeface="Times"/>
                <a:sym typeface="Times"/>
              </a:rPr>
              <a:t>/</a:t>
            </a:r>
            <a:r>
              <a:rPr lang="en-GB" sz="2000">
                <a:latin typeface="Times"/>
                <a:ea typeface="Times"/>
                <a:cs typeface="Times"/>
                <a:sym typeface="Times"/>
              </a:rPr>
              <a:t>14</a:t>
            </a:r>
            <a:endParaRPr sz="2000">
              <a:latin typeface="Times"/>
              <a:ea typeface="Times"/>
              <a:cs typeface="Times"/>
              <a:sym typeface="Times"/>
            </a:endParaRPr>
          </a:p>
        </p:txBody>
      </p:sp>
      <p:sp>
        <p:nvSpPr>
          <p:cNvPr id="640" name="Google Shape;640;p54"/>
          <p:cNvSpPr txBox="1"/>
          <p:nvPr/>
        </p:nvSpPr>
        <p:spPr>
          <a:xfrm>
            <a:off x="3936434" y="2613771"/>
            <a:ext cx="987300" cy="4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9</a:t>
            </a:r>
            <a:endParaRPr sz="2000">
              <a:latin typeface="Times"/>
              <a:ea typeface="Times"/>
              <a:cs typeface="Times"/>
              <a:sym typeface="Times"/>
            </a:endParaRPr>
          </a:p>
        </p:txBody>
      </p:sp>
      <p:sp>
        <p:nvSpPr>
          <p:cNvPr id="641" name="Google Shape;641;p54"/>
          <p:cNvSpPr txBox="1"/>
          <p:nvPr/>
        </p:nvSpPr>
        <p:spPr>
          <a:xfrm>
            <a:off x="2859087" y="2900628"/>
            <a:ext cx="869100" cy="4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4</a:t>
            </a:r>
            <a:endParaRPr sz="2000">
              <a:latin typeface="Times"/>
              <a:ea typeface="Times"/>
              <a:cs typeface="Times"/>
              <a:sym typeface="Times"/>
            </a:endParaRPr>
          </a:p>
        </p:txBody>
      </p:sp>
      <p:sp>
        <p:nvSpPr>
          <p:cNvPr id="642" name="Google Shape;642;p54"/>
          <p:cNvSpPr txBox="1"/>
          <p:nvPr/>
        </p:nvSpPr>
        <p:spPr>
          <a:xfrm>
            <a:off x="2013072" y="3824963"/>
            <a:ext cx="869100" cy="4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11</a:t>
            </a:r>
            <a:r>
              <a:rPr lang="en-GB" sz="2000">
                <a:solidFill>
                  <a:srgbClr val="4A86E8"/>
                </a:solidFill>
                <a:latin typeface="Times"/>
                <a:ea typeface="Times"/>
                <a:cs typeface="Times"/>
                <a:sym typeface="Times"/>
              </a:rPr>
              <a:t>/</a:t>
            </a:r>
            <a:r>
              <a:rPr lang="en-GB" sz="2000">
                <a:latin typeface="Times"/>
                <a:ea typeface="Times"/>
                <a:cs typeface="Times"/>
                <a:sym typeface="Times"/>
              </a:rPr>
              <a:t>13</a:t>
            </a:r>
            <a:endParaRPr sz="2000">
              <a:latin typeface="Times"/>
              <a:ea typeface="Times"/>
              <a:cs typeface="Times"/>
              <a:sym typeface="Times"/>
            </a:endParaRPr>
          </a:p>
        </p:txBody>
      </p:sp>
      <p:sp>
        <p:nvSpPr>
          <p:cNvPr id="643" name="Google Shape;643;p54"/>
          <p:cNvSpPr txBox="1"/>
          <p:nvPr/>
        </p:nvSpPr>
        <p:spPr>
          <a:xfrm>
            <a:off x="5754880" y="3014037"/>
            <a:ext cx="869100" cy="4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7</a:t>
            </a:r>
            <a:r>
              <a:rPr lang="en-GB" sz="2000">
                <a:solidFill>
                  <a:srgbClr val="4A86E8"/>
                </a:solidFill>
                <a:latin typeface="Times"/>
                <a:ea typeface="Times"/>
                <a:cs typeface="Times"/>
                <a:sym typeface="Times"/>
              </a:rPr>
              <a:t>/</a:t>
            </a:r>
            <a:r>
              <a:rPr lang="en-GB" sz="2000">
                <a:latin typeface="Times"/>
                <a:ea typeface="Times"/>
                <a:cs typeface="Times"/>
                <a:sym typeface="Times"/>
              </a:rPr>
              <a:t>7</a:t>
            </a:r>
            <a:endParaRPr sz="2000">
              <a:latin typeface="Times"/>
              <a:ea typeface="Times"/>
              <a:cs typeface="Times"/>
              <a:sym typeface="Times"/>
            </a:endParaRPr>
          </a:p>
        </p:txBody>
      </p:sp>
      <p:sp>
        <p:nvSpPr>
          <p:cNvPr id="644" name="Google Shape;644;p54"/>
          <p:cNvSpPr txBox="1"/>
          <p:nvPr/>
        </p:nvSpPr>
        <p:spPr>
          <a:xfrm>
            <a:off x="575500" y="913600"/>
            <a:ext cx="8175000" cy="5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Solution:</a:t>
            </a:r>
            <a:endParaRPr sz="2000">
              <a:latin typeface="Times"/>
              <a:ea typeface="Times"/>
              <a:cs typeface="Times"/>
              <a:sym typeface="Time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648" name="Shape 648"/>
        <p:cNvGrpSpPr/>
        <p:nvPr/>
      </p:nvGrpSpPr>
      <p:grpSpPr>
        <a:xfrm>
          <a:off x="0" y="0"/>
          <a:ext cx="0" cy="0"/>
          <a:chOff x="0" y="0"/>
          <a:chExt cx="0" cy="0"/>
        </a:xfrm>
      </p:grpSpPr>
      <p:sp>
        <p:nvSpPr>
          <p:cNvPr id="649" name="Google Shape;649;p55"/>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650" name="Google Shape;650;p55"/>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651" name="Google Shape;651;p55"/>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652" name="Google Shape;652;p55"/>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Ford-Fulkerson Algorithm</a:t>
            </a:r>
            <a:endParaRPr b="1" sz="4000">
              <a:latin typeface="Times"/>
              <a:ea typeface="Times"/>
              <a:cs typeface="Times"/>
              <a:sym typeface="Times"/>
            </a:endParaRPr>
          </a:p>
        </p:txBody>
      </p:sp>
      <p:cxnSp>
        <p:nvCxnSpPr>
          <p:cNvPr id="653" name="Google Shape;653;p55"/>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654" name="Google Shape;654;p55"/>
          <p:cNvSpPr/>
          <p:nvPr/>
        </p:nvSpPr>
        <p:spPr>
          <a:xfrm>
            <a:off x="1496300" y="3046464"/>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s</a:t>
            </a:r>
            <a:endParaRPr sz="3000">
              <a:latin typeface="Times"/>
              <a:ea typeface="Times"/>
              <a:cs typeface="Times"/>
              <a:sym typeface="Times"/>
            </a:endParaRPr>
          </a:p>
        </p:txBody>
      </p:sp>
      <p:sp>
        <p:nvSpPr>
          <p:cNvPr id="655" name="Google Shape;655;p55"/>
          <p:cNvSpPr/>
          <p:nvPr/>
        </p:nvSpPr>
        <p:spPr>
          <a:xfrm>
            <a:off x="7064682" y="304648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t</a:t>
            </a:r>
            <a:endParaRPr sz="3000">
              <a:latin typeface="Times"/>
              <a:ea typeface="Times"/>
              <a:cs typeface="Times"/>
              <a:sym typeface="Times"/>
            </a:endParaRPr>
          </a:p>
        </p:txBody>
      </p:sp>
      <p:sp>
        <p:nvSpPr>
          <p:cNvPr id="656" name="Google Shape;656;p55"/>
          <p:cNvSpPr/>
          <p:nvPr/>
        </p:nvSpPr>
        <p:spPr>
          <a:xfrm>
            <a:off x="3073956" y="174851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a</a:t>
            </a:r>
            <a:endParaRPr sz="3000">
              <a:latin typeface="Times"/>
              <a:ea typeface="Times"/>
              <a:cs typeface="Times"/>
              <a:sym typeface="Times"/>
            </a:endParaRPr>
          </a:p>
        </p:txBody>
      </p:sp>
      <p:sp>
        <p:nvSpPr>
          <p:cNvPr id="657" name="Google Shape;657;p55"/>
          <p:cNvSpPr/>
          <p:nvPr/>
        </p:nvSpPr>
        <p:spPr>
          <a:xfrm>
            <a:off x="3073956" y="411934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c</a:t>
            </a:r>
            <a:endParaRPr sz="3000">
              <a:latin typeface="Times"/>
              <a:ea typeface="Times"/>
              <a:cs typeface="Times"/>
              <a:sym typeface="Times"/>
            </a:endParaRPr>
          </a:p>
        </p:txBody>
      </p:sp>
      <p:sp>
        <p:nvSpPr>
          <p:cNvPr id="658" name="Google Shape;658;p55"/>
          <p:cNvSpPr/>
          <p:nvPr/>
        </p:nvSpPr>
        <p:spPr>
          <a:xfrm>
            <a:off x="5378672" y="411934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d</a:t>
            </a:r>
            <a:endParaRPr sz="3000">
              <a:latin typeface="Times"/>
              <a:ea typeface="Times"/>
              <a:cs typeface="Times"/>
              <a:sym typeface="Times"/>
            </a:endParaRPr>
          </a:p>
        </p:txBody>
      </p:sp>
      <p:sp>
        <p:nvSpPr>
          <p:cNvPr id="659" name="Google Shape;659;p55"/>
          <p:cNvSpPr/>
          <p:nvPr/>
        </p:nvSpPr>
        <p:spPr>
          <a:xfrm>
            <a:off x="5378672" y="1748494"/>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b</a:t>
            </a:r>
            <a:endParaRPr sz="3000">
              <a:latin typeface="Times"/>
              <a:ea typeface="Times"/>
              <a:cs typeface="Times"/>
              <a:sym typeface="Times"/>
            </a:endParaRPr>
          </a:p>
        </p:txBody>
      </p:sp>
      <p:cxnSp>
        <p:nvCxnSpPr>
          <p:cNvPr id="660" name="Google Shape;660;p55"/>
          <p:cNvCxnSpPr>
            <a:stCxn id="654" idx="7"/>
            <a:endCxn id="656" idx="3"/>
          </p:cNvCxnSpPr>
          <p:nvPr/>
        </p:nvCxnSpPr>
        <p:spPr>
          <a:xfrm flipH="1" rot="10800000">
            <a:off x="2054780" y="2240461"/>
            <a:ext cx="1115100" cy="890400"/>
          </a:xfrm>
          <a:prstGeom prst="straightConnector1">
            <a:avLst/>
          </a:prstGeom>
          <a:noFill/>
          <a:ln cap="flat" cmpd="sng" w="9525">
            <a:solidFill>
              <a:schemeClr val="dk2"/>
            </a:solidFill>
            <a:prstDash val="solid"/>
            <a:round/>
            <a:headEnd len="med" w="med" type="none"/>
            <a:tailEnd len="med" w="med" type="triangle"/>
          </a:ln>
        </p:spPr>
      </p:cxnSp>
      <p:cxnSp>
        <p:nvCxnSpPr>
          <p:cNvPr id="661" name="Google Shape;661;p55"/>
          <p:cNvCxnSpPr>
            <a:stCxn id="656" idx="6"/>
            <a:endCxn id="659" idx="2"/>
          </p:cNvCxnSpPr>
          <p:nvPr/>
        </p:nvCxnSpPr>
        <p:spPr>
          <a:xfrm>
            <a:off x="3728256" y="2036662"/>
            <a:ext cx="1650300" cy="0"/>
          </a:xfrm>
          <a:prstGeom prst="straightConnector1">
            <a:avLst/>
          </a:prstGeom>
          <a:noFill/>
          <a:ln cap="flat" cmpd="sng" w="9525">
            <a:solidFill>
              <a:schemeClr val="dk2"/>
            </a:solidFill>
            <a:prstDash val="solid"/>
            <a:round/>
            <a:headEnd len="med" w="med" type="none"/>
            <a:tailEnd len="med" w="med" type="triangle"/>
          </a:ln>
        </p:spPr>
      </p:cxnSp>
      <p:cxnSp>
        <p:nvCxnSpPr>
          <p:cNvPr id="662" name="Google Shape;662;p55"/>
          <p:cNvCxnSpPr>
            <a:stCxn id="659" idx="6"/>
            <a:endCxn id="655" idx="1"/>
          </p:cNvCxnSpPr>
          <p:nvPr/>
        </p:nvCxnSpPr>
        <p:spPr>
          <a:xfrm>
            <a:off x="6032972" y="2036644"/>
            <a:ext cx="1127400" cy="1094100"/>
          </a:xfrm>
          <a:prstGeom prst="straightConnector1">
            <a:avLst/>
          </a:prstGeom>
          <a:noFill/>
          <a:ln cap="flat" cmpd="sng" w="9525">
            <a:solidFill>
              <a:schemeClr val="dk2"/>
            </a:solidFill>
            <a:prstDash val="solid"/>
            <a:round/>
            <a:headEnd len="med" w="med" type="none"/>
            <a:tailEnd len="med" w="med" type="triangle"/>
          </a:ln>
        </p:spPr>
      </p:cxnSp>
      <p:cxnSp>
        <p:nvCxnSpPr>
          <p:cNvPr id="663" name="Google Shape;663;p55"/>
          <p:cNvCxnSpPr>
            <a:stCxn id="654" idx="5"/>
            <a:endCxn id="657" idx="1"/>
          </p:cNvCxnSpPr>
          <p:nvPr/>
        </p:nvCxnSpPr>
        <p:spPr>
          <a:xfrm>
            <a:off x="2054780" y="3538367"/>
            <a:ext cx="1115100" cy="665400"/>
          </a:xfrm>
          <a:prstGeom prst="straightConnector1">
            <a:avLst/>
          </a:prstGeom>
          <a:noFill/>
          <a:ln cap="flat" cmpd="sng" w="9525">
            <a:solidFill>
              <a:schemeClr val="dk2"/>
            </a:solidFill>
            <a:prstDash val="solid"/>
            <a:round/>
            <a:headEnd len="med" w="med" type="none"/>
            <a:tailEnd len="med" w="med" type="triangle"/>
          </a:ln>
        </p:spPr>
      </p:cxnSp>
      <p:cxnSp>
        <p:nvCxnSpPr>
          <p:cNvPr id="664" name="Google Shape;664;p55"/>
          <p:cNvCxnSpPr>
            <a:stCxn id="657" idx="6"/>
            <a:endCxn id="658" idx="2"/>
          </p:cNvCxnSpPr>
          <p:nvPr/>
        </p:nvCxnSpPr>
        <p:spPr>
          <a:xfrm>
            <a:off x="3728256" y="4407492"/>
            <a:ext cx="1650300" cy="0"/>
          </a:xfrm>
          <a:prstGeom prst="straightConnector1">
            <a:avLst/>
          </a:prstGeom>
          <a:noFill/>
          <a:ln cap="flat" cmpd="sng" w="9525">
            <a:solidFill>
              <a:schemeClr val="dk2"/>
            </a:solidFill>
            <a:prstDash val="solid"/>
            <a:round/>
            <a:headEnd len="med" w="med" type="none"/>
            <a:tailEnd len="med" w="med" type="triangle"/>
          </a:ln>
        </p:spPr>
      </p:cxnSp>
      <p:cxnSp>
        <p:nvCxnSpPr>
          <p:cNvPr id="665" name="Google Shape;665;p55"/>
          <p:cNvCxnSpPr>
            <a:stCxn id="658" idx="6"/>
            <a:endCxn id="655" idx="3"/>
          </p:cNvCxnSpPr>
          <p:nvPr/>
        </p:nvCxnSpPr>
        <p:spPr>
          <a:xfrm flipH="1" rot="10800000">
            <a:off x="6032972" y="3538392"/>
            <a:ext cx="1127400" cy="869100"/>
          </a:xfrm>
          <a:prstGeom prst="straightConnector1">
            <a:avLst/>
          </a:prstGeom>
          <a:noFill/>
          <a:ln cap="flat" cmpd="sng" w="9525">
            <a:solidFill>
              <a:schemeClr val="dk2"/>
            </a:solidFill>
            <a:prstDash val="solid"/>
            <a:round/>
            <a:headEnd len="med" w="med" type="none"/>
            <a:tailEnd len="med" w="med" type="triangle"/>
          </a:ln>
        </p:spPr>
      </p:cxnSp>
      <p:cxnSp>
        <p:nvCxnSpPr>
          <p:cNvPr id="666" name="Google Shape;666;p55"/>
          <p:cNvCxnSpPr>
            <a:stCxn id="657" idx="0"/>
            <a:endCxn id="656" idx="4"/>
          </p:cNvCxnSpPr>
          <p:nvPr/>
        </p:nvCxnSpPr>
        <p:spPr>
          <a:xfrm rot="10800000">
            <a:off x="3401106" y="2324742"/>
            <a:ext cx="0" cy="1794600"/>
          </a:xfrm>
          <a:prstGeom prst="straightConnector1">
            <a:avLst/>
          </a:prstGeom>
          <a:noFill/>
          <a:ln cap="flat" cmpd="sng" w="9525">
            <a:solidFill>
              <a:schemeClr val="dk2"/>
            </a:solidFill>
            <a:prstDash val="solid"/>
            <a:round/>
            <a:headEnd len="med" w="med" type="none"/>
            <a:tailEnd len="med" w="med" type="triangle"/>
          </a:ln>
        </p:spPr>
      </p:cxnSp>
      <p:sp>
        <p:nvSpPr>
          <p:cNvPr id="667" name="Google Shape;667;p55"/>
          <p:cNvSpPr txBox="1"/>
          <p:nvPr/>
        </p:nvSpPr>
        <p:spPr>
          <a:xfrm>
            <a:off x="2275896" y="2138675"/>
            <a:ext cx="6063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7</a:t>
            </a:r>
            <a:endParaRPr sz="2000">
              <a:latin typeface="Times"/>
              <a:ea typeface="Times"/>
              <a:cs typeface="Times"/>
              <a:sym typeface="Times"/>
            </a:endParaRPr>
          </a:p>
        </p:txBody>
      </p:sp>
      <p:sp>
        <p:nvSpPr>
          <p:cNvPr id="668" name="Google Shape;668;p55"/>
          <p:cNvSpPr txBox="1"/>
          <p:nvPr/>
        </p:nvSpPr>
        <p:spPr>
          <a:xfrm>
            <a:off x="4172348" y="1464325"/>
            <a:ext cx="6912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5</a:t>
            </a:r>
            <a:endParaRPr sz="2000">
              <a:latin typeface="Times"/>
              <a:ea typeface="Times"/>
              <a:cs typeface="Times"/>
              <a:sym typeface="Times"/>
            </a:endParaRPr>
          </a:p>
        </p:txBody>
      </p:sp>
      <p:sp>
        <p:nvSpPr>
          <p:cNvPr id="669" name="Google Shape;669;p55"/>
          <p:cNvSpPr txBox="1"/>
          <p:nvPr/>
        </p:nvSpPr>
        <p:spPr>
          <a:xfrm>
            <a:off x="6455361" y="1998231"/>
            <a:ext cx="7767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10</a:t>
            </a:r>
            <a:endParaRPr sz="2000">
              <a:latin typeface="Times"/>
              <a:ea typeface="Times"/>
              <a:cs typeface="Times"/>
              <a:sym typeface="Times"/>
            </a:endParaRPr>
          </a:p>
        </p:txBody>
      </p:sp>
      <p:sp>
        <p:nvSpPr>
          <p:cNvPr id="670" name="Google Shape;670;p55"/>
          <p:cNvSpPr txBox="1"/>
          <p:nvPr/>
        </p:nvSpPr>
        <p:spPr>
          <a:xfrm>
            <a:off x="6409239" y="3904471"/>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4</a:t>
            </a:r>
            <a:endParaRPr sz="2000">
              <a:latin typeface="Times"/>
              <a:ea typeface="Times"/>
              <a:cs typeface="Times"/>
              <a:sym typeface="Times"/>
            </a:endParaRPr>
          </a:p>
        </p:txBody>
      </p:sp>
      <p:sp>
        <p:nvSpPr>
          <p:cNvPr id="671" name="Google Shape;671;p55"/>
          <p:cNvSpPr txBox="1"/>
          <p:nvPr/>
        </p:nvSpPr>
        <p:spPr>
          <a:xfrm>
            <a:off x="4333697" y="4454350"/>
            <a:ext cx="6543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7</a:t>
            </a:r>
            <a:endParaRPr sz="2000">
              <a:latin typeface="Times"/>
              <a:ea typeface="Times"/>
              <a:cs typeface="Times"/>
              <a:sym typeface="Times"/>
            </a:endParaRPr>
          </a:p>
        </p:txBody>
      </p:sp>
      <p:sp>
        <p:nvSpPr>
          <p:cNvPr id="672" name="Google Shape;672;p55"/>
          <p:cNvSpPr txBox="1"/>
          <p:nvPr/>
        </p:nvSpPr>
        <p:spPr>
          <a:xfrm>
            <a:off x="2834329" y="2948025"/>
            <a:ext cx="5667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1</a:t>
            </a:r>
            <a:endParaRPr sz="2000">
              <a:latin typeface="Times"/>
              <a:ea typeface="Times"/>
              <a:cs typeface="Times"/>
              <a:sym typeface="Times"/>
            </a:endParaRPr>
          </a:p>
        </p:txBody>
      </p:sp>
      <p:sp>
        <p:nvSpPr>
          <p:cNvPr id="673" name="Google Shape;673;p55"/>
          <p:cNvSpPr txBox="1"/>
          <p:nvPr/>
        </p:nvSpPr>
        <p:spPr>
          <a:xfrm>
            <a:off x="2013073" y="3850640"/>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10</a:t>
            </a:r>
            <a:endParaRPr sz="2000">
              <a:latin typeface="Times"/>
              <a:ea typeface="Times"/>
              <a:cs typeface="Times"/>
              <a:sym typeface="Times"/>
            </a:endParaRPr>
          </a:p>
        </p:txBody>
      </p:sp>
      <p:sp>
        <p:nvSpPr>
          <p:cNvPr id="674" name="Google Shape;674;p55"/>
          <p:cNvSpPr txBox="1"/>
          <p:nvPr/>
        </p:nvSpPr>
        <p:spPr>
          <a:xfrm>
            <a:off x="5754885" y="3058777"/>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2</a:t>
            </a:r>
            <a:endParaRPr sz="2000">
              <a:latin typeface="Times"/>
              <a:ea typeface="Times"/>
              <a:cs typeface="Times"/>
              <a:sym typeface="Times"/>
            </a:endParaRPr>
          </a:p>
        </p:txBody>
      </p:sp>
      <p:sp>
        <p:nvSpPr>
          <p:cNvPr id="675" name="Google Shape;675;p55"/>
          <p:cNvSpPr/>
          <p:nvPr/>
        </p:nvSpPr>
        <p:spPr>
          <a:xfrm>
            <a:off x="4209381" y="2896517"/>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e</a:t>
            </a:r>
            <a:endParaRPr sz="3000">
              <a:latin typeface="Times"/>
              <a:ea typeface="Times"/>
              <a:cs typeface="Times"/>
              <a:sym typeface="Times"/>
            </a:endParaRPr>
          </a:p>
        </p:txBody>
      </p:sp>
      <p:cxnSp>
        <p:nvCxnSpPr>
          <p:cNvPr id="676" name="Google Shape;676;p55"/>
          <p:cNvCxnSpPr>
            <a:stCxn id="656" idx="5"/>
            <a:endCxn id="675" idx="1"/>
          </p:cNvCxnSpPr>
          <p:nvPr/>
        </p:nvCxnSpPr>
        <p:spPr>
          <a:xfrm>
            <a:off x="3632436" y="2240415"/>
            <a:ext cx="672900" cy="740400"/>
          </a:xfrm>
          <a:prstGeom prst="straightConnector1">
            <a:avLst/>
          </a:prstGeom>
          <a:noFill/>
          <a:ln cap="flat" cmpd="sng" w="9525">
            <a:solidFill>
              <a:schemeClr val="dk2"/>
            </a:solidFill>
            <a:prstDash val="solid"/>
            <a:round/>
            <a:headEnd len="med" w="med" type="none"/>
            <a:tailEnd len="med" w="med" type="triangle"/>
          </a:ln>
        </p:spPr>
      </p:cxnSp>
      <p:cxnSp>
        <p:nvCxnSpPr>
          <p:cNvPr id="677" name="Google Shape;677;p55"/>
          <p:cNvCxnSpPr>
            <a:stCxn id="657" idx="7"/>
            <a:endCxn id="675" idx="3"/>
          </p:cNvCxnSpPr>
          <p:nvPr/>
        </p:nvCxnSpPr>
        <p:spPr>
          <a:xfrm flipH="1" rot="10800000">
            <a:off x="3632436" y="3388339"/>
            <a:ext cx="672900" cy="815400"/>
          </a:xfrm>
          <a:prstGeom prst="straightConnector1">
            <a:avLst/>
          </a:prstGeom>
          <a:noFill/>
          <a:ln cap="flat" cmpd="sng" w="9525">
            <a:solidFill>
              <a:schemeClr val="dk2"/>
            </a:solidFill>
            <a:prstDash val="solid"/>
            <a:round/>
            <a:headEnd len="med" w="med" type="none"/>
            <a:tailEnd len="med" w="med" type="triangle"/>
          </a:ln>
        </p:spPr>
      </p:cxnSp>
      <p:cxnSp>
        <p:nvCxnSpPr>
          <p:cNvPr id="678" name="Google Shape;678;p55"/>
          <p:cNvCxnSpPr>
            <a:stCxn id="675" idx="7"/>
            <a:endCxn id="659" idx="3"/>
          </p:cNvCxnSpPr>
          <p:nvPr/>
        </p:nvCxnSpPr>
        <p:spPr>
          <a:xfrm flipH="1" rot="10800000">
            <a:off x="4767861" y="2240514"/>
            <a:ext cx="706500" cy="740400"/>
          </a:xfrm>
          <a:prstGeom prst="straightConnector1">
            <a:avLst/>
          </a:prstGeom>
          <a:noFill/>
          <a:ln cap="flat" cmpd="sng" w="9525">
            <a:solidFill>
              <a:schemeClr val="dk2"/>
            </a:solidFill>
            <a:prstDash val="solid"/>
            <a:round/>
            <a:headEnd len="med" w="med" type="none"/>
            <a:tailEnd len="med" w="med" type="triangle"/>
          </a:ln>
        </p:spPr>
      </p:cxnSp>
      <p:cxnSp>
        <p:nvCxnSpPr>
          <p:cNvPr id="679" name="Google Shape;679;p55"/>
          <p:cNvCxnSpPr>
            <a:endCxn id="658" idx="1"/>
          </p:cNvCxnSpPr>
          <p:nvPr/>
        </p:nvCxnSpPr>
        <p:spPr>
          <a:xfrm>
            <a:off x="4767992" y="3388339"/>
            <a:ext cx="706500" cy="815400"/>
          </a:xfrm>
          <a:prstGeom prst="straightConnector1">
            <a:avLst/>
          </a:prstGeom>
          <a:noFill/>
          <a:ln cap="flat" cmpd="sng" w="9525">
            <a:solidFill>
              <a:schemeClr val="dk2"/>
            </a:solidFill>
            <a:prstDash val="solid"/>
            <a:round/>
            <a:headEnd len="med" w="med" type="none"/>
            <a:tailEnd len="med" w="med" type="triangle"/>
          </a:ln>
        </p:spPr>
      </p:cxnSp>
      <p:cxnSp>
        <p:nvCxnSpPr>
          <p:cNvPr id="680" name="Google Shape;680;p55"/>
          <p:cNvCxnSpPr>
            <a:stCxn id="659" idx="4"/>
            <a:endCxn id="658" idx="0"/>
          </p:cNvCxnSpPr>
          <p:nvPr/>
        </p:nvCxnSpPr>
        <p:spPr>
          <a:xfrm>
            <a:off x="5705822" y="2324794"/>
            <a:ext cx="0" cy="1794600"/>
          </a:xfrm>
          <a:prstGeom prst="straightConnector1">
            <a:avLst/>
          </a:prstGeom>
          <a:noFill/>
          <a:ln cap="flat" cmpd="sng" w="9525">
            <a:solidFill>
              <a:schemeClr val="dk2"/>
            </a:solidFill>
            <a:prstDash val="solid"/>
            <a:round/>
            <a:headEnd len="med" w="med" type="none"/>
            <a:tailEnd len="med" w="med" type="triangle"/>
          </a:ln>
        </p:spPr>
      </p:cxnSp>
      <p:sp>
        <p:nvSpPr>
          <p:cNvPr id="681" name="Google Shape;681;p55"/>
          <p:cNvSpPr txBox="1"/>
          <p:nvPr/>
        </p:nvSpPr>
        <p:spPr>
          <a:xfrm>
            <a:off x="4535011" y="2270025"/>
            <a:ext cx="6912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3</a:t>
            </a:r>
            <a:endParaRPr sz="2000">
              <a:latin typeface="Times"/>
              <a:ea typeface="Times"/>
              <a:cs typeface="Times"/>
              <a:sym typeface="Times"/>
            </a:endParaRPr>
          </a:p>
        </p:txBody>
      </p:sp>
      <p:sp>
        <p:nvSpPr>
          <p:cNvPr id="682" name="Google Shape;682;p55"/>
          <p:cNvSpPr txBox="1"/>
          <p:nvPr/>
        </p:nvSpPr>
        <p:spPr>
          <a:xfrm>
            <a:off x="3622461" y="2481050"/>
            <a:ext cx="6912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3</a:t>
            </a:r>
            <a:endParaRPr sz="2000">
              <a:latin typeface="Times"/>
              <a:ea typeface="Times"/>
              <a:cs typeface="Times"/>
              <a:sym typeface="Times"/>
            </a:endParaRPr>
          </a:p>
        </p:txBody>
      </p:sp>
      <p:sp>
        <p:nvSpPr>
          <p:cNvPr id="683" name="Google Shape;683;p55"/>
          <p:cNvSpPr txBox="1"/>
          <p:nvPr/>
        </p:nvSpPr>
        <p:spPr>
          <a:xfrm>
            <a:off x="3623348" y="3495250"/>
            <a:ext cx="6912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2</a:t>
            </a:r>
            <a:endParaRPr sz="2000">
              <a:latin typeface="Times"/>
              <a:ea typeface="Times"/>
              <a:cs typeface="Times"/>
              <a:sym typeface="Times"/>
            </a:endParaRPr>
          </a:p>
        </p:txBody>
      </p:sp>
      <p:sp>
        <p:nvSpPr>
          <p:cNvPr id="684" name="Google Shape;684;p55"/>
          <p:cNvSpPr txBox="1"/>
          <p:nvPr/>
        </p:nvSpPr>
        <p:spPr>
          <a:xfrm>
            <a:off x="4664586" y="3495250"/>
            <a:ext cx="6912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2</a:t>
            </a:r>
            <a:endParaRPr sz="2000">
              <a:latin typeface="Times"/>
              <a:ea typeface="Times"/>
              <a:cs typeface="Times"/>
              <a:sym typeface="Times"/>
            </a:endParaRPr>
          </a:p>
        </p:txBody>
      </p:sp>
      <p:sp>
        <p:nvSpPr>
          <p:cNvPr id="685" name="Google Shape;685;p55"/>
          <p:cNvSpPr txBox="1"/>
          <p:nvPr/>
        </p:nvSpPr>
        <p:spPr>
          <a:xfrm>
            <a:off x="575500" y="913600"/>
            <a:ext cx="8175000" cy="5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Example 2:</a:t>
            </a:r>
            <a:endParaRPr sz="2000">
              <a:latin typeface="Times"/>
              <a:ea typeface="Times"/>
              <a:cs typeface="Times"/>
              <a:sym typeface="Time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689" name="Shape 689"/>
        <p:cNvGrpSpPr/>
        <p:nvPr/>
      </p:nvGrpSpPr>
      <p:grpSpPr>
        <a:xfrm>
          <a:off x="0" y="0"/>
          <a:ext cx="0" cy="0"/>
          <a:chOff x="0" y="0"/>
          <a:chExt cx="0" cy="0"/>
        </a:xfrm>
      </p:grpSpPr>
      <p:sp>
        <p:nvSpPr>
          <p:cNvPr id="690" name="Google Shape;690;p56"/>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691" name="Google Shape;691;p56"/>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692" name="Google Shape;692;p56"/>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693" name="Google Shape;693;p56"/>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Ford-Fulkerson Algorithm</a:t>
            </a:r>
            <a:endParaRPr b="1" sz="4000">
              <a:latin typeface="Times"/>
              <a:ea typeface="Times"/>
              <a:cs typeface="Times"/>
              <a:sym typeface="Times"/>
            </a:endParaRPr>
          </a:p>
        </p:txBody>
      </p:sp>
      <p:cxnSp>
        <p:nvCxnSpPr>
          <p:cNvPr id="694" name="Google Shape;694;p56"/>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695" name="Google Shape;695;p56"/>
          <p:cNvSpPr/>
          <p:nvPr/>
        </p:nvSpPr>
        <p:spPr>
          <a:xfrm>
            <a:off x="1496300" y="3046464"/>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s</a:t>
            </a:r>
            <a:endParaRPr sz="3000">
              <a:latin typeface="Times"/>
              <a:ea typeface="Times"/>
              <a:cs typeface="Times"/>
              <a:sym typeface="Times"/>
            </a:endParaRPr>
          </a:p>
        </p:txBody>
      </p:sp>
      <p:sp>
        <p:nvSpPr>
          <p:cNvPr id="696" name="Google Shape;696;p56"/>
          <p:cNvSpPr/>
          <p:nvPr/>
        </p:nvSpPr>
        <p:spPr>
          <a:xfrm>
            <a:off x="7064682" y="304648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t</a:t>
            </a:r>
            <a:endParaRPr sz="3000">
              <a:latin typeface="Times"/>
              <a:ea typeface="Times"/>
              <a:cs typeface="Times"/>
              <a:sym typeface="Times"/>
            </a:endParaRPr>
          </a:p>
        </p:txBody>
      </p:sp>
      <p:sp>
        <p:nvSpPr>
          <p:cNvPr id="697" name="Google Shape;697;p56"/>
          <p:cNvSpPr/>
          <p:nvPr/>
        </p:nvSpPr>
        <p:spPr>
          <a:xfrm>
            <a:off x="3073956" y="174851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a</a:t>
            </a:r>
            <a:endParaRPr sz="3000">
              <a:latin typeface="Times"/>
              <a:ea typeface="Times"/>
              <a:cs typeface="Times"/>
              <a:sym typeface="Times"/>
            </a:endParaRPr>
          </a:p>
        </p:txBody>
      </p:sp>
      <p:sp>
        <p:nvSpPr>
          <p:cNvPr id="698" name="Google Shape;698;p56"/>
          <p:cNvSpPr/>
          <p:nvPr/>
        </p:nvSpPr>
        <p:spPr>
          <a:xfrm>
            <a:off x="3073956" y="411934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c</a:t>
            </a:r>
            <a:endParaRPr sz="3000">
              <a:latin typeface="Times"/>
              <a:ea typeface="Times"/>
              <a:cs typeface="Times"/>
              <a:sym typeface="Times"/>
            </a:endParaRPr>
          </a:p>
        </p:txBody>
      </p:sp>
      <p:sp>
        <p:nvSpPr>
          <p:cNvPr id="699" name="Google Shape;699;p56"/>
          <p:cNvSpPr/>
          <p:nvPr/>
        </p:nvSpPr>
        <p:spPr>
          <a:xfrm>
            <a:off x="5378672" y="411934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d</a:t>
            </a:r>
            <a:endParaRPr sz="3000">
              <a:latin typeface="Times"/>
              <a:ea typeface="Times"/>
              <a:cs typeface="Times"/>
              <a:sym typeface="Times"/>
            </a:endParaRPr>
          </a:p>
        </p:txBody>
      </p:sp>
      <p:sp>
        <p:nvSpPr>
          <p:cNvPr id="700" name="Google Shape;700;p56"/>
          <p:cNvSpPr/>
          <p:nvPr/>
        </p:nvSpPr>
        <p:spPr>
          <a:xfrm>
            <a:off x="5378672" y="1748494"/>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b</a:t>
            </a:r>
            <a:endParaRPr sz="3000">
              <a:latin typeface="Times"/>
              <a:ea typeface="Times"/>
              <a:cs typeface="Times"/>
              <a:sym typeface="Times"/>
            </a:endParaRPr>
          </a:p>
        </p:txBody>
      </p:sp>
      <p:cxnSp>
        <p:nvCxnSpPr>
          <p:cNvPr id="701" name="Google Shape;701;p56"/>
          <p:cNvCxnSpPr>
            <a:stCxn id="695" idx="7"/>
            <a:endCxn id="697" idx="3"/>
          </p:cNvCxnSpPr>
          <p:nvPr/>
        </p:nvCxnSpPr>
        <p:spPr>
          <a:xfrm flipH="1" rot="10800000">
            <a:off x="2054780" y="2240461"/>
            <a:ext cx="1115100" cy="890400"/>
          </a:xfrm>
          <a:prstGeom prst="straightConnector1">
            <a:avLst/>
          </a:prstGeom>
          <a:noFill/>
          <a:ln cap="flat" cmpd="sng" w="9525">
            <a:solidFill>
              <a:schemeClr val="dk2"/>
            </a:solidFill>
            <a:prstDash val="solid"/>
            <a:round/>
            <a:headEnd len="med" w="med" type="none"/>
            <a:tailEnd len="med" w="med" type="triangle"/>
          </a:ln>
        </p:spPr>
      </p:cxnSp>
      <p:cxnSp>
        <p:nvCxnSpPr>
          <p:cNvPr id="702" name="Google Shape;702;p56"/>
          <p:cNvCxnSpPr>
            <a:stCxn id="697" idx="6"/>
            <a:endCxn id="700" idx="2"/>
          </p:cNvCxnSpPr>
          <p:nvPr/>
        </p:nvCxnSpPr>
        <p:spPr>
          <a:xfrm>
            <a:off x="3728256" y="2036662"/>
            <a:ext cx="1650300" cy="0"/>
          </a:xfrm>
          <a:prstGeom prst="straightConnector1">
            <a:avLst/>
          </a:prstGeom>
          <a:noFill/>
          <a:ln cap="flat" cmpd="sng" w="9525">
            <a:solidFill>
              <a:schemeClr val="dk2"/>
            </a:solidFill>
            <a:prstDash val="solid"/>
            <a:round/>
            <a:headEnd len="med" w="med" type="none"/>
            <a:tailEnd len="med" w="med" type="triangle"/>
          </a:ln>
        </p:spPr>
      </p:cxnSp>
      <p:cxnSp>
        <p:nvCxnSpPr>
          <p:cNvPr id="703" name="Google Shape;703;p56"/>
          <p:cNvCxnSpPr>
            <a:stCxn id="700" idx="6"/>
            <a:endCxn id="696" idx="1"/>
          </p:cNvCxnSpPr>
          <p:nvPr/>
        </p:nvCxnSpPr>
        <p:spPr>
          <a:xfrm>
            <a:off x="6032972" y="2036644"/>
            <a:ext cx="1127400" cy="1094100"/>
          </a:xfrm>
          <a:prstGeom prst="straightConnector1">
            <a:avLst/>
          </a:prstGeom>
          <a:noFill/>
          <a:ln cap="flat" cmpd="sng" w="9525">
            <a:solidFill>
              <a:schemeClr val="dk2"/>
            </a:solidFill>
            <a:prstDash val="solid"/>
            <a:round/>
            <a:headEnd len="med" w="med" type="none"/>
            <a:tailEnd len="med" w="med" type="triangle"/>
          </a:ln>
        </p:spPr>
      </p:cxnSp>
      <p:cxnSp>
        <p:nvCxnSpPr>
          <p:cNvPr id="704" name="Google Shape;704;p56"/>
          <p:cNvCxnSpPr>
            <a:stCxn id="695" idx="5"/>
            <a:endCxn id="698" idx="1"/>
          </p:cNvCxnSpPr>
          <p:nvPr/>
        </p:nvCxnSpPr>
        <p:spPr>
          <a:xfrm>
            <a:off x="2054780" y="3538367"/>
            <a:ext cx="1115100" cy="665400"/>
          </a:xfrm>
          <a:prstGeom prst="straightConnector1">
            <a:avLst/>
          </a:prstGeom>
          <a:noFill/>
          <a:ln cap="flat" cmpd="sng" w="9525">
            <a:solidFill>
              <a:schemeClr val="dk2"/>
            </a:solidFill>
            <a:prstDash val="solid"/>
            <a:round/>
            <a:headEnd len="med" w="med" type="none"/>
            <a:tailEnd len="med" w="med" type="triangle"/>
          </a:ln>
        </p:spPr>
      </p:cxnSp>
      <p:cxnSp>
        <p:nvCxnSpPr>
          <p:cNvPr id="705" name="Google Shape;705;p56"/>
          <p:cNvCxnSpPr>
            <a:stCxn id="698" idx="6"/>
            <a:endCxn id="699" idx="2"/>
          </p:cNvCxnSpPr>
          <p:nvPr/>
        </p:nvCxnSpPr>
        <p:spPr>
          <a:xfrm>
            <a:off x="3728256" y="4407492"/>
            <a:ext cx="1650300" cy="0"/>
          </a:xfrm>
          <a:prstGeom prst="straightConnector1">
            <a:avLst/>
          </a:prstGeom>
          <a:noFill/>
          <a:ln cap="flat" cmpd="sng" w="9525">
            <a:solidFill>
              <a:schemeClr val="dk2"/>
            </a:solidFill>
            <a:prstDash val="solid"/>
            <a:round/>
            <a:headEnd len="med" w="med" type="none"/>
            <a:tailEnd len="med" w="med" type="triangle"/>
          </a:ln>
        </p:spPr>
      </p:cxnSp>
      <p:cxnSp>
        <p:nvCxnSpPr>
          <p:cNvPr id="706" name="Google Shape;706;p56"/>
          <p:cNvCxnSpPr>
            <a:stCxn id="699" idx="6"/>
            <a:endCxn id="696" idx="3"/>
          </p:cNvCxnSpPr>
          <p:nvPr/>
        </p:nvCxnSpPr>
        <p:spPr>
          <a:xfrm flipH="1" rot="10800000">
            <a:off x="6032972" y="3538392"/>
            <a:ext cx="1127400" cy="869100"/>
          </a:xfrm>
          <a:prstGeom prst="straightConnector1">
            <a:avLst/>
          </a:prstGeom>
          <a:noFill/>
          <a:ln cap="flat" cmpd="sng" w="9525">
            <a:solidFill>
              <a:schemeClr val="dk2"/>
            </a:solidFill>
            <a:prstDash val="solid"/>
            <a:round/>
            <a:headEnd len="med" w="med" type="none"/>
            <a:tailEnd len="med" w="med" type="triangle"/>
          </a:ln>
        </p:spPr>
      </p:cxnSp>
      <p:cxnSp>
        <p:nvCxnSpPr>
          <p:cNvPr id="707" name="Google Shape;707;p56"/>
          <p:cNvCxnSpPr>
            <a:stCxn id="698" idx="0"/>
            <a:endCxn id="697" idx="4"/>
          </p:cNvCxnSpPr>
          <p:nvPr/>
        </p:nvCxnSpPr>
        <p:spPr>
          <a:xfrm rot="10800000">
            <a:off x="3401106" y="2324742"/>
            <a:ext cx="0" cy="1794600"/>
          </a:xfrm>
          <a:prstGeom prst="straightConnector1">
            <a:avLst/>
          </a:prstGeom>
          <a:noFill/>
          <a:ln cap="flat" cmpd="sng" w="9525">
            <a:solidFill>
              <a:schemeClr val="dk2"/>
            </a:solidFill>
            <a:prstDash val="solid"/>
            <a:round/>
            <a:headEnd len="med" w="med" type="none"/>
            <a:tailEnd len="med" w="med" type="triangle"/>
          </a:ln>
        </p:spPr>
      </p:cxnSp>
      <p:sp>
        <p:nvSpPr>
          <p:cNvPr id="708" name="Google Shape;708;p56"/>
          <p:cNvSpPr txBox="1"/>
          <p:nvPr/>
        </p:nvSpPr>
        <p:spPr>
          <a:xfrm>
            <a:off x="2275896" y="2138675"/>
            <a:ext cx="6063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7</a:t>
            </a:r>
            <a:endParaRPr sz="2000">
              <a:latin typeface="Times"/>
              <a:ea typeface="Times"/>
              <a:cs typeface="Times"/>
              <a:sym typeface="Times"/>
            </a:endParaRPr>
          </a:p>
        </p:txBody>
      </p:sp>
      <p:sp>
        <p:nvSpPr>
          <p:cNvPr id="709" name="Google Shape;709;p56"/>
          <p:cNvSpPr txBox="1"/>
          <p:nvPr/>
        </p:nvSpPr>
        <p:spPr>
          <a:xfrm>
            <a:off x="4172348" y="1464325"/>
            <a:ext cx="6912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5</a:t>
            </a:r>
            <a:endParaRPr sz="2000">
              <a:latin typeface="Times"/>
              <a:ea typeface="Times"/>
              <a:cs typeface="Times"/>
              <a:sym typeface="Times"/>
            </a:endParaRPr>
          </a:p>
        </p:txBody>
      </p:sp>
      <p:sp>
        <p:nvSpPr>
          <p:cNvPr id="710" name="Google Shape;710;p56"/>
          <p:cNvSpPr txBox="1"/>
          <p:nvPr/>
        </p:nvSpPr>
        <p:spPr>
          <a:xfrm>
            <a:off x="6455361" y="1998231"/>
            <a:ext cx="7767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10</a:t>
            </a:r>
            <a:endParaRPr sz="2000">
              <a:latin typeface="Times"/>
              <a:ea typeface="Times"/>
              <a:cs typeface="Times"/>
              <a:sym typeface="Times"/>
            </a:endParaRPr>
          </a:p>
        </p:txBody>
      </p:sp>
      <p:sp>
        <p:nvSpPr>
          <p:cNvPr id="711" name="Google Shape;711;p56"/>
          <p:cNvSpPr txBox="1"/>
          <p:nvPr/>
        </p:nvSpPr>
        <p:spPr>
          <a:xfrm>
            <a:off x="6409239" y="3904471"/>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4</a:t>
            </a:r>
            <a:endParaRPr sz="2000">
              <a:latin typeface="Times"/>
              <a:ea typeface="Times"/>
              <a:cs typeface="Times"/>
              <a:sym typeface="Times"/>
            </a:endParaRPr>
          </a:p>
        </p:txBody>
      </p:sp>
      <p:sp>
        <p:nvSpPr>
          <p:cNvPr id="712" name="Google Shape;712;p56"/>
          <p:cNvSpPr txBox="1"/>
          <p:nvPr/>
        </p:nvSpPr>
        <p:spPr>
          <a:xfrm>
            <a:off x="4333697" y="4454350"/>
            <a:ext cx="6543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7</a:t>
            </a:r>
            <a:endParaRPr sz="2000">
              <a:latin typeface="Times"/>
              <a:ea typeface="Times"/>
              <a:cs typeface="Times"/>
              <a:sym typeface="Times"/>
            </a:endParaRPr>
          </a:p>
        </p:txBody>
      </p:sp>
      <p:sp>
        <p:nvSpPr>
          <p:cNvPr id="713" name="Google Shape;713;p56"/>
          <p:cNvSpPr txBox="1"/>
          <p:nvPr/>
        </p:nvSpPr>
        <p:spPr>
          <a:xfrm>
            <a:off x="2834329" y="2948025"/>
            <a:ext cx="5667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1</a:t>
            </a:r>
            <a:endParaRPr sz="2000">
              <a:latin typeface="Times"/>
              <a:ea typeface="Times"/>
              <a:cs typeface="Times"/>
              <a:sym typeface="Times"/>
            </a:endParaRPr>
          </a:p>
        </p:txBody>
      </p:sp>
      <p:sp>
        <p:nvSpPr>
          <p:cNvPr id="714" name="Google Shape;714;p56"/>
          <p:cNvSpPr txBox="1"/>
          <p:nvPr/>
        </p:nvSpPr>
        <p:spPr>
          <a:xfrm>
            <a:off x="2013073" y="3850640"/>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10</a:t>
            </a:r>
            <a:endParaRPr sz="2000">
              <a:latin typeface="Times"/>
              <a:ea typeface="Times"/>
              <a:cs typeface="Times"/>
              <a:sym typeface="Times"/>
            </a:endParaRPr>
          </a:p>
        </p:txBody>
      </p:sp>
      <p:sp>
        <p:nvSpPr>
          <p:cNvPr id="715" name="Google Shape;715;p56"/>
          <p:cNvSpPr txBox="1"/>
          <p:nvPr/>
        </p:nvSpPr>
        <p:spPr>
          <a:xfrm>
            <a:off x="5754885" y="3058777"/>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2</a:t>
            </a:r>
            <a:endParaRPr sz="2000">
              <a:latin typeface="Times"/>
              <a:ea typeface="Times"/>
              <a:cs typeface="Times"/>
              <a:sym typeface="Times"/>
            </a:endParaRPr>
          </a:p>
        </p:txBody>
      </p:sp>
      <p:sp>
        <p:nvSpPr>
          <p:cNvPr id="716" name="Google Shape;716;p56"/>
          <p:cNvSpPr/>
          <p:nvPr/>
        </p:nvSpPr>
        <p:spPr>
          <a:xfrm>
            <a:off x="4209381" y="2896517"/>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e</a:t>
            </a:r>
            <a:endParaRPr sz="3000">
              <a:latin typeface="Times"/>
              <a:ea typeface="Times"/>
              <a:cs typeface="Times"/>
              <a:sym typeface="Times"/>
            </a:endParaRPr>
          </a:p>
        </p:txBody>
      </p:sp>
      <p:cxnSp>
        <p:nvCxnSpPr>
          <p:cNvPr id="717" name="Google Shape;717;p56"/>
          <p:cNvCxnSpPr>
            <a:stCxn id="697" idx="5"/>
            <a:endCxn id="716" idx="1"/>
          </p:cNvCxnSpPr>
          <p:nvPr/>
        </p:nvCxnSpPr>
        <p:spPr>
          <a:xfrm>
            <a:off x="3632436" y="2240415"/>
            <a:ext cx="672900" cy="740400"/>
          </a:xfrm>
          <a:prstGeom prst="straightConnector1">
            <a:avLst/>
          </a:prstGeom>
          <a:noFill/>
          <a:ln cap="flat" cmpd="sng" w="9525">
            <a:solidFill>
              <a:schemeClr val="dk2"/>
            </a:solidFill>
            <a:prstDash val="solid"/>
            <a:round/>
            <a:headEnd len="med" w="med" type="none"/>
            <a:tailEnd len="med" w="med" type="triangle"/>
          </a:ln>
        </p:spPr>
      </p:cxnSp>
      <p:cxnSp>
        <p:nvCxnSpPr>
          <p:cNvPr id="718" name="Google Shape;718;p56"/>
          <p:cNvCxnSpPr>
            <a:stCxn id="698" idx="7"/>
            <a:endCxn id="716" idx="3"/>
          </p:cNvCxnSpPr>
          <p:nvPr/>
        </p:nvCxnSpPr>
        <p:spPr>
          <a:xfrm flipH="1" rot="10800000">
            <a:off x="3632436" y="3388339"/>
            <a:ext cx="672900" cy="815400"/>
          </a:xfrm>
          <a:prstGeom prst="straightConnector1">
            <a:avLst/>
          </a:prstGeom>
          <a:noFill/>
          <a:ln cap="flat" cmpd="sng" w="9525">
            <a:solidFill>
              <a:schemeClr val="dk2"/>
            </a:solidFill>
            <a:prstDash val="solid"/>
            <a:round/>
            <a:headEnd len="med" w="med" type="none"/>
            <a:tailEnd len="med" w="med" type="triangle"/>
          </a:ln>
        </p:spPr>
      </p:cxnSp>
      <p:cxnSp>
        <p:nvCxnSpPr>
          <p:cNvPr id="719" name="Google Shape;719;p56"/>
          <p:cNvCxnSpPr>
            <a:stCxn id="716" idx="7"/>
            <a:endCxn id="700" idx="3"/>
          </p:cNvCxnSpPr>
          <p:nvPr/>
        </p:nvCxnSpPr>
        <p:spPr>
          <a:xfrm flipH="1" rot="10800000">
            <a:off x="4767861" y="2240514"/>
            <a:ext cx="706500" cy="740400"/>
          </a:xfrm>
          <a:prstGeom prst="straightConnector1">
            <a:avLst/>
          </a:prstGeom>
          <a:noFill/>
          <a:ln cap="flat" cmpd="sng" w="9525">
            <a:solidFill>
              <a:schemeClr val="dk2"/>
            </a:solidFill>
            <a:prstDash val="solid"/>
            <a:round/>
            <a:headEnd len="med" w="med" type="none"/>
            <a:tailEnd len="med" w="med" type="triangle"/>
          </a:ln>
        </p:spPr>
      </p:cxnSp>
      <p:cxnSp>
        <p:nvCxnSpPr>
          <p:cNvPr id="720" name="Google Shape;720;p56"/>
          <p:cNvCxnSpPr>
            <a:endCxn id="699" idx="1"/>
          </p:cNvCxnSpPr>
          <p:nvPr/>
        </p:nvCxnSpPr>
        <p:spPr>
          <a:xfrm>
            <a:off x="4767992" y="3388339"/>
            <a:ext cx="706500" cy="815400"/>
          </a:xfrm>
          <a:prstGeom prst="straightConnector1">
            <a:avLst/>
          </a:prstGeom>
          <a:noFill/>
          <a:ln cap="flat" cmpd="sng" w="9525">
            <a:solidFill>
              <a:schemeClr val="dk2"/>
            </a:solidFill>
            <a:prstDash val="solid"/>
            <a:round/>
            <a:headEnd len="med" w="med" type="none"/>
            <a:tailEnd len="med" w="med" type="triangle"/>
          </a:ln>
        </p:spPr>
      </p:cxnSp>
      <p:cxnSp>
        <p:nvCxnSpPr>
          <p:cNvPr id="721" name="Google Shape;721;p56"/>
          <p:cNvCxnSpPr>
            <a:stCxn id="700" idx="4"/>
            <a:endCxn id="699" idx="0"/>
          </p:cNvCxnSpPr>
          <p:nvPr/>
        </p:nvCxnSpPr>
        <p:spPr>
          <a:xfrm>
            <a:off x="5705822" y="2324794"/>
            <a:ext cx="0" cy="1794600"/>
          </a:xfrm>
          <a:prstGeom prst="straightConnector1">
            <a:avLst/>
          </a:prstGeom>
          <a:noFill/>
          <a:ln cap="flat" cmpd="sng" w="9525">
            <a:solidFill>
              <a:schemeClr val="dk2"/>
            </a:solidFill>
            <a:prstDash val="solid"/>
            <a:round/>
            <a:headEnd len="med" w="med" type="none"/>
            <a:tailEnd len="med" w="med" type="triangle"/>
          </a:ln>
        </p:spPr>
      </p:cxnSp>
      <p:sp>
        <p:nvSpPr>
          <p:cNvPr id="722" name="Google Shape;722;p56"/>
          <p:cNvSpPr txBox="1"/>
          <p:nvPr/>
        </p:nvSpPr>
        <p:spPr>
          <a:xfrm>
            <a:off x="4535011" y="2270025"/>
            <a:ext cx="6912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3</a:t>
            </a:r>
            <a:endParaRPr sz="2000">
              <a:latin typeface="Times"/>
              <a:ea typeface="Times"/>
              <a:cs typeface="Times"/>
              <a:sym typeface="Times"/>
            </a:endParaRPr>
          </a:p>
        </p:txBody>
      </p:sp>
      <p:sp>
        <p:nvSpPr>
          <p:cNvPr id="723" name="Google Shape;723;p56"/>
          <p:cNvSpPr txBox="1"/>
          <p:nvPr/>
        </p:nvSpPr>
        <p:spPr>
          <a:xfrm>
            <a:off x="3622461" y="2481050"/>
            <a:ext cx="6912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3</a:t>
            </a:r>
            <a:endParaRPr sz="2000">
              <a:latin typeface="Times"/>
              <a:ea typeface="Times"/>
              <a:cs typeface="Times"/>
              <a:sym typeface="Times"/>
            </a:endParaRPr>
          </a:p>
        </p:txBody>
      </p:sp>
      <p:sp>
        <p:nvSpPr>
          <p:cNvPr id="724" name="Google Shape;724;p56"/>
          <p:cNvSpPr txBox="1"/>
          <p:nvPr/>
        </p:nvSpPr>
        <p:spPr>
          <a:xfrm>
            <a:off x="3623348" y="3495250"/>
            <a:ext cx="6912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2</a:t>
            </a:r>
            <a:endParaRPr sz="2000">
              <a:latin typeface="Times"/>
              <a:ea typeface="Times"/>
              <a:cs typeface="Times"/>
              <a:sym typeface="Times"/>
            </a:endParaRPr>
          </a:p>
        </p:txBody>
      </p:sp>
      <p:sp>
        <p:nvSpPr>
          <p:cNvPr id="725" name="Google Shape;725;p56"/>
          <p:cNvSpPr txBox="1"/>
          <p:nvPr/>
        </p:nvSpPr>
        <p:spPr>
          <a:xfrm>
            <a:off x="4664586" y="3495250"/>
            <a:ext cx="6912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2</a:t>
            </a:r>
            <a:endParaRPr sz="2000">
              <a:latin typeface="Times"/>
              <a:ea typeface="Times"/>
              <a:cs typeface="Times"/>
              <a:sym typeface="Times"/>
            </a:endParaRPr>
          </a:p>
        </p:txBody>
      </p:sp>
      <p:sp>
        <p:nvSpPr>
          <p:cNvPr id="726" name="Google Shape;726;p56"/>
          <p:cNvSpPr txBox="1"/>
          <p:nvPr/>
        </p:nvSpPr>
        <p:spPr>
          <a:xfrm>
            <a:off x="575500" y="913600"/>
            <a:ext cx="8175000" cy="5310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SzPts val="2000"/>
              <a:buFont typeface="Times"/>
              <a:buAutoNum type="arabicPeriod"/>
            </a:pPr>
            <a:r>
              <a:rPr lang="en-GB" sz="2000">
                <a:latin typeface="Times"/>
                <a:ea typeface="Times"/>
                <a:cs typeface="Times"/>
                <a:sym typeface="Times"/>
              </a:rPr>
              <a:t>Initialize all flow to zero </a:t>
            </a:r>
            <a:endParaRPr sz="2000">
              <a:latin typeface="Times"/>
              <a:ea typeface="Times"/>
              <a:cs typeface="Times"/>
              <a:sym typeface="Time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730" name="Shape 730"/>
        <p:cNvGrpSpPr/>
        <p:nvPr/>
      </p:nvGrpSpPr>
      <p:grpSpPr>
        <a:xfrm>
          <a:off x="0" y="0"/>
          <a:ext cx="0" cy="0"/>
          <a:chOff x="0" y="0"/>
          <a:chExt cx="0" cy="0"/>
        </a:xfrm>
      </p:grpSpPr>
      <p:sp>
        <p:nvSpPr>
          <p:cNvPr id="731" name="Google Shape;731;p57"/>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732" name="Google Shape;732;p57"/>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733" name="Google Shape;733;p57"/>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734" name="Google Shape;734;p57"/>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Ford-Fulkerson Algorithm</a:t>
            </a:r>
            <a:endParaRPr b="1" sz="4000">
              <a:latin typeface="Times"/>
              <a:ea typeface="Times"/>
              <a:cs typeface="Times"/>
              <a:sym typeface="Times"/>
            </a:endParaRPr>
          </a:p>
        </p:txBody>
      </p:sp>
      <p:cxnSp>
        <p:nvCxnSpPr>
          <p:cNvPr id="735" name="Google Shape;735;p57"/>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736" name="Google Shape;736;p57"/>
          <p:cNvSpPr txBox="1"/>
          <p:nvPr/>
        </p:nvSpPr>
        <p:spPr>
          <a:xfrm>
            <a:off x="575500" y="913600"/>
            <a:ext cx="8175000" cy="39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2. Finding Augmenting paths </a:t>
            </a:r>
            <a:r>
              <a:rPr lang="en-GB" sz="2000">
                <a:latin typeface="Times"/>
                <a:ea typeface="Times"/>
                <a:cs typeface="Times"/>
                <a:sym typeface="Times"/>
              </a:rPr>
              <a:t>and Repeat</a:t>
            </a:r>
            <a:endParaRPr sz="2000">
              <a:latin typeface="Times"/>
              <a:ea typeface="Times"/>
              <a:cs typeface="Times"/>
              <a:sym typeface="Times"/>
            </a:endParaRPr>
          </a:p>
          <a:p>
            <a:pPr indent="-355600" lvl="0" marL="630000" rtl="0" algn="l">
              <a:spcBef>
                <a:spcPts val="0"/>
              </a:spcBef>
              <a:spcAft>
                <a:spcPts val="0"/>
              </a:spcAft>
              <a:buSzPts val="2000"/>
              <a:buFont typeface="Times"/>
              <a:buChar char="●"/>
            </a:pPr>
            <a:r>
              <a:rPr lang="en-GB" sz="2000">
                <a:latin typeface="Times"/>
                <a:ea typeface="Times"/>
                <a:cs typeface="Times"/>
                <a:sym typeface="Times"/>
              </a:rPr>
              <a:t>Initial path: s⟶a⟶b⟶t </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Residual Capacity: min(7, 5, 10) = 5</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Augment flow: f(s,a) = f(a,b) = f(b,t) = 5;</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Flow: 5</a:t>
            </a:r>
            <a:endParaRPr sz="2000">
              <a:latin typeface="Times"/>
              <a:ea typeface="Times"/>
              <a:cs typeface="Times"/>
              <a:sym typeface="Times"/>
            </a:endParaRPr>
          </a:p>
          <a:p>
            <a:pPr indent="-355600" lvl="0" marL="630000" rtl="0" algn="l">
              <a:spcBef>
                <a:spcPts val="0"/>
              </a:spcBef>
              <a:spcAft>
                <a:spcPts val="0"/>
              </a:spcAft>
              <a:buSzPts val="2000"/>
              <a:buFont typeface="Times"/>
              <a:buChar char="●"/>
            </a:pPr>
            <a:r>
              <a:rPr lang="en-GB" sz="2000">
                <a:latin typeface="Times"/>
                <a:ea typeface="Times"/>
                <a:cs typeface="Times"/>
                <a:sym typeface="Times"/>
              </a:rPr>
              <a:t>Next path: s⟶c⟶d⟶t </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Residual Capacity: min(10, 7, 4) = 4</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Augment flow: f(s,c) = f(c,d) = f(d,t) = 4;</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Flow:  5 + 4 = 9</a:t>
            </a:r>
            <a:endParaRPr sz="2000">
              <a:latin typeface="Times"/>
              <a:ea typeface="Times"/>
              <a:cs typeface="Times"/>
              <a:sym typeface="Time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740" name="Shape 740"/>
        <p:cNvGrpSpPr/>
        <p:nvPr/>
      </p:nvGrpSpPr>
      <p:grpSpPr>
        <a:xfrm>
          <a:off x="0" y="0"/>
          <a:ext cx="0" cy="0"/>
          <a:chOff x="0" y="0"/>
          <a:chExt cx="0" cy="0"/>
        </a:xfrm>
      </p:grpSpPr>
      <p:sp>
        <p:nvSpPr>
          <p:cNvPr id="741" name="Google Shape;741;p58"/>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742" name="Google Shape;742;p58"/>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743" name="Google Shape;743;p58"/>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744" name="Google Shape;744;p58"/>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Ford-Fulkerson Algorithm</a:t>
            </a:r>
            <a:endParaRPr b="1" sz="4000">
              <a:latin typeface="Times"/>
              <a:ea typeface="Times"/>
              <a:cs typeface="Times"/>
              <a:sym typeface="Times"/>
            </a:endParaRPr>
          </a:p>
        </p:txBody>
      </p:sp>
      <p:cxnSp>
        <p:nvCxnSpPr>
          <p:cNvPr id="745" name="Google Shape;745;p58"/>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746" name="Google Shape;746;p58"/>
          <p:cNvSpPr txBox="1"/>
          <p:nvPr/>
        </p:nvSpPr>
        <p:spPr>
          <a:xfrm>
            <a:off x="575500" y="913600"/>
            <a:ext cx="8175000" cy="39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2. Finding Augmenting paths and Repeat(contd…)</a:t>
            </a:r>
            <a:endParaRPr sz="2000">
              <a:latin typeface="Times"/>
              <a:ea typeface="Times"/>
              <a:cs typeface="Times"/>
              <a:sym typeface="Times"/>
            </a:endParaRPr>
          </a:p>
          <a:p>
            <a:pPr indent="-355600" lvl="0" marL="630000" rtl="0" algn="l">
              <a:spcBef>
                <a:spcPts val="0"/>
              </a:spcBef>
              <a:spcAft>
                <a:spcPts val="0"/>
              </a:spcAft>
              <a:buSzPts val="2000"/>
              <a:buFont typeface="Times"/>
              <a:buChar char="●"/>
            </a:pPr>
            <a:r>
              <a:rPr lang="en-GB" sz="2000">
                <a:latin typeface="Times"/>
                <a:ea typeface="Times"/>
                <a:cs typeface="Times"/>
                <a:sym typeface="Times"/>
              </a:rPr>
              <a:t>Next path: </a:t>
            </a:r>
            <a:r>
              <a:rPr lang="en-GB" sz="2000">
                <a:latin typeface="Times"/>
                <a:ea typeface="Times"/>
                <a:cs typeface="Times"/>
                <a:sym typeface="Times"/>
              </a:rPr>
              <a:t>s⟶a⟶e⟶b⟶t</a:t>
            </a:r>
            <a:r>
              <a:rPr lang="en-GB" sz="2000">
                <a:latin typeface="Times"/>
                <a:ea typeface="Times"/>
                <a:cs typeface="Times"/>
                <a:sym typeface="Times"/>
              </a:rPr>
              <a:t> </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Residual Capacity: min(2, 3, 3, 5) = 2</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Augment flow: f(s,a) = 7; f(a,e) = f(e,b) = 2; f(b ,t) = 7;</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Flow:  9+2=11</a:t>
            </a:r>
            <a:endParaRPr sz="2000">
              <a:latin typeface="Times"/>
              <a:ea typeface="Times"/>
              <a:cs typeface="Times"/>
              <a:sym typeface="Times"/>
            </a:endParaRPr>
          </a:p>
          <a:p>
            <a:pPr indent="-355600" lvl="0" marL="630000" rtl="0" algn="l">
              <a:spcBef>
                <a:spcPts val="0"/>
              </a:spcBef>
              <a:spcAft>
                <a:spcPts val="0"/>
              </a:spcAft>
              <a:buSzPts val="2000"/>
              <a:buFont typeface="Times"/>
              <a:buChar char="●"/>
            </a:pPr>
            <a:r>
              <a:rPr lang="en-GB" sz="2000">
                <a:latin typeface="Times"/>
                <a:ea typeface="Times"/>
                <a:cs typeface="Times"/>
                <a:sym typeface="Times"/>
              </a:rPr>
              <a:t>Next path: </a:t>
            </a:r>
            <a:r>
              <a:rPr lang="en-GB" sz="2000">
                <a:latin typeface="Times"/>
                <a:ea typeface="Times"/>
                <a:cs typeface="Times"/>
                <a:sym typeface="Times"/>
              </a:rPr>
              <a:t>s⟶c⟶e⟶b⟶t</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Residual Capacity: min(6,2,1,3) = 1</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Augment flow: f(s,c) = 5; f(c,e) = 1; f(e,b) = 3; f(b,t) = 8</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Flow: 11+1 = 12</a:t>
            </a:r>
            <a:endParaRPr sz="2000">
              <a:latin typeface="Times"/>
              <a:ea typeface="Times"/>
              <a:cs typeface="Times"/>
              <a:sym typeface="Times"/>
            </a:endParaRPr>
          </a:p>
          <a:p>
            <a:pPr indent="0" lvl="0" marL="0" rtl="0" algn="l">
              <a:spcBef>
                <a:spcPts val="900"/>
              </a:spcBef>
              <a:spcAft>
                <a:spcPts val="900"/>
              </a:spcAft>
              <a:buNone/>
            </a:pPr>
            <a:r>
              <a:rPr lang="en-GB" sz="2000">
                <a:latin typeface="Times"/>
                <a:ea typeface="Times"/>
                <a:cs typeface="Times"/>
                <a:sym typeface="Times"/>
              </a:rPr>
              <a:t>The </a:t>
            </a:r>
            <a:r>
              <a:rPr b="1" lang="en-GB" sz="2000">
                <a:latin typeface="Times"/>
                <a:ea typeface="Times"/>
                <a:cs typeface="Times"/>
                <a:sym typeface="Times"/>
              </a:rPr>
              <a:t>maximum flow</a:t>
            </a:r>
            <a:r>
              <a:rPr lang="en-GB" sz="2000">
                <a:latin typeface="Times"/>
                <a:ea typeface="Times"/>
                <a:cs typeface="Times"/>
                <a:sym typeface="Times"/>
              </a:rPr>
              <a:t> from s to t in this flow network is:</a:t>
            </a:r>
            <a:r>
              <a:rPr b="1" lang="en-GB" sz="2000">
                <a:latin typeface="Times"/>
                <a:ea typeface="Times"/>
                <a:cs typeface="Times"/>
                <a:sym typeface="Times"/>
              </a:rPr>
              <a:t>12</a:t>
            </a:r>
            <a:endParaRPr sz="2000">
              <a:latin typeface="Times"/>
              <a:ea typeface="Times"/>
              <a:cs typeface="Times"/>
              <a:sym typeface="Time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750" name="Shape 750"/>
        <p:cNvGrpSpPr/>
        <p:nvPr/>
      </p:nvGrpSpPr>
      <p:grpSpPr>
        <a:xfrm>
          <a:off x="0" y="0"/>
          <a:ext cx="0" cy="0"/>
          <a:chOff x="0" y="0"/>
          <a:chExt cx="0" cy="0"/>
        </a:xfrm>
      </p:grpSpPr>
      <p:sp>
        <p:nvSpPr>
          <p:cNvPr id="751" name="Google Shape;751;p59"/>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752" name="Google Shape;752;p59"/>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753" name="Google Shape;753;p59"/>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754" name="Google Shape;754;p59"/>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Ford-Fulkerson Algorithm</a:t>
            </a:r>
            <a:endParaRPr b="1" sz="4000">
              <a:latin typeface="Times"/>
              <a:ea typeface="Times"/>
              <a:cs typeface="Times"/>
              <a:sym typeface="Times"/>
            </a:endParaRPr>
          </a:p>
        </p:txBody>
      </p:sp>
      <p:cxnSp>
        <p:nvCxnSpPr>
          <p:cNvPr id="755" name="Google Shape;755;p59"/>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756" name="Google Shape;756;p59"/>
          <p:cNvSpPr/>
          <p:nvPr/>
        </p:nvSpPr>
        <p:spPr>
          <a:xfrm>
            <a:off x="1496300" y="3046464"/>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s</a:t>
            </a:r>
            <a:endParaRPr sz="3000">
              <a:latin typeface="Times"/>
              <a:ea typeface="Times"/>
              <a:cs typeface="Times"/>
              <a:sym typeface="Times"/>
            </a:endParaRPr>
          </a:p>
        </p:txBody>
      </p:sp>
      <p:sp>
        <p:nvSpPr>
          <p:cNvPr id="757" name="Google Shape;757;p59"/>
          <p:cNvSpPr/>
          <p:nvPr/>
        </p:nvSpPr>
        <p:spPr>
          <a:xfrm>
            <a:off x="7064682" y="304648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t</a:t>
            </a:r>
            <a:endParaRPr sz="3000">
              <a:latin typeface="Times"/>
              <a:ea typeface="Times"/>
              <a:cs typeface="Times"/>
              <a:sym typeface="Times"/>
            </a:endParaRPr>
          </a:p>
        </p:txBody>
      </p:sp>
      <p:sp>
        <p:nvSpPr>
          <p:cNvPr id="758" name="Google Shape;758;p59"/>
          <p:cNvSpPr/>
          <p:nvPr/>
        </p:nvSpPr>
        <p:spPr>
          <a:xfrm>
            <a:off x="3073956" y="174851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a</a:t>
            </a:r>
            <a:endParaRPr sz="3000">
              <a:latin typeface="Times"/>
              <a:ea typeface="Times"/>
              <a:cs typeface="Times"/>
              <a:sym typeface="Times"/>
            </a:endParaRPr>
          </a:p>
        </p:txBody>
      </p:sp>
      <p:sp>
        <p:nvSpPr>
          <p:cNvPr id="759" name="Google Shape;759;p59"/>
          <p:cNvSpPr/>
          <p:nvPr/>
        </p:nvSpPr>
        <p:spPr>
          <a:xfrm>
            <a:off x="3073956" y="411934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c</a:t>
            </a:r>
            <a:endParaRPr sz="3000">
              <a:latin typeface="Times"/>
              <a:ea typeface="Times"/>
              <a:cs typeface="Times"/>
              <a:sym typeface="Times"/>
            </a:endParaRPr>
          </a:p>
        </p:txBody>
      </p:sp>
      <p:sp>
        <p:nvSpPr>
          <p:cNvPr id="760" name="Google Shape;760;p59"/>
          <p:cNvSpPr/>
          <p:nvPr/>
        </p:nvSpPr>
        <p:spPr>
          <a:xfrm>
            <a:off x="5378672" y="411934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d</a:t>
            </a:r>
            <a:endParaRPr sz="3000">
              <a:latin typeface="Times"/>
              <a:ea typeface="Times"/>
              <a:cs typeface="Times"/>
              <a:sym typeface="Times"/>
            </a:endParaRPr>
          </a:p>
        </p:txBody>
      </p:sp>
      <p:sp>
        <p:nvSpPr>
          <p:cNvPr id="761" name="Google Shape;761;p59"/>
          <p:cNvSpPr/>
          <p:nvPr/>
        </p:nvSpPr>
        <p:spPr>
          <a:xfrm>
            <a:off x="5378672" y="1748494"/>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b</a:t>
            </a:r>
            <a:endParaRPr sz="3000">
              <a:latin typeface="Times"/>
              <a:ea typeface="Times"/>
              <a:cs typeface="Times"/>
              <a:sym typeface="Times"/>
            </a:endParaRPr>
          </a:p>
        </p:txBody>
      </p:sp>
      <p:cxnSp>
        <p:nvCxnSpPr>
          <p:cNvPr id="762" name="Google Shape;762;p59"/>
          <p:cNvCxnSpPr>
            <a:stCxn id="756" idx="7"/>
            <a:endCxn id="758" idx="3"/>
          </p:cNvCxnSpPr>
          <p:nvPr/>
        </p:nvCxnSpPr>
        <p:spPr>
          <a:xfrm flipH="1" rot="10800000">
            <a:off x="2054780" y="2240461"/>
            <a:ext cx="1115100" cy="890400"/>
          </a:xfrm>
          <a:prstGeom prst="straightConnector1">
            <a:avLst/>
          </a:prstGeom>
          <a:noFill/>
          <a:ln cap="flat" cmpd="sng" w="9525">
            <a:solidFill>
              <a:schemeClr val="dk2"/>
            </a:solidFill>
            <a:prstDash val="solid"/>
            <a:round/>
            <a:headEnd len="med" w="med" type="none"/>
            <a:tailEnd len="med" w="med" type="triangle"/>
          </a:ln>
        </p:spPr>
      </p:cxnSp>
      <p:cxnSp>
        <p:nvCxnSpPr>
          <p:cNvPr id="763" name="Google Shape;763;p59"/>
          <p:cNvCxnSpPr>
            <a:stCxn id="758" idx="6"/>
            <a:endCxn id="761" idx="2"/>
          </p:cNvCxnSpPr>
          <p:nvPr/>
        </p:nvCxnSpPr>
        <p:spPr>
          <a:xfrm>
            <a:off x="3728256" y="2036662"/>
            <a:ext cx="1650300" cy="0"/>
          </a:xfrm>
          <a:prstGeom prst="straightConnector1">
            <a:avLst/>
          </a:prstGeom>
          <a:noFill/>
          <a:ln cap="flat" cmpd="sng" w="9525">
            <a:solidFill>
              <a:schemeClr val="dk2"/>
            </a:solidFill>
            <a:prstDash val="solid"/>
            <a:round/>
            <a:headEnd len="med" w="med" type="none"/>
            <a:tailEnd len="med" w="med" type="triangle"/>
          </a:ln>
        </p:spPr>
      </p:cxnSp>
      <p:cxnSp>
        <p:nvCxnSpPr>
          <p:cNvPr id="764" name="Google Shape;764;p59"/>
          <p:cNvCxnSpPr>
            <a:stCxn id="761" idx="6"/>
            <a:endCxn id="757" idx="1"/>
          </p:cNvCxnSpPr>
          <p:nvPr/>
        </p:nvCxnSpPr>
        <p:spPr>
          <a:xfrm>
            <a:off x="6032972" y="2036644"/>
            <a:ext cx="1127400" cy="1094100"/>
          </a:xfrm>
          <a:prstGeom prst="straightConnector1">
            <a:avLst/>
          </a:prstGeom>
          <a:noFill/>
          <a:ln cap="flat" cmpd="sng" w="9525">
            <a:solidFill>
              <a:schemeClr val="dk2"/>
            </a:solidFill>
            <a:prstDash val="solid"/>
            <a:round/>
            <a:headEnd len="med" w="med" type="none"/>
            <a:tailEnd len="med" w="med" type="triangle"/>
          </a:ln>
        </p:spPr>
      </p:cxnSp>
      <p:cxnSp>
        <p:nvCxnSpPr>
          <p:cNvPr id="765" name="Google Shape;765;p59"/>
          <p:cNvCxnSpPr>
            <a:stCxn id="756" idx="5"/>
            <a:endCxn id="759" idx="1"/>
          </p:cNvCxnSpPr>
          <p:nvPr/>
        </p:nvCxnSpPr>
        <p:spPr>
          <a:xfrm>
            <a:off x="2054780" y="3538367"/>
            <a:ext cx="1115100" cy="665400"/>
          </a:xfrm>
          <a:prstGeom prst="straightConnector1">
            <a:avLst/>
          </a:prstGeom>
          <a:noFill/>
          <a:ln cap="flat" cmpd="sng" w="9525">
            <a:solidFill>
              <a:schemeClr val="dk2"/>
            </a:solidFill>
            <a:prstDash val="solid"/>
            <a:round/>
            <a:headEnd len="med" w="med" type="none"/>
            <a:tailEnd len="med" w="med" type="triangle"/>
          </a:ln>
        </p:spPr>
      </p:cxnSp>
      <p:cxnSp>
        <p:nvCxnSpPr>
          <p:cNvPr id="766" name="Google Shape;766;p59"/>
          <p:cNvCxnSpPr>
            <a:stCxn id="759" idx="6"/>
            <a:endCxn id="760" idx="2"/>
          </p:cNvCxnSpPr>
          <p:nvPr/>
        </p:nvCxnSpPr>
        <p:spPr>
          <a:xfrm>
            <a:off x="3728256" y="4407492"/>
            <a:ext cx="1650300" cy="0"/>
          </a:xfrm>
          <a:prstGeom prst="straightConnector1">
            <a:avLst/>
          </a:prstGeom>
          <a:noFill/>
          <a:ln cap="flat" cmpd="sng" w="9525">
            <a:solidFill>
              <a:schemeClr val="dk2"/>
            </a:solidFill>
            <a:prstDash val="solid"/>
            <a:round/>
            <a:headEnd len="med" w="med" type="none"/>
            <a:tailEnd len="med" w="med" type="triangle"/>
          </a:ln>
        </p:spPr>
      </p:cxnSp>
      <p:cxnSp>
        <p:nvCxnSpPr>
          <p:cNvPr id="767" name="Google Shape;767;p59"/>
          <p:cNvCxnSpPr>
            <a:stCxn id="760" idx="6"/>
            <a:endCxn id="757" idx="3"/>
          </p:cNvCxnSpPr>
          <p:nvPr/>
        </p:nvCxnSpPr>
        <p:spPr>
          <a:xfrm flipH="1" rot="10800000">
            <a:off x="6032972" y="3538392"/>
            <a:ext cx="1127400" cy="869100"/>
          </a:xfrm>
          <a:prstGeom prst="straightConnector1">
            <a:avLst/>
          </a:prstGeom>
          <a:noFill/>
          <a:ln cap="flat" cmpd="sng" w="9525">
            <a:solidFill>
              <a:schemeClr val="dk2"/>
            </a:solidFill>
            <a:prstDash val="solid"/>
            <a:round/>
            <a:headEnd len="med" w="med" type="none"/>
            <a:tailEnd len="med" w="med" type="triangle"/>
          </a:ln>
        </p:spPr>
      </p:cxnSp>
      <p:cxnSp>
        <p:nvCxnSpPr>
          <p:cNvPr id="768" name="Google Shape;768;p59"/>
          <p:cNvCxnSpPr>
            <a:stCxn id="759" idx="0"/>
            <a:endCxn id="758" idx="4"/>
          </p:cNvCxnSpPr>
          <p:nvPr/>
        </p:nvCxnSpPr>
        <p:spPr>
          <a:xfrm rot="10800000">
            <a:off x="3401106" y="2324742"/>
            <a:ext cx="0" cy="1794600"/>
          </a:xfrm>
          <a:prstGeom prst="straightConnector1">
            <a:avLst/>
          </a:prstGeom>
          <a:noFill/>
          <a:ln cap="flat" cmpd="sng" w="9525">
            <a:solidFill>
              <a:schemeClr val="dk2"/>
            </a:solidFill>
            <a:prstDash val="solid"/>
            <a:round/>
            <a:headEnd len="med" w="med" type="none"/>
            <a:tailEnd len="med" w="med" type="triangle"/>
          </a:ln>
        </p:spPr>
      </p:cxnSp>
      <p:sp>
        <p:nvSpPr>
          <p:cNvPr id="769" name="Google Shape;769;p59"/>
          <p:cNvSpPr txBox="1"/>
          <p:nvPr/>
        </p:nvSpPr>
        <p:spPr>
          <a:xfrm>
            <a:off x="2275896" y="2138675"/>
            <a:ext cx="6063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7</a:t>
            </a:r>
            <a:r>
              <a:rPr lang="en-GB" sz="2000">
                <a:solidFill>
                  <a:srgbClr val="4A86E8"/>
                </a:solidFill>
                <a:latin typeface="Times"/>
                <a:ea typeface="Times"/>
                <a:cs typeface="Times"/>
                <a:sym typeface="Times"/>
              </a:rPr>
              <a:t>/</a:t>
            </a:r>
            <a:r>
              <a:rPr lang="en-GB" sz="2000">
                <a:latin typeface="Times"/>
                <a:ea typeface="Times"/>
                <a:cs typeface="Times"/>
                <a:sym typeface="Times"/>
              </a:rPr>
              <a:t>7</a:t>
            </a:r>
            <a:endParaRPr sz="2000">
              <a:latin typeface="Times"/>
              <a:ea typeface="Times"/>
              <a:cs typeface="Times"/>
              <a:sym typeface="Times"/>
            </a:endParaRPr>
          </a:p>
        </p:txBody>
      </p:sp>
      <p:sp>
        <p:nvSpPr>
          <p:cNvPr id="770" name="Google Shape;770;p59"/>
          <p:cNvSpPr txBox="1"/>
          <p:nvPr/>
        </p:nvSpPr>
        <p:spPr>
          <a:xfrm>
            <a:off x="4172348" y="1464325"/>
            <a:ext cx="6912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5</a:t>
            </a:r>
            <a:r>
              <a:rPr lang="en-GB" sz="2000">
                <a:solidFill>
                  <a:srgbClr val="4A86E8"/>
                </a:solidFill>
                <a:latin typeface="Times"/>
                <a:ea typeface="Times"/>
                <a:cs typeface="Times"/>
                <a:sym typeface="Times"/>
              </a:rPr>
              <a:t>/</a:t>
            </a:r>
            <a:r>
              <a:rPr lang="en-GB" sz="2000">
                <a:latin typeface="Times"/>
                <a:ea typeface="Times"/>
                <a:cs typeface="Times"/>
                <a:sym typeface="Times"/>
              </a:rPr>
              <a:t>5</a:t>
            </a:r>
            <a:endParaRPr sz="2000">
              <a:latin typeface="Times"/>
              <a:ea typeface="Times"/>
              <a:cs typeface="Times"/>
              <a:sym typeface="Times"/>
            </a:endParaRPr>
          </a:p>
        </p:txBody>
      </p:sp>
      <p:sp>
        <p:nvSpPr>
          <p:cNvPr id="771" name="Google Shape;771;p59"/>
          <p:cNvSpPr txBox="1"/>
          <p:nvPr/>
        </p:nvSpPr>
        <p:spPr>
          <a:xfrm>
            <a:off x="6455361" y="1998231"/>
            <a:ext cx="7767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8</a:t>
            </a:r>
            <a:r>
              <a:rPr lang="en-GB" sz="2000">
                <a:solidFill>
                  <a:srgbClr val="4A86E8"/>
                </a:solidFill>
                <a:latin typeface="Times"/>
                <a:ea typeface="Times"/>
                <a:cs typeface="Times"/>
                <a:sym typeface="Times"/>
              </a:rPr>
              <a:t>/</a:t>
            </a:r>
            <a:r>
              <a:rPr lang="en-GB" sz="2000">
                <a:latin typeface="Times"/>
                <a:ea typeface="Times"/>
                <a:cs typeface="Times"/>
                <a:sym typeface="Times"/>
              </a:rPr>
              <a:t>10</a:t>
            </a:r>
            <a:endParaRPr sz="2000">
              <a:latin typeface="Times"/>
              <a:ea typeface="Times"/>
              <a:cs typeface="Times"/>
              <a:sym typeface="Times"/>
            </a:endParaRPr>
          </a:p>
        </p:txBody>
      </p:sp>
      <p:sp>
        <p:nvSpPr>
          <p:cNvPr id="772" name="Google Shape;772;p59"/>
          <p:cNvSpPr txBox="1"/>
          <p:nvPr/>
        </p:nvSpPr>
        <p:spPr>
          <a:xfrm>
            <a:off x="6409239" y="3904471"/>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4</a:t>
            </a:r>
            <a:r>
              <a:rPr lang="en-GB" sz="2000">
                <a:solidFill>
                  <a:srgbClr val="4A86E8"/>
                </a:solidFill>
                <a:latin typeface="Times"/>
                <a:ea typeface="Times"/>
                <a:cs typeface="Times"/>
                <a:sym typeface="Times"/>
              </a:rPr>
              <a:t>/</a:t>
            </a:r>
            <a:r>
              <a:rPr lang="en-GB" sz="2000">
                <a:latin typeface="Times"/>
                <a:ea typeface="Times"/>
                <a:cs typeface="Times"/>
                <a:sym typeface="Times"/>
              </a:rPr>
              <a:t>4</a:t>
            </a:r>
            <a:endParaRPr sz="2000">
              <a:latin typeface="Times"/>
              <a:ea typeface="Times"/>
              <a:cs typeface="Times"/>
              <a:sym typeface="Times"/>
            </a:endParaRPr>
          </a:p>
        </p:txBody>
      </p:sp>
      <p:sp>
        <p:nvSpPr>
          <p:cNvPr id="773" name="Google Shape;773;p59"/>
          <p:cNvSpPr txBox="1"/>
          <p:nvPr/>
        </p:nvSpPr>
        <p:spPr>
          <a:xfrm>
            <a:off x="4333697" y="4454350"/>
            <a:ext cx="6543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4</a:t>
            </a:r>
            <a:r>
              <a:rPr lang="en-GB" sz="2000">
                <a:solidFill>
                  <a:srgbClr val="4A86E8"/>
                </a:solidFill>
                <a:latin typeface="Times"/>
                <a:ea typeface="Times"/>
                <a:cs typeface="Times"/>
                <a:sym typeface="Times"/>
              </a:rPr>
              <a:t>/</a:t>
            </a:r>
            <a:r>
              <a:rPr lang="en-GB" sz="2000">
                <a:latin typeface="Times"/>
                <a:ea typeface="Times"/>
                <a:cs typeface="Times"/>
                <a:sym typeface="Times"/>
              </a:rPr>
              <a:t>7</a:t>
            </a:r>
            <a:endParaRPr sz="2000">
              <a:latin typeface="Times"/>
              <a:ea typeface="Times"/>
              <a:cs typeface="Times"/>
              <a:sym typeface="Times"/>
            </a:endParaRPr>
          </a:p>
        </p:txBody>
      </p:sp>
      <p:sp>
        <p:nvSpPr>
          <p:cNvPr id="774" name="Google Shape;774;p59"/>
          <p:cNvSpPr txBox="1"/>
          <p:nvPr/>
        </p:nvSpPr>
        <p:spPr>
          <a:xfrm>
            <a:off x="2834329" y="2948025"/>
            <a:ext cx="5667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1</a:t>
            </a:r>
            <a:endParaRPr sz="2000">
              <a:latin typeface="Times"/>
              <a:ea typeface="Times"/>
              <a:cs typeface="Times"/>
              <a:sym typeface="Times"/>
            </a:endParaRPr>
          </a:p>
        </p:txBody>
      </p:sp>
      <p:sp>
        <p:nvSpPr>
          <p:cNvPr id="775" name="Google Shape;775;p59"/>
          <p:cNvSpPr txBox="1"/>
          <p:nvPr/>
        </p:nvSpPr>
        <p:spPr>
          <a:xfrm>
            <a:off x="2013073" y="3850640"/>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5</a:t>
            </a:r>
            <a:r>
              <a:rPr lang="en-GB" sz="2000">
                <a:solidFill>
                  <a:srgbClr val="4A86E8"/>
                </a:solidFill>
                <a:latin typeface="Times"/>
                <a:ea typeface="Times"/>
                <a:cs typeface="Times"/>
                <a:sym typeface="Times"/>
              </a:rPr>
              <a:t>/</a:t>
            </a:r>
            <a:r>
              <a:rPr lang="en-GB" sz="2000">
                <a:latin typeface="Times"/>
                <a:ea typeface="Times"/>
                <a:cs typeface="Times"/>
                <a:sym typeface="Times"/>
              </a:rPr>
              <a:t>10</a:t>
            </a:r>
            <a:endParaRPr sz="2000">
              <a:latin typeface="Times"/>
              <a:ea typeface="Times"/>
              <a:cs typeface="Times"/>
              <a:sym typeface="Times"/>
            </a:endParaRPr>
          </a:p>
        </p:txBody>
      </p:sp>
      <p:sp>
        <p:nvSpPr>
          <p:cNvPr id="776" name="Google Shape;776;p59"/>
          <p:cNvSpPr txBox="1"/>
          <p:nvPr/>
        </p:nvSpPr>
        <p:spPr>
          <a:xfrm>
            <a:off x="5754885" y="3058777"/>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2</a:t>
            </a:r>
            <a:endParaRPr sz="2000">
              <a:latin typeface="Times"/>
              <a:ea typeface="Times"/>
              <a:cs typeface="Times"/>
              <a:sym typeface="Times"/>
            </a:endParaRPr>
          </a:p>
        </p:txBody>
      </p:sp>
      <p:sp>
        <p:nvSpPr>
          <p:cNvPr id="777" name="Google Shape;777;p59"/>
          <p:cNvSpPr/>
          <p:nvPr/>
        </p:nvSpPr>
        <p:spPr>
          <a:xfrm>
            <a:off x="4209381" y="2896517"/>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e</a:t>
            </a:r>
            <a:endParaRPr sz="3000">
              <a:latin typeface="Times"/>
              <a:ea typeface="Times"/>
              <a:cs typeface="Times"/>
              <a:sym typeface="Times"/>
            </a:endParaRPr>
          </a:p>
        </p:txBody>
      </p:sp>
      <p:cxnSp>
        <p:nvCxnSpPr>
          <p:cNvPr id="778" name="Google Shape;778;p59"/>
          <p:cNvCxnSpPr>
            <a:stCxn id="758" idx="5"/>
            <a:endCxn id="777" idx="1"/>
          </p:cNvCxnSpPr>
          <p:nvPr/>
        </p:nvCxnSpPr>
        <p:spPr>
          <a:xfrm>
            <a:off x="3632436" y="2240415"/>
            <a:ext cx="672900" cy="740400"/>
          </a:xfrm>
          <a:prstGeom prst="straightConnector1">
            <a:avLst/>
          </a:prstGeom>
          <a:noFill/>
          <a:ln cap="flat" cmpd="sng" w="9525">
            <a:solidFill>
              <a:schemeClr val="dk2"/>
            </a:solidFill>
            <a:prstDash val="solid"/>
            <a:round/>
            <a:headEnd len="med" w="med" type="none"/>
            <a:tailEnd len="med" w="med" type="triangle"/>
          </a:ln>
        </p:spPr>
      </p:cxnSp>
      <p:cxnSp>
        <p:nvCxnSpPr>
          <p:cNvPr id="779" name="Google Shape;779;p59"/>
          <p:cNvCxnSpPr>
            <a:stCxn id="759" idx="7"/>
            <a:endCxn id="777" idx="3"/>
          </p:cNvCxnSpPr>
          <p:nvPr/>
        </p:nvCxnSpPr>
        <p:spPr>
          <a:xfrm flipH="1" rot="10800000">
            <a:off x="3632436" y="3388339"/>
            <a:ext cx="672900" cy="815400"/>
          </a:xfrm>
          <a:prstGeom prst="straightConnector1">
            <a:avLst/>
          </a:prstGeom>
          <a:noFill/>
          <a:ln cap="flat" cmpd="sng" w="9525">
            <a:solidFill>
              <a:schemeClr val="dk2"/>
            </a:solidFill>
            <a:prstDash val="solid"/>
            <a:round/>
            <a:headEnd len="med" w="med" type="none"/>
            <a:tailEnd len="med" w="med" type="triangle"/>
          </a:ln>
        </p:spPr>
      </p:cxnSp>
      <p:cxnSp>
        <p:nvCxnSpPr>
          <p:cNvPr id="780" name="Google Shape;780;p59"/>
          <p:cNvCxnSpPr>
            <a:stCxn id="777" idx="7"/>
            <a:endCxn id="761" idx="3"/>
          </p:cNvCxnSpPr>
          <p:nvPr/>
        </p:nvCxnSpPr>
        <p:spPr>
          <a:xfrm flipH="1" rot="10800000">
            <a:off x="4767861" y="2240514"/>
            <a:ext cx="706500" cy="740400"/>
          </a:xfrm>
          <a:prstGeom prst="straightConnector1">
            <a:avLst/>
          </a:prstGeom>
          <a:noFill/>
          <a:ln cap="flat" cmpd="sng" w="9525">
            <a:solidFill>
              <a:schemeClr val="dk2"/>
            </a:solidFill>
            <a:prstDash val="solid"/>
            <a:round/>
            <a:headEnd len="med" w="med" type="none"/>
            <a:tailEnd len="med" w="med" type="triangle"/>
          </a:ln>
        </p:spPr>
      </p:cxnSp>
      <p:cxnSp>
        <p:nvCxnSpPr>
          <p:cNvPr id="781" name="Google Shape;781;p59"/>
          <p:cNvCxnSpPr>
            <a:endCxn id="760" idx="1"/>
          </p:cNvCxnSpPr>
          <p:nvPr/>
        </p:nvCxnSpPr>
        <p:spPr>
          <a:xfrm>
            <a:off x="4767992" y="3388339"/>
            <a:ext cx="706500" cy="815400"/>
          </a:xfrm>
          <a:prstGeom prst="straightConnector1">
            <a:avLst/>
          </a:prstGeom>
          <a:noFill/>
          <a:ln cap="flat" cmpd="sng" w="9525">
            <a:solidFill>
              <a:schemeClr val="dk2"/>
            </a:solidFill>
            <a:prstDash val="solid"/>
            <a:round/>
            <a:headEnd len="med" w="med" type="none"/>
            <a:tailEnd len="med" w="med" type="triangle"/>
          </a:ln>
        </p:spPr>
      </p:cxnSp>
      <p:cxnSp>
        <p:nvCxnSpPr>
          <p:cNvPr id="782" name="Google Shape;782;p59"/>
          <p:cNvCxnSpPr>
            <a:stCxn id="761" idx="4"/>
            <a:endCxn id="760" idx="0"/>
          </p:cNvCxnSpPr>
          <p:nvPr/>
        </p:nvCxnSpPr>
        <p:spPr>
          <a:xfrm>
            <a:off x="5705822" y="2324794"/>
            <a:ext cx="0" cy="1794600"/>
          </a:xfrm>
          <a:prstGeom prst="straightConnector1">
            <a:avLst/>
          </a:prstGeom>
          <a:noFill/>
          <a:ln cap="flat" cmpd="sng" w="9525">
            <a:solidFill>
              <a:schemeClr val="dk2"/>
            </a:solidFill>
            <a:prstDash val="solid"/>
            <a:round/>
            <a:headEnd len="med" w="med" type="none"/>
            <a:tailEnd len="med" w="med" type="triangle"/>
          </a:ln>
        </p:spPr>
      </p:cxnSp>
      <p:sp>
        <p:nvSpPr>
          <p:cNvPr id="783" name="Google Shape;783;p59"/>
          <p:cNvSpPr txBox="1"/>
          <p:nvPr/>
        </p:nvSpPr>
        <p:spPr>
          <a:xfrm>
            <a:off x="4535011" y="2270025"/>
            <a:ext cx="6912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3</a:t>
            </a:r>
            <a:r>
              <a:rPr lang="en-GB" sz="2000">
                <a:solidFill>
                  <a:srgbClr val="4A86E8"/>
                </a:solidFill>
                <a:latin typeface="Times"/>
                <a:ea typeface="Times"/>
                <a:cs typeface="Times"/>
                <a:sym typeface="Times"/>
              </a:rPr>
              <a:t>/</a:t>
            </a:r>
            <a:r>
              <a:rPr lang="en-GB" sz="2000">
                <a:latin typeface="Times"/>
                <a:ea typeface="Times"/>
                <a:cs typeface="Times"/>
                <a:sym typeface="Times"/>
              </a:rPr>
              <a:t>3</a:t>
            </a:r>
            <a:endParaRPr sz="2000">
              <a:latin typeface="Times"/>
              <a:ea typeface="Times"/>
              <a:cs typeface="Times"/>
              <a:sym typeface="Times"/>
            </a:endParaRPr>
          </a:p>
        </p:txBody>
      </p:sp>
      <p:sp>
        <p:nvSpPr>
          <p:cNvPr id="784" name="Google Shape;784;p59"/>
          <p:cNvSpPr txBox="1"/>
          <p:nvPr/>
        </p:nvSpPr>
        <p:spPr>
          <a:xfrm>
            <a:off x="3622461" y="2481050"/>
            <a:ext cx="6912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2</a:t>
            </a:r>
            <a:r>
              <a:rPr lang="en-GB" sz="2000">
                <a:solidFill>
                  <a:srgbClr val="4A86E8"/>
                </a:solidFill>
                <a:latin typeface="Times"/>
                <a:ea typeface="Times"/>
                <a:cs typeface="Times"/>
                <a:sym typeface="Times"/>
              </a:rPr>
              <a:t>/</a:t>
            </a:r>
            <a:r>
              <a:rPr lang="en-GB" sz="2000">
                <a:latin typeface="Times"/>
                <a:ea typeface="Times"/>
                <a:cs typeface="Times"/>
                <a:sym typeface="Times"/>
              </a:rPr>
              <a:t>3</a:t>
            </a:r>
            <a:endParaRPr sz="2000">
              <a:latin typeface="Times"/>
              <a:ea typeface="Times"/>
              <a:cs typeface="Times"/>
              <a:sym typeface="Times"/>
            </a:endParaRPr>
          </a:p>
        </p:txBody>
      </p:sp>
      <p:sp>
        <p:nvSpPr>
          <p:cNvPr id="785" name="Google Shape;785;p59"/>
          <p:cNvSpPr txBox="1"/>
          <p:nvPr/>
        </p:nvSpPr>
        <p:spPr>
          <a:xfrm>
            <a:off x="3623348" y="3495250"/>
            <a:ext cx="6912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1</a:t>
            </a:r>
            <a:r>
              <a:rPr lang="en-GB" sz="2000">
                <a:solidFill>
                  <a:srgbClr val="4A86E8"/>
                </a:solidFill>
                <a:latin typeface="Times"/>
                <a:ea typeface="Times"/>
                <a:cs typeface="Times"/>
                <a:sym typeface="Times"/>
              </a:rPr>
              <a:t>/</a:t>
            </a:r>
            <a:r>
              <a:rPr lang="en-GB" sz="2000">
                <a:latin typeface="Times"/>
                <a:ea typeface="Times"/>
                <a:cs typeface="Times"/>
                <a:sym typeface="Times"/>
              </a:rPr>
              <a:t>2</a:t>
            </a:r>
            <a:endParaRPr sz="2000">
              <a:latin typeface="Times"/>
              <a:ea typeface="Times"/>
              <a:cs typeface="Times"/>
              <a:sym typeface="Times"/>
            </a:endParaRPr>
          </a:p>
        </p:txBody>
      </p:sp>
      <p:sp>
        <p:nvSpPr>
          <p:cNvPr id="786" name="Google Shape;786;p59"/>
          <p:cNvSpPr txBox="1"/>
          <p:nvPr/>
        </p:nvSpPr>
        <p:spPr>
          <a:xfrm>
            <a:off x="4664586" y="3495250"/>
            <a:ext cx="6912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2</a:t>
            </a:r>
            <a:endParaRPr sz="2000">
              <a:latin typeface="Times"/>
              <a:ea typeface="Times"/>
              <a:cs typeface="Times"/>
              <a:sym typeface="Times"/>
            </a:endParaRPr>
          </a:p>
        </p:txBody>
      </p:sp>
      <p:sp>
        <p:nvSpPr>
          <p:cNvPr id="787" name="Google Shape;787;p59"/>
          <p:cNvSpPr txBox="1"/>
          <p:nvPr/>
        </p:nvSpPr>
        <p:spPr>
          <a:xfrm>
            <a:off x="575500" y="913600"/>
            <a:ext cx="8175000" cy="5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Solution:</a:t>
            </a:r>
            <a:endParaRPr sz="2000">
              <a:latin typeface="Times"/>
              <a:ea typeface="Times"/>
              <a:cs typeface="Times"/>
              <a:sym typeface="Time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791" name="Shape 791"/>
        <p:cNvGrpSpPr/>
        <p:nvPr/>
      </p:nvGrpSpPr>
      <p:grpSpPr>
        <a:xfrm>
          <a:off x="0" y="0"/>
          <a:ext cx="0" cy="0"/>
          <a:chOff x="0" y="0"/>
          <a:chExt cx="0" cy="0"/>
        </a:xfrm>
      </p:grpSpPr>
      <p:sp>
        <p:nvSpPr>
          <p:cNvPr id="792" name="Google Shape;792;p60"/>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793" name="Google Shape;793;p60"/>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794" name="Google Shape;794;p60"/>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795" name="Google Shape;795;p60"/>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Ford-Fulkerson Algorithm</a:t>
            </a:r>
            <a:endParaRPr b="1" sz="4000">
              <a:latin typeface="Times"/>
              <a:ea typeface="Times"/>
              <a:cs typeface="Times"/>
              <a:sym typeface="Times"/>
            </a:endParaRPr>
          </a:p>
        </p:txBody>
      </p:sp>
      <p:cxnSp>
        <p:nvCxnSpPr>
          <p:cNvPr id="796" name="Google Shape;796;p60"/>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797" name="Google Shape;797;p60"/>
          <p:cNvSpPr/>
          <p:nvPr/>
        </p:nvSpPr>
        <p:spPr>
          <a:xfrm>
            <a:off x="1496300" y="3046464"/>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s</a:t>
            </a:r>
            <a:endParaRPr sz="3000">
              <a:latin typeface="Times"/>
              <a:ea typeface="Times"/>
              <a:cs typeface="Times"/>
              <a:sym typeface="Times"/>
            </a:endParaRPr>
          </a:p>
        </p:txBody>
      </p:sp>
      <p:sp>
        <p:nvSpPr>
          <p:cNvPr id="798" name="Google Shape;798;p60"/>
          <p:cNvSpPr/>
          <p:nvPr/>
        </p:nvSpPr>
        <p:spPr>
          <a:xfrm>
            <a:off x="7064682" y="304648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t</a:t>
            </a:r>
            <a:endParaRPr sz="3000">
              <a:latin typeface="Times"/>
              <a:ea typeface="Times"/>
              <a:cs typeface="Times"/>
              <a:sym typeface="Times"/>
            </a:endParaRPr>
          </a:p>
        </p:txBody>
      </p:sp>
      <p:sp>
        <p:nvSpPr>
          <p:cNvPr id="799" name="Google Shape;799;p60"/>
          <p:cNvSpPr/>
          <p:nvPr/>
        </p:nvSpPr>
        <p:spPr>
          <a:xfrm>
            <a:off x="3073956" y="174851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A</a:t>
            </a:r>
            <a:endParaRPr sz="3000">
              <a:latin typeface="Times"/>
              <a:ea typeface="Times"/>
              <a:cs typeface="Times"/>
              <a:sym typeface="Times"/>
            </a:endParaRPr>
          </a:p>
        </p:txBody>
      </p:sp>
      <p:sp>
        <p:nvSpPr>
          <p:cNvPr id="800" name="Google Shape;800;p60"/>
          <p:cNvSpPr/>
          <p:nvPr/>
        </p:nvSpPr>
        <p:spPr>
          <a:xfrm>
            <a:off x="3073956" y="411934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D</a:t>
            </a:r>
            <a:endParaRPr sz="3000">
              <a:latin typeface="Times"/>
              <a:ea typeface="Times"/>
              <a:cs typeface="Times"/>
              <a:sym typeface="Times"/>
            </a:endParaRPr>
          </a:p>
        </p:txBody>
      </p:sp>
      <p:sp>
        <p:nvSpPr>
          <p:cNvPr id="801" name="Google Shape;801;p60"/>
          <p:cNvSpPr/>
          <p:nvPr/>
        </p:nvSpPr>
        <p:spPr>
          <a:xfrm>
            <a:off x="5378672" y="411934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C</a:t>
            </a:r>
            <a:endParaRPr sz="3000">
              <a:latin typeface="Times"/>
              <a:ea typeface="Times"/>
              <a:cs typeface="Times"/>
              <a:sym typeface="Times"/>
            </a:endParaRPr>
          </a:p>
        </p:txBody>
      </p:sp>
      <p:sp>
        <p:nvSpPr>
          <p:cNvPr id="802" name="Google Shape;802;p60"/>
          <p:cNvSpPr/>
          <p:nvPr/>
        </p:nvSpPr>
        <p:spPr>
          <a:xfrm>
            <a:off x="5378672" y="1748494"/>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B</a:t>
            </a:r>
            <a:endParaRPr sz="3000">
              <a:latin typeface="Times"/>
              <a:ea typeface="Times"/>
              <a:cs typeface="Times"/>
              <a:sym typeface="Times"/>
            </a:endParaRPr>
          </a:p>
        </p:txBody>
      </p:sp>
      <p:cxnSp>
        <p:nvCxnSpPr>
          <p:cNvPr id="803" name="Google Shape;803;p60"/>
          <p:cNvCxnSpPr>
            <a:stCxn id="797" idx="7"/>
            <a:endCxn id="799" idx="3"/>
          </p:cNvCxnSpPr>
          <p:nvPr/>
        </p:nvCxnSpPr>
        <p:spPr>
          <a:xfrm flipH="1" rot="10800000">
            <a:off x="2054780" y="2240461"/>
            <a:ext cx="1115100" cy="890400"/>
          </a:xfrm>
          <a:prstGeom prst="straightConnector1">
            <a:avLst/>
          </a:prstGeom>
          <a:noFill/>
          <a:ln cap="flat" cmpd="sng" w="9525">
            <a:solidFill>
              <a:schemeClr val="dk2"/>
            </a:solidFill>
            <a:prstDash val="solid"/>
            <a:round/>
            <a:headEnd len="med" w="med" type="none"/>
            <a:tailEnd len="med" w="med" type="triangle"/>
          </a:ln>
        </p:spPr>
      </p:cxnSp>
      <p:cxnSp>
        <p:nvCxnSpPr>
          <p:cNvPr id="804" name="Google Shape;804;p60"/>
          <p:cNvCxnSpPr>
            <a:stCxn id="799" idx="6"/>
            <a:endCxn id="802" idx="2"/>
          </p:cNvCxnSpPr>
          <p:nvPr/>
        </p:nvCxnSpPr>
        <p:spPr>
          <a:xfrm>
            <a:off x="3728256" y="2036662"/>
            <a:ext cx="1650300" cy="0"/>
          </a:xfrm>
          <a:prstGeom prst="straightConnector1">
            <a:avLst/>
          </a:prstGeom>
          <a:noFill/>
          <a:ln cap="flat" cmpd="sng" w="9525">
            <a:solidFill>
              <a:schemeClr val="dk2"/>
            </a:solidFill>
            <a:prstDash val="solid"/>
            <a:round/>
            <a:headEnd len="med" w="med" type="none"/>
            <a:tailEnd len="med" w="med" type="triangle"/>
          </a:ln>
        </p:spPr>
      </p:cxnSp>
      <p:cxnSp>
        <p:nvCxnSpPr>
          <p:cNvPr id="805" name="Google Shape;805;p60"/>
          <p:cNvCxnSpPr>
            <a:stCxn id="802" idx="6"/>
            <a:endCxn id="798" idx="1"/>
          </p:cNvCxnSpPr>
          <p:nvPr/>
        </p:nvCxnSpPr>
        <p:spPr>
          <a:xfrm>
            <a:off x="6032972" y="2036644"/>
            <a:ext cx="1127400" cy="1094100"/>
          </a:xfrm>
          <a:prstGeom prst="straightConnector1">
            <a:avLst/>
          </a:prstGeom>
          <a:noFill/>
          <a:ln cap="flat" cmpd="sng" w="9525">
            <a:solidFill>
              <a:schemeClr val="dk2"/>
            </a:solidFill>
            <a:prstDash val="solid"/>
            <a:round/>
            <a:headEnd len="med" w="med" type="none"/>
            <a:tailEnd len="med" w="med" type="triangle"/>
          </a:ln>
        </p:spPr>
      </p:cxnSp>
      <p:cxnSp>
        <p:nvCxnSpPr>
          <p:cNvPr id="806" name="Google Shape;806;p60"/>
          <p:cNvCxnSpPr>
            <a:stCxn id="797" idx="5"/>
            <a:endCxn id="800" idx="1"/>
          </p:cNvCxnSpPr>
          <p:nvPr/>
        </p:nvCxnSpPr>
        <p:spPr>
          <a:xfrm>
            <a:off x="2054780" y="3538367"/>
            <a:ext cx="1115100" cy="665400"/>
          </a:xfrm>
          <a:prstGeom prst="straightConnector1">
            <a:avLst/>
          </a:prstGeom>
          <a:noFill/>
          <a:ln cap="flat" cmpd="sng" w="9525">
            <a:solidFill>
              <a:schemeClr val="dk2"/>
            </a:solidFill>
            <a:prstDash val="solid"/>
            <a:round/>
            <a:headEnd len="med" w="med" type="none"/>
            <a:tailEnd len="med" w="med" type="triangle"/>
          </a:ln>
        </p:spPr>
      </p:cxnSp>
      <p:cxnSp>
        <p:nvCxnSpPr>
          <p:cNvPr id="807" name="Google Shape;807;p60"/>
          <p:cNvCxnSpPr>
            <a:stCxn id="800" idx="6"/>
            <a:endCxn id="801" idx="2"/>
          </p:cNvCxnSpPr>
          <p:nvPr/>
        </p:nvCxnSpPr>
        <p:spPr>
          <a:xfrm>
            <a:off x="3728256" y="4407492"/>
            <a:ext cx="1650300" cy="0"/>
          </a:xfrm>
          <a:prstGeom prst="straightConnector1">
            <a:avLst/>
          </a:prstGeom>
          <a:noFill/>
          <a:ln cap="flat" cmpd="sng" w="9525">
            <a:solidFill>
              <a:schemeClr val="dk2"/>
            </a:solidFill>
            <a:prstDash val="solid"/>
            <a:round/>
            <a:headEnd len="med" w="med" type="none"/>
            <a:tailEnd len="med" w="med" type="triangle"/>
          </a:ln>
        </p:spPr>
      </p:cxnSp>
      <p:cxnSp>
        <p:nvCxnSpPr>
          <p:cNvPr id="808" name="Google Shape;808;p60"/>
          <p:cNvCxnSpPr>
            <a:stCxn id="801" idx="6"/>
            <a:endCxn id="798" idx="3"/>
          </p:cNvCxnSpPr>
          <p:nvPr/>
        </p:nvCxnSpPr>
        <p:spPr>
          <a:xfrm flipH="1" rot="10800000">
            <a:off x="6032972" y="3538392"/>
            <a:ext cx="1127400" cy="869100"/>
          </a:xfrm>
          <a:prstGeom prst="straightConnector1">
            <a:avLst/>
          </a:prstGeom>
          <a:noFill/>
          <a:ln cap="flat" cmpd="sng" w="9525">
            <a:solidFill>
              <a:schemeClr val="dk2"/>
            </a:solidFill>
            <a:prstDash val="solid"/>
            <a:round/>
            <a:headEnd len="med" w="med" type="none"/>
            <a:tailEnd len="med" w="med" type="triangle"/>
          </a:ln>
        </p:spPr>
      </p:cxnSp>
      <p:cxnSp>
        <p:nvCxnSpPr>
          <p:cNvPr id="809" name="Google Shape;809;p60"/>
          <p:cNvCxnSpPr>
            <a:stCxn id="800" idx="0"/>
            <a:endCxn id="799" idx="4"/>
          </p:cNvCxnSpPr>
          <p:nvPr/>
        </p:nvCxnSpPr>
        <p:spPr>
          <a:xfrm rot="10800000">
            <a:off x="3401106" y="2324742"/>
            <a:ext cx="0" cy="1794600"/>
          </a:xfrm>
          <a:prstGeom prst="straightConnector1">
            <a:avLst/>
          </a:prstGeom>
          <a:noFill/>
          <a:ln cap="flat" cmpd="sng" w="9525">
            <a:solidFill>
              <a:schemeClr val="dk2"/>
            </a:solidFill>
            <a:prstDash val="solid"/>
            <a:round/>
            <a:headEnd len="med" w="med" type="none"/>
            <a:tailEnd len="med" w="med" type="triangle"/>
          </a:ln>
        </p:spPr>
      </p:cxnSp>
      <p:sp>
        <p:nvSpPr>
          <p:cNvPr id="810" name="Google Shape;810;p60"/>
          <p:cNvSpPr txBox="1"/>
          <p:nvPr/>
        </p:nvSpPr>
        <p:spPr>
          <a:xfrm>
            <a:off x="2275896" y="2138675"/>
            <a:ext cx="6063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7</a:t>
            </a:r>
            <a:endParaRPr sz="2000">
              <a:latin typeface="Times"/>
              <a:ea typeface="Times"/>
              <a:cs typeface="Times"/>
              <a:sym typeface="Times"/>
            </a:endParaRPr>
          </a:p>
        </p:txBody>
      </p:sp>
      <p:sp>
        <p:nvSpPr>
          <p:cNvPr id="811" name="Google Shape;811;p60"/>
          <p:cNvSpPr txBox="1"/>
          <p:nvPr/>
        </p:nvSpPr>
        <p:spPr>
          <a:xfrm>
            <a:off x="4172350" y="1615725"/>
            <a:ext cx="691200" cy="31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5</a:t>
            </a:r>
            <a:endParaRPr sz="2000">
              <a:latin typeface="Times"/>
              <a:ea typeface="Times"/>
              <a:cs typeface="Times"/>
              <a:sym typeface="Times"/>
            </a:endParaRPr>
          </a:p>
        </p:txBody>
      </p:sp>
      <p:sp>
        <p:nvSpPr>
          <p:cNvPr id="812" name="Google Shape;812;p60"/>
          <p:cNvSpPr txBox="1"/>
          <p:nvPr/>
        </p:nvSpPr>
        <p:spPr>
          <a:xfrm>
            <a:off x="6455361" y="1998231"/>
            <a:ext cx="7767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8</a:t>
            </a:r>
            <a:endParaRPr sz="2000">
              <a:latin typeface="Times"/>
              <a:ea typeface="Times"/>
              <a:cs typeface="Times"/>
              <a:sym typeface="Times"/>
            </a:endParaRPr>
          </a:p>
        </p:txBody>
      </p:sp>
      <p:sp>
        <p:nvSpPr>
          <p:cNvPr id="813" name="Google Shape;813;p60"/>
          <p:cNvSpPr txBox="1"/>
          <p:nvPr/>
        </p:nvSpPr>
        <p:spPr>
          <a:xfrm>
            <a:off x="6409239" y="3904471"/>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5</a:t>
            </a:r>
            <a:endParaRPr sz="2000">
              <a:latin typeface="Times"/>
              <a:ea typeface="Times"/>
              <a:cs typeface="Times"/>
              <a:sym typeface="Times"/>
            </a:endParaRPr>
          </a:p>
        </p:txBody>
      </p:sp>
      <p:sp>
        <p:nvSpPr>
          <p:cNvPr id="814" name="Google Shape;814;p60"/>
          <p:cNvSpPr txBox="1"/>
          <p:nvPr/>
        </p:nvSpPr>
        <p:spPr>
          <a:xfrm>
            <a:off x="4333697" y="4454350"/>
            <a:ext cx="6543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2</a:t>
            </a:r>
            <a:endParaRPr sz="2000">
              <a:latin typeface="Times"/>
              <a:ea typeface="Times"/>
              <a:cs typeface="Times"/>
              <a:sym typeface="Times"/>
            </a:endParaRPr>
          </a:p>
        </p:txBody>
      </p:sp>
      <p:sp>
        <p:nvSpPr>
          <p:cNvPr id="815" name="Google Shape;815;p60"/>
          <p:cNvSpPr txBox="1"/>
          <p:nvPr/>
        </p:nvSpPr>
        <p:spPr>
          <a:xfrm>
            <a:off x="3401100" y="2970625"/>
            <a:ext cx="4062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3</a:t>
            </a:r>
            <a:endParaRPr sz="2000">
              <a:latin typeface="Times"/>
              <a:ea typeface="Times"/>
              <a:cs typeface="Times"/>
              <a:sym typeface="Times"/>
            </a:endParaRPr>
          </a:p>
        </p:txBody>
      </p:sp>
      <p:sp>
        <p:nvSpPr>
          <p:cNvPr id="816" name="Google Shape;816;p60"/>
          <p:cNvSpPr txBox="1"/>
          <p:nvPr/>
        </p:nvSpPr>
        <p:spPr>
          <a:xfrm>
            <a:off x="2013073" y="3850640"/>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4</a:t>
            </a:r>
            <a:endParaRPr sz="2000">
              <a:latin typeface="Times"/>
              <a:ea typeface="Times"/>
              <a:cs typeface="Times"/>
              <a:sym typeface="Times"/>
            </a:endParaRPr>
          </a:p>
        </p:txBody>
      </p:sp>
      <p:sp>
        <p:nvSpPr>
          <p:cNvPr id="817" name="Google Shape;817;p60"/>
          <p:cNvSpPr txBox="1"/>
          <p:nvPr/>
        </p:nvSpPr>
        <p:spPr>
          <a:xfrm>
            <a:off x="5754885" y="3058777"/>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3</a:t>
            </a:r>
            <a:endParaRPr sz="2000">
              <a:latin typeface="Times"/>
              <a:ea typeface="Times"/>
              <a:cs typeface="Times"/>
              <a:sym typeface="Times"/>
            </a:endParaRPr>
          </a:p>
        </p:txBody>
      </p:sp>
      <p:cxnSp>
        <p:nvCxnSpPr>
          <p:cNvPr id="818" name="Google Shape;818;p60"/>
          <p:cNvCxnSpPr>
            <a:stCxn id="799" idx="5"/>
            <a:endCxn id="801" idx="1"/>
          </p:cNvCxnSpPr>
          <p:nvPr/>
        </p:nvCxnSpPr>
        <p:spPr>
          <a:xfrm>
            <a:off x="3632436" y="2240415"/>
            <a:ext cx="1842000" cy="1963200"/>
          </a:xfrm>
          <a:prstGeom prst="straightConnector1">
            <a:avLst/>
          </a:prstGeom>
          <a:noFill/>
          <a:ln cap="flat" cmpd="sng" w="9525">
            <a:solidFill>
              <a:schemeClr val="dk2"/>
            </a:solidFill>
            <a:prstDash val="solid"/>
            <a:round/>
            <a:headEnd len="med" w="med" type="none"/>
            <a:tailEnd len="med" w="med" type="triangle"/>
          </a:ln>
        </p:spPr>
      </p:cxnSp>
      <p:cxnSp>
        <p:nvCxnSpPr>
          <p:cNvPr id="819" name="Google Shape;819;p60"/>
          <p:cNvCxnSpPr>
            <a:stCxn id="801" idx="0"/>
            <a:endCxn id="802" idx="4"/>
          </p:cNvCxnSpPr>
          <p:nvPr/>
        </p:nvCxnSpPr>
        <p:spPr>
          <a:xfrm rot="10800000">
            <a:off x="5705822" y="2324742"/>
            <a:ext cx="0" cy="1794600"/>
          </a:xfrm>
          <a:prstGeom prst="straightConnector1">
            <a:avLst/>
          </a:prstGeom>
          <a:noFill/>
          <a:ln cap="flat" cmpd="sng" w="9525">
            <a:solidFill>
              <a:schemeClr val="dk2"/>
            </a:solidFill>
            <a:prstDash val="solid"/>
            <a:round/>
            <a:headEnd len="med" w="med" type="none"/>
            <a:tailEnd len="med" w="med" type="triangle"/>
          </a:ln>
        </p:spPr>
      </p:cxnSp>
      <p:sp>
        <p:nvSpPr>
          <p:cNvPr id="820" name="Google Shape;820;p60"/>
          <p:cNvSpPr txBox="1"/>
          <p:nvPr/>
        </p:nvSpPr>
        <p:spPr>
          <a:xfrm>
            <a:off x="4384457" y="2685825"/>
            <a:ext cx="2766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3</a:t>
            </a:r>
            <a:endParaRPr sz="2000">
              <a:latin typeface="Times"/>
              <a:ea typeface="Times"/>
              <a:cs typeface="Times"/>
              <a:sym typeface="Times"/>
            </a:endParaRPr>
          </a:p>
        </p:txBody>
      </p:sp>
      <p:sp>
        <p:nvSpPr>
          <p:cNvPr id="821" name="Google Shape;821;p60"/>
          <p:cNvSpPr txBox="1"/>
          <p:nvPr/>
        </p:nvSpPr>
        <p:spPr>
          <a:xfrm>
            <a:off x="575500" y="913600"/>
            <a:ext cx="8175000" cy="5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Example 3:</a:t>
            </a:r>
            <a:endParaRPr sz="2000">
              <a:latin typeface="Times"/>
              <a:ea typeface="Times"/>
              <a:cs typeface="Times"/>
              <a:sym typeface="Time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825" name="Shape 825"/>
        <p:cNvGrpSpPr/>
        <p:nvPr/>
      </p:nvGrpSpPr>
      <p:grpSpPr>
        <a:xfrm>
          <a:off x="0" y="0"/>
          <a:ext cx="0" cy="0"/>
          <a:chOff x="0" y="0"/>
          <a:chExt cx="0" cy="0"/>
        </a:xfrm>
      </p:grpSpPr>
      <p:sp>
        <p:nvSpPr>
          <p:cNvPr id="826" name="Google Shape;826;p61"/>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827" name="Google Shape;827;p61"/>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828" name="Google Shape;828;p61"/>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829" name="Google Shape;829;p61"/>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Ford-Fulkerson Algorithm</a:t>
            </a:r>
            <a:endParaRPr b="1" sz="4000">
              <a:latin typeface="Times"/>
              <a:ea typeface="Times"/>
              <a:cs typeface="Times"/>
              <a:sym typeface="Times"/>
            </a:endParaRPr>
          </a:p>
        </p:txBody>
      </p:sp>
      <p:cxnSp>
        <p:nvCxnSpPr>
          <p:cNvPr id="830" name="Google Shape;830;p61"/>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831" name="Google Shape;831;p61"/>
          <p:cNvSpPr txBox="1"/>
          <p:nvPr/>
        </p:nvSpPr>
        <p:spPr>
          <a:xfrm>
            <a:off x="575500" y="913600"/>
            <a:ext cx="8175000" cy="5310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SzPts val="2000"/>
              <a:buFont typeface="Times"/>
              <a:buAutoNum type="arabicPeriod"/>
            </a:pPr>
            <a:r>
              <a:rPr lang="en-GB" sz="2000">
                <a:latin typeface="Times"/>
                <a:ea typeface="Times"/>
                <a:cs typeface="Times"/>
                <a:sym typeface="Times"/>
              </a:rPr>
              <a:t>Initialize all flow to zero </a:t>
            </a:r>
            <a:endParaRPr sz="2000">
              <a:latin typeface="Times"/>
              <a:ea typeface="Times"/>
              <a:cs typeface="Times"/>
              <a:sym typeface="Times"/>
            </a:endParaRPr>
          </a:p>
        </p:txBody>
      </p:sp>
      <p:sp>
        <p:nvSpPr>
          <p:cNvPr id="832" name="Google Shape;832;p61"/>
          <p:cNvSpPr/>
          <p:nvPr/>
        </p:nvSpPr>
        <p:spPr>
          <a:xfrm>
            <a:off x="1496300" y="2894064"/>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s</a:t>
            </a:r>
            <a:endParaRPr sz="3000">
              <a:latin typeface="Times"/>
              <a:ea typeface="Times"/>
              <a:cs typeface="Times"/>
              <a:sym typeface="Times"/>
            </a:endParaRPr>
          </a:p>
        </p:txBody>
      </p:sp>
      <p:sp>
        <p:nvSpPr>
          <p:cNvPr id="833" name="Google Shape;833;p61"/>
          <p:cNvSpPr/>
          <p:nvPr/>
        </p:nvSpPr>
        <p:spPr>
          <a:xfrm>
            <a:off x="7064682" y="289408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t</a:t>
            </a:r>
            <a:endParaRPr sz="3000">
              <a:latin typeface="Times"/>
              <a:ea typeface="Times"/>
              <a:cs typeface="Times"/>
              <a:sym typeface="Times"/>
            </a:endParaRPr>
          </a:p>
        </p:txBody>
      </p:sp>
      <p:sp>
        <p:nvSpPr>
          <p:cNvPr id="834" name="Google Shape;834;p61"/>
          <p:cNvSpPr/>
          <p:nvPr/>
        </p:nvSpPr>
        <p:spPr>
          <a:xfrm>
            <a:off x="3073956" y="159611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A</a:t>
            </a:r>
            <a:endParaRPr sz="3000">
              <a:latin typeface="Times"/>
              <a:ea typeface="Times"/>
              <a:cs typeface="Times"/>
              <a:sym typeface="Times"/>
            </a:endParaRPr>
          </a:p>
        </p:txBody>
      </p:sp>
      <p:sp>
        <p:nvSpPr>
          <p:cNvPr id="835" name="Google Shape;835;p61"/>
          <p:cNvSpPr/>
          <p:nvPr/>
        </p:nvSpPr>
        <p:spPr>
          <a:xfrm>
            <a:off x="3073956" y="396694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D</a:t>
            </a:r>
            <a:endParaRPr sz="3000">
              <a:latin typeface="Times"/>
              <a:ea typeface="Times"/>
              <a:cs typeface="Times"/>
              <a:sym typeface="Times"/>
            </a:endParaRPr>
          </a:p>
        </p:txBody>
      </p:sp>
      <p:sp>
        <p:nvSpPr>
          <p:cNvPr id="836" name="Google Shape;836;p61"/>
          <p:cNvSpPr/>
          <p:nvPr/>
        </p:nvSpPr>
        <p:spPr>
          <a:xfrm>
            <a:off x="5378672" y="396694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C</a:t>
            </a:r>
            <a:endParaRPr sz="3000">
              <a:latin typeface="Times"/>
              <a:ea typeface="Times"/>
              <a:cs typeface="Times"/>
              <a:sym typeface="Times"/>
            </a:endParaRPr>
          </a:p>
        </p:txBody>
      </p:sp>
      <p:sp>
        <p:nvSpPr>
          <p:cNvPr id="837" name="Google Shape;837;p61"/>
          <p:cNvSpPr/>
          <p:nvPr/>
        </p:nvSpPr>
        <p:spPr>
          <a:xfrm>
            <a:off x="5378672" y="1596094"/>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B</a:t>
            </a:r>
            <a:endParaRPr sz="3000">
              <a:latin typeface="Times"/>
              <a:ea typeface="Times"/>
              <a:cs typeface="Times"/>
              <a:sym typeface="Times"/>
            </a:endParaRPr>
          </a:p>
        </p:txBody>
      </p:sp>
      <p:cxnSp>
        <p:nvCxnSpPr>
          <p:cNvPr id="838" name="Google Shape;838;p61"/>
          <p:cNvCxnSpPr>
            <a:stCxn id="832" idx="7"/>
            <a:endCxn id="834" idx="3"/>
          </p:cNvCxnSpPr>
          <p:nvPr/>
        </p:nvCxnSpPr>
        <p:spPr>
          <a:xfrm flipH="1" rot="10800000">
            <a:off x="2054780" y="2088061"/>
            <a:ext cx="1115100" cy="890400"/>
          </a:xfrm>
          <a:prstGeom prst="straightConnector1">
            <a:avLst/>
          </a:prstGeom>
          <a:noFill/>
          <a:ln cap="flat" cmpd="sng" w="9525">
            <a:solidFill>
              <a:schemeClr val="dk2"/>
            </a:solidFill>
            <a:prstDash val="solid"/>
            <a:round/>
            <a:headEnd len="med" w="med" type="none"/>
            <a:tailEnd len="med" w="med" type="triangle"/>
          </a:ln>
        </p:spPr>
      </p:cxnSp>
      <p:cxnSp>
        <p:nvCxnSpPr>
          <p:cNvPr id="839" name="Google Shape;839;p61"/>
          <p:cNvCxnSpPr>
            <a:stCxn id="834" idx="6"/>
            <a:endCxn id="837" idx="2"/>
          </p:cNvCxnSpPr>
          <p:nvPr/>
        </p:nvCxnSpPr>
        <p:spPr>
          <a:xfrm>
            <a:off x="3728256" y="1884262"/>
            <a:ext cx="1650300" cy="0"/>
          </a:xfrm>
          <a:prstGeom prst="straightConnector1">
            <a:avLst/>
          </a:prstGeom>
          <a:noFill/>
          <a:ln cap="flat" cmpd="sng" w="9525">
            <a:solidFill>
              <a:schemeClr val="dk2"/>
            </a:solidFill>
            <a:prstDash val="solid"/>
            <a:round/>
            <a:headEnd len="med" w="med" type="none"/>
            <a:tailEnd len="med" w="med" type="triangle"/>
          </a:ln>
        </p:spPr>
      </p:cxnSp>
      <p:cxnSp>
        <p:nvCxnSpPr>
          <p:cNvPr id="840" name="Google Shape;840;p61"/>
          <p:cNvCxnSpPr>
            <a:stCxn id="837" idx="6"/>
            <a:endCxn id="833" idx="1"/>
          </p:cNvCxnSpPr>
          <p:nvPr/>
        </p:nvCxnSpPr>
        <p:spPr>
          <a:xfrm>
            <a:off x="6032972" y="1884244"/>
            <a:ext cx="1127400" cy="1094100"/>
          </a:xfrm>
          <a:prstGeom prst="straightConnector1">
            <a:avLst/>
          </a:prstGeom>
          <a:noFill/>
          <a:ln cap="flat" cmpd="sng" w="9525">
            <a:solidFill>
              <a:schemeClr val="dk2"/>
            </a:solidFill>
            <a:prstDash val="solid"/>
            <a:round/>
            <a:headEnd len="med" w="med" type="none"/>
            <a:tailEnd len="med" w="med" type="triangle"/>
          </a:ln>
        </p:spPr>
      </p:cxnSp>
      <p:cxnSp>
        <p:nvCxnSpPr>
          <p:cNvPr id="841" name="Google Shape;841;p61"/>
          <p:cNvCxnSpPr>
            <a:stCxn id="832" idx="5"/>
            <a:endCxn id="835" idx="1"/>
          </p:cNvCxnSpPr>
          <p:nvPr/>
        </p:nvCxnSpPr>
        <p:spPr>
          <a:xfrm>
            <a:off x="2054780" y="3385967"/>
            <a:ext cx="1115100" cy="665400"/>
          </a:xfrm>
          <a:prstGeom prst="straightConnector1">
            <a:avLst/>
          </a:prstGeom>
          <a:noFill/>
          <a:ln cap="flat" cmpd="sng" w="9525">
            <a:solidFill>
              <a:schemeClr val="dk2"/>
            </a:solidFill>
            <a:prstDash val="solid"/>
            <a:round/>
            <a:headEnd len="med" w="med" type="none"/>
            <a:tailEnd len="med" w="med" type="triangle"/>
          </a:ln>
        </p:spPr>
      </p:cxnSp>
      <p:cxnSp>
        <p:nvCxnSpPr>
          <p:cNvPr id="842" name="Google Shape;842;p61"/>
          <p:cNvCxnSpPr>
            <a:stCxn id="835" idx="6"/>
            <a:endCxn id="836" idx="2"/>
          </p:cNvCxnSpPr>
          <p:nvPr/>
        </p:nvCxnSpPr>
        <p:spPr>
          <a:xfrm>
            <a:off x="3728256" y="4255092"/>
            <a:ext cx="1650300" cy="0"/>
          </a:xfrm>
          <a:prstGeom prst="straightConnector1">
            <a:avLst/>
          </a:prstGeom>
          <a:noFill/>
          <a:ln cap="flat" cmpd="sng" w="9525">
            <a:solidFill>
              <a:schemeClr val="dk2"/>
            </a:solidFill>
            <a:prstDash val="solid"/>
            <a:round/>
            <a:headEnd len="med" w="med" type="none"/>
            <a:tailEnd len="med" w="med" type="triangle"/>
          </a:ln>
        </p:spPr>
      </p:cxnSp>
      <p:cxnSp>
        <p:nvCxnSpPr>
          <p:cNvPr id="843" name="Google Shape;843;p61"/>
          <p:cNvCxnSpPr>
            <a:stCxn id="836" idx="6"/>
            <a:endCxn id="833" idx="3"/>
          </p:cNvCxnSpPr>
          <p:nvPr/>
        </p:nvCxnSpPr>
        <p:spPr>
          <a:xfrm flipH="1" rot="10800000">
            <a:off x="6032972" y="3385992"/>
            <a:ext cx="1127400" cy="869100"/>
          </a:xfrm>
          <a:prstGeom prst="straightConnector1">
            <a:avLst/>
          </a:prstGeom>
          <a:noFill/>
          <a:ln cap="flat" cmpd="sng" w="9525">
            <a:solidFill>
              <a:schemeClr val="dk2"/>
            </a:solidFill>
            <a:prstDash val="solid"/>
            <a:round/>
            <a:headEnd len="med" w="med" type="none"/>
            <a:tailEnd len="med" w="med" type="triangle"/>
          </a:ln>
        </p:spPr>
      </p:cxnSp>
      <p:cxnSp>
        <p:nvCxnSpPr>
          <p:cNvPr id="844" name="Google Shape;844;p61"/>
          <p:cNvCxnSpPr>
            <a:stCxn id="835" idx="0"/>
            <a:endCxn id="834" idx="4"/>
          </p:cNvCxnSpPr>
          <p:nvPr/>
        </p:nvCxnSpPr>
        <p:spPr>
          <a:xfrm rot="10800000">
            <a:off x="3401106" y="2172342"/>
            <a:ext cx="0" cy="1794600"/>
          </a:xfrm>
          <a:prstGeom prst="straightConnector1">
            <a:avLst/>
          </a:prstGeom>
          <a:noFill/>
          <a:ln cap="flat" cmpd="sng" w="9525">
            <a:solidFill>
              <a:schemeClr val="dk2"/>
            </a:solidFill>
            <a:prstDash val="solid"/>
            <a:round/>
            <a:headEnd len="med" w="med" type="none"/>
            <a:tailEnd len="med" w="med" type="triangle"/>
          </a:ln>
        </p:spPr>
      </p:cxnSp>
      <p:sp>
        <p:nvSpPr>
          <p:cNvPr id="845" name="Google Shape;845;p61"/>
          <p:cNvSpPr txBox="1"/>
          <p:nvPr/>
        </p:nvSpPr>
        <p:spPr>
          <a:xfrm>
            <a:off x="2275896" y="1986275"/>
            <a:ext cx="6063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7</a:t>
            </a:r>
            <a:endParaRPr sz="2000">
              <a:latin typeface="Times"/>
              <a:ea typeface="Times"/>
              <a:cs typeface="Times"/>
              <a:sym typeface="Times"/>
            </a:endParaRPr>
          </a:p>
        </p:txBody>
      </p:sp>
      <p:sp>
        <p:nvSpPr>
          <p:cNvPr id="846" name="Google Shape;846;p61"/>
          <p:cNvSpPr txBox="1"/>
          <p:nvPr/>
        </p:nvSpPr>
        <p:spPr>
          <a:xfrm>
            <a:off x="4172350" y="1463325"/>
            <a:ext cx="691200" cy="31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5</a:t>
            </a:r>
            <a:endParaRPr sz="2000">
              <a:latin typeface="Times"/>
              <a:ea typeface="Times"/>
              <a:cs typeface="Times"/>
              <a:sym typeface="Times"/>
            </a:endParaRPr>
          </a:p>
        </p:txBody>
      </p:sp>
      <p:sp>
        <p:nvSpPr>
          <p:cNvPr id="847" name="Google Shape;847;p61"/>
          <p:cNvSpPr txBox="1"/>
          <p:nvPr/>
        </p:nvSpPr>
        <p:spPr>
          <a:xfrm>
            <a:off x="6455361" y="1845831"/>
            <a:ext cx="7767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8</a:t>
            </a:r>
            <a:endParaRPr sz="2000">
              <a:latin typeface="Times"/>
              <a:ea typeface="Times"/>
              <a:cs typeface="Times"/>
              <a:sym typeface="Times"/>
            </a:endParaRPr>
          </a:p>
        </p:txBody>
      </p:sp>
      <p:sp>
        <p:nvSpPr>
          <p:cNvPr id="848" name="Google Shape;848;p61"/>
          <p:cNvSpPr txBox="1"/>
          <p:nvPr/>
        </p:nvSpPr>
        <p:spPr>
          <a:xfrm>
            <a:off x="6409239" y="3752071"/>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5</a:t>
            </a:r>
            <a:endParaRPr sz="2000">
              <a:latin typeface="Times"/>
              <a:ea typeface="Times"/>
              <a:cs typeface="Times"/>
              <a:sym typeface="Times"/>
            </a:endParaRPr>
          </a:p>
        </p:txBody>
      </p:sp>
      <p:sp>
        <p:nvSpPr>
          <p:cNvPr id="849" name="Google Shape;849;p61"/>
          <p:cNvSpPr txBox="1"/>
          <p:nvPr/>
        </p:nvSpPr>
        <p:spPr>
          <a:xfrm>
            <a:off x="4333697" y="4301950"/>
            <a:ext cx="6543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2</a:t>
            </a:r>
            <a:endParaRPr sz="2000">
              <a:latin typeface="Times"/>
              <a:ea typeface="Times"/>
              <a:cs typeface="Times"/>
              <a:sym typeface="Times"/>
            </a:endParaRPr>
          </a:p>
        </p:txBody>
      </p:sp>
      <p:sp>
        <p:nvSpPr>
          <p:cNvPr id="850" name="Google Shape;850;p61"/>
          <p:cNvSpPr txBox="1"/>
          <p:nvPr/>
        </p:nvSpPr>
        <p:spPr>
          <a:xfrm>
            <a:off x="3401100" y="2818225"/>
            <a:ext cx="5793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3</a:t>
            </a:r>
            <a:endParaRPr sz="2000">
              <a:latin typeface="Times"/>
              <a:ea typeface="Times"/>
              <a:cs typeface="Times"/>
              <a:sym typeface="Times"/>
            </a:endParaRPr>
          </a:p>
        </p:txBody>
      </p:sp>
      <p:sp>
        <p:nvSpPr>
          <p:cNvPr id="851" name="Google Shape;851;p61"/>
          <p:cNvSpPr txBox="1"/>
          <p:nvPr/>
        </p:nvSpPr>
        <p:spPr>
          <a:xfrm>
            <a:off x="2013073" y="3698240"/>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4</a:t>
            </a:r>
            <a:endParaRPr sz="2000">
              <a:latin typeface="Times"/>
              <a:ea typeface="Times"/>
              <a:cs typeface="Times"/>
              <a:sym typeface="Times"/>
            </a:endParaRPr>
          </a:p>
        </p:txBody>
      </p:sp>
      <p:sp>
        <p:nvSpPr>
          <p:cNvPr id="852" name="Google Shape;852;p61"/>
          <p:cNvSpPr txBox="1"/>
          <p:nvPr/>
        </p:nvSpPr>
        <p:spPr>
          <a:xfrm>
            <a:off x="5754885" y="2906377"/>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3</a:t>
            </a:r>
            <a:endParaRPr sz="2000">
              <a:latin typeface="Times"/>
              <a:ea typeface="Times"/>
              <a:cs typeface="Times"/>
              <a:sym typeface="Times"/>
            </a:endParaRPr>
          </a:p>
        </p:txBody>
      </p:sp>
      <p:cxnSp>
        <p:nvCxnSpPr>
          <p:cNvPr id="853" name="Google Shape;853;p61"/>
          <p:cNvCxnSpPr>
            <a:stCxn id="834" idx="5"/>
            <a:endCxn id="836" idx="1"/>
          </p:cNvCxnSpPr>
          <p:nvPr/>
        </p:nvCxnSpPr>
        <p:spPr>
          <a:xfrm>
            <a:off x="3632436" y="2088015"/>
            <a:ext cx="1842000" cy="1963200"/>
          </a:xfrm>
          <a:prstGeom prst="straightConnector1">
            <a:avLst/>
          </a:prstGeom>
          <a:noFill/>
          <a:ln cap="flat" cmpd="sng" w="9525">
            <a:solidFill>
              <a:schemeClr val="dk2"/>
            </a:solidFill>
            <a:prstDash val="solid"/>
            <a:round/>
            <a:headEnd len="med" w="med" type="none"/>
            <a:tailEnd len="med" w="med" type="triangle"/>
          </a:ln>
        </p:spPr>
      </p:cxnSp>
      <p:sp>
        <p:nvSpPr>
          <p:cNvPr id="854" name="Google Shape;854;p61"/>
          <p:cNvSpPr txBox="1"/>
          <p:nvPr/>
        </p:nvSpPr>
        <p:spPr>
          <a:xfrm>
            <a:off x="4384452" y="2533425"/>
            <a:ext cx="6543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0</a:t>
            </a:r>
            <a:r>
              <a:rPr lang="en-GB" sz="2000">
                <a:solidFill>
                  <a:srgbClr val="4A86E8"/>
                </a:solidFill>
                <a:latin typeface="Times"/>
                <a:ea typeface="Times"/>
                <a:cs typeface="Times"/>
                <a:sym typeface="Times"/>
              </a:rPr>
              <a:t>/</a:t>
            </a:r>
            <a:r>
              <a:rPr lang="en-GB" sz="2000">
                <a:latin typeface="Times"/>
                <a:ea typeface="Times"/>
                <a:cs typeface="Times"/>
                <a:sym typeface="Times"/>
              </a:rPr>
              <a:t>3</a:t>
            </a:r>
            <a:endParaRPr sz="2000">
              <a:latin typeface="Times"/>
              <a:ea typeface="Times"/>
              <a:cs typeface="Times"/>
              <a:sym typeface="Times"/>
            </a:endParaRPr>
          </a:p>
        </p:txBody>
      </p:sp>
      <p:cxnSp>
        <p:nvCxnSpPr>
          <p:cNvPr id="855" name="Google Shape;855;p61"/>
          <p:cNvCxnSpPr>
            <a:stCxn id="836" idx="0"/>
            <a:endCxn id="837" idx="4"/>
          </p:cNvCxnSpPr>
          <p:nvPr/>
        </p:nvCxnSpPr>
        <p:spPr>
          <a:xfrm rot="10800000">
            <a:off x="5705822" y="2172342"/>
            <a:ext cx="0" cy="1794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859" name="Shape 859"/>
        <p:cNvGrpSpPr/>
        <p:nvPr/>
      </p:nvGrpSpPr>
      <p:grpSpPr>
        <a:xfrm>
          <a:off x="0" y="0"/>
          <a:ext cx="0" cy="0"/>
          <a:chOff x="0" y="0"/>
          <a:chExt cx="0" cy="0"/>
        </a:xfrm>
      </p:grpSpPr>
      <p:sp>
        <p:nvSpPr>
          <p:cNvPr id="860" name="Google Shape;860;p62"/>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861" name="Google Shape;861;p62"/>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862" name="Google Shape;862;p62"/>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863" name="Google Shape;863;p62"/>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Ford-Fulkerson Algorithm</a:t>
            </a:r>
            <a:endParaRPr b="1" sz="4000">
              <a:latin typeface="Times"/>
              <a:ea typeface="Times"/>
              <a:cs typeface="Times"/>
              <a:sym typeface="Times"/>
            </a:endParaRPr>
          </a:p>
        </p:txBody>
      </p:sp>
      <p:cxnSp>
        <p:nvCxnSpPr>
          <p:cNvPr id="864" name="Google Shape;864;p62"/>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865" name="Google Shape;865;p62"/>
          <p:cNvSpPr txBox="1"/>
          <p:nvPr/>
        </p:nvSpPr>
        <p:spPr>
          <a:xfrm>
            <a:off x="575500" y="913600"/>
            <a:ext cx="8175000" cy="39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2. Finding Augmenting paths and Repeat</a:t>
            </a:r>
            <a:endParaRPr sz="2000">
              <a:latin typeface="Times"/>
              <a:ea typeface="Times"/>
              <a:cs typeface="Times"/>
              <a:sym typeface="Times"/>
            </a:endParaRPr>
          </a:p>
          <a:p>
            <a:pPr indent="-355600" lvl="0" marL="630000" rtl="0" algn="l">
              <a:spcBef>
                <a:spcPts val="0"/>
              </a:spcBef>
              <a:spcAft>
                <a:spcPts val="0"/>
              </a:spcAft>
              <a:buSzPts val="2000"/>
              <a:buFont typeface="Times"/>
              <a:buChar char="●"/>
            </a:pPr>
            <a:r>
              <a:rPr lang="en-GB" sz="2000">
                <a:latin typeface="Times"/>
                <a:ea typeface="Times"/>
                <a:cs typeface="Times"/>
                <a:sym typeface="Times"/>
              </a:rPr>
              <a:t>Initial path: s⟶A⟶B⟶t </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Residual Capacity: min(7, 5, 8) = 5</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Augment flow: f(s,A) = f(A,B) = f(B,t) = 5;</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Flow: 5</a:t>
            </a:r>
            <a:endParaRPr sz="2000">
              <a:latin typeface="Times"/>
              <a:ea typeface="Times"/>
              <a:cs typeface="Times"/>
              <a:sym typeface="Times"/>
            </a:endParaRPr>
          </a:p>
          <a:p>
            <a:pPr indent="-355600" lvl="0" marL="630000" rtl="0" algn="l">
              <a:spcBef>
                <a:spcPts val="0"/>
              </a:spcBef>
              <a:spcAft>
                <a:spcPts val="0"/>
              </a:spcAft>
              <a:buSzPts val="2000"/>
              <a:buFont typeface="Times"/>
              <a:buChar char="●"/>
            </a:pPr>
            <a:r>
              <a:rPr lang="en-GB" sz="2000">
                <a:latin typeface="Times"/>
                <a:ea typeface="Times"/>
                <a:cs typeface="Times"/>
                <a:sym typeface="Times"/>
              </a:rPr>
              <a:t>Next path: s⟶D⟶C⟶t </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Residual Capacity: min(4, 2, 5) = 2</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Augment flow: f(s,C) = f(c,D) = f(D,t) = 2;</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Flow:  5 + 2 = 7</a:t>
            </a:r>
            <a:endParaRPr sz="2000">
              <a:latin typeface="Times"/>
              <a:ea typeface="Times"/>
              <a:cs typeface="Times"/>
              <a:sym typeface="Time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869" name="Shape 869"/>
        <p:cNvGrpSpPr/>
        <p:nvPr/>
      </p:nvGrpSpPr>
      <p:grpSpPr>
        <a:xfrm>
          <a:off x="0" y="0"/>
          <a:ext cx="0" cy="0"/>
          <a:chOff x="0" y="0"/>
          <a:chExt cx="0" cy="0"/>
        </a:xfrm>
      </p:grpSpPr>
      <p:sp>
        <p:nvSpPr>
          <p:cNvPr id="870" name="Google Shape;870;p63"/>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871" name="Google Shape;871;p63"/>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872" name="Google Shape;872;p63"/>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873" name="Google Shape;873;p63"/>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Ford-Fulkerson Algorithm</a:t>
            </a:r>
            <a:endParaRPr b="1" sz="4000">
              <a:latin typeface="Times"/>
              <a:ea typeface="Times"/>
              <a:cs typeface="Times"/>
              <a:sym typeface="Times"/>
            </a:endParaRPr>
          </a:p>
        </p:txBody>
      </p:sp>
      <p:cxnSp>
        <p:nvCxnSpPr>
          <p:cNvPr id="874" name="Google Shape;874;p63"/>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875" name="Google Shape;875;p63"/>
          <p:cNvSpPr txBox="1"/>
          <p:nvPr/>
        </p:nvSpPr>
        <p:spPr>
          <a:xfrm>
            <a:off x="575500" y="913600"/>
            <a:ext cx="8175000" cy="39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2. Finding Augmenting paths and Repeat(contd…)</a:t>
            </a:r>
            <a:endParaRPr sz="2000">
              <a:latin typeface="Times"/>
              <a:ea typeface="Times"/>
              <a:cs typeface="Times"/>
              <a:sym typeface="Times"/>
            </a:endParaRPr>
          </a:p>
          <a:p>
            <a:pPr indent="-355600" lvl="0" marL="630000" rtl="0" algn="l">
              <a:spcBef>
                <a:spcPts val="0"/>
              </a:spcBef>
              <a:spcAft>
                <a:spcPts val="0"/>
              </a:spcAft>
              <a:buSzPts val="2000"/>
              <a:buFont typeface="Times"/>
              <a:buChar char="●"/>
            </a:pPr>
            <a:r>
              <a:rPr lang="en-GB" sz="2000">
                <a:latin typeface="Times"/>
                <a:ea typeface="Times"/>
                <a:cs typeface="Times"/>
                <a:sym typeface="Times"/>
              </a:rPr>
              <a:t>Next path: s⟶A⟶C⟶B⟶t </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Residual Capacity: min(2, 3, 3, 3) = 2</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Augment flow: f(s,A) = 7; f(A,C) = f(C,B) = 2; f(B ,t) = 7;</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Flow:  7+2=9</a:t>
            </a:r>
            <a:endParaRPr sz="2000">
              <a:latin typeface="Times"/>
              <a:ea typeface="Times"/>
              <a:cs typeface="Times"/>
              <a:sym typeface="Times"/>
            </a:endParaRPr>
          </a:p>
          <a:p>
            <a:pPr indent="-355600" lvl="0" marL="630000" rtl="0" algn="l">
              <a:spcBef>
                <a:spcPts val="0"/>
              </a:spcBef>
              <a:spcAft>
                <a:spcPts val="0"/>
              </a:spcAft>
              <a:buSzPts val="2000"/>
              <a:buFont typeface="Times"/>
              <a:buChar char="●"/>
            </a:pPr>
            <a:r>
              <a:rPr lang="en-GB" sz="2000">
                <a:latin typeface="Times"/>
                <a:ea typeface="Times"/>
                <a:cs typeface="Times"/>
                <a:sym typeface="Times"/>
              </a:rPr>
              <a:t>Next path: s⟶D⟶A⟶C⟶t</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Residual Capacity: min(2,3,1,3) = 1</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Augment flow: f(s,D) = 3; f(D,A) = 1; f(A,C) = 3; f(C,t) = 3</a:t>
            </a:r>
            <a:endParaRPr sz="2000">
              <a:latin typeface="Times"/>
              <a:ea typeface="Times"/>
              <a:cs typeface="Times"/>
              <a:sym typeface="Times"/>
            </a:endParaRPr>
          </a:p>
          <a:p>
            <a:pPr indent="-355600" lvl="1" marL="990001" rtl="0" algn="l">
              <a:spcBef>
                <a:spcPts val="0"/>
              </a:spcBef>
              <a:spcAft>
                <a:spcPts val="0"/>
              </a:spcAft>
              <a:buSzPts val="2000"/>
              <a:buFont typeface="Times"/>
              <a:buChar char="○"/>
            </a:pPr>
            <a:r>
              <a:rPr lang="en-GB" sz="2000">
                <a:latin typeface="Times"/>
                <a:ea typeface="Times"/>
                <a:cs typeface="Times"/>
                <a:sym typeface="Times"/>
              </a:rPr>
              <a:t>Flow: 9+1 = 10</a:t>
            </a:r>
            <a:endParaRPr sz="2000">
              <a:latin typeface="Times"/>
              <a:ea typeface="Times"/>
              <a:cs typeface="Times"/>
              <a:sym typeface="Times"/>
            </a:endParaRPr>
          </a:p>
          <a:p>
            <a:pPr indent="0" lvl="0" marL="0" rtl="0" algn="l">
              <a:spcBef>
                <a:spcPts val="900"/>
              </a:spcBef>
              <a:spcAft>
                <a:spcPts val="900"/>
              </a:spcAft>
              <a:buNone/>
            </a:pPr>
            <a:r>
              <a:rPr lang="en-GB" sz="2000">
                <a:latin typeface="Times"/>
                <a:ea typeface="Times"/>
                <a:cs typeface="Times"/>
                <a:sym typeface="Times"/>
              </a:rPr>
              <a:t>The </a:t>
            </a:r>
            <a:r>
              <a:rPr b="1" lang="en-GB" sz="2000">
                <a:latin typeface="Times"/>
                <a:ea typeface="Times"/>
                <a:cs typeface="Times"/>
                <a:sym typeface="Times"/>
              </a:rPr>
              <a:t>maximum flow</a:t>
            </a:r>
            <a:r>
              <a:rPr lang="en-GB" sz="2000">
                <a:latin typeface="Times"/>
                <a:ea typeface="Times"/>
                <a:cs typeface="Times"/>
                <a:sym typeface="Times"/>
              </a:rPr>
              <a:t> from s to t in this flow network is: </a:t>
            </a:r>
            <a:r>
              <a:rPr b="1" lang="en-GB" sz="2000">
                <a:latin typeface="Times"/>
                <a:ea typeface="Times"/>
                <a:cs typeface="Times"/>
                <a:sym typeface="Times"/>
              </a:rPr>
              <a:t>10</a:t>
            </a:r>
            <a:endParaRPr sz="2000">
              <a:latin typeface="Times"/>
              <a:ea typeface="Times"/>
              <a:cs typeface="Times"/>
              <a:sym typeface="Time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879" name="Shape 879"/>
        <p:cNvGrpSpPr/>
        <p:nvPr/>
      </p:nvGrpSpPr>
      <p:grpSpPr>
        <a:xfrm>
          <a:off x="0" y="0"/>
          <a:ext cx="0" cy="0"/>
          <a:chOff x="0" y="0"/>
          <a:chExt cx="0" cy="0"/>
        </a:xfrm>
      </p:grpSpPr>
      <p:sp>
        <p:nvSpPr>
          <p:cNvPr id="880" name="Google Shape;880;p64"/>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881" name="Google Shape;881;p64"/>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882" name="Google Shape;882;p64"/>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883" name="Google Shape;883;p64"/>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Ford-Fulkerson Algorithm</a:t>
            </a:r>
            <a:endParaRPr b="1" sz="4000">
              <a:latin typeface="Times"/>
              <a:ea typeface="Times"/>
              <a:cs typeface="Times"/>
              <a:sym typeface="Times"/>
            </a:endParaRPr>
          </a:p>
        </p:txBody>
      </p:sp>
      <p:cxnSp>
        <p:nvCxnSpPr>
          <p:cNvPr id="884" name="Google Shape;884;p64"/>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885" name="Google Shape;885;p64"/>
          <p:cNvSpPr txBox="1"/>
          <p:nvPr/>
        </p:nvSpPr>
        <p:spPr>
          <a:xfrm>
            <a:off x="575500" y="913600"/>
            <a:ext cx="8175000" cy="5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Solution:</a:t>
            </a:r>
            <a:endParaRPr sz="2000">
              <a:latin typeface="Times"/>
              <a:ea typeface="Times"/>
              <a:cs typeface="Times"/>
              <a:sym typeface="Times"/>
            </a:endParaRPr>
          </a:p>
        </p:txBody>
      </p:sp>
      <p:sp>
        <p:nvSpPr>
          <p:cNvPr id="886" name="Google Shape;886;p64"/>
          <p:cNvSpPr/>
          <p:nvPr/>
        </p:nvSpPr>
        <p:spPr>
          <a:xfrm>
            <a:off x="1496300" y="2741664"/>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s</a:t>
            </a:r>
            <a:endParaRPr sz="3000">
              <a:latin typeface="Times"/>
              <a:ea typeface="Times"/>
              <a:cs typeface="Times"/>
              <a:sym typeface="Times"/>
            </a:endParaRPr>
          </a:p>
        </p:txBody>
      </p:sp>
      <p:sp>
        <p:nvSpPr>
          <p:cNvPr id="887" name="Google Shape;887;p64"/>
          <p:cNvSpPr/>
          <p:nvPr/>
        </p:nvSpPr>
        <p:spPr>
          <a:xfrm>
            <a:off x="7064682" y="274168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t</a:t>
            </a:r>
            <a:endParaRPr sz="3000">
              <a:latin typeface="Times"/>
              <a:ea typeface="Times"/>
              <a:cs typeface="Times"/>
              <a:sym typeface="Times"/>
            </a:endParaRPr>
          </a:p>
        </p:txBody>
      </p:sp>
      <p:sp>
        <p:nvSpPr>
          <p:cNvPr id="888" name="Google Shape;888;p64"/>
          <p:cNvSpPr/>
          <p:nvPr/>
        </p:nvSpPr>
        <p:spPr>
          <a:xfrm>
            <a:off x="3073956" y="144371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A</a:t>
            </a:r>
            <a:endParaRPr sz="3000">
              <a:latin typeface="Times"/>
              <a:ea typeface="Times"/>
              <a:cs typeface="Times"/>
              <a:sym typeface="Times"/>
            </a:endParaRPr>
          </a:p>
        </p:txBody>
      </p:sp>
      <p:sp>
        <p:nvSpPr>
          <p:cNvPr id="889" name="Google Shape;889;p64"/>
          <p:cNvSpPr/>
          <p:nvPr/>
        </p:nvSpPr>
        <p:spPr>
          <a:xfrm>
            <a:off x="3073956" y="381454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D</a:t>
            </a:r>
            <a:endParaRPr sz="3000">
              <a:latin typeface="Times"/>
              <a:ea typeface="Times"/>
              <a:cs typeface="Times"/>
              <a:sym typeface="Times"/>
            </a:endParaRPr>
          </a:p>
        </p:txBody>
      </p:sp>
      <p:sp>
        <p:nvSpPr>
          <p:cNvPr id="890" name="Google Shape;890;p64"/>
          <p:cNvSpPr/>
          <p:nvPr/>
        </p:nvSpPr>
        <p:spPr>
          <a:xfrm>
            <a:off x="5378672" y="3814542"/>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C</a:t>
            </a:r>
            <a:endParaRPr sz="3000">
              <a:latin typeface="Times"/>
              <a:ea typeface="Times"/>
              <a:cs typeface="Times"/>
              <a:sym typeface="Times"/>
            </a:endParaRPr>
          </a:p>
        </p:txBody>
      </p:sp>
      <p:sp>
        <p:nvSpPr>
          <p:cNvPr id="891" name="Google Shape;891;p64"/>
          <p:cNvSpPr/>
          <p:nvPr/>
        </p:nvSpPr>
        <p:spPr>
          <a:xfrm>
            <a:off x="5378672" y="1443694"/>
            <a:ext cx="654300" cy="576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000">
                <a:latin typeface="Times"/>
                <a:ea typeface="Times"/>
                <a:cs typeface="Times"/>
                <a:sym typeface="Times"/>
              </a:rPr>
              <a:t>B</a:t>
            </a:r>
            <a:endParaRPr sz="3000">
              <a:latin typeface="Times"/>
              <a:ea typeface="Times"/>
              <a:cs typeface="Times"/>
              <a:sym typeface="Times"/>
            </a:endParaRPr>
          </a:p>
        </p:txBody>
      </p:sp>
      <p:cxnSp>
        <p:nvCxnSpPr>
          <p:cNvPr id="892" name="Google Shape;892;p64"/>
          <p:cNvCxnSpPr>
            <a:stCxn id="886" idx="7"/>
            <a:endCxn id="888" idx="3"/>
          </p:cNvCxnSpPr>
          <p:nvPr/>
        </p:nvCxnSpPr>
        <p:spPr>
          <a:xfrm flipH="1" rot="10800000">
            <a:off x="2054780" y="1935661"/>
            <a:ext cx="1115100" cy="890400"/>
          </a:xfrm>
          <a:prstGeom prst="straightConnector1">
            <a:avLst/>
          </a:prstGeom>
          <a:noFill/>
          <a:ln cap="flat" cmpd="sng" w="9525">
            <a:solidFill>
              <a:schemeClr val="dk2"/>
            </a:solidFill>
            <a:prstDash val="solid"/>
            <a:round/>
            <a:headEnd len="med" w="med" type="none"/>
            <a:tailEnd len="med" w="med" type="triangle"/>
          </a:ln>
        </p:spPr>
      </p:cxnSp>
      <p:cxnSp>
        <p:nvCxnSpPr>
          <p:cNvPr id="893" name="Google Shape;893;p64"/>
          <p:cNvCxnSpPr>
            <a:stCxn id="888" idx="6"/>
            <a:endCxn id="891" idx="2"/>
          </p:cNvCxnSpPr>
          <p:nvPr/>
        </p:nvCxnSpPr>
        <p:spPr>
          <a:xfrm>
            <a:off x="3728256" y="1731862"/>
            <a:ext cx="1650300" cy="0"/>
          </a:xfrm>
          <a:prstGeom prst="straightConnector1">
            <a:avLst/>
          </a:prstGeom>
          <a:noFill/>
          <a:ln cap="flat" cmpd="sng" w="9525">
            <a:solidFill>
              <a:schemeClr val="dk2"/>
            </a:solidFill>
            <a:prstDash val="solid"/>
            <a:round/>
            <a:headEnd len="med" w="med" type="none"/>
            <a:tailEnd len="med" w="med" type="triangle"/>
          </a:ln>
        </p:spPr>
      </p:cxnSp>
      <p:cxnSp>
        <p:nvCxnSpPr>
          <p:cNvPr id="894" name="Google Shape;894;p64"/>
          <p:cNvCxnSpPr>
            <a:stCxn id="891" idx="6"/>
            <a:endCxn id="887" idx="1"/>
          </p:cNvCxnSpPr>
          <p:nvPr/>
        </p:nvCxnSpPr>
        <p:spPr>
          <a:xfrm>
            <a:off x="6032972" y="1731844"/>
            <a:ext cx="1127400" cy="1094100"/>
          </a:xfrm>
          <a:prstGeom prst="straightConnector1">
            <a:avLst/>
          </a:prstGeom>
          <a:noFill/>
          <a:ln cap="flat" cmpd="sng" w="9525">
            <a:solidFill>
              <a:schemeClr val="dk2"/>
            </a:solidFill>
            <a:prstDash val="solid"/>
            <a:round/>
            <a:headEnd len="med" w="med" type="none"/>
            <a:tailEnd len="med" w="med" type="triangle"/>
          </a:ln>
        </p:spPr>
      </p:cxnSp>
      <p:cxnSp>
        <p:nvCxnSpPr>
          <p:cNvPr id="895" name="Google Shape;895;p64"/>
          <p:cNvCxnSpPr>
            <a:stCxn id="886" idx="5"/>
            <a:endCxn id="889" idx="1"/>
          </p:cNvCxnSpPr>
          <p:nvPr/>
        </p:nvCxnSpPr>
        <p:spPr>
          <a:xfrm>
            <a:off x="2054780" y="3233567"/>
            <a:ext cx="1115100" cy="665400"/>
          </a:xfrm>
          <a:prstGeom prst="straightConnector1">
            <a:avLst/>
          </a:prstGeom>
          <a:noFill/>
          <a:ln cap="flat" cmpd="sng" w="9525">
            <a:solidFill>
              <a:schemeClr val="dk2"/>
            </a:solidFill>
            <a:prstDash val="solid"/>
            <a:round/>
            <a:headEnd len="med" w="med" type="none"/>
            <a:tailEnd len="med" w="med" type="triangle"/>
          </a:ln>
        </p:spPr>
      </p:cxnSp>
      <p:cxnSp>
        <p:nvCxnSpPr>
          <p:cNvPr id="896" name="Google Shape;896;p64"/>
          <p:cNvCxnSpPr>
            <a:stCxn id="889" idx="6"/>
            <a:endCxn id="890" idx="2"/>
          </p:cNvCxnSpPr>
          <p:nvPr/>
        </p:nvCxnSpPr>
        <p:spPr>
          <a:xfrm>
            <a:off x="3728256" y="4102692"/>
            <a:ext cx="1650300" cy="0"/>
          </a:xfrm>
          <a:prstGeom prst="straightConnector1">
            <a:avLst/>
          </a:prstGeom>
          <a:noFill/>
          <a:ln cap="flat" cmpd="sng" w="9525">
            <a:solidFill>
              <a:schemeClr val="dk2"/>
            </a:solidFill>
            <a:prstDash val="solid"/>
            <a:round/>
            <a:headEnd len="med" w="med" type="none"/>
            <a:tailEnd len="med" w="med" type="triangle"/>
          </a:ln>
        </p:spPr>
      </p:cxnSp>
      <p:cxnSp>
        <p:nvCxnSpPr>
          <p:cNvPr id="897" name="Google Shape;897;p64"/>
          <p:cNvCxnSpPr>
            <a:stCxn id="890" idx="6"/>
            <a:endCxn id="887" idx="3"/>
          </p:cNvCxnSpPr>
          <p:nvPr/>
        </p:nvCxnSpPr>
        <p:spPr>
          <a:xfrm flipH="1" rot="10800000">
            <a:off x="6032972" y="3233592"/>
            <a:ext cx="1127400" cy="869100"/>
          </a:xfrm>
          <a:prstGeom prst="straightConnector1">
            <a:avLst/>
          </a:prstGeom>
          <a:noFill/>
          <a:ln cap="flat" cmpd="sng" w="9525">
            <a:solidFill>
              <a:schemeClr val="dk2"/>
            </a:solidFill>
            <a:prstDash val="solid"/>
            <a:round/>
            <a:headEnd len="med" w="med" type="none"/>
            <a:tailEnd len="med" w="med" type="triangle"/>
          </a:ln>
        </p:spPr>
      </p:cxnSp>
      <p:cxnSp>
        <p:nvCxnSpPr>
          <p:cNvPr id="898" name="Google Shape;898;p64"/>
          <p:cNvCxnSpPr>
            <a:stCxn id="889" idx="0"/>
            <a:endCxn id="888" idx="4"/>
          </p:cNvCxnSpPr>
          <p:nvPr/>
        </p:nvCxnSpPr>
        <p:spPr>
          <a:xfrm rot="10800000">
            <a:off x="3401106" y="2019942"/>
            <a:ext cx="0" cy="1794600"/>
          </a:xfrm>
          <a:prstGeom prst="straightConnector1">
            <a:avLst/>
          </a:prstGeom>
          <a:noFill/>
          <a:ln cap="flat" cmpd="sng" w="9525">
            <a:solidFill>
              <a:schemeClr val="dk2"/>
            </a:solidFill>
            <a:prstDash val="solid"/>
            <a:round/>
            <a:headEnd len="med" w="med" type="none"/>
            <a:tailEnd len="med" w="med" type="triangle"/>
          </a:ln>
        </p:spPr>
      </p:cxnSp>
      <p:sp>
        <p:nvSpPr>
          <p:cNvPr id="899" name="Google Shape;899;p64"/>
          <p:cNvSpPr txBox="1"/>
          <p:nvPr/>
        </p:nvSpPr>
        <p:spPr>
          <a:xfrm>
            <a:off x="2275896" y="1833875"/>
            <a:ext cx="6063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7</a:t>
            </a:r>
            <a:r>
              <a:rPr lang="en-GB" sz="2000">
                <a:solidFill>
                  <a:srgbClr val="4A86E8"/>
                </a:solidFill>
                <a:latin typeface="Times"/>
                <a:ea typeface="Times"/>
                <a:cs typeface="Times"/>
                <a:sym typeface="Times"/>
              </a:rPr>
              <a:t>/</a:t>
            </a:r>
            <a:r>
              <a:rPr lang="en-GB" sz="2000">
                <a:latin typeface="Times"/>
                <a:ea typeface="Times"/>
                <a:cs typeface="Times"/>
                <a:sym typeface="Times"/>
              </a:rPr>
              <a:t>7</a:t>
            </a:r>
            <a:endParaRPr sz="2000">
              <a:latin typeface="Times"/>
              <a:ea typeface="Times"/>
              <a:cs typeface="Times"/>
              <a:sym typeface="Times"/>
            </a:endParaRPr>
          </a:p>
        </p:txBody>
      </p:sp>
      <p:sp>
        <p:nvSpPr>
          <p:cNvPr id="900" name="Google Shape;900;p64"/>
          <p:cNvSpPr txBox="1"/>
          <p:nvPr/>
        </p:nvSpPr>
        <p:spPr>
          <a:xfrm>
            <a:off x="4172350" y="1310925"/>
            <a:ext cx="691200" cy="31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5</a:t>
            </a:r>
            <a:r>
              <a:rPr lang="en-GB" sz="2000">
                <a:solidFill>
                  <a:srgbClr val="4A86E8"/>
                </a:solidFill>
                <a:latin typeface="Times"/>
                <a:ea typeface="Times"/>
                <a:cs typeface="Times"/>
                <a:sym typeface="Times"/>
              </a:rPr>
              <a:t>/</a:t>
            </a:r>
            <a:r>
              <a:rPr lang="en-GB" sz="2000">
                <a:latin typeface="Times"/>
                <a:ea typeface="Times"/>
                <a:cs typeface="Times"/>
                <a:sym typeface="Times"/>
              </a:rPr>
              <a:t>5</a:t>
            </a:r>
            <a:endParaRPr sz="2000">
              <a:latin typeface="Times"/>
              <a:ea typeface="Times"/>
              <a:cs typeface="Times"/>
              <a:sym typeface="Times"/>
            </a:endParaRPr>
          </a:p>
        </p:txBody>
      </p:sp>
      <p:sp>
        <p:nvSpPr>
          <p:cNvPr id="901" name="Google Shape;901;p64"/>
          <p:cNvSpPr txBox="1"/>
          <p:nvPr/>
        </p:nvSpPr>
        <p:spPr>
          <a:xfrm>
            <a:off x="6455361" y="1693431"/>
            <a:ext cx="7767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7</a:t>
            </a:r>
            <a:r>
              <a:rPr lang="en-GB" sz="2000">
                <a:solidFill>
                  <a:srgbClr val="4A86E8"/>
                </a:solidFill>
                <a:latin typeface="Times"/>
                <a:ea typeface="Times"/>
                <a:cs typeface="Times"/>
                <a:sym typeface="Times"/>
              </a:rPr>
              <a:t>/</a:t>
            </a:r>
            <a:r>
              <a:rPr lang="en-GB" sz="2000">
                <a:latin typeface="Times"/>
                <a:ea typeface="Times"/>
                <a:cs typeface="Times"/>
                <a:sym typeface="Times"/>
              </a:rPr>
              <a:t>8</a:t>
            </a:r>
            <a:endParaRPr sz="2000">
              <a:latin typeface="Times"/>
              <a:ea typeface="Times"/>
              <a:cs typeface="Times"/>
              <a:sym typeface="Times"/>
            </a:endParaRPr>
          </a:p>
        </p:txBody>
      </p:sp>
      <p:sp>
        <p:nvSpPr>
          <p:cNvPr id="902" name="Google Shape;902;p64"/>
          <p:cNvSpPr txBox="1"/>
          <p:nvPr/>
        </p:nvSpPr>
        <p:spPr>
          <a:xfrm>
            <a:off x="6409239" y="3599671"/>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3</a:t>
            </a:r>
            <a:r>
              <a:rPr lang="en-GB" sz="2000">
                <a:solidFill>
                  <a:srgbClr val="4A86E8"/>
                </a:solidFill>
                <a:latin typeface="Times"/>
                <a:ea typeface="Times"/>
                <a:cs typeface="Times"/>
                <a:sym typeface="Times"/>
              </a:rPr>
              <a:t>/</a:t>
            </a:r>
            <a:r>
              <a:rPr lang="en-GB" sz="2000">
                <a:latin typeface="Times"/>
                <a:ea typeface="Times"/>
                <a:cs typeface="Times"/>
                <a:sym typeface="Times"/>
              </a:rPr>
              <a:t>5</a:t>
            </a:r>
            <a:endParaRPr sz="2000">
              <a:latin typeface="Times"/>
              <a:ea typeface="Times"/>
              <a:cs typeface="Times"/>
              <a:sym typeface="Times"/>
            </a:endParaRPr>
          </a:p>
        </p:txBody>
      </p:sp>
      <p:sp>
        <p:nvSpPr>
          <p:cNvPr id="903" name="Google Shape;903;p64"/>
          <p:cNvSpPr txBox="1"/>
          <p:nvPr/>
        </p:nvSpPr>
        <p:spPr>
          <a:xfrm>
            <a:off x="4333697" y="4149550"/>
            <a:ext cx="6543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2</a:t>
            </a:r>
            <a:r>
              <a:rPr lang="en-GB" sz="2000">
                <a:solidFill>
                  <a:srgbClr val="4A86E8"/>
                </a:solidFill>
                <a:latin typeface="Times"/>
                <a:ea typeface="Times"/>
                <a:cs typeface="Times"/>
                <a:sym typeface="Times"/>
              </a:rPr>
              <a:t>/</a:t>
            </a:r>
            <a:r>
              <a:rPr lang="en-GB" sz="2000">
                <a:latin typeface="Times"/>
                <a:ea typeface="Times"/>
                <a:cs typeface="Times"/>
                <a:sym typeface="Times"/>
              </a:rPr>
              <a:t>2</a:t>
            </a:r>
            <a:endParaRPr sz="2000">
              <a:latin typeface="Times"/>
              <a:ea typeface="Times"/>
              <a:cs typeface="Times"/>
              <a:sym typeface="Times"/>
            </a:endParaRPr>
          </a:p>
        </p:txBody>
      </p:sp>
      <p:sp>
        <p:nvSpPr>
          <p:cNvPr id="904" name="Google Shape;904;p64"/>
          <p:cNvSpPr txBox="1"/>
          <p:nvPr/>
        </p:nvSpPr>
        <p:spPr>
          <a:xfrm>
            <a:off x="3401100" y="2665825"/>
            <a:ext cx="5793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1</a:t>
            </a:r>
            <a:r>
              <a:rPr lang="en-GB" sz="2000">
                <a:solidFill>
                  <a:srgbClr val="4A86E8"/>
                </a:solidFill>
                <a:latin typeface="Times"/>
                <a:ea typeface="Times"/>
                <a:cs typeface="Times"/>
                <a:sym typeface="Times"/>
              </a:rPr>
              <a:t>/</a:t>
            </a:r>
            <a:r>
              <a:rPr lang="en-GB" sz="2000">
                <a:latin typeface="Times"/>
                <a:ea typeface="Times"/>
                <a:cs typeface="Times"/>
                <a:sym typeface="Times"/>
              </a:rPr>
              <a:t>3</a:t>
            </a:r>
            <a:endParaRPr sz="2000">
              <a:latin typeface="Times"/>
              <a:ea typeface="Times"/>
              <a:cs typeface="Times"/>
              <a:sym typeface="Times"/>
            </a:endParaRPr>
          </a:p>
        </p:txBody>
      </p:sp>
      <p:sp>
        <p:nvSpPr>
          <p:cNvPr id="905" name="Google Shape;905;p64"/>
          <p:cNvSpPr txBox="1"/>
          <p:nvPr/>
        </p:nvSpPr>
        <p:spPr>
          <a:xfrm>
            <a:off x="2013073" y="3545840"/>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3</a:t>
            </a:r>
            <a:r>
              <a:rPr lang="en-GB" sz="2000">
                <a:solidFill>
                  <a:srgbClr val="4A86E8"/>
                </a:solidFill>
                <a:latin typeface="Times"/>
                <a:ea typeface="Times"/>
                <a:cs typeface="Times"/>
                <a:sym typeface="Times"/>
              </a:rPr>
              <a:t>/</a:t>
            </a:r>
            <a:r>
              <a:rPr lang="en-GB" sz="2000">
                <a:latin typeface="Times"/>
                <a:ea typeface="Times"/>
                <a:cs typeface="Times"/>
                <a:sym typeface="Times"/>
              </a:rPr>
              <a:t>4</a:t>
            </a:r>
            <a:endParaRPr sz="2000">
              <a:latin typeface="Times"/>
              <a:ea typeface="Times"/>
              <a:cs typeface="Times"/>
              <a:sym typeface="Times"/>
            </a:endParaRPr>
          </a:p>
        </p:txBody>
      </p:sp>
      <p:sp>
        <p:nvSpPr>
          <p:cNvPr id="906" name="Google Shape;906;p64"/>
          <p:cNvSpPr txBox="1"/>
          <p:nvPr/>
        </p:nvSpPr>
        <p:spPr>
          <a:xfrm>
            <a:off x="5754885" y="2753977"/>
            <a:ext cx="8691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2</a:t>
            </a:r>
            <a:r>
              <a:rPr lang="en-GB" sz="2000">
                <a:solidFill>
                  <a:srgbClr val="4A86E8"/>
                </a:solidFill>
                <a:latin typeface="Times"/>
                <a:ea typeface="Times"/>
                <a:cs typeface="Times"/>
                <a:sym typeface="Times"/>
              </a:rPr>
              <a:t>/</a:t>
            </a:r>
            <a:r>
              <a:rPr lang="en-GB" sz="2000">
                <a:latin typeface="Times"/>
                <a:ea typeface="Times"/>
                <a:cs typeface="Times"/>
                <a:sym typeface="Times"/>
              </a:rPr>
              <a:t>3</a:t>
            </a:r>
            <a:endParaRPr sz="2000">
              <a:latin typeface="Times"/>
              <a:ea typeface="Times"/>
              <a:cs typeface="Times"/>
              <a:sym typeface="Times"/>
            </a:endParaRPr>
          </a:p>
        </p:txBody>
      </p:sp>
      <p:cxnSp>
        <p:nvCxnSpPr>
          <p:cNvPr id="907" name="Google Shape;907;p64"/>
          <p:cNvCxnSpPr>
            <a:stCxn id="888" idx="5"/>
            <a:endCxn id="890" idx="1"/>
          </p:cNvCxnSpPr>
          <p:nvPr/>
        </p:nvCxnSpPr>
        <p:spPr>
          <a:xfrm>
            <a:off x="3632436" y="1935615"/>
            <a:ext cx="1842000" cy="1963200"/>
          </a:xfrm>
          <a:prstGeom prst="straightConnector1">
            <a:avLst/>
          </a:prstGeom>
          <a:noFill/>
          <a:ln cap="flat" cmpd="sng" w="9525">
            <a:solidFill>
              <a:schemeClr val="dk2"/>
            </a:solidFill>
            <a:prstDash val="solid"/>
            <a:round/>
            <a:headEnd len="med" w="med" type="none"/>
            <a:tailEnd len="med" w="med" type="triangle"/>
          </a:ln>
        </p:spPr>
      </p:cxnSp>
      <p:sp>
        <p:nvSpPr>
          <p:cNvPr id="908" name="Google Shape;908;p64"/>
          <p:cNvSpPr txBox="1"/>
          <p:nvPr/>
        </p:nvSpPr>
        <p:spPr>
          <a:xfrm>
            <a:off x="4384452" y="2381025"/>
            <a:ext cx="6543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0FF00"/>
                </a:solidFill>
                <a:latin typeface="Times"/>
                <a:ea typeface="Times"/>
                <a:cs typeface="Times"/>
                <a:sym typeface="Times"/>
              </a:rPr>
              <a:t>3</a:t>
            </a:r>
            <a:r>
              <a:rPr lang="en-GB" sz="2000">
                <a:solidFill>
                  <a:srgbClr val="4A86E8"/>
                </a:solidFill>
                <a:latin typeface="Times"/>
                <a:ea typeface="Times"/>
                <a:cs typeface="Times"/>
                <a:sym typeface="Times"/>
              </a:rPr>
              <a:t>/</a:t>
            </a:r>
            <a:r>
              <a:rPr lang="en-GB" sz="2000">
                <a:latin typeface="Times"/>
                <a:ea typeface="Times"/>
                <a:cs typeface="Times"/>
                <a:sym typeface="Times"/>
              </a:rPr>
              <a:t>3</a:t>
            </a:r>
            <a:endParaRPr sz="2000">
              <a:latin typeface="Times"/>
              <a:ea typeface="Times"/>
              <a:cs typeface="Times"/>
              <a:sym typeface="Times"/>
            </a:endParaRPr>
          </a:p>
        </p:txBody>
      </p:sp>
      <p:cxnSp>
        <p:nvCxnSpPr>
          <p:cNvPr id="909" name="Google Shape;909;p64"/>
          <p:cNvCxnSpPr>
            <a:stCxn id="890" idx="0"/>
            <a:endCxn id="891" idx="4"/>
          </p:cNvCxnSpPr>
          <p:nvPr/>
        </p:nvCxnSpPr>
        <p:spPr>
          <a:xfrm rot="10800000">
            <a:off x="5705822" y="2019942"/>
            <a:ext cx="0" cy="1794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913" name="Shape 913"/>
        <p:cNvGrpSpPr/>
        <p:nvPr/>
      </p:nvGrpSpPr>
      <p:grpSpPr>
        <a:xfrm>
          <a:off x="0" y="0"/>
          <a:ext cx="0" cy="0"/>
          <a:chOff x="0" y="0"/>
          <a:chExt cx="0" cy="0"/>
        </a:xfrm>
      </p:grpSpPr>
      <p:sp>
        <p:nvSpPr>
          <p:cNvPr id="914" name="Google Shape;914;p65"/>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915" name="Google Shape;915;p65"/>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916" name="Google Shape;916;p65"/>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917" name="Google Shape;917;p65"/>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Edmonds-Karp Algorithm</a:t>
            </a:r>
            <a:endParaRPr b="1" sz="4000">
              <a:latin typeface="Times"/>
              <a:ea typeface="Times"/>
              <a:cs typeface="Times"/>
              <a:sym typeface="Times"/>
            </a:endParaRPr>
          </a:p>
        </p:txBody>
      </p:sp>
      <p:cxnSp>
        <p:nvCxnSpPr>
          <p:cNvPr id="918" name="Google Shape;918;p65"/>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919" name="Google Shape;919;p65"/>
          <p:cNvSpPr txBox="1"/>
          <p:nvPr/>
        </p:nvSpPr>
        <p:spPr>
          <a:xfrm>
            <a:off x="553925" y="906400"/>
            <a:ext cx="8201700" cy="3970200"/>
          </a:xfrm>
          <a:prstGeom prst="rect">
            <a:avLst/>
          </a:prstGeom>
          <a:noFill/>
          <a:ln>
            <a:noFill/>
          </a:ln>
        </p:spPr>
        <p:txBody>
          <a:bodyPr anchorCtr="0" anchor="t" bIns="91425" lIns="91425" spcFirstLastPara="1" rIns="91425" wrap="square" tIns="91425">
            <a:noAutofit/>
          </a:bodyPr>
          <a:lstStyle/>
          <a:p>
            <a:pPr indent="-355600" lvl="0" marL="457200" rtl="0" algn="l">
              <a:lnSpc>
                <a:spcPct val="100000"/>
              </a:lnSpc>
              <a:spcBef>
                <a:spcPts val="900"/>
              </a:spcBef>
              <a:spcAft>
                <a:spcPts val="0"/>
              </a:spcAft>
              <a:buSzPts val="2000"/>
              <a:buFont typeface="Times"/>
              <a:buChar char="➔"/>
            </a:pPr>
            <a:r>
              <a:rPr lang="en-GB" sz="2000">
                <a:latin typeface="Times"/>
                <a:ea typeface="Times"/>
                <a:cs typeface="Times"/>
                <a:sym typeface="Times"/>
              </a:rPr>
              <a:t>The </a:t>
            </a:r>
            <a:r>
              <a:rPr b="1" lang="en-GB" sz="2000">
                <a:latin typeface="Times"/>
                <a:ea typeface="Times"/>
                <a:cs typeface="Times"/>
                <a:sym typeface="Times"/>
              </a:rPr>
              <a:t>Edmonds-Karp Algorithm</a:t>
            </a:r>
            <a:r>
              <a:rPr lang="en-GB" sz="2000">
                <a:latin typeface="Times"/>
                <a:ea typeface="Times"/>
                <a:cs typeface="Times"/>
                <a:sym typeface="Times"/>
              </a:rPr>
              <a:t> is an implementation of the </a:t>
            </a:r>
            <a:r>
              <a:rPr b="1" lang="en-GB" sz="2000">
                <a:latin typeface="Times"/>
                <a:ea typeface="Times"/>
                <a:cs typeface="Times"/>
                <a:sym typeface="Times"/>
              </a:rPr>
              <a:t>Ford-Fulkerson Method</a:t>
            </a:r>
            <a:r>
              <a:rPr lang="en-GB" sz="2000">
                <a:latin typeface="Times"/>
                <a:ea typeface="Times"/>
                <a:cs typeface="Times"/>
                <a:sym typeface="Times"/>
              </a:rPr>
              <a:t> that uses </a:t>
            </a:r>
            <a:r>
              <a:rPr b="1" lang="en-GB" sz="2000">
                <a:latin typeface="Times"/>
                <a:ea typeface="Times"/>
                <a:cs typeface="Times"/>
                <a:sym typeface="Times"/>
              </a:rPr>
              <a:t>Breadth-First Search (BFS)</a:t>
            </a:r>
            <a:r>
              <a:rPr lang="en-GB" sz="2000">
                <a:latin typeface="Times"/>
                <a:ea typeface="Times"/>
                <a:cs typeface="Times"/>
                <a:sym typeface="Times"/>
              </a:rPr>
              <a:t> to find augmenting paths in the residual graph.</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Char char="➔"/>
            </a:pPr>
            <a:r>
              <a:rPr lang="en-GB" sz="2000">
                <a:latin typeface="Times"/>
                <a:ea typeface="Times"/>
                <a:cs typeface="Times"/>
                <a:sym typeface="Times"/>
              </a:rPr>
              <a:t>It guarantees polynomial time complexity of O(VE</a:t>
            </a:r>
            <a:r>
              <a:rPr baseline="30000" lang="en-GB" sz="2000">
                <a:latin typeface="Times"/>
                <a:ea typeface="Times"/>
                <a:cs typeface="Times"/>
                <a:sym typeface="Times"/>
              </a:rPr>
              <a:t>2</a:t>
            </a:r>
            <a:r>
              <a:rPr lang="en-GB" sz="2000">
                <a:latin typeface="Times"/>
                <a:ea typeface="Times"/>
                <a:cs typeface="Times"/>
                <a:sym typeface="Times"/>
              </a:rPr>
              <a:t>), where V is the number of vertices and E is the number of edges.</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Char char="➔"/>
            </a:pPr>
            <a:r>
              <a:rPr lang="en-GB" sz="2000">
                <a:latin typeface="Times"/>
                <a:ea typeface="Times"/>
                <a:cs typeface="Times"/>
                <a:sym typeface="Times"/>
              </a:rPr>
              <a:t>It is a practical and efficient approach for many real-world maximum flow problems.</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Char char="➔"/>
            </a:pPr>
            <a:r>
              <a:rPr lang="en-GB" sz="2000">
                <a:latin typeface="Times"/>
                <a:ea typeface="Times"/>
                <a:cs typeface="Times"/>
                <a:sym typeface="Times"/>
              </a:rPr>
              <a:t>It solves the Max Flow Problem by:</a:t>
            </a:r>
            <a:endParaRPr sz="2000">
              <a:latin typeface="Times"/>
              <a:ea typeface="Times"/>
              <a:cs typeface="Times"/>
              <a:sym typeface="Times"/>
            </a:endParaRPr>
          </a:p>
          <a:p>
            <a:pPr indent="-355600" lvl="1" marL="914400" rtl="0" algn="l">
              <a:lnSpc>
                <a:spcPct val="100000"/>
              </a:lnSpc>
              <a:spcBef>
                <a:spcPts val="0"/>
              </a:spcBef>
              <a:spcAft>
                <a:spcPts val="0"/>
              </a:spcAft>
              <a:buSzPts val="2000"/>
              <a:buFont typeface="Times"/>
              <a:buChar char="◆"/>
            </a:pPr>
            <a:r>
              <a:rPr lang="en-GB" sz="2000">
                <a:latin typeface="Times"/>
                <a:ea typeface="Times"/>
                <a:cs typeface="Times"/>
                <a:sym typeface="Times"/>
              </a:rPr>
              <a:t>Finding an augmenting path from s to t (using BFS).</a:t>
            </a:r>
            <a:endParaRPr sz="2000">
              <a:latin typeface="Times"/>
              <a:ea typeface="Times"/>
              <a:cs typeface="Times"/>
              <a:sym typeface="Times"/>
            </a:endParaRPr>
          </a:p>
          <a:p>
            <a:pPr indent="-355600" lvl="1" marL="914400" rtl="0" algn="l">
              <a:lnSpc>
                <a:spcPct val="100000"/>
              </a:lnSpc>
              <a:spcBef>
                <a:spcPts val="0"/>
              </a:spcBef>
              <a:spcAft>
                <a:spcPts val="0"/>
              </a:spcAft>
              <a:buSzPts val="2000"/>
              <a:buFont typeface="Times"/>
              <a:buChar char="◆"/>
            </a:pPr>
            <a:r>
              <a:rPr lang="en-GB" sz="2000">
                <a:latin typeface="Times"/>
                <a:ea typeface="Times"/>
                <a:cs typeface="Times"/>
                <a:sym typeface="Times"/>
              </a:rPr>
              <a:t>Augmenting flow along the path by the smallest residual capacity.</a:t>
            </a:r>
            <a:endParaRPr sz="2000">
              <a:latin typeface="Times"/>
              <a:ea typeface="Times"/>
              <a:cs typeface="Times"/>
              <a:sym typeface="Times"/>
            </a:endParaRPr>
          </a:p>
          <a:p>
            <a:pPr indent="-355600" lvl="1" marL="914400" rtl="0" algn="l">
              <a:lnSpc>
                <a:spcPct val="100000"/>
              </a:lnSpc>
              <a:spcBef>
                <a:spcPts val="0"/>
              </a:spcBef>
              <a:spcAft>
                <a:spcPts val="0"/>
              </a:spcAft>
              <a:buSzPts val="2000"/>
              <a:buFont typeface="Times"/>
              <a:buChar char="◆"/>
            </a:pPr>
            <a:r>
              <a:rPr lang="en-GB" sz="2000">
                <a:latin typeface="Times"/>
                <a:ea typeface="Times"/>
                <a:cs typeface="Times"/>
                <a:sym typeface="Times"/>
              </a:rPr>
              <a:t>Repeating until no more augmenting paths exist.</a:t>
            </a:r>
            <a:endParaRPr sz="2000">
              <a:latin typeface="Times"/>
              <a:ea typeface="Times"/>
              <a:cs typeface="Times"/>
              <a:sym typeface="Time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923" name="Shape 923"/>
        <p:cNvGrpSpPr/>
        <p:nvPr/>
      </p:nvGrpSpPr>
      <p:grpSpPr>
        <a:xfrm>
          <a:off x="0" y="0"/>
          <a:ext cx="0" cy="0"/>
          <a:chOff x="0" y="0"/>
          <a:chExt cx="0" cy="0"/>
        </a:xfrm>
      </p:grpSpPr>
      <p:sp>
        <p:nvSpPr>
          <p:cNvPr id="924" name="Google Shape;924;p66"/>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925" name="Google Shape;925;p66"/>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926" name="Google Shape;926;p66"/>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927" name="Google Shape;927;p66"/>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History of </a:t>
            </a:r>
            <a:r>
              <a:rPr b="1" lang="en-GB" sz="4000">
                <a:latin typeface="Times"/>
                <a:ea typeface="Times"/>
                <a:cs typeface="Times"/>
                <a:sym typeface="Times"/>
              </a:rPr>
              <a:t>Edmonds</a:t>
            </a:r>
            <a:r>
              <a:rPr b="1" lang="en-GB" sz="4000">
                <a:latin typeface="Times"/>
                <a:ea typeface="Times"/>
                <a:cs typeface="Times"/>
                <a:sym typeface="Times"/>
              </a:rPr>
              <a:t>-Karp Algorithm</a:t>
            </a:r>
            <a:endParaRPr b="1" sz="4000">
              <a:latin typeface="Times"/>
              <a:ea typeface="Times"/>
              <a:cs typeface="Times"/>
              <a:sym typeface="Times"/>
            </a:endParaRPr>
          </a:p>
        </p:txBody>
      </p:sp>
      <p:cxnSp>
        <p:nvCxnSpPr>
          <p:cNvPr id="928" name="Google Shape;928;p66"/>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929" name="Google Shape;929;p66"/>
          <p:cNvSpPr txBox="1"/>
          <p:nvPr/>
        </p:nvSpPr>
        <p:spPr>
          <a:xfrm>
            <a:off x="553925" y="906400"/>
            <a:ext cx="8201700" cy="3970200"/>
          </a:xfrm>
          <a:prstGeom prst="rect">
            <a:avLst/>
          </a:prstGeom>
          <a:noFill/>
          <a:ln>
            <a:noFill/>
          </a:ln>
        </p:spPr>
        <p:txBody>
          <a:bodyPr anchorCtr="0" anchor="t" bIns="91425" lIns="91425" spcFirstLastPara="1" rIns="91425" wrap="square" tIns="91425">
            <a:noAutofit/>
          </a:bodyPr>
          <a:lstStyle/>
          <a:p>
            <a:pPr indent="-349250" lvl="0" marL="457200" rtl="0" algn="l">
              <a:lnSpc>
                <a:spcPct val="100000"/>
              </a:lnSpc>
              <a:spcBef>
                <a:spcPts val="900"/>
              </a:spcBef>
              <a:spcAft>
                <a:spcPts val="0"/>
              </a:spcAft>
              <a:buSzPts val="1900"/>
              <a:buFont typeface="Times"/>
              <a:buChar char="➔"/>
            </a:pPr>
            <a:r>
              <a:rPr lang="en-GB" sz="1900">
                <a:latin typeface="Times"/>
                <a:ea typeface="Times"/>
                <a:cs typeface="Times"/>
                <a:sym typeface="Times"/>
              </a:rPr>
              <a:t>The algorithm is named after </a:t>
            </a:r>
            <a:r>
              <a:rPr b="1" lang="en-GB" sz="1900">
                <a:latin typeface="Times"/>
                <a:ea typeface="Times"/>
                <a:cs typeface="Times"/>
                <a:sym typeface="Times"/>
              </a:rPr>
              <a:t>Jack Edmonds</a:t>
            </a:r>
            <a:r>
              <a:rPr lang="en-GB" sz="1900">
                <a:latin typeface="Times"/>
                <a:ea typeface="Times"/>
                <a:cs typeface="Times"/>
                <a:sym typeface="Times"/>
              </a:rPr>
              <a:t> and </a:t>
            </a:r>
            <a:r>
              <a:rPr b="1" lang="en-GB" sz="1900">
                <a:latin typeface="Times"/>
                <a:ea typeface="Times"/>
                <a:cs typeface="Times"/>
                <a:sym typeface="Times"/>
              </a:rPr>
              <a:t>Richard M. Karp</a:t>
            </a:r>
            <a:r>
              <a:rPr lang="en-GB" sz="1900">
                <a:latin typeface="Times"/>
                <a:ea typeface="Times"/>
                <a:cs typeface="Times"/>
                <a:sym typeface="Times"/>
              </a:rPr>
              <a:t>, who described it in 1972 in their paper </a:t>
            </a:r>
            <a:r>
              <a:rPr i="1" lang="en-GB" sz="1900">
                <a:latin typeface="Times"/>
                <a:ea typeface="Times"/>
                <a:cs typeface="Times"/>
                <a:sym typeface="Times"/>
              </a:rPr>
              <a:t>"Theoretical Improvements in Algorithmic Efficiency for Network Flow Problems."</a:t>
            </a:r>
            <a:endParaRPr sz="1900">
              <a:latin typeface="Times"/>
              <a:ea typeface="Times"/>
              <a:cs typeface="Times"/>
              <a:sym typeface="Times"/>
            </a:endParaRPr>
          </a:p>
          <a:p>
            <a:pPr indent="-349250" lvl="0" marL="457200" rtl="0" algn="l">
              <a:lnSpc>
                <a:spcPct val="100000"/>
              </a:lnSpc>
              <a:spcBef>
                <a:spcPts val="0"/>
              </a:spcBef>
              <a:spcAft>
                <a:spcPts val="0"/>
              </a:spcAft>
              <a:buSzPts val="1900"/>
              <a:buChar char="➔"/>
            </a:pPr>
            <a:r>
              <a:rPr lang="en-GB" sz="1900">
                <a:latin typeface="Times"/>
                <a:ea typeface="Times"/>
                <a:cs typeface="Times"/>
                <a:sym typeface="Times"/>
              </a:rPr>
              <a:t>The algorithm builds on the </a:t>
            </a:r>
            <a:r>
              <a:rPr b="1" lang="en-GB" sz="1900">
                <a:latin typeface="Times"/>
                <a:ea typeface="Times"/>
                <a:cs typeface="Times"/>
                <a:sym typeface="Times"/>
              </a:rPr>
              <a:t>Ford-Fulkerson method</a:t>
            </a:r>
            <a:r>
              <a:rPr lang="en-GB" sz="1900">
                <a:latin typeface="Times"/>
                <a:ea typeface="Times"/>
                <a:cs typeface="Times"/>
                <a:sym typeface="Times"/>
              </a:rPr>
              <a:t>, which was introduced by </a:t>
            </a:r>
            <a:r>
              <a:rPr b="1" lang="en-GB" sz="1900">
                <a:latin typeface="Times"/>
                <a:ea typeface="Times"/>
                <a:cs typeface="Times"/>
                <a:sym typeface="Times"/>
              </a:rPr>
              <a:t>L. R. Ford, Jr.</a:t>
            </a:r>
            <a:r>
              <a:rPr lang="en-GB" sz="1900">
                <a:latin typeface="Times"/>
                <a:ea typeface="Times"/>
                <a:cs typeface="Times"/>
                <a:sym typeface="Times"/>
              </a:rPr>
              <a:t> and </a:t>
            </a:r>
            <a:r>
              <a:rPr b="1" lang="en-GB" sz="1900">
                <a:latin typeface="Times"/>
                <a:ea typeface="Times"/>
                <a:cs typeface="Times"/>
                <a:sym typeface="Times"/>
              </a:rPr>
              <a:t>D. R. Fulkerson</a:t>
            </a:r>
            <a:r>
              <a:rPr lang="en-GB" sz="1900">
                <a:latin typeface="Times"/>
                <a:ea typeface="Times"/>
                <a:cs typeface="Times"/>
                <a:sym typeface="Times"/>
              </a:rPr>
              <a:t> in 1956. The original method uses any augmenting path but does not guarantee a polynomial runtime if irrational capacities are used.</a:t>
            </a:r>
            <a:endParaRPr sz="1900">
              <a:latin typeface="Times"/>
              <a:ea typeface="Times"/>
              <a:cs typeface="Times"/>
              <a:sym typeface="Times"/>
            </a:endParaRPr>
          </a:p>
          <a:p>
            <a:pPr indent="-349250" lvl="0" marL="457200" rtl="0" algn="l">
              <a:lnSpc>
                <a:spcPct val="100000"/>
              </a:lnSpc>
              <a:spcBef>
                <a:spcPts val="0"/>
              </a:spcBef>
              <a:spcAft>
                <a:spcPts val="0"/>
              </a:spcAft>
              <a:buSzPts val="1900"/>
              <a:buFont typeface="Times"/>
              <a:buChar char="➔"/>
            </a:pPr>
            <a:r>
              <a:rPr lang="en-GB" sz="1900">
                <a:latin typeface="Times"/>
                <a:ea typeface="Times"/>
                <a:cs typeface="Times"/>
                <a:sym typeface="Times"/>
              </a:rPr>
              <a:t>Edmonds and Karp introduced the use of BFS to always find the shortest augmenting path in terms of the number of edges, ensuring efficient convergence in polynomial time.</a:t>
            </a:r>
            <a:endParaRPr sz="1900">
              <a:latin typeface="Times"/>
              <a:ea typeface="Times"/>
              <a:cs typeface="Times"/>
              <a:sym typeface="Times"/>
            </a:endParaRPr>
          </a:p>
          <a:p>
            <a:pPr indent="-349250" lvl="0" marL="457200" rtl="0" algn="l">
              <a:lnSpc>
                <a:spcPct val="100000"/>
              </a:lnSpc>
              <a:spcBef>
                <a:spcPts val="0"/>
              </a:spcBef>
              <a:spcAft>
                <a:spcPts val="0"/>
              </a:spcAft>
              <a:buSzPts val="1900"/>
              <a:buFont typeface="Times"/>
              <a:buChar char="➔"/>
            </a:pPr>
            <a:r>
              <a:rPr lang="en-GB" sz="1900">
                <a:latin typeface="Times"/>
                <a:ea typeface="Times"/>
                <a:cs typeface="Times"/>
                <a:sym typeface="Times"/>
              </a:rPr>
              <a:t>The Edmonds-Karp Algorithm became a standard for solving the maximum flow problem and is widely used in theoretical and practical applications, such as network routing, transportation systems, and resource allocation.</a:t>
            </a:r>
            <a:endParaRPr sz="1900">
              <a:latin typeface="Times"/>
              <a:ea typeface="Times"/>
              <a:cs typeface="Times"/>
              <a:sym typeface="Time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933" name="Shape 933"/>
        <p:cNvGrpSpPr/>
        <p:nvPr/>
      </p:nvGrpSpPr>
      <p:grpSpPr>
        <a:xfrm>
          <a:off x="0" y="0"/>
          <a:ext cx="0" cy="0"/>
          <a:chOff x="0" y="0"/>
          <a:chExt cx="0" cy="0"/>
        </a:xfrm>
      </p:grpSpPr>
      <p:sp>
        <p:nvSpPr>
          <p:cNvPr id="934" name="Google Shape;934;p67"/>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935" name="Google Shape;935;p67"/>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936" name="Google Shape;936;p67"/>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937" name="Google Shape;937;p67"/>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Edmonds-Karp Algorithm</a:t>
            </a:r>
            <a:endParaRPr b="1" sz="4000">
              <a:latin typeface="Times"/>
              <a:ea typeface="Times"/>
              <a:cs typeface="Times"/>
              <a:sym typeface="Times"/>
            </a:endParaRPr>
          </a:p>
        </p:txBody>
      </p:sp>
      <p:cxnSp>
        <p:nvCxnSpPr>
          <p:cNvPr id="938" name="Google Shape;938;p67"/>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939" name="Google Shape;939;p67"/>
          <p:cNvSpPr txBox="1"/>
          <p:nvPr/>
        </p:nvSpPr>
        <p:spPr>
          <a:xfrm>
            <a:off x="553925" y="906400"/>
            <a:ext cx="8201700" cy="3970200"/>
          </a:xfrm>
          <a:prstGeom prst="rect">
            <a:avLst/>
          </a:prstGeom>
          <a:noFill/>
          <a:ln>
            <a:noFill/>
          </a:ln>
        </p:spPr>
        <p:txBody>
          <a:bodyPr anchorCtr="0" anchor="t" bIns="91425" lIns="91425" spcFirstLastPara="1" rIns="91425" wrap="square" tIns="91425">
            <a:noAutofit/>
          </a:bodyPr>
          <a:lstStyle/>
          <a:p>
            <a:pPr indent="-355600" lvl="0" marL="457200" rtl="0" algn="l">
              <a:lnSpc>
                <a:spcPct val="100000"/>
              </a:lnSpc>
              <a:spcBef>
                <a:spcPts val="900"/>
              </a:spcBef>
              <a:spcAft>
                <a:spcPts val="0"/>
              </a:spcAft>
              <a:buSzPts val="2000"/>
              <a:buFont typeface="Times"/>
              <a:buAutoNum type="arabicPeriod"/>
            </a:pPr>
            <a:r>
              <a:rPr b="1" lang="en-GB" sz="2000">
                <a:latin typeface="Times"/>
                <a:ea typeface="Times"/>
                <a:cs typeface="Times"/>
                <a:sym typeface="Times"/>
              </a:rPr>
              <a:t>Initialization</a:t>
            </a:r>
            <a:r>
              <a:rPr lang="en-GB" sz="2000">
                <a:latin typeface="Times"/>
                <a:ea typeface="Times"/>
                <a:cs typeface="Times"/>
                <a:sym typeface="Times"/>
              </a:rPr>
              <a:t>: Set the initial flow on all edges to zero.</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AutoNum type="arabicPeriod"/>
            </a:pPr>
            <a:r>
              <a:rPr b="1" lang="en-GB" sz="2000">
                <a:latin typeface="Times"/>
                <a:ea typeface="Times"/>
                <a:cs typeface="Times"/>
                <a:sym typeface="Times"/>
              </a:rPr>
              <a:t>Find Augmenting Path</a:t>
            </a:r>
            <a:r>
              <a:rPr lang="en-GB" sz="2000">
                <a:latin typeface="Times"/>
                <a:ea typeface="Times"/>
                <a:cs typeface="Times"/>
                <a:sym typeface="Times"/>
              </a:rPr>
              <a:t>: Use </a:t>
            </a:r>
            <a:r>
              <a:rPr b="1" lang="en-GB" sz="2000">
                <a:latin typeface="Times"/>
                <a:ea typeface="Times"/>
                <a:cs typeface="Times"/>
                <a:sym typeface="Times"/>
              </a:rPr>
              <a:t>BFS</a:t>
            </a:r>
            <a:r>
              <a:rPr lang="en-GB" sz="2000">
                <a:latin typeface="Times"/>
                <a:ea typeface="Times"/>
                <a:cs typeface="Times"/>
                <a:sym typeface="Times"/>
              </a:rPr>
              <a:t> to find the shortest path (in terms of the number of edges) from the source (s) to the sink (t) in the residual graph.</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AutoNum type="arabicPeriod"/>
            </a:pPr>
            <a:r>
              <a:rPr b="1" lang="en-GB" sz="2000">
                <a:latin typeface="Times"/>
                <a:ea typeface="Times"/>
                <a:cs typeface="Times"/>
                <a:sym typeface="Times"/>
              </a:rPr>
              <a:t>Augment Flow</a:t>
            </a:r>
            <a:r>
              <a:rPr lang="en-GB" sz="2000">
                <a:latin typeface="Times"/>
                <a:ea typeface="Times"/>
                <a:cs typeface="Times"/>
                <a:sym typeface="Times"/>
              </a:rPr>
              <a:t>: Calculate the bottleneck capacity (minimum residual capacity) along the augmenting path. Augment the flow along this path by the bottleneck value and update the residual capacities.</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AutoNum type="arabicPeriod"/>
            </a:pPr>
            <a:r>
              <a:rPr b="1" lang="en-GB" sz="2000">
                <a:latin typeface="Times"/>
                <a:ea typeface="Times"/>
                <a:cs typeface="Times"/>
                <a:sym typeface="Times"/>
              </a:rPr>
              <a:t>Repeat</a:t>
            </a:r>
            <a:r>
              <a:rPr lang="en-GB" sz="2000">
                <a:latin typeface="Times"/>
                <a:ea typeface="Times"/>
                <a:cs typeface="Times"/>
                <a:sym typeface="Times"/>
              </a:rPr>
              <a:t>: Repeat the process until no augmenting path from s to t can be found.</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AutoNum type="arabicPeriod"/>
            </a:pPr>
            <a:r>
              <a:rPr b="1" lang="en-GB" sz="2000">
                <a:latin typeface="Times"/>
                <a:ea typeface="Times"/>
                <a:cs typeface="Times"/>
                <a:sym typeface="Times"/>
              </a:rPr>
              <a:t>Result</a:t>
            </a:r>
            <a:r>
              <a:rPr lang="en-GB" sz="2000">
                <a:latin typeface="Times"/>
                <a:ea typeface="Times"/>
                <a:cs typeface="Times"/>
                <a:sym typeface="Times"/>
              </a:rPr>
              <a:t>: The total flow value at the sink (t) is the </a:t>
            </a:r>
            <a:r>
              <a:rPr b="1" lang="en-GB" sz="2000">
                <a:latin typeface="Times"/>
                <a:ea typeface="Times"/>
                <a:cs typeface="Times"/>
                <a:sym typeface="Times"/>
              </a:rPr>
              <a:t>maximum flow</a:t>
            </a:r>
            <a:r>
              <a:rPr lang="en-GB" sz="2000">
                <a:latin typeface="Times"/>
                <a:ea typeface="Times"/>
                <a:cs typeface="Times"/>
                <a:sym typeface="Times"/>
              </a:rPr>
              <a:t>.</a:t>
            </a:r>
            <a:endParaRPr b="1" sz="2000">
              <a:latin typeface="Times"/>
              <a:ea typeface="Times"/>
              <a:cs typeface="Times"/>
              <a:sym typeface="Time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943" name="Shape 943"/>
        <p:cNvGrpSpPr/>
        <p:nvPr/>
      </p:nvGrpSpPr>
      <p:grpSpPr>
        <a:xfrm>
          <a:off x="0" y="0"/>
          <a:ext cx="0" cy="0"/>
          <a:chOff x="0" y="0"/>
          <a:chExt cx="0" cy="0"/>
        </a:xfrm>
      </p:grpSpPr>
      <p:sp>
        <p:nvSpPr>
          <p:cNvPr id="944" name="Google Shape;944;p68"/>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945" name="Google Shape;945;p68"/>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946" name="Google Shape;946;p68"/>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947" name="Google Shape;947;p68"/>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Edmonds-Karp Algorithm</a:t>
            </a:r>
            <a:endParaRPr b="1" sz="4000">
              <a:latin typeface="Times"/>
              <a:ea typeface="Times"/>
              <a:cs typeface="Times"/>
              <a:sym typeface="Times"/>
            </a:endParaRPr>
          </a:p>
        </p:txBody>
      </p:sp>
      <p:cxnSp>
        <p:nvCxnSpPr>
          <p:cNvPr id="948" name="Google Shape;948;p68"/>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949" name="Google Shape;949;p68"/>
          <p:cNvSpPr txBox="1"/>
          <p:nvPr/>
        </p:nvSpPr>
        <p:spPr>
          <a:xfrm>
            <a:off x="553925" y="906400"/>
            <a:ext cx="5013900" cy="397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900"/>
              </a:spcBef>
              <a:spcAft>
                <a:spcPts val="0"/>
              </a:spcAft>
              <a:buNone/>
            </a:pPr>
            <a:r>
              <a:rPr b="1" lang="en-GB" sz="2000">
                <a:latin typeface="Times"/>
                <a:ea typeface="Times"/>
                <a:cs typeface="Times"/>
                <a:sym typeface="Times"/>
              </a:rPr>
              <a:t>Initial Path</a:t>
            </a:r>
            <a:r>
              <a:rPr lang="en-GB" sz="2000">
                <a:latin typeface="Times"/>
                <a:ea typeface="Times"/>
                <a:cs typeface="Times"/>
                <a:sym typeface="Times"/>
              </a:rPr>
              <a:t>: BFS find; s→a→t</a:t>
            </a:r>
            <a:endParaRPr sz="2000">
              <a:latin typeface="Times"/>
              <a:ea typeface="Times"/>
              <a:cs typeface="Times"/>
              <a:sym typeface="Times"/>
            </a:endParaRPr>
          </a:p>
          <a:p>
            <a:pPr indent="-355600" lvl="0" marL="457200" rtl="0" algn="l">
              <a:lnSpc>
                <a:spcPct val="100000"/>
              </a:lnSpc>
              <a:spcBef>
                <a:spcPts val="900"/>
              </a:spcBef>
              <a:spcAft>
                <a:spcPts val="0"/>
              </a:spcAft>
              <a:buSzPts val="2000"/>
              <a:buFont typeface="Times"/>
              <a:buChar char="●"/>
            </a:pPr>
            <a:r>
              <a:rPr lang="en-GB" sz="2000">
                <a:latin typeface="Times"/>
                <a:ea typeface="Times"/>
                <a:cs typeface="Times"/>
                <a:sym typeface="Times"/>
              </a:rPr>
              <a:t>Residual capacity: </a:t>
            </a:r>
            <a:r>
              <a:rPr i="1" lang="en-GB" sz="2000">
                <a:latin typeface="Times"/>
                <a:ea typeface="Times"/>
                <a:cs typeface="Times"/>
                <a:sym typeface="Times"/>
              </a:rPr>
              <a:t>min⁡(10,10) = 10</a:t>
            </a:r>
            <a:endParaRPr i="1" sz="2000">
              <a:latin typeface="Times"/>
              <a:ea typeface="Times"/>
              <a:cs typeface="Times"/>
              <a:sym typeface="Times"/>
            </a:endParaRPr>
          </a:p>
          <a:p>
            <a:pPr indent="-355600" lvl="0" marL="457200" rtl="0" algn="l">
              <a:lnSpc>
                <a:spcPct val="100000"/>
              </a:lnSpc>
              <a:spcBef>
                <a:spcPts val="0"/>
              </a:spcBef>
              <a:spcAft>
                <a:spcPts val="0"/>
              </a:spcAft>
              <a:buSzPts val="2000"/>
              <a:buFont typeface="Times"/>
              <a:buChar char="●"/>
            </a:pPr>
            <a:r>
              <a:rPr lang="en-GB" sz="2000">
                <a:latin typeface="Times"/>
                <a:ea typeface="Times"/>
                <a:cs typeface="Times"/>
                <a:sym typeface="Times"/>
              </a:rPr>
              <a:t>Augment flow: </a:t>
            </a:r>
            <a:r>
              <a:rPr i="1" lang="en-GB" sz="2000">
                <a:latin typeface="Times"/>
                <a:ea typeface="Times"/>
                <a:cs typeface="Times"/>
                <a:sym typeface="Times"/>
              </a:rPr>
              <a:t>f(s,a) = 10, f(a,t) = 10</a:t>
            </a:r>
            <a:endParaRPr i="1" sz="2000">
              <a:latin typeface="Times"/>
              <a:ea typeface="Times"/>
              <a:cs typeface="Times"/>
              <a:sym typeface="Times"/>
            </a:endParaRPr>
          </a:p>
          <a:p>
            <a:pPr indent="0" lvl="0" marL="0" rtl="0" algn="l">
              <a:lnSpc>
                <a:spcPct val="100000"/>
              </a:lnSpc>
              <a:spcBef>
                <a:spcPts val="900"/>
              </a:spcBef>
              <a:spcAft>
                <a:spcPts val="0"/>
              </a:spcAft>
              <a:buNone/>
            </a:pPr>
            <a:r>
              <a:rPr b="1" lang="en-GB" sz="2000">
                <a:latin typeface="Times"/>
                <a:ea typeface="Times"/>
                <a:cs typeface="Times"/>
                <a:sym typeface="Times"/>
              </a:rPr>
              <a:t>Next Path</a:t>
            </a:r>
            <a:r>
              <a:rPr lang="en-GB" sz="2000">
                <a:latin typeface="Times"/>
                <a:ea typeface="Times"/>
                <a:cs typeface="Times"/>
                <a:sym typeface="Times"/>
              </a:rPr>
              <a:t>: </a:t>
            </a:r>
            <a:r>
              <a:rPr lang="en-GB" sz="2000">
                <a:latin typeface="Times"/>
                <a:ea typeface="Times"/>
                <a:cs typeface="Times"/>
                <a:sym typeface="Times"/>
              </a:rPr>
              <a:t>BFS find; </a:t>
            </a:r>
            <a:r>
              <a:rPr lang="en-GB" sz="2000">
                <a:latin typeface="Times"/>
                <a:ea typeface="Times"/>
                <a:cs typeface="Times"/>
                <a:sym typeface="Times"/>
              </a:rPr>
              <a:t>s→b→t</a:t>
            </a:r>
            <a:endParaRPr sz="2000">
              <a:latin typeface="Times"/>
              <a:ea typeface="Times"/>
              <a:cs typeface="Times"/>
              <a:sym typeface="Times"/>
            </a:endParaRPr>
          </a:p>
          <a:p>
            <a:pPr indent="-355600" lvl="0" marL="457200" rtl="0" algn="l">
              <a:lnSpc>
                <a:spcPct val="100000"/>
              </a:lnSpc>
              <a:spcBef>
                <a:spcPts val="900"/>
              </a:spcBef>
              <a:spcAft>
                <a:spcPts val="0"/>
              </a:spcAft>
              <a:buSzPts val="2000"/>
              <a:buFont typeface="Times"/>
              <a:buChar char="●"/>
            </a:pPr>
            <a:r>
              <a:rPr lang="en-GB" sz="2000">
                <a:latin typeface="Times"/>
                <a:ea typeface="Times"/>
                <a:cs typeface="Times"/>
                <a:sym typeface="Times"/>
              </a:rPr>
              <a:t>Residual capacity: </a:t>
            </a:r>
            <a:r>
              <a:rPr i="1" lang="en-GB" sz="2000">
                <a:latin typeface="Times"/>
                <a:ea typeface="Times"/>
                <a:cs typeface="Times"/>
                <a:sym typeface="Times"/>
              </a:rPr>
              <a:t>min⁡(5,10) = 5</a:t>
            </a:r>
            <a:endParaRPr i="1" sz="2000">
              <a:latin typeface="Times"/>
              <a:ea typeface="Times"/>
              <a:cs typeface="Times"/>
              <a:sym typeface="Times"/>
            </a:endParaRPr>
          </a:p>
          <a:p>
            <a:pPr indent="-355600" lvl="0" marL="457200" rtl="0" algn="l">
              <a:lnSpc>
                <a:spcPct val="100000"/>
              </a:lnSpc>
              <a:spcBef>
                <a:spcPts val="0"/>
              </a:spcBef>
              <a:spcAft>
                <a:spcPts val="0"/>
              </a:spcAft>
              <a:buSzPts val="2000"/>
              <a:buFont typeface="Times"/>
              <a:buChar char="●"/>
            </a:pPr>
            <a:r>
              <a:rPr lang="en-GB" sz="2000">
                <a:latin typeface="Times"/>
                <a:ea typeface="Times"/>
                <a:cs typeface="Times"/>
                <a:sym typeface="Times"/>
              </a:rPr>
              <a:t>Augment flow: </a:t>
            </a:r>
            <a:r>
              <a:rPr i="1" lang="en-GB" sz="2000">
                <a:latin typeface="Times"/>
                <a:ea typeface="Times"/>
                <a:cs typeface="Times"/>
                <a:sym typeface="Times"/>
              </a:rPr>
              <a:t>f(s,b) = 5, f(b,t) = 5</a:t>
            </a:r>
            <a:endParaRPr i="1" sz="2000">
              <a:latin typeface="Times"/>
              <a:ea typeface="Times"/>
              <a:cs typeface="Times"/>
              <a:sym typeface="Times"/>
            </a:endParaRPr>
          </a:p>
          <a:p>
            <a:pPr indent="0" lvl="0" marL="0" rtl="0" algn="l">
              <a:lnSpc>
                <a:spcPct val="100000"/>
              </a:lnSpc>
              <a:spcBef>
                <a:spcPts val="900"/>
              </a:spcBef>
              <a:spcAft>
                <a:spcPts val="0"/>
              </a:spcAft>
              <a:buNone/>
            </a:pPr>
            <a:r>
              <a:rPr b="1" lang="en-GB" sz="2000">
                <a:latin typeface="Times"/>
                <a:ea typeface="Times"/>
                <a:cs typeface="Times"/>
                <a:sym typeface="Times"/>
              </a:rPr>
              <a:t>Final Flow</a:t>
            </a:r>
            <a:r>
              <a:rPr lang="en-GB" sz="2000">
                <a:latin typeface="Times"/>
                <a:ea typeface="Times"/>
                <a:cs typeface="Times"/>
                <a:sym typeface="Times"/>
              </a:rPr>
              <a:t>:</a:t>
            </a:r>
            <a:endParaRPr sz="2000">
              <a:latin typeface="Times"/>
              <a:ea typeface="Times"/>
              <a:cs typeface="Times"/>
              <a:sym typeface="Times"/>
            </a:endParaRPr>
          </a:p>
          <a:p>
            <a:pPr indent="-355600" lvl="0" marL="457200" rtl="0" algn="l">
              <a:lnSpc>
                <a:spcPct val="100000"/>
              </a:lnSpc>
              <a:spcBef>
                <a:spcPts val="900"/>
              </a:spcBef>
              <a:spcAft>
                <a:spcPts val="0"/>
              </a:spcAft>
              <a:buSzPts val="2000"/>
              <a:buFont typeface="Times"/>
              <a:buChar char="●"/>
            </a:pPr>
            <a:r>
              <a:rPr lang="en-GB" sz="2000">
                <a:latin typeface="Times"/>
                <a:ea typeface="Times"/>
                <a:cs typeface="Times"/>
                <a:sym typeface="Times"/>
              </a:rPr>
              <a:t>Total flow = </a:t>
            </a:r>
            <a:r>
              <a:rPr i="1" lang="en-GB" sz="2000">
                <a:latin typeface="Times"/>
                <a:ea typeface="Times"/>
                <a:cs typeface="Times"/>
                <a:sym typeface="Times"/>
              </a:rPr>
              <a:t>f(s,a) + f(s,b) = 10+5 = 15</a:t>
            </a:r>
            <a:endParaRPr sz="2000">
              <a:latin typeface="Times"/>
              <a:ea typeface="Times"/>
              <a:cs typeface="Times"/>
              <a:sym typeface="Times"/>
            </a:endParaRPr>
          </a:p>
        </p:txBody>
      </p:sp>
      <p:sp>
        <p:nvSpPr>
          <p:cNvPr id="950" name="Google Shape;950;p68"/>
          <p:cNvSpPr/>
          <p:nvPr/>
        </p:nvSpPr>
        <p:spPr>
          <a:xfrm>
            <a:off x="6867055" y="1774975"/>
            <a:ext cx="644700" cy="6867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a</a:t>
            </a:r>
            <a:endParaRPr b="1" sz="2000">
              <a:latin typeface="Times"/>
              <a:ea typeface="Times"/>
              <a:cs typeface="Times"/>
              <a:sym typeface="Times"/>
            </a:endParaRPr>
          </a:p>
        </p:txBody>
      </p:sp>
      <p:sp>
        <p:nvSpPr>
          <p:cNvPr id="951" name="Google Shape;951;p68"/>
          <p:cNvSpPr/>
          <p:nvPr/>
        </p:nvSpPr>
        <p:spPr>
          <a:xfrm>
            <a:off x="6867055" y="3636700"/>
            <a:ext cx="644700" cy="6867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b</a:t>
            </a:r>
            <a:endParaRPr b="1" sz="2000">
              <a:latin typeface="Times"/>
              <a:ea typeface="Times"/>
              <a:cs typeface="Times"/>
              <a:sym typeface="Times"/>
            </a:endParaRPr>
          </a:p>
        </p:txBody>
      </p:sp>
      <p:sp>
        <p:nvSpPr>
          <p:cNvPr id="952" name="Google Shape;952;p68"/>
          <p:cNvSpPr/>
          <p:nvPr/>
        </p:nvSpPr>
        <p:spPr>
          <a:xfrm>
            <a:off x="8029550" y="2721841"/>
            <a:ext cx="644700" cy="6867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t</a:t>
            </a:r>
            <a:endParaRPr b="1" sz="2000">
              <a:latin typeface="Times"/>
              <a:ea typeface="Times"/>
              <a:cs typeface="Times"/>
              <a:sym typeface="Times"/>
            </a:endParaRPr>
          </a:p>
        </p:txBody>
      </p:sp>
      <p:sp>
        <p:nvSpPr>
          <p:cNvPr id="953" name="Google Shape;953;p68"/>
          <p:cNvSpPr/>
          <p:nvPr/>
        </p:nvSpPr>
        <p:spPr>
          <a:xfrm>
            <a:off x="5704600" y="2721841"/>
            <a:ext cx="644700" cy="6867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s</a:t>
            </a:r>
            <a:endParaRPr b="1" sz="2000">
              <a:latin typeface="Times"/>
              <a:ea typeface="Times"/>
              <a:cs typeface="Times"/>
              <a:sym typeface="Times"/>
            </a:endParaRPr>
          </a:p>
        </p:txBody>
      </p:sp>
      <p:cxnSp>
        <p:nvCxnSpPr>
          <p:cNvPr id="954" name="Google Shape;954;p68"/>
          <p:cNvCxnSpPr>
            <a:stCxn id="953" idx="7"/>
            <a:endCxn id="950" idx="2"/>
          </p:cNvCxnSpPr>
          <p:nvPr/>
        </p:nvCxnSpPr>
        <p:spPr>
          <a:xfrm flipH="1" rot="10800000">
            <a:off x="6254886" y="2118306"/>
            <a:ext cx="612300" cy="704100"/>
          </a:xfrm>
          <a:prstGeom prst="straightConnector1">
            <a:avLst/>
          </a:prstGeom>
          <a:noFill/>
          <a:ln cap="flat" cmpd="sng" w="19050">
            <a:solidFill>
              <a:srgbClr val="000000"/>
            </a:solidFill>
            <a:prstDash val="solid"/>
            <a:round/>
            <a:headEnd len="med" w="med" type="none"/>
            <a:tailEnd len="med" w="med" type="triangle"/>
          </a:ln>
        </p:spPr>
      </p:cxnSp>
      <p:cxnSp>
        <p:nvCxnSpPr>
          <p:cNvPr id="955" name="Google Shape;955;p68"/>
          <p:cNvCxnSpPr>
            <a:stCxn id="953" idx="5"/>
            <a:endCxn id="951" idx="2"/>
          </p:cNvCxnSpPr>
          <p:nvPr/>
        </p:nvCxnSpPr>
        <p:spPr>
          <a:xfrm>
            <a:off x="6254886" y="3307976"/>
            <a:ext cx="612300" cy="672000"/>
          </a:xfrm>
          <a:prstGeom prst="straightConnector1">
            <a:avLst/>
          </a:prstGeom>
          <a:noFill/>
          <a:ln cap="flat" cmpd="sng" w="19050">
            <a:solidFill>
              <a:srgbClr val="000000"/>
            </a:solidFill>
            <a:prstDash val="solid"/>
            <a:round/>
            <a:headEnd len="med" w="med" type="none"/>
            <a:tailEnd len="med" w="med" type="triangle"/>
          </a:ln>
        </p:spPr>
      </p:cxnSp>
      <p:cxnSp>
        <p:nvCxnSpPr>
          <p:cNvPr id="956" name="Google Shape;956;p68"/>
          <p:cNvCxnSpPr>
            <a:stCxn id="950" idx="6"/>
            <a:endCxn id="952" idx="1"/>
          </p:cNvCxnSpPr>
          <p:nvPr/>
        </p:nvCxnSpPr>
        <p:spPr>
          <a:xfrm>
            <a:off x="7511755" y="2118325"/>
            <a:ext cx="612300" cy="704100"/>
          </a:xfrm>
          <a:prstGeom prst="straightConnector1">
            <a:avLst/>
          </a:prstGeom>
          <a:noFill/>
          <a:ln cap="flat" cmpd="sng" w="19050">
            <a:solidFill>
              <a:srgbClr val="000000"/>
            </a:solidFill>
            <a:prstDash val="solid"/>
            <a:round/>
            <a:headEnd len="med" w="med" type="none"/>
            <a:tailEnd len="med" w="med" type="triangle"/>
          </a:ln>
        </p:spPr>
      </p:cxnSp>
      <p:cxnSp>
        <p:nvCxnSpPr>
          <p:cNvPr id="957" name="Google Shape;957;p68"/>
          <p:cNvCxnSpPr>
            <a:stCxn id="951" idx="6"/>
            <a:endCxn id="952" idx="3"/>
          </p:cNvCxnSpPr>
          <p:nvPr/>
        </p:nvCxnSpPr>
        <p:spPr>
          <a:xfrm flipH="1" rot="10800000">
            <a:off x="7511755" y="3308050"/>
            <a:ext cx="612300" cy="672000"/>
          </a:xfrm>
          <a:prstGeom prst="straightConnector1">
            <a:avLst/>
          </a:prstGeom>
          <a:noFill/>
          <a:ln cap="flat" cmpd="sng" w="19050">
            <a:solidFill>
              <a:srgbClr val="000000"/>
            </a:solidFill>
            <a:prstDash val="solid"/>
            <a:round/>
            <a:headEnd len="med" w="med" type="none"/>
            <a:tailEnd len="med" w="med" type="triangle"/>
          </a:ln>
        </p:spPr>
      </p:cxnSp>
      <p:cxnSp>
        <p:nvCxnSpPr>
          <p:cNvPr id="958" name="Google Shape;958;p68"/>
          <p:cNvCxnSpPr>
            <a:stCxn id="950" idx="4"/>
            <a:endCxn id="951" idx="0"/>
          </p:cNvCxnSpPr>
          <p:nvPr/>
        </p:nvCxnSpPr>
        <p:spPr>
          <a:xfrm>
            <a:off x="7189405" y="2461675"/>
            <a:ext cx="0" cy="1175100"/>
          </a:xfrm>
          <a:prstGeom prst="straightConnector1">
            <a:avLst/>
          </a:prstGeom>
          <a:noFill/>
          <a:ln cap="flat" cmpd="sng" w="19050">
            <a:solidFill>
              <a:srgbClr val="000000"/>
            </a:solidFill>
            <a:prstDash val="solid"/>
            <a:round/>
            <a:headEnd len="med" w="med" type="none"/>
            <a:tailEnd len="med" w="med" type="triangle"/>
          </a:ln>
        </p:spPr>
      </p:cxnSp>
      <p:sp>
        <p:nvSpPr>
          <p:cNvPr id="959" name="Google Shape;959;p68"/>
          <p:cNvSpPr txBox="1"/>
          <p:nvPr/>
        </p:nvSpPr>
        <p:spPr>
          <a:xfrm>
            <a:off x="6165001" y="2073000"/>
            <a:ext cx="4965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10</a:t>
            </a:r>
            <a:endParaRPr b="1" sz="1800">
              <a:latin typeface="Times"/>
              <a:ea typeface="Times"/>
              <a:cs typeface="Times"/>
              <a:sym typeface="Times"/>
            </a:endParaRPr>
          </a:p>
        </p:txBody>
      </p:sp>
      <p:sp>
        <p:nvSpPr>
          <p:cNvPr id="960" name="Google Shape;960;p68"/>
          <p:cNvSpPr txBox="1"/>
          <p:nvPr/>
        </p:nvSpPr>
        <p:spPr>
          <a:xfrm>
            <a:off x="7754824" y="2012050"/>
            <a:ext cx="714900" cy="49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10</a:t>
            </a:r>
            <a:endParaRPr b="1" sz="1800">
              <a:latin typeface="Times"/>
              <a:ea typeface="Times"/>
              <a:cs typeface="Times"/>
              <a:sym typeface="Times"/>
            </a:endParaRPr>
          </a:p>
        </p:txBody>
      </p:sp>
      <p:sp>
        <p:nvSpPr>
          <p:cNvPr id="961" name="Google Shape;961;p68"/>
          <p:cNvSpPr txBox="1"/>
          <p:nvPr/>
        </p:nvSpPr>
        <p:spPr>
          <a:xfrm>
            <a:off x="7824924" y="3552350"/>
            <a:ext cx="644700" cy="4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10</a:t>
            </a:r>
            <a:endParaRPr b="1" sz="1800">
              <a:latin typeface="Times"/>
              <a:ea typeface="Times"/>
              <a:cs typeface="Times"/>
              <a:sym typeface="Times"/>
            </a:endParaRPr>
          </a:p>
        </p:txBody>
      </p:sp>
      <p:sp>
        <p:nvSpPr>
          <p:cNvPr id="962" name="Google Shape;962;p68"/>
          <p:cNvSpPr txBox="1"/>
          <p:nvPr/>
        </p:nvSpPr>
        <p:spPr>
          <a:xfrm>
            <a:off x="6094439" y="3450150"/>
            <a:ext cx="567000" cy="4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5</a:t>
            </a:r>
            <a:endParaRPr b="1" sz="1800">
              <a:latin typeface="Times"/>
              <a:ea typeface="Times"/>
              <a:cs typeface="Times"/>
              <a:sym typeface="Times"/>
            </a:endParaRPr>
          </a:p>
        </p:txBody>
      </p:sp>
      <p:sp>
        <p:nvSpPr>
          <p:cNvPr id="963" name="Google Shape;963;p68"/>
          <p:cNvSpPr txBox="1"/>
          <p:nvPr/>
        </p:nvSpPr>
        <p:spPr>
          <a:xfrm>
            <a:off x="7189372" y="2822397"/>
            <a:ext cx="8064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15</a:t>
            </a:r>
            <a:endParaRPr b="1" sz="1800">
              <a:latin typeface="Times"/>
              <a:ea typeface="Times"/>
              <a:cs typeface="Times"/>
              <a:sym typeface="Time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967" name="Shape 967"/>
        <p:cNvGrpSpPr/>
        <p:nvPr/>
      </p:nvGrpSpPr>
      <p:grpSpPr>
        <a:xfrm>
          <a:off x="0" y="0"/>
          <a:ext cx="0" cy="0"/>
          <a:chOff x="0" y="0"/>
          <a:chExt cx="0" cy="0"/>
        </a:xfrm>
      </p:grpSpPr>
      <p:sp>
        <p:nvSpPr>
          <p:cNvPr id="968" name="Google Shape;968;p69"/>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969" name="Google Shape;969;p69"/>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970" name="Google Shape;970;p69"/>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971" name="Google Shape;971;p69"/>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Edmonds-Karp Algorithm</a:t>
            </a:r>
            <a:endParaRPr b="1" sz="4000">
              <a:latin typeface="Times"/>
              <a:ea typeface="Times"/>
              <a:cs typeface="Times"/>
              <a:sym typeface="Times"/>
            </a:endParaRPr>
          </a:p>
        </p:txBody>
      </p:sp>
      <p:cxnSp>
        <p:nvCxnSpPr>
          <p:cNvPr id="972" name="Google Shape;972;p69"/>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973" name="Google Shape;973;p69"/>
          <p:cNvSpPr txBox="1"/>
          <p:nvPr/>
        </p:nvSpPr>
        <p:spPr>
          <a:xfrm>
            <a:off x="553925" y="906400"/>
            <a:ext cx="8201700" cy="397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400"/>
              </a:spcBef>
              <a:spcAft>
                <a:spcPts val="0"/>
              </a:spcAft>
              <a:buNone/>
            </a:pPr>
            <a:r>
              <a:rPr b="1" lang="en-GB" sz="2000">
                <a:latin typeface="Times"/>
                <a:ea typeface="Times"/>
                <a:cs typeface="Times"/>
                <a:sym typeface="Times"/>
              </a:rPr>
              <a:t>Verify Properties</a:t>
            </a:r>
            <a:endParaRPr b="1" sz="2000">
              <a:latin typeface="Times"/>
              <a:ea typeface="Times"/>
              <a:cs typeface="Times"/>
              <a:sym typeface="Times"/>
            </a:endParaRPr>
          </a:p>
          <a:p>
            <a:pPr indent="-355600" lvl="0" marL="457200" rtl="0" algn="l">
              <a:lnSpc>
                <a:spcPct val="100000"/>
              </a:lnSpc>
              <a:spcBef>
                <a:spcPts val="900"/>
              </a:spcBef>
              <a:spcAft>
                <a:spcPts val="0"/>
              </a:spcAft>
              <a:buSzPts val="2000"/>
              <a:buAutoNum type="arabicPeriod"/>
            </a:pPr>
            <a:r>
              <a:rPr b="1" lang="en-GB" sz="2000">
                <a:latin typeface="Times"/>
                <a:ea typeface="Times"/>
                <a:cs typeface="Times"/>
                <a:sym typeface="Times"/>
              </a:rPr>
              <a:t>Capacity Constraint</a:t>
            </a:r>
            <a:r>
              <a:rPr lang="en-GB" sz="2000">
                <a:latin typeface="Times"/>
                <a:ea typeface="Times"/>
                <a:cs typeface="Times"/>
                <a:sym typeface="Times"/>
              </a:rPr>
              <a:t>:</a:t>
            </a:r>
            <a:endParaRPr sz="2000">
              <a:latin typeface="Times"/>
              <a:ea typeface="Times"/>
              <a:cs typeface="Times"/>
              <a:sym typeface="Times"/>
            </a:endParaRPr>
          </a:p>
          <a:p>
            <a:pPr indent="-355600" lvl="1" marL="630000" rtl="0" algn="l">
              <a:lnSpc>
                <a:spcPct val="100000"/>
              </a:lnSpc>
              <a:spcBef>
                <a:spcPts val="0"/>
              </a:spcBef>
              <a:spcAft>
                <a:spcPts val="0"/>
              </a:spcAft>
              <a:buSzPts val="2000"/>
              <a:buFont typeface="Times"/>
              <a:buChar char="○"/>
            </a:pPr>
            <a:r>
              <a:rPr lang="en-GB" sz="2000">
                <a:latin typeface="Times"/>
                <a:ea typeface="Times"/>
                <a:cs typeface="Times"/>
                <a:sym typeface="Times"/>
              </a:rPr>
              <a:t>f(s,a) = 10 ≤ c(s,a) = 10, f(a,t) = 10 ≤ c(a,t)=10 </a:t>
            </a:r>
            <a:endParaRPr sz="2000">
              <a:latin typeface="Times"/>
              <a:ea typeface="Times"/>
              <a:cs typeface="Times"/>
              <a:sym typeface="Times"/>
            </a:endParaRPr>
          </a:p>
          <a:p>
            <a:pPr indent="-355600" lvl="1" marL="630000" rtl="0" algn="l">
              <a:lnSpc>
                <a:spcPct val="100000"/>
              </a:lnSpc>
              <a:spcBef>
                <a:spcPts val="0"/>
              </a:spcBef>
              <a:spcAft>
                <a:spcPts val="0"/>
              </a:spcAft>
              <a:buSzPts val="2000"/>
              <a:buFont typeface="Times"/>
              <a:buChar char="○"/>
            </a:pPr>
            <a:r>
              <a:rPr lang="en-GB" sz="2000">
                <a:latin typeface="Times"/>
                <a:ea typeface="Times"/>
                <a:cs typeface="Times"/>
                <a:sym typeface="Times"/>
              </a:rPr>
              <a:t>f(s,b) = 5 ≤ c(s,b) = 5, f(b,t) = 5 ≤ c(b,t) = 10</a:t>
            </a:r>
            <a:endParaRPr sz="2000">
              <a:latin typeface="Times"/>
              <a:ea typeface="Times"/>
              <a:cs typeface="Times"/>
              <a:sym typeface="Times"/>
            </a:endParaRPr>
          </a:p>
          <a:p>
            <a:pPr indent="-355600" lvl="0" marL="457200" rtl="0" algn="l">
              <a:lnSpc>
                <a:spcPct val="100000"/>
              </a:lnSpc>
              <a:spcBef>
                <a:spcPts val="0"/>
              </a:spcBef>
              <a:spcAft>
                <a:spcPts val="0"/>
              </a:spcAft>
              <a:buSzPts val="2000"/>
              <a:buAutoNum type="arabicPeriod"/>
            </a:pPr>
            <a:r>
              <a:rPr b="1" lang="en-GB" sz="2000">
                <a:latin typeface="Times"/>
                <a:ea typeface="Times"/>
                <a:cs typeface="Times"/>
                <a:sym typeface="Times"/>
              </a:rPr>
              <a:t>Flow Conservation</a:t>
            </a:r>
            <a:r>
              <a:rPr lang="en-GB" sz="2000">
                <a:latin typeface="Times"/>
                <a:ea typeface="Times"/>
                <a:cs typeface="Times"/>
                <a:sym typeface="Times"/>
              </a:rPr>
              <a:t>:</a:t>
            </a:r>
            <a:endParaRPr sz="2000">
              <a:latin typeface="Times"/>
              <a:ea typeface="Times"/>
              <a:cs typeface="Times"/>
              <a:sym typeface="Times"/>
            </a:endParaRPr>
          </a:p>
          <a:p>
            <a:pPr indent="-355600" lvl="1" marL="630000" rtl="0" algn="l">
              <a:lnSpc>
                <a:spcPct val="100000"/>
              </a:lnSpc>
              <a:spcBef>
                <a:spcPts val="0"/>
              </a:spcBef>
              <a:spcAft>
                <a:spcPts val="0"/>
              </a:spcAft>
              <a:buSzPts val="2000"/>
              <a:buFont typeface="Times"/>
              <a:buChar char="○"/>
            </a:pPr>
            <a:r>
              <a:rPr lang="en-GB" sz="2000">
                <a:latin typeface="Times"/>
                <a:ea typeface="Times"/>
                <a:cs typeface="Times"/>
                <a:sym typeface="Times"/>
              </a:rPr>
              <a:t>f(in to a) = f(s,a) = 10, f(out from a) = f(a,t) = 10</a:t>
            </a:r>
            <a:endParaRPr sz="2000">
              <a:latin typeface="Times"/>
              <a:ea typeface="Times"/>
              <a:cs typeface="Times"/>
              <a:sym typeface="Times"/>
            </a:endParaRPr>
          </a:p>
          <a:p>
            <a:pPr indent="-355600" lvl="1" marL="630000" rtl="0" algn="l">
              <a:spcBef>
                <a:spcPts val="0"/>
              </a:spcBef>
              <a:spcAft>
                <a:spcPts val="0"/>
              </a:spcAft>
              <a:buSzPts val="2000"/>
              <a:buFont typeface="Times"/>
              <a:buChar char="○"/>
            </a:pPr>
            <a:r>
              <a:rPr lang="en-GB" sz="2000">
                <a:latin typeface="Times"/>
                <a:ea typeface="Times"/>
                <a:cs typeface="Times"/>
                <a:sym typeface="Times"/>
              </a:rPr>
              <a:t>f(in to b) = f(s,b) = 5, f(out from b) = f(b,t) = 5</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AutoNum type="arabicPeriod"/>
            </a:pPr>
            <a:r>
              <a:rPr b="1" lang="en-GB" sz="2000">
                <a:latin typeface="Times"/>
                <a:ea typeface="Times"/>
                <a:cs typeface="Times"/>
                <a:sym typeface="Times"/>
              </a:rPr>
              <a:t>Flow Value</a:t>
            </a:r>
            <a:r>
              <a:rPr lang="en-GB" sz="2000">
                <a:latin typeface="Times"/>
                <a:ea typeface="Times"/>
                <a:cs typeface="Times"/>
                <a:sym typeface="Times"/>
              </a:rPr>
              <a:t>:</a:t>
            </a:r>
            <a:endParaRPr sz="2000">
              <a:latin typeface="Times"/>
              <a:ea typeface="Times"/>
              <a:cs typeface="Times"/>
              <a:sym typeface="Times"/>
            </a:endParaRPr>
          </a:p>
          <a:p>
            <a:pPr indent="-355600" lvl="1" marL="630000" rtl="0" algn="l">
              <a:lnSpc>
                <a:spcPct val="100000"/>
              </a:lnSpc>
              <a:spcBef>
                <a:spcPts val="0"/>
              </a:spcBef>
              <a:spcAft>
                <a:spcPts val="0"/>
              </a:spcAft>
              <a:buSzPts val="2000"/>
              <a:buFont typeface="Times"/>
              <a:buChar char="○"/>
            </a:pPr>
            <a:r>
              <a:rPr lang="en-GB" sz="2000">
                <a:latin typeface="Times"/>
                <a:ea typeface="Times"/>
                <a:cs typeface="Times"/>
                <a:sym typeface="Times"/>
              </a:rPr>
              <a:t>Total flow leaving s: f(s,a)+f(s,b)=10+5=15</a:t>
            </a:r>
            <a:endParaRPr sz="2000">
              <a:latin typeface="Times"/>
              <a:ea typeface="Times"/>
              <a:cs typeface="Times"/>
              <a:sym typeface="Times"/>
            </a:endParaRPr>
          </a:p>
          <a:p>
            <a:pPr indent="-355600" lvl="1" marL="630000" rtl="0" algn="l">
              <a:lnSpc>
                <a:spcPct val="100000"/>
              </a:lnSpc>
              <a:spcBef>
                <a:spcPts val="0"/>
              </a:spcBef>
              <a:spcAft>
                <a:spcPts val="0"/>
              </a:spcAft>
              <a:buSzPts val="2000"/>
              <a:buFont typeface="Times"/>
              <a:buChar char="○"/>
            </a:pPr>
            <a:r>
              <a:rPr lang="en-GB" sz="2000">
                <a:latin typeface="Times"/>
                <a:ea typeface="Times"/>
                <a:cs typeface="Times"/>
                <a:sym typeface="Times"/>
              </a:rPr>
              <a:t>Total flow entering t: f(a,t)+f(b,t)=10+5=15</a:t>
            </a:r>
            <a:endParaRPr sz="2000">
              <a:latin typeface="Times"/>
              <a:ea typeface="Times"/>
              <a:cs typeface="Times"/>
              <a:sym typeface="Times"/>
            </a:endParaRPr>
          </a:p>
          <a:p>
            <a:pPr indent="0" lvl="0" marL="0" rtl="0" algn="l">
              <a:lnSpc>
                <a:spcPct val="100000"/>
              </a:lnSpc>
              <a:spcBef>
                <a:spcPts val="900"/>
              </a:spcBef>
              <a:spcAft>
                <a:spcPts val="900"/>
              </a:spcAft>
              <a:buNone/>
            </a:pPr>
            <a:r>
              <a:rPr lang="en-GB" sz="2000">
                <a:latin typeface="Times"/>
                <a:ea typeface="Times"/>
                <a:cs typeface="Times"/>
                <a:sym typeface="Times"/>
              </a:rPr>
              <a:t>The </a:t>
            </a:r>
            <a:r>
              <a:rPr b="1" lang="en-GB" sz="2000">
                <a:latin typeface="Times"/>
                <a:ea typeface="Times"/>
                <a:cs typeface="Times"/>
                <a:sym typeface="Times"/>
              </a:rPr>
              <a:t>maximum flow</a:t>
            </a:r>
            <a:r>
              <a:rPr lang="en-GB" sz="2000">
                <a:latin typeface="Times"/>
                <a:ea typeface="Times"/>
                <a:cs typeface="Times"/>
                <a:sym typeface="Times"/>
              </a:rPr>
              <a:t> from s to t in this flow network is:</a:t>
            </a:r>
            <a:r>
              <a:rPr b="1" lang="en-GB" sz="2000">
                <a:latin typeface="Times"/>
                <a:ea typeface="Times"/>
                <a:cs typeface="Times"/>
                <a:sym typeface="Times"/>
              </a:rPr>
              <a:t>15</a:t>
            </a:r>
            <a:endParaRPr b="1" sz="2000">
              <a:latin typeface="Times"/>
              <a:ea typeface="Times"/>
              <a:cs typeface="Times"/>
              <a:sym typeface="Times"/>
            </a:endParaRPr>
          </a:p>
        </p:txBody>
      </p:sp>
      <p:sp>
        <p:nvSpPr>
          <p:cNvPr id="974" name="Google Shape;974;p69"/>
          <p:cNvSpPr/>
          <p:nvPr/>
        </p:nvSpPr>
        <p:spPr>
          <a:xfrm>
            <a:off x="7290786" y="893100"/>
            <a:ext cx="521100" cy="4620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a</a:t>
            </a:r>
            <a:endParaRPr b="1" sz="2000">
              <a:latin typeface="Times"/>
              <a:ea typeface="Times"/>
              <a:cs typeface="Times"/>
              <a:sym typeface="Times"/>
            </a:endParaRPr>
          </a:p>
        </p:txBody>
      </p:sp>
      <p:sp>
        <p:nvSpPr>
          <p:cNvPr id="975" name="Google Shape;975;p69"/>
          <p:cNvSpPr/>
          <p:nvPr/>
        </p:nvSpPr>
        <p:spPr>
          <a:xfrm>
            <a:off x="7290786" y="2145177"/>
            <a:ext cx="521100" cy="4620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b</a:t>
            </a:r>
            <a:endParaRPr b="1" sz="2000">
              <a:latin typeface="Times"/>
              <a:ea typeface="Times"/>
              <a:cs typeface="Times"/>
              <a:sym typeface="Times"/>
            </a:endParaRPr>
          </a:p>
        </p:txBody>
      </p:sp>
      <p:sp>
        <p:nvSpPr>
          <p:cNvPr id="976" name="Google Shape;976;p69"/>
          <p:cNvSpPr/>
          <p:nvPr/>
        </p:nvSpPr>
        <p:spPr>
          <a:xfrm>
            <a:off x="8229554" y="1529902"/>
            <a:ext cx="521100" cy="4620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t</a:t>
            </a:r>
            <a:endParaRPr b="1" sz="2000">
              <a:latin typeface="Times"/>
              <a:ea typeface="Times"/>
              <a:cs typeface="Times"/>
              <a:sym typeface="Times"/>
            </a:endParaRPr>
          </a:p>
        </p:txBody>
      </p:sp>
      <p:sp>
        <p:nvSpPr>
          <p:cNvPr id="977" name="Google Shape;977;p69"/>
          <p:cNvSpPr/>
          <p:nvPr/>
        </p:nvSpPr>
        <p:spPr>
          <a:xfrm>
            <a:off x="6352050" y="1529902"/>
            <a:ext cx="521100" cy="4620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s</a:t>
            </a:r>
            <a:endParaRPr b="1" sz="2000">
              <a:latin typeface="Times"/>
              <a:ea typeface="Times"/>
              <a:cs typeface="Times"/>
              <a:sym typeface="Times"/>
            </a:endParaRPr>
          </a:p>
        </p:txBody>
      </p:sp>
      <p:cxnSp>
        <p:nvCxnSpPr>
          <p:cNvPr id="978" name="Google Shape;978;p69"/>
          <p:cNvCxnSpPr>
            <a:stCxn id="977" idx="7"/>
            <a:endCxn id="974" idx="2"/>
          </p:cNvCxnSpPr>
          <p:nvPr/>
        </p:nvCxnSpPr>
        <p:spPr>
          <a:xfrm flipH="1" rot="10800000">
            <a:off x="6796837" y="1124160"/>
            <a:ext cx="493800" cy="473400"/>
          </a:xfrm>
          <a:prstGeom prst="straightConnector1">
            <a:avLst/>
          </a:prstGeom>
          <a:noFill/>
          <a:ln cap="flat" cmpd="sng" w="19050">
            <a:solidFill>
              <a:srgbClr val="000000"/>
            </a:solidFill>
            <a:prstDash val="solid"/>
            <a:round/>
            <a:headEnd len="med" w="med" type="none"/>
            <a:tailEnd len="med" w="med" type="triangle"/>
          </a:ln>
        </p:spPr>
      </p:cxnSp>
      <p:cxnSp>
        <p:nvCxnSpPr>
          <p:cNvPr id="979" name="Google Shape;979;p69"/>
          <p:cNvCxnSpPr>
            <a:stCxn id="977" idx="5"/>
            <a:endCxn id="975" idx="2"/>
          </p:cNvCxnSpPr>
          <p:nvPr/>
        </p:nvCxnSpPr>
        <p:spPr>
          <a:xfrm>
            <a:off x="6796837" y="1924243"/>
            <a:ext cx="493800" cy="451800"/>
          </a:xfrm>
          <a:prstGeom prst="straightConnector1">
            <a:avLst/>
          </a:prstGeom>
          <a:noFill/>
          <a:ln cap="flat" cmpd="sng" w="19050">
            <a:solidFill>
              <a:srgbClr val="000000"/>
            </a:solidFill>
            <a:prstDash val="solid"/>
            <a:round/>
            <a:headEnd len="med" w="med" type="none"/>
            <a:tailEnd len="med" w="med" type="triangle"/>
          </a:ln>
        </p:spPr>
      </p:cxnSp>
      <p:cxnSp>
        <p:nvCxnSpPr>
          <p:cNvPr id="980" name="Google Shape;980;p69"/>
          <p:cNvCxnSpPr>
            <a:stCxn id="974" idx="6"/>
            <a:endCxn id="976" idx="1"/>
          </p:cNvCxnSpPr>
          <p:nvPr/>
        </p:nvCxnSpPr>
        <p:spPr>
          <a:xfrm>
            <a:off x="7811886" y="1124100"/>
            <a:ext cx="494100" cy="473400"/>
          </a:xfrm>
          <a:prstGeom prst="straightConnector1">
            <a:avLst/>
          </a:prstGeom>
          <a:noFill/>
          <a:ln cap="flat" cmpd="sng" w="19050">
            <a:solidFill>
              <a:srgbClr val="000000"/>
            </a:solidFill>
            <a:prstDash val="solid"/>
            <a:round/>
            <a:headEnd len="med" w="med" type="none"/>
            <a:tailEnd len="med" w="med" type="triangle"/>
          </a:ln>
        </p:spPr>
      </p:cxnSp>
      <p:cxnSp>
        <p:nvCxnSpPr>
          <p:cNvPr id="981" name="Google Shape;981;p69"/>
          <p:cNvCxnSpPr>
            <a:stCxn id="975" idx="6"/>
            <a:endCxn id="976" idx="3"/>
          </p:cNvCxnSpPr>
          <p:nvPr/>
        </p:nvCxnSpPr>
        <p:spPr>
          <a:xfrm flipH="1" rot="10800000">
            <a:off x="7811886" y="1924377"/>
            <a:ext cx="494100" cy="451800"/>
          </a:xfrm>
          <a:prstGeom prst="straightConnector1">
            <a:avLst/>
          </a:prstGeom>
          <a:noFill/>
          <a:ln cap="flat" cmpd="sng" w="19050">
            <a:solidFill>
              <a:srgbClr val="000000"/>
            </a:solidFill>
            <a:prstDash val="solid"/>
            <a:round/>
            <a:headEnd len="med" w="med" type="none"/>
            <a:tailEnd len="med" w="med" type="triangle"/>
          </a:ln>
        </p:spPr>
      </p:cxnSp>
      <p:cxnSp>
        <p:nvCxnSpPr>
          <p:cNvPr id="982" name="Google Shape;982;p69"/>
          <p:cNvCxnSpPr>
            <a:stCxn id="974" idx="4"/>
            <a:endCxn id="975" idx="0"/>
          </p:cNvCxnSpPr>
          <p:nvPr/>
        </p:nvCxnSpPr>
        <p:spPr>
          <a:xfrm>
            <a:off x="7551336" y="1355100"/>
            <a:ext cx="0" cy="790200"/>
          </a:xfrm>
          <a:prstGeom prst="straightConnector1">
            <a:avLst/>
          </a:prstGeom>
          <a:noFill/>
          <a:ln cap="flat" cmpd="sng" w="19050">
            <a:solidFill>
              <a:srgbClr val="000000"/>
            </a:solidFill>
            <a:prstDash val="solid"/>
            <a:round/>
            <a:headEnd len="med" w="med" type="none"/>
            <a:tailEnd len="med" w="med" type="triangle"/>
          </a:ln>
        </p:spPr>
      </p:cxnSp>
      <p:sp>
        <p:nvSpPr>
          <p:cNvPr id="983" name="Google Shape;983;p69"/>
          <p:cNvSpPr txBox="1"/>
          <p:nvPr/>
        </p:nvSpPr>
        <p:spPr>
          <a:xfrm>
            <a:off x="6630331" y="1093528"/>
            <a:ext cx="494400" cy="26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10</a:t>
            </a:r>
            <a:endParaRPr b="1" sz="1800">
              <a:latin typeface="Times"/>
              <a:ea typeface="Times"/>
              <a:cs typeface="Times"/>
              <a:sym typeface="Times"/>
            </a:endParaRPr>
          </a:p>
        </p:txBody>
      </p:sp>
      <p:sp>
        <p:nvSpPr>
          <p:cNvPr id="984" name="Google Shape;984;p69"/>
          <p:cNvSpPr txBox="1"/>
          <p:nvPr/>
        </p:nvSpPr>
        <p:spPr>
          <a:xfrm>
            <a:off x="8007700" y="1052542"/>
            <a:ext cx="577200" cy="33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10</a:t>
            </a:r>
            <a:endParaRPr b="1" sz="1800">
              <a:latin typeface="Times"/>
              <a:ea typeface="Times"/>
              <a:cs typeface="Times"/>
              <a:sym typeface="Times"/>
            </a:endParaRPr>
          </a:p>
        </p:txBody>
      </p:sp>
      <p:sp>
        <p:nvSpPr>
          <p:cNvPr id="985" name="Google Shape;985;p69"/>
          <p:cNvSpPr txBox="1"/>
          <p:nvPr/>
        </p:nvSpPr>
        <p:spPr>
          <a:xfrm>
            <a:off x="8064308" y="2088449"/>
            <a:ext cx="521100" cy="28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10</a:t>
            </a:r>
            <a:endParaRPr b="1" sz="1800">
              <a:latin typeface="Times"/>
              <a:ea typeface="Times"/>
              <a:cs typeface="Times"/>
              <a:sym typeface="Times"/>
            </a:endParaRPr>
          </a:p>
        </p:txBody>
      </p:sp>
      <p:sp>
        <p:nvSpPr>
          <p:cNvPr id="986" name="Google Shape;986;p69"/>
          <p:cNvSpPr txBox="1"/>
          <p:nvPr/>
        </p:nvSpPr>
        <p:spPr>
          <a:xfrm>
            <a:off x="6666863" y="2019716"/>
            <a:ext cx="457500" cy="28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5</a:t>
            </a:r>
            <a:endParaRPr b="1" sz="1800">
              <a:latin typeface="Times"/>
              <a:ea typeface="Times"/>
              <a:cs typeface="Times"/>
              <a:sym typeface="Times"/>
            </a:endParaRPr>
          </a:p>
        </p:txBody>
      </p:sp>
      <p:sp>
        <p:nvSpPr>
          <p:cNvPr id="987" name="Google Shape;987;p69"/>
          <p:cNvSpPr txBox="1"/>
          <p:nvPr/>
        </p:nvSpPr>
        <p:spPr>
          <a:xfrm>
            <a:off x="7551071" y="1597529"/>
            <a:ext cx="651300" cy="26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15</a:t>
            </a:r>
            <a:endParaRPr b="1" sz="1800">
              <a:latin typeface="Times"/>
              <a:ea typeface="Times"/>
              <a:cs typeface="Times"/>
              <a:sym typeface="Times"/>
            </a:endParaRPr>
          </a:p>
        </p:txBody>
      </p:sp>
      <p:sp>
        <p:nvSpPr>
          <p:cNvPr id="988" name="Google Shape;988;p69"/>
          <p:cNvSpPr/>
          <p:nvPr/>
        </p:nvSpPr>
        <p:spPr>
          <a:xfrm>
            <a:off x="7301966" y="2721900"/>
            <a:ext cx="544200" cy="5691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a</a:t>
            </a:r>
            <a:endParaRPr b="1" sz="2000">
              <a:latin typeface="Times"/>
              <a:ea typeface="Times"/>
              <a:cs typeface="Times"/>
              <a:sym typeface="Times"/>
            </a:endParaRPr>
          </a:p>
        </p:txBody>
      </p:sp>
      <p:sp>
        <p:nvSpPr>
          <p:cNvPr id="989" name="Google Shape;989;p69"/>
          <p:cNvSpPr/>
          <p:nvPr/>
        </p:nvSpPr>
        <p:spPr>
          <a:xfrm>
            <a:off x="7301966" y="4264600"/>
            <a:ext cx="544200" cy="5691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b</a:t>
            </a:r>
            <a:endParaRPr b="1" sz="2000">
              <a:latin typeface="Times"/>
              <a:ea typeface="Times"/>
              <a:cs typeface="Times"/>
              <a:sym typeface="Times"/>
            </a:endParaRPr>
          </a:p>
        </p:txBody>
      </p:sp>
      <p:sp>
        <p:nvSpPr>
          <p:cNvPr id="990" name="Google Shape;990;p69"/>
          <p:cNvSpPr/>
          <p:nvPr/>
        </p:nvSpPr>
        <p:spPr>
          <a:xfrm>
            <a:off x="8282541" y="3506511"/>
            <a:ext cx="544200" cy="5691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t</a:t>
            </a:r>
            <a:endParaRPr b="1" sz="2000">
              <a:latin typeface="Times"/>
              <a:ea typeface="Times"/>
              <a:cs typeface="Times"/>
              <a:sym typeface="Times"/>
            </a:endParaRPr>
          </a:p>
        </p:txBody>
      </p:sp>
      <p:sp>
        <p:nvSpPr>
          <p:cNvPr id="991" name="Google Shape;991;p69"/>
          <p:cNvSpPr/>
          <p:nvPr/>
        </p:nvSpPr>
        <p:spPr>
          <a:xfrm>
            <a:off x="6321425" y="3506511"/>
            <a:ext cx="544200" cy="569100"/>
          </a:xfrm>
          <a:prstGeom prst="ellipse">
            <a:avLst/>
          </a:pr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s</a:t>
            </a:r>
            <a:endParaRPr b="1" sz="2000">
              <a:latin typeface="Times"/>
              <a:ea typeface="Times"/>
              <a:cs typeface="Times"/>
              <a:sym typeface="Times"/>
            </a:endParaRPr>
          </a:p>
        </p:txBody>
      </p:sp>
      <p:cxnSp>
        <p:nvCxnSpPr>
          <p:cNvPr id="992" name="Google Shape;992;p69"/>
          <p:cNvCxnSpPr>
            <a:stCxn id="991" idx="7"/>
            <a:endCxn id="988" idx="2"/>
          </p:cNvCxnSpPr>
          <p:nvPr/>
        </p:nvCxnSpPr>
        <p:spPr>
          <a:xfrm flipH="1" rot="10800000">
            <a:off x="6785929" y="3006354"/>
            <a:ext cx="516000" cy="583500"/>
          </a:xfrm>
          <a:prstGeom prst="straightConnector1">
            <a:avLst/>
          </a:prstGeom>
          <a:noFill/>
          <a:ln cap="flat" cmpd="sng" w="19050">
            <a:solidFill>
              <a:srgbClr val="000000"/>
            </a:solidFill>
            <a:prstDash val="solid"/>
            <a:round/>
            <a:headEnd len="med" w="med" type="none"/>
            <a:tailEnd len="med" w="med" type="triangle"/>
          </a:ln>
        </p:spPr>
      </p:cxnSp>
      <p:cxnSp>
        <p:nvCxnSpPr>
          <p:cNvPr id="993" name="Google Shape;993;p69"/>
          <p:cNvCxnSpPr>
            <a:stCxn id="991" idx="5"/>
            <a:endCxn id="989" idx="2"/>
          </p:cNvCxnSpPr>
          <p:nvPr/>
        </p:nvCxnSpPr>
        <p:spPr>
          <a:xfrm>
            <a:off x="6785929" y="3992269"/>
            <a:ext cx="516000" cy="556800"/>
          </a:xfrm>
          <a:prstGeom prst="straightConnector1">
            <a:avLst/>
          </a:prstGeom>
          <a:noFill/>
          <a:ln cap="flat" cmpd="sng" w="19050">
            <a:solidFill>
              <a:srgbClr val="000000"/>
            </a:solidFill>
            <a:prstDash val="solid"/>
            <a:round/>
            <a:headEnd len="med" w="med" type="none"/>
            <a:tailEnd len="med" w="med" type="triangle"/>
          </a:ln>
        </p:spPr>
      </p:cxnSp>
      <p:cxnSp>
        <p:nvCxnSpPr>
          <p:cNvPr id="994" name="Google Shape;994;p69"/>
          <p:cNvCxnSpPr>
            <a:stCxn id="988" idx="6"/>
            <a:endCxn id="990" idx="1"/>
          </p:cNvCxnSpPr>
          <p:nvPr/>
        </p:nvCxnSpPr>
        <p:spPr>
          <a:xfrm>
            <a:off x="7846166" y="3006450"/>
            <a:ext cx="516000" cy="583500"/>
          </a:xfrm>
          <a:prstGeom prst="straightConnector1">
            <a:avLst/>
          </a:prstGeom>
          <a:noFill/>
          <a:ln cap="flat" cmpd="sng" w="19050">
            <a:solidFill>
              <a:srgbClr val="000000"/>
            </a:solidFill>
            <a:prstDash val="solid"/>
            <a:round/>
            <a:headEnd len="med" w="med" type="none"/>
            <a:tailEnd len="med" w="med" type="triangle"/>
          </a:ln>
        </p:spPr>
      </p:cxnSp>
      <p:cxnSp>
        <p:nvCxnSpPr>
          <p:cNvPr id="995" name="Google Shape;995;p69"/>
          <p:cNvCxnSpPr>
            <a:stCxn id="989" idx="6"/>
            <a:endCxn id="990" idx="3"/>
          </p:cNvCxnSpPr>
          <p:nvPr/>
        </p:nvCxnSpPr>
        <p:spPr>
          <a:xfrm flipH="1" rot="10800000">
            <a:off x="7846166" y="3992350"/>
            <a:ext cx="516000" cy="556800"/>
          </a:xfrm>
          <a:prstGeom prst="straightConnector1">
            <a:avLst/>
          </a:prstGeom>
          <a:noFill/>
          <a:ln cap="flat" cmpd="sng" w="19050">
            <a:solidFill>
              <a:srgbClr val="000000"/>
            </a:solidFill>
            <a:prstDash val="solid"/>
            <a:round/>
            <a:headEnd len="med" w="med" type="none"/>
            <a:tailEnd len="med" w="med" type="triangle"/>
          </a:ln>
        </p:spPr>
      </p:cxnSp>
      <p:cxnSp>
        <p:nvCxnSpPr>
          <p:cNvPr id="996" name="Google Shape;996;p69"/>
          <p:cNvCxnSpPr>
            <a:stCxn id="988" idx="4"/>
            <a:endCxn id="989" idx="0"/>
          </p:cNvCxnSpPr>
          <p:nvPr/>
        </p:nvCxnSpPr>
        <p:spPr>
          <a:xfrm>
            <a:off x="7574066" y="3291000"/>
            <a:ext cx="0" cy="973500"/>
          </a:xfrm>
          <a:prstGeom prst="straightConnector1">
            <a:avLst/>
          </a:prstGeom>
          <a:noFill/>
          <a:ln cap="flat" cmpd="sng" w="19050">
            <a:solidFill>
              <a:srgbClr val="000000"/>
            </a:solidFill>
            <a:prstDash val="solid"/>
            <a:round/>
            <a:headEnd len="med" w="med" type="none"/>
            <a:tailEnd len="med" w="med" type="triangle"/>
          </a:ln>
        </p:spPr>
      </p:cxnSp>
      <p:sp>
        <p:nvSpPr>
          <p:cNvPr id="997" name="Google Shape;997;p69"/>
          <p:cNvSpPr txBox="1"/>
          <p:nvPr/>
        </p:nvSpPr>
        <p:spPr>
          <a:xfrm>
            <a:off x="6381350" y="2968850"/>
            <a:ext cx="7470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10/10</a:t>
            </a:r>
            <a:endParaRPr b="1" sz="1800">
              <a:latin typeface="Times"/>
              <a:ea typeface="Times"/>
              <a:cs typeface="Times"/>
              <a:sym typeface="Times"/>
            </a:endParaRPr>
          </a:p>
        </p:txBody>
      </p:sp>
      <p:sp>
        <p:nvSpPr>
          <p:cNvPr id="998" name="Google Shape;998;p69"/>
          <p:cNvSpPr txBox="1"/>
          <p:nvPr/>
        </p:nvSpPr>
        <p:spPr>
          <a:xfrm>
            <a:off x="8050800" y="2918350"/>
            <a:ext cx="747000" cy="4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10/10</a:t>
            </a:r>
            <a:endParaRPr b="1" sz="1800">
              <a:latin typeface="Times"/>
              <a:ea typeface="Times"/>
              <a:cs typeface="Times"/>
              <a:sym typeface="Times"/>
            </a:endParaRPr>
          </a:p>
        </p:txBody>
      </p:sp>
      <p:sp>
        <p:nvSpPr>
          <p:cNvPr id="999" name="Google Shape;999;p69"/>
          <p:cNvSpPr txBox="1"/>
          <p:nvPr/>
        </p:nvSpPr>
        <p:spPr>
          <a:xfrm>
            <a:off x="8109922" y="4194700"/>
            <a:ext cx="680400" cy="35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5/10</a:t>
            </a:r>
            <a:endParaRPr b="1" sz="1800">
              <a:latin typeface="Times"/>
              <a:ea typeface="Times"/>
              <a:cs typeface="Times"/>
              <a:sym typeface="Times"/>
            </a:endParaRPr>
          </a:p>
        </p:txBody>
      </p:sp>
      <p:sp>
        <p:nvSpPr>
          <p:cNvPr id="1000" name="Google Shape;1000;p69"/>
          <p:cNvSpPr txBox="1"/>
          <p:nvPr/>
        </p:nvSpPr>
        <p:spPr>
          <a:xfrm>
            <a:off x="6650258" y="4110017"/>
            <a:ext cx="477900" cy="35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5/5</a:t>
            </a:r>
            <a:endParaRPr b="1" sz="1800">
              <a:latin typeface="Times"/>
              <a:ea typeface="Times"/>
              <a:cs typeface="Times"/>
              <a:sym typeface="Times"/>
            </a:endParaRPr>
          </a:p>
        </p:txBody>
      </p:sp>
      <p:sp>
        <p:nvSpPr>
          <p:cNvPr id="1001" name="Google Shape;1001;p69"/>
          <p:cNvSpPr txBox="1"/>
          <p:nvPr/>
        </p:nvSpPr>
        <p:spPr>
          <a:xfrm>
            <a:off x="7573843" y="3589836"/>
            <a:ext cx="6804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15</a:t>
            </a:r>
            <a:endParaRPr b="1" sz="1800">
              <a:latin typeface="Times"/>
              <a:ea typeface="Times"/>
              <a:cs typeface="Times"/>
              <a:sym typeface="Times"/>
            </a:endParaRPr>
          </a:p>
        </p:txBody>
      </p:sp>
      <p:cxnSp>
        <p:nvCxnSpPr>
          <p:cNvPr id="1002" name="Google Shape;1002;p69"/>
          <p:cNvCxnSpPr>
            <a:stCxn id="985" idx="3"/>
            <a:endCxn id="998" idx="0"/>
          </p:cNvCxnSpPr>
          <p:nvPr/>
        </p:nvCxnSpPr>
        <p:spPr>
          <a:xfrm flipH="1">
            <a:off x="8424308" y="2232299"/>
            <a:ext cx="161100" cy="6861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1006" name="Shape 1006"/>
        <p:cNvGrpSpPr/>
        <p:nvPr/>
      </p:nvGrpSpPr>
      <p:grpSpPr>
        <a:xfrm>
          <a:off x="0" y="0"/>
          <a:ext cx="0" cy="0"/>
          <a:chOff x="0" y="0"/>
          <a:chExt cx="0" cy="0"/>
        </a:xfrm>
      </p:grpSpPr>
      <p:sp>
        <p:nvSpPr>
          <p:cNvPr id="1007" name="Google Shape;1007;p70"/>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008" name="Google Shape;1008;p70"/>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1009" name="Google Shape;1009;p70"/>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010" name="Google Shape;1010;p70"/>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Appln.  of </a:t>
            </a:r>
            <a:r>
              <a:rPr b="1" lang="en-GB" sz="4000">
                <a:latin typeface="Times"/>
                <a:ea typeface="Times"/>
                <a:cs typeface="Times"/>
                <a:sym typeface="Times"/>
              </a:rPr>
              <a:t>Edmonds-Karp Algorithm</a:t>
            </a:r>
            <a:endParaRPr b="1" sz="4000">
              <a:latin typeface="Times"/>
              <a:ea typeface="Times"/>
              <a:cs typeface="Times"/>
              <a:sym typeface="Times"/>
            </a:endParaRPr>
          </a:p>
        </p:txBody>
      </p:sp>
      <p:cxnSp>
        <p:nvCxnSpPr>
          <p:cNvPr id="1011" name="Google Shape;1011;p70"/>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1012" name="Google Shape;1012;p70"/>
          <p:cNvSpPr txBox="1"/>
          <p:nvPr/>
        </p:nvSpPr>
        <p:spPr>
          <a:xfrm>
            <a:off x="553925" y="906400"/>
            <a:ext cx="8201700" cy="3970200"/>
          </a:xfrm>
          <a:prstGeom prst="rect">
            <a:avLst/>
          </a:prstGeom>
          <a:noFill/>
          <a:ln>
            <a:noFill/>
          </a:ln>
        </p:spPr>
        <p:txBody>
          <a:bodyPr anchorCtr="0" anchor="t" bIns="91425" lIns="91425" spcFirstLastPara="1" rIns="91425" wrap="square" tIns="91425">
            <a:noAutofit/>
          </a:bodyPr>
          <a:lstStyle/>
          <a:p>
            <a:pPr indent="-355600" lvl="0" marL="457200" rtl="0" algn="l">
              <a:lnSpc>
                <a:spcPct val="100000"/>
              </a:lnSpc>
              <a:spcBef>
                <a:spcPts val="900"/>
              </a:spcBef>
              <a:spcAft>
                <a:spcPts val="0"/>
              </a:spcAft>
              <a:buSzPts val="2000"/>
              <a:buFont typeface="Times"/>
              <a:buChar char="➔"/>
            </a:pPr>
            <a:r>
              <a:rPr lang="en-GB" sz="2000">
                <a:latin typeface="Times"/>
                <a:ea typeface="Times"/>
                <a:cs typeface="Times"/>
                <a:sym typeface="Times"/>
              </a:rPr>
              <a:t>Network design and optimization.</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Char char="➔"/>
            </a:pPr>
            <a:r>
              <a:rPr lang="en-GB" sz="2000">
                <a:latin typeface="Times"/>
                <a:ea typeface="Times"/>
                <a:cs typeface="Times"/>
                <a:sym typeface="Times"/>
              </a:rPr>
              <a:t>Resource allocation problems.</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Char char="➔"/>
            </a:pPr>
            <a:r>
              <a:rPr lang="en-GB" sz="2000">
                <a:latin typeface="Times"/>
                <a:ea typeface="Times"/>
                <a:cs typeface="Times"/>
                <a:sym typeface="Times"/>
              </a:rPr>
              <a:t>Transportation systems.</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Char char="➔"/>
            </a:pPr>
            <a:r>
              <a:rPr lang="en-GB" sz="2000">
                <a:latin typeface="Times"/>
                <a:ea typeface="Times"/>
                <a:cs typeface="Times"/>
                <a:sym typeface="Times"/>
              </a:rPr>
              <a:t>Bipartite matching problems.</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Char char="➔"/>
            </a:pPr>
            <a:r>
              <a:rPr lang="en-GB" sz="2000">
                <a:latin typeface="Times"/>
                <a:ea typeface="Times"/>
                <a:cs typeface="Times"/>
                <a:sym typeface="Times"/>
              </a:rPr>
              <a:t>Image segmentation in computer vision.</a:t>
            </a:r>
            <a:endParaRPr sz="2000">
              <a:latin typeface="Times"/>
              <a:ea typeface="Times"/>
              <a:cs typeface="Times"/>
              <a:sym typeface="Times"/>
            </a:endParaRPr>
          </a:p>
          <a:p>
            <a:pPr indent="0" lvl="0" marL="0" rtl="0" algn="l">
              <a:lnSpc>
                <a:spcPct val="100000"/>
              </a:lnSpc>
              <a:spcBef>
                <a:spcPts val="900"/>
              </a:spcBef>
              <a:spcAft>
                <a:spcPts val="900"/>
              </a:spcAft>
              <a:buNone/>
            </a:pPr>
            <a:r>
              <a:rPr lang="en-GB" sz="2000">
                <a:latin typeface="Times"/>
                <a:ea typeface="Times"/>
                <a:cs typeface="Times"/>
                <a:sym typeface="Times"/>
              </a:rPr>
              <a:t>The Edmonds-Karp Algorithm is widely recognized for its simplicity, efficiency, and ability to solve practical flow problems.</a:t>
            </a:r>
            <a:endParaRPr sz="2000">
              <a:latin typeface="Times"/>
              <a:ea typeface="Times"/>
              <a:cs typeface="Times"/>
              <a:sym typeface="Time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1016" name="Shape 1016"/>
        <p:cNvGrpSpPr/>
        <p:nvPr/>
      </p:nvGrpSpPr>
      <p:grpSpPr>
        <a:xfrm>
          <a:off x="0" y="0"/>
          <a:ext cx="0" cy="0"/>
          <a:chOff x="0" y="0"/>
          <a:chExt cx="0" cy="0"/>
        </a:xfrm>
      </p:grpSpPr>
      <p:sp>
        <p:nvSpPr>
          <p:cNvPr id="1017" name="Google Shape;1017;p71"/>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018" name="Google Shape;1018;p71"/>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2400">
                <a:latin typeface="Arial"/>
                <a:ea typeface="Arial"/>
                <a:cs typeface="Arial"/>
                <a:sym typeface="Arial"/>
              </a:rPr>
              <a:t>‹#›</a:t>
            </a:fld>
            <a:endParaRPr sz="2400">
              <a:latin typeface="Arial"/>
              <a:ea typeface="Arial"/>
              <a:cs typeface="Arial"/>
              <a:sym typeface="Arial"/>
            </a:endParaRPr>
          </a:p>
        </p:txBody>
      </p:sp>
      <p:sp>
        <p:nvSpPr>
          <p:cNvPr id="1019" name="Google Shape;1019;p71"/>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020" name="Google Shape;1020;p71"/>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Extra Resources</a:t>
            </a:r>
            <a:endParaRPr b="1" sz="4000">
              <a:latin typeface="Times"/>
              <a:ea typeface="Times"/>
              <a:cs typeface="Times"/>
              <a:sym typeface="Times"/>
            </a:endParaRPr>
          </a:p>
        </p:txBody>
      </p:sp>
      <p:cxnSp>
        <p:nvCxnSpPr>
          <p:cNvPr id="1021" name="Google Shape;1021;p71"/>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1022" name="Google Shape;1022;p71"/>
          <p:cNvSpPr txBox="1"/>
          <p:nvPr/>
        </p:nvSpPr>
        <p:spPr>
          <a:xfrm>
            <a:off x="553925" y="906400"/>
            <a:ext cx="8201700" cy="3970200"/>
          </a:xfrm>
          <a:prstGeom prst="rect">
            <a:avLst/>
          </a:prstGeom>
          <a:noFill/>
          <a:ln>
            <a:noFill/>
          </a:ln>
        </p:spPr>
        <p:txBody>
          <a:bodyPr anchorCtr="0" anchor="t" bIns="91425" lIns="91425" spcFirstLastPara="1" rIns="91425" wrap="square" tIns="91425">
            <a:noAutofit/>
          </a:bodyPr>
          <a:lstStyle/>
          <a:p>
            <a:pPr indent="-355600" lvl="0" marL="457200" rtl="0" algn="l">
              <a:lnSpc>
                <a:spcPct val="100000"/>
              </a:lnSpc>
              <a:spcBef>
                <a:spcPts val="900"/>
              </a:spcBef>
              <a:spcAft>
                <a:spcPts val="0"/>
              </a:spcAft>
              <a:buSzPts val="2000"/>
              <a:buFont typeface="Times"/>
              <a:buChar char="➔"/>
            </a:pPr>
            <a:r>
              <a:rPr lang="en-GB" sz="2000" u="sng">
                <a:solidFill>
                  <a:schemeClr val="hlink"/>
                </a:solidFill>
                <a:latin typeface="Times"/>
                <a:ea typeface="Times"/>
                <a:cs typeface="Times"/>
                <a:sym typeface="Times"/>
                <a:hlinkClick r:id="rId7"/>
              </a:rPr>
              <a:t>https://www.w3schools.com/dsa/dsa_theory_graphs_maxflow.php</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Char char="➔"/>
            </a:pPr>
            <a:r>
              <a:rPr lang="en-GB" sz="2000" u="sng">
                <a:solidFill>
                  <a:schemeClr val="hlink"/>
                </a:solidFill>
                <a:latin typeface="Times"/>
                <a:ea typeface="Times"/>
                <a:cs typeface="Times"/>
                <a:sym typeface="Times"/>
                <a:hlinkClick r:id="rId8"/>
              </a:rPr>
              <a:t>https://www.w3schools.com/dsa/dsa_algo_graphs_fordfulkerson.php</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Char char="➔"/>
            </a:pPr>
            <a:r>
              <a:rPr lang="en-GB" sz="2000" u="sng">
                <a:solidFill>
                  <a:schemeClr val="hlink"/>
                </a:solidFill>
                <a:latin typeface="Times"/>
                <a:ea typeface="Times"/>
                <a:cs typeface="Times"/>
                <a:sym typeface="Times"/>
                <a:hlinkClick r:id="rId9"/>
              </a:rPr>
              <a:t>https://www.w3schools.com/dsa/dsa_algo_graphs_fordfulkerson.php</a:t>
            </a:r>
            <a:endParaRPr sz="2000">
              <a:latin typeface="Times"/>
              <a:ea typeface="Times"/>
              <a:cs typeface="Times"/>
              <a:sym typeface="Times"/>
            </a:endParaRPr>
          </a:p>
          <a:p>
            <a:pPr indent="0" lvl="0" marL="0" rtl="0" algn="l">
              <a:lnSpc>
                <a:spcPct val="100000"/>
              </a:lnSpc>
              <a:spcBef>
                <a:spcPts val="900"/>
              </a:spcBef>
              <a:spcAft>
                <a:spcPts val="900"/>
              </a:spcAft>
              <a:buNone/>
            </a:pPr>
            <a:r>
              <a:t/>
            </a:r>
            <a:endParaRPr sz="2000">
              <a:latin typeface="Times"/>
              <a:ea typeface="Times"/>
              <a:cs typeface="Times"/>
              <a:sym typeface="Times"/>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1026" name="Shape 1026"/>
        <p:cNvGrpSpPr/>
        <p:nvPr/>
      </p:nvGrpSpPr>
      <p:grpSpPr>
        <a:xfrm>
          <a:off x="0" y="0"/>
          <a:ext cx="0" cy="0"/>
          <a:chOff x="0" y="0"/>
          <a:chExt cx="0" cy="0"/>
        </a:xfrm>
      </p:grpSpPr>
      <p:sp>
        <p:nvSpPr>
          <p:cNvPr id="1027" name="Google Shape;1027;p72"/>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028" name="Google Shape;1028;p72"/>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29" name="Google Shape;1029;p72"/>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030" name="Google Shape;1030;p72"/>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4000">
                <a:solidFill>
                  <a:srgbClr val="2B2C30"/>
                </a:solidFill>
              </a:rPr>
              <a:t>Shortest Path Problem</a:t>
            </a:r>
            <a:endParaRPr sz="4800"/>
          </a:p>
        </p:txBody>
      </p:sp>
      <p:cxnSp>
        <p:nvCxnSpPr>
          <p:cNvPr id="1031" name="Google Shape;1031;p72"/>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1032" name="Google Shape;1032;p72"/>
          <p:cNvSpPr txBox="1"/>
          <p:nvPr/>
        </p:nvSpPr>
        <p:spPr>
          <a:xfrm>
            <a:off x="553925" y="906400"/>
            <a:ext cx="8196600" cy="3988200"/>
          </a:xfrm>
          <a:prstGeom prst="rect">
            <a:avLst/>
          </a:prstGeom>
          <a:noFill/>
          <a:ln>
            <a:noFill/>
          </a:ln>
        </p:spPr>
        <p:txBody>
          <a:bodyPr anchorCtr="0" anchor="t" bIns="91425" lIns="91425" spcFirstLastPara="1" rIns="91425" wrap="square" tIns="91425">
            <a:noAutofit/>
          </a:bodyPr>
          <a:lstStyle/>
          <a:p>
            <a:pPr indent="-355600" lvl="0" marL="360001" rtl="0" algn="l">
              <a:lnSpc>
                <a:spcPct val="115000"/>
              </a:lnSpc>
              <a:spcBef>
                <a:spcPts val="900"/>
              </a:spcBef>
              <a:spcAft>
                <a:spcPts val="0"/>
              </a:spcAft>
              <a:buSzPts val="2000"/>
              <a:buFont typeface="Times"/>
              <a:buChar char="➔"/>
            </a:pPr>
            <a:r>
              <a:rPr lang="en-GB" sz="2000">
                <a:latin typeface="Times"/>
                <a:ea typeface="Times"/>
                <a:cs typeface="Times"/>
                <a:sym typeface="Times"/>
              </a:rPr>
              <a:t>The </a:t>
            </a:r>
            <a:r>
              <a:rPr b="1" lang="en-GB" sz="2000">
                <a:latin typeface="Times"/>
                <a:ea typeface="Times"/>
                <a:cs typeface="Times"/>
                <a:sym typeface="Times"/>
              </a:rPr>
              <a:t>shortest path problem</a:t>
            </a:r>
            <a:r>
              <a:rPr lang="en-GB" sz="2000">
                <a:latin typeface="Times"/>
                <a:ea typeface="Times"/>
                <a:cs typeface="Times"/>
                <a:sym typeface="Times"/>
              </a:rPr>
              <a:t> involves finding the path between two vertices in a graph such that the sum of the weights of its edges is minimized. </a:t>
            </a:r>
            <a:endParaRPr sz="2000">
              <a:latin typeface="Times"/>
              <a:ea typeface="Times"/>
              <a:cs typeface="Times"/>
              <a:sym typeface="Times"/>
            </a:endParaRPr>
          </a:p>
          <a:p>
            <a:pPr indent="-355600" lvl="0" marL="360001" rtl="0" algn="l">
              <a:lnSpc>
                <a:spcPct val="115000"/>
              </a:lnSpc>
              <a:spcBef>
                <a:spcPts val="0"/>
              </a:spcBef>
              <a:spcAft>
                <a:spcPts val="0"/>
              </a:spcAft>
              <a:buSzPts val="2000"/>
              <a:buFont typeface="Times"/>
              <a:buChar char="➔"/>
            </a:pPr>
            <a:r>
              <a:rPr lang="en-GB" sz="2000">
                <a:latin typeface="Times"/>
                <a:ea typeface="Times"/>
                <a:cs typeface="Times"/>
                <a:sym typeface="Times"/>
              </a:rPr>
              <a:t>This problem is fundamental in graph theory and has numerous applications in networking, transportation, and optimization.</a:t>
            </a:r>
            <a:endParaRPr sz="2000">
              <a:latin typeface="Times"/>
              <a:ea typeface="Times"/>
              <a:cs typeface="Times"/>
              <a:sym typeface="Times"/>
            </a:endParaRPr>
          </a:p>
          <a:p>
            <a:pPr indent="-355600" lvl="0" marL="360001" rtl="0" algn="l">
              <a:lnSpc>
                <a:spcPct val="115000"/>
              </a:lnSpc>
              <a:spcBef>
                <a:spcPts val="0"/>
              </a:spcBef>
              <a:spcAft>
                <a:spcPts val="0"/>
              </a:spcAft>
              <a:buSzPts val="2000"/>
              <a:buFont typeface="Times"/>
              <a:buChar char="➔"/>
            </a:pPr>
            <a:r>
              <a:rPr lang="en-GB" sz="2000">
                <a:latin typeface="Times"/>
                <a:ea typeface="Times"/>
                <a:cs typeface="Times"/>
                <a:sym typeface="Times"/>
              </a:rPr>
              <a:t>To solve the shortest path problem means to find the shortest possible route or path between two vertices (or nodes) in a Graph.</a:t>
            </a:r>
            <a:endParaRPr sz="2000">
              <a:latin typeface="Times"/>
              <a:ea typeface="Times"/>
              <a:cs typeface="Times"/>
              <a:sym typeface="Times"/>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1036" name="Shape 1036"/>
        <p:cNvGrpSpPr/>
        <p:nvPr/>
      </p:nvGrpSpPr>
      <p:grpSpPr>
        <a:xfrm>
          <a:off x="0" y="0"/>
          <a:ext cx="0" cy="0"/>
          <a:chOff x="0" y="0"/>
          <a:chExt cx="0" cy="0"/>
        </a:xfrm>
      </p:grpSpPr>
      <p:sp>
        <p:nvSpPr>
          <p:cNvPr id="1037" name="Google Shape;1037;p73"/>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038" name="Google Shape;1038;p73"/>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39" name="Google Shape;1039;p73"/>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040" name="Google Shape;1040;p73"/>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4000">
                <a:solidFill>
                  <a:srgbClr val="2B2C30"/>
                </a:solidFill>
              </a:rPr>
              <a:t>Shortest Path Problem</a:t>
            </a:r>
            <a:endParaRPr sz="4800"/>
          </a:p>
        </p:txBody>
      </p:sp>
      <p:cxnSp>
        <p:nvCxnSpPr>
          <p:cNvPr id="1041" name="Google Shape;1041;p73"/>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1042" name="Google Shape;1042;p73"/>
          <p:cNvSpPr txBox="1"/>
          <p:nvPr/>
        </p:nvSpPr>
        <p:spPr>
          <a:xfrm>
            <a:off x="553925" y="906400"/>
            <a:ext cx="8196600" cy="1806900"/>
          </a:xfrm>
          <a:prstGeom prst="rect">
            <a:avLst/>
          </a:prstGeom>
          <a:noFill/>
          <a:ln>
            <a:noFill/>
          </a:ln>
        </p:spPr>
        <p:txBody>
          <a:bodyPr anchorCtr="0" anchor="t" bIns="91425" lIns="91425" spcFirstLastPara="1" rIns="91425" wrap="square" tIns="91425">
            <a:noAutofit/>
          </a:bodyPr>
          <a:lstStyle/>
          <a:p>
            <a:pPr indent="-355600" lvl="0" marL="360001" rtl="0" algn="l">
              <a:lnSpc>
                <a:spcPct val="115000"/>
              </a:lnSpc>
              <a:spcBef>
                <a:spcPts val="900"/>
              </a:spcBef>
              <a:spcAft>
                <a:spcPts val="0"/>
              </a:spcAft>
              <a:buSzPts val="2000"/>
              <a:buFont typeface="Times"/>
              <a:buChar char="➔"/>
            </a:pPr>
            <a:r>
              <a:rPr lang="en-GB" sz="2000">
                <a:latin typeface="Times"/>
                <a:ea typeface="Times"/>
                <a:cs typeface="Times"/>
                <a:sym typeface="Times"/>
              </a:rPr>
              <a:t>Given a directed weighted graph G = (v, e,w) and two vertices x and y, find the least-cost path from x to y in G</a:t>
            </a:r>
            <a:endParaRPr sz="2000">
              <a:latin typeface="Times"/>
              <a:ea typeface="Times"/>
              <a:cs typeface="Times"/>
              <a:sym typeface="Times"/>
            </a:endParaRPr>
          </a:p>
          <a:p>
            <a:pPr indent="-355600" lvl="0" marL="360001" rtl="0" algn="l">
              <a:lnSpc>
                <a:spcPct val="115000"/>
              </a:lnSpc>
              <a:spcBef>
                <a:spcPts val="0"/>
              </a:spcBef>
              <a:spcAft>
                <a:spcPts val="0"/>
              </a:spcAft>
              <a:buSzPts val="2000"/>
              <a:buFont typeface="Times"/>
              <a:buChar char="➔"/>
            </a:pPr>
            <a:r>
              <a:rPr lang="en-GB" sz="2000">
                <a:latin typeface="Times"/>
                <a:ea typeface="Times"/>
                <a:cs typeface="Times"/>
                <a:sym typeface="Times"/>
              </a:rPr>
              <a:t>The task is to find a path P that minimizes the function:</a:t>
            </a:r>
            <a:endParaRPr sz="2000">
              <a:latin typeface="Times"/>
              <a:ea typeface="Times"/>
              <a:cs typeface="Times"/>
              <a:sym typeface="Times"/>
            </a:endParaRPr>
          </a:p>
          <a:p>
            <a:pPr indent="0" lvl="0" marL="914400" rtl="0" algn="l">
              <a:lnSpc>
                <a:spcPct val="115000"/>
              </a:lnSpc>
              <a:spcBef>
                <a:spcPts val="900"/>
              </a:spcBef>
              <a:spcAft>
                <a:spcPts val="900"/>
              </a:spcAft>
              <a:buNone/>
            </a:pPr>
            <a:r>
              <a:rPr lang="en-GB" sz="2000">
                <a:latin typeface="Times"/>
                <a:ea typeface="Times"/>
                <a:cs typeface="Times"/>
                <a:sym typeface="Times"/>
              </a:rPr>
              <a:t>𝑤(P) =   u</a:t>
            </a:r>
            <a:r>
              <a:rPr lang="en-GB" sz="1900">
                <a:latin typeface="Times"/>
                <a:ea typeface="Times"/>
                <a:cs typeface="Times"/>
                <a:sym typeface="Times"/>
              </a:rPr>
              <a:t>∑</a:t>
            </a:r>
            <a:r>
              <a:rPr baseline="-25000" lang="en-GB" sz="1900">
                <a:latin typeface="Times"/>
                <a:ea typeface="Times"/>
                <a:cs typeface="Times"/>
                <a:sym typeface="Times"/>
              </a:rPr>
              <a:t>u</a:t>
            </a:r>
            <a:r>
              <a:rPr baseline="-25000" lang="en-GB" sz="2000">
                <a:latin typeface="Times"/>
                <a:ea typeface="Times"/>
                <a:cs typeface="Times"/>
                <a:sym typeface="Times"/>
              </a:rPr>
              <a:t>→v</a:t>
            </a:r>
            <a:r>
              <a:rPr baseline="-25000" lang="en-GB" sz="1450">
                <a:latin typeface="Times New Roman"/>
                <a:ea typeface="Times New Roman"/>
                <a:cs typeface="Times New Roman"/>
                <a:sym typeface="Times New Roman"/>
              </a:rPr>
              <a:t>∈P</a:t>
            </a:r>
            <a:r>
              <a:rPr lang="en-GB" sz="2000">
                <a:latin typeface="Times"/>
                <a:ea typeface="Times"/>
                <a:cs typeface="Times"/>
                <a:sym typeface="Times"/>
              </a:rPr>
              <a:t>𝑤(𝑢→P)</a:t>
            </a:r>
            <a:endParaRPr sz="2000">
              <a:latin typeface="Times"/>
              <a:ea typeface="Times"/>
              <a:cs typeface="Times"/>
              <a:sym typeface="Times"/>
            </a:endParaRPr>
          </a:p>
        </p:txBody>
      </p:sp>
      <p:sp>
        <p:nvSpPr>
          <p:cNvPr id="1043" name="Google Shape;1043;p73"/>
          <p:cNvSpPr/>
          <p:nvPr/>
        </p:nvSpPr>
        <p:spPr>
          <a:xfrm>
            <a:off x="6815402" y="1774975"/>
            <a:ext cx="690300" cy="5736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a</a:t>
            </a:r>
            <a:endParaRPr b="1" sz="2000">
              <a:latin typeface="Times"/>
              <a:ea typeface="Times"/>
              <a:cs typeface="Times"/>
              <a:sym typeface="Times"/>
            </a:endParaRPr>
          </a:p>
        </p:txBody>
      </p:sp>
      <p:sp>
        <p:nvSpPr>
          <p:cNvPr id="1044" name="Google Shape;1044;p73"/>
          <p:cNvSpPr/>
          <p:nvPr/>
        </p:nvSpPr>
        <p:spPr>
          <a:xfrm>
            <a:off x="6815402" y="3330174"/>
            <a:ext cx="690300" cy="5736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b</a:t>
            </a:r>
            <a:endParaRPr b="1" sz="2000">
              <a:latin typeface="Times"/>
              <a:ea typeface="Times"/>
              <a:cs typeface="Times"/>
              <a:sym typeface="Times"/>
            </a:endParaRPr>
          </a:p>
        </p:txBody>
      </p:sp>
      <p:sp>
        <p:nvSpPr>
          <p:cNvPr id="1045" name="Google Shape;1045;p73"/>
          <p:cNvSpPr/>
          <p:nvPr/>
        </p:nvSpPr>
        <p:spPr>
          <a:xfrm>
            <a:off x="8060171" y="2565943"/>
            <a:ext cx="690300" cy="5736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v</a:t>
            </a:r>
            <a:endParaRPr b="1" sz="2000">
              <a:latin typeface="Times"/>
              <a:ea typeface="Times"/>
              <a:cs typeface="Times"/>
              <a:sym typeface="Times"/>
            </a:endParaRPr>
          </a:p>
        </p:txBody>
      </p:sp>
      <p:sp>
        <p:nvSpPr>
          <p:cNvPr id="1046" name="Google Shape;1046;p73"/>
          <p:cNvSpPr/>
          <p:nvPr/>
        </p:nvSpPr>
        <p:spPr>
          <a:xfrm>
            <a:off x="5570675" y="2565943"/>
            <a:ext cx="690300" cy="5736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u</a:t>
            </a:r>
            <a:endParaRPr b="1" sz="2000">
              <a:latin typeface="Times"/>
              <a:ea typeface="Times"/>
              <a:cs typeface="Times"/>
              <a:sym typeface="Times"/>
            </a:endParaRPr>
          </a:p>
        </p:txBody>
      </p:sp>
      <p:cxnSp>
        <p:nvCxnSpPr>
          <p:cNvPr id="1047" name="Google Shape;1047;p73"/>
          <p:cNvCxnSpPr>
            <a:stCxn id="1046" idx="7"/>
            <a:endCxn id="1043" idx="2"/>
          </p:cNvCxnSpPr>
          <p:nvPr/>
        </p:nvCxnSpPr>
        <p:spPr>
          <a:xfrm flipH="1" rot="10800000">
            <a:off x="6159883" y="2061645"/>
            <a:ext cx="655500" cy="588300"/>
          </a:xfrm>
          <a:prstGeom prst="straightConnector1">
            <a:avLst/>
          </a:prstGeom>
          <a:noFill/>
          <a:ln cap="flat" cmpd="sng" w="19050">
            <a:solidFill>
              <a:srgbClr val="000000"/>
            </a:solidFill>
            <a:prstDash val="solid"/>
            <a:round/>
            <a:headEnd len="med" w="med" type="none"/>
            <a:tailEnd len="med" w="med" type="triangle"/>
          </a:ln>
        </p:spPr>
      </p:cxnSp>
      <p:cxnSp>
        <p:nvCxnSpPr>
          <p:cNvPr id="1048" name="Google Shape;1048;p73"/>
          <p:cNvCxnSpPr>
            <a:stCxn id="1046" idx="5"/>
            <a:endCxn id="1044" idx="2"/>
          </p:cNvCxnSpPr>
          <p:nvPr/>
        </p:nvCxnSpPr>
        <p:spPr>
          <a:xfrm>
            <a:off x="6159883" y="3055542"/>
            <a:ext cx="655500" cy="561300"/>
          </a:xfrm>
          <a:prstGeom prst="straightConnector1">
            <a:avLst/>
          </a:prstGeom>
          <a:noFill/>
          <a:ln cap="flat" cmpd="sng" w="19050">
            <a:solidFill>
              <a:srgbClr val="000000"/>
            </a:solidFill>
            <a:prstDash val="solid"/>
            <a:round/>
            <a:headEnd len="med" w="med" type="none"/>
            <a:tailEnd len="med" w="med" type="triangle"/>
          </a:ln>
        </p:spPr>
      </p:cxnSp>
      <p:cxnSp>
        <p:nvCxnSpPr>
          <p:cNvPr id="1049" name="Google Shape;1049;p73"/>
          <p:cNvCxnSpPr>
            <a:stCxn id="1043" idx="6"/>
            <a:endCxn id="1045" idx="1"/>
          </p:cNvCxnSpPr>
          <p:nvPr/>
        </p:nvCxnSpPr>
        <p:spPr>
          <a:xfrm>
            <a:off x="7505702" y="2061775"/>
            <a:ext cx="655500" cy="588300"/>
          </a:xfrm>
          <a:prstGeom prst="straightConnector1">
            <a:avLst/>
          </a:prstGeom>
          <a:noFill/>
          <a:ln cap="flat" cmpd="sng" w="19050">
            <a:solidFill>
              <a:srgbClr val="000000"/>
            </a:solidFill>
            <a:prstDash val="solid"/>
            <a:round/>
            <a:headEnd len="med" w="med" type="none"/>
            <a:tailEnd len="med" w="med" type="triangle"/>
          </a:ln>
        </p:spPr>
      </p:cxnSp>
      <p:cxnSp>
        <p:nvCxnSpPr>
          <p:cNvPr id="1050" name="Google Shape;1050;p73"/>
          <p:cNvCxnSpPr>
            <a:stCxn id="1044" idx="6"/>
            <a:endCxn id="1045" idx="3"/>
          </p:cNvCxnSpPr>
          <p:nvPr/>
        </p:nvCxnSpPr>
        <p:spPr>
          <a:xfrm flipH="1" rot="10800000">
            <a:off x="7505702" y="3055674"/>
            <a:ext cx="655500" cy="561300"/>
          </a:xfrm>
          <a:prstGeom prst="straightConnector1">
            <a:avLst/>
          </a:prstGeom>
          <a:noFill/>
          <a:ln cap="flat" cmpd="sng" w="19050">
            <a:solidFill>
              <a:srgbClr val="000000"/>
            </a:solidFill>
            <a:prstDash val="solid"/>
            <a:round/>
            <a:headEnd len="med" w="med" type="none"/>
            <a:tailEnd len="med" w="med" type="triangle"/>
          </a:ln>
        </p:spPr>
      </p:cxnSp>
      <p:cxnSp>
        <p:nvCxnSpPr>
          <p:cNvPr id="1051" name="Google Shape;1051;p73"/>
          <p:cNvCxnSpPr>
            <a:stCxn id="1043" idx="4"/>
            <a:endCxn id="1044" idx="0"/>
          </p:cNvCxnSpPr>
          <p:nvPr/>
        </p:nvCxnSpPr>
        <p:spPr>
          <a:xfrm>
            <a:off x="7160552" y="2348575"/>
            <a:ext cx="0" cy="981600"/>
          </a:xfrm>
          <a:prstGeom prst="straightConnector1">
            <a:avLst/>
          </a:prstGeom>
          <a:noFill/>
          <a:ln cap="flat" cmpd="sng" w="19050">
            <a:solidFill>
              <a:srgbClr val="000000"/>
            </a:solidFill>
            <a:prstDash val="solid"/>
            <a:round/>
            <a:headEnd len="med" w="med" type="none"/>
            <a:tailEnd len="med" w="med" type="triangle"/>
          </a:ln>
        </p:spPr>
      </p:cxnSp>
      <p:sp>
        <p:nvSpPr>
          <p:cNvPr id="1052" name="Google Shape;1052;p73"/>
          <p:cNvSpPr txBox="1"/>
          <p:nvPr/>
        </p:nvSpPr>
        <p:spPr>
          <a:xfrm>
            <a:off x="6063661" y="2023931"/>
            <a:ext cx="5319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3</a:t>
            </a:r>
            <a:endParaRPr b="1" sz="1800">
              <a:latin typeface="Times"/>
              <a:ea typeface="Times"/>
              <a:cs typeface="Times"/>
              <a:sym typeface="Times"/>
            </a:endParaRPr>
          </a:p>
        </p:txBody>
      </p:sp>
      <p:sp>
        <p:nvSpPr>
          <p:cNvPr id="1053" name="Google Shape;1053;p73"/>
          <p:cNvSpPr txBox="1"/>
          <p:nvPr/>
        </p:nvSpPr>
        <p:spPr>
          <a:xfrm>
            <a:off x="7766001" y="1973017"/>
            <a:ext cx="765300" cy="41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9</a:t>
            </a:r>
            <a:endParaRPr b="1" sz="1800">
              <a:latin typeface="Times"/>
              <a:ea typeface="Times"/>
              <a:cs typeface="Times"/>
              <a:sym typeface="Times"/>
            </a:endParaRPr>
          </a:p>
        </p:txBody>
      </p:sp>
      <p:sp>
        <p:nvSpPr>
          <p:cNvPr id="1054" name="Google Shape;1054;p73"/>
          <p:cNvSpPr txBox="1"/>
          <p:nvPr/>
        </p:nvSpPr>
        <p:spPr>
          <a:xfrm>
            <a:off x="7841062" y="3259712"/>
            <a:ext cx="6903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6</a:t>
            </a:r>
            <a:endParaRPr b="1" sz="1800">
              <a:latin typeface="Times"/>
              <a:ea typeface="Times"/>
              <a:cs typeface="Times"/>
              <a:sym typeface="Times"/>
            </a:endParaRPr>
          </a:p>
        </p:txBody>
      </p:sp>
      <p:sp>
        <p:nvSpPr>
          <p:cNvPr id="1055" name="Google Shape;1055;p73"/>
          <p:cNvSpPr txBox="1"/>
          <p:nvPr/>
        </p:nvSpPr>
        <p:spPr>
          <a:xfrm>
            <a:off x="5988105" y="3174339"/>
            <a:ext cx="6072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5</a:t>
            </a:r>
            <a:endParaRPr b="1" sz="1800">
              <a:latin typeface="Times"/>
              <a:ea typeface="Times"/>
              <a:cs typeface="Times"/>
              <a:sym typeface="Times"/>
            </a:endParaRPr>
          </a:p>
        </p:txBody>
      </p:sp>
      <p:sp>
        <p:nvSpPr>
          <p:cNvPr id="1056" name="Google Shape;1056;p73"/>
          <p:cNvSpPr txBox="1"/>
          <p:nvPr/>
        </p:nvSpPr>
        <p:spPr>
          <a:xfrm>
            <a:off x="7160531" y="2649946"/>
            <a:ext cx="4347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2</a:t>
            </a:r>
            <a:endParaRPr b="1" sz="1800">
              <a:latin typeface="Times"/>
              <a:ea typeface="Times"/>
              <a:cs typeface="Times"/>
              <a:sym typeface="Times"/>
            </a:endParaRPr>
          </a:p>
        </p:txBody>
      </p:sp>
      <p:sp>
        <p:nvSpPr>
          <p:cNvPr id="1057" name="Google Shape;1057;p73"/>
          <p:cNvSpPr/>
          <p:nvPr/>
        </p:nvSpPr>
        <p:spPr>
          <a:xfrm>
            <a:off x="1219305" y="2909050"/>
            <a:ext cx="644700" cy="6867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a</a:t>
            </a:r>
            <a:endParaRPr b="1" sz="2000">
              <a:latin typeface="Times"/>
              <a:ea typeface="Times"/>
              <a:cs typeface="Times"/>
              <a:sym typeface="Times"/>
            </a:endParaRPr>
          </a:p>
        </p:txBody>
      </p:sp>
      <p:sp>
        <p:nvSpPr>
          <p:cNvPr id="1058" name="Google Shape;1058;p73"/>
          <p:cNvSpPr/>
          <p:nvPr/>
        </p:nvSpPr>
        <p:spPr>
          <a:xfrm>
            <a:off x="2419038" y="2909041"/>
            <a:ext cx="644700" cy="6867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b</a:t>
            </a:r>
            <a:endParaRPr b="1" sz="2000">
              <a:latin typeface="Times"/>
              <a:ea typeface="Times"/>
              <a:cs typeface="Times"/>
              <a:sym typeface="Times"/>
            </a:endParaRPr>
          </a:p>
        </p:txBody>
      </p:sp>
      <p:sp>
        <p:nvSpPr>
          <p:cNvPr id="1059" name="Google Shape;1059;p73"/>
          <p:cNvSpPr/>
          <p:nvPr/>
        </p:nvSpPr>
        <p:spPr>
          <a:xfrm>
            <a:off x="3618775" y="2909041"/>
            <a:ext cx="644700" cy="6867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c</a:t>
            </a:r>
            <a:endParaRPr b="1" sz="2000">
              <a:latin typeface="Times"/>
              <a:ea typeface="Times"/>
              <a:cs typeface="Times"/>
              <a:sym typeface="Times"/>
            </a:endParaRPr>
          </a:p>
        </p:txBody>
      </p:sp>
      <p:cxnSp>
        <p:nvCxnSpPr>
          <p:cNvPr id="1060" name="Google Shape;1060;p73"/>
          <p:cNvCxnSpPr>
            <a:stCxn id="1058" idx="6"/>
            <a:endCxn id="1059" idx="2"/>
          </p:cNvCxnSpPr>
          <p:nvPr/>
        </p:nvCxnSpPr>
        <p:spPr>
          <a:xfrm>
            <a:off x="3063738" y="3252391"/>
            <a:ext cx="555000" cy="0"/>
          </a:xfrm>
          <a:prstGeom prst="straightConnector1">
            <a:avLst/>
          </a:prstGeom>
          <a:noFill/>
          <a:ln cap="flat" cmpd="sng" w="19050">
            <a:solidFill>
              <a:srgbClr val="000000"/>
            </a:solidFill>
            <a:prstDash val="solid"/>
            <a:round/>
            <a:headEnd len="med" w="med" type="none"/>
            <a:tailEnd len="med" w="med" type="triangle"/>
          </a:ln>
        </p:spPr>
      </p:cxnSp>
      <p:cxnSp>
        <p:nvCxnSpPr>
          <p:cNvPr id="1061" name="Google Shape;1061;p73"/>
          <p:cNvCxnSpPr>
            <a:stCxn id="1057" idx="6"/>
            <a:endCxn id="1058" idx="2"/>
          </p:cNvCxnSpPr>
          <p:nvPr/>
        </p:nvCxnSpPr>
        <p:spPr>
          <a:xfrm>
            <a:off x="1864005" y="3252400"/>
            <a:ext cx="555000" cy="0"/>
          </a:xfrm>
          <a:prstGeom prst="straightConnector1">
            <a:avLst/>
          </a:prstGeom>
          <a:noFill/>
          <a:ln cap="flat" cmpd="sng" w="19050">
            <a:solidFill>
              <a:srgbClr val="000000"/>
            </a:solidFill>
            <a:prstDash val="solid"/>
            <a:round/>
            <a:headEnd len="med" w="med" type="none"/>
            <a:tailEnd len="med" w="med" type="triangle"/>
          </a:ln>
        </p:spPr>
      </p:cxnSp>
      <p:sp>
        <p:nvSpPr>
          <p:cNvPr id="1062" name="Google Shape;1062;p73"/>
          <p:cNvSpPr txBox="1"/>
          <p:nvPr/>
        </p:nvSpPr>
        <p:spPr>
          <a:xfrm>
            <a:off x="1913575" y="2822400"/>
            <a:ext cx="4761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2</a:t>
            </a:r>
            <a:endParaRPr b="1" sz="1800">
              <a:latin typeface="Times"/>
              <a:ea typeface="Times"/>
              <a:cs typeface="Times"/>
              <a:sym typeface="Times"/>
            </a:endParaRPr>
          </a:p>
        </p:txBody>
      </p:sp>
      <p:sp>
        <p:nvSpPr>
          <p:cNvPr id="1063" name="Google Shape;1063;p73"/>
          <p:cNvSpPr txBox="1"/>
          <p:nvPr/>
        </p:nvSpPr>
        <p:spPr>
          <a:xfrm>
            <a:off x="3119561" y="2822400"/>
            <a:ext cx="4701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4</a:t>
            </a:r>
            <a:endParaRPr b="1" sz="1800">
              <a:latin typeface="Times"/>
              <a:ea typeface="Times"/>
              <a:cs typeface="Times"/>
              <a:sym typeface="Times"/>
            </a:endParaRPr>
          </a:p>
        </p:txBody>
      </p:sp>
      <p:sp>
        <p:nvSpPr>
          <p:cNvPr id="1064" name="Google Shape;1064;p73"/>
          <p:cNvSpPr txBox="1"/>
          <p:nvPr/>
        </p:nvSpPr>
        <p:spPr>
          <a:xfrm>
            <a:off x="1219300" y="3616875"/>
            <a:ext cx="3081300" cy="126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900"/>
              </a:spcBef>
              <a:spcAft>
                <a:spcPts val="0"/>
              </a:spcAft>
              <a:buNone/>
            </a:pPr>
            <a:r>
              <a:rPr i="1" lang="en-GB" sz="1800">
                <a:latin typeface="Times"/>
                <a:ea typeface="Times"/>
                <a:cs typeface="Times"/>
                <a:sym typeface="Times"/>
              </a:rPr>
              <a:t>S = {a, b} = 2</a:t>
            </a:r>
            <a:endParaRPr i="1" sz="1800">
              <a:latin typeface="Times"/>
              <a:ea typeface="Times"/>
              <a:cs typeface="Times"/>
              <a:sym typeface="Times"/>
            </a:endParaRPr>
          </a:p>
          <a:p>
            <a:pPr indent="0" lvl="0" marL="0" rtl="0" algn="l">
              <a:lnSpc>
                <a:spcPct val="115000"/>
              </a:lnSpc>
              <a:spcBef>
                <a:spcPts val="900"/>
              </a:spcBef>
              <a:spcAft>
                <a:spcPts val="0"/>
              </a:spcAft>
              <a:buNone/>
            </a:pPr>
            <a:r>
              <a:rPr i="1" lang="en-GB" sz="1800">
                <a:latin typeface="Times"/>
                <a:ea typeface="Times"/>
                <a:cs typeface="Times"/>
                <a:sym typeface="Times"/>
              </a:rPr>
              <a:t>S = {b, c} = 4 </a:t>
            </a:r>
            <a:endParaRPr i="1" sz="1800">
              <a:latin typeface="Times"/>
              <a:ea typeface="Times"/>
              <a:cs typeface="Times"/>
              <a:sym typeface="Times"/>
            </a:endParaRPr>
          </a:p>
          <a:p>
            <a:pPr indent="0" lvl="0" marL="0" rtl="0" algn="l">
              <a:lnSpc>
                <a:spcPct val="115000"/>
              </a:lnSpc>
              <a:spcBef>
                <a:spcPts val="900"/>
              </a:spcBef>
              <a:spcAft>
                <a:spcPts val="900"/>
              </a:spcAft>
              <a:buNone/>
            </a:pPr>
            <a:r>
              <a:rPr i="1" lang="en-GB" sz="1800">
                <a:latin typeface="Times"/>
                <a:ea typeface="Times"/>
                <a:cs typeface="Times"/>
                <a:sym typeface="Times"/>
              </a:rPr>
              <a:t>S = {a, b, c} = 2 + 4 = 6</a:t>
            </a:r>
            <a:endParaRPr i="1" sz="1800">
              <a:latin typeface="Times"/>
              <a:ea typeface="Times"/>
              <a:cs typeface="Times"/>
              <a:sym typeface="Times"/>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1068" name="Shape 1068"/>
        <p:cNvGrpSpPr/>
        <p:nvPr/>
      </p:nvGrpSpPr>
      <p:grpSpPr>
        <a:xfrm>
          <a:off x="0" y="0"/>
          <a:ext cx="0" cy="0"/>
          <a:chOff x="0" y="0"/>
          <a:chExt cx="0" cy="0"/>
        </a:xfrm>
      </p:grpSpPr>
      <p:sp>
        <p:nvSpPr>
          <p:cNvPr id="1069" name="Google Shape;1069;p74"/>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070" name="Google Shape;1070;p74"/>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71" name="Google Shape;1071;p74"/>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072" name="Google Shape;1072;p74"/>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ctr">
              <a:lnSpc>
                <a:spcPct val="140010"/>
              </a:lnSpc>
              <a:spcBef>
                <a:spcPts val="0"/>
              </a:spcBef>
              <a:spcAft>
                <a:spcPts val="0"/>
              </a:spcAft>
              <a:buNone/>
            </a:pPr>
            <a:r>
              <a:rPr b="1" lang="en-GB" sz="4000">
                <a:solidFill>
                  <a:srgbClr val="2B2C30"/>
                </a:solidFill>
              </a:rPr>
              <a:t>Shortest Path Problem</a:t>
            </a:r>
            <a:endParaRPr b="1" sz="4000">
              <a:solidFill>
                <a:srgbClr val="2B2C30"/>
              </a:solidFill>
            </a:endParaRPr>
          </a:p>
        </p:txBody>
      </p:sp>
      <p:cxnSp>
        <p:nvCxnSpPr>
          <p:cNvPr id="1073" name="Google Shape;1073;p74"/>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1074" name="Google Shape;1074;p74"/>
          <p:cNvSpPr txBox="1"/>
          <p:nvPr/>
        </p:nvSpPr>
        <p:spPr>
          <a:xfrm>
            <a:off x="553925" y="906400"/>
            <a:ext cx="8196600" cy="3988200"/>
          </a:xfrm>
          <a:prstGeom prst="rect">
            <a:avLst/>
          </a:prstGeom>
          <a:noFill/>
          <a:ln>
            <a:noFill/>
          </a:ln>
        </p:spPr>
        <p:txBody>
          <a:bodyPr anchorCtr="0" anchor="t" bIns="91425" lIns="91425" spcFirstLastPara="1" rIns="91425" wrap="square" tIns="91425">
            <a:noAutofit/>
          </a:bodyPr>
          <a:lstStyle/>
          <a:p>
            <a:pPr indent="-355600" lvl="0" marL="361950" rtl="0" algn="l">
              <a:lnSpc>
                <a:spcPct val="100000"/>
              </a:lnSpc>
              <a:spcBef>
                <a:spcPts val="900"/>
              </a:spcBef>
              <a:spcAft>
                <a:spcPts val="0"/>
              </a:spcAft>
              <a:buSzPts val="2000"/>
              <a:buChar char="➔"/>
            </a:pPr>
            <a:r>
              <a:rPr b="1" lang="en-GB" sz="2000">
                <a:latin typeface="Times"/>
                <a:ea typeface="Times"/>
                <a:cs typeface="Times"/>
                <a:sym typeface="Times"/>
              </a:rPr>
              <a:t>Single-Source Shortest Path</a:t>
            </a:r>
            <a:r>
              <a:rPr lang="en-GB" sz="2000">
                <a:latin typeface="Times"/>
                <a:ea typeface="Times"/>
                <a:cs typeface="Times"/>
                <a:sym typeface="Times"/>
              </a:rPr>
              <a:t>:</a:t>
            </a:r>
            <a:endParaRPr sz="2000">
              <a:latin typeface="Times"/>
              <a:ea typeface="Times"/>
              <a:cs typeface="Times"/>
              <a:sym typeface="Times"/>
            </a:endParaRPr>
          </a:p>
          <a:p>
            <a:pPr indent="-355600" lvl="3" marL="720000" rtl="0" algn="l">
              <a:lnSpc>
                <a:spcPct val="100000"/>
              </a:lnSpc>
              <a:spcBef>
                <a:spcPts val="0"/>
              </a:spcBef>
              <a:spcAft>
                <a:spcPts val="0"/>
              </a:spcAft>
              <a:buSzPts val="2000"/>
              <a:buFont typeface="Times"/>
              <a:buChar char="○"/>
            </a:pPr>
            <a:r>
              <a:rPr lang="en-GB" sz="2000">
                <a:latin typeface="Times"/>
                <a:ea typeface="Times"/>
                <a:cs typeface="Times"/>
                <a:sym typeface="Times"/>
              </a:rPr>
              <a:t>Find the shortest paths from a source vertex to all other vertices.</a:t>
            </a:r>
            <a:endParaRPr sz="2000">
              <a:latin typeface="Times"/>
              <a:ea typeface="Times"/>
              <a:cs typeface="Times"/>
              <a:sym typeface="Times"/>
            </a:endParaRPr>
          </a:p>
          <a:p>
            <a:pPr indent="-355600" lvl="3" marL="720000" rtl="0" algn="l">
              <a:lnSpc>
                <a:spcPct val="100000"/>
              </a:lnSpc>
              <a:spcBef>
                <a:spcPts val="0"/>
              </a:spcBef>
              <a:spcAft>
                <a:spcPts val="0"/>
              </a:spcAft>
              <a:buSzPts val="2000"/>
              <a:buFont typeface="Times"/>
              <a:buChar char="○"/>
            </a:pPr>
            <a:r>
              <a:rPr b="1" lang="en-GB" sz="2000">
                <a:latin typeface="Times"/>
                <a:ea typeface="Times"/>
                <a:cs typeface="Times"/>
                <a:sym typeface="Times"/>
              </a:rPr>
              <a:t>Dijkstra's Algorithm</a:t>
            </a:r>
            <a:r>
              <a:rPr lang="en-GB" sz="2000">
                <a:latin typeface="Times"/>
                <a:ea typeface="Times"/>
                <a:cs typeface="Times"/>
                <a:sym typeface="Times"/>
              </a:rPr>
              <a:t>: For graphs with non-negative edge weights.</a:t>
            </a:r>
            <a:endParaRPr sz="2000">
              <a:latin typeface="Times"/>
              <a:ea typeface="Times"/>
              <a:cs typeface="Times"/>
              <a:sym typeface="Times"/>
            </a:endParaRPr>
          </a:p>
          <a:p>
            <a:pPr indent="-355600" lvl="3" marL="720000" rtl="0" algn="l">
              <a:lnSpc>
                <a:spcPct val="100000"/>
              </a:lnSpc>
              <a:spcBef>
                <a:spcPts val="0"/>
              </a:spcBef>
              <a:spcAft>
                <a:spcPts val="0"/>
              </a:spcAft>
              <a:buSzPts val="2000"/>
              <a:buFont typeface="Times"/>
              <a:buChar char="○"/>
            </a:pPr>
            <a:r>
              <a:rPr b="1" lang="en-GB" sz="2000">
                <a:latin typeface="Times"/>
                <a:ea typeface="Times"/>
                <a:cs typeface="Times"/>
                <a:sym typeface="Times"/>
              </a:rPr>
              <a:t>Bellman-Ford Algorithm</a:t>
            </a:r>
            <a:r>
              <a:rPr lang="en-GB" sz="2000">
                <a:latin typeface="Times"/>
                <a:ea typeface="Times"/>
                <a:cs typeface="Times"/>
                <a:sym typeface="Times"/>
              </a:rPr>
              <a:t>: Handles graphs with negative edge weights and cannot handle the graph with negative weights cycle.</a:t>
            </a:r>
            <a:endParaRPr sz="2000">
              <a:latin typeface="Times"/>
              <a:ea typeface="Times"/>
              <a:cs typeface="Times"/>
              <a:sym typeface="Times"/>
            </a:endParaRPr>
          </a:p>
          <a:p>
            <a:pPr indent="-355600" lvl="0" marL="361950" rtl="0" algn="l">
              <a:lnSpc>
                <a:spcPct val="100000"/>
              </a:lnSpc>
              <a:spcBef>
                <a:spcPts val="0"/>
              </a:spcBef>
              <a:spcAft>
                <a:spcPts val="0"/>
              </a:spcAft>
              <a:buSzPts val="2000"/>
              <a:buChar char="➔"/>
            </a:pPr>
            <a:r>
              <a:rPr b="1" lang="en-GB" sz="2000">
                <a:latin typeface="Times"/>
                <a:ea typeface="Times"/>
                <a:cs typeface="Times"/>
                <a:sym typeface="Times"/>
              </a:rPr>
              <a:t>Single-Pair Shortest Path</a:t>
            </a:r>
            <a:r>
              <a:rPr lang="en-GB" sz="2000">
                <a:latin typeface="Times"/>
                <a:ea typeface="Times"/>
                <a:cs typeface="Times"/>
                <a:sym typeface="Times"/>
              </a:rPr>
              <a:t>:</a:t>
            </a:r>
            <a:endParaRPr sz="2000">
              <a:latin typeface="Times"/>
              <a:ea typeface="Times"/>
              <a:cs typeface="Times"/>
              <a:sym typeface="Times"/>
            </a:endParaRPr>
          </a:p>
          <a:p>
            <a:pPr indent="-355600" lvl="3" marL="720000" rtl="0" algn="l">
              <a:lnSpc>
                <a:spcPct val="100000"/>
              </a:lnSpc>
              <a:spcBef>
                <a:spcPts val="0"/>
              </a:spcBef>
              <a:spcAft>
                <a:spcPts val="0"/>
              </a:spcAft>
              <a:buSzPts val="2000"/>
              <a:buFont typeface="Times"/>
              <a:buChar char="○"/>
            </a:pPr>
            <a:r>
              <a:rPr lang="en-GB" sz="2000">
                <a:latin typeface="Times"/>
                <a:ea typeface="Times"/>
                <a:cs typeface="Times"/>
                <a:sym typeface="Times"/>
              </a:rPr>
              <a:t>Find the shortest path between a single source and a single destination.</a:t>
            </a:r>
            <a:endParaRPr sz="2000">
              <a:latin typeface="Times"/>
              <a:ea typeface="Times"/>
              <a:cs typeface="Times"/>
              <a:sym typeface="Times"/>
            </a:endParaRPr>
          </a:p>
          <a:p>
            <a:pPr indent="-355600" lvl="0" marL="361950" rtl="0" algn="l">
              <a:lnSpc>
                <a:spcPct val="100000"/>
              </a:lnSpc>
              <a:spcBef>
                <a:spcPts val="0"/>
              </a:spcBef>
              <a:spcAft>
                <a:spcPts val="0"/>
              </a:spcAft>
              <a:buSzPts val="2000"/>
              <a:buChar char="➔"/>
            </a:pPr>
            <a:r>
              <a:rPr b="1" lang="en-GB" sz="2000">
                <a:latin typeface="Times"/>
                <a:ea typeface="Times"/>
                <a:cs typeface="Times"/>
                <a:sym typeface="Times"/>
              </a:rPr>
              <a:t>All-Pairs Shortest Path</a:t>
            </a:r>
            <a:r>
              <a:rPr lang="en-GB" sz="2000">
                <a:latin typeface="Times"/>
                <a:ea typeface="Times"/>
                <a:cs typeface="Times"/>
                <a:sym typeface="Times"/>
              </a:rPr>
              <a:t>:</a:t>
            </a:r>
            <a:endParaRPr sz="2000">
              <a:latin typeface="Times"/>
              <a:ea typeface="Times"/>
              <a:cs typeface="Times"/>
              <a:sym typeface="Times"/>
            </a:endParaRPr>
          </a:p>
          <a:p>
            <a:pPr indent="-355600" lvl="3" marL="720000" rtl="0" algn="l">
              <a:lnSpc>
                <a:spcPct val="100000"/>
              </a:lnSpc>
              <a:spcBef>
                <a:spcPts val="0"/>
              </a:spcBef>
              <a:spcAft>
                <a:spcPts val="0"/>
              </a:spcAft>
              <a:buSzPts val="2000"/>
              <a:buFont typeface="Times"/>
              <a:buChar char="○"/>
            </a:pPr>
            <a:r>
              <a:rPr lang="en-GB" sz="2000">
                <a:latin typeface="Times"/>
                <a:ea typeface="Times"/>
                <a:cs typeface="Times"/>
                <a:sym typeface="Times"/>
              </a:rPr>
              <a:t>Find the shortest paths between all pairs of vertices.</a:t>
            </a:r>
            <a:endParaRPr sz="2000">
              <a:latin typeface="Times"/>
              <a:ea typeface="Times"/>
              <a:cs typeface="Times"/>
              <a:sym typeface="Times"/>
            </a:endParaRPr>
          </a:p>
          <a:p>
            <a:pPr indent="-355600" lvl="3" marL="720000" rtl="0" algn="l">
              <a:lnSpc>
                <a:spcPct val="100000"/>
              </a:lnSpc>
              <a:spcBef>
                <a:spcPts val="0"/>
              </a:spcBef>
              <a:spcAft>
                <a:spcPts val="0"/>
              </a:spcAft>
              <a:buSzPts val="2000"/>
              <a:buFont typeface="Times"/>
              <a:buChar char="○"/>
            </a:pPr>
            <a:r>
              <a:rPr b="1" lang="en-GB" sz="2000">
                <a:latin typeface="Times"/>
                <a:ea typeface="Times"/>
                <a:cs typeface="Times"/>
                <a:sym typeface="Times"/>
              </a:rPr>
              <a:t>Floyd-Warshall Algorithm</a:t>
            </a:r>
            <a:r>
              <a:rPr lang="en-GB" sz="2000">
                <a:latin typeface="Times"/>
                <a:ea typeface="Times"/>
                <a:cs typeface="Times"/>
                <a:sym typeface="Times"/>
              </a:rPr>
              <a:t>, </a:t>
            </a:r>
            <a:r>
              <a:rPr b="1" lang="en-GB" sz="2000">
                <a:latin typeface="Times"/>
                <a:ea typeface="Times"/>
                <a:cs typeface="Times"/>
                <a:sym typeface="Times"/>
              </a:rPr>
              <a:t>Johnson's Algorithm</a:t>
            </a:r>
            <a:r>
              <a:rPr lang="en-GB" sz="2000">
                <a:latin typeface="Times"/>
                <a:ea typeface="Times"/>
                <a:cs typeface="Times"/>
                <a:sym typeface="Times"/>
              </a:rPr>
              <a:t>.</a:t>
            </a:r>
            <a:endParaRPr sz="2000">
              <a:latin typeface="Times"/>
              <a:ea typeface="Times"/>
              <a:cs typeface="Times"/>
              <a:sym typeface="Times"/>
            </a:endParaRPr>
          </a:p>
          <a:p>
            <a:pPr indent="-355600" lvl="0" marL="361950" rtl="0" algn="l">
              <a:lnSpc>
                <a:spcPct val="100000"/>
              </a:lnSpc>
              <a:spcBef>
                <a:spcPts val="0"/>
              </a:spcBef>
              <a:spcAft>
                <a:spcPts val="0"/>
              </a:spcAft>
              <a:buSzPts val="2000"/>
              <a:buChar char="➔"/>
            </a:pPr>
            <a:r>
              <a:rPr b="1" lang="en-GB" sz="2000">
                <a:latin typeface="Times"/>
                <a:ea typeface="Times"/>
                <a:cs typeface="Times"/>
                <a:sym typeface="Times"/>
              </a:rPr>
              <a:t>K-Shortest Paths</a:t>
            </a:r>
            <a:r>
              <a:rPr lang="en-GB" sz="2000">
                <a:latin typeface="Times"/>
                <a:ea typeface="Times"/>
                <a:cs typeface="Times"/>
                <a:sym typeface="Times"/>
              </a:rPr>
              <a:t>:</a:t>
            </a:r>
            <a:endParaRPr sz="2000">
              <a:latin typeface="Times"/>
              <a:ea typeface="Times"/>
              <a:cs typeface="Times"/>
              <a:sym typeface="Times"/>
            </a:endParaRPr>
          </a:p>
          <a:p>
            <a:pPr indent="-355600" lvl="3" marL="810000" rtl="0" algn="l">
              <a:lnSpc>
                <a:spcPct val="100000"/>
              </a:lnSpc>
              <a:spcBef>
                <a:spcPts val="0"/>
              </a:spcBef>
              <a:spcAft>
                <a:spcPts val="0"/>
              </a:spcAft>
              <a:buSzPts val="2000"/>
              <a:buFont typeface="Times"/>
              <a:buChar char="○"/>
            </a:pPr>
            <a:r>
              <a:rPr lang="en-GB" sz="2000">
                <a:latin typeface="Times"/>
                <a:ea typeface="Times"/>
                <a:cs typeface="Times"/>
                <a:sym typeface="Times"/>
              </a:rPr>
              <a:t>Find the k-shortest paths between two vertices.</a:t>
            </a:r>
            <a:endParaRPr sz="2000">
              <a:solidFill>
                <a:schemeClr val="accent1"/>
              </a:solidFill>
              <a:latin typeface="Times"/>
              <a:ea typeface="Times"/>
              <a:cs typeface="Times"/>
              <a:sym typeface="Time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1078" name="Shape 1078"/>
        <p:cNvGrpSpPr/>
        <p:nvPr/>
      </p:nvGrpSpPr>
      <p:grpSpPr>
        <a:xfrm>
          <a:off x="0" y="0"/>
          <a:ext cx="0" cy="0"/>
          <a:chOff x="0" y="0"/>
          <a:chExt cx="0" cy="0"/>
        </a:xfrm>
      </p:grpSpPr>
      <p:sp>
        <p:nvSpPr>
          <p:cNvPr id="1079" name="Google Shape;1079;p75"/>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080" name="Google Shape;1080;p75"/>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81" name="Google Shape;1081;p75"/>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082" name="Google Shape;1082;p75"/>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4000">
                <a:solidFill>
                  <a:srgbClr val="2B2C30"/>
                </a:solidFill>
              </a:rPr>
              <a:t>Dijkstra’s Algorithm</a:t>
            </a:r>
            <a:endParaRPr sz="4800"/>
          </a:p>
        </p:txBody>
      </p:sp>
      <p:cxnSp>
        <p:nvCxnSpPr>
          <p:cNvPr id="1083" name="Google Shape;1083;p75"/>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1084" name="Google Shape;1084;p75"/>
          <p:cNvSpPr txBox="1"/>
          <p:nvPr/>
        </p:nvSpPr>
        <p:spPr>
          <a:xfrm>
            <a:off x="553925" y="906400"/>
            <a:ext cx="8196600" cy="3988200"/>
          </a:xfrm>
          <a:prstGeom prst="rect">
            <a:avLst/>
          </a:prstGeom>
          <a:noFill/>
          <a:ln>
            <a:noFill/>
          </a:ln>
        </p:spPr>
        <p:txBody>
          <a:bodyPr anchorCtr="0" anchor="t" bIns="91425" lIns="91425" spcFirstLastPara="1" rIns="91425" wrap="square" tIns="91425">
            <a:noAutofit/>
          </a:bodyPr>
          <a:lstStyle/>
          <a:p>
            <a:pPr indent="-355600" lvl="0" marL="269999" rtl="0" algn="l">
              <a:lnSpc>
                <a:spcPct val="115000"/>
              </a:lnSpc>
              <a:spcBef>
                <a:spcPts val="900"/>
              </a:spcBef>
              <a:spcAft>
                <a:spcPts val="0"/>
              </a:spcAft>
              <a:buSzPts val="2000"/>
              <a:buFont typeface="Times"/>
              <a:buChar char="➔"/>
            </a:pPr>
            <a:r>
              <a:rPr lang="en-GB" sz="2000">
                <a:latin typeface="Times"/>
                <a:ea typeface="Times"/>
                <a:cs typeface="Times"/>
                <a:sym typeface="Times"/>
              </a:rPr>
              <a:t>It is greedy algorithm, used to find the shortest path from single source vertex to all other vertices in a weighted graphs.</a:t>
            </a:r>
            <a:endParaRPr sz="2000">
              <a:latin typeface="Times"/>
              <a:ea typeface="Times"/>
              <a:cs typeface="Times"/>
              <a:sym typeface="Times"/>
            </a:endParaRPr>
          </a:p>
          <a:p>
            <a:pPr indent="-355600" lvl="0" marL="269999" rtl="0" algn="l">
              <a:lnSpc>
                <a:spcPct val="115000"/>
              </a:lnSpc>
              <a:spcBef>
                <a:spcPts val="0"/>
              </a:spcBef>
              <a:spcAft>
                <a:spcPts val="0"/>
              </a:spcAft>
              <a:buSzPts val="2000"/>
              <a:buFont typeface="Times"/>
              <a:buChar char="➔"/>
            </a:pPr>
            <a:r>
              <a:rPr lang="en-GB" sz="2000">
                <a:latin typeface="Times"/>
                <a:ea typeface="Times"/>
                <a:cs typeface="Times"/>
                <a:sym typeface="Times"/>
              </a:rPr>
              <a:t>It works for the graph with non-negative edge weights.</a:t>
            </a:r>
            <a:endParaRPr sz="2000">
              <a:latin typeface="Times"/>
              <a:ea typeface="Times"/>
              <a:cs typeface="Times"/>
              <a:sym typeface="Time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1088" name="Shape 1088"/>
        <p:cNvGrpSpPr/>
        <p:nvPr/>
      </p:nvGrpSpPr>
      <p:grpSpPr>
        <a:xfrm>
          <a:off x="0" y="0"/>
          <a:ext cx="0" cy="0"/>
          <a:chOff x="0" y="0"/>
          <a:chExt cx="0" cy="0"/>
        </a:xfrm>
      </p:grpSpPr>
      <p:sp>
        <p:nvSpPr>
          <p:cNvPr id="1089" name="Google Shape;1089;p76"/>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090" name="Google Shape;1090;p76"/>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91" name="Google Shape;1091;p76"/>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092" name="Google Shape;1092;p76"/>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4000">
                <a:solidFill>
                  <a:srgbClr val="2B2C30"/>
                </a:solidFill>
              </a:rPr>
              <a:t>Dijkstra’s Algorithm</a:t>
            </a:r>
            <a:endParaRPr sz="4800"/>
          </a:p>
        </p:txBody>
      </p:sp>
      <p:cxnSp>
        <p:nvCxnSpPr>
          <p:cNvPr id="1093" name="Google Shape;1093;p76"/>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1094" name="Google Shape;1094;p76"/>
          <p:cNvSpPr txBox="1"/>
          <p:nvPr/>
        </p:nvSpPr>
        <p:spPr>
          <a:xfrm>
            <a:off x="553925" y="906400"/>
            <a:ext cx="8196600" cy="39882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900"/>
              </a:spcBef>
              <a:spcAft>
                <a:spcPts val="0"/>
              </a:spcAft>
              <a:buSzPts val="2000"/>
              <a:buFont typeface="Times"/>
              <a:buChar char="➔"/>
            </a:pPr>
            <a:r>
              <a:rPr lang="en-GB" sz="2000">
                <a:latin typeface="Times"/>
                <a:ea typeface="Times"/>
                <a:cs typeface="Times"/>
                <a:sym typeface="Times"/>
              </a:rPr>
              <a:t>Finds the shortest path from a source vertex to all other vertices in O(V</a:t>
            </a:r>
            <a:r>
              <a:rPr baseline="30000" lang="en-GB" sz="2000">
                <a:latin typeface="Times"/>
                <a:ea typeface="Times"/>
                <a:cs typeface="Times"/>
                <a:sym typeface="Times"/>
              </a:rPr>
              <a:t>2</a:t>
            </a:r>
            <a:r>
              <a:rPr lang="en-GB" sz="2000">
                <a:latin typeface="Times"/>
                <a:ea typeface="Times"/>
                <a:cs typeface="Times"/>
                <a:sym typeface="Times"/>
              </a:rPr>
              <a:t>) time for dense graphs (or O((V+E)log⁡V) using a priority queue. Assumes non-negative edge weights.</a:t>
            </a:r>
            <a:endParaRPr sz="2000">
              <a:latin typeface="Times"/>
              <a:ea typeface="Times"/>
              <a:cs typeface="Times"/>
              <a:sym typeface="Times"/>
            </a:endParaRPr>
          </a:p>
          <a:p>
            <a:pPr indent="-355600" lvl="0" marL="457200" rtl="0" algn="l">
              <a:lnSpc>
                <a:spcPct val="115000"/>
              </a:lnSpc>
              <a:spcBef>
                <a:spcPts val="0"/>
              </a:spcBef>
              <a:spcAft>
                <a:spcPts val="0"/>
              </a:spcAft>
              <a:buSzPts val="2000"/>
              <a:buFont typeface="Times"/>
              <a:buChar char="➔"/>
            </a:pPr>
            <a:r>
              <a:rPr lang="en-GB" sz="2000">
                <a:latin typeface="Times"/>
                <a:ea typeface="Times"/>
                <a:cs typeface="Times"/>
                <a:sym typeface="Times"/>
              </a:rPr>
              <a:t>For each edge (u, v) ∊ E, assume w(u, v) ≥ 0, maintain a set S of vertices whose final shortest path weights have been determined. </a:t>
            </a:r>
            <a:endParaRPr sz="2000">
              <a:latin typeface="Times"/>
              <a:ea typeface="Times"/>
              <a:cs typeface="Times"/>
              <a:sym typeface="Times"/>
            </a:endParaRPr>
          </a:p>
          <a:p>
            <a:pPr indent="-355600" lvl="0" marL="457200" rtl="0" algn="l">
              <a:lnSpc>
                <a:spcPct val="115000"/>
              </a:lnSpc>
              <a:spcBef>
                <a:spcPts val="0"/>
              </a:spcBef>
              <a:spcAft>
                <a:spcPts val="0"/>
              </a:spcAft>
              <a:buSzPts val="2000"/>
              <a:buFont typeface="Times"/>
              <a:buChar char="➔"/>
            </a:pPr>
            <a:r>
              <a:rPr lang="en-GB" sz="2000">
                <a:latin typeface="Times"/>
                <a:ea typeface="Times"/>
                <a:cs typeface="Times"/>
                <a:sym typeface="Times"/>
              </a:rPr>
              <a:t>Repeatedly select u ∊ V − S with minimum shortest path estimate, add u to S, relax all edges out of u.</a:t>
            </a:r>
            <a:endParaRPr sz="2000">
              <a:latin typeface="Times"/>
              <a:ea typeface="Times"/>
              <a:cs typeface="Times"/>
              <a:sym typeface="Times"/>
            </a:endParaRPr>
          </a:p>
          <a:p>
            <a:pPr indent="0" lvl="0" marL="457200" rtl="0" algn="l">
              <a:lnSpc>
                <a:spcPct val="115000"/>
              </a:lnSpc>
              <a:spcBef>
                <a:spcPts val="900"/>
              </a:spcBef>
              <a:spcAft>
                <a:spcPts val="0"/>
              </a:spcAft>
              <a:buNone/>
            </a:pPr>
            <a:r>
              <a:rPr lang="en-GB" sz="2000">
                <a:latin typeface="Times"/>
                <a:ea typeface="Times"/>
                <a:cs typeface="Times"/>
                <a:sym typeface="Times"/>
              </a:rPr>
              <a:t>RELAX(u, v, w)</a:t>
            </a:r>
            <a:endParaRPr sz="2000">
              <a:latin typeface="Times"/>
              <a:ea typeface="Times"/>
              <a:cs typeface="Times"/>
              <a:sym typeface="Times"/>
            </a:endParaRPr>
          </a:p>
          <a:p>
            <a:pPr indent="0" lvl="0" marL="914400" rtl="0" algn="l">
              <a:lnSpc>
                <a:spcPct val="115000"/>
              </a:lnSpc>
              <a:spcBef>
                <a:spcPts val="900"/>
              </a:spcBef>
              <a:spcAft>
                <a:spcPts val="0"/>
              </a:spcAft>
              <a:buNone/>
            </a:pPr>
            <a:r>
              <a:rPr lang="en-GB" sz="2000">
                <a:latin typeface="Times"/>
                <a:ea typeface="Times"/>
                <a:cs typeface="Times"/>
                <a:sym typeface="Times"/>
              </a:rPr>
              <a:t>if d[v] &gt; d[u] + w(u, v)</a:t>
            </a:r>
            <a:endParaRPr sz="2000">
              <a:latin typeface="Times"/>
              <a:ea typeface="Times"/>
              <a:cs typeface="Times"/>
              <a:sym typeface="Times"/>
            </a:endParaRPr>
          </a:p>
          <a:p>
            <a:pPr indent="457200" lvl="0" marL="914400" rtl="0" algn="l">
              <a:lnSpc>
                <a:spcPct val="115000"/>
              </a:lnSpc>
              <a:spcBef>
                <a:spcPts val="900"/>
              </a:spcBef>
              <a:spcAft>
                <a:spcPts val="900"/>
              </a:spcAft>
              <a:buNone/>
            </a:pPr>
            <a:r>
              <a:rPr lang="en-GB" sz="2000">
                <a:latin typeface="Times"/>
                <a:ea typeface="Times"/>
                <a:cs typeface="Times"/>
                <a:sym typeface="Times"/>
              </a:rPr>
              <a:t>then d[v] = d[u] + w(u, v)</a:t>
            </a:r>
            <a:endParaRPr sz="2000">
              <a:latin typeface="Times"/>
              <a:ea typeface="Times"/>
              <a:cs typeface="Times"/>
              <a:sym typeface="Time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1098" name="Shape 1098"/>
        <p:cNvGrpSpPr/>
        <p:nvPr/>
      </p:nvGrpSpPr>
      <p:grpSpPr>
        <a:xfrm>
          <a:off x="0" y="0"/>
          <a:ext cx="0" cy="0"/>
          <a:chOff x="0" y="0"/>
          <a:chExt cx="0" cy="0"/>
        </a:xfrm>
      </p:grpSpPr>
      <p:sp>
        <p:nvSpPr>
          <p:cNvPr id="1099" name="Google Shape;1099;p77"/>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100" name="Google Shape;1100;p77"/>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101" name="Google Shape;1101;p77"/>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102" name="Google Shape;1102;p77"/>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ctr">
              <a:lnSpc>
                <a:spcPct val="140010"/>
              </a:lnSpc>
              <a:spcBef>
                <a:spcPts val="0"/>
              </a:spcBef>
              <a:spcAft>
                <a:spcPts val="0"/>
              </a:spcAft>
              <a:buNone/>
            </a:pPr>
            <a:r>
              <a:rPr b="1" lang="en-GB" sz="4000">
                <a:solidFill>
                  <a:srgbClr val="2B2C30"/>
                </a:solidFill>
              </a:rPr>
              <a:t>Dijkstra’s Algorithm</a:t>
            </a:r>
            <a:endParaRPr b="1" sz="4000">
              <a:solidFill>
                <a:srgbClr val="2B2C30"/>
              </a:solidFill>
            </a:endParaRPr>
          </a:p>
        </p:txBody>
      </p:sp>
      <p:cxnSp>
        <p:nvCxnSpPr>
          <p:cNvPr id="1103" name="Google Shape;1103;p77"/>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1104" name="Google Shape;1104;p77"/>
          <p:cNvSpPr/>
          <p:nvPr/>
        </p:nvSpPr>
        <p:spPr>
          <a:xfrm>
            <a:off x="4655750" y="2236829"/>
            <a:ext cx="743400" cy="7563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a</a:t>
            </a:r>
            <a:endParaRPr b="1" sz="2000">
              <a:latin typeface="Times"/>
              <a:ea typeface="Times"/>
              <a:cs typeface="Times"/>
              <a:sym typeface="Times"/>
            </a:endParaRPr>
          </a:p>
        </p:txBody>
      </p:sp>
      <p:sp>
        <p:nvSpPr>
          <p:cNvPr id="1105" name="Google Shape;1105;p77"/>
          <p:cNvSpPr/>
          <p:nvPr/>
        </p:nvSpPr>
        <p:spPr>
          <a:xfrm>
            <a:off x="6039051" y="2236819"/>
            <a:ext cx="743400" cy="7563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b</a:t>
            </a:r>
            <a:endParaRPr b="1" sz="2000">
              <a:latin typeface="Times"/>
              <a:ea typeface="Times"/>
              <a:cs typeface="Times"/>
              <a:sym typeface="Times"/>
            </a:endParaRPr>
          </a:p>
        </p:txBody>
      </p:sp>
      <p:sp>
        <p:nvSpPr>
          <p:cNvPr id="1106" name="Google Shape;1106;p77"/>
          <p:cNvSpPr/>
          <p:nvPr/>
        </p:nvSpPr>
        <p:spPr>
          <a:xfrm>
            <a:off x="7422357" y="2236819"/>
            <a:ext cx="743400" cy="7563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c</a:t>
            </a:r>
            <a:endParaRPr b="1" sz="2000">
              <a:latin typeface="Times"/>
              <a:ea typeface="Times"/>
              <a:cs typeface="Times"/>
              <a:sym typeface="Times"/>
            </a:endParaRPr>
          </a:p>
        </p:txBody>
      </p:sp>
      <p:cxnSp>
        <p:nvCxnSpPr>
          <p:cNvPr id="1107" name="Google Shape;1107;p77"/>
          <p:cNvCxnSpPr>
            <a:stCxn id="1105" idx="6"/>
            <a:endCxn id="1106" idx="2"/>
          </p:cNvCxnSpPr>
          <p:nvPr/>
        </p:nvCxnSpPr>
        <p:spPr>
          <a:xfrm>
            <a:off x="6782451" y="2614969"/>
            <a:ext cx="639900" cy="0"/>
          </a:xfrm>
          <a:prstGeom prst="straightConnector1">
            <a:avLst/>
          </a:prstGeom>
          <a:noFill/>
          <a:ln cap="flat" cmpd="sng" w="19050">
            <a:solidFill>
              <a:srgbClr val="000000"/>
            </a:solidFill>
            <a:prstDash val="solid"/>
            <a:round/>
            <a:headEnd len="med" w="med" type="none"/>
            <a:tailEnd len="med" w="med" type="triangle"/>
          </a:ln>
        </p:spPr>
      </p:cxnSp>
      <p:cxnSp>
        <p:nvCxnSpPr>
          <p:cNvPr id="1108" name="Google Shape;1108;p77"/>
          <p:cNvCxnSpPr>
            <a:stCxn id="1104" idx="6"/>
            <a:endCxn id="1105" idx="2"/>
          </p:cNvCxnSpPr>
          <p:nvPr/>
        </p:nvCxnSpPr>
        <p:spPr>
          <a:xfrm>
            <a:off x="5399150" y="2614979"/>
            <a:ext cx="639900" cy="0"/>
          </a:xfrm>
          <a:prstGeom prst="straightConnector1">
            <a:avLst/>
          </a:prstGeom>
          <a:noFill/>
          <a:ln cap="flat" cmpd="sng" w="19050">
            <a:solidFill>
              <a:srgbClr val="000000"/>
            </a:solidFill>
            <a:prstDash val="solid"/>
            <a:round/>
            <a:headEnd len="med" w="med" type="none"/>
            <a:tailEnd len="med" w="med" type="triangle"/>
          </a:ln>
        </p:spPr>
      </p:cxnSp>
      <p:sp>
        <p:nvSpPr>
          <p:cNvPr id="1109" name="Google Shape;1109;p77"/>
          <p:cNvSpPr txBox="1"/>
          <p:nvPr/>
        </p:nvSpPr>
        <p:spPr>
          <a:xfrm>
            <a:off x="5493413" y="2024443"/>
            <a:ext cx="426600" cy="5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2</a:t>
            </a:r>
            <a:endParaRPr b="1" sz="1800">
              <a:latin typeface="Times"/>
              <a:ea typeface="Times"/>
              <a:cs typeface="Times"/>
              <a:sym typeface="Times"/>
            </a:endParaRPr>
          </a:p>
        </p:txBody>
      </p:sp>
      <p:sp>
        <p:nvSpPr>
          <p:cNvPr id="1110" name="Google Shape;1110;p77"/>
          <p:cNvSpPr txBox="1"/>
          <p:nvPr/>
        </p:nvSpPr>
        <p:spPr>
          <a:xfrm>
            <a:off x="6866707" y="2011024"/>
            <a:ext cx="491400" cy="55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4</a:t>
            </a:r>
            <a:endParaRPr b="1" sz="1800">
              <a:latin typeface="Times"/>
              <a:ea typeface="Times"/>
              <a:cs typeface="Times"/>
              <a:sym typeface="Times"/>
            </a:endParaRPr>
          </a:p>
        </p:txBody>
      </p:sp>
      <p:sp>
        <p:nvSpPr>
          <p:cNvPr id="1111" name="Google Shape;1111;p77"/>
          <p:cNvSpPr txBox="1"/>
          <p:nvPr/>
        </p:nvSpPr>
        <p:spPr>
          <a:xfrm>
            <a:off x="5036250" y="1811169"/>
            <a:ext cx="338400" cy="5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0</a:t>
            </a:r>
            <a:endParaRPr b="1" sz="1800">
              <a:latin typeface="Times"/>
              <a:ea typeface="Times"/>
              <a:cs typeface="Times"/>
              <a:sym typeface="Times"/>
            </a:endParaRPr>
          </a:p>
        </p:txBody>
      </p:sp>
      <p:sp>
        <p:nvSpPr>
          <p:cNvPr id="1112" name="Google Shape;1112;p77"/>
          <p:cNvSpPr txBox="1"/>
          <p:nvPr/>
        </p:nvSpPr>
        <p:spPr>
          <a:xfrm>
            <a:off x="6457900" y="1811260"/>
            <a:ext cx="426600" cy="5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2</a:t>
            </a:r>
            <a:endParaRPr b="1" sz="1800">
              <a:latin typeface="Times"/>
              <a:ea typeface="Times"/>
              <a:cs typeface="Times"/>
              <a:sym typeface="Times"/>
            </a:endParaRPr>
          </a:p>
        </p:txBody>
      </p:sp>
      <p:sp>
        <p:nvSpPr>
          <p:cNvPr id="1113" name="Google Shape;1113;p77"/>
          <p:cNvSpPr txBox="1"/>
          <p:nvPr/>
        </p:nvSpPr>
        <p:spPr>
          <a:xfrm>
            <a:off x="7900400" y="1753700"/>
            <a:ext cx="426600" cy="48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900"/>
              </a:spcBef>
              <a:spcAft>
                <a:spcPts val="900"/>
              </a:spcAft>
              <a:buNone/>
            </a:pPr>
            <a:r>
              <a:rPr lang="en-GB" sz="2400">
                <a:latin typeface="Times"/>
                <a:ea typeface="Times"/>
                <a:cs typeface="Times"/>
                <a:sym typeface="Times"/>
              </a:rPr>
              <a:t>∞</a:t>
            </a:r>
            <a:endParaRPr b="1" sz="1800">
              <a:latin typeface="Times"/>
              <a:ea typeface="Times"/>
              <a:cs typeface="Times"/>
              <a:sym typeface="Times"/>
            </a:endParaRPr>
          </a:p>
        </p:txBody>
      </p:sp>
      <p:sp>
        <p:nvSpPr>
          <p:cNvPr id="1114" name="Google Shape;1114;p77"/>
          <p:cNvSpPr txBox="1"/>
          <p:nvPr/>
        </p:nvSpPr>
        <p:spPr>
          <a:xfrm>
            <a:off x="584500" y="1753750"/>
            <a:ext cx="3987600" cy="123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a:ea typeface="Times"/>
                <a:cs typeface="Times"/>
                <a:sym typeface="Times"/>
              </a:rPr>
              <a:t>We have d[a]=0, and direct path from a to b so that d[b] = d[a] + w[a,b] = 0 + 2 = 2, but we don't have direct path from a to c so that d[c] is ∞</a:t>
            </a:r>
            <a:endParaRPr sz="1800">
              <a:latin typeface="Times"/>
              <a:ea typeface="Times"/>
              <a:cs typeface="Times"/>
              <a:sym typeface="Times"/>
            </a:endParaRPr>
          </a:p>
        </p:txBody>
      </p:sp>
      <p:sp>
        <p:nvSpPr>
          <p:cNvPr id="1115" name="Google Shape;1115;p77"/>
          <p:cNvSpPr/>
          <p:nvPr/>
        </p:nvSpPr>
        <p:spPr>
          <a:xfrm>
            <a:off x="4655750" y="3584685"/>
            <a:ext cx="743400" cy="7353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a</a:t>
            </a:r>
            <a:endParaRPr b="1" sz="2000">
              <a:latin typeface="Times"/>
              <a:ea typeface="Times"/>
              <a:cs typeface="Times"/>
              <a:sym typeface="Times"/>
            </a:endParaRPr>
          </a:p>
        </p:txBody>
      </p:sp>
      <p:sp>
        <p:nvSpPr>
          <p:cNvPr id="1116" name="Google Shape;1116;p77"/>
          <p:cNvSpPr/>
          <p:nvPr/>
        </p:nvSpPr>
        <p:spPr>
          <a:xfrm>
            <a:off x="6039051" y="3584676"/>
            <a:ext cx="743400" cy="7353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b</a:t>
            </a:r>
            <a:endParaRPr b="1" sz="2000">
              <a:latin typeface="Times"/>
              <a:ea typeface="Times"/>
              <a:cs typeface="Times"/>
              <a:sym typeface="Times"/>
            </a:endParaRPr>
          </a:p>
        </p:txBody>
      </p:sp>
      <p:sp>
        <p:nvSpPr>
          <p:cNvPr id="1117" name="Google Shape;1117;p77"/>
          <p:cNvSpPr/>
          <p:nvPr/>
        </p:nvSpPr>
        <p:spPr>
          <a:xfrm>
            <a:off x="7422357" y="3584676"/>
            <a:ext cx="743400" cy="7353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c</a:t>
            </a:r>
            <a:endParaRPr b="1" sz="2000">
              <a:latin typeface="Times"/>
              <a:ea typeface="Times"/>
              <a:cs typeface="Times"/>
              <a:sym typeface="Times"/>
            </a:endParaRPr>
          </a:p>
        </p:txBody>
      </p:sp>
      <p:cxnSp>
        <p:nvCxnSpPr>
          <p:cNvPr id="1118" name="Google Shape;1118;p77"/>
          <p:cNvCxnSpPr>
            <a:stCxn id="1116" idx="6"/>
            <a:endCxn id="1117" idx="2"/>
          </p:cNvCxnSpPr>
          <p:nvPr/>
        </p:nvCxnSpPr>
        <p:spPr>
          <a:xfrm>
            <a:off x="6782451" y="3952326"/>
            <a:ext cx="639900" cy="0"/>
          </a:xfrm>
          <a:prstGeom prst="straightConnector1">
            <a:avLst/>
          </a:prstGeom>
          <a:noFill/>
          <a:ln cap="flat" cmpd="sng" w="19050">
            <a:solidFill>
              <a:srgbClr val="000000"/>
            </a:solidFill>
            <a:prstDash val="solid"/>
            <a:round/>
            <a:headEnd len="med" w="med" type="none"/>
            <a:tailEnd len="med" w="med" type="triangle"/>
          </a:ln>
        </p:spPr>
      </p:cxnSp>
      <p:cxnSp>
        <p:nvCxnSpPr>
          <p:cNvPr id="1119" name="Google Shape;1119;p77"/>
          <p:cNvCxnSpPr>
            <a:stCxn id="1115" idx="6"/>
            <a:endCxn id="1116" idx="2"/>
          </p:cNvCxnSpPr>
          <p:nvPr/>
        </p:nvCxnSpPr>
        <p:spPr>
          <a:xfrm>
            <a:off x="5399150" y="3952335"/>
            <a:ext cx="639900" cy="0"/>
          </a:xfrm>
          <a:prstGeom prst="straightConnector1">
            <a:avLst/>
          </a:prstGeom>
          <a:noFill/>
          <a:ln cap="flat" cmpd="sng" w="19050">
            <a:solidFill>
              <a:srgbClr val="000000"/>
            </a:solidFill>
            <a:prstDash val="solid"/>
            <a:round/>
            <a:headEnd len="med" w="med" type="none"/>
            <a:tailEnd len="med" w="med" type="triangle"/>
          </a:ln>
        </p:spPr>
      </p:cxnSp>
      <p:sp>
        <p:nvSpPr>
          <p:cNvPr id="1120" name="Google Shape;1120;p77"/>
          <p:cNvSpPr txBox="1"/>
          <p:nvPr/>
        </p:nvSpPr>
        <p:spPr>
          <a:xfrm>
            <a:off x="5493413" y="3378177"/>
            <a:ext cx="426600" cy="52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2</a:t>
            </a:r>
            <a:endParaRPr b="1" sz="1800">
              <a:latin typeface="Times"/>
              <a:ea typeface="Times"/>
              <a:cs typeface="Times"/>
              <a:sym typeface="Times"/>
            </a:endParaRPr>
          </a:p>
        </p:txBody>
      </p:sp>
      <p:sp>
        <p:nvSpPr>
          <p:cNvPr id="1121" name="Google Shape;1121;p77"/>
          <p:cNvSpPr txBox="1"/>
          <p:nvPr/>
        </p:nvSpPr>
        <p:spPr>
          <a:xfrm>
            <a:off x="6866707" y="3365130"/>
            <a:ext cx="491400" cy="5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4</a:t>
            </a:r>
            <a:endParaRPr b="1" sz="1800">
              <a:latin typeface="Times"/>
              <a:ea typeface="Times"/>
              <a:cs typeface="Times"/>
              <a:sym typeface="Times"/>
            </a:endParaRPr>
          </a:p>
        </p:txBody>
      </p:sp>
      <p:sp>
        <p:nvSpPr>
          <p:cNvPr id="1122" name="Google Shape;1122;p77"/>
          <p:cNvSpPr txBox="1"/>
          <p:nvPr/>
        </p:nvSpPr>
        <p:spPr>
          <a:xfrm>
            <a:off x="5036250" y="3170806"/>
            <a:ext cx="338400" cy="52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0</a:t>
            </a:r>
            <a:endParaRPr b="1" sz="1800">
              <a:latin typeface="Times"/>
              <a:ea typeface="Times"/>
              <a:cs typeface="Times"/>
              <a:sym typeface="Times"/>
            </a:endParaRPr>
          </a:p>
        </p:txBody>
      </p:sp>
      <p:sp>
        <p:nvSpPr>
          <p:cNvPr id="1123" name="Google Shape;1123;p77"/>
          <p:cNvSpPr txBox="1"/>
          <p:nvPr/>
        </p:nvSpPr>
        <p:spPr>
          <a:xfrm>
            <a:off x="6457900" y="3170894"/>
            <a:ext cx="426600" cy="52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2</a:t>
            </a:r>
            <a:endParaRPr b="1" sz="1800">
              <a:latin typeface="Times"/>
              <a:ea typeface="Times"/>
              <a:cs typeface="Times"/>
              <a:sym typeface="Times"/>
            </a:endParaRPr>
          </a:p>
        </p:txBody>
      </p:sp>
      <p:sp>
        <p:nvSpPr>
          <p:cNvPr id="1124" name="Google Shape;1124;p77"/>
          <p:cNvSpPr txBox="1"/>
          <p:nvPr/>
        </p:nvSpPr>
        <p:spPr>
          <a:xfrm>
            <a:off x="7900400" y="3114927"/>
            <a:ext cx="426600" cy="46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900"/>
              </a:spcBef>
              <a:spcAft>
                <a:spcPts val="900"/>
              </a:spcAft>
              <a:buNone/>
            </a:pPr>
            <a:r>
              <a:rPr lang="en-GB" sz="2000">
                <a:latin typeface="Times"/>
                <a:ea typeface="Times"/>
                <a:cs typeface="Times"/>
                <a:sym typeface="Times"/>
              </a:rPr>
              <a:t>6</a:t>
            </a:r>
            <a:endParaRPr b="1">
              <a:latin typeface="Times"/>
              <a:ea typeface="Times"/>
              <a:cs typeface="Times"/>
              <a:sym typeface="Times"/>
            </a:endParaRPr>
          </a:p>
        </p:txBody>
      </p:sp>
      <p:sp>
        <p:nvSpPr>
          <p:cNvPr id="1125" name="Google Shape;1125;p77"/>
          <p:cNvSpPr txBox="1"/>
          <p:nvPr/>
        </p:nvSpPr>
        <p:spPr>
          <a:xfrm>
            <a:off x="584500" y="3114975"/>
            <a:ext cx="3987600" cy="1205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900">
                <a:latin typeface="Times"/>
                <a:ea typeface="Times"/>
                <a:cs typeface="Times"/>
                <a:sym typeface="Times"/>
              </a:rPr>
              <a:t>We have direct path from b to c so that d[c] = d[b] + w[b,c] = 2 + 4 = 6, and which is less than ∞ so that d[c] = 6</a:t>
            </a:r>
            <a:endParaRPr sz="1900">
              <a:latin typeface="Times"/>
              <a:ea typeface="Times"/>
              <a:cs typeface="Times"/>
              <a:sym typeface="Times"/>
            </a:endParaRPr>
          </a:p>
        </p:txBody>
      </p:sp>
      <p:sp>
        <p:nvSpPr>
          <p:cNvPr id="1126" name="Google Shape;1126;p77"/>
          <p:cNvSpPr txBox="1"/>
          <p:nvPr/>
        </p:nvSpPr>
        <p:spPr>
          <a:xfrm>
            <a:off x="572650" y="4416675"/>
            <a:ext cx="8201700" cy="543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GB" sz="2000">
                <a:solidFill>
                  <a:srgbClr val="9900FF"/>
                </a:solidFill>
                <a:latin typeface="Times"/>
                <a:ea typeface="Times"/>
                <a:cs typeface="Times"/>
                <a:sym typeface="Times"/>
              </a:rPr>
              <a:t>The shortest paths are a→b is 2, b→c is 4, and a→b→c : 6</a:t>
            </a:r>
            <a:endParaRPr i="1" sz="2000">
              <a:solidFill>
                <a:srgbClr val="9900FF"/>
              </a:solidFill>
              <a:latin typeface="Times"/>
              <a:ea typeface="Times"/>
              <a:cs typeface="Times"/>
              <a:sym typeface="Times"/>
            </a:endParaRPr>
          </a:p>
        </p:txBody>
      </p:sp>
      <p:sp>
        <p:nvSpPr>
          <p:cNvPr id="1127" name="Google Shape;1127;p77"/>
          <p:cNvSpPr/>
          <p:nvPr/>
        </p:nvSpPr>
        <p:spPr>
          <a:xfrm>
            <a:off x="4655750" y="983804"/>
            <a:ext cx="743400" cy="7563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a</a:t>
            </a:r>
            <a:endParaRPr b="1" sz="2000">
              <a:latin typeface="Times"/>
              <a:ea typeface="Times"/>
              <a:cs typeface="Times"/>
              <a:sym typeface="Times"/>
            </a:endParaRPr>
          </a:p>
        </p:txBody>
      </p:sp>
      <p:sp>
        <p:nvSpPr>
          <p:cNvPr id="1128" name="Google Shape;1128;p77"/>
          <p:cNvSpPr/>
          <p:nvPr/>
        </p:nvSpPr>
        <p:spPr>
          <a:xfrm>
            <a:off x="6039051" y="983794"/>
            <a:ext cx="743400" cy="7563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b</a:t>
            </a:r>
            <a:endParaRPr b="1" sz="2000">
              <a:latin typeface="Times"/>
              <a:ea typeface="Times"/>
              <a:cs typeface="Times"/>
              <a:sym typeface="Times"/>
            </a:endParaRPr>
          </a:p>
        </p:txBody>
      </p:sp>
      <p:sp>
        <p:nvSpPr>
          <p:cNvPr id="1129" name="Google Shape;1129;p77"/>
          <p:cNvSpPr/>
          <p:nvPr/>
        </p:nvSpPr>
        <p:spPr>
          <a:xfrm>
            <a:off x="7422357" y="983794"/>
            <a:ext cx="743400" cy="7563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c</a:t>
            </a:r>
            <a:endParaRPr b="1" sz="2000">
              <a:latin typeface="Times"/>
              <a:ea typeface="Times"/>
              <a:cs typeface="Times"/>
              <a:sym typeface="Times"/>
            </a:endParaRPr>
          </a:p>
        </p:txBody>
      </p:sp>
      <p:cxnSp>
        <p:nvCxnSpPr>
          <p:cNvPr id="1130" name="Google Shape;1130;p77"/>
          <p:cNvCxnSpPr>
            <a:stCxn id="1128" idx="6"/>
            <a:endCxn id="1129" idx="2"/>
          </p:cNvCxnSpPr>
          <p:nvPr/>
        </p:nvCxnSpPr>
        <p:spPr>
          <a:xfrm>
            <a:off x="6782451" y="1361944"/>
            <a:ext cx="639900" cy="0"/>
          </a:xfrm>
          <a:prstGeom prst="straightConnector1">
            <a:avLst/>
          </a:prstGeom>
          <a:noFill/>
          <a:ln cap="flat" cmpd="sng" w="19050">
            <a:solidFill>
              <a:srgbClr val="000000"/>
            </a:solidFill>
            <a:prstDash val="solid"/>
            <a:round/>
            <a:headEnd len="med" w="med" type="none"/>
            <a:tailEnd len="med" w="med" type="triangle"/>
          </a:ln>
        </p:spPr>
      </p:cxnSp>
      <p:cxnSp>
        <p:nvCxnSpPr>
          <p:cNvPr id="1131" name="Google Shape;1131;p77"/>
          <p:cNvCxnSpPr>
            <a:stCxn id="1127" idx="6"/>
            <a:endCxn id="1128" idx="2"/>
          </p:cNvCxnSpPr>
          <p:nvPr/>
        </p:nvCxnSpPr>
        <p:spPr>
          <a:xfrm>
            <a:off x="5399150" y="1361954"/>
            <a:ext cx="639900" cy="0"/>
          </a:xfrm>
          <a:prstGeom prst="straightConnector1">
            <a:avLst/>
          </a:prstGeom>
          <a:noFill/>
          <a:ln cap="flat" cmpd="sng" w="19050">
            <a:solidFill>
              <a:srgbClr val="000000"/>
            </a:solidFill>
            <a:prstDash val="solid"/>
            <a:round/>
            <a:headEnd len="med" w="med" type="none"/>
            <a:tailEnd len="med" w="med" type="triangle"/>
          </a:ln>
        </p:spPr>
      </p:cxnSp>
      <p:sp>
        <p:nvSpPr>
          <p:cNvPr id="1132" name="Google Shape;1132;p77"/>
          <p:cNvSpPr txBox="1"/>
          <p:nvPr/>
        </p:nvSpPr>
        <p:spPr>
          <a:xfrm>
            <a:off x="5493413" y="771418"/>
            <a:ext cx="426600" cy="54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2</a:t>
            </a:r>
            <a:endParaRPr b="1" sz="1800">
              <a:latin typeface="Times"/>
              <a:ea typeface="Times"/>
              <a:cs typeface="Times"/>
              <a:sym typeface="Times"/>
            </a:endParaRPr>
          </a:p>
        </p:txBody>
      </p:sp>
      <p:sp>
        <p:nvSpPr>
          <p:cNvPr id="1133" name="Google Shape;1133;p77"/>
          <p:cNvSpPr txBox="1"/>
          <p:nvPr/>
        </p:nvSpPr>
        <p:spPr>
          <a:xfrm>
            <a:off x="6866707" y="757999"/>
            <a:ext cx="491400" cy="55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4</a:t>
            </a:r>
            <a:endParaRPr b="1" sz="1800">
              <a:latin typeface="Times"/>
              <a:ea typeface="Times"/>
              <a:cs typeface="Times"/>
              <a:sym typeface="Times"/>
            </a:endParaRPr>
          </a:p>
        </p:txBody>
      </p:sp>
      <p:sp>
        <p:nvSpPr>
          <p:cNvPr id="1134" name="Google Shape;1134;p77"/>
          <p:cNvSpPr txBox="1"/>
          <p:nvPr/>
        </p:nvSpPr>
        <p:spPr>
          <a:xfrm>
            <a:off x="573875" y="893100"/>
            <a:ext cx="3987600" cy="735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a:ea typeface="Times"/>
                <a:cs typeface="Times"/>
                <a:sym typeface="Times"/>
              </a:rPr>
              <a:t>Find the shorted path from Vertices a to all other vertices.</a:t>
            </a:r>
            <a:endParaRPr sz="1800">
              <a:latin typeface="Times"/>
              <a:ea typeface="Times"/>
              <a:cs typeface="Times"/>
              <a:sym typeface="Times"/>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1138" name="Shape 1138"/>
        <p:cNvGrpSpPr/>
        <p:nvPr/>
      </p:nvGrpSpPr>
      <p:grpSpPr>
        <a:xfrm>
          <a:off x="0" y="0"/>
          <a:ext cx="0" cy="0"/>
          <a:chOff x="0" y="0"/>
          <a:chExt cx="0" cy="0"/>
        </a:xfrm>
      </p:grpSpPr>
      <p:sp>
        <p:nvSpPr>
          <p:cNvPr id="1139" name="Google Shape;1139;p78"/>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140" name="Google Shape;1140;p78"/>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141" name="Google Shape;1141;p78"/>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142" name="Google Shape;1142;p78"/>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4000">
                <a:solidFill>
                  <a:srgbClr val="2B2C30"/>
                </a:solidFill>
              </a:rPr>
              <a:t>Dijkstra’s Algorithm</a:t>
            </a:r>
            <a:endParaRPr sz="4800"/>
          </a:p>
        </p:txBody>
      </p:sp>
      <p:cxnSp>
        <p:nvCxnSpPr>
          <p:cNvPr id="1143" name="Google Shape;1143;p78"/>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1144" name="Google Shape;1144;p78"/>
          <p:cNvSpPr/>
          <p:nvPr/>
        </p:nvSpPr>
        <p:spPr>
          <a:xfrm>
            <a:off x="1001924" y="3472695"/>
            <a:ext cx="909300" cy="894600"/>
          </a:xfrm>
          <a:prstGeom prst="ellipse">
            <a:avLst/>
          </a:prstGeom>
          <a:solidFill>
            <a:srgbClr val="E9EDEE"/>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C</a:t>
            </a:r>
            <a:endParaRPr b="1" sz="2000">
              <a:latin typeface="Times"/>
              <a:ea typeface="Times"/>
              <a:cs typeface="Times"/>
              <a:sym typeface="Times"/>
            </a:endParaRPr>
          </a:p>
        </p:txBody>
      </p:sp>
      <p:sp>
        <p:nvSpPr>
          <p:cNvPr id="1145" name="Google Shape;1145;p78"/>
          <p:cNvSpPr/>
          <p:nvPr/>
        </p:nvSpPr>
        <p:spPr>
          <a:xfrm>
            <a:off x="4279051" y="3472695"/>
            <a:ext cx="909300" cy="894600"/>
          </a:xfrm>
          <a:prstGeom prst="ellipse">
            <a:avLst/>
          </a:prstGeom>
          <a:solidFill>
            <a:srgbClr val="E9EDEE"/>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D</a:t>
            </a:r>
            <a:endParaRPr b="1" sz="2000">
              <a:latin typeface="Times"/>
              <a:ea typeface="Times"/>
              <a:cs typeface="Times"/>
              <a:sym typeface="Times"/>
            </a:endParaRPr>
          </a:p>
        </p:txBody>
      </p:sp>
      <p:sp>
        <p:nvSpPr>
          <p:cNvPr id="1146" name="Google Shape;1146;p78"/>
          <p:cNvSpPr/>
          <p:nvPr/>
        </p:nvSpPr>
        <p:spPr>
          <a:xfrm>
            <a:off x="1001924" y="1321490"/>
            <a:ext cx="909300" cy="894600"/>
          </a:xfrm>
          <a:prstGeom prst="ellipse">
            <a:avLst/>
          </a:prstGeom>
          <a:solidFill>
            <a:srgbClr val="E9EDEE"/>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A</a:t>
            </a:r>
            <a:endParaRPr b="1" sz="2000">
              <a:latin typeface="Times"/>
              <a:ea typeface="Times"/>
              <a:cs typeface="Times"/>
              <a:sym typeface="Times"/>
            </a:endParaRPr>
          </a:p>
        </p:txBody>
      </p:sp>
      <p:sp>
        <p:nvSpPr>
          <p:cNvPr id="1147" name="Google Shape;1147;p78"/>
          <p:cNvSpPr/>
          <p:nvPr/>
        </p:nvSpPr>
        <p:spPr>
          <a:xfrm>
            <a:off x="4279051" y="1321490"/>
            <a:ext cx="909300" cy="894600"/>
          </a:xfrm>
          <a:prstGeom prst="ellipse">
            <a:avLst/>
          </a:prstGeom>
          <a:solidFill>
            <a:srgbClr val="E9EDEE"/>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B</a:t>
            </a:r>
            <a:endParaRPr b="1" sz="2000">
              <a:latin typeface="Times"/>
              <a:ea typeface="Times"/>
              <a:cs typeface="Times"/>
              <a:sym typeface="Times"/>
            </a:endParaRPr>
          </a:p>
        </p:txBody>
      </p:sp>
      <p:cxnSp>
        <p:nvCxnSpPr>
          <p:cNvPr id="1148" name="Google Shape;1148;p78"/>
          <p:cNvCxnSpPr>
            <a:endCxn id="1147" idx="2"/>
          </p:cNvCxnSpPr>
          <p:nvPr/>
        </p:nvCxnSpPr>
        <p:spPr>
          <a:xfrm>
            <a:off x="1911151" y="1768790"/>
            <a:ext cx="2367900" cy="0"/>
          </a:xfrm>
          <a:prstGeom prst="straightConnector1">
            <a:avLst/>
          </a:prstGeom>
          <a:noFill/>
          <a:ln cap="flat" cmpd="sng" w="28575">
            <a:solidFill>
              <a:srgbClr val="000000"/>
            </a:solidFill>
            <a:prstDash val="solid"/>
            <a:round/>
            <a:headEnd len="med" w="med" type="none"/>
            <a:tailEnd len="med" w="med" type="triangle"/>
          </a:ln>
        </p:spPr>
      </p:cxnSp>
      <p:cxnSp>
        <p:nvCxnSpPr>
          <p:cNvPr id="1149" name="Google Shape;1149;p78"/>
          <p:cNvCxnSpPr>
            <a:stCxn id="1146" idx="4"/>
            <a:endCxn id="1144" idx="0"/>
          </p:cNvCxnSpPr>
          <p:nvPr/>
        </p:nvCxnSpPr>
        <p:spPr>
          <a:xfrm>
            <a:off x="1456574" y="2216090"/>
            <a:ext cx="0" cy="1256700"/>
          </a:xfrm>
          <a:prstGeom prst="straightConnector1">
            <a:avLst/>
          </a:prstGeom>
          <a:noFill/>
          <a:ln cap="flat" cmpd="sng" w="28575">
            <a:solidFill>
              <a:srgbClr val="000000"/>
            </a:solidFill>
            <a:prstDash val="solid"/>
            <a:round/>
            <a:headEnd len="med" w="med" type="none"/>
            <a:tailEnd len="med" w="med" type="triangle"/>
          </a:ln>
        </p:spPr>
      </p:cxnSp>
      <p:cxnSp>
        <p:nvCxnSpPr>
          <p:cNvPr id="1150" name="Google Shape;1150;p78"/>
          <p:cNvCxnSpPr>
            <a:endCxn id="1145" idx="2"/>
          </p:cNvCxnSpPr>
          <p:nvPr/>
        </p:nvCxnSpPr>
        <p:spPr>
          <a:xfrm>
            <a:off x="1911151" y="3919995"/>
            <a:ext cx="2367900" cy="0"/>
          </a:xfrm>
          <a:prstGeom prst="straightConnector1">
            <a:avLst/>
          </a:prstGeom>
          <a:noFill/>
          <a:ln cap="flat" cmpd="sng" w="28575">
            <a:solidFill>
              <a:schemeClr val="dk2"/>
            </a:solidFill>
            <a:prstDash val="solid"/>
            <a:round/>
            <a:headEnd len="med" w="med" type="none"/>
            <a:tailEnd len="med" w="med" type="triangle"/>
          </a:ln>
        </p:spPr>
      </p:cxnSp>
      <p:cxnSp>
        <p:nvCxnSpPr>
          <p:cNvPr id="1151" name="Google Shape;1151;p78"/>
          <p:cNvCxnSpPr>
            <a:stCxn id="1145" idx="0"/>
            <a:endCxn id="1147" idx="4"/>
          </p:cNvCxnSpPr>
          <p:nvPr/>
        </p:nvCxnSpPr>
        <p:spPr>
          <a:xfrm rot="10800000">
            <a:off x="4733701" y="2215995"/>
            <a:ext cx="0" cy="1256700"/>
          </a:xfrm>
          <a:prstGeom prst="straightConnector1">
            <a:avLst/>
          </a:prstGeom>
          <a:noFill/>
          <a:ln cap="flat" cmpd="sng" w="28575">
            <a:solidFill>
              <a:srgbClr val="000000"/>
            </a:solidFill>
            <a:prstDash val="solid"/>
            <a:round/>
            <a:headEnd len="med" w="med" type="none"/>
            <a:tailEnd len="med" w="med" type="triangle"/>
          </a:ln>
        </p:spPr>
      </p:cxnSp>
      <p:sp>
        <p:nvSpPr>
          <p:cNvPr id="1152" name="Google Shape;1152;p78"/>
          <p:cNvSpPr txBox="1"/>
          <p:nvPr/>
        </p:nvSpPr>
        <p:spPr>
          <a:xfrm>
            <a:off x="2840100" y="1276825"/>
            <a:ext cx="4746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6</a:t>
            </a:r>
            <a:endParaRPr sz="2000">
              <a:latin typeface="Times"/>
              <a:ea typeface="Times"/>
              <a:cs typeface="Times"/>
              <a:sym typeface="Times"/>
            </a:endParaRPr>
          </a:p>
        </p:txBody>
      </p:sp>
      <p:sp>
        <p:nvSpPr>
          <p:cNvPr id="1153" name="Google Shape;1153;p78"/>
          <p:cNvSpPr txBox="1"/>
          <p:nvPr/>
        </p:nvSpPr>
        <p:spPr>
          <a:xfrm>
            <a:off x="2857761" y="3328658"/>
            <a:ext cx="474600" cy="4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4</a:t>
            </a:r>
            <a:endParaRPr sz="2000">
              <a:latin typeface="Times"/>
              <a:ea typeface="Times"/>
              <a:cs typeface="Times"/>
              <a:sym typeface="Times"/>
            </a:endParaRPr>
          </a:p>
        </p:txBody>
      </p:sp>
      <p:sp>
        <p:nvSpPr>
          <p:cNvPr id="1154" name="Google Shape;1154;p78"/>
          <p:cNvSpPr txBox="1"/>
          <p:nvPr/>
        </p:nvSpPr>
        <p:spPr>
          <a:xfrm>
            <a:off x="4170290" y="2600223"/>
            <a:ext cx="474600" cy="4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5</a:t>
            </a:r>
            <a:endParaRPr sz="2000">
              <a:latin typeface="Times"/>
              <a:ea typeface="Times"/>
              <a:cs typeface="Times"/>
              <a:sym typeface="Times"/>
            </a:endParaRPr>
          </a:p>
        </p:txBody>
      </p:sp>
      <p:sp>
        <p:nvSpPr>
          <p:cNvPr id="1155" name="Google Shape;1155;p78"/>
          <p:cNvSpPr txBox="1"/>
          <p:nvPr/>
        </p:nvSpPr>
        <p:spPr>
          <a:xfrm>
            <a:off x="903150" y="2479698"/>
            <a:ext cx="474600" cy="4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4</a:t>
            </a:r>
            <a:endParaRPr sz="2000">
              <a:latin typeface="Times"/>
              <a:ea typeface="Times"/>
              <a:cs typeface="Times"/>
              <a:sym typeface="Times"/>
            </a:endParaRPr>
          </a:p>
        </p:txBody>
      </p:sp>
      <p:sp>
        <p:nvSpPr>
          <p:cNvPr id="1156" name="Google Shape;1156;p78"/>
          <p:cNvSpPr txBox="1"/>
          <p:nvPr/>
        </p:nvSpPr>
        <p:spPr>
          <a:xfrm>
            <a:off x="5339775" y="1676424"/>
            <a:ext cx="3521100" cy="204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900"/>
              </a:spcBef>
              <a:spcAft>
                <a:spcPts val="0"/>
              </a:spcAft>
              <a:buNone/>
            </a:pPr>
            <a:r>
              <a:rPr lang="en-GB" sz="1800">
                <a:latin typeface="Times"/>
                <a:ea typeface="Times"/>
                <a:cs typeface="Times"/>
                <a:sym typeface="Times"/>
              </a:rPr>
              <a:t>RELAX(u, v, w)</a:t>
            </a:r>
            <a:endParaRPr sz="1800">
              <a:latin typeface="Times"/>
              <a:ea typeface="Times"/>
              <a:cs typeface="Times"/>
              <a:sym typeface="Times"/>
            </a:endParaRPr>
          </a:p>
          <a:p>
            <a:pPr indent="0" lvl="0" marL="457200" rtl="0" algn="l">
              <a:lnSpc>
                <a:spcPct val="100000"/>
              </a:lnSpc>
              <a:spcBef>
                <a:spcPts val="900"/>
              </a:spcBef>
              <a:spcAft>
                <a:spcPts val="0"/>
              </a:spcAft>
              <a:buNone/>
            </a:pPr>
            <a:r>
              <a:rPr lang="en-GB" sz="1800">
                <a:latin typeface="Times"/>
                <a:ea typeface="Times"/>
                <a:cs typeface="Times"/>
                <a:sym typeface="Times"/>
              </a:rPr>
              <a:t>if d[v] &gt; d[u] + w(u, v)</a:t>
            </a:r>
            <a:endParaRPr sz="1800">
              <a:latin typeface="Times"/>
              <a:ea typeface="Times"/>
              <a:cs typeface="Times"/>
              <a:sym typeface="Times"/>
            </a:endParaRPr>
          </a:p>
          <a:p>
            <a:pPr indent="0" lvl="0" marL="914400" rtl="0" algn="l">
              <a:lnSpc>
                <a:spcPct val="100000"/>
              </a:lnSpc>
              <a:spcBef>
                <a:spcPts val="900"/>
              </a:spcBef>
              <a:spcAft>
                <a:spcPts val="900"/>
              </a:spcAft>
              <a:buNone/>
            </a:pPr>
            <a:r>
              <a:rPr lang="en-GB" sz="1800">
                <a:latin typeface="Times"/>
                <a:ea typeface="Times"/>
                <a:cs typeface="Times"/>
                <a:sym typeface="Times"/>
              </a:rPr>
              <a:t>then d[v] = d[u] + w(u, v)</a:t>
            </a:r>
            <a:endParaRPr sz="1800">
              <a:solidFill>
                <a:schemeClr val="accent1"/>
              </a:solidFill>
              <a:latin typeface="Times"/>
              <a:ea typeface="Times"/>
              <a:cs typeface="Times"/>
              <a:sym typeface="Times"/>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1160" name="Shape 1160"/>
        <p:cNvGrpSpPr/>
        <p:nvPr/>
      </p:nvGrpSpPr>
      <p:grpSpPr>
        <a:xfrm>
          <a:off x="0" y="0"/>
          <a:ext cx="0" cy="0"/>
          <a:chOff x="0" y="0"/>
          <a:chExt cx="0" cy="0"/>
        </a:xfrm>
      </p:grpSpPr>
      <p:sp>
        <p:nvSpPr>
          <p:cNvPr id="1161" name="Google Shape;1161;p79"/>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162" name="Google Shape;1162;p79"/>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163" name="Google Shape;1163;p79"/>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164" name="Google Shape;1164;p79"/>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4000">
                <a:solidFill>
                  <a:srgbClr val="2B2C30"/>
                </a:solidFill>
              </a:rPr>
              <a:t>Dijkstra’s Algorithm</a:t>
            </a:r>
            <a:endParaRPr sz="4800"/>
          </a:p>
        </p:txBody>
      </p:sp>
      <p:cxnSp>
        <p:nvCxnSpPr>
          <p:cNvPr id="1165" name="Google Shape;1165;p79"/>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1166" name="Google Shape;1166;p79"/>
          <p:cNvSpPr txBox="1"/>
          <p:nvPr/>
        </p:nvSpPr>
        <p:spPr>
          <a:xfrm>
            <a:off x="548400" y="844175"/>
            <a:ext cx="46977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Times"/>
                <a:ea typeface="Times"/>
                <a:cs typeface="Times"/>
                <a:sym typeface="Times"/>
              </a:rPr>
              <a:t>Starting Vertex is A, d[A] = 0</a:t>
            </a:r>
            <a:endParaRPr sz="1800">
              <a:latin typeface="Times"/>
              <a:ea typeface="Times"/>
              <a:cs typeface="Times"/>
              <a:sym typeface="Times"/>
            </a:endParaRPr>
          </a:p>
        </p:txBody>
      </p:sp>
      <p:graphicFrame>
        <p:nvGraphicFramePr>
          <p:cNvPr id="1167" name="Google Shape;1167;p79"/>
          <p:cNvGraphicFramePr/>
          <p:nvPr/>
        </p:nvGraphicFramePr>
        <p:xfrm>
          <a:off x="548700" y="1210800"/>
          <a:ext cx="3000000" cy="3000000"/>
        </p:xfrm>
        <a:graphic>
          <a:graphicData uri="http://schemas.openxmlformats.org/drawingml/2006/table">
            <a:tbl>
              <a:tblPr>
                <a:noFill/>
                <a:tableStyleId>{B6BE1013-BC80-4FEF-9545-A56E02D788A3}</a:tableStyleId>
              </a:tblPr>
              <a:tblGrid>
                <a:gridCol w="1885150"/>
                <a:gridCol w="2274550"/>
                <a:gridCol w="2013025"/>
                <a:gridCol w="2029000"/>
              </a:tblGrid>
              <a:tr h="501875">
                <a:tc>
                  <a:txBody>
                    <a:bodyPr/>
                    <a:lstStyle/>
                    <a:p>
                      <a:pPr indent="0" lvl="0" marL="0" rtl="0" algn="ctr">
                        <a:spcBef>
                          <a:spcPts val="0"/>
                        </a:spcBef>
                        <a:spcAft>
                          <a:spcPts val="0"/>
                        </a:spcAft>
                        <a:buNone/>
                      </a:pPr>
                      <a:r>
                        <a:rPr b="1" lang="en-GB" sz="1800">
                          <a:latin typeface="Times"/>
                          <a:ea typeface="Times"/>
                          <a:cs typeface="Times"/>
                          <a:sym typeface="Times"/>
                        </a:rPr>
                        <a:t>Selected Vertices </a:t>
                      </a:r>
                      <a:endParaRPr b="1"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800">
                          <a:latin typeface="Times"/>
                          <a:ea typeface="Times"/>
                          <a:cs typeface="Times"/>
                          <a:sym typeface="Times"/>
                        </a:rPr>
                        <a:t>B</a:t>
                      </a:r>
                      <a:endParaRPr b="1"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800">
                          <a:latin typeface="Times"/>
                          <a:ea typeface="Times"/>
                          <a:cs typeface="Times"/>
                          <a:sym typeface="Times"/>
                        </a:rPr>
                        <a:t>C</a:t>
                      </a:r>
                      <a:endParaRPr b="1"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800">
                          <a:latin typeface="Times"/>
                          <a:ea typeface="Times"/>
                          <a:cs typeface="Times"/>
                          <a:sym typeface="Times"/>
                        </a:rPr>
                        <a:t>D</a:t>
                      </a:r>
                      <a:endParaRPr b="1" sz="1800">
                        <a:latin typeface="Times"/>
                        <a:ea typeface="Times"/>
                        <a:cs typeface="Times"/>
                        <a:sym typeface="Times"/>
                      </a:endParaRPr>
                    </a:p>
                  </a:txBody>
                  <a:tcPr marT="91425" marB="91425" marR="91425" marL="91425" anchor="ctr"/>
                </a:tc>
              </a:tr>
              <a:tr h="501875">
                <a:tc>
                  <a:txBody>
                    <a:bodyPr/>
                    <a:lstStyle/>
                    <a:p>
                      <a:pPr indent="0" lvl="0" marL="0" rtl="0" algn="l">
                        <a:spcBef>
                          <a:spcPts val="0"/>
                        </a:spcBef>
                        <a:spcAft>
                          <a:spcPts val="0"/>
                        </a:spcAft>
                        <a:buNone/>
                      </a:pPr>
                      <a:r>
                        <a:t/>
                      </a:r>
                      <a:endParaRPr sz="1800">
                        <a:latin typeface="Times"/>
                        <a:ea typeface="Times"/>
                        <a:cs typeface="Times"/>
                        <a:sym typeface="Times"/>
                      </a:endParaRPr>
                    </a:p>
                  </a:txBody>
                  <a:tcPr marT="91425" marB="91425" marR="91425" marL="91425"/>
                </a:tc>
                <a:tc>
                  <a:txBody>
                    <a:bodyPr/>
                    <a:lstStyle/>
                    <a:p>
                      <a:pPr indent="0" lvl="0" marL="0" rtl="0" algn="l">
                        <a:lnSpc>
                          <a:spcPct val="115000"/>
                        </a:lnSpc>
                        <a:spcBef>
                          <a:spcPts val="900"/>
                        </a:spcBef>
                        <a:spcAft>
                          <a:spcPts val="900"/>
                        </a:spcAft>
                        <a:buNone/>
                      </a:pPr>
                      <a:r>
                        <a:rPr lang="en-GB" sz="1800">
                          <a:latin typeface="Times"/>
                          <a:ea typeface="Times"/>
                          <a:cs typeface="Times"/>
                          <a:sym typeface="Times"/>
                        </a:rPr>
                        <a:t>d[B]=∞</a:t>
                      </a:r>
                      <a:endParaRPr sz="1800">
                        <a:latin typeface="Times"/>
                        <a:ea typeface="Times"/>
                        <a:cs typeface="Times"/>
                        <a:sym typeface="Times"/>
                      </a:endParaRPr>
                    </a:p>
                  </a:txBody>
                  <a:tcPr marT="91425" marB="91425" marR="91425" marL="91425"/>
                </a:tc>
                <a:tc>
                  <a:txBody>
                    <a:bodyPr/>
                    <a:lstStyle/>
                    <a:p>
                      <a:pPr indent="0" lvl="0" marL="0" rtl="0" algn="l">
                        <a:lnSpc>
                          <a:spcPct val="115000"/>
                        </a:lnSpc>
                        <a:spcBef>
                          <a:spcPts val="900"/>
                        </a:spcBef>
                        <a:spcAft>
                          <a:spcPts val="900"/>
                        </a:spcAft>
                        <a:buNone/>
                      </a:pPr>
                      <a:r>
                        <a:rPr lang="en-GB" sz="1800">
                          <a:latin typeface="Times"/>
                          <a:ea typeface="Times"/>
                          <a:cs typeface="Times"/>
                          <a:sym typeface="Times"/>
                        </a:rPr>
                        <a:t>d[C]=∞</a:t>
                      </a:r>
                      <a:endParaRPr sz="1800">
                        <a:latin typeface="Times"/>
                        <a:ea typeface="Times"/>
                        <a:cs typeface="Times"/>
                        <a:sym typeface="Times"/>
                      </a:endParaRPr>
                    </a:p>
                  </a:txBody>
                  <a:tcPr marT="91425" marB="91425" marR="91425" marL="91425"/>
                </a:tc>
                <a:tc>
                  <a:txBody>
                    <a:bodyPr/>
                    <a:lstStyle/>
                    <a:p>
                      <a:pPr indent="0" lvl="0" marL="0" rtl="0" algn="l">
                        <a:lnSpc>
                          <a:spcPct val="115000"/>
                        </a:lnSpc>
                        <a:spcBef>
                          <a:spcPts val="900"/>
                        </a:spcBef>
                        <a:spcAft>
                          <a:spcPts val="900"/>
                        </a:spcAft>
                        <a:buNone/>
                      </a:pPr>
                      <a:r>
                        <a:rPr lang="en-GB" sz="1800">
                          <a:latin typeface="Times"/>
                          <a:ea typeface="Times"/>
                          <a:cs typeface="Times"/>
                          <a:sym typeface="Times"/>
                        </a:rPr>
                        <a:t>d[D]=∞</a:t>
                      </a:r>
                      <a:endParaRPr sz="1800">
                        <a:latin typeface="Times"/>
                        <a:ea typeface="Times"/>
                        <a:cs typeface="Times"/>
                        <a:sym typeface="Times"/>
                      </a:endParaRPr>
                    </a:p>
                  </a:txBody>
                  <a:tcPr marT="91425" marB="91425" marR="91425" marL="91425"/>
                </a:tc>
              </a:tr>
              <a:tr h="886925">
                <a:tc>
                  <a:txBody>
                    <a:bodyPr/>
                    <a:lstStyle/>
                    <a:p>
                      <a:pPr indent="0" lvl="0" marL="0" rtl="0" algn="l">
                        <a:spcBef>
                          <a:spcPts val="0"/>
                        </a:spcBef>
                        <a:spcAft>
                          <a:spcPts val="0"/>
                        </a:spcAft>
                        <a:buNone/>
                      </a:pPr>
                      <a:r>
                        <a:rPr lang="en-GB" sz="1800">
                          <a:latin typeface="Times"/>
                          <a:ea typeface="Times"/>
                          <a:cs typeface="Times"/>
                          <a:sym typeface="Times"/>
                        </a:rPr>
                        <a:t>C</a:t>
                      </a:r>
                      <a:endParaRPr sz="1800">
                        <a:latin typeface="Times"/>
                        <a:ea typeface="Times"/>
                        <a:cs typeface="Times"/>
                        <a:sym typeface="Times"/>
                      </a:endParaRPr>
                    </a:p>
                  </a:txBody>
                  <a:tcPr marT="91425" marB="91425" marR="91425" marL="91425"/>
                </a:tc>
                <a:tc>
                  <a:txBody>
                    <a:bodyPr/>
                    <a:lstStyle/>
                    <a:p>
                      <a:pPr indent="0" lvl="0" marL="0" rtl="0" algn="l">
                        <a:lnSpc>
                          <a:spcPct val="115000"/>
                        </a:lnSpc>
                        <a:spcBef>
                          <a:spcPts val="900"/>
                        </a:spcBef>
                        <a:spcAft>
                          <a:spcPts val="0"/>
                        </a:spcAft>
                        <a:buNone/>
                      </a:pPr>
                      <a:r>
                        <a:rPr lang="en-GB" sz="1800">
                          <a:latin typeface="Times"/>
                          <a:ea typeface="Times"/>
                          <a:cs typeface="Times"/>
                          <a:sym typeface="Times"/>
                        </a:rPr>
                        <a:t>d[A]+w(A,B)</a:t>
                      </a:r>
                      <a:endParaRPr sz="1800">
                        <a:latin typeface="Times"/>
                        <a:ea typeface="Times"/>
                        <a:cs typeface="Times"/>
                        <a:sym typeface="Times"/>
                      </a:endParaRPr>
                    </a:p>
                    <a:p>
                      <a:pPr indent="0" lvl="0" marL="0" rtl="0" algn="l">
                        <a:lnSpc>
                          <a:spcPct val="115000"/>
                        </a:lnSpc>
                        <a:spcBef>
                          <a:spcPts val="900"/>
                        </a:spcBef>
                        <a:spcAft>
                          <a:spcPts val="900"/>
                        </a:spcAft>
                        <a:buNone/>
                      </a:pPr>
                      <a:r>
                        <a:rPr lang="en-GB" sz="1800">
                          <a:latin typeface="Times"/>
                          <a:ea typeface="Times"/>
                          <a:cs typeface="Times"/>
                          <a:sym typeface="Times"/>
                        </a:rPr>
                        <a:t>=0+6=6 &lt; ∞, 6</a:t>
                      </a:r>
                      <a:endParaRPr sz="1800">
                        <a:latin typeface="Times"/>
                        <a:ea typeface="Times"/>
                        <a:cs typeface="Times"/>
                        <a:sym typeface="Times"/>
                      </a:endParaRPr>
                    </a:p>
                  </a:txBody>
                  <a:tcPr marT="91425" marB="91425" marR="91425" marL="91425"/>
                </a:tc>
                <a:tc>
                  <a:txBody>
                    <a:bodyPr/>
                    <a:lstStyle/>
                    <a:p>
                      <a:pPr indent="0" lvl="0" marL="0" rtl="0" algn="l">
                        <a:lnSpc>
                          <a:spcPct val="115000"/>
                        </a:lnSpc>
                        <a:spcBef>
                          <a:spcPts val="900"/>
                        </a:spcBef>
                        <a:spcAft>
                          <a:spcPts val="0"/>
                        </a:spcAft>
                        <a:buNone/>
                      </a:pPr>
                      <a:r>
                        <a:rPr lang="en-GB" sz="1800">
                          <a:latin typeface="Times"/>
                          <a:ea typeface="Times"/>
                          <a:cs typeface="Times"/>
                          <a:sym typeface="Times"/>
                        </a:rPr>
                        <a:t>d[A]+w(A,C)</a:t>
                      </a:r>
                      <a:endParaRPr sz="1800">
                        <a:latin typeface="Times"/>
                        <a:ea typeface="Times"/>
                        <a:cs typeface="Times"/>
                        <a:sym typeface="Times"/>
                      </a:endParaRPr>
                    </a:p>
                    <a:p>
                      <a:pPr indent="0" lvl="0" marL="0" rtl="0" algn="l">
                        <a:lnSpc>
                          <a:spcPct val="115000"/>
                        </a:lnSpc>
                        <a:spcBef>
                          <a:spcPts val="900"/>
                        </a:spcBef>
                        <a:spcAft>
                          <a:spcPts val="900"/>
                        </a:spcAft>
                        <a:buNone/>
                      </a:pPr>
                      <a:r>
                        <a:rPr lang="en-GB" sz="1800">
                          <a:latin typeface="Times"/>
                          <a:ea typeface="Times"/>
                          <a:cs typeface="Times"/>
                          <a:sym typeface="Times"/>
                        </a:rPr>
                        <a:t>=0+4=4 &lt; ∞, </a:t>
                      </a:r>
                      <a:r>
                        <a:rPr b="1" lang="en-GB" sz="1800">
                          <a:latin typeface="Times"/>
                          <a:ea typeface="Times"/>
                          <a:cs typeface="Times"/>
                          <a:sym typeface="Times"/>
                        </a:rPr>
                        <a:t>4</a:t>
                      </a:r>
                      <a:endParaRPr b="1" sz="1800">
                        <a:latin typeface="Times"/>
                        <a:ea typeface="Times"/>
                        <a:cs typeface="Times"/>
                        <a:sym typeface="Times"/>
                      </a:endParaRPr>
                    </a:p>
                  </a:txBody>
                  <a:tcPr marT="91425" marB="91425" marR="91425" marL="91425"/>
                </a:tc>
                <a:tc>
                  <a:txBody>
                    <a:bodyPr/>
                    <a:lstStyle/>
                    <a:p>
                      <a:pPr indent="0" lvl="0" marL="0" rtl="0" algn="l">
                        <a:lnSpc>
                          <a:spcPct val="115000"/>
                        </a:lnSpc>
                        <a:spcBef>
                          <a:spcPts val="900"/>
                        </a:spcBef>
                        <a:spcAft>
                          <a:spcPts val="900"/>
                        </a:spcAft>
                        <a:buNone/>
                      </a:pPr>
                      <a:r>
                        <a:rPr lang="en-GB" sz="1800">
                          <a:latin typeface="Times"/>
                          <a:ea typeface="Times"/>
                          <a:cs typeface="Times"/>
                          <a:sym typeface="Times"/>
                        </a:rPr>
                        <a:t>d[D]=∞</a:t>
                      </a:r>
                      <a:endParaRPr sz="1800">
                        <a:latin typeface="Times"/>
                        <a:ea typeface="Times"/>
                        <a:cs typeface="Times"/>
                        <a:sym typeface="Times"/>
                      </a:endParaRPr>
                    </a:p>
                  </a:txBody>
                  <a:tcPr marT="91425" marB="91425" marR="91425" marL="91425"/>
                </a:tc>
              </a:tr>
              <a:tr h="886925">
                <a:tc>
                  <a:txBody>
                    <a:bodyPr/>
                    <a:lstStyle/>
                    <a:p>
                      <a:pPr indent="0" lvl="0" marL="0" rtl="0" algn="l">
                        <a:spcBef>
                          <a:spcPts val="0"/>
                        </a:spcBef>
                        <a:spcAft>
                          <a:spcPts val="0"/>
                        </a:spcAft>
                        <a:buNone/>
                      </a:pPr>
                      <a:r>
                        <a:rPr lang="en-GB" sz="1800">
                          <a:latin typeface="Times"/>
                          <a:ea typeface="Times"/>
                          <a:cs typeface="Times"/>
                          <a:sym typeface="Times"/>
                        </a:rPr>
                        <a:t>D</a:t>
                      </a:r>
                      <a:endParaRPr sz="1800">
                        <a:latin typeface="Times"/>
                        <a:ea typeface="Times"/>
                        <a:cs typeface="Times"/>
                        <a:sym typeface="Times"/>
                      </a:endParaRPr>
                    </a:p>
                  </a:txBody>
                  <a:tcPr marT="91425" marB="91425" marR="91425" marL="91425"/>
                </a:tc>
                <a:tc>
                  <a:txBody>
                    <a:bodyPr/>
                    <a:lstStyle/>
                    <a:p>
                      <a:pPr indent="0" lvl="0" marL="0" rtl="0" algn="l">
                        <a:lnSpc>
                          <a:spcPct val="115000"/>
                        </a:lnSpc>
                        <a:spcBef>
                          <a:spcPts val="900"/>
                        </a:spcBef>
                        <a:spcAft>
                          <a:spcPts val="0"/>
                        </a:spcAft>
                        <a:buNone/>
                      </a:pPr>
                      <a:r>
                        <a:rPr lang="en-GB" sz="1800">
                          <a:latin typeface="Times"/>
                          <a:ea typeface="Times"/>
                          <a:cs typeface="Times"/>
                          <a:sym typeface="Times"/>
                        </a:rPr>
                        <a:t>d[A]+w(A,B)</a:t>
                      </a:r>
                      <a:endParaRPr sz="1800">
                        <a:latin typeface="Times"/>
                        <a:ea typeface="Times"/>
                        <a:cs typeface="Times"/>
                        <a:sym typeface="Times"/>
                      </a:endParaRPr>
                    </a:p>
                    <a:p>
                      <a:pPr indent="0" lvl="0" marL="0" rtl="0" algn="l">
                        <a:lnSpc>
                          <a:spcPct val="115000"/>
                        </a:lnSpc>
                        <a:spcBef>
                          <a:spcPts val="900"/>
                        </a:spcBef>
                        <a:spcAft>
                          <a:spcPts val="900"/>
                        </a:spcAft>
                        <a:buNone/>
                      </a:pPr>
                      <a:r>
                        <a:rPr lang="en-GB" sz="1800">
                          <a:latin typeface="Times"/>
                          <a:ea typeface="Times"/>
                          <a:cs typeface="Times"/>
                          <a:sym typeface="Times"/>
                        </a:rPr>
                        <a:t>=0+6=6 &lt; ∞, 6</a:t>
                      </a:r>
                      <a:endParaRPr sz="1800">
                        <a:latin typeface="Times"/>
                        <a:ea typeface="Times"/>
                        <a:cs typeface="Times"/>
                        <a:sym typeface="Times"/>
                      </a:endParaRPr>
                    </a:p>
                  </a:txBody>
                  <a:tcPr marT="91425" marB="91425" marR="91425" marL="91425"/>
                </a:tc>
                <a:tc>
                  <a:txBody>
                    <a:bodyPr/>
                    <a:lstStyle/>
                    <a:p>
                      <a:pPr indent="0" lvl="0" marL="0" rtl="0" algn="l">
                        <a:lnSpc>
                          <a:spcPct val="115000"/>
                        </a:lnSpc>
                        <a:spcBef>
                          <a:spcPts val="900"/>
                        </a:spcBef>
                        <a:spcAft>
                          <a:spcPts val="900"/>
                        </a:spcAft>
                        <a:buNone/>
                      </a:pPr>
                      <a:r>
                        <a:rPr b="1" lang="en-GB" sz="1800">
                          <a:latin typeface="Times"/>
                          <a:ea typeface="Times"/>
                          <a:cs typeface="Times"/>
                          <a:sym typeface="Times"/>
                        </a:rPr>
                        <a:t>4</a:t>
                      </a:r>
                      <a:endParaRPr sz="1800">
                        <a:latin typeface="Times"/>
                        <a:ea typeface="Times"/>
                        <a:cs typeface="Times"/>
                        <a:sym typeface="Times"/>
                      </a:endParaRPr>
                    </a:p>
                  </a:txBody>
                  <a:tcPr marT="91425" marB="91425" marR="91425" marL="91425"/>
                </a:tc>
                <a:tc>
                  <a:txBody>
                    <a:bodyPr/>
                    <a:lstStyle/>
                    <a:p>
                      <a:pPr indent="0" lvl="0" marL="0" rtl="0" algn="l">
                        <a:lnSpc>
                          <a:spcPct val="115000"/>
                        </a:lnSpc>
                        <a:spcBef>
                          <a:spcPts val="900"/>
                        </a:spcBef>
                        <a:spcAft>
                          <a:spcPts val="0"/>
                        </a:spcAft>
                        <a:buNone/>
                      </a:pPr>
                      <a:r>
                        <a:rPr lang="en-GB" sz="1800">
                          <a:latin typeface="Times"/>
                          <a:ea typeface="Times"/>
                          <a:cs typeface="Times"/>
                          <a:sym typeface="Times"/>
                        </a:rPr>
                        <a:t>d[C]+w(C,D)</a:t>
                      </a:r>
                      <a:endParaRPr sz="1800">
                        <a:latin typeface="Times"/>
                        <a:ea typeface="Times"/>
                        <a:cs typeface="Times"/>
                        <a:sym typeface="Times"/>
                      </a:endParaRPr>
                    </a:p>
                    <a:p>
                      <a:pPr indent="0" lvl="0" marL="0" rtl="0" algn="l">
                        <a:lnSpc>
                          <a:spcPct val="115000"/>
                        </a:lnSpc>
                        <a:spcBef>
                          <a:spcPts val="900"/>
                        </a:spcBef>
                        <a:spcAft>
                          <a:spcPts val="900"/>
                        </a:spcAft>
                        <a:buNone/>
                      </a:pPr>
                      <a:r>
                        <a:rPr lang="en-GB" sz="1800">
                          <a:latin typeface="Times"/>
                          <a:ea typeface="Times"/>
                          <a:cs typeface="Times"/>
                          <a:sym typeface="Times"/>
                        </a:rPr>
                        <a:t>=4+4=8 &lt; ∞, </a:t>
                      </a:r>
                      <a:r>
                        <a:rPr b="1" lang="en-GB" sz="1800">
                          <a:latin typeface="Times"/>
                          <a:ea typeface="Times"/>
                          <a:cs typeface="Times"/>
                          <a:sym typeface="Times"/>
                        </a:rPr>
                        <a:t>8</a:t>
                      </a:r>
                      <a:endParaRPr b="1" sz="1800">
                        <a:latin typeface="Times"/>
                        <a:ea typeface="Times"/>
                        <a:cs typeface="Times"/>
                        <a:sym typeface="Times"/>
                      </a:endParaRPr>
                    </a:p>
                  </a:txBody>
                  <a:tcPr marT="91425" marB="91425" marR="91425" marL="91425"/>
                </a:tc>
              </a:tr>
              <a:tr h="886925">
                <a:tc>
                  <a:txBody>
                    <a:bodyPr/>
                    <a:lstStyle/>
                    <a:p>
                      <a:pPr indent="0" lvl="0" marL="0" rtl="0" algn="l">
                        <a:spcBef>
                          <a:spcPts val="0"/>
                        </a:spcBef>
                        <a:spcAft>
                          <a:spcPts val="0"/>
                        </a:spcAft>
                        <a:buNone/>
                      </a:pPr>
                      <a:r>
                        <a:rPr lang="en-GB" sz="1800">
                          <a:latin typeface="Times"/>
                          <a:ea typeface="Times"/>
                          <a:cs typeface="Times"/>
                          <a:sym typeface="Times"/>
                        </a:rPr>
                        <a:t>B</a:t>
                      </a:r>
                      <a:endParaRPr sz="1800">
                        <a:latin typeface="Times"/>
                        <a:ea typeface="Times"/>
                        <a:cs typeface="Times"/>
                        <a:sym typeface="Times"/>
                      </a:endParaRPr>
                    </a:p>
                  </a:txBody>
                  <a:tcPr marT="91425" marB="91425" marR="91425" marL="91425"/>
                </a:tc>
                <a:tc>
                  <a:txBody>
                    <a:bodyPr/>
                    <a:lstStyle/>
                    <a:p>
                      <a:pPr indent="0" lvl="0" marL="0" rtl="0" algn="l">
                        <a:lnSpc>
                          <a:spcPct val="115000"/>
                        </a:lnSpc>
                        <a:spcBef>
                          <a:spcPts val="900"/>
                        </a:spcBef>
                        <a:spcAft>
                          <a:spcPts val="0"/>
                        </a:spcAft>
                        <a:buNone/>
                      </a:pPr>
                      <a:r>
                        <a:rPr lang="en-GB" sz="1800">
                          <a:latin typeface="Times"/>
                          <a:ea typeface="Times"/>
                          <a:cs typeface="Times"/>
                          <a:sym typeface="Times"/>
                        </a:rPr>
                        <a:t>d[A]+w(A,B)</a:t>
                      </a:r>
                      <a:endParaRPr sz="1800">
                        <a:latin typeface="Times"/>
                        <a:ea typeface="Times"/>
                        <a:cs typeface="Times"/>
                        <a:sym typeface="Times"/>
                      </a:endParaRPr>
                    </a:p>
                    <a:p>
                      <a:pPr indent="0" lvl="0" marL="0" rtl="0" algn="l">
                        <a:lnSpc>
                          <a:spcPct val="115000"/>
                        </a:lnSpc>
                        <a:spcBef>
                          <a:spcPts val="900"/>
                        </a:spcBef>
                        <a:spcAft>
                          <a:spcPts val="900"/>
                        </a:spcAft>
                        <a:buNone/>
                      </a:pPr>
                      <a:r>
                        <a:rPr lang="en-GB" sz="1800">
                          <a:latin typeface="Times"/>
                          <a:ea typeface="Times"/>
                          <a:cs typeface="Times"/>
                          <a:sym typeface="Times"/>
                        </a:rPr>
                        <a:t>=0+6=6 &lt; ∞, </a:t>
                      </a:r>
                      <a:r>
                        <a:rPr b="1" lang="en-GB" sz="1800">
                          <a:latin typeface="Times"/>
                          <a:ea typeface="Times"/>
                          <a:cs typeface="Times"/>
                          <a:sym typeface="Times"/>
                        </a:rPr>
                        <a:t>6</a:t>
                      </a:r>
                      <a:endParaRPr b="1" sz="1800">
                        <a:latin typeface="Times"/>
                        <a:ea typeface="Times"/>
                        <a:cs typeface="Times"/>
                        <a:sym typeface="Times"/>
                      </a:endParaRPr>
                    </a:p>
                  </a:txBody>
                  <a:tcPr marT="91425" marB="91425" marR="91425" marL="91425"/>
                </a:tc>
                <a:tc>
                  <a:txBody>
                    <a:bodyPr/>
                    <a:lstStyle/>
                    <a:p>
                      <a:pPr indent="0" lvl="0" marL="0" rtl="0" algn="l">
                        <a:lnSpc>
                          <a:spcPct val="115000"/>
                        </a:lnSpc>
                        <a:spcBef>
                          <a:spcPts val="900"/>
                        </a:spcBef>
                        <a:spcAft>
                          <a:spcPts val="900"/>
                        </a:spcAft>
                        <a:buNone/>
                      </a:pPr>
                      <a:r>
                        <a:rPr b="1" lang="en-GB" sz="1800">
                          <a:latin typeface="Times"/>
                          <a:ea typeface="Times"/>
                          <a:cs typeface="Times"/>
                          <a:sym typeface="Times"/>
                        </a:rPr>
                        <a:t>4</a:t>
                      </a:r>
                      <a:endParaRPr b="1" sz="1800">
                        <a:latin typeface="Times"/>
                        <a:ea typeface="Times"/>
                        <a:cs typeface="Times"/>
                        <a:sym typeface="Times"/>
                      </a:endParaRPr>
                    </a:p>
                  </a:txBody>
                  <a:tcPr marT="91425" marB="91425" marR="91425" marL="91425"/>
                </a:tc>
                <a:tc>
                  <a:txBody>
                    <a:bodyPr/>
                    <a:lstStyle/>
                    <a:p>
                      <a:pPr indent="0" lvl="0" marL="0" rtl="0" algn="l">
                        <a:lnSpc>
                          <a:spcPct val="115000"/>
                        </a:lnSpc>
                        <a:spcBef>
                          <a:spcPts val="900"/>
                        </a:spcBef>
                        <a:spcAft>
                          <a:spcPts val="900"/>
                        </a:spcAft>
                        <a:buNone/>
                      </a:pPr>
                      <a:r>
                        <a:rPr b="1" lang="en-GB" sz="1800">
                          <a:latin typeface="Times"/>
                          <a:ea typeface="Times"/>
                          <a:cs typeface="Times"/>
                          <a:sym typeface="Times"/>
                        </a:rPr>
                        <a:t>8</a:t>
                      </a:r>
                      <a:endParaRPr b="1" sz="1800">
                        <a:latin typeface="Times"/>
                        <a:ea typeface="Times"/>
                        <a:cs typeface="Times"/>
                        <a:sym typeface="Times"/>
                      </a:endParaRPr>
                    </a:p>
                  </a:txBody>
                  <a:tcPr marT="91425" marB="91425" marR="91425" marL="91425"/>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1171" name="Shape 1171"/>
        <p:cNvGrpSpPr/>
        <p:nvPr/>
      </p:nvGrpSpPr>
      <p:grpSpPr>
        <a:xfrm>
          <a:off x="0" y="0"/>
          <a:ext cx="0" cy="0"/>
          <a:chOff x="0" y="0"/>
          <a:chExt cx="0" cy="0"/>
        </a:xfrm>
      </p:grpSpPr>
      <p:sp>
        <p:nvSpPr>
          <p:cNvPr id="1172" name="Google Shape;1172;p80"/>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173" name="Google Shape;1173;p80"/>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174" name="Google Shape;1174;p80"/>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175" name="Google Shape;1175;p80"/>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4000">
                <a:solidFill>
                  <a:srgbClr val="2B2C30"/>
                </a:solidFill>
              </a:rPr>
              <a:t>Dijkstra’s Algorithm</a:t>
            </a:r>
            <a:endParaRPr sz="4800"/>
          </a:p>
        </p:txBody>
      </p:sp>
      <p:cxnSp>
        <p:nvCxnSpPr>
          <p:cNvPr id="1176" name="Google Shape;1176;p80"/>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1177" name="Google Shape;1177;p80"/>
          <p:cNvSpPr/>
          <p:nvPr/>
        </p:nvSpPr>
        <p:spPr>
          <a:xfrm>
            <a:off x="3463896" y="3472101"/>
            <a:ext cx="805500" cy="7743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C</a:t>
            </a:r>
            <a:endParaRPr b="1" sz="2000">
              <a:latin typeface="Times"/>
              <a:ea typeface="Times"/>
              <a:cs typeface="Times"/>
              <a:sym typeface="Times"/>
            </a:endParaRPr>
          </a:p>
        </p:txBody>
      </p:sp>
      <p:sp>
        <p:nvSpPr>
          <p:cNvPr id="1178" name="Google Shape;1178;p80"/>
          <p:cNvSpPr/>
          <p:nvPr/>
        </p:nvSpPr>
        <p:spPr>
          <a:xfrm>
            <a:off x="5183267" y="3472101"/>
            <a:ext cx="805500" cy="7743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E</a:t>
            </a:r>
            <a:endParaRPr b="1" sz="2000">
              <a:latin typeface="Times"/>
              <a:ea typeface="Times"/>
              <a:cs typeface="Times"/>
              <a:sym typeface="Times"/>
            </a:endParaRPr>
          </a:p>
        </p:txBody>
      </p:sp>
      <p:sp>
        <p:nvSpPr>
          <p:cNvPr id="1179" name="Google Shape;1179;p80"/>
          <p:cNvSpPr/>
          <p:nvPr/>
        </p:nvSpPr>
        <p:spPr>
          <a:xfrm>
            <a:off x="3463896" y="1610025"/>
            <a:ext cx="805500" cy="7743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B</a:t>
            </a:r>
            <a:endParaRPr b="1" sz="2000">
              <a:latin typeface="Times"/>
              <a:ea typeface="Times"/>
              <a:cs typeface="Times"/>
              <a:sym typeface="Times"/>
            </a:endParaRPr>
          </a:p>
        </p:txBody>
      </p:sp>
      <p:sp>
        <p:nvSpPr>
          <p:cNvPr id="1180" name="Google Shape;1180;p80"/>
          <p:cNvSpPr/>
          <p:nvPr/>
        </p:nvSpPr>
        <p:spPr>
          <a:xfrm>
            <a:off x="5183267" y="1610025"/>
            <a:ext cx="805500" cy="7743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D</a:t>
            </a:r>
            <a:endParaRPr b="1" sz="2000">
              <a:latin typeface="Times"/>
              <a:ea typeface="Times"/>
              <a:cs typeface="Times"/>
              <a:sym typeface="Times"/>
            </a:endParaRPr>
          </a:p>
        </p:txBody>
      </p:sp>
      <p:sp>
        <p:nvSpPr>
          <p:cNvPr id="1181" name="Google Shape;1181;p80"/>
          <p:cNvSpPr/>
          <p:nvPr/>
        </p:nvSpPr>
        <p:spPr>
          <a:xfrm>
            <a:off x="6635665" y="2527918"/>
            <a:ext cx="805500" cy="7743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F</a:t>
            </a:r>
            <a:endParaRPr b="1" sz="2000">
              <a:latin typeface="Times"/>
              <a:ea typeface="Times"/>
              <a:cs typeface="Times"/>
              <a:sym typeface="Times"/>
            </a:endParaRPr>
          </a:p>
        </p:txBody>
      </p:sp>
      <p:sp>
        <p:nvSpPr>
          <p:cNvPr id="1182" name="Google Shape;1182;p80"/>
          <p:cNvSpPr/>
          <p:nvPr/>
        </p:nvSpPr>
        <p:spPr>
          <a:xfrm>
            <a:off x="2049325" y="2527918"/>
            <a:ext cx="805500" cy="7743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A</a:t>
            </a:r>
            <a:endParaRPr b="1" sz="2000">
              <a:latin typeface="Times"/>
              <a:ea typeface="Times"/>
              <a:cs typeface="Times"/>
              <a:sym typeface="Times"/>
            </a:endParaRPr>
          </a:p>
        </p:txBody>
      </p:sp>
      <p:cxnSp>
        <p:nvCxnSpPr>
          <p:cNvPr id="1183" name="Google Shape;1183;p80"/>
          <p:cNvCxnSpPr>
            <a:stCxn id="1182" idx="7"/>
            <a:endCxn id="1179" idx="2"/>
          </p:cNvCxnSpPr>
          <p:nvPr/>
        </p:nvCxnSpPr>
        <p:spPr>
          <a:xfrm flipH="1" rot="10800000">
            <a:off x="2736862" y="1997212"/>
            <a:ext cx="726900" cy="644100"/>
          </a:xfrm>
          <a:prstGeom prst="straightConnector1">
            <a:avLst/>
          </a:prstGeom>
          <a:noFill/>
          <a:ln cap="flat" cmpd="sng" w="19050">
            <a:solidFill>
              <a:srgbClr val="000000"/>
            </a:solidFill>
            <a:prstDash val="solid"/>
            <a:round/>
            <a:headEnd len="med" w="med" type="none"/>
            <a:tailEnd len="med" w="med" type="triangle"/>
          </a:ln>
        </p:spPr>
      </p:cxnSp>
      <p:cxnSp>
        <p:nvCxnSpPr>
          <p:cNvPr id="1184" name="Google Shape;1184;p80"/>
          <p:cNvCxnSpPr>
            <a:stCxn id="1182" idx="5"/>
            <a:endCxn id="1177" idx="2"/>
          </p:cNvCxnSpPr>
          <p:nvPr/>
        </p:nvCxnSpPr>
        <p:spPr>
          <a:xfrm>
            <a:off x="2736862" y="3188824"/>
            <a:ext cx="726900" cy="670500"/>
          </a:xfrm>
          <a:prstGeom prst="straightConnector1">
            <a:avLst/>
          </a:prstGeom>
          <a:noFill/>
          <a:ln cap="flat" cmpd="sng" w="19050">
            <a:solidFill>
              <a:srgbClr val="000000"/>
            </a:solidFill>
            <a:prstDash val="solid"/>
            <a:round/>
            <a:headEnd len="med" w="med" type="none"/>
            <a:tailEnd len="med" w="med" type="triangle"/>
          </a:ln>
        </p:spPr>
      </p:cxnSp>
      <p:cxnSp>
        <p:nvCxnSpPr>
          <p:cNvPr id="1185" name="Google Shape;1185;p80"/>
          <p:cNvCxnSpPr>
            <a:stCxn id="1179" idx="6"/>
            <a:endCxn id="1180" idx="2"/>
          </p:cNvCxnSpPr>
          <p:nvPr/>
        </p:nvCxnSpPr>
        <p:spPr>
          <a:xfrm>
            <a:off x="4269396" y="1997175"/>
            <a:ext cx="913800" cy="0"/>
          </a:xfrm>
          <a:prstGeom prst="straightConnector1">
            <a:avLst/>
          </a:prstGeom>
          <a:noFill/>
          <a:ln cap="flat" cmpd="sng" w="19050">
            <a:solidFill>
              <a:srgbClr val="000000"/>
            </a:solidFill>
            <a:prstDash val="solid"/>
            <a:round/>
            <a:headEnd len="med" w="med" type="none"/>
            <a:tailEnd len="med" w="med" type="triangle"/>
          </a:ln>
        </p:spPr>
      </p:cxnSp>
      <p:cxnSp>
        <p:nvCxnSpPr>
          <p:cNvPr id="1186" name="Google Shape;1186;p80"/>
          <p:cNvCxnSpPr>
            <a:stCxn id="1177" idx="6"/>
            <a:endCxn id="1178" idx="2"/>
          </p:cNvCxnSpPr>
          <p:nvPr/>
        </p:nvCxnSpPr>
        <p:spPr>
          <a:xfrm>
            <a:off x="4269396" y="3859251"/>
            <a:ext cx="913800" cy="0"/>
          </a:xfrm>
          <a:prstGeom prst="straightConnector1">
            <a:avLst/>
          </a:prstGeom>
          <a:noFill/>
          <a:ln cap="flat" cmpd="sng" w="19050">
            <a:solidFill>
              <a:srgbClr val="000000"/>
            </a:solidFill>
            <a:prstDash val="solid"/>
            <a:round/>
            <a:headEnd len="med" w="med" type="none"/>
            <a:tailEnd len="med" w="med" type="triangle"/>
          </a:ln>
        </p:spPr>
      </p:cxnSp>
      <p:cxnSp>
        <p:nvCxnSpPr>
          <p:cNvPr id="1187" name="Google Shape;1187;p80"/>
          <p:cNvCxnSpPr>
            <a:stCxn id="1180" idx="6"/>
            <a:endCxn id="1181" idx="1"/>
          </p:cNvCxnSpPr>
          <p:nvPr/>
        </p:nvCxnSpPr>
        <p:spPr>
          <a:xfrm>
            <a:off x="5988767" y="1997175"/>
            <a:ext cx="765000" cy="644100"/>
          </a:xfrm>
          <a:prstGeom prst="straightConnector1">
            <a:avLst/>
          </a:prstGeom>
          <a:noFill/>
          <a:ln cap="flat" cmpd="sng" w="19050">
            <a:solidFill>
              <a:srgbClr val="000000"/>
            </a:solidFill>
            <a:prstDash val="solid"/>
            <a:round/>
            <a:headEnd len="med" w="med" type="none"/>
            <a:tailEnd len="med" w="med" type="triangle"/>
          </a:ln>
        </p:spPr>
      </p:cxnSp>
      <p:cxnSp>
        <p:nvCxnSpPr>
          <p:cNvPr id="1188" name="Google Shape;1188;p80"/>
          <p:cNvCxnSpPr>
            <a:stCxn id="1178" idx="6"/>
            <a:endCxn id="1181" idx="3"/>
          </p:cNvCxnSpPr>
          <p:nvPr/>
        </p:nvCxnSpPr>
        <p:spPr>
          <a:xfrm flipH="1" rot="10800000">
            <a:off x="5988767" y="3188751"/>
            <a:ext cx="765000" cy="670500"/>
          </a:xfrm>
          <a:prstGeom prst="straightConnector1">
            <a:avLst/>
          </a:prstGeom>
          <a:noFill/>
          <a:ln cap="flat" cmpd="sng" w="19050">
            <a:solidFill>
              <a:srgbClr val="000000"/>
            </a:solidFill>
            <a:prstDash val="solid"/>
            <a:round/>
            <a:headEnd len="med" w="med" type="none"/>
            <a:tailEnd len="med" w="med" type="triangle"/>
          </a:ln>
        </p:spPr>
      </p:cxnSp>
      <p:cxnSp>
        <p:nvCxnSpPr>
          <p:cNvPr id="1189" name="Google Shape;1189;p80"/>
          <p:cNvCxnSpPr>
            <a:stCxn id="1179" idx="4"/>
            <a:endCxn id="1177" idx="0"/>
          </p:cNvCxnSpPr>
          <p:nvPr/>
        </p:nvCxnSpPr>
        <p:spPr>
          <a:xfrm>
            <a:off x="3866646" y="2384325"/>
            <a:ext cx="0" cy="1087800"/>
          </a:xfrm>
          <a:prstGeom prst="straightConnector1">
            <a:avLst/>
          </a:prstGeom>
          <a:noFill/>
          <a:ln cap="flat" cmpd="sng" w="19050">
            <a:solidFill>
              <a:srgbClr val="000000"/>
            </a:solidFill>
            <a:prstDash val="solid"/>
            <a:round/>
            <a:headEnd len="med" w="med" type="none"/>
            <a:tailEnd len="med" w="med" type="triangle"/>
          </a:ln>
        </p:spPr>
      </p:cxnSp>
      <p:cxnSp>
        <p:nvCxnSpPr>
          <p:cNvPr id="1190" name="Google Shape;1190;p80"/>
          <p:cNvCxnSpPr>
            <a:stCxn id="1178" idx="0"/>
            <a:endCxn id="1180" idx="4"/>
          </p:cNvCxnSpPr>
          <p:nvPr/>
        </p:nvCxnSpPr>
        <p:spPr>
          <a:xfrm rot="10800000">
            <a:off x="5586017" y="2384301"/>
            <a:ext cx="0" cy="1087800"/>
          </a:xfrm>
          <a:prstGeom prst="straightConnector1">
            <a:avLst/>
          </a:prstGeom>
          <a:noFill/>
          <a:ln cap="flat" cmpd="sng" w="19050">
            <a:solidFill>
              <a:srgbClr val="000000"/>
            </a:solidFill>
            <a:prstDash val="solid"/>
            <a:round/>
            <a:headEnd len="med" w="med" type="none"/>
            <a:tailEnd len="med" w="med" type="triangle"/>
          </a:ln>
        </p:spPr>
      </p:cxnSp>
      <p:sp>
        <p:nvSpPr>
          <p:cNvPr id="1191" name="Google Shape;1191;p80"/>
          <p:cNvSpPr txBox="1"/>
          <p:nvPr/>
        </p:nvSpPr>
        <p:spPr>
          <a:xfrm>
            <a:off x="4452400" y="1475563"/>
            <a:ext cx="474600" cy="3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7</a:t>
            </a:r>
            <a:endParaRPr sz="2000">
              <a:latin typeface="Times"/>
              <a:ea typeface="Times"/>
              <a:cs typeface="Times"/>
              <a:sym typeface="Times"/>
            </a:endParaRPr>
          </a:p>
        </p:txBody>
      </p:sp>
      <p:sp>
        <p:nvSpPr>
          <p:cNvPr id="1192" name="Google Shape;1192;p80"/>
          <p:cNvSpPr txBox="1"/>
          <p:nvPr/>
        </p:nvSpPr>
        <p:spPr>
          <a:xfrm>
            <a:off x="4489038" y="3472125"/>
            <a:ext cx="474600" cy="3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3</a:t>
            </a:r>
            <a:endParaRPr sz="2000">
              <a:latin typeface="Times"/>
              <a:ea typeface="Times"/>
              <a:cs typeface="Times"/>
              <a:sym typeface="Times"/>
            </a:endParaRPr>
          </a:p>
        </p:txBody>
      </p:sp>
      <p:sp>
        <p:nvSpPr>
          <p:cNvPr id="1193" name="Google Shape;1193;p80"/>
          <p:cNvSpPr txBox="1"/>
          <p:nvPr/>
        </p:nvSpPr>
        <p:spPr>
          <a:xfrm>
            <a:off x="5080738" y="2765913"/>
            <a:ext cx="474600" cy="3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2</a:t>
            </a:r>
            <a:endParaRPr sz="2000">
              <a:latin typeface="Times"/>
              <a:ea typeface="Times"/>
              <a:cs typeface="Times"/>
              <a:sym typeface="Times"/>
            </a:endParaRPr>
          </a:p>
        </p:txBody>
      </p:sp>
      <p:sp>
        <p:nvSpPr>
          <p:cNvPr id="1194" name="Google Shape;1194;p80"/>
          <p:cNvSpPr txBox="1"/>
          <p:nvPr/>
        </p:nvSpPr>
        <p:spPr>
          <a:xfrm>
            <a:off x="6329088" y="1952563"/>
            <a:ext cx="474600" cy="3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1</a:t>
            </a:r>
            <a:endParaRPr sz="2000">
              <a:latin typeface="Times"/>
              <a:ea typeface="Times"/>
              <a:cs typeface="Times"/>
              <a:sym typeface="Times"/>
            </a:endParaRPr>
          </a:p>
        </p:txBody>
      </p:sp>
      <p:sp>
        <p:nvSpPr>
          <p:cNvPr id="1195" name="Google Shape;1195;p80"/>
          <p:cNvSpPr txBox="1"/>
          <p:nvPr/>
        </p:nvSpPr>
        <p:spPr>
          <a:xfrm>
            <a:off x="6329088" y="3532250"/>
            <a:ext cx="474600" cy="3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5</a:t>
            </a:r>
            <a:endParaRPr sz="2000">
              <a:latin typeface="Times"/>
              <a:ea typeface="Times"/>
              <a:cs typeface="Times"/>
              <a:sym typeface="Times"/>
            </a:endParaRPr>
          </a:p>
        </p:txBody>
      </p:sp>
      <p:sp>
        <p:nvSpPr>
          <p:cNvPr id="1196" name="Google Shape;1196;p80"/>
          <p:cNvSpPr txBox="1"/>
          <p:nvPr/>
        </p:nvSpPr>
        <p:spPr>
          <a:xfrm>
            <a:off x="3896200" y="2724150"/>
            <a:ext cx="474600" cy="3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1</a:t>
            </a:r>
            <a:endParaRPr sz="2000">
              <a:latin typeface="Times"/>
              <a:ea typeface="Times"/>
              <a:cs typeface="Times"/>
              <a:sym typeface="Times"/>
            </a:endParaRPr>
          </a:p>
        </p:txBody>
      </p:sp>
      <p:sp>
        <p:nvSpPr>
          <p:cNvPr id="1197" name="Google Shape;1197;p80"/>
          <p:cNvSpPr txBox="1"/>
          <p:nvPr/>
        </p:nvSpPr>
        <p:spPr>
          <a:xfrm>
            <a:off x="2705575" y="1997200"/>
            <a:ext cx="474600" cy="3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2</a:t>
            </a:r>
            <a:endParaRPr sz="2000">
              <a:latin typeface="Times"/>
              <a:ea typeface="Times"/>
              <a:cs typeface="Times"/>
              <a:sym typeface="Times"/>
            </a:endParaRPr>
          </a:p>
        </p:txBody>
      </p:sp>
      <p:sp>
        <p:nvSpPr>
          <p:cNvPr id="1198" name="Google Shape;1198;p80"/>
          <p:cNvSpPr txBox="1"/>
          <p:nvPr/>
        </p:nvSpPr>
        <p:spPr>
          <a:xfrm>
            <a:off x="2705575" y="3379750"/>
            <a:ext cx="474600" cy="3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4</a:t>
            </a:r>
            <a:endParaRPr sz="2000">
              <a:latin typeface="Times"/>
              <a:ea typeface="Times"/>
              <a:cs typeface="Times"/>
              <a:sym typeface="Times"/>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1202" name="Shape 1202"/>
        <p:cNvGrpSpPr/>
        <p:nvPr/>
      </p:nvGrpSpPr>
      <p:grpSpPr>
        <a:xfrm>
          <a:off x="0" y="0"/>
          <a:ext cx="0" cy="0"/>
          <a:chOff x="0" y="0"/>
          <a:chExt cx="0" cy="0"/>
        </a:xfrm>
      </p:grpSpPr>
      <p:sp>
        <p:nvSpPr>
          <p:cNvPr id="1203" name="Google Shape;1203;p81"/>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204" name="Google Shape;1204;p81"/>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05" name="Google Shape;1205;p81"/>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206" name="Google Shape;1206;p81"/>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4000">
                <a:solidFill>
                  <a:srgbClr val="2B2C30"/>
                </a:solidFill>
              </a:rPr>
              <a:t>Dijkstra’s Algorithm</a:t>
            </a:r>
            <a:endParaRPr sz="4800"/>
          </a:p>
        </p:txBody>
      </p:sp>
      <p:cxnSp>
        <p:nvCxnSpPr>
          <p:cNvPr id="1207" name="Google Shape;1207;p81"/>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1208" name="Google Shape;1208;p81"/>
          <p:cNvSpPr txBox="1"/>
          <p:nvPr/>
        </p:nvSpPr>
        <p:spPr>
          <a:xfrm>
            <a:off x="548400" y="844175"/>
            <a:ext cx="46977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latin typeface="Times"/>
              <a:ea typeface="Times"/>
              <a:cs typeface="Times"/>
              <a:sym typeface="Times"/>
            </a:endParaRPr>
          </a:p>
        </p:txBody>
      </p:sp>
      <p:graphicFrame>
        <p:nvGraphicFramePr>
          <p:cNvPr id="1209" name="Google Shape;1209;p81"/>
          <p:cNvGraphicFramePr/>
          <p:nvPr/>
        </p:nvGraphicFramePr>
        <p:xfrm>
          <a:off x="548700" y="902850"/>
          <a:ext cx="3000000" cy="3000000"/>
        </p:xfrm>
        <a:graphic>
          <a:graphicData uri="http://schemas.openxmlformats.org/drawingml/2006/table">
            <a:tbl>
              <a:tblPr>
                <a:noFill/>
                <a:tableStyleId>{B6BE1013-BC80-4FEF-9545-A56E02D788A3}</a:tableStyleId>
              </a:tblPr>
              <a:tblGrid>
                <a:gridCol w="1879300"/>
                <a:gridCol w="1244250"/>
                <a:gridCol w="1265925"/>
                <a:gridCol w="1323650"/>
                <a:gridCol w="1258725"/>
                <a:gridCol w="1229850"/>
              </a:tblGrid>
              <a:tr h="693350">
                <a:tc>
                  <a:txBody>
                    <a:bodyPr/>
                    <a:lstStyle/>
                    <a:p>
                      <a:pPr indent="0" lvl="0" marL="0" rtl="0" algn="ctr">
                        <a:spcBef>
                          <a:spcPts val="0"/>
                        </a:spcBef>
                        <a:spcAft>
                          <a:spcPts val="0"/>
                        </a:spcAft>
                        <a:buNone/>
                      </a:pPr>
                      <a:r>
                        <a:rPr b="1" lang="en-GB" sz="1700">
                          <a:latin typeface="Times"/>
                          <a:ea typeface="Times"/>
                          <a:cs typeface="Times"/>
                          <a:sym typeface="Times"/>
                        </a:rPr>
                        <a:t>Selected Vertices </a:t>
                      </a:r>
                      <a:endParaRPr b="1" sz="1700">
                        <a:latin typeface="Times"/>
                        <a:ea typeface="Times"/>
                        <a:cs typeface="Times"/>
                        <a:sym typeface="Times"/>
                      </a:endParaRPr>
                    </a:p>
                    <a:p>
                      <a:pPr indent="0" lvl="0" marL="0" rtl="0" algn="ctr">
                        <a:spcBef>
                          <a:spcPts val="0"/>
                        </a:spcBef>
                        <a:spcAft>
                          <a:spcPts val="0"/>
                        </a:spcAft>
                        <a:buNone/>
                      </a:pPr>
                      <a:r>
                        <a:t/>
                      </a:r>
                      <a:endParaRPr b="1"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700">
                          <a:latin typeface="Times"/>
                          <a:ea typeface="Times"/>
                          <a:cs typeface="Times"/>
                          <a:sym typeface="Times"/>
                        </a:rPr>
                        <a:t>B</a:t>
                      </a:r>
                      <a:endParaRPr b="1"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700">
                          <a:latin typeface="Times"/>
                          <a:ea typeface="Times"/>
                          <a:cs typeface="Times"/>
                          <a:sym typeface="Times"/>
                        </a:rPr>
                        <a:t>C</a:t>
                      </a:r>
                      <a:endParaRPr b="1"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700">
                          <a:latin typeface="Times"/>
                          <a:ea typeface="Times"/>
                          <a:cs typeface="Times"/>
                          <a:sym typeface="Times"/>
                        </a:rPr>
                        <a:t>D</a:t>
                      </a:r>
                      <a:endParaRPr b="1"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700">
                          <a:latin typeface="Times"/>
                          <a:ea typeface="Times"/>
                          <a:cs typeface="Times"/>
                          <a:sym typeface="Times"/>
                        </a:rPr>
                        <a:t>E</a:t>
                      </a:r>
                      <a:endParaRPr b="1"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700">
                          <a:latin typeface="Times"/>
                          <a:ea typeface="Times"/>
                          <a:cs typeface="Times"/>
                          <a:sym typeface="Times"/>
                        </a:rPr>
                        <a:t>F</a:t>
                      </a:r>
                      <a:endParaRPr b="1" sz="1700">
                        <a:latin typeface="Times"/>
                        <a:ea typeface="Times"/>
                        <a:cs typeface="Times"/>
                        <a:sym typeface="Times"/>
                      </a:endParaRPr>
                    </a:p>
                  </a:txBody>
                  <a:tcPr marT="91425" marB="91425" marR="91425" marL="91425" anchor="ctr"/>
                </a:tc>
              </a:tr>
              <a:tr h="693350">
                <a:tc>
                  <a:txBody>
                    <a:bodyPr/>
                    <a:lstStyle/>
                    <a:p>
                      <a:pPr indent="0" lvl="0" marL="0" rtl="0" algn="l">
                        <a:spcBef>
                          <a:spcPts val="0"/>
                        </a:spcBef>
                        <a:spcAft>
                          <a:spcPts val="0"/>
                        </a:spcAft>
                        <a:buNone/>
                      </a:pPr>
                      <a:r>
                        <a:rPr lang="en-GB" sz="1700">
                          <a:latin typeface="Times"/>
                          <a:ea typeface="Times"/>
                          <a:cs typeface="Times"/>
                          <a:sym typeface="Times"/>
                        </a:rPr>
                        <a:t>Starting From A,d[A]=0</a:t>
                      </a:r>
                      <a:endParaRPr sz="17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700">
                          <a:latin typeface="Times"/>
                          <a:ea typeface="Times"/>
                          <a:cs typeface="Times"/>
                          <a:sym typeface="Times"/>
                        </a:rPr>
                        <a:t>∞</a:t>
                      </a:r>
                      <a:endParaRPr sz="17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700">
                          <a:latin typeface="Times"/>
                          <a:ea typeface="Times"/>
                          <a:cs typeface="Times"/>
                          <a:sym typeface="Times"/>
                        </a:rPr>
                        <a:t>∞</a:t>
                      </a:r>
                      <a:endParaRPr sz="17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700">
                          <a:latin typeface="Times"/>
                          <a:ea typeface="Times"/>
                          <a:cs typeface="Times"/>
                          <a:sym typeface="Times"/>
                        </a:rPr>
                        <a:t>∞</a:t>
                      </a:r>
                      <a:endParaRPr b="1" sz="17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700">
                          <a:latin typeface="Times"/>
                          <a:ea typeface="Times"/>
                          <a:cs typeface="Times"/>
                          <a:sym typeface="Times"/>
                        </a:rPr>
                        <a:t>∞</a:t>
                      </a:r>
                      <a:endParaRPr b="1" sz="17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700">
                          <a:latin typeface="Times"/>
                          <a:ea typeface="Times"/>
                          <a:cs typeface="Times"/>
                          <a:sym typeface="Times"/>
                        </a:rPr>
                        <a:t>∞</a:t>
                      </a:r>
                      <a:endParaRPr b="1" sz="1700">
                        <a:latin typeface="Times"/>
                        <a:ea typeface="Times"/>
                        <a:cs typeface="Times"/>
                        <a:sym typeface="Times"/>
                      </a:endParaRPr>
                    </a:p>
                  </a:txBody>
                  <a:tcPr marT="91425" marB="91425" marR="91425" marL="91425" anchor="ctr"/>
                </a:tc>
              </a:tr>
              <a:tr h="548425">
                <a:tc>
                  <a:txBody>
                    <a:bodyPr/>
                    <a:lstStyle/>
                    <a:p>
                      <a:pPr indent="0" lvl="0" marL="0" rtl="0" algn="ctr">
                        <a:spcBef>
                          <a:spcPts val="0"/>
                        </a:spcBef>
                        <a:spcAft>
                          <a:spcPts val="0"/>
                        </a:spcAft>
                        <a:buNone/>
                      </a:pPr>
                      <a:r>
                        <a:rPr lang="en-GB" sz="1700">
                          <a:latin typeface="Times"/>
                          <a:ea typeface="Times"/>
                          <a:cs typeface="Times"/>
                          <a:sym typeface="Times"/>
                        </a:rPr>
                        <a:t>B</a:t>
                      </a:r>
                      <a:endParaRPr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700">
                          <a:latin typeface="Times"/>
                          <a:ea typeface="Times"/>
                          <a:cs typeface="Times"/>
                          <a:sym typeface="Times"/>
                        </a:rPr>
                        <a:t>2</a:t>
                      </a:r>
                      <a:endParaRPr b="1"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lang="en-GB" sz="1700">
                          <a:latin typeface="Times"/>
                          <a:ea typeface="Times"/>
                          <a:cs typeface="Times"/>
                          <a:sym typeface="Times"/>
                        </a:rPr>
                        <a:t>4</a:t>
                      </a:r>
                      <a:endParaRPr sz="17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700">
                          <a:latin typeface="Times"/>
                          <a:ea typeface="Times"/>
                          <a:cs typeface="Times"/>
                          <a:sym typeface="Times"/>
                        </a:rPr>
                        <a:t>∞</a:t>
                      </a:r>
                      <a:endParaRPr sz="17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700">
                          <a:latin typeface="Times"/>
                          <a:ea typeface="Times"/>
                          <a:cs typeface="Times"/>
                          <a:sym typeface="Times"/>
                        </a:rPr>
                        <a:t>∞</a:t>
                      </a:r>
                      <a:endParaRPr sz="17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700">
                          <a:latin typeface="Times"/>
                          <a:ea typeface="Times"/>
                          <a:cs typeface="Times"/>
                          <a:sym typeface="Times"/>
                        </a:rPr>
                        <a:t>∞</a:t>
                      </a:r>
                      <a:endParaRPr sz="1700">
                        <a:latin typeface="Times"/>
                        <a:ea typeface="Times"/>
                        <a:cs typeface="Times"/>
                        <a:sym typeface="Times"/>
                      </a:endParaRPr>
                    </a:p>
                  </a:txBody>
                  <a:tcPr marT="91425" marB="91425" marR="91425" marL="91425" anchor="ctr"/>
                </a:tc>
              </a:tr>
              <a:tr h="548425">
                <a:tc>
                  <a:txBody>
                    <a:bodyPr/>
                    <a:lstStyle/>
                    <a:p>
                      <a:pPr indent="0" lvl="0" marL="0" rtl="0" algn="ctr">
                        <a:spcBef>
                          <a:spcPts val="0"/>
                        </a:spcBef>
                        <a:spcAft>
                          <a:spcPts val="0"/>
                        </a:spcAft>
                        <a:buNone/>
                      </a:pPr>
                      <a:r>
                        <a:rPr lang="en-GB" sz="1700">
                          <a:latin typeface="Times"/>
                          <a:ea typeface="Times"/>
                          <a:cs typeface="Times"/>
                          <a:sym typeface="Times"/>
                        </a:rPr>
                        <a:t>C</a:t>
                      </a:r>
                      <a:endParaRPr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700">
                          <a:latin typeface="Times"/>
                          <a:ea typeface="Times"/>
                          <a:cs typeface="Times"/>
                          <a:sym typeface="Times"/>
                        </a:rPr>
                        <a:t>2</a:t>
                      </a:r>
                      <a:endParaRPr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700">
                          <a:latin typeface="Times"/>
                          <a:ea typeface="Times"/>
                          <a:cs typeface="Times"/>
                          <a:sym typeface="Times"/>
                        </a:rPr>
                        <a:t>3</a:t>
                      </a:r>
                      <a:endParaRPr b="1"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lang="en-GB" sz="1700">
                          <a:latin typeface="Times"/>
                          <a:ea typeface="Times"/>
                          <a:cs typeface="Times"/>
                          <a:sym typeface="Times"/>
                        </a:rPr>
                        <a:t>9</a:t>
                      </a:r>
                      <a:endParaRPr sz="17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700">
                          <a:latin typeface="Times"/>
                          <a:ea typeface="Times"/>
                          <a:cs typeface="Times"/>
                          <a:sym typeface="Times"/>
                        </a:rPr>
                        <a:t>∞</a:t>
                      </a:r>
                      <a:endParaRPr sz="17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700">
                          <a:latin typeface="Times"/>
                          <a:ea typeface="Times"/>
                          <a:cs typeface="Times"/>
                          <a:sym typeface="Times"/>
                        </a:rPr>
                        <a:t>∞</a:t>
                      </a:r>
                      <a:endParaRPr sz="1700">
                        <a:latin typeface="Times"/>
                        <a:ea typeface="Times"/>
                        <a:cs typeface="Times"/>
                        <a:sym typeface="Times"/>
                      </a:endParaRPr>
                    </a:p>
                  </a:txBody>
                  <a:tcPr marT="91425" marB="91425" marR="91425" marL="91425" anchor="ctr"/>
                </a:tc>
              </a:tr>
              <a:tr h="548425">
                <a:tc>
                  <a:txBody>
                    <a:bodyPr/>
                    <a:lstStyle/>
                    <a:p>
                      <a:pPr indent="0" lvl="0" marL="0" rtl="0" algn="ctr">
                        <a:spcBef>
                          <a:spcPts val="0"/>
                        </a:spcBef>
                        <a:spcAft>
                          <a:spcPts val="0"/>
                        </a:spcAft>
                        <a:buNone/>
                      </a:pPr>
                      <a:r>
                        <a:rPr lang="en-GB" sz="1700">
                          <a:latin typeface="Times"/>
                          <a:ea typeface="Times"/>
                          <a:cs typeface="Times"/>
                          <a:sym typeface="Times"/>
                        </a:rPr>
                        <a:t>E</a:t>
                      </a:r>
                      <a:endParaRPr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700">
                          <a:latin typeface="Times"/>
                          <a:ea typeface="Times"/>
                          <a:cs typeface="Times"/>
                          <a:sym typeface="Times"/>
                        </a:rPr>
                        <a:t>2</a:t>
                      </a:r>
                      <a:endParaRPr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700">
                          <a:latin typeface="Times"/>
                          <a:ea typeface="Times"/>
                          <a:cs typeface="Times"/>
                          <a:sym typeface="Times"/>
                        </a:rPr>
                        <a:t>3</a:t>
                      </a:r>
                      <a:endParaRPr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lang="en-GB" sz="1700">
                          <a:latin typeface="Times"/>
                          <a:ea typeface="Times"/>
                          <a:cs typeface="Times"/>
                          <a:sym typeface="Times"/>
                        </a:rPr>
                        <a:t>9</a:t>
                      </a:r>
                      <a:endParaRPr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700">
                          <a:latin typeface="Times"/>
                          <a:ea typeface="Times"/>
                          <a:cs typeface="Times"/>
                          <a:sym typeface="Times"/>
                        </a:rPr>
                        <a:t>6</a:t>
                      </a:r>
                      <a:endParaRPr b="1" sz="17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700">
                          <a:latin typeface="Times"/>
                          <a:ea typeface="Times"/>
                          <a:cs typeface="Times"/>
                          <a:sym typeface="Times"/>
                        </a:rPr>
                        <a:t>∞</a:t>
                      </a:r>
                      <a:endParaRPr sz="1700">
                        <a:latin typeface="Times"/>
                        <a:ea typeface="Times"/>
                        <a:cs typeface="Times"/>
                        <a:sym typeface="Times"/>
                      </a:endParaRPr>
                    </a:p>
                  </a:txBody>
                  <a:tcPr marT="91425" marB="91425" marR="91425" marL="91425" anchor="ctr"/>
                </a:tc>
              </a:tr>
              <a:tr h="548425">
                <a:tc>
                  <a:txBody>
                    <a:bodyPr/>
                    <a:lstStyle/>
                    <a:p>
                      <a:pPr indent="0" lvl="0" marL="0" rtl="0" algn="ctr">
                        <a:spcBef>
                          <a:spcPts val="0"/>
                        </a:spcBef>
                        <a:spcAft>
                          <a:spcPts val="0"/>
                        </a:spcAft>
                        <a:buNone/>
                      </a:pPr>
                      <a:r>
                        <a:rPr lang="en-GB" sz="1700">
                          <a:latin typeface="Times"/>
                          <a:ea typeface="Times"/>
                          <a:cs typeface="Times"/>
                          <a:sym typeface="Times"/>
                        </a:rPr>
                        <a:t>D</a:t>
                      </a:r>
                      <a:endParaRPr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700">
                          <a:latin typeface="Times"/>
                          <a:ea typeface="Times"/>
                          <a:cs typeface="Times"/>
                          <a:sym typeface="Times"/>
                        </a:rPr>
                        <a:t>2</a:t>
                      </a:r>
                      <a:endParaRPr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700">
                          <a:latin typeface="Times"/>
                          <a:ea typeface="Times"/>
                          <a:cs typeface="Times"/>
                          <a:sym typeface="Times"/>
                        </a:rPr>
                        <a:t>3</a:t>
                      </a:r>
                      <a:endParaRPr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700">
                          <a:latin typeface="Times"/>
                          <a:ea typeface="Times"/>
                          <a:cs typeface="Times"/>
                          <a:sym typeface="Times"/>
                        </a:rPr>
                        <a:t>8</a:t>
                      </a:r>
                      <a:endParaRPr b="1"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700">
                          <a:latin typeface="Times"/>
                          <a:ea typeface="Times"/>
                          <a:cs typeface="Times"/>
                          <a:sym typeface="Times"/>
                        </a:rPr>
                        <a:t>6</a:t>
                      </a:r>
                      <a:endParaRPr b="1"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lang="en-GB" sz="1700">
                          <a:latin typeface="Times"/>
                          <a:ea typeface="Times"/>
                          <a:cs typeface="Times"/>
                          <a:sym typeface="Times"/>
                        </a:rPr>
                        <a:t>11</a:t>
                      </a:r>
                      <a:endParaRPr sz="1700">
                        <a:latin typeface="Times"/>
                        <a:ea typeface="Times"/>
                        <a:cs typeface="Times"/>
                        <a:sym typeface="Times"/>
                      </a:endParaRPr>
                    </a:p>
                  </a:txBody>
                  <a:tcPr marT="91425" marB="91425" marR="91425" marL="91425" anchor="ctr"/>
                </a:tc>
              </a:tr>
              <a:tr h="445700">
                <a:tc>
                  <a:txBody>
                    <a:bodyPr/>
                    <a:lstStyle/>
                    <a:p>
                      <a:pPr indent="0" lvl="0" marL="0" rtl="0" algn="ctr">
                        <a:spcBef>
                          <a:spcPts val="0"/>
                        </a:spcBef>
                        <a:spcAft>
                          <a:spcPts val="0"/>
                        </a:spcAft>
                        <a:buNone/>
                      </a:pPr>
                      <a:r>
                        <a:rPr lang="en-GB" sz="1700">
                          <a:latin typeface="Times"/>
                          <a:ea typeface="Times"/>
                          <a:cs typeface="Times"/>
                          <a:sym typeface="Times"/>
                        </a:rPr>
                        <a:t>F</a:t>
                      </a:r>
                      <a:endParaRPr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700">
                          <a:latin typeface="Times"/>
                          <a:ea typeface="Times"/>
                          <a:cs typeface="Times"/>
                          <a:sym typeface="Times"/>
                        </a:rPr>
                        <a:t>2</a:t>
                      </a:r>
                      <a:endParaRPr b="1"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700">
                          <a:latin typeface="Times"/>
                          <a:ea typeface="Times"/>
                          <a:cs typeface="Times"/>
                          <a:sym typeface="Times"/>
                        </a:rPr>
                        <a:t>3</a:t>
                      </a:r>
                      <a:endParaRPr b="1"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700">
                          <a:latin typeface="Times"/>
                          <a:ea typeface="Times"/>
                          <a:cs typeface="Times"/>
                          <a:sym typeface="Times"/>
                        </a:rPr>
                        <a:t>8</a:t>
                      </a:r>
                      <a:endParaRPr b="1"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700">
                          <a:latin typeface="Times"/>
                          <a:ea typeface="Times"/>
                          <a:cs typeface="Times"/>
                          <a:sym typeface="Times"/>
                        </a:rPr>
                        <a:t>6</a:t>
                      </a:r>
                      <a:endParaRPr b="1" sz="17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700">
                          <a:latin typeface="Times"/>
                          <a:ea typeface="Times"/>
                          <a:cs typeface="Times"/>
                          <a:sym typeface="Times"/>
                        </a:rPr>
                        <a:t>9</a:t>
                      </a:r>
                      <a:endParaRPr b="1" sz="1700">
                        <a:latin typeface="Times"/>
                        <a:ea typeface="Times"/>
                        <a:cs typeface="Times"/>
                        <a:sym typeface="Times"/>
                      </a:endParaRPr>
                    </a:p>
                  </a:txBody>
                  <a:tcPr marT="91425" marB="91425" marR="91425" marL="91425" anchor="ctr"/>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1213" name="Shape 1213"/>
        <p:cNvGrpSpPr/>
        <p:nvPr/>
      </p:nvGrpSpPr>
      <p:grpSpPr>
        <a:xfrm>
          <a:off x="0" y="0"/>
          <a:ext cx="0" cy="0"/>
          <a:chOff x="0" y="0"/>
          <a:chExt cx="0" cy="0"/>
        </a:xfrm>
      </p:grpSpPr>
      <p:sp>
        <p:nvSpPr>
          <p:cNvPr id="1214" name="Google Shape;1214;p82"/>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215" name="Google Shape;1215;p82"/>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16" name="Google Shape;1216;p82"/>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217" name="Google Shape;1217;p82"/>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4000">
                <a:solidFill>
                  <a:srgbClr val="2B2C30"/>
                </a:solidFill>
              </a:rPr>
              <a:t>Dijkstra’s Algorithm</a:t>
            </a:r>
            <a:endParaRPr sz="4800"/>
          </a:p>
        </p:txBody>
      </p:sp>
      <p:cxnSp>
        <p:nvCxnSpPr>
          <p:cNvPr id="1218" name="Google Shape;1218;p82"/>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1219" name="Google Shape;1219;p82"/>
          <p:cNvSpPr/>
          <p:nvPr/>
        </p:nvSpPr>
        <p:spPr>
          <a:xfrm>
            <a:off x="2701896" y="3929301"/>
            <a:ext cx="805500" cy="7743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b</a:t>
            </a:r>
            <a:endParaRPr b="1" sz="2000">
              <a:latin typeface="Times"/>
              <a:ea typeface="Times"/>
              <a:cs typeface="Times"/>
              <a:sym typeface="Times"/>
            </a:endParaRPr>
          </a:p>
        </p:txBody>
      </p:sp>
      <p:sp>
        <p:nvSpPr>
          <p:cNvPr id="1220" name="Google Shape;1220;p82"/>
          <p:cNvSpPr/>
          <p:nvPr/>
        </p:nvSpPr>
        <p:spPr>
          <a:xfrm>
            <a:off x="4573667" y="3929301"/>
            <a:ext cx="805500" cy="7743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d</a:t>
            </a:r>
            <a:endParaRPr b="1" sz="2000">
              <a:latin typeface="Times"/>
              <a:ea typeface="Times"/>
              <a:cs typeface="Times"/>
              <a:sym typeface="Times"/>
            </a:endParaRPr>
          </a:p>
        </p:txBody>
      </p:sp>
      <p:sp>
        <p:nvSpPr>
          <p:cNvPr id="1221" name="Google Shape;1221;p82"/>
          <p:cNvSpPr/>
          <p:nvPr/>
        </p:nvSpPr>
        <p:spPr>
          <a:xfrm>
            <a:off x="2701896" y="2067225"/>
            <a:ext cx="805500" cy="7743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a</a:t>
            </a:r>
            <a:endParaRPr b="1" sz="2000">
              <a:latin typeface="Times"/>
              <a:ea typeface="Times"/>
              <a:cs typeface="Times"/>
              <a:sym typeface="Times"/>
            </a:endParaRPr>
          </a:p>
        </p:txBody>
      </p:sp>
      <p:sp>
        <p:nvSpPr>
          <p:cNvPr id="1222" name="Google Shape;1222;p82"/>
          <p:cNvSpPr/>
          <p:nvPr/>
        </p:nvSpPr>
        <p:spPr>
          <a:xfrm>
            <a:off x="4573667" y="2067225"/>
            <a:ext cx="805500" cy="7743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c</a:t>
            </a:r>
            <a:endParaRPr b="1" sz="2000">
              <a:latin typeface="Times"/>
              <a:ea typeface="Times"/>
              <a:cs typeface="Times"/>
              <a:sym typeface="Times"/>
            </a:endParaRPr>
          </a:p>
        </p:txBody>
      </p:sp>
      <p:sp>
        <p:nvSpPr>
          <p:cNvPr id="1223" name="Google Shape;1223;p82"/>
          <p:cNvSpPr/>
          <p:nvPr/>
        </p:nvSpPr>
        <p:spPr>
          <a:xfrm>
            <a:off x="6491940" y="3822143"/>
            <a:ext cx="805500" cy="7743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f</a:t>
            </a:r>
            <a:endParaRPr b="1" sz="2000">
              <a:latin typeface="Times"/>
              <a:ea typeface="Times"/>
              <a:cs typeface="Times"/>
              <a:sym typeface="Times"/>
            </a:endParaRPr>
          </a:p>
        </p:txBody>
      </p:sp>
      <p:cxnSp>
        <p:nvCxnSpPr>
          <p:cNvPr id="1224" name="Google Shape;1224;p82"/>
          <p:cNvCxnSpPr>
            <a:stCxn id="1221" idx="6"/>
            <a:endCxn id="1222" idx="2"/>
          </p:cNvCxnSpPr>
          <p:nvPr/>
        </p:nvCxnSpPr>
        <p:spPr>
          <a:xfrm>
            <a:off x="3507396" y="2454375"/>
            <a:ext cx="1066200" cy="0"/>
          </a:xfrm>
          <a:prstGeom prst="straightConnector1">
            <a:avLst/>
          </a:prstGeom>
          <a:noFill/>
          <a:ln cap="flat" cmpd="sng" w="19050">
            <a:solidFill>
              <a:srgbClr val="000000"/>
            </a:solidFill>
            <a:prstDash val="solid"/>
            <a:round/>
            <a:headEnd len="med" w="med" type="none"/>
            <a:tailEnd len="med" w="med" type="triangle"/>
          </a:ln>
        </p:spPr>
      </p:cxnSp>
      <p:cxnSp>
        <p:nvCxnSpPr>
          <p:cNvPr id="1225" name="Google Shape;1225;p82"/>
          <p:cNvCxnSpPr>
            <a:stCxn id="1219" idx="6"/>
            <a:endCxn id="1220" idx="2"/>
          </p:cNvCxnSpPr>
          <p:nvPr/>
        </p:nvCxnSpPr>
        <p:spPr>
          <a:xfrm>
            <a:off x="3507396" y="4316451"/>
            <a:ext cx="1066200" cy="0"/>
          </a:xfrm>
          <a:prstGeom prst="straightConnector1">
            <a:avLst/>
          </a:prstGeom>
          <a:noFill/>
          <a:ln cap="flat" cmpd="sng" w="19050">
            <a:solidFill>
              <a:srgbClr val="000000"/>
            </a:solidFill>
            <a:prstDash val="solid"/>
            <a:round/>
            <a:headEnd len="med" w="med" type="none"/>
            <a:tailEnd len="med" w="med" type="triangle"/>
          </a:ln>
        </p:spPr>
      </p:cxnSp>
      <p:cxnSp>
        <p:nvCxnSpPr>
          <p:cNvPr id="1226" name="Google Shape;1226;p82"/>
          <p:cNvCxnSpPr>
            <a:stCxn id="1221" idx="4"/>
            <a:endCxn id="1219" idx="0"/>
          </p:cNvCxnSpPr>
          <p:nvPr/>
        </p:nvCxnSpPr>
        <p:spPr>
          <a:xfrm>
            <a:off x="3104646" y="2841525"/>
            <a:ext cx="0" cy="1087800"/>
          </a:xfrm>
          <a:prstGeom prst="straightConnector1">
            <a:avLst/>
          </a:prstGeom>
          <a:noFill/>
          <a:ln cap="flat" cmpd="sng" w="19050">
            <a:solidFill>
              <a:srgbClr val="000000"/>
            </a:solidFill>
            <a:prstDash val="solid"/>
            <a:round/>
            <a:headEnd len="med" w="med" type="none"/>
            <a:tailEnd len="med" w="med" type="triangle"/>
          </a:ln>
        </p:spPr>
      </p:cxnSp>
      <p:cxnSp>
        <p:nvCxnSpPr>
          <p:cNvPr id="1227" name="Google Shape;1227;p82"/>
          <p:cNvCxnSpPr>
            <a:stCxn id="1220" idx="0"/>
            <a:endCxn id="1222" idx="4"/>
          </p:cNvCxnSpPr>
          <p:nvPr/>
        </p:nvCxnSpPr>
        <p:spPr>
          <a:xfrm rot="10800000">
            <a:off x="4976417" y="2841501"/>
            <a:ext cx="0" cy="1087800"/>
          </a:xfrm>
          <a:prstGeom prst="straightConnector1">
            <a:avLst/>
          </a:prstGeom>
          <a:noFill/>
          <a:ln cap="flat" cmpd="sng" w="19050">
            <a:solidFill>
              <a:srgbClr val="000000"/>
            </a:solidFill>
            <a:prstDash val="solid"/>
            <a:round/>
            <a:headEnd len="med" w="med" type="none"/>
            <a:tailEnd len="med" w="med" type="triangle"/>
          </a:ln>
        </p:spPr>
      </p:cxnSp>
      <p:sp>
        <p:nvSpPr>
          <p:cNvPr id="1228" name="Google Shape;1228;p82"/>
          <p:cNvSpPr txBox="1"/>
          <p:nvPr/>
        </p:nvSpPr>
        <p:spPr>
          <a:xfrm>
            <a:off x="3842800" y="2085163"/>
            <a:ext cx="474600" cy="3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50</a:t>
            </a:r>
            <a:endParaRPr sz="2000">
              <a:latin typeface="Times"/>
              <a:ea typeface="Times"/>
              <a:cs typeface="Times"/>
              <a:sym typeface="Times"/>
            </a:endParaRPr>
          </a:p>
        </p:txBody>
      </p:sp>
      <p:sp>
        <p:nvSpPr>
          <p:cNvPr id="1229" name="Google Shape;1229;p82"/>
          <p:cNvSpPr txBox="1"/>
          <p:nvPr/>
        </p:nvSpPr>
        <p:spPr>
          <a:xfrm>
            <a:off x="3879438" y="3929325"/>
            <a:ext cx="474600" cy="3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15</a:t>
            </a:r>
            <a:endParaRPr sz="2000">
              <a:latin typeface="Times"/>
              <a:ea typeface="Times"/>
              <a:cs typeface="Times"/>
              <a:sym typeface="Times"/>
            </a:endParaRPr>
          </a:p>
        </p:txBody>
      </p:sp>
      <p:sp>
        <p:nvSpPr>
          <p:cNvPr id="1230" name="Google Shape;1230;p82"/>
          <p:cNvSpPr txBox="1"/>
          <p:nvPr/>
        </p:nvSpPr>
        <p:spPr>
          <a:xfrm>
            <a:off x="4471138" y="3223113"/>
            <a:ext cx="474600" cy="3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20</a:t>
            </a:r>
            <a:endParaRPr sz="2000">
              <a:latin typeface="Times"/>
              <a:ea typeface="Times"/>
              <a:cs typeface="Times"/>
              <a:sym typeface="Times"/>
            </a:endParaRPr>
          </a:p>
        </p:txBody>
      </p:sp>
      <p:sp>
        <p:nvSpPr>
          <p:cNvPr id="1231" name="Google Shape;1231;p82"/>
          <p:cNvSpPr txBox="1"/>
          <p:nvPr/>
        </p:nvSpPr>
        <p:spPr>
          <a:xfrm>
            <a:off x="3134200" y="3181350"/>
            <a:ext cx="474600" cy="3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10</a:t>
            </a:r>
            <a:endParaRPr sz="2000">
              <a:latin typeface="Times"/>
              <a:ea typeface="Times"/>
              <a:cs typeface="Times"/>
              <a:sym typeface="Times"/>
            </a:endParaRPr>
          </a:p>
        </p:txBody>
      </p:sp>
      <p:sp>
        <p:nvSpPr>
          <p:cNvPr id="1232" name="Google Shape;1232;p82"/>
          <p:cNvSpPr/>
          <p:nvPr/>
        </p:nvSpPr>
        <p:spPr>
          <a:xfrm>
            <a:off x="6415740" y="2085168"/>
            <a:ext cx="805500" cy="7743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e</a:t>
            </a:r>
            <a:endParaRPr b="1" sz="2000">
              <a:latin typeface="Times"/>
              <a:ea typeface="Times"/>
              <a:cs typeface="Times"/>
              <a:sym typeface="Times"/>
            </a:endParaRPr>
          </a:p>
        </p:txBody>
      </p:sp>
      <p:cxnSp>
        <p:nvCxnSpPr>
          <p:cNvPr id="1233" name="Google Shape;1233;p82"/>
          <p:cNvCxnSpPr>
            <a:stCxn id="1219" idx="1"/>
            <a:endCxn id="1221" idx="3"/>
          </p:cNvCxnSpPr>
          <p:nvPr/>
        </p:nvCxnSpPr>
        <p:spPr>
          <a:xfrm rot="10800000">
            <a:off x="2819859" y="2728095"/>
            <a:ext cx="0" cy="1314600"/>
          </a:xfrm>
          <a:prstGeom prst="straightConnector1">
            <a:avLst/>
          </a:prstGeom>
          <a:noFill/>
          <a:ln cap="flat" cmpd="sng" w="19050">
            <a:solidFill>
              <a:srgbClr val="000000"/>
            </a:solidFill>
            <a:prstDash val="solid"/>
            <a:round/>
            <a:headEnd len="med" w="med" type="none"/>
            <a:tailEnd len="med" w="med" type="triangle"/>
          </a:ln>
        </p:spPr>
      </p:cxnSp>
      <p:cxnSp>
        <p:nvCxnSpPr>
          <p:cNvPr id="1234" name="Google Shape;1234;p82"/>
          <p:cNvCxnSpPr>
            <a:endCxn id="1232" idx="2"/>
          </p:cNvCxnSpPr>
          <p:nvPr/>
        </p:nvCxnSpPr>
        <p:spPr>
          <a:xfrm>
            <a:off x="5379240" y="2454318"/>
            <a:ext cx="1036500" cy="18000"/>
          </a:xfrm>
          <a:prstGeom prst="straightConnector1">
            <a:avLst/>
          </a:prstGeom>
          <a:noFill/>
          <a:ln cap="flat" cmpd="sng" w="19050">
            <a:solidFill>
              <a:srgbClr val="000000"/>
            </a:solidFill>
            <a:prstDash val="solid"/>
            <a:round/>
            <a:headEnd len="med" w="med" type="none"/>
            <a:tailEnd len="med" w="med" type="triangle"/>
          </a:ln>
        </p:spPr>
      </p:cxnSp>
      <p:cxnSp>
        <p:nvCxnSpPr>
          <p:cNvPr id="1235" name="Google Shape;1235;p82"/>
          <p:cNvCxnSpPr>
            <a:stCxn id="1220" idx="7"/>
            <a:endCxn id="1232" idx="3"/>
          </p:cNvCxnSpPr>
          <p:nvPr/>
        </p:nvCxnSpPr>
        <p:spPr>
          <a:xfrm flipH="1" rot="10800000">
            <a:off x="5261204" y="2746095"/>
            <a:ext cx="1272600" cy="1296600"/>
          </a:xfrm>
          <a:prstGeom prst="straightConnector1">
            <a:avLst/>
          </a:prstGeom>
          <a:noFill/>
          <a:ln cap="flat" cmpd="sng" w="19050">
            <a:solidFill>
              <a:srgbClr val="000000"/>
            </a:solidFill>
            <a:prstDash val="solid"/>
            <a:round/>
            <a:headEnd len="med" w="med" type="none"/>
            <a:tailEnd len="med" w="med" type="triangle"/>
          </a:ln>
        </p:spPr>
      </p:cxnSp>
      <p:cxnSp>
        <p:nvCxnSpPr>
          <p:cNvPr id="1236" name="Google Shape;1236;p82"/>
          <p:cNvCxnSpPr>
            <a:stCxn id="1232" idx="4"/>
            <a:endCxn id="1220" idx="6"/>
          </p:cNvCxnSpPr>
          <p:nvPr/>
        </p:nvCxnSpPr>
        <p:spPr>
          <a:xfrm flipH="1">
            <a:off x="5379090" y="2859468"/>
            <a:ext cx="1439400" cy="1457100"/>
          </a:xfrm>
          <a:prstGeom prst="straightConnector1">
            <a:avLst/>
          </a:prstGeom>
          <a:noFill/>
          <a:ln cap="flat" cmpd="sng" w="19050">
            <a:solidFill>
              <a:srgbClr val="000000"/>
            </a:solidFill>
            <a:prstDash val="solid"/>
            <a:round/>
            <a:headEnd len="med" w="med" type="none"/>
            <a:tailEnd len="med" w="med" type="triangle"/>
          </a:ln>
        </p:spPr>
      </p:cxnSp>
      <p:cxnSp>
        <p:nvCxnSpPr>
          <p:cNvPr id="1237" name="Google Shape;1237;p82"/>
          <p:cNvCxnSpPr>
            <a:stCxn id="1223" idx="3"/>
            <a:endCxn id="1220" idx="5"/>
          </p:cNvCxnSpPr>
          <p:nvPr/>
        </p:nvCxnSpPr>
        <p:spPr>
          <a:xfrm flipH="1">
            <a:off x="5261102" y="4483049"/>
            <a:ext cx="1348800" cy="107100"/>
          </a:xfrm>
          <a:prstGeom prst="straightConnector1">
            <a:avLst/>
          </a:prstGeom>
          <a:noFill/>
          <a:ln cap="flat" cmpd="sng" w="19050">
            <a:solidFill>
              <a:srgbClr val="000000"/>
            </a:solidFill>
            <a:prstDash val="solid"/>
            <a:round/>
            <a:headEnd len="med" w="med" type="none"/>
            <a:tailEnd len="med" w="med" type="triangle"/>
          </a:ln>
        </p:spPr>
      </p:cxnSp>
      <p:sp>
        <p:nvSpPr>
          <p:cNvPr id="1238" name="Google Shape;1238;p82"/>
          <p:cNvSpPr txBox="1"/>
          <p:nvPr/>
        </p:nvSpPr>
        <p:spPr>
          <a:xfrm>
            <a:off x="5660163" y="2067213"/>
            <a:ext cx="474600" cy="3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10</a:t>
            </a:r>
            <a:endParaRPr sz="2000">
              <a:latin typeface="Times"/>
              <a:ea typeface="Times"/>
              <a:cs typeface="Times"/>
              <a:sym typeface="Times"/>
            </a:endParaRPr>
          </a:p>
        </p:txBody>
      </p:sp>
      <p:sp>
        <p:nvSpPr>
          <p:cNvPr id="1239" name="Google Shape;1239;p82"/>
          <p:cNvSpPr txBox="1"/>
          <p:nvPr/>
        </p:nvSpPr>
        <p:spPr>
          <a:xfrm>
            <a:off x="2275500" y="3181350"/>
            <a:ext cx="474600" cy="3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10</a:t>
            </a:r>
            <a:endParaRPr sz="2000">
              <a:latin typeface="Times"/>
              <a:ea typeface="Times"/>
              <a:cs typeface="Times"/>
              <a:sym typeface="Times"/>
            </a:endParaRPr>
          </a:p>
        </p:txBody>
      </p:sp>
      <p:sp>
        <p:nvSpPr>
          <p:cNvPr id="1240" name="Google Shape;1240;p82"/>
          <p:cNvSpPr txBox="1"/>
          <p:nvPr/>
        </p:nvSpPr>
        <p:spPr>
          <a:xfrm>
            <a:off x="5379088" y="3062588"/>
            <a:ext cx="474600" cy="3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35</a:t>
            </a:r>
            <a:endParaRPr sz="2000">
              <a:latin typeface="Times"/>
              <a:ea typeface="Times"/>
              <a:cs typeface="Times"/>
              <a:sym typeface="Times"/>
            </a:endParaRPr>
          </a:p>
        </p:txBody>
      </p:sp>
      <p:sp>
        <p:nvSpPr>
          <p:cNvPr id="1241" name="Google Shape;1241;p82"/>
          <p:cNvSpPr txBox="1"/>
          <p:nvPr/>
        </p:nvSpPr>
        <p:spPr>
          <a:xfrm>
            <a:off x="6273875" y="3262612"/>
            <a:ext cx="474600" cy="45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30</a:t>
            </a:r>
            <a:endParaRPr sz="2000">
              <a:latin typeface="Times"/>
              <a:ea typeface="Times"/>
              <a:cs typeface="Times"/>
              <a:sym typeface="Times"/>
            </a:endParaRPr>
          </a:p>
        </p:txBody>
      </p:sp>
      <p:sp>
        <p:nvSpPr>
          <p:cNvPr id="1242" name="Google Shape;1242;p82"/>
          <p:cNvSpPr txBox="1"/>
          <p:nvPr/>
        </p:nvSpPr>
        <p:spPr>
          <a:xfrm>
            <a:off x="5808863" y="4101513"/>
            <a:ext cx="474600" cy="3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40</a:t>
            </a:r>
            <a:endParaRPr sz="2000">
              <a:latin typeface="Times"/>
              <a:ea typeface="Times"/>
              <a:cs typeface="Times"/>
              <a:sym typeface="Times"/>
            </a:endParaRPr>
          </a:p>
        </p:txBody>
      </p:sp>
      <p:cxnSp>
        <p:nvCxnSpPr>
          <p:cNvPr id="1243" name="Google Shape;1243;p82"/>
          <p:cNvCxnSpPr>
            <a:stCxn id="1222" idx="3"/>
            <a:endCxn id="1219" idx="7"/>
          </p:cNvCxnSpPr>
          <p:nvPr/>
        </p:nvCxnSpPr>
        <p:spPr>
          <a:xfrm flipH="1">
            <a:off x="3389330" y="2728131"/>
            <a:ext cx="1302300" cy="1314600"/>
          </a:xfrm>
          <a:prstGeom prst="straightConnector1">
            <a:avLst/>
          </a:prstGeom>
          <a:noFill/>
          <a:ln cap="flat" cmpd="sng" w="19050">
            <a:solidFill>
              <a:schemeClr val="dk2"/>
            </a:solidFill>
            <a:prstDash val="solid"/>
            <a:round/>
            <a:headEnd len="med" w="med" type="none"/>
            <a:tailEnd len="med" w="med" type="triangle"/>
          </a:ln>
        </p:spPr>
      </p:cxnSp>
      <p:sp>
        <p:nvSpPr>
          <p:cNvPr id="1244" name="Google Shape;1244;p82"/>
          <p:cNvSpPr txBox="1"/>
          <p:nvPr/>
        </p:nvSpPr>
        <p:spPr>
          <a:xfrm>
            <a:off x="3638352" y="3098500"/>
            <a:ext cx="561300" cy="3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15</a:t>
            </a:r>
            <a:endParaRPr sz="2000">
              <a:latin typeface="Times"/>
              <a:ea typeface="Times"/>
              <a:cs typeface="Times"/>
              <a:sym typeface="Times"/>
            </a:endParaRPr>
          </a:p>
        </p:txBody>
      </p:sp>
      <p:cxnSp>
        <p:nvCxnSpPr>
          <p:cNvPr id="1245" name="Google Shape;1245;p82"/>
          <p:cNvCxnSpPr>
            <a:stCxn id="1221" idx="0"/>
          </p:cNvCxnSpPr>
          <p:nvPr/>
        </p:nvCxnSpPr>
        <p:spPr>
          <a:xfrm flipH="1" rot="10800000">
            <a:off x="3104646" y="1807425"/>
            <a:ext cx="3581100" cy="259800"/>
          </a:xfrm>
          <a:prstGeom prst="straightConnector1">
            <a:avLst/>
          </a:prstGeom>
          <a:noFill/>
          <a:ln cap="flat" cmpd="sng" w="19050">
            <a:solidFill>
              <a:schemeClr val="dk2"/>
            </a:solidFill>
            <a:prstDash val="solid"/>
            <a:round/>
            <a:headEnd len="med" w="med" type="none"/>
            <a:tailEnd len="med" w="med" type="none"/>
          </a:ln>
        </p:spPr>
      </p:cxnSp>
      <p:cxnSp>
        <p:nvCxnSpPr>
          <p:cNvPr id="1246" name="Google Shape;1246;p82"/>
          <p:cNvCxnSpPr>
            <a:endCxn id="1232" idx="0"/>
          </p:cNvCxnSpPr>
          <p:nvPr/>
        </p:nvCxnSpPr>
        <p:spPr>
          <a:xfrm>
            <a:off x="6678390" y="1800168"/>
            <a:ext cx="140100" cy="285000"/>
          </a:xfrm>
          <a:prstGeom prst="straightConnector1">
            <a:avLst/>
          </a:prstGeom>
          <a:noFill/>
          <a:ln cap="flat" cmpd="sng" w="19050">
            <a:solidFill>
              <a:schemeClr val="dk2"/>
            </a:solidFill>
            <a:prstDash val="solid"/>
            <a:round/>
            <a:headEnd len="med" w="med" type="none"/>
            <a:tailEnd len="med" w="med" type="triangle"/>
          </a:ln>
        </p:spPr>
      </p:cxnSp>
      <p:sp>
        <p:nvSpPr>
          <p:cNvPr id="1247" name="Google Shape;1247;p82"/>
          <p:cNvSpPr txBox="1"/>
          <p:nvPr/>
        </p:nvSpPr>
        <p:spPr>
          <a:xfrm>
            <a:off x="4691613" y="1569525"/>
            <a:ext cx="474600" cy="3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45</a:t>
            </a:r>
            <a:endParaRPr sz="2000">
              <a:latin typeface="Times"/>
              <a:ea typeface="Times"/>
              <a:cs typeface="Times"/>
              <a:sym typeface="Times"/>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1251" name="Shape 1251"/>
        <p:cNvGrpSpPr/>
        <p:nvPr/>
      </p:nvGrpSpPr>
      <p:grpSpPr>
        <a:xfrm>
          <a:off x="0" y="0"/>
          <a:ext cx="0" cy="0"/>
          <a:chOff x="0" y="0"/>
          <a:chExt cx="0" cy="0"/>
        </a:xfrm>
      </p:grpSpPr>
      <p:sp>
        <p:nvSpPr>
          <p:cNvPr id="1252" name="Google Shape;1252;p83"/>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253" name="Google Shape;1253;p83"/>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54" name="Google Shape;1254;p83"/>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255" name="Google Shape;1255;p83"/>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4000">
                <a:solidFill>
                  <a:srgbClr val="2B2C30"/>
                </a:solidFill>
              </a:rPr>
              <a:t>Dijkstra’s Algorithm</a:t>
            </a:r>
            <a:endParaRPr sz="4800"/>
          </a:p>
        </p:txBody>
      </p:sp>
      <p:cxnSp>
        <p:nvCxnSpPr>
          <p:cNvPr id="1256" name="Google Shape;1256;p83"/>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1257" name="Google Shape;1257;p83"/>
          <p:cNvSpPr txBox="1"/>
          <p:nvPr/>
        </p:nvSpPr>
        <p:spPr>
          <a:xfrm>
            <a:off x="548400" y="844175"/>
            <a:ext cx="46977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latin typeface="Times"/>
              <a:ea typeface="Times"/>
              <a:cs typeface="Times"/>
              <a:sym typeface="Times"/>
            </a:endParaRPr>
          </a:p>
        </p:txBody>
      </p:sp>
      <p:graphicFrame>
        <p:nvGraphicFramePr>
          <p:cNvPr id="1258" name="Google Shape;1258;p83"/>
          <p:cNvGraphicFramePr/>
          <p:nvPr/>
        </p:nvGraphicFramePr>
        <p:xfrm>
          <a:off x="548700" y="893125"/>
          <a:ext cx="3000000" cy="3000000"/>
        </p:xfrm>
        <a:graphic>
          <a:graphicData uri="http://schemas.openxmlformats.org/drawingml/2006/table">
            <a:tbl>
              <a:tblPr>
                <a:noFill/>
                <a:tableStyleId>{B6BE1013-BC80-4FEF-9545-A56E02D788A3}</a:tableStyleId>
              </a:tblPr>
              <a:tblGrid>
                <a:gridCol w="1879300"/>
                <a:gridCol w="1244250"/>
                <a:gridCol w="1265925"/>
                <a:gridCol w="1323650"/>
                <a:gridCol w="1258725"/>
                <a:gridCol w="1229850"/>
              </a:tblGrid>
              <a:tr h="701450">
                <a:tc>
                  <a:txBody>
                    <a:bodyPr/>
                    <a:lstStyle/>
                    <a:p>
                      <a:pPr indent="0" lvl="0" marL="0" rtl="0" algn="ctr">
                        <a:spcBef>
                          <a:spcPts val="0"/>
                        </a:spcBef>
                        <a:spcAft>
                          <a:spcPts val="0"/>
                        </a:spcAft>
                        <a:buNone/>
                      </a:pPr>
                      <a:r>
                        <a:rPr b="1" lang="en-GB" sz="1800">
                          <a:latin typeface="Times"/>
                          <a:ea typeface="Times"/>
                          <a:cs typeface="Times"/>
                          <a:sym typeface="Times"/>
                        </a:rPr>
                        <a:t>Selected Vertices </a:t>
                      </a:r>
                      <a:endParaRPr b="1" sz="1800">
                        <a:latin typeface="Times"/>
                        <a:ea typeface="Times"/>
                        <a:cs typeface="Times"/>
                        <a:sym typeface="Times"/>
                      </a:endParaRPr>
                    </a:p>
                    <a:p>
                      <a:pPr indent="0" lvl="0" marL="0" rtl="0" algn="ctr">
                        <a:spcBef>
                          <a:spcPts val="0"/>
                        </a:spcBef>
                        <a:spcAft>
                          <a:spcPts val="0"/>
                        </a:spcAft>
                        <a:buNone/>
                      </a:pPr>
                      <a:r>
                        <a:t/>
                      </a:r>
                      <a:endParaRPr b="1"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800">
                          <a:latin typeface="Times"/>
                          <a:ea typeface="Times"/>
                          <a:cs typeface="Times"/>
                          <a:sym typeface="Times"/>
                        </a:rPr>
                        <a:t>b</a:t>
                      </a:r>
                      <a:endParaRPr b="1"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800">
                          <a:latin typeface="Times"/>
                          <a:ea typeface="Times"/>
                          <a:cs typeface="Times"/>
                          <a:sym typeface="Times"/>
                        </a:rPr>
                        <a:t>c</a:t>
                      </a:r>
                      <a:endParaRPr b="1"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800">
                          <a:latin typeface="Times"/>
                          <a:ea typeface="Times"/>
                          <a:cs typeface="Times"/>
                          <a:sym typeface="Times"/>
                        </a:rPr>
                        <a:t>d</a:t>
                      </a:r>
                      <a:endParaRPr b="1"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800">
                          <a:latin typeface="Times"/>
                          <a:ea typeface="Times"/>
                          <a:cs typeface="Times"/>
                          <a:sym typeface="Times"/>
                        </a:rPr>
                        <a:t>e</a:t>
                      </a:r>
                      <a:endParaRPr b="1"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800">
                          <a:latin typeface="Times"/>
                          <a:ea typeface="Times"/>
                          <a:cs typeface="Times"/>
                          <a:sym typeface="Times"/>
                        </a:rPr>
                        <a:t>f</a:t>
                      </a:r>
                      <a:endParaRPr b="1" sz="1800">
                        <a:latin typeface="Times"/>
                        <a:ea typeface="Times"/>
                        <a:cs typeface="Times"/>
                        <a:sym typeface="Times"/>
                      </a:endParaRPr>
                    </a:p>
                  </a:txBody>
                  <a:tcPr marT="91425" marB="91425" marR="91425" marL="91425" anchor="ctr"/>
                </a:tc>
              </a:tr>
              <a:tr h="701450">
                <a:tc>
                  <a:txBody>
                    <a:bodyPr/>
                    <a:lstStyle/>
                    <a:p>
                      <a:pPr indent="0" lvl="0" marL="0" rtl="0" algn="l">
                        <a:spcBef>
                          <a:spcPts val="0"/>
                        </a:spcBef>
                        <a:spcAft>
                          <a:spcPts val="0"/>
                        </a:spcAft>
                        <a:buNone/>
                      </a:pPr>
                      <a:r>
                        <a:rPr lang="en-GB" sz="1800">
                          <a:latin typeface="Times"/>
                          <a:ea typeface="Times"/>
                          <a:cs typeface="Times"/>
                          <a:sym typeface="Times"/>
                        </a:rPr>
                        <a:t>Starting From a,d[a]=0</a:t>
                      </a:r>
                      <a:endParaRPr sz="18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800">
                          <a:latin typeface="Times"/>
                          <a:ea typeface="Times"/>
                          <a:cs typeface="Times"/>
                          <a:sym typeface="Times"/>
                        </a:rPr>
                        <a:t>∞</a:t>
                      </a:r>
                      <a:endParaRPr sz="18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800">
                          <a:latin typeface="Times"/>
                          <a:ea typeface="Times"/>
                          <a:cs typeface="Times"/>
                          <a:sym typeface="Times"/>
                        </a:rPr>
                        <a:t>∞</a:t>
                      </a:r>
                      <a:endParaRPr sz="18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800">
                          <a:latin typeface="Times"/>
                          <a:ea typeface="Times"/>
                          <a:cs typeface="Times"/>
                          <a:sym typeface="Times"/>
                        </a:rPr>
                        <a:t>∞</a:t>
                      </a:r>
                      <a:endParaRPr b="1" sz="18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800">
                          <a:latin typeface="Times"/>
                          <a:ea typeface="Times"/>
                          <a:cs typeface="Times"/>
                          <a:sym typeface="Times"/>
                        </a:rPr>
                        <a:t>∞</a:t>
                      </a:r>
                      <a:endParaRPr b="1" sz="18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800">
                          <a:latin typeface="Times"/>
                          <a:ea typeface="Times"/>
                          <a:cs typeface="Times"/>
                          <a:sym typeface="Times"/>
                        </a:rPr>
                        <a:t>∞</a:t>
                      </a:r>
                      <a:endParaRPr b="1" sz="1800">
                        <a:latin typeface="Times"/>
                        <a:ea typeface="Times"/>
                        <a:cs typeface="Times"/>
                        <a:sym typeface="Times"/>
                      </a:endParaRPr>
                    </a:p>
                  </a:txBody>
                  <a:tcPr marT="91425" marB="91425" marR="91425" marL="91425" anchor="ctr"/>
                </a:tc>
              </a:tr>
              <a:tr h="528750">
                <a:tc>
                  <a:txBody>
                    <a:bodyPr/>
                    <a:lstStyle/>
                    <a:p>
                      <a:pPr indent="0" lvl="0" marL="0" rtl="0" algn="ctr">
                        <a:spcBef>
                          <a:spcPts val="0"/>
                        </a:spcBef>
                        <a:spcAft>
                          <a:spcPts val="0"/>
                        </a:spcAft>
                        <a:buNone/>
                      </a:pPr>
                      <a:r>
                        <a:rPr lang="en-GB" sz="1800">
                          <a:latin typeface="Times"/>
                          <a:ea typeface="Times"/>
                          <a:cs typeface="Times"/>
                          <a:sym typeface="Times"/>
                        </a:rPr>
                        <a:t>b</a:t>
                      </a:r>
                      <a:endParaRPr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800">
                          <a:latin typeface="Times"/>
                          <a:ea typeface="Times"/>
                          <a:cs typeface="Times"/>
                          <a:sym typeface="Times"/>
                        </a:rPr>
                        <a:t>10</a:t>
                      </a:r>
                      <a:endParaRPr b="1"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lang="en-GB" sz="1800">
                          <a:latin typeface="Times"/>
                          <a:ea typeface="Times"/>
                          <a:cs typeface="Times"/>
                          <a:sym typeface="Times"/>
                        </a:rPr>
                        <a:t>50</a:t>
                      </a:r>
                      <a:endParaRPr sz="18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800">
                          <a:latin typeface="Times"/>
                          <a:ea typeface="Times"/>
                          <a:cs typeface="Times"/>
                          <a:sym typeface="Times"/>
                        </a:rPr>
                        <a:t>∞</a:t>
                      </a:r>
                      <a:endParaRPr sz="18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800">
                          <a:latin typeface="Times"/>
                          <a:ea typeface="Times"/>
                          <a:cs typeface="Times"/>
                          <a:sym typeface="Times"/>
                        </a:rPr>
                        <a:t>45</a:t>
                      </a:r>
                      <a:endParaRPr sz="18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800">
                          <a:latin typeface="Times"/>
                          <a:ea typeface="Times"/>
                          <a:cs typeface="Times"/>
                          <a:sym typeface="Times"/>
                        </a:rPr>
                        <a:t>∞</a:t>
                      </a:r>
                      <a:endParaRPr sz="1800">
                        <a:latin typeface="Times"/>
                        <a:ea typeface="Times"/>
                        <a:cs typeface="Times"/>
                        <a:sym typeface="Times"/>
                      </a:endParaRPr>
                    </a:p>
                  </a:txBody>
                  <a:tcPr marT="91425" marB="91425" marR="91425" marL="91425" anchor="ctr"/>
                </a:tc>
              </a:tr>
              <a:tr h="528750">
                <a:tc>
                  <a:txBody>
                    <a:bodyPr/>
                    <a:lstStyle/>
                    <a:p>
                      <a:pPr indent="0" lvl="0" marL="0" rtl="0" algn="ctr">
                        <a:spcBef>
                          <a:spcPts val="0"/>
                        </a:spcBef>
                        <a:spcAft>
                          <a:spcPts val="0"/>
                        </a:spcAft>
                        <a:buNone/>
                      </a:pPr>
                      <a:r>
                        <a:rPr lang="en-GB" sz="1800">
                          <a:latin typeface="Times"/>
                          <a:ea typeface="Times"/>
                          <a:cs typeface="Times"/>
                          <a:sym typeface="Times"/>
                        </a:rPr>
                        <a:t>d</a:t>
                      </a:r>
                      <a:endParaRPr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800">
                          <a:latin typeface="Times"/>
                          <a:ea typeface="Times"/>
                          <a:cs typeface="Times"/>
                          <a:sym typeface="Times"/>
                        </a:rPr>
                        <a:t>10</a:t>
                      </a:r>
                      <a:endParaRPr b="1"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lang="en-GB" sz="1800">
                          <a:latin typeface="Times"/>
                          <a:ea typeface="Times"/>
                          <a:cs typeface="Times"/>
                          <a:sym typeface="Times"/>
                        </a:rPr>
                        <a:t>50</a:t>
                      </a:r>
                      <a:endParaRPr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800">
                          <a:latin typeface="Times"/>
                          <a:ea typeface="Times"/>
                          <a:cs typeface="Times"/>
                          <a:sym typeface="Times"/>
                        </a:rPr>
                        <a:t>25</a:t>
                      </a:r>
                      <a:endParaRPr b="1" sz="18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800">
                          <a:latin typeface="Times"/>
                          <a:ea typeface="Times"/>
                          <a:cs typeface="Times"/>
                          <a:sym typeface="Times"/>
                        </a:rPr>
                        <a:t>45</a:t>
                      </a:r>
                      <a:endParaRPr sz="18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800">
                          <a:latin typeface="Times"/>
                          <a:ea typeface="Times"/>
                          <a:cs typeface="Times"/>
                          <a:sym typeface="Times"/>
                        </a:rPr>
                        <a:t>∞</a:t>
                      </a:r>
                      <a:endParaRPr sz="1800">
                        <a:latin typeface="Times"/>
                        <a:ea typeface="Times"/>
                        <a:cs typeface="Times"/>
                        <a:sym typeface="Times"/>
                      </a:endParaRPr>
                    </a:p>
                  </a:txBody>
                  <a:tcPr marT="91425" marB="91425" marR="91425" marL="91425" anchor="ctr"/>
                </a:tc>
              </a:tr>
              <a:tr h="528750">
                <a:tc>
                  <a:txBody>
                    <a:bodyPr/>
                    <a:lstStyle/>
                    <a:p>
                      <a:pPr indent="0" lvl="0" marL="0" rtl="0" algn="ctr">
                        <a:spcBef>
                          <a:spcPts val="0"/>
                        </a:spcBef>
                        <a:spcAft>
                          <a:spcPts val="0"/>
                        </a:spcAft>
                        <a:buNone/>
                      </a:pPr>
                      <a:r>
                        <a:rPr lang="en-GB" sz="1800">
                          <a:latin typeface="Times"/>
                          <a:ea typeface="Times"/>
                          <a:cs typeface="Times"/>
                          <a:sym typeface="Times"/>
                        </a:rPr>
                        <a:t>c</a:t>
                      </a:r>
                      <a:endParaRPr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800">
                          <a:latin typeface="Times"/>
                          <a:ea typeface="Times"/>
                          <a:cs typeface="Times"/>
                          <a:sym typeface="Times"/>
                        </a:rPr>
                        <a:t>10</a:t>
                      </a:r>
                      <a:endParaRPr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800">
                          <a:latin typeface="Times"/>
                          <a:ea typeface="Times"/>
                          <a:cs typeface="Times"/>
                          <a:sym typeface="Times"/>
                        </a:rPr>
                        <a:t>45</a:t>
                      </a:r>
                      <a:endParaRPr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800">
                          <a:latin typeface="Times"/>
                          <a:ea typeface="Times"/>
                          <a:cs typeface="Times"/>
                          <a:sym typeface="Times"/>
                        </a:rPr>
                        <a:t>25</a:t>
                      </a:r>
                      <a:endParaRPr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lang="en-GB" sz="1800">
                          <a:latin typeface="Times"/>
                          <a:ea typeface="Times"/>
                          <a:cs typeface="Times"/>
                          <a:sym typeface="Times"/>
                        </a:rPr>
                        <a:t>45</a:t>
                      </a:r>
                      <a:endParaRPr sz="18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800">
                          <a:latin typeface="Times"/>
                          <a:ea typeface="Times"/>
                          <a:cs typeface="Times"/>
                          <a:sym typeface="Times"/>
                        </a:rPr>
                        <a:t>∞</a:t>
                      </a:r>
                      <a:endParaRPr sz="1800">
                        <a:latin typeface="Times"/>
                        <a:ea typeface="Times"/>
                        <a:cs typeface="Times"/>
                        <a:sym typeface="Times"/>
                      </a:endParaRPr>
                    </a:p>
                  </a:txBody>
                  <a:tcPr marT="91425" marB="91425" marR="91425" marL="91425" anchor="ctr"/>
                </a:tc>
              </a:tr>
              <a:tr h="528750">
                <a:tc>
                  <a:txBody>
                    <a:bodyPr/>
                    <a:lstStyle/>
                    <a:p>
                      <a:pPr indent="0" lvl="0" marL="0" rtl="0" algn="ctr">
                        <a:spcBef>
                          <a:spcPts val="0"/>
                        </a:spcBef>
                        <a:spcAft>
                          <a:spcPts val="0"/>
                        </a:spcAft>
                        <a:buNone/>
                      </a:pPr>
                      <a:r>
                        <a:rPr lang="en-GB" sz="1800">
                          <a:latin typeface="Times"/>
                          <a:ea typeface="Times"/>
                          <a:cs typeface="Times"/>
                          <a:sym typeface="Times"/>
                        </a:rPr>
                        <a:t>e</a:t>
                      </a:r>
                      <a:endParaRPr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800">
                          <a:latin typeface="Times"/>
                          <a:ea typeface="Times"/>
                          <a:cs typeface="Times"/>
                          <a:sym typeface="Times"/>
                        </a:rPr>
                        <a:t>10</a:t>
                      </a:r>
                      <a:endParaRPr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800">
                          <a:latin typeface="Times"/>
                          <a:ea typeface="Times"/>
                          <a:cs typeface="Times"/>
                          <a:sym typeface="Times"/>
                        </a:rPr>
                        <a:t>45</a:t>
                      </a:r>
                      <a:endParaRPr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800">
                          <a:latin typeface="Times"/>
                          <a:ea typeface="Times"/>
                          <a:cs typeface="Times"/>
                          <a:sym typeface="Times"/>
                        </a:rPr>
                        <a:t>25</a:t>
                      </a:r>
                      <a:endParaRPr b="1"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800">
                          <a:latin typeface="Times"/>
                          <a:ea typeface="Times"/>
                          <a:cs typeface="Times"/>
                          <a:sym typeface="Times"/>
                        </a:rPr>
                        <a:t>45</a:t>
                      </a:r>
                      <a:endParaRPr b="1" sz="18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800">
                          <a:latin typeface="Times"/>
                          <a:ea typeface="Times"/>
                          <a:cs typeface="Times"/>
                          <a:sym typeface="Times"/>
                        </a:rPr>
                        <a:t>∞</a:t>
                      </a:r>
                      <a:endParaRPr sz="1800">
                        <a:latin typeface="Times"/>
                        <a:ea typeface="Times"/>
                        <a:cs typeface="Times"/>
                        <a:sym typeface="Times"/>
                      </a:endParaRPr>
                    </a:p>
                  </a:txBody>
                  <a:tcPr marT="91425" marB="91425" marR="91425" marL="91425" anchor="ctr"/>
                </a:tc>
              </a:tr>
              <a:tr h="438400">
                <a:tc>
                  <a:txBody>
                    <a:bodyPr/>
                    <a:lstStyle/>
                    <a:p>
                      <a:pPr indent="0" lvl="0" marL="0" rtl="0" algn="ctr">
                        <a:spcBef>
                          <a:spcPts val="0"/>
                        </a:spcBef>
                        <a:spcAft>
                          <a:spcPts val="0"/>
                        </a:spcAft>
                        <a:buNone/>
                      </a:pPr>
                      <a:r>
                        <a:rPr lang="en-GB" sz="1800">
                          <a:latin typeface="Times"/>
                          <a:ea typeface="Times"/>
                          <a:cs typeface="Times"/>
                          <a:sym typeface="Times"/>
                        </a:rPr>
                        <a:t>f</a:t>
                      </a:r>
                      <a:endParaRPr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800">
                          <a:latin typeface="Times"/>
                          <a:ea typeface="Times"/>
                          <a:cs typeface="Times"/>
                          <a:sym typeface="Times"/>
                        </a:rPr>
                        <a:t>10</a:t>
                      </a:r>
                      <a:endParaRPr b="1"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800">
                          <a:latin typeface="Times"/>
                          <a:ea typeface="Times"/>
                          <a:cs typeface="Times"/>
                          <a:sym typeface="Times"/>
                        </a:rPr>
                        <a:t>45</a:t>
                      </a:r>
                      <a:endParaRPr b="1"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800">
                          <a:latin typeface="Times"/>
                          <a:ea typeface="Times"/>
                          <a:cs typeface="Times"/>
                          <a:sym typeface="Times"/>
                        </a:rPr>
                        <a:t>25</a:t>
                      </a:r>
                      <a:endParaRPr b="1" sz="18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GB" sz="1800">
                          <a:latin typeface="Times"/>
                          <a:ea typeface="Times"/>
                          <a:cs typeface="Times"/>
                          <a:sym typeface="Times"/>
                        </a:rPr>
                        <a:t>45</a:t>
                      </a:r>
                      <a:endParaRPr b="1" sz="1800">
                        <a:latin typeface="Times"/>
                        <a:ea typeface="Times"/>
                        <a:cs typeface="Times"/>
                        <a:sym typeface="Times"/>
                      </a:endParaRPr>
                    </a:p>
                  </a:txBody>
                  <a:tcPr marT="91425" marB="91425" marR="91425" marL="91425" anchor="ctr"/>
                </a:tc>
                <a:tc>
                  <a:txBody>
                    <a:bodyPr/>
                    <a:lstStyle/>
                    <a:p>
                      <a:pPr indent="0" lvl="0" marL="0" rtl="0" algn="ctr">
                        <a:lnSpc>
                          <a:spcPct val="115000"/>
                        </a:lnSpc>
                        <a:spcBef>
                          <a:spcPts val="900"/>
                        </a:spcBef>
                        <a:spcAft>
                          <a:spcPts val="900"/>
                        </a:spcAft>
                        <a:buNone/>
                      </a:pPr>
                      <a:r>
                        <a:rPr lang="en-GB" sz="1800">
                          <a:latin typeface="Times"/>
                          <a:ea typeface="Times"/>
                          <a:cs typeface="Times"/>
                          <a:sym typeface="Times"/>
                        </a:rPr>
                        <a:t>∞</a:t>
                      </a:r>
                      <a:endParaRPr b="1" sz="1800">
                        <a:latin typeface="Times"/>
                        <a:ea typeface="Times"/>
                        <a:cs typeface="Times"/>
                        <a:sym typeface="Times"/>
                      </a:endParaRPr>
                    </a:p>
                  </a:txBody>
                  <a:tcPr marT="91425" marB="91425" marR="91425" marL="91425" anchor="ctr"/>
                </a:tc>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1262" name="Shape 1262"/>
        <p:cNvGrpSpPr/>
        <p:nvPr/>
      </p:nvGrpSpPr>
      <p:grpSpPr>
        <a:xfrm>
          <a:off x="0" y="0"/>
          <a:ext cx="0" cy="0"/>
          <a:chOff x="0" y="0"/>
          <a:chExt cx="0" cy="0"/>
        </a:xfrm>
      </p:grpSpPr>
      <p:sp>
        <p:nvSpPr>
          <p:cNvPr id="1263" name="Google Shape;1263;p84"/>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264" name="Google Shape;1264;p84"/>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65" name="Google Shape;1265;p84"/>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266" name="Google Shape;1266;p84"/>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4000">
                <a:solidFill>
                  <a:srgbClr val="2B2C30"/>
                </a:solidFill>
              </a:rPr>
              <a:t>Dijkstra’s Algorithm</a:t>
            </a:r>
            <a:endParaRPr sz="4800"/>
          </a:p>
        </p:txBody>
      </p:sp>
      <p:cxnSp>
        <p:nvCxnSpPr>
          <p:cNvPr id="1267" name="Google Shape;1267;p84"/>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1268" name="Google Shape;1268;p84"/>
          <p:cNvSpPr/>
          <p:nvPr/>
        </p:nvSpPr>
        <p:spPr>
          <a:xfrm>
            <a:off x="1001924" y="3472695"/>
            <a:ext cx="909300" cy="894600"/>
          </a:xfrm>
          <a:prstGeom prst="ellipse">
            <a:avLst/>
          </a:prstGeom>
          <a:solidFill>
            <a:srgbClr val="E9EDEE"/>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C</a:t>
            </a:r>
            <a:endParaRPr b="1" sz="2000">
              <a:latin typeface="Times"/>
              <a:ea typeface="Times"/>
              <a:cs typeface="Times"/>
              <a:sym typeface="Times"/>
            </a:endParaRPr>
          </a:p>
        </p:txBody>
      </p:sp>
      <p:sp>
        <p:nvSpPr>
          <p:cNvPr id="1269" name="Google Shape;1269;p84"/>
          <p:cNvSpPr/>
          <p:nvPr/>
        </p:nvSpPr>
        <p:spPr>
          <a:xfrm>
            <a:off x="4279051" y="3472695"/>
            <a:ext cx="909300" cy="894600"/>
          </a:xfrm>
          <a:prstGeom prst="ellipse">
            <a:avLst/>
          </a:prstGeom>
          <a:solidFill>
            <a:srgbClr val="E9EDEE"/>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D</a:t>
            </a:r>
            <a:endParaRPr b="1" sz="2000">
              <a:latin typeface="Times"/>
              <a:ea typeface="Times"/>
              <a:cs typeface="Times"/>
              <a:sym typeface="Times"/>
            </a:endParaRPr>
          </a:p>
        </p:txBody>
      </p:sp>
      <p:sp>
        <p:nvSpPr>
          <p:cNvPr id="1270" name="Google Shape;1270;p84"/>
          <p:cNvSpPr/>
          <p:nvPr/>
        </p:nvSpPr>
        <p:spPr>
          <a:xfrm>
            <a:off x="1001924" y="1321490"/>
            <a:ext cx="909300" cy="894600"/>
          </a:xfrm>
          <a:prstGeom prst="ellipse">
            <a:avLst/>
          </a:prstGeom>
          <a:solidFill>
            <a:srgbClr val="E9EDEE"/>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A</a:t>
            </a:r>
            <a:endParaRPr b="1" sz="2000">
              <a:latin typeface="Times"/>
              <a:ea typeface="Times"/>
              <a:cs typeface="Times"/>
              <a:sym typeface="Times"/>
            </a:endParaRPr>
          </a:p>
        </p:txBody>
      </p:sp>
      <p:sp>
        <p:nvSpPr>
          <p:cNvPr id="1271" name="Google Shape;1271;p84"/>
          <p:cNvSpPr/>
          <p:nvPr/>
        </p:nvSpPr>
        <p:spPr>
          <a:xfrm>
            <a:off x="4279051" y="1321490"/>
            <a:ext cx="909300" cy="894600"/>
          </a:xfrm>
          <a:prstGeom prst="ellipse">
            <a:avLst/>
          </a:prstGeom>
          <a:solidFill>
            <a:srgbClr val="E9EDEE"/>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B</a:t>
            </a:r>
            <a:endParaRPr b="1" sz="2000">
              <a:latin typeface="Times"/>
              <a:ea typeface="Times"/>
              <a:cs typeface="Times"/>
              <a:sym typeface="Times"/>
            </a:endParaRPr>
          </a:p>
        </p:txBody>
      </p:sp>
      <p:cxnSp>
        <p:nvCxnSpPr>
          <p:cNvPr id="1272" name="Google Shape;1272;p84"/>
          <p:cNvCxnSpPr>
            <a:endCxn id="1271" idx="2"/>
          </p:cNvCxnSpPr>
          <p:nvPr/>
        </p:nvCxnSpPr>
        <p:spPr>
          <a:xfrm>
            <a:off x="1911151" y="1768790"/>
            <a:ext cx="2367900" cy="0"/>
          </a:xfrm>
          <a:prstGeom prst="straightConnector1">
            <a:avLst/>
          </a:prstGeom>
          <a:noFill/>
          <a:ln cap="flat" cmpd="sng" w="28575">
            <a:solidFill>
              <a:srgbClr val="000000"/>
            </a:solidFill>
            <a:prstDash val="solid"/>
            <a:round/>
            <a:headEnd len="med" w="med" type="none"/>
            <a:tailEnd len="med" w="med" type="triangle"/>
          </a:ln>
        </p:spPr>
      </p:cxnSp>
      <p:cxnSp>
        <p:nvCxnSpPr>
          <p:cNvPr id="1273" name="Google Shape;1273;p84"/>
          <p:cNvCxnSpPr>
            <a:stCxn id="1270" idx="4"/>
            <a:endCxn id="1268" idx="0"/>
          </p:cNvCxnSpPr>
          <p:nvPr/>
        </p:nvCxnSpPr>
        <p:spPr>
          <a:xfrm>
            <a:off x="1456574" y="2216090"/>
            <a:ext cx="0" cy="1256700"/>
          </a:xfrm>
          <a:prstGeom prst="straightConnector1">
            <a:avLst/>
          </a:prstGeom>
          <a:noFill/>
          <a:ln cap="flat" cmpd="sng" w="28575">
            <a:solidFill>
              <a:srgbClr val="000000"/>
            </a:solidFill>
            <a:prstDash val="solid"/>
            <a:round/>
            <a:headEnd len="med" w="med" type="none"/>
            <a:tailEnd len="med" w="med" type="triangle"/>
          </a:ln>
        </p:spPr>
      </p:cxnSp>
      <p:cxnSp>
        <p:nvCxnSpPr>
          <p:cNvPr id="1274" name="Google Shape;1274;p84"/>
          <p:cNvCxnSpPr>
            <a:endCxn id="1269" idx="2"/>
          </p:cNvCxnSpPr>
          <p:nvPr/>
        </p:nvCxnSpPr>
        <p:spPr>
          <a:xfrm>
            <a:off x="1911151" y="3919995"/>
            <a:ext cx="2367900" cy="0"/>
          </a:xfrm>
          <a:prstGeom prst="straightConnector1">
            <a:avLst/>
          </a:prstGeom>
          <a:noFill/>
          <a:ln cap="flat" cmpd="sng" w="28575">
            <a:solidFill>
              <a:schemeClr val="dk2"/>
            </a:solidFill>
            <a:prstDash val="solid"/>
            <a:round/>
            <a:headEnd len="med" w="med" type="none"/>
            <a:tailEnd len="med" w="med" type="triangle"/>
          </a:ln>
        </p:spPr>
      </p:cxnSp>
      <p:cxnSp>
        <p:nvCxnSpPr>
          <p:cNvPr id="1275" name="Google Shape;1275;p84"/>
          <p:cNvCxnSpPr>
            <a:stCxn id="1269" idx="0"/>
            <a:endCxn id="1271" idx="4"/>
          </p:cNvCxnSpPr>
          <p:nvPr/>
        </p:nvCxnSpPr>
        <p:spPr>
          <a:xfrm rot="10800000">
            <a:off x="4733701" y="2215995"/>
            <a:ext cx="0" cy="1256700"/>
          </a:xfrm>
          <a:prstGeom prst="straightConnector1">
            <a:avLst/>
          </a:prstGeom>
          <a:noFill/>
          <a:ln cap="flat" cmpd="sng" w="28575">
            <a:solidFill>
              <a:srgbClr val="000000"/>
            </a:solidFill>
            <a:prstDash val="solid"/>
            <a:round/>
            <a:headEnd len="med" w="med" type="none"/>
            <a:tailEnd len="med" w="med" type="triangle"/>
          </a:ln>
        </p:spPr>
      </p:cxnSp>
      <p:sp>
        <p:nvSpPr>
          <p:cNvPr id="1276" name="Google Shape;1276;p84"/>
          <p:cNvSpPr txBox="1"/>
          <p:nvPr/>
        </p:nvSpPr>
        <p:spPr>
          <a:xfrm>
            <a:off x="2840100" y="1276825"/>
            <a:ext cx="4746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6</a:t>
            </a:r>
            <a:endParaRPr sz="2000">
              <a:latin typeface="Times"/>
              <a:ea typeface="Times"/>
              <a:cs typeface="Times"/>
              <a:sym typeface="Times"/>
            </a:endParaRPr>
          </a:p>
        </p:txBody>
      </p:sp>
      <p:sp>
        <p:nvSpPr>
          <p:cNvPr id="1277" name="Google Shape;1277;p84"/>
          <p:cNvSpPr txBox="1"/>
          <p:nvPr/>
        </p:nvSpPr>
        <p:spPr>
          <a:xfrm>
            <a:off x="2857761" y="3328658"/>
            <a:ext cx="474600" cy="4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4</a:t>
            </a:r>
            <a:endParaRPr sz="2000">
              <a:latin typeface="Times"/>
              <a:ea typeface="Times"/>
              <a:cs typeface="Times"/>
              <a:sym typeface="Times"/>
            </a:endParaRPr>
          </a:p>
        </p:txBody>
      </p:sp>
      <p:sp>
        <p:nvSpPr>
          <p:cNvPr id="1278" name="Google Shape;1278;p84"/>
          <p:cNvSpPr txBox="1"/>
          <p:nvPr/>
        </p:nvSpPr>
        <p:spPr>
          <a:xfrm>
            <a:off x="4170290" y="2600223"/>
            <a:ext cx="474600" cy="4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5</a:t>
            </a:r>
            <a:endParaRPr sz="2000">
              <a:latin typeface="Times"/>
              <a:ea typeface="Times"/>
              <a:cs typeface="Times"/>
              <a:sym typeface="Times"/>
            </a:endParaRPr>
          </a:p>
        </p:txBody>
      </p:sp>
      <p:sp>
        <p:nvSpPr>
          <p:cNvPr id="1279" name="Google Shape;1279;p84"/>
          <p:cNvSpPr txBox="1"/>
          <p:nvPr/>
        </p:nvSpPr>
        <p:spPr>
          <a:xfrm>
            <a:off x="903150" y="2479698"/>
            <a:ext cx="474600" cy="4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a:ea typeface="Times"/>
                <a:cs typeface="Times"/>
                <a:sym typeface="Times"/>
              </a:rPr>
              <a:t>4</a:t>
            </a:r>
            <a:endParaRPr sz="2000">
              <a:latin typeface="Times"/>
              <a:ea typeface="Times"/>
              <a:cs typeface="Times"/>
              <a:sym typeface="Times"/>
            </a:endParaRPr>
          </a:p>
        </p:txBody>
      </p:sp>
      <p:sp>
        <p:nvSpPr>
          <p:cNvPr id="1280" name="Google Shape;1280;p84"/>
          <p:cNvSpPr txBox="1"/>
          <p:nvPr/>
        </p:nvSpPr>
        <p:spPr>
          <a:xfrm>
            <a:off x="5339775" y="1676424"/>
            <a:ext cx="3521100" cy="204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900"/>
              </a:spcBef>
              <a:spcAft>
                <a:spcPts val="0"/>
              </a:spcAft>
              <a:buNone/>
            </a:pPr>
            <a:r>
              <a:rPr lang="en-GB" sz="1800">
                <a:latin typeface="Times"/>
                <a:ea typeface="Times"/>
                <a:cs typeface="Times"/>
                <a:sym typeface="Times"/>
              </a:rPr>
              <a:t>RELAX(u, v, w)</a:t>
            </a:r>
            <a:endParaRPr sz="1800">
              <a:latin typeface="Times"/>
              <a:ea typeface="Times"/>
              <a:cs typeface="Times"/>
              <a:sym typeface="Times"/>
            </a:endParaRPr>
          </a:p>
          <a:p>
            <a:pPr indent="0" lvl="0" marL="457200" rtl="0" algn="l">
              <a:lnSpc>
                <a:spcPct val="100000"/>
              </a:lnSpc>
              <a:spcBef>
                <a:spcPts val="900"/>
              </a:spcBef>
              <a:spcAft>
                <a:spcPts val="0"/>
              </a:spcAft>
              <a:buNone/>
            </a:pPr>
            <a:r>
              <a:rPr lang="en-GB" sz="1800">
                <a:latin typeface="Times"/>
                <a:ea typeface="Times"/>
                <a:cs typeface="Times"/>
                <a:sym typeface="Times"/>
              </a:rPr>
              <a:t>if d[v] &gt; d[u] + w(u, v)</a:t>
            </a:r>
            <a:endParaRPr sz="1800">
              <a:latin typeface="Times"/>
              <a:ea typeface="Times"/>
              <a:cs typeface="Times"/>
              <a:sym typeface="Times"/>
            </a:endParaRPr>
          </a:p>
          <a:p>
            <a:pPr indent="0" lvl="0" marL="914400" rtl="0" algn="l">
              <a:lnSpc>
                <a:spcPct val="100000"/>
              </a:lnSpc>
              <a:spcBef>
                <a:spcPts val="900"/>
              </a:spcBef>
              <a:spcAft>
                <a:spcPts val="900"/>
              </a:spcAft>
              <a:buNone/>
            </a:pPr>
            <a:r>
              <a:rPr lang="en-GB" sz="1800">
                <a:latin typeface="Times"/>
                <a:ea typeface="Times"/>
                <a:cs typeface="Times"/>
                <a:sym typeface="Times"/>
              </a:rPr>
              <a:t>then d[v] = d[u] + w(u, v)</a:t>
            </a:r>
            <a:endParaRPr sz="1800">
              <a:solidFill>
                <a:schemeClr val="accent1"/>
              </a:solidFill>
              <a:latin typeface="Times"/>
              <a:ea typeface="Times"/>
              <a:cs typeface="Times"/>
              <a:sym typeface="Times"/>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1284" name="Shape 1284"/>
        <p:cNvGrpSpPr/>
        <p:nvPr/>
      </p:nvGrpSpPr>
      <p:grpSpPr>
        <a:xfrm>
          <a:off x="0" y="0"/>
          <a:ext cx="0" cy="0"/>
          <a:chOff x="0" y="0"/>
          <a:chExt cx="0" cy="0"/>
        </a:xfrm>
      </p:grpSpPr>
      <p:sp>
        <p:nvSpPr>
          <p:cNvPr id="1285" name="Google Shape;1285;p85"/>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286" name="Google Shape;1286;p85"/>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87" name="Google Shape;1287;p85"/>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288" name="Google Shape;1288;p85"/>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4000">
                <a:solidFill>
                  <a:srgbClr val="2B2C30"/>
                </a:solidFill>
              </a:rPr>
              <a:t>Shortest Path Problem</a:t>
            </a:r>
            <a:endParaRPr sz="4800"/>
          </a:p>
        </p:txBody>
      </p:sp>
      <p:cxnSp>
        <p:nvCxnSpPr>
          <p:cNvPr id="1289" name="Google Shape;1289;p85"/>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1290" name="Google Shape;1290;p85"/>
          <p:cNvSpPr txBox="1"/>
          <p:nvPr/>
        </p:nvSpPr>
        <p:spPr>
          <a:xfrm>
            <a:off x="553925" y="906400"/>
            <a:ext cx="8196600" cy="1806900"/>
          </a:xfrm>
          <a:prstGeom prst="rect">
            <a:avLst/>
          </a:prstGeom>
          <a:noFill/>
          <a:ln>
            <a:noFill/>
          </a:ln>
        </p:spPr>
        <p:txBody>
          <a:bodyPr anchorCtr="0" anchor="t" bIns="91425" lIns="91425" spcFirstLastPara="1" rIns="91425" wrap="square" tIns="91425">
            <a:noAutofit/>
          </a:bodyPr>
          <a:lstStyle/>
          <a:p>
            <a:pPr indent="-355600" lvl="0" marL="360001" rtl="0" algn="l">
              <a:lnSpc>
                <a:spcPct val="115000"/>
              </a:lnSpc>
              <a:spcBef>
                <a:spcPts val="900"/>
              </a:spcBef>
              <a:spcAft>
                <a:spcPts val="0"/>
              </a:spcAft>
              <a:buSzPts val="2000"/>
              <a:buFont typeface="Times"/>
              <a:buChar char="➔"/>
            </a:pPr>
            <a:r>
              <a:rPr lang="en-GB" sz="2000">
                <a:latin typeface="Times"/>
                <a:ea typeface="Times"/>
                <a:cs typeface="Times"/>
                <a:sym typeface="Times"/>
              </a:rPr>
              <a:t>Given a directed weighted graph G = (v, e,w) and two vertices x and y, find the least-cost path from x to y in G</a:t>
            </a:r>
            <a:endParaRPr sz="2000">
              <a:latin typeface="Times"/>
              <a:ea typeface="Times"/>
              <a:cs typeface="Times"/>
              <a:sym typeface="Times"/>
            </a:endParaRPr>
          </a:p>
          <a:p>
            <a:pPr indent="-355600" lvl="0" marL="360001" rtl="0" algn="l">
              <a:lnSpc>
                <a:spcPct val="115000"/>
              </a:lnSpc>
              <a:spcBef>
                <a:spcPts val="0"/>
              </a:spcBef>
              <a:spcAft>
                <a:spcPts val="0"/>
              </a:spcAft>
              <a:buSzPts val="2000"/>
              <a:buFont typeface="Times"/>
              <a:buChar char="➔"/>
            </a:pPr>
            <a:r>
              <a:rPr lang="en-GB" sz="2000">
                <a:latin typeface="Times"/>
                <a:ea typeface="Times"/>
                <a:cs typeface="Times"/>
                <a:sym typeface="Times"/>
              </a:rPr>
              <a:t>The task is to find a path P that minimizes the function:</a:t>
            </a:r>
            <a:endParaRPr sz="2000">
              <a:latin typeface="Times"/>
              <a:ea typeface="Times"/>
              <a:cs typeface="Times"/>
              <a:sym typeface="Times"/>
            </a:endParaRPr>
          </a:p>
          <a:p>
            <a:pPr indent="0" lvl="0" marL="914400" rtl="0" algn="l">
              <a:lnSpc>
                <a:spcPct val="115000"/>
              </a:lnSpc>
              <a:spcBef>
                <a:spcPts val="900"/>
              </a:spcBef>
              <a:spcAft>
                <a:spcPts val="0"/>
              </a:spcAft>
              <a:buNone/>
            </a:pPr>
            <a:r>
              <a:rPr lang="en-GB" sz="2000">
                <a:latin typeface="Times"/>
                <a:ea typeface="Times"/>
                <a:cs typeface="Times"/>
                <a:sym typeface="Times"/>
              </a:rPr>
              <a:t>𝑤(P) =   u</a:t>
            </a:r>
            <a:r>
              <a:rPr lang="en-GB" sz="1900">
                <a:latin typeface="Times"/>
                <a:ea typeface="Times"/>
                <a:cs typeface="Times"/>
                <a:sym typeface="Times"/>
              </a:rPr>
              <a:t>∑</a:t>
            </a:r>
            <a:r>
              <a:rPr baseline="-25000" lang="en-GB" sz="1900">
                <a:latin typeface="Times"/>
                <a:ea typeface="Times"/>
                <a:cs typeface="Times"/>
                <a:sym typeface="Times"/>
              </a:rPr>
              <a:t>u</a:t>
            </a:r>
            <a:r>
              <a:rPr baseline="-25000" lang="en-GB" sz="2000">
                <a:latin typeface="Times"/>
                <a:ea typeface="Times"/>
                <a:cs typeface="Times"/>
                <a:sym typeface="Times"/>
              </a:rPr>
              <a:t>→v</a:t>
            </a:r>
            <a:r>
              <a:rPr baseline="-25000" lang="en-GB" sz="1450">
                <a:latin typeface="Times New Roman"/>
                <a:ea typeface="Times New Roman"/>
                <a:cs typeface="Times New Roman"/>
                <a:sym typeface="Times New Roman"/>
              </a:rPr>
              <a:t>∈P</a:t>
            </a:r>
            <a:r>
              <a:rPr lang="en-GB" sz="2000">
                <a:latin typeface="Times"/>
                <a:ea typeface="Times"/>
                <a:cs typeface="Times"/>
                <a:sym typeface="Times"/>
              </a:rPr>
              <a:t>𝑤(𝑢→P)</a:t>
            </a:r>
            <a:endParaRPr sz="2000">
              <a:latin typeface="Times"/>
              <a:ea typeface="Times"/>
              <a:cs typeface="Times"/>
              <a:sym typeface="Times"/>
            </a:endParaRPr>
          </a:p>
          <a:p>
            <a:pPr indent="0" lvl="0" marL="0" rtl="0" algn="l">
              <a:lnSpc>
                <a:spcPct val="115000"/>
              </a:lnSpc>
              <a:spcBef>
                <a:spcPts val="900"/>
              </a:spcBef>
              <a:spcAft>
                <a:spcPts val="900"/>
              </a:spcAft>
              <a:buNone/>
            </a:pPr>
            <a:r>
              <a:t/>
            </a:r>
            <a:endParaRPr sz="2000">
              <a:latin typeface="Times"/>
              <a:ea typeface="Times"/>
              <a:cs typeface="Times"/>
              <a:sym typeface="Times"/>
            </a:endParaRPr>
          </a:p>
        </p:txBody>
      </p:sp>
      <p:sp>
        <p:nvSpPr>
          <p:cNvPr id="1291" name="Google Shape;1291;p85"/>
          <p:cNvSpPr/>
          <p:nvPr/>
        </p:nvSpPr>
        <p:spPr>
          <a:xfrm>
            <a:off x="6790855" y="2308375"/>
            <a:ext cx="644700" cy="6867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a</a:t>
            </a:r>
            <a:endParaRPr b="1" sz="2000">
              <a:latin typeface="Times"/>
              <a:ea typeface="Times"/>
              <a:cs typeface="Times"/>
              <a:sym typeface="Times"/>
            </a:endParaRPr>
          </a:p>
        </p:txBody>
      </p:sp>
      <p:sp>
        <p:nvSpPr>
          <p:cNvPr id="1292" name="Google Shape;1292;p85"/>
          <p:cNvSpPr/>
          <p:nvPr/>
        </p:nvSpPr>
        <p:spPr>
          <a:xfrm>
            <a:off x="6790855" y="4170100"/>
            <a:ext cx="644700" cy="6867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b</a:t>
            </a:r>
            <a:endParaRPr b="1" sz="2000">
              <a:latin typeface="Times"/>
              <a:ea typeface="Times"/>
              <a:cs typeface="Times"/>
              <a:sym typeface="Times"/>
            </a:endParaRPr>
          </a:p>
        </p:txBody>
      </p:sp>
      <p:sp>
        <p:nvSpPr>
          <p:cNvPr id="1293" name="Google Shape;1293;p85"/>
          <p:cNvSpPr/>
          <p:nvPr/>
        </p:nvSpPr>
        <p:spPr>
          <a:xfrm>
            <a:off x="7953350" y="3255241"/>
            <a:ext cx="644700" cy="6867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v</a:t>
            </a:r>
            <a:endParaRPr b="1" sz="2000">
              <a:latin typeface="Times"/>
              <a:ea typeface="Times"/>
              <a:cs typeface="Times"/>
              <a:sym typeface="Times"/>
            </a:endParaRPr>
          </a:p>
        </p:txBody>
      </p:sp>
      <p:sp>
        <p:nvSpPr>
          <p:cNvPr id="1294" name="Google Shape;1294;p85"/>
          <p:cNvSpPr/>
          <p:nvPr/>
        </p:nvSpPr>
        <p:spPr>
          <a:xfrm>
            <a:off x="5628400" y="3255241"/>
            <a:ext cx="644700" cy="686700"/>
          </a:xfrm>
          <a:prstGeom prst="ellipse">
            <a:avLst/>
          </a:prstGeom>
          <a:solidFill>
            <a:srgbClr val="E9EDE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000">
                <a:latin typeface="Times"/>
                <a:ea typeface="Times"/>
                <a:cs typeface="Times"/>
                <a:sym typeface="Times"/>
              </a:rPr>
              <a:t>u</a:t>
            </a:r>
            <a:endParaRPr b="1" sz="2000">
              <a:latin typeface="Times"/>
              <a:ea typeface="Times"/>
              <a:cs typeface="Times"/>
              <a:sym typeface="Times"/>
            </a:endParaRPr>
          </a:p>
        </p:txBody>
      </p:sp>
      <p:cxnSp>
        <p:nvCxnSpPr>
          <p:cNvPr id="1295" name="Google Shape;1295;p85"/>
          <p:cNvCxnSpPr>
            <a:stCxn id="1294" idx="7"/>
            <a:endCxn id="1291" idx="2"/>
          </p:cNvCxnSpPr>
          <p:nvPr/>
        </p:nvCxnSpPr>
        <p:spPr>
          <a:xfrm flipH="1" rot="10800000">
            <a:off x="6178686" y="2651706"/>
            <a:ext cx="612300" cy="704100"/>
          </a:xfrm>
          <a:prstGeom prst="straightConnector1">
            <a:avLst/>
          </a:prstGeom>
          <a:noFill/>
          <a:ln cap="flat" cmpd="sng" w="19050">
            <a:solidFill>
              <a:srgbClr val="000000"/>
            </a:solidFill>
            <a:prstDash val="solid"/>
            <a:round/>
            <a:headEnd len="med" w="med" type="none"/>
            <a:tailEnd len="med" w="med" type="triangle"/>
          </a:ln>
        </p:spPr>
      </p:cxnSp>
      <p:cxnSp>
        <p:nvCxnSpPr>
          <p:cNvPr id="1296" name="Google Shape;1296;p85"/>
          <p:cNvCxnSpPr>
            <a:stCxn id="1294" idx="5"/>
            <a:endCxn id="1292" idx="2"/>
          </p:cNvCxnSpPr>
          <p:nvPr/>
        </p:nvCxnSpPr>
        <p:spPr>
          <a:xfrm>
            <a:off x="6178686" y="3841376"/>
            <a:ext cx="612300" cy="672000"/>
          </a:xfrm>
          <a:prstGeom prst="straightConnector1">
            <a:avLst/>
          </a:prstGeom>
          <a:noFill/>
          <a:ln cap="flat" cmpd="sng" w="19050">
            <a:solidFill>
              <a:srgbClr val="000000"/>
            </a:solidFill>
            <a:prstDash val="solid"/>
            <a:round/>
            <a:headEnd len="med" w="med" type="none"/>
            <a:tailEnd len="med" w="med" type="triangle"/>
          </a:ln>
        </p:spPr>
      </p:cxnSp>
      <p:cxnSp>
        <p:nvCxnSpPr>
          <p:cNvPr id="1297" name="Google Shape;1297;p85"/>
          <p:cNvCxnSpPr>
            <a:stCxn id="1291" idx="6"/>
            <a:endCxn id="1293" idx="1"/>
          </p:cNvCxnSpPr>
          <p:nvPr/>
        </p:nvCxnSpPr>
        <p:spPr>
          <a:xfrm>
            <a:off x="7435555" y="2651725"/>
            <a:ext cx="612300" cy="704100"/>
          </a:xfrm>
          <a:prstGeom prst="straightConnector1">
            <a:avLst/>
          </a:prstGeom>
          <a:noFill/>
          <a:ln cap="flat" cmpd="sng" w="19050">
            <a:solidFill>
              <a:srgbClr val="000000"/>
            </a:solidFill>
            <a:prstDash val="solid"/>
            <a:round/>
            <a:headEnd len="med" w="med" type="none"/>
            <a:tailEnd len="med" w="med" type="triangle"/>
          </a:ln>
        </p:spPr>
      </p:cxnSp>
      <p:cxnSp>
        <p:nvCxnSpPr>
          <p:cNvPr id="1298" name="Google Shape;1298;p85"/>
          <p:cNvCxnSpPr>
            <a:stCxn id="1292" idx="6"/>
            <a:endCxn id="1293" idx="3"/>
          </p:cNvCxnSpPr>
          <p:nvPr/>
        </p:nvCxnSpPr>
        <p:spPr>
          <a:xfrm flipH="1" rot="10800000">
            <a:off x="7435555" y="3841450"/>
            <a:ext cx="612300" cy="672000"/>
          </a:xfrm>
          <a:prstGeom prst="straightConnector1">
            <a:avLst/>
          </a:prstGeom>
          <a:noFill/>
          <a:ln cap="flat" cmpd="sng" w="19050">
            <a:solidFill>
              <a:srgbClr val="000000"/>
            </a:solidFill>
            <a:prstDash val="solid"/>
            <a:round/>
            <a:headEnd len="med" w="med" type="none"/>
            <a:tailEnd len="med" w="med" type="triangle"/>
          </a:ln>
        </p:spPr>
      </p:cxnSp>
      <p:cxnSp>
        <p:nvCxnSpPr>
          <p:cNvPr id="1299" name="Google Shape;1299;p85"/>
          <p:cNvCxnSpPr>
            <a:stCxn id="1291" idx="4"/>
            <a:endCxn id="1292" idx="0"/>
          </p:cNvCxnSpPr>
          <p:nvPr/>
        </p:nvCxnSpPr>
        <p:spPr>
          <a:xfrm>
            <a:off x="7113205" y="2995075"/>
            <a:ext cx="0" cy="1175100"/>
          </a:xfrm>
          <a:prstGeom prst="straightConnector1">
            <a:avLst/>
          </a:prstGeom>
          <a:noFill/>
          <a:ln cap="flat" cmpd="sng" w="19050">
            <a:solidFill>
              <a:srgbClr val="000000"/>
            </a:solidFill>
            <a:prstDash val="solid"/>
            <a:round/>
            <a:headEnd len="med" w="med" type="none"/>
            <a:tailEnd len="med" w="med" type="triangle"/>
          </a:ln>
        </p:spPr>
      </p:cxnSp>
      <p:sp>
        <p:nvSpPr>
          <p:cNvPr id="1300" name="Google Shape;1300;p85"/>
          <p:cNvSpPr txBox="1"/>
          <p:nvPr/>
        </p:nvSpPr>
        <p:spPr>
          <a:xfrm>
            <a:off x="6088801" y="2606400"/>
            <a:ext cx="4965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3</a:t>
            </a:r>
            <a:endParaRPr b="1" sz="1800">
              <a:latin typeface="Times"/>
              <a:ea typeface="Times"/>
              <a:cs typeface="Times"/>
              <a:sym typeface="Times"/>
            </a:endParaRPr>
          </a:p>
        </p:txBody>
      </p:sp>
      <p:sp>
        <p:nvSpPr>
          <p:cNvPr id="1301" name="Google Shape;1301;p85"/>
          <p:cNvSpPr txBox="1"/>
          <p:nvPr/>
        </p:nvSpPr>
        <p:spPr>
          <a:xfrm>
            <a:off x="7678624" y="2545450"/>
            <a:ext cx="714900" cy="49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9</a:t>
            </a:r>
            <a:endParaRPr b="1" sz="1800">
              <a:latin typeface="Times"/>
              <a:ea typeface="Times"/>
              <a:cs typeface="Times"/>
              <a:sym typeface="Times"/>
            </a:endParaRPr>
          </a:p>
        </p:txBody>
      </p:sp>
      <p:sp>
        <p:nvSpPr>
          <p:cNvPr id="1302" name="Google Shape;1302;p85"/>
          <p:cNvSpPr txBox="1"/>
          <p:nvPr/>
        </p:nvSpPr>
        <p:spPr>
          <a:xfrm>
            <a:off x="7748724" y="4085750"/>
            <a:ext cx="644700" cy="4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6</a:t>
            </a:r>
            <a:endParaRPr b="1" sz="1800">
              <a:latin typeface="Times"/>
              <a:ea typeface="Times"/>
              <a:cs typeface="Times"/>
              <a:sym typeface="Times"/>
            </a:endParaRPr>
          </a:p>
        </p:txBody>
      </p:sp>
      <p:sp>
        <p:nvSpPr>
          <p:cNvPr id="1303" name="Google Shape;1303;p85"/>
          <p:cNvSpPr txBox="1"/>
          <p:nvPr/>
        </p:nvSpPr>
        <p:spPr>
          <a:xfrm>
            <a:off x="6018239" y="3983550"/>
            <a:ext cx="567000" cy="4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5</a:t>
            </a:r>
            <a:endParaRPr b="1" sz="1800">
              <a:latin typeface="Times"/>
              <a:ea typeface="Times"/>
              <a:cs typeface="Times"/>
              <a:sym typeface="Times"/>
            </a:endParaRPr>
          </a:p>
        </p:txBody>
      </p:sp>
      <p:sp>
        <p:nvSpPr>
          <p:cNvPr id="1304" name="Google Shape;1304;p85"/>
          <p:cNvSpPr txBox="1"/>
          <p:nvPr/>
        </p:nvSpPr>
        <p:spPr>
          <a:xfrm>
            <a:off x="7113173" y="3355800"/>
            <a:ext cx="405900" cy="38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latin typeface="Times"/>
                <a:ea typeface="Times"/>
                <a:cs typeface="Times"/>
                <a:sym typeface="Times"/>
              </a:rPr>
              <a:t>2</a:t>
            </a:r>
            <a:endParaRPr b="1" sz="1800">
              <a:latin typeface="Times"/>
              <a:ea typeface="Times"/>
              <a:cs typeface="Times"/>
              <a:sym typeface="Times"/>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1308" name="Shape 1308"/>
        <p:cNvGrpSpPr/>
        <p:nvPr/>
      </p:nvGrpSpPr>
      <p:grpSpPr>
        <a:xfrm>
          <a:off x="0" y="0"/>
          <a:ext cx="0" cy="0"/>
          <a:chOff x="0" y="0"/>
          <a:chExt cx="0" cy="0"/>
        </a:xfrm>
      </p:grpSpPr>
      <p:sp>
        <p:nvSpPr>
          <p:cNvPr id="1309" name="Google Shape;1309;p86"/>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310" name="Google Shape;1310;p86"/>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11" name="Google Shape;1311;p86"/>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312" name="Google Shape;1312;p86"/>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4000">
                <a:solidFill>
                  <a:srgbClr val="2B2C30"/>
                </a:solidFill>
              </a:rPr>
              <a:t>Path in Graph</a:t>
            </a:r>
            <a:endParaRPr sz="4800"/>
          </a:p>
        </p:txBody>
      </p:sp>
      <p:cxnSp>
        <p:nvCxnSpPr>
          <p:cNvPr id="1313" name="Google Shape;1313;p86"/>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1314" name="Google Shape;1314;p86"/>
          <p:cNvSpPr txBox="1"/>
          <p:nvPr/>
        </p:nvSpPr>
        <p:spPr>
          <a:xfrm>
            <a:off x="553925" y="906400"/>
            <a:ext cx="8196600" cy="39882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900"/>
              </a:spcBef>
              <a:spcAft>
                <a:spcPts val="0"/>
              </a:spcAft>
              <a:buSzPts val="2000"/>
              <a:buFont typeface="Times"/>
              <a:buChar char="➔"/>
            </a:pPr>
            <a:r>
              <a:t/>
            </a:r>
            <a:endParaRPr sz="2000">
              <a:solidFill>
                <a:schemeClr val="accent1"/>
              </a:solidFill>
              <a:latin typeface="Times"/>
              <a:ea typeface="Times"/>
              <a:cs typeface="Times"/>
              <a:sym typeface="Times"/>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1318" name="Shape 1318"/>
        <p:cNvGrpSpPr/>
        <p:nvPr/>
      </p:nvGrpSpPr>
      <p:grpSpPr>
        <a:xfrm>
          <a:off x="0" y="0"/>
          <a:ext cx="0" cy="0"/>
          <a:chOff x="0" y="0"/>
          <a:chExt cx="0" cy="0"/>
        </a:xfrm>
      </p:grpSpPr>
      <p:sp>
        <p:nvSpPr>
          <p:cNvPr id="1319" name="Google Shape;1319;p87"/>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320" name="Google Shape;1320;p87"/>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21" name="Google Shape;1321;p87"/>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322" name="Google Shape;1322;p87"/>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None/>
            </a:pPr>
            <a:r>
              <a:rPr b="1" lang="en-GB" sz="4000">
                <a:solidFill>
                  <a:srgbClr val="2B2C30"/>
                </a:solidFill>
              </a:rPr>
              <a:t>Path in Graph</a:t>
            </a:r>
            <a:endParaRPr sz="4800"/>
          </a:p>
        </p:txBody>
      </p:sp>
      <p:cxnSp>
        <p:nvCxnSpPr>
          <p:cNvPr id="1323" name="Google Shape;1323;p87"/>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1324" name="Google Shape;1324;p87"/>
          <p:cNvSpPr txBox="1"/>
          <p:nvPr/>
        </p:nvSpPr>
        <p:spPr>
          <a:xfrm>
            <a:off x="553925" y="906400"/>
            <a:ext cx="8196600" cy="39882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900"/>
              </a:spcBef>
              <a:spcAft>
                <a:spcPts val="0"/>
              </a:spcAft>
              <a:buSzPts val="2000"/>
              <a:buFont typeface="Times"/>
              <a:buChar char="➔"/>
            </a:pPr>
            <a:r>
              <a:t/>
            </a:r>
            <a:endParaRPr sz="2000">
              <a:solidFill>
                <a:schemeClr val="accent1"/>
              </a:solidFill>
              <a:latin typeface="Times"/>
              <a:ea typeface="Times"/>
              <a:cs typeface="Times"/>
              <a:sym typeface="Times"/>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EE7"/>
        </a:solidFill>
      </p:bgPr>
    </p:bg>
    <p:spTree>
      <p:nvGrpSpPr>
        <p:cNvPr id="1328" name="Shape 1328"/>
        <p:cNvGrpSpPr/>
        <p:nvPr/>
      </p:nvGrpSpPr>
      <p:grpSpPr>
        <a:xfrm>
          <a:off x="0" y="0"/>
          <a:ext cx="0" cy="0"/>
          <a:chOff x="0" y="0"/>
          <a:chExt cx="0" cy="0"/>
        </a:xfrm>
      </p:grpSpPr>
      <p:sp>
        <p:nvSpPr>
          <p:cNvPr id="1329" name="Google Shape;1329;p88"/>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3">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4">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330" name="Google Shape;1330;p88"/>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31" name="Google Shape;1331;p88"/>
          <p:cNvSpPr txBox="1"/>
          <p:nvPr/>
        </p:nvSpPr>
        <p:spPr>
          <a:xfrm>
            <a:off x="453200" y="4959538"/>
            <a:ext cx="8236800" cy="184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900">
                <a:solidFill>
                  <a:srgbClr val="0563C1"/>
                </a:solidFill>
              </a:rPr>
              <a:t>Er. Baburam Shrestha || +977 9846871406 || </a:t>
            </a:r>
            <a:r>
              <a:rPr lang="en-GB" sz="900">
                <a:solidFill>
                  <a:srgbClr val="1155CC"/>
                </a:solidFill>
                <a:uFill>
                  <a:noFill/>
                </a:uFill>
                <a:hlinkClick r:id="rId5">
                  <a:extLst>
                    <a:ext uri="{A12FA001-AC4F-418D-AE19-62706E023703}">
                      <ahyp:hlinkClr val="tx"/>
                    </a:ext>
                  </a:extLst>
                </a:hlinkClick>
              </a:rPr>
              <a:t>Gmail</a:t>
            </a:r>
            <a:r>
              <a:rPr lang="en-GB" sz="900">
                <a:solidFill>
                  <a:srgbClr val="0563C1"/>
                </a:solidFill>
              </a:rPr>
              <a:t> || </a:t>
            </a:r>
            <a:r>
              <a:rPr lang="en-GB" sz="900">
                <a:solidFill>
                  <a:srgbClr val="0563C1"/>
                </a:solidFill>
                <a:uFill>
                  <a:noFill/>
                </a:uFill>
                <a:hlinkClick r:id="rId6">
                  <a:extLst>
                    <a:ext uri="{A12FA001-AC4F-418D-AE19-62706E023703}">
                      <ahyp:hlinkClr val="tx"/>
                    </a:ext>
                  </a:extLst>
                </a:hlinkClick>
              </a:rPr>
              <a:t>Linkedin</a:t>
            </a:r>
            <a:r>
              <a:rPr b="1" lang="en-GB" sz="900">
                <a:solidFill>
                  <a:srgbClr val="2B2C30"/>
                </a:solidFill>
              </a:rPr>
              <a:t> </a:t>
            </a:r>
            <a:endParaRPr b="1" sz="900">
              <a:solidFill>
                <a:srgbClr val="2B2C30"/>
              </a:solidFill>
            </a:endParaRPr>
          </a:p>
        </p:txBody>
      </p:sp>
      <p:sp>
        <p:nvSpPr>
          <p:cNvPr id="1332" name="Google Shape;1332;p88"/>
          <p:cNvSpPr txBox="1"/>
          <p:nvPr/>
        </p:nvSpPr>
        <p:spPr>
          <a:xfrm>
            <a:off x="548725" y="197950"/>
            <a:ext cx="8357100" cy="588900"/>
          </a:xfrm>
          <a:prstGeom prst="rect">
            <a:avLst/>
          </a:prstGeom>
          <a:noFill/>
          <a:ln>
            <a:noFill/>
          </a:ln>
        </p:spPr>
        <p:txBody>
          <a:bodyPr anchorCtr="0" anchor="t" bIns="0" lIns="0" spcFirstLastPara="1" rIns="0" wrap="square" tIns="0">
            <a:noAutofit/>
          </a:bodyPr>
          <a:lstStyle/>
          <a:p>
            <a:pPr indent="0" lvl="0" marL="0" rtl="0" algn="l">
              <a:spcBef>
                <a:spcPts val="900"/>
              </a:spcBef>
              <a:spcAft>
                <a:spcPts val="900"/>
              </a:spcAft>
              <a:buNone/>
            </a:pPr>
            <a:r>
              <a:rPr b="1" lang="en-GB" sz="4000">
                <a:latin typeface="Times"/>
                <a:ea typeface="Times"/>
                <a:cs typeface="Times"/>
                <a:sym typeface="Times"/>
              </a:rPr>
              <a:t>Extra Resources</a:t>
            </a:r>
            <a:endParaRPr b="1" sz="4000">
              <a:latin typeface="Times"/>
              <a:ea typeface="Times"/>
              <a:cs typeface="Times"/>
              <a:sym typeface="Times"/>
            </a:endParaRPr>
          </a:p>
        </p:txBody>
      </p:sp>
      <p:cxnSp>
        <p:nvCxnSpPr>
          <p:cNvPr id="1333" name="Google Shape;1333;p88"/>
          <p:cNvCxnSpPr/>
          <p:nvPr/>
        </p:nvCxnSpPr>
        <p:spPr>
          <a:xfrm>
            <a:off x="548725" y="835775"/>
            <a:ext cx="8201700" cy="8400"/>
          </a:xfrm>
          <a:prstGeom prst="straightConnector1">
            <a:avLst/>
          </a:prstGeom>
          <a:noFill/>
          <a:ln cap="flat" cmpd="sng" w="9525">
            <a:solidFill>
              <a:srgbClr val="2B2C30"/>
            </a:solidFill>
            <a:prstDash val="solid"/>
            <a:round/>
            <a:headEnd len="sm" w="sm" type="none"/>
            <a:tailEnd len="sm" w="sm" type="none"/>
          </a:ln>
        </p:spPr>
      </p:cxnSp>
      <p:sp>
        <p:nvSpPr>
          <p:cNvPr id="1334" name="Google Shape;1334;p88"/>
          <p:cNvSpPr txBox="1"/>
          <p:nvPr/>
        </p:nvSpPr>
        <p:spPr>
          <a:xfrm>
            <a:off x="553925" y="906400"/>
            <a:ext cx="8201700" cy="3970200"/>
          </a:xfrm>
          <a:prstGeom prst="rect">
            <a:avLst/>
          </a:prstGeom>
          <a:noFill/>
          <a:ln>
            <a:noFill/>
          </a:ln>
        </p:spPr>
        <p:txBody>
          <a:bodyPr anchorCtr="0" anchor="t" bIns="91425" lIns="91425" spcFirstLastPara="1" rIns="91425" wrap="square" tIns="91425">
            <a:noAutofit/>
          </a:bodyPr>
          <a:lstStyle/>
          <a:p>
            <a:pPr indent="-393700" lvl="0" marL="457200" rtl="0" algn="l">
              <a:lnSpc>
                <a:spcPct val="100000"/>
              </a:lnSpc>
              <a:spcBef>
                <a:spcPts val="900"/>
              </a:spcBef>
              <a:spcAft>
                <a:spcPts val="0"/>
              </a:spcAft>
              <a:buSzPts val="2600"/>
              <a:buFont typeface="Times"/>
              <a:buChar char="➔"/>
            </a:pPr>
            <a:r>
              <a:rPr lang="en-GB" sz="2000" u="sng">
                <a:solidFill>
                  <a:schemeClr val="hlink"/>
                </a:solidFill>
                <a:hlinkClick r:id="rId7"/>
              </a:rPr>
              <a:t>https://www.youtube.com/watch?v=XB4MIexjvY0</a:t>
            </a:r>
            <a:endParaRPr sz="2000"/>
          </a:p>
          <a:p>
            <a:pPr indent="-355600" lvl="0" marL="457200" rtl="0" algn="l">
              <a:lnSpc>
                <a:spcPct val="100000"/>
              </a:lnSpc>
              <a:spcBef>
                <a:spcPts val="0"/>
              </a:spcBef>
              <a:spcAft>
                <a:spcPts val="0"/>
              </a:spcAft>
              <a:buSzPts val="2000"/>
              <a:buFont typeface="Times"/>
              <a:buChar char="➔"/>
            </a:pPr>
            <a:r>
              <a:rPr lang="en-GB" sz="2000" u="sng">
                <a:solidFill>
                  <a:schemeClr val="hlink"/>
                </a:solidFill>
                <a:latin typeface="Times"/>
                <a:ea typeface="Times"/>
                <a:cs typeface="Times"/>
                <a:sym typeface="Times"/>
                <a:hlinkClick r:id="rId8"/>
              </a:rPr>
              <a:t>https://www.w3schools.com/dsa/dsa_theory_graphs_shortestpath.php</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Char char="➔"/>
            </a:pPr>
            <a:r>
              <a:rPr lang="en-GB" sz="2000" u="sng">
                <a:solidFill>
                  <a:schemeClr val="hlink"/>
                </a:solidFill>
                <a:latin typeface="Times"/>
                <a:ea typeface="Times"/>
                <a:cs typeface="Times"/>
                <a:sym typeface="Times"/>
                <a:hlinkClick r:id="rId9"/>
              </a:rPr>
              <a:t>https://www.w3schools.com/dsa/dsa_algo_graphs_dijkstra.php</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Char char="➔"/>
            </a:pPr>
            <a:r>
              <a:rPr lang="en-GB" sz="2000" u="sng">
                <a:solidFill>
                  <a:schemeClr val="hlink"/>
                </a:solidFill>
                <a:latin typeface="Times"/>
                <a:ea typeface="Times"/>
                <a:cs typeface="Times"/>
                <a:sym typeface="Times"/>
                <a:hlinkClick r:id="rId10"/>
              </a:rPr>
              <a:t>https://www.w3schools.com/dsa/dsa_algo_graphs_bellmanford.php</a:t>
            </a:r>
            <a:endParaRPr sz="2000">
              <a:latin typeface="Times"/>
              <a:ea typeface="Times"/>
              <a:cs typeface="Times"/>
              <a:sym typeface="Times"/>
            </a:endParaRPr>
          </a:p>
          <a:p>
            <a:pPr indent="-355600" lvl="0" marL="457200" rtl="0" algn="l">
              <a:lnSpc>
                <a:spcPct val="100000"/>
              </a:lnSpc>
              <a:spcBef>
                <a:spcPts val="0"/>
              </a:spcBef>
              <a:spcAft>
                <a:spcPts val="0"/>
              </a:spcAft>
              <a:buSzPts val="2000"/>
              <a:buFont typeface="Times"/>
              <a:buChar char="➔"/>
            </a:pPr>
            <a:r>
              <a:t/>
            </a:r>
            <a:endParaRPr sz="2000">
              <a:latin typeface="Times"/>
              <a:ea typeface="Times"/>
              <a:cs typeface="Times"/>
              <a:sym typeface="Times"/>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38" name="Shape 1338"/>
        <p:cNvGrpSpPr/>
        <p:nvPr/>
      </p:nvGrpSpPr>
      <p:grpSpPr>
        <a:xfrm>
          <a:off x="0" y="0"/>
          <a:ext cx="0" cy="0"/>
          <a:chOff x="0" y="0"/>
          <a:chExt cx="0" cy="0"/>
        </a:xfrm>
      </p:grpSpPr>
      <p:sp>
        <p:nvSpPr>
          <p:cNvPr id="1339" name="Google Shape;1339;p89"/>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340" name="Google Shape;1340;p89"/>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41" name="Google Shape;1341;p89"/>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rtl="0" algn="ctr">
              <a:lnSpc>
                <a:spcPct val="140010"/>
              </a:lnSpc>
              <a:spcBef>
                <a:spcPts val="0"/>
              </a:spcBef>
              <a:spcAft>
                <a:spcPts val="0"/>
              </a:spcAft>
              <a:buNone/>
            </a:pPr>
            <a:r>
              <a:rPr b="1" lang="en-GB" sz="3000">
                <a:solidFill>
                  <a:srgbClr val="2B2C30"/>
                </a:solidFill>
                <a:latin typeface="Times"/>
                <a:ea typeface="Times"/>
                <a:cs typeface="Times"/>
                <a:sym typeface="Times"/>
              </a:rPr>
              <a:t>Spanning Tree</a:t>
            </a:r>
            <a:endParaRPr b="1" sz="3000">
              <a:solidFill>
                <a:srgbClr val="2B2C30"/>
              </a:solidFill>
              <a:latin typeface="Times"/>
              <a:ea typeface="Times"/>
              <a:cs typeface="Times"/>
              <a:sym typeface="Times"/>
            </a:endParaRPr>
          </a:p>
        </p:txBody>
      </p:sp>
      <p:cxnSp>
        <p:nvCxnSpPr>
          <p:cNvPr id="1342" name="Google Shape;1342;p89"/>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1343" name="Google Shape;1343;p89"/>
          <p:cNvSpPr txBox="1"/>
          <p:nvPr/>
        </p:nvSpPr>
        <p:spPr>
          <a:xfrm>
            <a:off x="548725" y="545000"/>
            <a:ext cx="5201400" cy="4286400"/>
          </a:xfrm>
          <a:prstGeom prst="rect">
            <a:avLst/>
          </a:prstGeom>
          <a:noFill/>
          <a:ln>
            <a:noFill/>
          </a:ln>
        </p:spPr>
        <p:txBody>
          <a:bodyPr anchorCtr="0" anchor="t" bIns="91425" lIns="91425" spcFirstLastPara="1" rIns="91425" wrap="square" tIns="91425">
            <a:noAutofit/>
          </a:bodyPr>
          <a:lstStyle/>
          <a:p>
            <a:pPr indent="-342900" lvl="0" marL="360001" rtl="0" algn="just">
              <a:lnSpc>
                <a:spcPct val="100000"/>
              </a:lnSpc>
              <a:spcBef>
                <a:spcPts val="0"/>
              </a:spcBef>
              <a:spcAft>
                <a:spcPts val="0"/>
              </a:spcAft>
              <a:buSzPts val="1800"/>
              <a:buFont typeface="Times"/>
              <a:buChar char="➢"/>
            </a:pPr>
            <a:r>
              <a:rPr lang="en-GB" sz="1800">
                <a:highlight>
                  <a:srgbClr val="FFFFFF"/>
                </a:highlight>
                <a:latin typeface="Times"/>
                <a:ea typeface="Times"/>
                <a:cs typeface="Times"/>
                <a:sym typeface="Times"/>
              </a:rPr>
              <a:t>A spanning tree is a subset of Graph G, such that all the vertices are connected using minimum possible number of edges. Hence, a spanning tree does not have cycles and a graph may have more than one spanning tree.</a:t>
            </a:r>
            <a:endParaRPr sz="1800">
              <a:highlight>
                <a:srgbClr val="FFFFFF"/>
              </a:highlight>
              <a:latin typeface="Times"/>
              <a:ea typeface="Times"/>
              <a:cs typeface="Times"/>
              <a:sym typeface="Times"/>
            </a:endParaRPr>
          </a:p>
          <a:p>
            <a:pPr indent="-342900" lvl="0" marL="360001" rtl="0" algn="just">
              <a:lnSpc>
                <a:spcPct val="100000"/>
              </a:lnSpc>
              <a:spcBef>
                <a:spcPts val="0"/>
              </a:spcBef>
              <a:spcAft>
                <a:spcPts val="0"/>
              </a:spcAft>
              <a:buSzPts val="1800"/>
              <a:buFont typeface="Times"/>
              <a:buChar char="➢"/>
            </a:pPr>
            <a:r>
              <a:rPr lang="en-GB" sz="1800">
                <a:highlight>
                  <a:srgbClr val="FFFFFF"/>
                </a:highlight>
                <a:latin typeface="Times"/>
                <a:ea typeface="Times"/>
                <a:cs typeface="Times"/>
                <a:sym typeface="Times"/>
              </a:rPr>
              <a:t>A spanning tree is defined as a tree-like subgraph of a connected, undirected graph that includes all the vertices of the graph.</a:t>
            </a:r>
            <a:endParaRPr sz="1800">
              <a:highlight>
                <a:srgbClr val="FFFFFF"/>
              </a:highlight>
              <a:latin typeface="Times"/>
              <a:ea typeface="Times"/>
              <a:cs typeface="Times"/>
              <a:sym typeface="Times"/>
            </a:endParaRPr>
          </a:p>
          <a:p>
            <a:pPr indent="-342900" lvl="0" marL="360001" rtl="0" algn="just">
              <a:lnSpc>
                <a:spcPct val="100000"/>
              </a:lnSpc>
              <a:spcBef>
                <a:spcPts val="0"/>
              </a:spcBef>
              <a:spcAft>
                <a:spcPts val="0"/>
              </a:spcAft>
              <a:buSzPts val="1800"/>
              <a:buFont typeface="Times"/>
              <a:buChar char="➢"/>
            </a:pPr>
            <a:r>
              <a:rPr i="1" lang="en-GB" sz="1800">
                <a:highlight>
                  <a:srgbClr val="FFFFFF"/>
                </a:highlight>
                <a:latin typeface="Times"/>
                <a:ea typeface="Times"/>
                <a:cs typeface="Times"/>
                <a:sym typeface="Times"/>
              </a:rPr>
              <a:t>In Layman’s words, it is a subset of the edges of the graph that forms a tree (acyclic) where every node of the graph is a part of the tree.</a:t>
            </a:r>
            <a:endParaRPr i="1" sz="1800">
              <a:highlight>
                <a:srgbClr val="FFFFFF"/>
              </a:highlight>
              <a:latin typeface="Times"/>
              <a:ea typeface="Times"/>
              <a:cs typeface="Times"/>
              <a:sym typeface="Times"/>
            </a:endParaRPr>
          </a:p>
        </p:txBody>
      </p:sp>
      <p:pic>
        <p:nvPicPr>
          <p:cNvPr id="1344" name="Google Shape;1344;p89"/>
          <p:cNvPicPr preferRelativeResize="0"/>
          <p:nvPr/>
        </p:nvPicPr>
        <p:blipFill rotWithShape="1">
          <a:blip r:embed="rId6">
            <a:alphaModFix/>
          </a:blip>
          <a:srcRect b="0" l="0" r="0" t="0"/>
          <a:stretch/>
        </p:blipFill>
        <p:spPr>
          <a:xfrm>
            <a:off x="5794014" y="685100"/>
            <a:ext cx="2956411" cy="4115788"/>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48" name="Shape 1348"/>
        <p:cNvGrpSpPr/>
        <p:nvPr/>
      </p:nvGrpSpPr>
      <p:grpSpPr>
        <a:xfrm>
          <a:off x="0" y="0"/>
          <a:ext cx="0" cy="0"/>
          <a:chOff x="0" y="0"/>
          <a:chExt cx="0" cy="0"/>
        </a:xfrm>
      </p:grpSpPr>
      <p:sp>
        <p:nvSpPr>
          <p:cNvPr id="1349" name="Google Shape;1349;p90"/>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350" name="Google Shape;1350;p90"/>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51" name="Google Shape;1351;p90"/>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rtl="0" algn="ctr">
              <a:lnSpc>
                <a:spcPct val="140010"/>
              </a:lnSpc>
              <a:spcBef>
                <a:spcPts val="0"/>
              </a:spcBef>
              <a:spcAft>
                <a:spcPts val="0"/>
              </a:spcAft>
              <a:buNone/>
            </a:pPr>
            <a:r>
              <a:rPr b="1" lang="en-GB" sz="3000">
                <a:solidFill>
                  <a:srgbClr val="2B2C30"/>
                </a:solidFill>
                <a:latin typeface="Times"/>
                <a:ea typeface="Times"/>
                <a:cs typeface="Times"/>
                <a:sym typeface="Times"/>
              </a:rPr>
              <a:t>Properties of Spanning Tree</a:t>
            </a:r>
            <a:endParaRPr b="1" sz="3000">
              <a:solidFill>
                <a:srgbClr val="2B2C30"/>
              </a:solidFill>
              <a:latin typeface="Times"/>
              <a:ea typeface="Times"/>
              <a:cs typeface="Times"/>
              <a:sym typeface="Times"/>
            </a:endParaRPr>
          </a:p>
        </p:txBody>
      </p:sp>
      <p:cxnSp>
        <p:nvCxnSpPr>
          <p:cNvPr id="1352" name="Google Shape;1352;p90"/>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1353" name="Google Shape;1353;p90"/>
          <p:cNvSpPr txBox="1"/>
          <p:nvPr/>
        </p:nvSpPr>
        <p:spPr>
          <a:xfrm>
            <a:off x="548725" y="545000"/>
            <a:ext cx="5241900" cy="4286400"/>
          </a:xfrm>
          <a:prstGeom prst="rect">
            <a:avLst/>
          </a:prstGeom>
          <a:noFill/>
          <a:ln>
            <a:noFill/>
          </a:ln>
        </p:spPr>
        <p:txBody>
          <a:bodyPr anchorCtr="0" anchor="t" bIns="91425" lIns="91425" spcFirstLastPara="1" rIns="91425" wrap="square" tIns="91425">
            <a:noAutofit/>
          </a:bodyPr>
          <a:lstStyle/>
          <a:p>
            <a:pPr indent="-342900" lvl="0" marL="360001" rtl="0" algn="just">
              <a:spcBef>
                <a:spcPts val="0"/>
              </a:spcBef>
              <a:spcAft>
                <a:spcPts val="0"/>
              </a:spcAft>
              <a:buSzPts val="1800"/>
              <a:buFont typeface="Times"/>
              <a:buChar char="➢"/>
            </a:pPr>
            <a:r>
              <a:rPr lang="en-GB" sz="1800">
                <a:highlight>
                  <a:srgbClr val="FFFFFF"/>
                </a:highlight>
                <a:latin typeface="Times"/>
                <a:ea typeface="Times"/>
                <a:cs typeface="Times"/>
                <a:sym typeface="Times"/>
              </a:rPr>
              <a:t>A Spanning tree does not exist for a disconnected graph.</a:t>
            </a:r>
            <a:endParaRPr sz="1800">
              <a:highlight>
                <a:srgbClr val="FFFFFF"/>
              </a:highlight>
              <a:latin typeface="Times"/>
              <a:ea typeface="Times"/>
              <a:cs typeface="Times"/>
              <a:sym typeface="Times"/>
            </a:endParaRPr>
          </a:p>
          <a:p>
            <a:pPr indent="-342900" lvl="0" marL="360001" rtl="0" algn="just">
              <a:spcBef>
                <a:spcPts val="0"/>
              </a:spcBef>
              <a:spcAft>
                <a:spcPts val="0"/>
              </a:spcAft>
              <a:buSzPts val="1800"/>
              <a:buFont typeface="Times"/>
              <a:buChar char="➢"/>
            </a:pPr>
            <a:r>
              <a:rPr lang="en-GB" sz="1800">
                <a:highlight>
                  <a:srgbClr val="FFFFFF"/>
                </a:highlight>
                <a:latin typeface="Times"/>
                <a:ea typeface="Times"/>
                <a:cs typeface="Times"/>
                <a:sym typeface="Times"/>
              </a:rPr>
              <a:t>For a connected graph having N vertices then the number of edges in the spanning tree for that graph will be N-1.</a:t>
            </a:r>
            <a:endParaRPr sz="1800">
              <a:highlight>
                <a:srgbClr val="FFFFFF"/>
              </a:highlight>
              <a:latin typeface="Times"/>
              <a:ea typeface="Times"/>
              <a:cs typeface="Times"/>
              <a:sym typeface="Times"/>
            </a:endParaRPr>
          </a:p>
          <a:p>
            <a:pPr indent="-342900" lvl="0" marL="360001" rtl="0" algn="just">
              <a:spcBef>
                <a:spcPts val="0"/>
              </a:spcBef>
              <a:spcAft>
                <a:spcPts val="0"/>
              </a:spcAft>
              <a:buSzPts val="1800"/>
              <a:buFont typeface="Times"/>
              <a:buChar char="➢"/>
            </a:pPr>
            <a:r>
              <a:rPr lang="en-GB" sz="1800">
                <a:highlight>
                  <a:srgbClr val="FFFFFF"/>
                </a:highlight>
                <a:latin typeface="Times"/>
                <a:ea typeface="Times"/>
                <a:cs typeface="Times"/>
                <a:sym typeface="Times"/>
              </a:rPr>
              <a:t>A Spanning tree does not have any cycle.</a:t>
            </a:r>
            <a:endParaRPr sz="1800">
              <a:highlight>
                <a:srgbClr val="FFFFFF"/>
              </a:highlight>
              <a:latin typeface="Times"/>
              <a:ea typeface="Times"/>
              <a:cs typeface="Times"/>
              <a:sym typeface="Times"/>
            </a:endParaRPr>
          </a:p>
          <a:p>
            <a:pPr indent="-342900" lvl="0" marL="360001" rtl="0" algn="just">
              <a:spcBef>
                <a:spcPts val="0"/>
              </a:spcBef>
              <a:spcAft>
                <a:spcPts val="0"/>
              </a:spcAft>
              <a:buSzPts val="1800"/>
              <a:buFont typeface="Times"/>
              <a:buChar char="➢"/>
            </a:pPr>
            <a:r>
              <a:rPr lang="en-GB" sz="1800">
                <a:highlight>
                  <a:srgbClr val="FFFFFF"/>
                </a:highlight>
                <a:latin typeface="Times"/>
                <a:ea typeface="Times"/>
                <a:cs typeface="Times"/>
                <a:sym typeface="Times"/>
              </a:rPr>
              <a:t>We can construct a spanning tree for a complete graph by removing E-N+1 edges, where E is the number of Edges and N is the number of vertices.</a:t>
            </a:r>
            <a:endParaRPr sz="1800">
              <a:highlight>
                <a:srgbClr val="FFFFFF"/>
              </a:highlight>
              <a:latin typeface="Times"/>
              <a:ea typeface="Times"/>
              <a:cs typeface="Times"/>
              <a:sym typeface="Times"/>
            </a:endParaRPr>
          </a:p>
          <a:p>
            <a:pPr indent="-342900" lvl="0" marL="360001" rtl="0" algn="just">
              <a:spcBef>
                <a:spcPts val="0"/>
              </a:spcBef>
              <a:spcAft>
                <a:spcPts val="0"/>
              </a:spcAft>
              <a:buSzPts val="1800"/>
              <a:buFont typeface="Times"/>
              <a:buChar char="➢"/>
            </a:pPr>
            <a:r>
              <a:rPr b="1" lang="en-GB" sz="1800">
                <a:highlight>
                  <a:srgbClr val="FFFFFF"/>
                </a:highlight>
                <a:latin typeface="Times"/>
                <a:ea typeface="Times"/>
                <a:cs typeface="Times"/>
                <a:sym typeface="Times"/>
              </a:rPr>
              <a:t>Cayley's Formula</a:t>
            </a:r>
            <a:r>
              <a:rPr lang="en-GB" sz="1800">
                <a:highlight>
                  <a:srgbClr val="FFFFFF"/>
                </a:highlight>
                <a:latin typeface="Times"/>
                <a:ea typeface="Times"/>
                <a:cs typeface="Times"/>
                <a:sym typeface="Times"/>
              </a:rPr>
              <a:t>: It states that the number of spanning trees in a complete graph with N vertices is N</a:t>
            </a:r>
            <a:r>
              <a:rPr baseline="30000" lang="en-GB" sz="1800">
                <a:highlight>
                  <a:srgbClr val="FFFFFF"/>
                </a:highlight>
                <a:latin typeface="Times"/>
                <a:ea typeface="Times"/>
                <a:cs typeface="Times"/>
                <a:sym typeface="Times"/>
              </a:rPr>
              <a:t>N−2</a:t>
            </a:r>
            <a:endParaRPr baseline="30000" sz="1800">
              <a:highlight>
                <a:srgbClr val="FFFFFF"/>
              </a:highlight>
              <a:latin typeface="Times"/>
              <a:ea typeface="Times"/>
              <a:cs typeface="Times"/>
              <a:sym typeface="Times"/>
            </a:endParaRPr>
          </a:p>
          <a:p>
            <a:pPr indent="-342900" lvl="0" marL="360001" rtl="0" algn="just">
              <a:spcBef>
                <a:spcPts val="0"/>
              </a:spcBef>
              <a:spcAft>
                <a:spcPts val="0"/>
              </a:spcAft>
              <a:buSzPts val="1800"/>
              <a:buFont typeface="Times"/>
              <a:buChar char="➢"/>
            </a:pPr>
            <a:r>
              <a:rPr lang="en-GB" sz="1800">
                <a:highlight>
                  <a:srgbClr val="FFFFFF"/>
                </a:highlight>
                <a:latin typeface="Times"/>
                <a:ea typeface="Times"/>
                <a:cs typeface="Times"/>
                <a:sym typeface="Times"/>
              </a:rPr>
              <a:t>For example: N=4, then maximum number of spanning tree possible = 4</a:t>
            </a:r>
            <a:r>
              <a:rPr baseline="30000" lang="en-GB" sz="1800">
                <a:highlight>
                  <a:srgbClr val="FFFFFF"/>
                </a:highlight>
                <a:latin typeface="Times"/>
                <a:ea typeface="Times"/>
                <a:cs typeface="Times"/>
                <a:sym typeface="Times"/>
              </a:rPr>
              <a:t>4−2 </a:t>
            </a:r>
            <a:r>
              <a:rPr lang="en-GB" sz="1800">
                <a:highlight>
                  <a:srgbClr val="FFFFFF"/>
                </a:highlight>
                <a:latin typeface="Times"/>
                <a:ea typeface="Times"/>
                <a:cs typeface="Times"/>
                <a:sym typeface="Times"/>
              </a:rPr>
              <a:t>= 16</a:t>
            </a:r>
            <a:endParaRPr sz="1800">
              <a:highlight>
                <a:srgbClr val="FFFFFF"/>
              </a:highlight>
              <a:latin typeface="Times"/>
              <a:ea typeface="Times"/>
              <a:cs typeface="Times"/>
              <a:sym typeface="Times"/>
            </a:endParaRPr>
          </a:p>
        </p:txBody>
      </p:sp>
      <p:pic>
        <p:nvPicPr>
          <p:cNvPr id="1354" name="Google Shape;1354;p90"/>
          <p:cNvPicPr preferRelativeResize="0"/>
          <p:nvPr/>
        </p:nvPicPr>
        <p:blipFill rotWithShape="1">
          <a:blip r:embed="rId6">
            <a:alphaModFix/>
          </a:blip>
          <a:srcRect b="0" l="0" r="0" t="0"/>
          <a:stretch/>
        </p:blipFill>
        <p:spPr>
          <a:xfrm>
            <a:off x="5841639" y="695800"/>
            <a:ext cx="2956411" cy="4115788"/>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8" name="Shape 1358"/>
        <p:cNvGrpSpPr/>
        <p:nvPr/>
      </p:nvGrpSpPr>
      <p:grpSpPr>
        <a:xfrm>
          <a:off x="0" y="0"/>
          <a:ext cx="0" cy="0"/>
          <a:chOff x="0" y="0"/>
          <a:chExt cx="0" cy="0"/>
        </a:xfrm>
      </p:grpSpPr>
      <p:sp>
        <p:nvSpPr>
          <p:cNvPr id="1359" name="Google Shape;1359;p91"/>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360" name="Google Shape;1360;p91"/>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61" name="Google Shape;1361;p91"/>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rtl="0" algn="ctr">
              <a:lnSpc>
                <a:spcPct val="140010"/>
              </a:lnSpc>
              <a:spcBef>
                <a:spcPts val="0"/>
              </a:spcBef>
              <a:spcAft>
                <a:spcPts val="0"/>
              </a:spcAft>
              <a:buNone/>
            </a:pPr>
            <a:r>
              <a:rPr b="1" lang="en-GB" sz="3000">
                <a:solidFill>
                  <a:srgbClr val="2B2C30"/>
                </a:solidFill>
                <a:latin typeface="Times"/>
                <a:ea typeface="Times"/>
                <a:cs typeface="Times"/>
                <a:sym typeface="Times"/>
              </a:rPr>
              <a:t>Real world Applications of Spanning Tree</a:t>
            </a:r>
            <a:endParaRPr b="1" sz="3000">
              <a:solidFill>
                <a:srgbClr val="2B2C30"/>
              </a:solidFill>
              <a:latin typeface="Times"/>
              <a:ea typeface="Times"/>
              <a:cs typeface="Times"/>
              <a:sym typeface="Times"/>
            </a:endParaRPr>
          </a:p>
        </p:txBody>
      </p:sp>
      <p:cxnSp>
        <p:nvCxnSpPr>
          <p:cNvPr id="1362" name="Google Shape;1362;p91"/>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1363" name="Google Shape;1363;p91"/>
          <p:cNvSpPr txBox="1"/>
          <p:nvPr/>
        </p:nvSpPr>
        <p:spPr>
          <a:xfrm>
            <a:off x="548725" y="545000"/>
            <a:ext cx="8236800" cy="4286400"/>
          </a:xfrm>
          <a:prstGeom prst="rect">
            <a:avLst/>
          </a:prstGeom>
          <a:noFill/>
          <a:ln>
            <a:noFill/>
          </a:ln>
        </p:spPr>
        <p:txBody>
          <a:bodyPr anchorCtr="0" anchor="t" bIns="91425" lIns="91425" spcFirstLastPara="1" rIns="91425" wrap="square" tIns="91425">
            <a:noAutofit/>
          </a:bodyPr>
          <a:lstStyle/>
          <a:p>
            <a:pPr indent="-342900" lvl="0" marL="360001" rtl="0" algn="just">
              <a:spcBef>
                <a:spcPts val="0"/>
              </a:spcBef>
              <a:spcAft>
                <a:spcPts val="0"/>
              </a:spcAft>
              <a:buSzPts val="1800"/>
              <a:buFont typeface="Times"/>
              <a:buChar char="➢"/>
            </a:pPr>
            <a:r>
              <a:rPr lang="en-GB" sz="1800">
                <a:highlight>
                  <a:srgbClr val="FFFFFF"/>
                </a:highlight>
                <a:latin typeface="Times"/>
                <a:ea typeface="Times"/>
                <a:cs typeface="Times"/>
                <a:sym typeface="Times"/>
              </a:rPr>
              <a:t>Several path finding algorithms, such as </a:t>
            </a:r>
            <a:r>
              <a:rPr b="1" lang="en-GB" sz="1800">
                <a:highlight>
                  <a:srgbClr val="FFFFFF"/>
                </a:highlight>
                <a:latin typeface="Times"/>
                <a:ea typeface="Times"/>
                <a:cs typeface="Times"/>
                <a:sym typeface="Times"/>
              </a:rPr>
              <a:t>Dijkstra's algorithm</a:t>
            </a:r>
            <a:r>
              <a:rPr lang="en-GB" sz="1800">
                <a:highlight>
                  <a:srgbClr val="FFFFFF"/>
                </a:highlight>
                <a:latin typeface="Times"/>
                <a:ea typeface="Times"/>
                <a:cs typeface="Times"/>
                <a:sym typeface="Times"/>
              </a:rPr>
              <a:t> and </a:t>
            </a:r>
            <a:r>
              <a:rPr b="1" lang="en-GB" sz="1800">
                <a:highlight>
                  <a:srgbClr val="FFFFFF"/>
                </a:highlight>
                <a:latin typeface="Times"/>
                <a:ea typeface="Times"/>
                <a:cs typeface="Times"/>
                <a:sym typeface="Times"/>
              </a:rPr>
              <a:t>A* search algorithm</a:t>
            </a:r>
            <a:r>
              <a:rPr lang="en-GB" sz="1800">
                <a:highlight>
                  <a:srgbClr val="FFFFFF"/>
                </a:highlight>
                <a:latin typeface="Times"/>
                <a:ea typeface="Times"/>
                <a:cs typeface="Times"/>
                <a:sym typeface="Times"/>
              </a:rPr>
              <a:t>, internally build a spanning tree as an intermediate step.</a:t>
            </a:r>
            <a:endParaRPr sz="1800">
              <a:highlight>
                <a:srgbClr val="FFFFFF"/>
              </a:highlight>
              <a:latin typeface="Times"/>
              <a:ea typeface="Times"/>
              <a:cs typeface="Times"/>
              <a:sym typeface="Times"/>
            </a:endParaRPr>
          </a:p>
          <a:p>
            <a:pPr indent="-342900" lvl="0" marL="360001" rtl="0" algn="just">
              <a:spcBef>
                <a:spcPts val="0"/>
              </a:spcBef>
              <a:spcAft>
                <a:spcPts val="0"/>
              </a:spcAft>
              <a:buSzPts val="1800"/>
              <a:buFont typeface="Times"/>
              <a:buChar char="➢"/>
            </a:pPr>
            <a:r>
              <a:rPr lang="en-GB" sz="1800">
                <a:highlight>
                  <a:srgbClr val="FFFFFF"/>
                </a:highlight>
                <a:latin typeface="Times"/>
                <a:ea typeface="Times"/>
                <a:cs typeface="Times"/>
                <a:sym typeface="Times"/>
              </a:rPr>
              <a:t>Building Telecommunication Network.</a:t>
            </a:r>
            <a:endParaRPr sz="1800">
              <a:highlight>
                <a:srgbClr val="FFFFFF"/>
              </a:highlight>
              <a:latin typeface="Times"/>
              <a:ea typeface="Times"/>
              <a:cs typeface="Times"/>
              <a:sym typeface="Times"/>
            </a:endParaRPr>
          </a:p>
          <a:p>
            <a:pPr indent="-342900" lvl="0" marL="360001" rtl="0" algn="just">
              <a:spcBef>
                <a:spcPts val="0"/>
              </a:spcBef>
              <a:spcAft>
                <a:spcPts val="0"/>
              </a:spcAft>
              <a:buSzPts val="1800"/>
              <a:buFont typeface="Times"/>
              <a:buChar char="➢"/>
            </a:pPr>
            <a:r>
              <a:rPr lang="en-GB" sz="1800">
                <a:highlight>
                  <a:srgbClr val="FFFFFF"/>
                </a:highlight>
                <a:latin typeface="Times"/>
                <a:ea typeface="Times"/>
                <a:cs typeface="Times"/>
                <a:sym typeface="Times"/>
              </a:rPr>
              <a:t>Image Segmentation to break an image into distinguishable components.</a:t>
            </a:r>
            <a:endParaRPr sz="1800">
              <a:highlight>
                <a:srgbClr val="FFFFFF"/>
              </a:highlight>
              <a:latin typeface="Times"/>
              <a:ea typeface="Times"/>
              <a:cs typeface="Times"/>
              <a:sym typeface="Times"/>
            </a:endParaRPr>
          </a:p>
          <a:p>
            <a:pPr indent="-342900" lvl="0" marL="360001" rtl="0" algn="just">
              <a:spcBef>
                <a:spcPts val="0"/>
              </a:spcBef>
              <a:spcAft>
                <a:spcPts val="0"/>
              </a:spcAft>
              <a:buSzPts val="1800"/>
              <a:buFont typeface="Times"/>
              <a:buChar char="➢"/>
            </a:pPr>
            <a:r>
              <a:rPr lang="en-GB" sz="1800">
                <a:highlight>
                  <a:srgbClr val="FFFFFF"/>
                </a:highlight>
                <a:latin typeface="Times"/>
                <a:ea typeface="Times"/>
                <a:cs typeface="Times"/>
                <a:sym typeface="Times"/>
              </a:rPr>
              <a:t>Computer Network Routing Protocol</a:t>
            </a:r>
            <a:endParaRPr sz="1800">
              <a:highlight>
                <a:srgbClr val="FFFFFF"/>
              </a:highlight>
              <a:latin typeface="Times"/>
              <a:ea typeface="Times"/>
              <a:cs typeface="Times"/>
              <a:sym typeface="Times"/>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7" name="Shape 1367"/>
        <p:cNvGrpSpPr/>
        <p:nvPr/>
      </p:nvGrpSpPr>
      <p:grpSpPr>
        <a:xfrm>
          <a:off x="0" y="0"/>
          <a:ext cx="0" cy="0"/>
          <a:chOff x="0" y="0"/>
          <a:chExt cx="0" cy="0"/>
        </a:xfrm>
      </p:grpSpPr>
      <p:sp>
        <p:nvSpPr>
          <p:cNvPr id="1368" name="Google Shape;1368;p92"/>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369" name="Google Shape;1369;p92"/>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70" name="Google Shape;1370;p92"/>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rtl="0" algn="ctr">
              <a:lnSpc>
                <a:spcPct val="140010"/>
              </a:lnSpc>
              <a:spcBef>
                <a:spcPts val="0"/>
              </a:spcBef>
              <a:spcAft>
                <a:spcPts val="0"/>
              </a:spcAft>
              <a:buNone/>
            </a:pPr>
            <a:r>
              <a:rPr b="1" lang="en-GB" sz="3000">
                <a:solidFill>
                  <a:srgbClr val="2B2C30"/>
                </a:solidFill>
                <a:latin typeface="Times"/>
                <a:ea typeface="Times"/>
                <a:cs typeface="Times"/>
                <a:sym typeface="Times"/>
              </a:rPr>
              <a:t>Minimum Cost Spanning Tree</a:t>
            </a:r>
            <a:endParaRPr b="1" sz="3000">
              <a:solidFill>
                <a:srgbClr val="2B2C30"/>
              </a:solidFill>
              <a:latin typeface="Times"/>
              <a:ea typeface="Times"/>
              <a:cs typeface="Times"/>
              <a:sym typeface="Times"/>
            </a:endParaRPr>
          </a:p>
        </p:txBody>
      </p:sp>
      <p:cxnSp>
        <p:nvCxnSpPr>
          <p:cNvPr id="1371" name="Google Shape;1371;p92"/>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1372" name="Google Shape;1372;p92"/>
          <p:cNvSpPr txBox="1"/>
          <p:nvPr/>
        </p:nvSpPr>
        <p:spPr>
          <a:xfrm>
            <a:off x="548725" y="545000"/>
            <a:ext cx="8244900" cy="4286400"/>
          </a:xfrm>
          <a:prstGeom prst="rect">
            <a:avLst/>
          </a:prstGeom>
          <a:noFill/>
          <a:ln>
            <a:noFill/>
          </a:ln>
        </p:spPr>
        <p:txBody>
          <a:bodyPr anchorCtr="0" anchor="t" bIns="91425" lIns="91425" spcFirstLastPara="1" rIns="91425" wrap="square" tIns="91425">
            <a:noAutofit/>
          </a:bodyPr>
          <a:lstStyle/>
          <a:p>
            <a:pPr indent="-342900" lvl="0" marL="360001" rtl="0" algn="just">
              <a:spcBef>
                <a:spcPts val="0"/>
              </a:spcBef>
              <a:spcAft>
                <a:spcPts val="0"/>
              </a:spcAft>
              <a:buSzPts val="1800"/>
              <a:buFont typeface="Times"/>
              <a:buChar char="➢"/>
            </a:pPr>
            <a:r>
              <a:rPr lang="en-GB" sz="1800">
                <a:highlight>
                  <a:srgbClr val="FFFFFF"/>
                </a:highlight>
                <a:latin typeface="Times"/>
                <a:ea typeface="Times"/>
                <a:cs typeface="Times"/>
                <a:sym typeface="Times"/>
              </a:rPr>
              <a:t>The </a:t>
            </a:r>
            <a:r>
              <a:rPr b="1" lang="en-GB" sz="1800">
                <a:highlight>
                  <a:srgbClr val="FFFFFF"/>
                </a:highlight>
                <a:latin typeface="Times"/>
                <a:ea typeface="Times"/>
                <a:cs typeface="Times"/>
                <a:sym typeface="Times"/>
              </a:rPr>
              <a:t>Minimum-Cost Spanning Tree</a:t>
            </a:r>
            <a:r>
              <a:rPr lang="en-GB" sz="1800">
                <a:highlight>
                  <a:srgbClr val="FFFFFF"/>
                </a:highlight>
                <a:latin typeface="Times"/>
                <a:ea typeface="Times"/>
                <a:cs typeface="Times"/>
                <a:sym typeface="Times"/>
              </a:rPr>
              <a:t> (MCST), also known as </a:t>
            </a:r>
            <a:r>
              <a:rPr b="1" i="1" lang="en-GB" sz="1800">
                <a:highlight>
                  <a:srgbClr val="FFFFFF"/>
                </a:highlight>
                <a:latin typeface="Times"/>
                <a:ea typeface="Times"/>
                <a:cs typeface="Times"/>
                <a:sym typeface="Times"/>
              </a:rPr>
              <a:t>Minimal/Minimum Spanning Tree(MST)</a:t>
            </a:r>
            <a:r>
              <a:rPr lang="en-GB" sz="1800">
                <a:highlight>
                  <a:srgbClr val="FFFFFF"/>
                </a:highlight>
                <a:latin typeface="Times"/>
                <a:ea typeface="Times"/>
                <a:cs typeface="Times"/>
                <a:sym typeface="Times"/>
              </a:rPr>
              <a:t>, problem takes as input a connected, undirected graph G where each edge has a distance or weight measure attached. </a:t>
            </a:r>
            <a:endParaRPr sz="1800">
              <a:highlight>
                <a:srgbClr val="FFFFFF"/>
              </a:highlight>
              <a:latin typeface="Times"/>
              <a:ea typeface="Times"/>
              <a:cs typeface="Times"/>
              <a:sym typeface="Times"/>
            </a:endParaRPr>
          </a:p>
          <a:p>
            <a:pPr indent="-342900" lvl="0" marL="360001" rtl="0" algn="just">
              <a:spcBef>
                <a:spcPts val="0"/>
              </a:spcBef>
              <a:spcAft>
                <a:spcPts val="0"/>
              </a:spcAft>
              <a:buSzPts val="1800"/>
              <a:buFont typeface="Times"/>
              <a:buChar char="➢"/>
            </a:pPr>
            <a:r>
              <a:rPr lang="en-GB" sz="1800">
                <a:highlight>
                  <a:srgbClr val="FFFFFF"/>
                </a:highlight>
                <a:latin typeface="Times"/>
                <a:ea typeface="Times"/>
                <a:cs typeface="Times"/>
                <a:sym typeface="Times"/>
              </a:rPr>
              <a:t>The MCST is the graph containing the vertices of G along with the subset of G ‘s edges that</a:t>
            </a:r>
            <a:endParaRPr sz="1800">
              <a:highlight>
                <a:srgbClr val="FFFFFF"/>
              </a:highlight>
              <a:latin typeface="Times"/>
              <a:ea typeface="Times"/>
              <a:cs typeface="Times"/>
              <a:sym typeface="Times"/>
            </a:endParaRPr>
          </a:p>
          <a:p>
            <a:pPr indent="-342900" lvl="1" marL="720000" rtl="0" algn="just">
              <a:spcBef>
                <a:spcPts val="0"/>
              </a:spcBef>
              <a:spcAft>
                <a:spcPts val="0"/>
              </a:spcAft>
              <a:buSzPts val="1800"/>
              <a:buFont typeface="Times"/>
              <a:buChar char="○"/>
            </a:pPr>
            <a:r>
              <a:rPr lang="en-GB" sz="1800">
                <a:highlight>
                  <a:srgbClr val="FFFFFF"/>
                </a:highlight>
                <a:latin typeface="Times"/>
                <a:ea typeface="Times"/>
                <a:cs typeface="Times"/>
                <a:sym typeface="Times"/>
              </a:rPr>
              <a:t>Has minimum total cost as measured by summing the values for all of the edges in the subset</a:t>
            </a:r>
            <a:endParaRPr sz="1800">
              <a:highlight>
                <a:srgbClr val="FFFFFF"/>
              </a:highlight>
              <a:latin typeface="Times"/>
              <a:ea typeface="Times"/>
              <a:cs typeface="Times"/>
              <a:sym typeface="Times"/>
            </a:endParaRPr>
          </a:p>
          <a:p>
            <a:pPr indent="-342900" lvl="1" marL="720000" rtl="0" algn="just">
              <a:spcBef>
                <a:spcPts val="0"/>
              </a:spcBef>
              <a:spcAft>
                <a:spcPts val="0"/>
              </a:spcAft>
              <a:buSzPts val="1800"/>
              <a:buFont typeface="Times"/>
              <a:buChar char="○"/>
            </a:pPr>
            <a:r>
              <a:rPr lang="en-GB" sz="1800">
                <a:highlight>
                  <a:srgbClr val="FFFFFF"/>
                </a:highlight>
                <a:latin typeface="Times"/>
                <a:ea typeface="Times"/>
                <a:cs typeface="Times"/>
                <a:sym typeface="Times"/>
              </a:rPr>
              <a:t>Keeps the vertices connected</a:t>
            </a:r>
            <a:endParaRPr i="1" sz="1600">
              <a:highlight>
                <a:srgbClr val="FFFFFF"/>
              </a:highlight>
              <a:latin typeface="Times"/>
              <a:ea typeface="Times"/>
              <a:cs typeface="Times"/>
              <a:sym typeface="Times"/>
            </a:endParaRPr>
          </a:p>
        </p:txBody>
      </p:sp>
      <p:pic>
        <p:nvPicPr>
          <p:cNvPr id="1373" name="Google Shape;1373;p92"/>
          <p:cNvPicPr preferRelativeResize="0"/>
          <p:nvPr/>
        </p:nvPicPr>
        <p:blipFill rotWithShape="1">
          <a:blip r:embed="rId6">
            <a:alphaModFix/>
          </a:blip>
          <a:srcRect b="24539" l="6660" r="11218" t="29585"/>
          <a:stretch/>
        </p:blipFill>
        <p:spPr>
          <a:xfrm>
            <a:off x="1361325" y="2839450"/>
            <a:ext cx="6869252" cy="1860549"/>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7" name="Shape 1377"/>
        <p:cNvGrpSpPr/>
        <p:nvPr/>
      </p:nvGrpSpPr>
      <p:grpSpPr>
        <a:xfrm>
          <a:off x="0" y="0"/>
          <a:ext cx="0" cy="0"/>
          <a:chOff x="0" y="0"/>
          <a:chExt cx="0" cy="0"/>
        </a:xfrm>
      </p:grpSpPr>
      <p:sp>
        <p:nvSpPr>
          <p:cNvPr id="1378" name="Google Shape;1378;p93"/>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379" name="Google Shape;1379;p93"/>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80" name="Google Shape;1380;p93"/>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rtl="0" algn="ctr">
              <a:lnSpc>
                <a:spcPct val="140010"/>
              </a:lnSpc>
              <a:spcBef>
                <a:spcPts val="0"/>
              </a:spcBef>
              <a:spcAft>
                <a:spcPts val="0"/>
              </a:spcAft>
              <a:buNone/>
            </a:pPr>
            <a:r>
              <a:rPr b="1" lang="en-GB" sz="3000">
                <a:solidFill>
                  <a:srgbClr val="2B2C30"/>
                </a:solidFill>
                <a:latin typeface="Times"/>
                <a:ea typeface="Times"/>
                <a:cs typeface="Times"/>
                <a:sym typeface="Times"/>
              </a:rPr>
              <a:t>Minimum Cost Spanning Tree</a:t>
            </a:r>
            <a:endParaRPr b="1" sz="3000">
              <a:solidFill>
                <a:srgbClr val="2B2C30"/>
              </a:solidFill>
              <a:latin typeface="Times"/>
              <a:ea typeface="Times"/>
              <a:cs typeface="Times"/>
              <a:sym typeface="Times"/>
            </a:endParaRPr>
          </a:p>
        </p:txBody>
      </p:sp>
      <p:cxnSp>
        <p:nvCxnSpPr>
          <p:cNvPr id="1381" name="Google Shape;1381;p93"/>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1382" name="Google Shape;1382;p93"/>
          <p:cNvSpPr txBox="1"/>
          <p:nvPr/>
        </p:nvSpPr>
        <p:spPr>
          <a:xfrm>
            <a:off x="548725" y="545000"/>
            <a:ext cx="8244900" cy="4286400"/>
          </a:xfrm>
          <a:prstGeom prst="rect">
            <a:avLst/>
          </a:prstGeom>
          <a:noFill/>
          <a:ln>
            <a:noFill/>
          </a:ln>
        </p:spPr>
        <p:txBody>
          <a:bodyPr anchorCtr="0" anchor="t" bIns="91425" lIns="91425" spcFirstLastPara="1" rIns="91425" wrap="square" tIns="91425">
            <a:noAutofit/>
          </a:bodyPr>
          <a:lstStyle/>
          <a:p>
            <a:pPr indent="-342900" lvl="0" marL="360001" rtl="0" algn="just">
              <a:spcBef>
                <a:spcPts val="0"/>
              </a:spcBef>
              <a:spcAft>
                <a:spcPts val="0"/>
              </a:spcAft>
              <a:buSzPts val="1800"/>
              <a:buFont typeface="Times"/>
              <a:buChar char="➢"/>
            </a:pPr>
            <a:r>
              <a:rPr lang="en-GB" sz="1800">
                <a:highlight>
                  <a:srgbClr val="FFFFFF"/>
                </a:highlight>
                <a:latin typeface="Times"/>
                <a:ea typeface="Times"/>
                <a:cs typeface="Times"/>
                <a:sym typeface="Times"/>
              </a:rPr>
              <a:t>Applications where a solution to this problem is useful include soldering the shortest set of wires needed to connect a set of terminals on a circuit board, and connecting a set of cities by telephone lines in such a way as to require the least amount of cable.</a:t>
            </a:r>
            <a:endParaRPr sz="1800">
              <a:highlight>
                <a:srgbClr val="FFFFFF"/>
              </a:highlight>
              <a:latin typeface="Times"/>
              <a:ea typeface="Times"/>
              <a:cs typeface="Times"/>
              <a:sym typeface="Times"/>
            </a:endParaRPr>
          </a:p>
          <a:p>
            <a:pPr indent="-330200" lvl="0" marL="360001" rtl="0" algn="just">
              <a:lnSpc>
                <a:spcPct val="100000"/>
              </a:lnSpc>
              <a:spcBef>
                <a:spcPts val="0"/>
              </a:spcBef>
              <a:spcAft>
                <a:spcPts val="0"/>
              </a:spcAft>
              <a:buSzPts val="1600"/>
              <a:buFont typeface="Times"/>
              <a:buChar char="➢"/>
            </a:pPr>
            <a:r>
              <a:rPr i="1" lang="en-GB" sz="1600">
                <a:highlight>
                  <a:srgbClr val="FFFFFF"/>
                </a:highlight>
                <a:latin typeface="Times"/>
                <a:ea typeface="Times"/>
                <a:cs typeface="Times"/>
                <a:sym typeface="Times"/>
              </a:rPr>
              <a:t>The MCST contains no cycles. If a proposed MCST did have a cycle, a cheaper MCST could be had by removing any one of the edges in the cycle. Thus, the MCST is a free tree with |V|−1 edges. </a:t>
            </a:r>
            <a:endParaRPr i="1" sz="1600">
              <a:highlight>
                <a:srgbClr val="FFFFFF"/>
              </a:highlight>
              <a:latin typeface="Times"/>
              <a:ea typeface="Times"/>
              <a:cs typeface="Times"/>
              <a:sym typeface="Times"/>
            </a:endParaRPr>
          </a:p>
          <a:p>
            <a:pPr indent="-330200" lvl="0" marL="360001" rtl="0" algn="just">
              <a:lnSpc>
                <a:spcPct val="100000"/>
              </a:lnSpc>
              <a:spcBef>
                <a:spcPts val="0"/>
              </a:spcBef>
              <a:spcAft>
                <a:spcPts val="0"/>
              </a:spcAft>
              <a:buSzPts val="1600"/>
              <a:buFont typeface="Times"/>
              <a:buChar char="➢"/>
            </a:pPr>
            <a:r>
              <a:rPr i="1" lang="en-GB" sz="1600">
                <a:highlight>
                  <a:srgbClr val="FFFFFF"/>
                </a:highlight>
                <a:latin typeface="Times"/>
                <a:ea typeface="Times"/>
                <a:cs typeface="Times"/>
                <a:sym typeface="Times"/>
              </a:rPr>
              <a:t>The name “minimum-cost spanning tree” comes from the fact that the required set of edges forms a tree, it spans the vertices (i.e., it connects them together), and it has minimum cost.</a:t>
            </a:r>
            <a:endParaRPr i="1" sz="1600">
              <a:highlight>
                <a:srgbClr val="FFFFFF"/>
              </a:highlight>
              <a:latin typeface="Times"/>
              <a:ea typeface="Times"/>
              <a:cs typeface="Times"/>
              <a:sym typeface="Times"/>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86" name="Shape 1386"/>
        <p:cNvGrpSpPr/>
        <p:nvPr/>
      </p:nvGrpSpPr>
      <p:grpSpPr>
        <a:xfrm>
          <a:off x="0" y="0"/>
          <a:ext cx="0" cy="0"/>
          <a:chOff x="0" y="0"/>
          <a:chExt cx="0" cy="0"/>
        </a:xfrm>
      </p:grpSpPr>
      <p:sp>
        <p:nvSpPr>
          <p:cNvPr id="1387" name="Google Shape;1387;p94"/>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388" name="Google Shape;1388;p94"/>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89" name="Google Shape;1389;p94"/>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rtl="0" algn="ctr">
              <a:lnSpc>
                <a:spcPct val="140010"/>
              </a:lnSpc>
              <a:spcBef>
                <a:spcPts val="0"/>
              </a:spcBef>
              <a:spcAft>
                <a:spcPts val="0"/>
              </a:spcAft>
              <a:buNone/>
            </a:pPr>
            <a:r>
              <a:rPr b="1" lang="en-GB" sz="3000">
                <a:solidFill>
                  <a:srgbClr val="2B2C30"/>
                </a:solidFill>
                <a:latin typeface="Times"/>
                <a:ea typeface="Times"/>
                <a:cs typeface="Times"/>
                <a:sym typeface="Times"/>
              </a:rPr>
              <a:t>Minimum Cost Spanning Tree</a:t>
            </a:r>
            <a:endParaRPr b="1" sz="3000">
              <a:solidFill>
                <a:srgbClr val="2B2C30"/>
              </a:solidFill>
              <a:latin typeface="Times"/>
              <a:ea typeface="Times"/>
              <a:cs typeface="Times"/>
              <a:sym typeface="Times"/>
            </a:endParaRPr>
          </a:p>
        </p:txBody>
      </p:sp>
      <p:cxnSp>
        <p:nvCxnSpPr>
          <p:cNvPr id="1390" name="Google Shape;1390;p94"/>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pic>
        <p:nvPicPr>
          <p:cNvPr id="1391" name="Google Shape;1391;p94"/>
          <p:cNvPicPr preferRelativeResize="0"/>
          <p:nvPr/>
        </p:nvPicPr>
        <p:blipFill>
          <a:blip r:embed="rId6">
            <a:alphaModFix/>
          </a:blip>
          <a:stretch>
            <a:fillRect/>
          </a:stretch>
        </p:blipFill>
        <p:spPr>
          <a:xfrm>
            <a:off x="402850" y="685100"/>
            <a:ext cx="8395199" cy="4115787"/>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95" name="Shape 1395"/>
        <p:cNvGrpSpPr/>
        <p:nvPr/>
      </p:nvGrpSpPr>
      <p:grpSpPr>
        <a:xfrm>
          <a:off x="0" y="0"/>
          <a:ext cx="0" cy="0"/>
          <a:chOff x="0" y="0"/>
          <a:chExt cx="0" cy="0"/>
        </a:xfrm>
      </p:grpSpPr>
      <p:sp>
        <p:nvSpPr>
          <p:cNvPr id="1396" name="Google Shape;1396;p95"/>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397" name="Google Shape;1397;p95"/>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98" name="Google Shape;1398;p95"/>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rtl="0" algn="ctr">
              <a:lnSpc>
                <a:spcPct val="140010"/>
              </a:lnSpc>
              <a:spcBef>
                <a:spcPts val="0"/>
              </a:spcBef>
              <a:spcAft>
                <a:spcPts val="0"/>
              </a:spcAft>
              <a:buNone/>
            </a:pPr>
            <a:r>
              <a:rPr b="1" lang="en-GB" sz="3000">
                <a:solidFill>
                  <a:srgbClr val="2B2C30"/>
                </a:solidFill>
                <a:latin typeface="Times"/>
                <a:ea typeface="Times"/>
                <a:cs typeface="Times"/>
                <a:sym typeface="Times"/>
              </a:rPr>
              <a:t>Minimum Cost Spanning Tree</a:t>
            </a:r>
            <a:endParaRPr b="1" sz="3000">
              <a:solidFill>
                <a:srgbClr val="2B2C30"/>
              </a:solidFill>
              <a:latin typeface="Times"/>
              <a:ea typeface="Times"/>
              <a:cs typeface="Times"/>
              <a:sym typeface="Times"/>
            </a:endParaRPr>
          </a:p>
        </p:txBody>
      </p:sp>
      <p:cxnSp>
        <p:nvCxnSpPr>
          <p:cNvPr id="1399" name="Google Shape;1399;p95"/>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1400" name="Google Shape;1400;p95"/>
          <p:cNvSpPr txBox="1"/>
          <p:nvPr/>
        </p:nvSpPr>
        <p:spPr>
          <a:xfrm>
            <a:off x="548725" y="545000"/>
            <a:ext cx="8244900" cy="4286400"/>
          </a:xfrm>
          <a:prstGeom prst="rect">
            <a:avLst/>
          </a:prstGeom>
          <a:noFill/>
          <a:ln>
            <a:noFill/>
          </a:ln>
        </p:spPr>
        <p:txBody>
          <a:bodyPr anchorCtr="0" anchor="t" bIns="91425" lIns="91425" spcFirstLastPara="1" rIns="91425" wrap="square" tIns="91425">
            <a:noAutofit/>
          </a:bodyPr>
          <a:lstStyle/>
          <a:p>
            <a:pPr indent="-342900" lvl="0" marL="360001" rtl="0" algn="just">
              <a:lnSpc>
                <a:spcPct val="100000"/>
              </a:lnSpc>
              <a:spcBef>
                <a:spcPts val="0"/>
              </a:spcBef>
              <a:spcAft>
                <a:spcPts val="0"/>
              </a:spcAft>
              <a:buSzPts val="1800"/>
              <a:buFont typeface="Times"/>
              <a:buChar char="➢"/>
            </a:pPr>
            <a:r>
              <a:rPr lang="en-GB" sz="1800">
                <a:highlight>
                  <a:srgbClr val="FFFFFF"/>
                </a:highlight>
                <a:latin typeface="Times"/>
                <a:ea typeface="Times"/>
                <a:cs typeface="Times"/>
                <a:sym typeface="Times"/>
              </a:rPr>
              <a:t>A graph and its MCST. All edges appear in the original graph. Those edges drawn with heavy lines indicate the subset making up the MCST.</a:t>
            </a:r>
            <a:endParaRPr sz="1800">
              <a:highlight>
                <a:srgbClr val="FFFFFF"/>
              </a:highlight>
              <a:latin typeface="Times"/>
              <a:ea typeface="Times"/>
              <a:cs typeface="Times"/>
              <a:sym typeface="Times"/>
            </a:endParaRPr>
          </a:p>
          <a:p>
            <a:pPr indent="0" lvl="0" marL="0" rtl="0" algn="just">
              <a:lnSpc>
                <a:spcPct val="100000"/>
              </a:lnSpc>
              <a:spcBef>
                <a:spcPts val="0"/>
              </a:spcBef>
              <a:spcAft>
                <a:spcPts val="0"/>
              </a:spcAft>
              <a:buNone/>
            </a:pPr>
            <a:r>
              <a:t/>
            </a:r>
            <a:endParaRPr sz="1800">
              <a:highlight>
                <a:srgbClr val="FFFFFF"/>
              </a:highlight>
              <a:latin typeface="Times"/>
              <a:ea typeface="Times"/>
              <a:cs typeface="Times"/>
              <a:sym typeface="Times"/>
            </a:endParaRPr>
          </a:p>
          <a:p>
            <a:pPr indent="0" lvl="0" marL="0" rtl="0" algn="just">
              <a:lnSpc>
                <a:spcPct val="100000"/>
              </a:lnSpc>
              <a:spcBef>
                <a:spcPts val="0"/>
              </a:spcBef>
              <a:spcAft>
                <a:spcPts val="0"/>
              </a:spcAft>
              <a:buNone/>
            </a:pPr>
            <a:r>
              <a:t/>
            </a:r>
            <a:endParaRPr sz="1800">
              <a:highlight>
                <a:srgbClr val="FFFFFF"/>
              </a:highlight>
              <a:latin typeface="Times"/>
              <a:ea typeface="Times"/>
              <a:cs typeface="Times"/>
              <a:sym typeface="Times"/>
            </a:endParaRPr>
          </a:p>
          <a:p>
            <a:pPr indent="0" lvl="0" marL="0" rtl="0" algn="just">
              <a:lnSpc>
                <a:spcPct val="100000"/>
              </a:lnSpc>
              <a:spcBef>
                <a:spcPts val="0"/>
              </a:spcBef>
              <a:spcAft>
                <a:spcPts val="0"/>
              </a:spcAft>
              <a:buNone/>
            </a:pPr>
            <a:r>
              <a:t/>
            </a:r>
            <a:endParaRPr sz="1800">
              <a:highlight>
                <a:srgbClr val="FFFFFF"/>
              </a:highlight>
              <a:latin typeface="Times"/>
              <a:ea typeface="Times"/>
              <a:cs typeface="Times"/>
              <a:sym typeface="Times"/>
            </a:endParaRPr>
          </a:p>
          <a:p>
            <a:pPr indent="0" lvl="0" marL="0" rtl="0" algn="just">
              <a:lnSpc>
                <a:spcPct val="100000"/>
              </a:lnSpc>
              <a:spcBef>
                <a:spcPts val="0"/>
              </a:spcBef>
              <a:spcAft>
                <a:spcPts val="0"/>
              </a:spcAft>
              <a:buNone/>
            </a:pPr>
            <a:r>
              <a:t/>
            </a:r>
            <a:endParaRPr sz="1800">
              <a:highlight>
                <a:srgbClr val="FFFFFF"/>
              </a:highlight>
              <a:latin typeface="Times"/>
              <a:ea typeface="Times"/>
              <a:cs typeface="Times"/>
              <a:sym typeface="Times"/>
            </a:endParaRPr>
          </a:p>
          <a:p>
            <a:pPr indent="0" lvl="0" marL="0" rtl="0" algn="just">
              <a:lnSpc>
                <a:spcPct val="100000"/>
              </a:lnSpc>
              <a:spcBef>
                <a:spcPts val="0"/>
              </a:spcBef>
              <a:spcAft>
                <a:spcPts val="0"/>
              </a:spcAft>
              <a:buNone/>
            </a:pPr>
            <a:r>
              <a:t/>
            </a:r>
            <a:endParaRPr sz="1800">
              <a:highlight>
                <a:srgbClr val="FFFFFF"/>
              </a:highlight>
              <a:latin typeface="Times"/>
              <a:ea typeface="Times"/>
              <a:cs typeface="Times"/>
              <a:sym typeface="Times"/>
            </a:endParaRPr>
          </a:p>
          <a:p>
            <a:pPr indent="0" lvl="0" marL="0" rtl="0" algn="just">
              <a:lnSpc>
                <a:spcPct val="100000"/>
              </a:lnSpc>
              <a:spcBef>
                <a:spcPts val="0"/>
              </a:spcBef>
              <a:spcAft>
                <a:spcPts val="0"/>
              </a:spcAft>
              <a:buNone/>
            </a:pPr>
            <a:r>
              <a:t/>
            </a:r>
            <a:endParaRPr sz="1800">
              <a:highlight>
                <a:srgbClr val="FFFFFF"/>
              </a:highlight>
              <a:latin typeface="Times"/>
              <a:ea typeface="Times"/>
              <a:cs typeface="Times"/>
              <a:sym typeface="Times"/>
            </a:endParaRPr>
          </a:p>
          <a:p>
            <a:pPr indent="0" lvl="0" marL="0" rtl="0" algn="just">
              <a:lnSpc>
                <a:spcPct val="100000"/>
              </a:lnSpc>
              <a:spcBef>
                <a:spcPts val="0"/>
              </a:spcBef>
              <a:spcAft>
                <a:spcPts val="0"/>
              </a:spcAft>
              <a:buNone/>
            </a:pPr>
            <a:r>
              <a:t/>
            </a:r>
            <a:endParaRPr sz="1800">
              <a:highlight>
                <a:srgbClr val="FFFFFF"/>
              </a:highlight>
              <a:latin typeface="Times"/>
              <a:ea typeface="Times"/>
              <a:cs typeface="Times"/>
              <a:sym typeface="Times"/>
            </a:endParaRPr>
          </a:p>
          <a:p>
            <a:pPr indent="0" lvl="0" marL="0" rtl="0" algn="just">
              <a:lnSpc>
                <a:spcPct val="100000"/>
              </a:lnSpc>
              <a:spcBef>
                <a:spcPts val="0"/>
              </a:spcBef>
              <a:spcAft>
                <a:spcPts val="0"/>
              </a:spcAft>
              <a:buNone/>
            </a:pPr>
            <a:r>
              <a:t/>
            </a:r>
            <a:endParaRPr sz="1800">
              <a:highlight>
                <a:srgbClr val="FFFFFF"/>
              </a:highlight>
              <a:latin typeface="Times"/>
              <a:ea typeface="Times"/>
              <a:cs typeface="Times"/>
              <a:sym typeface="Times"/>
            </a:endParaRPr>
          </a:p>
          <a:p>
            <a:pPr indent="0" lvl="0" marL="0" rtl="0" algn="just">
              <a:lnSpc>
                <a:spcPct val="100000"/>
              </a:lnSpc>
              <a:spcBef>
                <a:spcPts val="0"/>
              </a:spcBef>
              <a:spcAft>
                <a:spcPts val="0"/>
              </a:spcAft>
              <a:buNone/>
            </a:pPr>
            <a:r>
              <a:t/>
            </a:r>
            <a:endParaRPr sz="1800">
              <a:highlight>
                <a:srgbClr val="FFFFFF"/>
              </a:highlight>
              <a:latin typeface="Times"/>
              <a:ea typeface="Times"/>
              <a:cs typeface="Times"/>
              <a:sym typeface="Times"/>
            </a:endParaRPr>
          </a:p>
          <a:p>
            <a:pPr indent="0" lvl="0" marL="0" rtl="0" algn="just">
              <a:lnSpc>
                <a:spcPct val="100000"/>
              </a:lnSpc>
              <a:spcBef>
                <a:spcPts val="0"/>
              </a:spcBef>
              <a:spcAft>
                <a:spcPts val="0"/>
              </a:spcAft>
              <a:buNone/>
            </a:pPr>
            <a:r>
              <a:t/>
            </a:r>
            <a:endParaRPr sz="1800">
              <a:highlight>
                <a:srgbClr val="FFFFFF"/>
              </a:highlight>
              <a:latin typeface="Times"/>
              <a:ea typeface="Times"/>
              <a:cs typeface="Times"/>
              <a:sym typeface="Times"/>
            </a:endParaRPr>
          </a:p>
          <a:p>
            <a:pPr indent="0" lvl="0" marL="0" rtl="0" algn="just">
              <a:lnSpc>
                <a:spcPct val="100000"/>
              </a:lnSpc>
              <a:spcBef>
                <a:spcPts val="0"/>
              </a:spcBef>
              <a:spcAft>
                <a:spcPts val="0"/>
              </a:spcAft>
              <a:buNone/>
            </a:pPr>
            <a:r>
              <a:t/>
            </a:r>
            <a:endParaRPr sz="1800">
              <a:highlight>
                <a:srgbClr val="FFFFFF"/>
              </a:highlight>
              <a:latin typeface="Times"/>
              <a:ea typeface="Times"/>
              <a:cs typeface="Times"/>
              <a:sym typeface="Times"/>
            </a:endParaRPr>
          </a:p>
          <a:p>
            <a:pPr indent="-342900" lvl="0" marL="360001" rtl="0" algn="just">
              <a:lnSpc>
                <a:spcPct val="100000"/>
              </a:lnSpc>
              <a:spcBef>
                <a:spcPts val="0"/>
              </a:spcBef>
              <a:spcAft>
                <a:spcPts val="0"/>
              </a:spcAft>
              <a:buSzPts val="1800"/>
              <a:buFont typeface="Times"/>
              <a:buChar char="➢"/>
            </a:pPr>
            <a:r>
              <a:rPr lang="en-GB" sz="1800">
                <a:highlight>
                  <a:srgbClr val="FFFFFF"/>
                </a:highlight>
                <a:latin typeface="Times"/>
                <a:ea typeface="Times"/>
                <a:cs typeface="Times"/>
                <a:sym typeface="Times"/>
              </a:rPr>
              <a:t>Note that edge  (C,F) could be replaced with edge  (D,F) to form a different MCST with equal cost.</a:t>
            </a:r>
            <a:endParaRPr sz="1800">
              <a:highlight>
                <a:srgbClr val="FFFFFF"/>
              </a:highlight>
              <a:latin typeface="Times"/>
              <a:ea typeface="Times"/>
              <a:cs typeface="Times"/>
              <a:sym typeface="Times"/>
            </a:endParaRPr>
          </a:p>
        </p:txBody>
      </p:sp>
      <p:pic>
        <p:nvPicPr>
          <p:cNvPr id="1401" name="Google Shape;1401;p95"/>
          <p:cNvPicPr preferRelativeResize="0"/>
          <p:nvPr/>
        </p:nvPicPr>
        <p:blipFill>
          <a:blip r:embed="rId6">
            <a:alphaModFix/>
          </a:blip>
          <a:stretch>
            <a:fillRect/>
          </a:stretch>
        </p:blipFill>
        <p:spPr>
          <a:xfrm>
            <a:off x="1023238" y="1366825"/>
            <a:ext cx="3133725" cy="2409825"/>
          </a:xfrm>
          <a:prstGeom prst="rect">
            <a:avLst/>
          </a:prstGeom>
          <a:noFill/>
          <a:ln>
            <a:noFill/>
          </a:ln>
        </p:spPr>
      </p:pic>
      <p:sp>
        <p:nvSpPr>
          <p:cNvPr id="1402" name="Google Shape;1402;p95"/>
          <p:cNvSpPr/>
          <p:nvPr/>
        </p:nvSpPr>
        <p:spPr>
          <a:xfrm>
            <a:off x="6073875" y="2092025"/>
            <a:ext cx="654000" cy="399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03" name="Google Shape;1403;p95"/>
          <p:cNvSpPr/>
          <p:nvPr/>
        </p:nvSpPr>
        <p:spPr>
          <a:xfrm>
            <a:off x="4988425" y="3377050"/>
            <a:ext cx="654000" cy="399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04" name="Google Shape;1404;p95"/>
          <p:cNvSpPr/>
          <p:nvPr/>
        </p:nvSpPr>
        <p:spPr>
          <a:xfrm>
            <a:off x="5231225" y="1316850"/>
            <a:ext cx="654000" cy="399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05" name="Google Shape;1405;p95"/>
          <p:cNvSpPr/>
          <p:nvPr/>
        </p:nvSpPr>
        <p:spPr>
          <a:xfrm>
            <a:off x="7556925" y="1316850"/>
            <a:ext cx="654000" cy="399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06" name="Google Shape;1406;p95"/>
          <p:cNvSpPr/>
          <p:nvPr/>
        </p:nvSpPr>
        <p:spPr>
          <a:xfrm>
            <a:off x="7556925" y="3377050"/>
            <a:ext cx="654000" cy="399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07" name="Google Shape;1407;p95"/>
          <p:cNvSpPr/>
          <p:nvPr/>
        </p:nvSpPr>
        <p:spPr>
          <a:xfrm>
            <a:off x="6067075" y="3036100"/>
            <a:ext cx="654000" cy="399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08" name="Google Shape;1408;p95"/>
          <p:cNvCxnSpPr>
            <a:stCxn id="1404" idx="5"/>
            <a:endCxn id="1402" idx="1"/>
          </p:cNvCxnSpPr>
          <p:nvPr/>
        </p:nvCxnSpPr>
        <p:spPr>
          <a:xfrm>
            <a:off x="5789449" y="1657930"/>
            <a:ext cx="380100" cy="492600"/>
          </a:xfrm>
          <a:prstGeom prst="straightConnector1">
            <a:avLst/>
          </a:prstGeom>
          <a:noFill/>
          <a:ln cap="flat" cmpd="sng" w="9525">
            <a:solidFill>
              <a:schemeClr val="dk2"/>
            </a:solidFill>
            <a:prstDash val="solid"/>
            <a:round/>
            <a:headEnd len="med" w="med" type="none"/>
            <a:tailEnd len="med" w="med" type="none"/>
          </a:ln>
        </p:spPr>
      </p:cxnSp>
      <p:cxnSp>
        <p:nvCxnSpPr>
          <p:cNvPr id="1409" name="Google Shape;1409;p95"/>
          <p:cNvCxnSpPr>
            <a:stCxn id="1402" idx="7"/>
            <a:endCxn id="1405" idx="3"/>
          </p:cNvCxnSpPr>
          <p:nvPr/>
        </p:nvCxnSpPr>
        <p:spPr>
          <a:xfrm flipH="1" rot="10800000">
            <a:off x="6632099" y="1657945"/>
            <a:ext cx="1020600" cy="492600"/>
          </a:xfrm>
          <a:prstGeom prst="straightConnector1">
            <a:avLst/>
          </a:prstGeom>
          <a:noFill/>
          <a:ln cap="flat" cmpd="sng" w="9525">
            <a:solidFill>
              <a:schemeClr val="dk2"/>
            </a:solidFill>
            <a:prstDash val="solid"/>
            <a:round/>
            <a:headEnd len="med" w="med" type="none"/>
            <a:tailEnd len="med" w="med" type="none"/>
          </a:ln>
        </p:spPr>
      </p:cxnSp>
      <p:cxnSp>
        <p:nvCxnSpPr>
          <p:cNvPr id="1410" name="Google Shape;1410;p95"/>
          <p:cNvCxnSpPr>
            <a:stCxn id="1402" idx="5"/>
            <a:endCxn id="1406" idx="1"/>
          </p:cNvCxnSpPr>
          <p:nvPr/>
        </p:nvCxnSpPr>
        <p:spPr>
          <a:xfrm>
            <a:off x="6632099" y="2433105"/>
            <a:ext cx="1020600" cy="1002600"/>
          </a:xfrm>
          <a:prstGeom prst="straightConnector1">
            <a:avLst/>
          </a:prstGeom>
          <a:noFill/>
          <a:ln cap="flat" cmpd="sng" w="9525">
            <a:solidFill>
              <a:schemeClr val="dk2"/>
            </a:solidFill>
            <a:prstDash val="solid"/>
            <a:round/>
            <a:headEnd len="med" w="med" type="none"/>
            <a:tailEnd len="med" w="med" type="none"/>
          </a:ln>
        </p:spPr>
      </p:cxnSp>
      <p:cxnSp>
        <p:nvCxnSpPr>
          <p:cNvPr id="1411" name="Google Shape;1411;p95"/>
          <p:cNvCxnSpPr>
            <a:stCxn id="1402" idx="4"/>
            <a:endCxn id="1407" idx="0"/>
          </p:cNvCxnSpPr>
          <p:nvPr/>
        </p:nvCxnSpPr>
        <p:spPr>
          <a:xfrm flipH="1">
            <a:off x="6393975" y="2491625"/>
            <a:ext cx="6900" cy="544500"/>
          </a:xfrm>
          <a:prstGeom prst="straightConnector1">
            <a:avLst/>
          </a:prstGeom>
          <a:noFill/>
          <a:ln cap="flat" cmpd="sng" w="9525">
            <a:solidFill>
              <a:schemeClr val="dk2"/>
            </a:solidFill>
            <a:prstDash val="solid"/>
            <a:round/>
            <a:headEnd len="med" w="med" type="none"/>
            <a:tailEnd len="med" w="med" type="none"/>
          </a:ln>
        </p:spPr>
      </p:cxnSp>
      <p:cxnSp>
        <p:nvCxnSpPr>
          <p:cNvPr id="1412" name="Google Shape;1412;p95"/>
          <p:cNvCxnSpPr>
            <a:stCxn id="1403" idx="6"/>
            <a:endCxn id="1406" idx="2"/>
          </p:cNvCxnSpPr>
          <p:nvPr/>
        </p:nvCxnSpPr>
        <p:spPr>
          <a:xfrm>
            <a:off x="5642425" y="3576850"/>
            <a:ext cx="1914600" cy="0"/>
          </a:xfrm>
          <a:prstGeom prst="straightConnector1">
            <a:avLst/>
          </a:prstGeom>
          <a:noFill/>
          <a:ln cap="flat" cmpd="sng" w="9525">
            <a:solidFill>
              <a:schemeClr val="dk2"/>
            </a:solidFill>
            <a:prstDash val="solid"/>
            <a:round/>
            <a:headEnd len="med" w="med" type="none"/>
            <a:tailEnd len="med" w="med" type="none"/>
          </a:ln>
        </p:spPr>
      </p:cxnSp>
      <p:sp>
        <p:nvSpPr>
          <p:cNvPr id="1413" name="Google Shape;1413;p95"/>
          <p:cNvSpPr txBox="1"/>
          <p:nvPr/>
        </p:nvSpPr>
        <p:spPr>
          <a:xfrm>
            <a:off x="5905250" y="1617875"/>
            <a:ext cx="424800" cy="28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7</a:t>
            </a:r>
            <a:endParaRPr sz="1300">
              <a:solidFill>
                <a:schemeClr val="accent1"/>
              </a:solidFill>
              <a:latin typeface="Lato"/>
              <a:ea typeface="Lato"/>
              <a:cs typeface="Lato"/>
              <a:sym typeface="Lato"/>
            </a:endParaRPr>
          </a:p>
        </p:txBody>
      </p:sp>
      <p:sp>
        <p:nvSpPr>
          <p:cNvPr id="1414" name="Google Shape;1414;p95"/>
          <p:cNvSpPr txBox="1"/>
          <p:nvPr/>
        </p:nvSpPr>
        <p:spPr>
          <a:xfrm>
            <a:off x="6959475" y="1617875"/>
            <a:ext cx="424800" cy="28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5</a:t>
            </a:r>
            <a:endParaRPr sz="1300">
              <a:solidFill>
                <a:schemeClr val="accent1"/>
              </a:solidFill>
              <a:latin typeface="Lato"/>
              <a:ea typeface="Lato"/>
              <a:cs typeface="Lato"/>
              <a:sym typeface="Lato"/>
            </a:endParaRPr>
          </a:p>
        </p:txBody>
      </p:sp>
      <p:sp>
        <p:nvSpPr>
          <p:cNvPr id="1415" name="Google Shape;1415;p95"/>
          <p:cNvSpPr txBox="1"/>
          <p:nvPr/>
        </p:nvSpPr>
        <p:spPr>
          <a:xfrm>
            <a:off x="7060575" y="2597363"/>
            <a:ext cx="424800" cy="28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2</a:t>
            </a:r>
            <a:endParaRPr sz="1300">
              <a:solidFill>
                <a:schemeClr val="accent1"/>
              </a:solidFill>
              <a:latin typeface="Lato"/>
              <a:ea typeface="Lato"/>
              <a:cs typeface="Lato"/>
              <a:sym typeface="Lato"/>
            </a:endParaRPr>
          </a:p>
        </p:txBody>
      </p:sp>
      <p:sp>
        <p:nvSpPr>
          <p:cNvPr id="1416" name="Google Shape;1416;p95"/>
          <p:cNvSpPr txBox="1"/>
          <p:nvPr/>
        </p:nvSpPr>
        <p:spPr>
          <a:xfrm>
            <a:off x="6181675" y="3473201"/>
            <a:ext cx="4248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1</a:t>
            </a:r>
            <a:endParaRPr sz="1300">
              <a:solidFill>
                <a:schemeClr val="accent1"/>
              </a:solidFill>
              <a:latin typeface="Lato"/>
              <a:ea typeface="Lato"/>
              <a:cs typeface="Lato"/>
              <a:sym typeface="Lato"/>
            </a:endParaRPr>
          </a:p>
        </p:txBody>
      </p:sp>
      <p:sp>
        <p:nvSpPr>
          <p:cNvPr id="1417" name="Google Shape;1417;p95"/>
          <p:cNvSpPr txBox="1"/>
          <p:nvPr/>
        </p:nvSpPr>
        <p:spPr>
          <a:xfrm>
            <a:off x="5976075" y="2618950"/>
            <a:ext cx="424800" cy="28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1</a:t>
            </a:r>
            <a:endParaRPr sz="1300">
              <a:solidFill>
                <a:schemeClr val="accent1"/>
              </a:solidFill>
              <a:latin typeface="Lato"/>
              <a:ea typeface="Lato"/>
              <a:cs typeface="Lato"/>
              <a:sym typeface="Lato"/>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21" name="Shape 1421"/>
        <p:cNvGrpSpPr/>
        <p:nvPr/>
      </p:nvGrpSpPr>
      <p:grpSpPr>
        <a:xfrm>
          <a:off x="0" y="0"/>
          <a:ext cx="0" cy="0"/>
          <a:chOff x="0" y="0"/>
          <a:chExt cx="0" cy="0"/>
        </a:xfrm>
      </p:grpSpPr>
      <p:sp>
        <p:nvSpPr>
          <p:cNvPr id="1422" name="Google Shape;1422;p96"/>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423" name="Google Shape;1423;p96"/>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24" name="Google Shape;1424;p96"/>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rtl="0" algn="ctr">
              <a:lnSpc>
                <a:spcPct val="140010"/>
              </a:lnSpc>
              <a:spcBef>
                <a:spcPts val="0"/>
              </a:spcBef>
              <a:spcAft>
                <a:spcPts val="0"/>
              </a:spcAft>
              <a:buNone/>
            </a:pPr>
            <a:r>
              <a:rPr b="1" lang="en-GB" sz="3000">
                <a:solidFill>
                  <a:srgbClr val="2B2C30"/>
                </a:solidFill>
                <a:latin typeface="Times"/>
                <a:ea typeface="Times"/>
                <a:cs typeface="Times"/>
                <a:sym typeface="Times"/>
              </a:rPr>
              <a:t>Properties of MCST/MST</a:t>
            </a:r>
            <a:endParaRPr b="1" sz="3000">
              <a:solidFill>
                <a:srgbClr val="2B2C30"/>
              </a:solidFill>
              <a:latin typeface="Times"/>
              <a:ea typeface="Times"/>
              <a:cs typeface="Times"/>
              <a:sym typeface="Times"/>
            </a:endParaRPr>
          </a:p>
        </p:txBody>
      </p:sp>
      <p:cxnSp>
        <p:nvCxnSpPr>
          <p:cNvPr id="1425" name="Google Shape;1425;p96"/>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1426" name="Google Shape;1426;p96"/>
          <p:cNvSpPr txBox="1"/>
          <p:nvPr/>
        </p:nvSpPr>
        <p:spPr>
          <a:xfrm>
            <a:off x="548725" y="545000"/>
            <a:ext cx="8244900" cy="4286400"/>
          </a:xfrm>
          <a:prstGeom prst="rect">
            <a:avLst/>
          </a:prstGeom>
          <a:noFill/>
          <a:ln>
            <a:noFill/>
          </a:ln>
        </p:spPr>
        <p:txBody>
          <a:bodyPr anchorCtr="0" anchor="t" bIns="91425" lIns="91425" spcFirstLastPara="1" rIns="91425" wrap="square" tIns="91425">
            <a:noAutofit/>
          </a:bodyPr>
          <a:lstStyle/>
          <a:p>
            <a:pPr indent="-330200" lvl="0" marL="360001" rtl="0" algn="just">
              <a:spcBef>
                <a:spcPts val="0"/>
              </a:spcBef>
              <a:spcAft>
                <a:spcPts val="0"/>
              </a:spcAft>
              <a:buSzPts val="1600"/>
              <a:buFont typeface="Times"/>
              <a:buChar char="➢"/>
            </a:pPr>
            <a:r>
              <a:rPr b="1" lang="en-GB" sz="1800">
                <a:highlight>
                  <a:srgbClr val="FFFFFF"/>
                </a:highlight>
                <a:latin typeface="Times"/>
                <a:ea typeface="Times"/>
                <a:cs typeface="Times"/>
                <a:sym typeface="Times"/>
              </a:rPr>
              <a:t>A minimum cost spanning tree connects all the vertices in the graph</a:t>
            </a:r>
            <a:r>
              <a:rPr lang="en-GB" sz="1800">
                <a:highlight>
                  <a:srgbClr val="FFFFFF"/>
                </a:highlight>
                <a:latin typeface="Times"/>
                <a:ea typeface="Times"/>
                <a:cs typeface="Times"/>
                <a:sym typeface="Times"/>
              </a:rPr>
              <a:t>, ensuring that there is a path between any pair of nodes.</a:t>
            </a:r>
            <a:endParaRPr sz="1800">
              <a:highlight>
                <a:srgbClr val="FFFFFF"/>
              </a:highlight>
              <a:latin typeface="Times"/>
              <a:ea typeface="Times"/>
              <a:cs typeface="Times"/>
              <a:sym typeface="Times"/>
            </a:endParaRPr>
          </a:p>
          <a:p>
            <a:pPr indent="-330200" lvl="0" marL="360001" rtl="0" algn="just">
              <a:spcBef>
                <a:spcPts val="0"/>
              </a:spcBef>
              <a:spcAft>
                <a:spcPts val="0"/>
              </a:spcAft>
              <a:buSzPts val="1600"/>
              <a:buFont typeface="Times"/>
              <a:buChar char="➢"/>
            </a:pPr>
            <a:r>
              <a:rPr b="1" lang="en-GB" sz="1800">
                <a:highlight>
                  <a:srgbClr val="FFFFFF"/>
                </a:highlight>
                <a:latin typeface="Times"/>
                <a:ea typeface="Times"/>
                <a:cs typeface="Times"/>
                <a:sym typeface="Times"/>
              </a:rPr>
              <a:t>An MCST is acyclic</a:t>
            </a:r>
            <a:r>
              <a:rPr lang="en-GB" sz="1800">
                <a:highlight>
                  <a:srgbClr val="FFFFFF"/>
                </a:highlight>
                <a:latin typeface="Times"/>
                <a:ea typeface="Times"/>
                <a:cs typeface="Times"/>
                <a:sym typeface="Times"/>
              </a:rPr>
              <a:t>, meaning it contains no cycles. This property ensures that it remains a tree and not a graph with loops.</a:t>
            </a:r>
            <a:endParaRPr sz="1800">
              <a:highlight>
                <a:srgbClr val="FFFFFF"/>
              </a:highlight>
              <a:latin typeface="Times"/>
              <a:ea typeface="Times"/>
              <a:cs typeface="Times"/>
              <a:sym typeface="Times"/>
            </a:endParaRPr>
          </a:p>
          <a:p>
            <a:pPr indent="-330200" lvl="0" marL="360001" rtl="0" algn="just">
              <a:spcBef>
                <a:spcPts val="0"/>
              </a:spcBef>
              <a:spcAft>
                <a:spcPts val="0"/>
              </a:spcAft>
              <a:buSzPts val="1600"/>
              <a:buFont typeface="Times"/>
              <a:buChar char="➢"/>
            </a:pPr>
            <a:r>
              <a:rPr b="1" lang="en-GB" sz="1800">
                <a:highlight>
                  <a:srgbClr val="FFFFFF"/>
                </a:highlight>
                <a:latin typeface="Times"/>
                <a:ea typeface="Times"/>
                <a:cs typeface="Times"/>
                <a:sym typeface="Times"/>
              </a:rPr>
              <a:t>An MCST with V vertices</a:t>
            </a:r>
            <a:r>
              <a:rPr lang="en-GB" sz="1800">
                <a:highlight>
                  <a:srgbClr val="FFFFFF"/>
                </a:highlight>
                <a:latin typeface="Times"/>
                <a:ea typeface="Times"/>
                <a:cs typeface="Times"/>
                <a:sym typeface="Times"/>
              </a:rPr>
              <a:t> will have exactly </a:t>
            </a:r>
            <a:r>
              <a:rPr b="1" lang="en-GB" sz="1800">
                <a:highlight>
                  <a:srgbClr val="FFFFFF"/>
                </a:highlight>
                <a:latin typeface="Times"/>
                <a:ea typeface="Times"/>
                <a:cs typeface="Times"/>
                <a:sym typeface="Times"/>
              </a:rPr>
              <a:t>V - 1 edges</a:t>
            </a:r>
            <a:r>
              <a:rPr lang="en-GB" sz="1800">
                <a:highlight>
                  <a:srgbClr val="FFFFFF"/>
                </a:highlight>
                <a:latin typeface="Times"/>
                <a:ea typeface="Times"/>
                <a:cs typeface="Times"/>
                <a:sym typeface="Times"/>
              </a:rPr>
              <a:t>, where V is the number of vertices.</a:t>
            </a:r>
            <a:endParaRPr sz="1800">
              <a:highlight>
                <a:srgbClr val="FFFFFF"/>
              </a:highlight>
              <a:latin typeface="Times"/>
              <a:ea typeface="Times"/>
              <a:cs typeface="Times"/>
              <a:sym typeface="Times"/>
            </a:endParaRPr>
          </a:p>
          <a:p>
            <a:pPr indent="-330200" lvl="0" marL="360001" rtl="0" algn="just">
              <a:spcBef>
                <a:spcPts val="0"/>
              </a:spcBef>
              <a:spcAft>
                <a:spcPts val="0"/>
              </a:spcAft>
              <a:buSzPts val="1600"/>
              <a:buFont typeface="Times"/>
              <a:buChar char="➢"/>
            </a:pPr>
            <a:r>
              <a:rPr b="1" lang="en-GB" sz="1800">
                <a:highlight>
                  <a:srgbClr val="FFFFFF"/>
                </a:highlight>
                <a:latin typeface="Times"/>
                <a:ea typeface="Times"/>
                <a:cs typeface="Times"/>
                <a:sym typeface="Times"/>
              </a:rPr>
              <a:t>An MCST is optimal for minimizing the total edge weight</a:t>
            </a:r>
            <a:r>
              <a:rPr lang="en-GB" sz="1800">
                <a:highlight>
                  <a:srgbClr val="FFFFFF"/>
                </a:highlight>
                <a:latin typeface="Times"/>
                <a:ea typeface="Times"/>
                <a:cs typeface="Times"/>
                <a:sym typeface="Times"/>
              </a:rPr>
              <a:t>, but it may not necessarily be unique.</a:t>
            </a:r>
            <a:endParaRPr sz="1800">
              <a:highlight>
                <a:srgbClr val="FFFFFF"/>
              </a:highlight>
              <a:latin typeface="Times"/>
              <a:ea typeface="Times"/>
              <a:cs typeface="Times"/>
              <a:sym typeface="Times"/>
            </a:endParaRPr>
          </a:p>
          <a:p>
            <a:pPr indent="-330200" lvl="0" marL="360001" rtl="0" algn="just">
              <a:spcBef>
                <a:spcPts val="0"/>
              </a:spcBef>
              <a:spcAft>
                <a:spcPts val="0"/>
              </a:spcAft>
              <a:buSzPts val="1600"/>
              <a:buFont typeface="Times"/>
              <a:buChar char="➢"/>
            </a:pPr>
            <a:r>
              <a:rPr lang="en-GB" sz="1800">
                <a:highlight>
                  <a:srgbClr val="FFFFFF"/>
                </a:highlight>
                <a:latin typeface="Times"/>
                <a:ea typeface="Times"/>
                <a:cs typeface="Times"/>
                <a:sym typeface="Times"/>
              </a:rPr>
              <a:t>The cut property states that if you take any cut (a partition of the vertices into two sets) in the original graph and consider the minimum-weight edge that crosses the cut, that edge is part of the MCST.</a:t>
            </a:r>
            <a:endParaRPr sz="1800">
              <a:highlight>
                <a:srgbClr val="FFFFFF"/>
              </a:highlight>
              <a:latin typeface="Times"/>
              <a:ea typeface="Times"/>
              <a:cs typeface="Times"/>
              <a:sym typeface="Times"/>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30" name="Shape 1430"/>
        <p:cNvGrpSpPr/>
        <p:nvPr/>
      </p:nvGrpSpPr>
      <p:grpSpPr>
        <a:xfrm>
          <a:off x="0" y="0"/>
          <a:ext cx="0" cy="0"/>
          <a:chOff x="0" y="0"/>
          <a:chExt cx="0" cy="0"/>
        </a:xfrm>
      </p:grpSpPr>
      <p:sp>
        <p:nvSpPr>
          <p:cNvPr id="1431" name="Google Shape;1431;p97"/>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432" name="Google Shape;1432;p97"/>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33" name="Google Shape;1433;p97"/>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rtl="0" algn="ctr">
              <a:lnSpc>
                <a:spcPct val="140010"/>
              </a:lnSpc>
              <a:spcBef>
                <a:spcPts val="0"/>
              </a:spcBef>
              <a:spcAft>
                <a:spcPts val="0"/>
              </a:spcAft>
              <a:buNone/>
            </a:pPr>
            <a:r>
              <a:rPr b="1" lang="en-GB" sz="3000">
                <a:solidFill>
                  <a:srgbClr val="2B2C30"/>
                </a:solidFill>
                <a:latin typeface="Times"/>
                <a:ea typeface="Times"/>
                <a:cs typeface="Times"/>
                <a:sym typeface="Times"/>
              </a:rPr>
              <a:t>Minimum Cost Spanning Tree</a:t>
            </a:r>
            <a:endParaRPr b="1" sz="3000">
              <a:solidFill>
                <a:srgbClr val="2B2C30"/>
              </a:solidFill>
              <a:latin typeface="Times"/>
              <a:ea typeface="Times"/>
              <a:cs typeface="Times"/>
              <a:sym typeface="Times"/>
            </a:endParaRPr>
          </a:p>
          <a:p>
            <a:pPr indent="0" lvl="0" marL="0" rtl="0" algn="ctr">
              <a:lnSpc>
                <a:spcPct val="140010"/>
              </a:lnSpc>
              <a:spcBef>
                <a:spcPts val="0"/>
              </a:spcBef>
              <a:spcAft>
                <a:spcPts val="0"/>
              </a:spcAft>
              <a:buNone/>
            </a:pPr>
            <a:r>
              <a:t/>
            </a:r>
            <a:endParaRPr b="1" sz="3000">
              <a:solidFill>
                <a:srgbClr val="2B2C30"/>
              </a:solidFill>
              <a:latin typeface="Times"/>
              <a:ea typeface="Times"/>
              <a:cs typeface="Times"/>
              <a:sym typeface="Times"/>
            </a:endParaRPr>
          </a:p>
        </p:txBody>
      </p:sp>
      <p:cxnSp>
        <p:nvCxnSpPr>
          <p:cNvPr id="1434" name="Google Shape;1434;p97"/>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1435" name="Google Shape;1435;p97"/>
          <p:cNvSpPr txBox="1"/>
          <p:nvPr/>
        </p:nvSpPr>
        <p:spPr>
          <a:xfrm>
            <a:off x="548725" y="545000"/>
            <a:ext cx="8244900" cy="4286400"/>
          </a:xfrm>
          <a:prstGeom prst="rect">
            <a:avLst/>
          </a:prstGeom>
          <a:noFill/>
          <a:ln>
            <a:noFill/>
          </a:ln>
        </p:spPr>
        <p:txBody>
          <a:bodyPr anchorCtr="0" anchor="t" bIns="91425" lIns="91425" spcFirstLastPara="1" rIns="91425" wrap="square" tIns="91425">
            <a:noAutofit/>
          </a:bodyPr>
          <a:lstStyle/>
          <a:p>
            <a:pPr indent="-342900" lvl="0" marL="360001" rtl="0" algn="just">
              <a:lnSpc>
                <a:spcPct val="100000"/>
              </a:lnSpc>
              <a:spcBef>
                <a:spcPts val="0"/>
              </a:spcBef>
              <a:spcAft>
                <a:spcPts val="0"/>
              </a:spcAft>
              <a:buSzPts val="1800"/>
              <a:buFont typeface="Times"/>
              <a:buChar char="➢"/>
            </a:pPr>
            <a:r>
              <a:rPr lang="en-GB" sz="1800">
                <a:highlight>
                  <a:srgbClr val="FFFFFF"/>
                </a:highlight>
                <a:latin typeface="Times"/>
                <a:ea typeface="Times"/>
                <a:cs typeface="Times"/>
                <a:sym typeface="Times"/>
              </a:rPr>
              <a:t>There are several algorithms to find the minimum cost spanning tree from a given graph, Some of them are:</a:t>
            </a:r>
            <a:endParaRPr sz="1800">
              <a:highlight>
                <a:srgbClr val="FFFFFF"/>
              </a:highlight>
              <a:latin typeface="Times"/>
              <a:ea typeface="Times"/>
              <a:cs typeface="Times"/>
              <a:sym typeface="Times"/>
            </a:endParaRPr>
          </a:p>
          <a:p>
            <a:pPr indent="-361950" lvl="1" marL="720000" rtl="0" algn="just">
              <a:lnSpc>
                <a:spcPct val="100000"/>
              </a:lnSpc>
              <a:spcBef>
                <a:spcPts val="0"/>
              </a:spcBef>
              <a:spcAft>
                <a:spcPts val="0"/>
              </a:spcAft>
              <a:buSzPts val="2100"/>
              <a:buFont typeface="Times"/>
              <a:buChar char="○"/>
            </a:pPr>
            <a:r>
              <a:rPr lang="en-GB" sz="1800">
                <a:highlight>
                  <a:srgbClr val="FFFFFF"/>
                </a:highlight>
                <a:latin typeface="Times"/>
                <a:ea typeface="Times"/>
                <a:cs typeface="Times"/>
                <a:sym typeface="Times"/>
              </a:rPr>
              <a:t>Kruskal’s Algorithm</a:t>
            </a:r>
            <a:endParaRPr sz="1800">
              <a:highlight>
                <a:srgbClr val="FFFFFF"/>
              </a:highlight>
              <a:latin typeface="Times"/>
              <a:ea typeface="Times"/>
              <a:cs typeface="Times"/>
              <a:sym typeface="Times"/>
            </a:endParaRPr>
          </a:p>
          <a:p>
            <a:pPr indent="-361950" lvl="1" marL="720000" rtl="0" algn="just">
              <a:lnSpc>
                <a:spcPct val="100000"/>
              </a:lnSpc>
              <a:spcBef>
                <a:spcPts val="0"/>
              </a:spcBef>
              <a:spcAft>
                <a:spcPts val="0"/>
              </a:spcAft>
              <a:buSzPts val="2100"/>
              <a:buFont typeface="Times"/>
              <a:buChar char="○"/>
            </a:pPr>
            <a:r>
              <a:rPr lang="en-GB" sz="1800">
                <a:highlight>
                  <a:srgbClr val="FFFFFF"/>
                </a:highlight>
                <a:latin typeface="Times"/>
                <a:ea typeface="Times"/>
                <a:cs typeface="Times"/>
                <a:sym typeface="Times"/>
              </a:rPr>
              <a:t>Prim’s Algorithm</a:t>
            </a:r>
            <a:endParaRPr sz="1800">
              <a:highlight>
                <a:srgbClr val="FFFFFF"/>
              </a:highlight>
              <a:latin typeface="Times"/>
              <a:ea typeface="Times"/>
              <a:cs typeface="Times"/>
              <a:sym typeface="Times"/>
            </a:endParaRPr>
          </a:p>
          <a:p>
            <a:pPr indent="-342900" lvl="1" marL="720000" rtl="0" algn="just">
              <a:lnSpc>
                <a:spcPct val="100000"/>
              </a:lnSpc>
              <a:spcBef>
                <a:spcPts val="0"/>
              </a:spcBef>
              <a:spcAft>
                <a:spcPts val="0"/>
              </a:spcAft>
              <a:buSzPts val="1800"/>
              <a:buFont typeface="Times"/>
              <a:buChar char="○"/>
            </a:pPr>
            <a:r>
              <a:rPr lang="en-GB" sz="1800">
                <a:highlight>
                  <a:srgbClr val="FFFFFF"/>
                </a:highlight>
                <a:latin typeface="Times"/>
                <a:ea typeface="Times"/>
                <a:cs typeface="Times"/>
                <a:sym typeface="Times"/>
              </a:rPr>
              <a:t>Boruvka’s Algorithm</a:t>
            </a:r>
            <a:endParaRPr sz="1800">
              <a:highlight>
                <a:srgbClr val="FFFFFF"/>
              </a:highlight>
              <a:latin typeface="Times"/>
              <a:ea typeface="Times"/>
              <a:cs typeface="Times"/>
              <a:sym typeface="Times"/>
            </a:endParaRPr>
          </a:p>
          <a:p>
            <a:pPr indent="-342900" lvl="1" marL="720000" rtl="0" algn="just">
              <a:lnSpc>
                <a:spcPct val="100000"/>
              </a:lnSpc>
              <a:spcBef>
                <a:spcPts val="0"/>
              </a:spcBef>
              <a:spcAft>
                <a:spcPts val="0"/>
              </a:spcAft>
              <a:buSzPts val="1800"/>
              <a:buFont typeface="Times"/>
              <a:buChar char="○"/>
            </a:pPr>
            <a:r>
              <a:rPr lang="en-GB" sz="1800">
                <a:highlight>
                  <a:srgbClr val="FFFFFF"/>
                </a:highlight>
                <a:latin typeface="Times"/>
                <a:ea typeface="Times"/>
                <a:cs typeface="Times"/>
                <a:sym typeface="Times"/>
              </a:rPr>
              <a:t>Reverse-Delete Algorithm</a:t>
            </a:r>
            <a:endParaRPr sz="1800">
              <a:highlight>
                <a:srgbClr val="FFFFFF"/>
              </a:highlight>
              <a:latin typeface="Times"/>
              <a:ea typeface="Times"/>
              <a:cs typeface="Times"/>
              <a:sym typeface="Times"/>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39" name="Shape 1439"/>
        <p:cNvGrpSpPr/>
        <p:nvPr/>
      </p:nvGrpSpPr>
      <p:grpSpPr>
        <a:xfrm>
          <a:off x="0" y="0"/>
          <a:ext cx="0" cy="0"/>
          <a:chOff x="0" y="0"/>
          <a:chExt cx="0" cy="0"/>
        </a:xfrm>
      </p:grpSpPr>
      <p:sp>
        <p:nvSpPr>
          <p:cNvPr id="1440" name="Google Shape;1440;p98"/>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441" name="Google Shape;1441;p98"/>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42" name="Google Shape;1442;p98"/>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rtl="0" algn="ctr">
              <a:spcBef>
                <a:spcPts val="1800"/>
              </a:spcBef>
              <a:spcAft>
                <a:spcPts val="1800"/>
              </a:spcAft>
              <a:buNone/>
            </a:pPr>
            <a:r>
              <a:rPr b="1" lang="en-GB" sz="3000">
                <a:highlight>
                  <a:schemeClr val="lt1"/>
                </a:highlight>
                <a:latin typeface="Times"/>
                <a:ea typeface="Times"/>
                <a:cs typeface="Times"/>
                <a:sym typeface="Times"/>
              </a:rPr>
              <a:t>Kruskal’s Algorithm for MCST</a:t>
            </a:r>
            <a:endParaRPr b="1" sz="3000">
              <a:solidFill>
                <a:srgbClr val="2B2C30"/>
              </a:solidFill>
              <a:latin typeface="Times"/>
              <a:ea typeface="Times"/>
              <a:cs typeface="Times"/>
              <a:sym typeface="Times"/>
            </a:endParaRPr>
          </a:p>
        </p:txBody>
      </p:sp>
      <p:cxnSp>
        <p:nvCxnSpPr>
          <p:cNvPr id="1443" name="Google Shape;1443;p98"/>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1444" name="Google Shape;1444;p98"/>
          <p:cNvSpPr txBox="1"/>
          <p:nvPr/>
        </p:nvSpPr>
        <p:spPr>
          <a:xfrm>
            <a:off x="548725" y="545000"/>
            <a:ext cx="8244900" cy="4286400"/>
          </a:xfrm>
          <a:prstGeom prst="rect">
            <a:avLst/>
          </a:prstGeom>
          <a:noFill/>
          <a:ln>
            <a:noFill/>
          </a:ln>
        </p:spPr>
        <p:txBody>
          <a:bodyPr anchorCtr="0" anchor="t" bIns="91425" lIns="91425" spcFirstLastPara="1" rIns="91425" wrap="square" tIns="91425">
            <a:noAutofit/>
          </a:bodyPr>
          <a:lstStyle/>
          <a:p>
            <a:pPr indent="-342900" lvl="0" marL="360001" rtl="0" algn="just">
              <a:spcBef>
                <a:spcPts val="0"/>
              </a:spcBef>
              <a:spcAft>
                <a:spcPts val="0"/>
              </a:spcAft>
              <a:buSzPts val="1800"/>
              <a:buFont typeface="Times"/>
              <a:buChar char="➢"/>
            </a:pPr>
            <a:r>
              <a:rPr lang="en-GB" sz="1800">
                <a:highlight>
                  <a:srgbClr val="FFFFFF"/>
                </a:highlight>
                <a:latin typeface="Times"/>
                <a:ea typeface="Times"/>
                <a:cs typeface="Times"/>
                <a:sym typeface="Times"/>
              </a:rPr>
              <a:t>It is one of the popular </a:t>
            </a:r>
            <a:r>
              <a:rPr b="1" lang="en-GB" sz="1800">
                <a:highlight>
                  <a:srgbClr val="FFFFFF"/>
                </a:highlight>
                <a:latin typeface="Times"/>
                <a:ea typeface="Times"/>
                <a:cs typeface="Times"/>
                <a:sym typeface="Times"/>
              </a:rPr>
              <a:t>greedy</a:t>
            </a:r>
            <a:r>
              <a:rPr lang="en-GB" sz="1800">
                <a:highlight>
                  <a:srgbClr val="FFFFFF"/>
                </a:highlight>
                <a:latin typeface="Times"/>
                <a:ea typeface="Times"/>
                <a:cs typeface="Times"/>
                <a:sym typeface="Times"/>
              </a:rPr>
              <a:t> algorithms for finding the minimum spanning tree from a </a:t>
            </a:r>
            <a:r>
              <a:rPr b="1" lang="en-GB" sz="1800">
                <a:highlight>
                  <a:srgbClr val="FFFFFF"/>
                </a:highlight>
                <a:latin typeface="Times"/>
                <a:ea typeface="Times"/>
                <a:cs typeface="Times"/>
                <a:sym typeface="Times"/>
              </a:rPr>
              <a:t>connected</a:t>
            </a:r>
            <a:r>
              <a:rPr lang="en-GB" sz="1800">
                <a:highlight>
                  <a:srgbClr val="FFFFFF"/>
                </a:highlight>
                <a:latin typeface="Times"/>
                <a:ea typeface="Times"/>
                <a:cs typeface="Times"/>
                <a:sym typeface="Times"/>
              </a:rPr>
              <a:t>, </a:t>
            </a:r>
            <a:r>
              <a:rPr b="1" lang="en-GB" sz="1800">
                <a:highlight>
                  <a:srgbClr val="FFFFFF"/>
                </a:highlight>
                <a:latin typeface="Times"/>
                <a:ea typeface="Times"/>
                <a:cs typeface="Times"/>
                <a:sym typeface="Times"/>
              </a:rPr>
              <a:t>undirected</a:t>
            </a:r>
            <a:r>
              <a:rPr lang="en-GB" sz="1800">
                <a:highlight>
                  <a:srgbClr val="FFFFFF"/>
                </a:highlight>
                <a:latin typeface="Times"/>
                <a:ea typeface="Times"/>
                <a:cs typeface="Times"/>
                <a:sym typeface="Times"/>
              </a:rPr>
              <a:t>, and </a:t>
            </a:r>
            <a:r>
              <a:rPr b="1" lang="en-GB" sz="1800">
                <a:highlight>
                  <a:srgbClr val="FFFFFF"/>
                </a:highlight>
                <a:latin typeface="Times"/>
                <a:ea typeface="Times"/>
                <a:cs typeface="Times"/>
                <a:sym typeface="Times"/>
              </a:rPr>
              <a:t>weighted</a:t>
            </a:r>
            <a:r>
              <a:rPr lang="en-GB" sz="1800">
                <a:highlight>
                  <a:srgbClr val="FFFFFF"/>
                </a:highlight>
                <a:latin typeface="Times"/>
                <a:ea typeface="Times"/>
                <a:cs typeface="Times"/>
                <a:sym typeface="Times"/>
              </a:rPr>
              <a:t> graph. </a:t>
            </a:r>
            <a:endParaRPr sz="1800">
              <a:highlight>
                <a:srgbClr val="FFFFFF"/>
              </a:highlight>
              <a:latin typeface="Times"/>
              <a:ea typeface="Times"/>
              <a:cs typeface="Times"/>
              <a:sym typeface="Times"/>
            </a:endParaRPr>
          </a:p>
          <a:p>
            <a:pPr indent="-342900" lvl="0" marL="360001" rtl="0" algn="just">
              <a:spcBef>
                <a:spcPts val="0"/>
              </a:spcBef>
              <a:spcAft>
                <a:spcPts val="0"/>
              </a:spcAft>
              <a:buSzPts val="1800"/>
              <a:buFont typeface="Times"/>
              <a:buChar char="➢"/>
            </a:pPr>
            <a:r>
              <a:rPr lang="en-GB" sz="1800">
                <a:highlight>
                  <a:srgbClr val="FFFFFF"/>
                </a:highlight>
                <a:latin typeface="Times"/>
                <a:ea typeface="Times"/>
                <a:cs typeface="Times"/>
                <a:sym typeface="Times"/>
              </a:rPr>
              <a:t>It builds the tree edge by edge, always picking the smallest weight edge that doesn’t form a cycle.</a:t>
            </a:r>
            <a:endParaRPr sz="1800">
              <a:highlight>
                <a:srgbClr val="FFFFFF"/>
              </a:highlight>
              <a:latin typeface="Times"/>
              <a:ea typeface="Times"/>
              <a:cs typeface="Times"/>
              <a:sym typeface="Times"/>
            </a:endParaRPr>
          </a:p>
          <a:p>
            <a:pPr indent="-342900" lvl="0" marL="360001" rtl="0" algn="just">
              <a:spcBef>
                <a:spcPts val="0"/>
              </a:spcBef>
              <a:spcAft>
                <a:spcPts val="0"/>
              </a:spcAft>
              <a:buSzPts val="1800"/>
              <a:buFont typeface="Times"/>
              <a:buChar char="➢"/>
            </a:pPr>
            <a:r>
              <a:rPr lang="en-GB" sz="1800">
                <a:highlight>
                  <a:srgbClr val="FFFFFF"/>
                </a:highlight>
                <a:latin typeface="Times"/>
                <a:ea typeface="Times"/>
                <a:cs typeface="Times"/>
                <a:sym typeface="Times"/>
              </a:rPr>
              <a:t>Basic Idea:</a:t>
            </a:r>
            <a:endParaRPr sz="1800">
              <a:highlight>
                <a:srgbClr val="FFFFFF"/>
              </a:highlight>
              <a:latin typeface="Times"/>
              <a:ea typeface="Times"/>
              <a:cs typeface="Times"/>
              <a:sym typeface="Times"/>
            </a:endParaRPr>
          </a:p>
          <a:p>
            <a:pPr indent="-342900" lvl="1" marL="720000" rtl="0" algn="just">
              <a:spcBef>
                <a:spcPts val="0"/>
              </a:spcBef>
              <a:spcAft>
                <a:spcPts val="0"/>
              </a:spcAft>
              <a:buSzPts val="1800"/>
              <a:buFont typeface="Times"/>
              <a:buChar char="○"/>
            </a:pPr>
            <a:r>
              <a:rPr lang="en-GB" sz="1800">
                <a:highlight>
                  <a:srgbClr val="FFFFFF"/>
                </a:highlight>
                <a:latin typeface="Times"/>
                <a:ea typeface="Times"/>
                <a:cs typeface="Times"/>
                <a:sym typeface="Times"/>
              </a:rPr>
              <a:t>Sort all edges by weight (ascending).</a:t>
            </a:r>
            <a:endParaRPr sz="1800">
              <a:highlight>
                <a:srgbClr val="FFFFFF"/>
              </a:highlight>
              <a:latin typeface="Times"/>
              <a:ea typeface="Times"/>
              <a:cs typeface="Times"/>
              <a:sym typeface="Times"/>
            </a:endParaRPr>
          </a:p>
          <a:p>
            <a:pPr indent="-342900" lvl="1" marL="720000" rtl="0" algn="just">
              <a:spcBef>
                <a:spcPts val="0"/>
              </a:spcBef>
              <a:spcAft>
                <a:spcPts val="0"/>
              </a:spcAft>
              <a:buSzPts val="1800"/>
              <a:buFont typeface="Times"/>
              <a:buChar char="○"/>
            </a:pPr>
            <a:r>
              <a:rPr lang="en-GB" sz="1800">
                <a:highlight>
                  <a:srgbClr val="FFFFFF"/>
                </a:highlight>
                <a:latin typeface="Times"/>
                <a:ea typeface="Times"/>
                <a:cs typeface="Times"/>
                <a:sym typeface="Times"/>
              </a:rPr>
              <a:t>Add the smallest edge to the tree (only if it doesn’t create a cycle).</a:t>
            </a:r>
            <a:endParaRPr sz="1800">
              <a:highlight>
                <a:srgbClr val="FFFFFF"/>
              </a:highlight>
              <a:latin typeface="Times"/>
              <a:ea typeface="Times"/>
              <a:cs typeface="Times"/>
              <a:sym typeface="Times"/>
            </a:endParaRPr>
          </a:p>
          <a:p>
            <a:pPr indent="-342900" lvl="1" marL="720000" rtl="0" algn="just">
              <a:spcBef>
                <a:spcPts val="0"/>
              </a:spcBef>
              <a:spcAft>
                <a:spcPts val="0"/>
              </a:spcAft>
              <a:buSzPts val="1800"/>
              <a:buFont typeface="Times"/>
              <a:buChar char="○"/>
            </a:pPr>
            <a:r>
              <a:rPr lang="en-GB" sz="1800">
                <a:highlight>
                  <a:srgbClr val="FFFFFF"/>
                </a:highlight>
                <a:latin typeface="Times"/>
                <a:ea typeface="Times"/>
                <a:cs typeface="Times"/>
                <a:sym typeface="Times"/>
              </a:rPr>
              <a:t>Repeat until you have V-1 edges (where V is the number of vertices).</a:t>
            </a:r>
            <a:endParaRPr sz="1800">
              <a:highlight>
                <a:srgbClr val="FFFFFF"/>
              </a:highlight>
              <a:latin typeface="Times"/>
              <a:ea typeface="Times"/>
              <a:cs typeface="Times"/>
              <a:sym typeface="Times"/>
            </a:endParaRPr>
          </a:p>
        </p:txBody>
      </p:sp>
      <p:pic>
        <p:nvPicPr>
          <p:cNvPr id="1445" name="Google Shape;1445;p98"/>
          <p:cNvPicPr preferRelativeResize="0"/>
          <p:nvPr/>
        </p:nvPicPr>
        <p:blipFill>
          <a:blip r:embed="rId6">
            <a:alphaModFix/>
          </a:blip>
          <a:stretch>
            <a:fillRect/>
          </a:stretch>
        </p:blipFill>
        <p:spPr>
          <a:xfrm>
            <a:off x="1814425" y="2891950"/>
            <a:ext cx="5981700" cy="193945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9" name="Shape 1449"/>
        <p:cNvGrpSpPr/>
        <p:nvPr/>
      </p:nvGrpSpPr>
      <p:grpSpPr>
        <a:xfrm>
          <a:off x="0" y="0"/>
          <a:ext cx="0" cy="0"/>
          <a:chOff x="0" y="0"/>
          <a:chExt cx="0" cy="0"/>
        </a:xfrm>
      </p:grpSpPr>
      <p:sp>
        <p:nvSpPr>
          <p:cNvPr id="1450" name="Google Shape;1450;p99"/>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451" name="Google Shape;1451;p99"/>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52" name="Google Shape;1452;p99"/>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rtl="0" algn="ctr">
              <a:spcBef>
                <a:spcPts val="1800"/>
              </a:spcBef>
              <a:spcAft>
                <a:spcPts val="1800"/>
              </a:spcAft>
              <a:buNone/>
            </a:pPr>
            <a:r>
              <a:rPr b="1" lang="en-GB" sz="3000">
                <a:highlight>
                  <a:schemeClr val="lt1"/>
                </a:highlight>
                <a:latin typeface="Times"/>
                <a:ea typeface="Times"/>
                <a:cs typeface="Times"/>
                <a:sym typeface="Times"/>
              </a:rPr>
              <a:t>Kruskal’s Algorithm for MCST</a:t>
            </a:r>
            <a:endParaRPr b="1" sz="3000">
              <a:solidFill>
                <a:srgbClr val="2B2C30"/>
              </a:solidFill>
              <a:latin typeface="Times"/>
              <a:ea typeface="Times"/>
              <a:cs typeface="Times"/>
              <a:sym typeface="Times"/>
            </a:endParaRPr>
          </a:p>
        </p:txBody>
      </p:sp>
      <p:cxnSp>
        <p:nvCxnSpPr>
          <p:cNvPr id="1453" name="Google Shape;1453;p99"/>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pic>
        <p:nvPicPr>
          <p:cNvPr id="1454" name="Google Shape;1454;p99"/>
          <p:cNvPicPr preferRelativeResize="0"/>
          <p:nvPr/>
        </p:nvPicPr>
        <p:blipFill rotWithShape="1">
          <a:blip r:embed="rId6">
            <a:alphaModFix/>
          </a:blip>
          <a:srcRect b="5415" l="0" r="0" t="22962"/>
          <a:stretch/>
        </p:blipFill>
        <p:spPr>
          <a:xfrm>
            <a:off x="402850" y="755000"/>
            <a:ext cx="8395200" cy="3989175"/>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58" name="Shape 1458"/>
        <p:cNvGrpSpPr/>
        <p:nvPr/>
      </p:nvGrpSpPr>
      <p:grpSpPr>
        <a:xfrm>
          <a:off x="0" y="0"/>
          <a:ext cx="0" cy="0"/>
          <a:chOff x="0" y="0"/>
          <a:chExt cx="0" cy="0"/>
        </a:xfrm>
      </p:grpSpPr>
      <p:sp>
        <p:nvSpPr>
          <p:cNvPr id="1459" name="Google Shape;1459;p100"/>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460" name="Google Shape;1460;p100"/>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61" name="Google Shape;1461;p100"/>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rtl="0" algn="ctr">
              <a:spcBef>
                <a:spcPts val="1800"/>
              </a:spcBef>
              <a:spcAft>
                <a:spcPts val="1800"/>
              </a:spcAft>
              <a:buNone/>
            </a:pPr>
            <a:r>
              <a:rPr b="1" lang="en-GB" sz="3000">
                <a:highlight>
                  <a:schemeClr val="lt1"/>
                </a:highlight>
                <a:latin typeface="Times"/>
                <a:ea typeface="Times"/>
                <a:cs typeface="Times"/>
                <a:sym typeface="Times"/>
              </a:rPr>
              <a:t>Kruskal’s Algorithm for MCST</a:t>
            </a:r>
            <a:endParaRPr b="1" sz="3000">
              <a:solidFill>
                <a:srgbClr val="2B2C30"/>
              </a:solidFill>
              <a:latin typeface="Times"/>
              <a:ea typeface="Times"/>
              <a:cs typeface="Times"/>
              <a:sym typeface="Times"/>
            </a:endParaRPr>
          </a:p>
        </p:txBody>
      </p:sp>
      <p:cxnSp>
        <p:nvCxnSpPr>
          <p:cNvPr id="1462" name="Google Shape;1462;p100"/>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pic>
        <p:nvPicPr>
          <p:cNvPr id="1463" name="Google Shape;1463;p100"/>
          <p:cNvPicPr preferRelativeResize="0"/>
          <p:nvPr/>
        </p:nvPicPr>
        <p:blipFill rotWithShape="1">
          <a:blip r:embed="rId6">
            <a:alphaModFix/>
          </a:blip>
          <a:srcRect b="22791" l="20906" r="23047" t="9279"/>
          <a:stretch/>
        </p:blipFill>
        <p:spPr>
          <a:xfrm>
            <a:off x="402850" y="713563"/>
            <a:ext cx="3202699" cy="2038275"/>
          </a:xfrm>
          <a:prstGeom prst="rect">
            <a:avLst/>
          </a:prstGeom>
          <a:noFill/>
          <a:ln>
            <a:noFill/>
          </a:ln>
        </p:spPr>
      </p:pic>
      <p:pic>
        <p:nvPicPr>
          <p:cNvPr id="1464" name="Google Shape;1464;p100"/>
          <p:cNvPicPr preferRelativeResize="0"/>
          <p:nvPr/>
        </p:nvPicPr>
        <p:blipFill>
          <a:blip r:embed="rId7">
            <a:alphaModFix/>
          </a:blip>
          <a:stretch>
            <a:fillRect/>
          </a:stretch>
        </p:blipFill>
        <p:spPr>
          <a:xfrm>
            <a:off x="453200" y="2751813"/>
            <a:ext cx="3575875" cy="2137712"/>
          </a:xfrm>
          <a:prstGeom prst="rect">
            <a:avLst/>
          </a:prstGeom>
          <a:noFill/>
          <a:ln>
            <a:noFill/>
          </a:ln>
        </p:spPr>
      </p:pic>
      <p:pic>
        <p:nvPicPr>
          <p:cNvPr id="1465" name="Google Shape;1465;p100"/>
          <p:cNvPicPr preferRelativeResize="0"/>
          <p:nvPr/>
        </p:nvPicPr>
        <p:blipFill>
          <a:blip r:embed="rId8">
            <a:alphaModFix/>
          </a:blip>
          <a:stretch>
            <a:fillRect/>
          </a:stretch>
        </p:blipFill>
        <p:spPr>
          <a:xfrm>
            <a:off x="3943575" y="2285250"/>
            <a:ext cx="4854475" cy="2518300"/>
          </a:xfrm>
          <a:prstGeom prst="rect">
            <a:avLst/>
          </a:prstGeom>
          <a:noFill/>
          <a:ln>
            <a:noFill/>
          </a:ln>
        </p:spPr>
      </p:pic>
      <p:pic>
        <p:nvPicPr>
          <p:cNvPr id="1466" name="Google Shape;1466;p100"/>
          <p:cNvPicPr preferRelativeResize="0"/>
          <p:nvPr/>
        </p:nvPicPr>
        <p:blipFill rotWithShape="1">
          <a:blip r:embed="rId9">
            <a:alphaModFix/>
          </a:blip>
          <a:srcRect b="7663" l="0" r="6682" t="6618"/>
          <a:stretch/>
        </p:blipFill>
        <p:spPr>
          <a:xfrm>
            <a:off x="5139225" y="685100"/>
            <a:ext cx="2463175" cy="197515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70" name="Shape 1470"/>
        <p:cNvGrpSpPr/>
        <p:nvPr/>
      </p:nvGrpSpPr>
      <p:grpSpPr>
        <a:xfrm>
          <a:off x="0" y="0"/>
          <a:ext cx="0" cy="0"/>
          <a:chOff x="0" y="0"/>
          <a:chExt cx="0" cy="0"/>
        </a:xfrm>
      </p:grpSpPr>
      <p:sp>
        <p:nvSpPr>
          <p:cNvPr id="1471" name="Google Shape;1471;p101"/>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472" name="Google Shape;1472;p101"/>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73" name="Google Shape;1473;p101"/>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rtl="0" algn="ctr">
              <a:spcBef>
                <a:spcPts val="1800"/>
              </a:spcBef>
              <a:spcAft>
                <a:spcPts val="1800"/>
              </a:spcAft>
              <a:buNone/>
            </a:pPr>
            <a:r>
              <a:rPr b="1" lang="en-GB" sz="3000">
                <a:highlight>
                  <a:schemeClr val="lt1"/>
                </a:highlight>
                <a:latin typeface="Times"/>
                <a:ea typeface="Times"/>
                <a:cs typeface="Times"/>
                <a:sym typeface="Times"/>
              </a:rPr>
              <a:t>Kruskal’s Algorithm for MCST</a:t>
            </a:r>
            <a:endParaRPr b="1" sz="3000">
              <a:solidFill>
                <a:srgbClr val="2B2C30"/>
              </a:solidFill>
              <a:latin typeface="Times"/>
              <a:ea typeface="Times"/>
              <a:cs typeface="Times"/>
              <a:sym typeface="Times"/>
            </a:endParaRPr>
          </a:p>
        </p:txBody>
      </p:sp>
      <p:cxnSp>
        <p:nvCxnSpPr>
          <p:cNvPr id="1474" name="Google Shape;1474;p101"/>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1475" name="Google Shape;1475;p101"/>
          <p:cNvSpPr txBox="1"/>
          <p:nvPr/>
        </p:nvSpPr>
        <p:spPr>
          <a:xfrm>
            <a:off x="548725" y="545000"/>
            <a:ext cx="8244900" cy="4286400"/>
          </a:xfrm>
          <a:prstGeom prst="rect">
            <a:avLst/>
          </a:prstGeom>
          <a:noFill/>
          <a:ln>
            <a:noFill/>
          </a:ln>
        </p:spPr>
        <p:txBody>
          <a:bodyPr anchorCtr="0" anchor="t" bIns="91425" lIns="91425" spcFirstLastPara="1" rIns="91425" wrap="square" tIns="91425">
            <a:noAutofit/>
          </a:bodyPr>
          <a:lstStyle/>
          <a:p>
            <a:pPr indent="-342900" lvl="0" marL="360001" rtl="0" algn="just">
              <a:lnSpc>
                <a:spcPct val="100000"/>
              </a:lnSpc>
              <a:spcBef>
                <a:spcPts val="0"/>
              </a:spcBef>
              <a:spcAft>
                <a:spcPts val="0"/>
              </a:spcAft>
              <a:buSzPts val="1800"/>
              <a:buFont typeface="Times"/>
              <a:buChar char="➢"/>
            </a:pPr>
            <a:r>
              <a:rPr b="1" lang="en-GB" sz="1800">
                <a:highlight>
                  <a:srgbClr val="FFFFFF"/>
                </a:highlight>
                <a:latin typeface="Times"/>
                <a:ea typeface="Times"/>
                <a:cs typeface="Times"/>
                <a:sym typeface="Times"/>
              </a:rPr>
              <a:t>Algorithm:</a:t>
            </a:r>
            <a:endParaRPr b="1" sz="1800">
              <a:highlight>
                <a:srgbClr val="FFFFFF"/>
              </a:highlight>
              <a:latin typeface="Times"/>
              <a:ea typeface="Times"/>
              <a:cs typeface="Times"/>
              <a:sym typeface="Times"/>
            </a:endParaRPr>
          </a:p>
          <a:p>
            <a:pPr indent="0" lvl="0" marL="457200" rtl="0" algn="just">
              <a:spcBef>
                <a:spcPts val="0"/>
              </a:spcBef>
              <a:spcAft>
                <a:spcPts val="0"/>
              </a:spcAft>
              <a:buNone/>
            </a:pPr>
            <a:r>
              <a:rPr lang="en-GB" sz="1800">
                <a:highlight>
                  <a:srgbClr val="FFFFFF"/>
                </a:highlight>
                <a:latin typeface="Times"/>
                <a:ea typeface="Times"/>
                <a:cs typeface="Times"/>
                <a:sym typeface="Times"/>
              </a:rPr>
              <a:t>1️⃣ Sort all the edges by weight (ascending order).</a:t>
            </a:r>
            <a:endParaRPr sz="1800">
              <a:highlight>
                <a:srgbClr val="FFFFFF"/>
              </a:highlight>
              <a:latin typeface="Times"/>
              <a:ea typeface="Times"/>
              <a:cs typeface="Times"/>
              <a:sym typeface="Times"/>
            </a:endParaRPr>
          </a:p>
          <a:p>
            <a:pPr indent="0" lvl="0" marL="457200" rtl="0" algn="just">
              <a:spcBef>
                <a:spcPts val="0"/>
              </a:spcBef>
              <a:spcAft>
                <a:spcPts val="0"/>
              </a:spcAft>
              <a:buNone/>
            </a:pPr>
            <a:r>
              <a:rPr lang="en-GB" sz="1800">
                <a:highlight>
                  <a:srgbClr val="FFFFFF"/>
                </a:highlight>
                <a:latin typeface="Times"/>
                <a:ea typeface="Times"/>
                <a:cs typeface="Times"/>
                <a:sym typeface="Times"/>
              </a:rPr>
              <a:t>2️⃣ Initialize an empty set for the MCST and a disjoint set (Union-Find) to track </a:t>
            </a:r>
            <a:endParaRPr sz="1800">
              <a:highlight>
                <a:srgbClr val="FFFFFF"/>
              </a:highlight>
              <a:latin typeface="Times"/>
              <a:ea typeface="Times"/>
              <a:cs typeface="Times"/>
              <a:sym typeface="Times"/>
            </a:endParaRPr>
          </a:p>
          <a:p>
            <a:pPr indent="0" lvl="0" marL="457200" rtl="0" algn="just">
              <a:spcBef>
                <a:spcPts val="0"/>
              </a:spcBef>
              <a:spcAft>
                <a:spcPts val="0"/>
              </a:spcAft>
              <a:buNone/>
            </a:pPr>
            <a:r>
              <a:rPr lang="en-GB" sz="1800">
                <a:highlight>
                  <a:srgbClr val="FFFFFF"/>
                </a:highlight>
                <a:latin typeface="Times"/>
                <a:ea typeface="Times"/>
                <a:cs typeface="Times"/>
                <a:sym typeface="Times"/>
              </a:rPr>
              <a:t>      connected components.</a:t>
            </a:r>
            <a:endParaRPr sz="1800">
              <a:highlight>
                <a:srgbClr val="FFFFFF"/>
              </a:highlight>
              <a:latin typeface="Times"/>
              <a:ea typeface="Times"/>
              <a:cs typeface="Times"/>
              <a:sym typeface="Times"/>
            </a:endParaRPr>
          </a:p>
          <a:p>
            <a:pPr indent="0" lvl="0" marL="457200" rtl="0" algn="just">
              <a:spcBef>
                <a:spcPts val="0"/>
              </a:spcBef>
              <a:spcAft>
                <a:spcPts val="0"/>
              </a:spcAft>
              <a:buNone/>
            </a:pPr>
            <a:r>
              <a:rPr lang="en-GB" sz="1800">
                <a:highlight>
                  <a:srgbClr val="FFFFFF"/>
                </a:highlight>
                <a:latin typeface="Times"/>
                <a:ea typeface="Times"/>
                <a:cs typeface="Times"/>
                <a:sym typeface="Times"/>
              </a:rPr>
              <a:t>3️⃣ For each edge (smallest to largest):</a:t>
            </a:r>
            <a:endParaRPr sz="1800">
              <a:highlight>
                <a:srgbClr val="FFFFFF"/>
              </a:highlight>
              <a:latin typeface="Times"/>
              <a:ea typeface="Times"/>
              <a:cs typeface="Times"/>
              <a:sym typeface="Times"/>
            </a:endParaRPr>
          </a:p>
          <a:p>
            <a:pPr indent="0" lvl="0" marL="914400" rtl="0" algn="just">
              <a:spcBef>
                <a:spcPts val="0"/>
              </a:spcBef>
              <a:spcAft>
                <a:spcPts val="0"/>
              </a:spcAft>
              <a:buNone/>
            </a:pPr>
            <a:r>
              <a:rPr lang="en-GB" sz="1800">
                <a:highlight>
                  <a:srgbClr val="FFFFFF"/>
                </a:highlight>
                <a:latin typeface="Times"/>
                <a:ea typeface="Times"/>
                <a:cs typeface="Times"/>
                <a:sym typeface="Times"/>
              </a:rPr>
              <a:t>If the edge doesn’t form a cycle (connects two different components), add it to the MCST.</a:t>
            </a:r>
            <a:endParaRPr sz="1800">
              <a:highlight>
                <a:srgbClr val="FFFFFF"/>
              </a:highlight>
              <a:latin typeface="Times"/>
              <a:ea typeface="Times"/>
              <a:cs typeface="Times"/>
              <a:sym typeface="Times"/>
            </a:endParaRPr>
          </a:p>
          <a:p>
            <a:pPr indent="0" lvl="0" marL="457200" rtl="0" algn="just">
              <a:spcBef>
                <a:spcPts val="0"/>
              </a:spcBef>
              <a:spcAft>
                <a:spcPts val="0"/>
              </a:spcAft>
              <a:buNone/>
            </a:pPr>
            <a:r>
              <a:rPr lang="en-GB" sz="1800">
                <a:highlight>
                  <a:srgbClr val="FFFFFF"/>
                </a:highlight>
                <a:latin typeface="Times"/>
                <a:ea typeface="Times"/>
                <a:cs typeface="Times"/>
                <a:sym typeface="Times"/>
              </a:rPr>
              <a:t>4️⃣ Stop when you have V-1 edges in the tree.</a:t>
            </a:r>
            <a:endParaRPr sz="1800">
              <a:highlight>
                <a:srgbClr val="FFFFFF"/>
              </a:highlight>
              <a:latin typeface="Times"/>
              <a:ea typeface="Times"/>
              <a:cs typeface="Times"/>
              <a:sym typeface="Times"/>
            </a:endParaRPr>
          </a:p>
          <a:p>
            <a:pPr indent="0" lvl="0" marL="0" rtl="0" algn="just">
              <a:spcBef>
                <a:spcPts val="0"/>
              </a:spcBef>
              <a:spcAft>
                <a:spcPts val="0"/>
              </a:spcAft>
              <a:buNone/>
            </a:pPr>
            <a:r>
              <a:t/>
            </a:r>
            <a:endParaRPr sz="1800">
              <a:highlight>
                <a:srgbClr val="FFFFFF"/>
              </a:highlight>
              <a:latin typeface="Times"/>
              <a:ea typeface="Times"/>
              <a:cs typeface="Times"/>
              <a:sym typeface="Times"/>
            </a:endParaRPr>
          </a:p>
          <a:p>
            <a:pPr indent="0" lvl="0" marL="0" rtl="0" algn="just">
              <a:spcBef>
                <a:spcPts val="0"/>
              </a:spcBef>
              <a:spcAft>
                <a:spcPts val="0"/>
              </a:spcAft>
              <a:buNone/>
            </a:pPr>
            <a:r>
              <a:rPr lang="en-GB" sz="1800">
                <a:highlight>
                  <a:srgbClr val="FFFFFF"/>
                </a:highlight>
                <a:latin typeface="Times"/>
                <a:ea typeface="Times"/>
                <a:cs typeface="Times"/>
                <a:sym typeface="Times"/>
              </a:rPr>
              <a:t>Time Complexity:</a:t>
            </a:r>
            <a:endParaRPr sz="1800">
              <a:highlight>
                <a:srgbClr val="FFFFFF"/>
              </a:highlight>
              <a:latin typeface="Times"/>
              <a:ea typeface="Times"/>
              <a:cs typeface="Times"/>
              <a:sym typeface="Times"/>
            </a:endParaRPr>
          </a:p>
          <a:p>
            <a:pPr indent="0" lvl="0" marL="457200" rtl="0" algn="just">
              <a:spcBef>
                <a:spcPts val="0"/>
              </a:spcBef>
              <a:spcAft>
                <a:spcPts val="0"/>
              </a:spcAft>
              <a:buNone/>
            </a:pPr>
            <a:r>
              <a:rPr lang="en-GB" sz="1800">
                <a:highlight>
                  <a:srgbClr val="FFFFFF"/>
                </a:highlight>
                <a:latin typeface="Times"/>
                <a:ea typeface="Times"/>
                <a:cs typeface="Times"/>
                <a:sym typeface="Times"/>
              </a:rPr>
              <a:t>Sorting edges: O(E log E)</a:t>
            </a:r>
            <a:endParaRPr sz="1800">
              <a:highlight>
                <a:srgbClr val="FFFFFF"/>
              </a:highlight>
              <a:latin typeface="Times"/>
              <a:ea typeface="Times"/>
              <a:cs typeface="Times"/>
              <a:sym typeface="Times"/>
            </a:endParaRPr>
          </a:p>
          <a:p>
            <a:pPr indent="0" lvl="0" marL="457200" rtl="0" algn="just">
              <a:spcBef>
                <a:spcPts val="0"/>
              </a:spcBef>
              <a:spcAft>
                <a:spcPts val="0"/>
              </a:spcAft>
              <a:buNone/>
            </a:pPr>
            <a:r>
              <a:rPr lang="en-GB" sz="1800">
                <a:highlight>
                  <a:srgbClr val="FFFFFF"/>
                </a:highlight>
                <a:latin typeface="Times"/>
                <a:ea typeface="Times"/>
                <a:cs typeface="Times"/>
                <a:sym typeface="Times"/>
              </a:rPr>
              <a:t>Union-Find operations: Almost O(1) (using path compression + union by rank)</a:t>
            </a:r>
            <a:endParaRPr sz="1800">
              <a:highlight>
                <a:srgbClr val="FFFFFF"/>
              </a:highlight>
              <a:latin typeface="Times"/>
              <a:ea typeface="Times"/>
              <a:cs typeface="Times"/>
              <a:sym typeface="Times"/>
            </a:endParaRPr>
          </a:p>
          <a:p>
            <a:pPr indent="0" lvl="0" marL="457200" rtl="0" algn="just">
              <a:spcBef>
                <a:spcPts val="0"/>
              </a:spcBef>
              <a:spcAft>
                <a:spcPts val="0"/>
              </a:spcAft>
              <a:buNone/>
            </a:pPr>
            <a:r>
              <a:rPr lang="en-GB" sz="1800">
                <a:highlight>
                  <a:srgbClr val="FFFFFF"/>
                </a:highlight>
                <a:latin typeface="Times"/>
                <a:ea typeface="Times"/>
                <a:cs typeface="Times"/>
                <a:sym typeface="Times"/>
              </a:rPr>
              <a:t>Total: O(E log E)</a:t>
            </a:r>
            <a:endParaRPr sz="1800">
              <a:highlight>
                <a:srgbClr val="FFFFFF"/>
              </a:highlight>
              <a:latin typeface="Times"/>
              <a:ea typeface="Times"/>
              <a:cs typeface="Times"/>
              <a:sym typeface="Times"/>
            </a:endParaRPr>
          </a:p>
          <a:p>
            <a:pPr indent="0" lvl="0" marL="0" rtl="0" algn="just">
              <a:spcBef>
                <a:spcPts val="0"/>
              </a:spcBef>
              <a:spcAft>
                <a:spcPts val="0"/>
              </a:spcAft>
              <a:buNone/>
            </a:pPr>
            <a:r>
              <a:t/>
            </a:r>
            <a:endParaRPr sz="1800">
              <a:highlight>
                <a:srgbClr val="FFFFFF"/>
              </a:highlight>
              <a:latin typeface="Times"/>
              <a:ea typeface="Times"/>
              <a:cs typeface="Times"/>
              <a:sym typeface="Times"/>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79" name="Shape 1479"/>
        <p:cNvGrpSpPr/>
        <p:nvPr/>
      </p:nvGrpSpPr>
      <p:grpSpPr>
        <a:xfrm>
          <a:off x="0" y="0"/>
          <a:ext cx="0" cy="0"/>
          <a:chOff x="0" y="0"/>
          <a:chExt cx="0" cy="0"/>
        </a:xfrm>
      </p:grpSpPr>
      <p:sp>
        <p:nvSpPr>
          <p:cNvPr id="1480" name="Google Shape;1480;p102"/>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481" name="Google Shape;1481;p102"/>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82" name="Google Shape;1482;p102"/>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rtl="0" algn="ctr">
              <a:spcBef>
                <a:spcPts val="1800"/>
              </a:spcBef>
              <a:spcAft>
                <a:spcPts val="1800"/>
              </a:spcAft>
              <a:buNone/>
            </a:pPr>
            <a:r>
              <a:rPr b="1" lang="en-GB" sz="3000">
                <a:highlight>
                  <a:schemeClr val="lt1"/>
                </a:highlight>
                <a:latin typeface="Times"/>
                <a:ea typeface="Times"/>
                <a:cs typeface="Times"/>
                <a:sym typeface="Times"/>
              </a:rPr>
              <a:t>Prim’s Algorithm for MCST</a:t>
            </a:r>
            <a:endParaRPr b="1" sz="3000">
              <a:solidFill>
                <a:srgbClr val="2B2C30"/>
              </a:solidFill>
              <a:latin typeface="Times"/>
              <a:ea typeface="Times"/>
              <a:cs typeface="Times"/>
              <a:sym typeface="Times"/>
            </a:endParaRPr>
          </a:p>
        </p:txBody>
      </p:sp>
      <p:cxnSp>
        <p:nvCxnSpPr>
          <p:cNvPr id="1483" name="Google Shape;1483;p102"/>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1484" name="Google Shape;1484;p102"/>
          <p:cNvSpPr txBox="1"/>
          <p:nvPr/>
        </p:nvSpPr>
        <p:spPr>
          <a:xfrm>
            <a:off x="548725" y="545000"/>
            <a:ext cx="8244900" cy="4286400"/>
          </a:xfrm>
          <a:prstGeom prst="rect">
            <a:avLst/>
          </a:prstGeom>
          <a:noFill/>
          <a:ln>
            <a:noFill/>
          </a:ln>
        </p:spPr>
        <p:txBody>
          <a:bodyPr anchorCtr="0" anchor="t" bIns="91425" lIns="91425" spcFirstLastPara="1" rIns="91425" wrap="square" tIns="91425">
            <a:noAutofit/>
          </a:bodyPr>
          <a:lstStyle/>
          <a:p>
            <a:pPr indent="-342900" lvl="0" marL="360001" rtl="0" algn="just">
              <a:lnSpc>
                <a:spcPct val="100000"/>
              </a:lnSpc>
              <a:spcBef>
                <a:spcPts val="0"/>
              </a:spcBef>
              <a:spcAft>
                <a:spcPts val="0"/>
              </a:spcAft>
              <a:buSzPts val="1800"/>
              <a:buFont typeface="Times"/>
              <a:buChar char="➢"/>
            </a:pPr>
            <a:r>
              <a:t/>
            </a:r>
            <a:endParaRPr sz="1800">
              <a:highlight>
                <a:srgbClr val="FFFFFF"/>
              </a:highlight>
              <a:latin typeface="Times"/>
              <a:ea typeface="Times"/>
              <a:cs typeface="Times"/>
              <a:sym typeface="Times"/>
            </a:endParaRPr>
          </a:p>
        </p:txBody>
      </p:sp>
      <p:sp>
        <p:nvSpPr>
          <p:cNvPr id="1485" name="Google Shape;1485;p102"/>
          <p:cNvSpPr txBox="1"/>
          <p:nvPr/>
        </p:nvSpPr>
        <p:spPr>
          <a:xfrm>
            <a:off x="548725" y="545000"/>
            <a:ext cx="8244900" cy="4286400"/>
          </a:xfrm>
          <a:prstGeom prst="rect">
            <a:avLst/>
          </a:prstGeom>
          <a:noFill/>
          <a:ln>
            <a:noFill/>
          </a:ln>
        </p:spPr>
        <p:txBody>
          <a:bodyPr anchorCtr="0" anchor="t" bIns="91425" lIns="91425" spcFirstLastPara="1" rIns="91425" wrap="square" tIns="91425">
            <a:noAutofit/>
          </a:bodyPr>
          <a:lstStyle/>
          <a:p>
            <a:pPr indent="-342900" lvl="0" marL="360001" rtl="0" algn="just">
              <a:spcBef>
                <a:spcPts val="0"/>
              </a:spcBef>
              <a:spcAft>
                <a:spcPts val="0"/>
              </a:spcAft>
              <a:buSzPts val="1800"/>
              <a:buFont typeface="Times"/>
              <a:buChar char="➢"/>
            </a:pPr>
            <a:r>
              <a:rPr lang="en-GB" sz="1800">
                <a:highlight>
                  <a:srgbClr val="FFFFFF"/>
                </a:highlight>
                <a:latin typeface="Times"/>
                <a:ea typeface="Times"/>
                <a:cs typeface="Times"/>
                <a:sym typeface="Times"/>
              </a:rPr>
              <a:t>Prim’s algorithm builds the Minimum Cost Spanning Tree (MCST) by starting from any node and expanding the tree by repeatedly adding the cheapest edge that connects a new vertex to the tree.</a:t>
            </a:r>
            <a:endParaRPr sz="1800">
              <a:highlight>
                <a:srgbClr val="FFFFFF"/>
              </a:highlight>
              <a:latin typeface="Times"/>
              <a:ea typeface="Times"/>
              <a:cs typeface="Times"/>
              <a:sym typeface="Times"/>
            </a:endParaRPr>
          </a:p>
          <a:p>
            <a:pPr indent="-342900" lvl="0" marL="360001" rtl="0" algn="just">
              <a:spcBef>
                <a:spcPts val="0"/>
              </a:spcBef>
              <a:spcAft>
                <a:spcPts val="0"/>
              </a:spcAft>
              <a:buSzPts val="1800"/>
              <a:buFont typeface="Times"/>
              <a:buChar char="➢"/>
            </a:pPr>
            <a:r>
              <a:rPr lang="en-GB" sz="1800">
                <a:highlight>
                  <a:srgbClr val="FFFFFF"/>
                </a:highlight>
                <a:latin typeface="Times"/>
                <a:ea typeface="Times"/>
                <a:cs typeface="Times"/>
                <a:sym typeface="Times"/>
              </a:rPr>
              <a:t>Basic Idea:</a:t>
            </a:r>
            <a:endParaRPr sz="1800">
              <a:highlight>
                <a:srgbClr val="FFFFFF"/>
              </a:highlight>
              <a:latin typeface="Times"/>
              <a:ea typeface="Times"/>
              <a:cs typeface="Times"/>
              <a:sym typeface="Times"/>
            </a:endParaRPr>
          </a:p>
          <a:p>
            <a:pPr indent="-342900" lvl="1" marL="720000" rtl="0" algn="just">
              <a:spcBef>
                <a:spcPts val="0"/>
              </a:spcBef>
              <a:spcAft>
                <a:spcPts val="0"/>
              </a:spcAft>
              <a:buSzPts val="1800"/>
              <a:buFont typeface="Times"/>
              <a:buChar char="○"/>
            </a:pPr>
            <a:r>
              <a:rPr lang="en-GB" sz="1800">
                <a:highlight>
                  <a:srgbClr val="FFFFFF"/>
                </a:highlight>
                <a:latin typeface="Times"/>
                <a:ea typeface="Times"/>
                <a:cs typeface="Times"/>
                <a:sym typeface="Times"/>
              </a:rPr>
              <a:t>Start from an arbitrary node.</a:t>
            </a:r>
            <a:endParaRPr sz="1800">
              <a:highlight>
                <a:srgbClr val="FFFFFF"/>
              </a:highlight>
              <a:latin typeface="Times"/>
              <a:ea typeface="Times"/>
              <a:cs typeface="Times"/>
              <a:sym typeface="Times"/>
            </a:endParaRPr>
          </a:p>
          <a:p>
            <a:pPr indent="-342900" lvl="1" marL="720000" rtl="0" algn="just">
              <a:spcBef>
                <a:spcPts val="0"/>
              </a:spcBef>
              <a:spcAft>
                <a:spcPts val="0"/>
              </a:spcAft>
              <a:buSzPts val="1800"/>
              <a:buFont typeface="Times"/>
              <a:buChar char="○"/>
            </a:pPr>
            <a:r>
              <a:rPr lang="en-GB" sz="1800">
                <a:highlight>
                  <a:srgbClr val="FFFFFF"/>
                </a:highlight>
                <a:latin typeface="Times"/>
                <a:ea typeface="Times"/>
                <a:cs typeface="Times"/>
                <a:sym typeface="Times"/>
              </a:rPr>
              <a:t>Grow the tree by choosing the smallest weight edge that connects a new vertex to the tree (while avoiding cycles).</a:t>
            </a:r>
            <a:endParaRPr sz="1800">
              <a:highlight>
                <a:srgbClr val="FFFFFF"/>
              </a:highlight>
              <a:latin typeface="Times"/>
              <a:ea typeface="Times"/>
              <a:cs typeface="Times"/>
              <a:sym typeface="Times"/>
            </a:endParaRPr>
          </a:p>
          <a:p>
            <a:pPr indent="-342900" lvl="1" marL="720000" rtl="0" algn="just">
              <a:spcBef>
                <a:spcPts val="0"/>
              </a:spcBef>
              <a:spcAft>
                <a:spcPts val="0"/>
              </a:spcAft>
              <a:buSzPts val="1800"/>
              <a:buFont typeface="Times"/>
              <a:buChar char="○"/>
            </a:pPr>
            <a:r>
              <a:rPr lang="en-GB" sz="1800">
                <a:highlight>
                  <a:srgbClr val="FFFFFF"/>
                </a:highlight>
                <a:latin typeface="Times"/>
                <a:ea typeface="Times"/>
                <a:cs typeface="Times"/>
                <a:sym typeface="Times"/>
              </a:rPr>
              <a:t>Keep going until all vertices are included.</a:t>
            </a:r>
            <a:endParaRPr sz="1800">
              <a:highlight>
                <a:srgbClr val="FFFFFF"/>
              </a:highlight>
              <a:latin typeface="Times"/>
              <a:ea typeface="Times"/>
              <a:cs typeface="Times"/>
              <a:sym typeface="Times"/>
            </a:endParaRPr>
          </a:p>
        </p:txBody>
      </p:sp>
      <p:pic>
        <p:nvPicPr>
          <p:cNvPr id="1486" name="Google Shape;1486;p102"/>
          <p:cNvPicPr preferRelativeResize="0"/>
          <p:nvPr/>
        </p:nvPicPr>
        <p:blipFill>
          <a:blip r:embed="rId6">
            <a:alphaModFix/>
          </a:blip>
          <a:stretch>
            <a:fillRect/>
          </a:stretch>
        </p:blipFill>
        <p:spPr>
          <a:xfrm>
            <a:off x="1814425" y="2891950"/>
            <a:ext cx="5981700" cy="1939450"/>
          </a:xfrm>
          <a:prstGeom prst="rect">
            <a:avLst/>
          </a:prstGeom>
          <a:noFill/>
          <a:ln>
            <a:noFill/>
          </a:ln>
        </p:spPr>
      </p:pic>
      <p:sp>
        <p:nvSpPr>
          <p:cNvPr id="1487" name="Google Shape;1487;p102"/>
          <p:cNvSpPr txBox="1"/>
          <p:nvPr/>
        </p:nvSpPr>
        <p:spPr>
          <a:xfrm>
            <a:off x="5291800" y="2712175"/>
            <a:ext cx="822300" cy="43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300">
                <a:latin typeface="Times"/>
                <a:ea typeface="Times"/>
                <a:cs typeface="Times"/>
                <a:sym typeface="Times"/>
              </a:rPr>
              <a:t>Starting Point</a:t>
            </a:r>
            <a:endParaRPr b="1" sz="1300">
              <a:latin typeface="Times"/>
              <a:ea typeface="Times"/>
              <a:cs typeface="Times"/>
              <a:sym typeface="Times"/>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1" name="Shape 1491"/>
        <p:cNvGrpSpPr/>
        <p:nvPr/>
      </p:nvGrpSpPr>
      <p:grpSpPr>
        <a:xfrm>
          <a:off x="0" y="0"/>
          <a:ext cx="0" cy="0"/>
          <a:chOff x="0" y="0"/>
          <a:chExt cx="0" cy="0"/>
        </a:xfrm>
      </p:grpSpPr>
      <p:sp>
        <p:nvSpPr>
          <p:cNvPr id="1492" name="Google Shape;1492;p103"/>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493" name="Google Shape;1493;p103"/>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94" name="Google Shape;1494;p103"/>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rtl="0" algn="ctr">
              <a:spcBef>
                <a:spcPts val="1800"/>
              </a:spcBef>
              <a:spcAft>
                <a:spcPts val="1800"/>
              </a:spcAft>
              <a:buNone/>
            </a:pPr>
            <a:r>
              <a:rPr b="1" lang="en-GB" sz="3000">
                <a:highlight>
                  <a:schemeClr val="lt1"/>
                </a:highlight>
                <a:latin typeface="Times"/>
                <a:ea typeface="Times"/>
                <a:cs typeface="Times"/>
                <a:sym typeface="Times"/>
              </a:rPr>
              <a:t>Prim’s Algorithm for MCST</a:t>
            </a:r>
            <a:endParaRPr b="1" sz="3000">
              <a:solidFill>
                <a:srgbClr val="2B2C30"/>
              </a:solidFill>
              <a:latin typeface="Times"/>
              <a:ea typeface="Times"/>
              <a:cs typeface="Times"/>
              <a:sym typeface="Times"/>
            </a:endParaRPr>
          </a:p>
        </p:txBody>
      </p:sp>
      <p:cxnSp>
        <p:nvCxnSpPr>
          <p:cNvPr id="1495" name="Google Shape;1495;p103"/>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sp>
        <p:nvSpPr>
          <p:cNvPr id="1496" name="Google Shape;1496;p103"/>
          <p:cNvSpPr txBox="1"/>
          <p:nvPr/>
        </p:nvSpPr>
        <p:spPr>
          <a:xfrm>
            <a:off x="548725" y="545000"/>
            <a:ext cx="8244900" cy="4286400"/>
          </a:xfrm>
          <a:prstGeom prst="rect">
            <a:avLst/>
          </a:prstGeom>
          <a:noFill/>
          <a:ln>
            <a:noFill/>
          </a:ln>
        </p:spPr>
        <p:txBody>
          <a:bodyPr anchorCtr="0" anchor="t" bIns="91425" lIns="91425" spcFirstLastPara="1" rIns="91425" wrap="square" tIns="91425">
            <a:noAutofit/>
          </a:bodyPr>
          <a:lstStyle/>
          <a:p>
            <a:pPr indent="-342900" lvl="0" marL="360001" rtl="0" algn="just">
              <a:lnSpc>
                <a:spcPct val="100000"/>
              </a:lnSpc>
              <a:spcBef>
                <a:spcPts val="0"/>
              </a:spcBef>
              <a:spcAft>
                <a:spcPts val="0"/>
              </a:spcAft>
              <a:buSzPts val="1800"/>
              <a:buFont typeface="Times"/>
              <a:buChar char="➢"/>
            </a:pPr>
            <a:r>
              <a:t/>
            </a:r>
            <a:endParaRPr sz="1800">
              <a:highlight>
                <a:srgbClr val="FFFFFF"/>
              </a:highlight>
              <a:latin typeface="Times"/>
              <a:ea typeface="Times"/>
              <a:cs typeface="Times"/>
              <a:sym typeface="Times"/>
            </a:endParaRPr>
          </a:p>
        </p:txBody>
      </p:sp>
      <p:sp>
        <p:nvSpPr>
          <p:cNvPr id="1497" name="Google Shape;1497;p103"/>
          <p:cNvSpPr txBox="1"/>
          <p:nvPr/>
        </p:nvSpPr>
        <p:spPr>
          <a:xfrm>
            <a:off x="548725" y="545000"/>
            <a:ext cx="8244900" cy="4286400"/>
          </a:xfrm>
          <a:prstGeom prst="rect">
            <a:avLst/>
          </a:prstGeom>
          <a:noFill/>
          <a:ln>
            <a:noFill/>
          </a:ln>
        </p:spPr>
        <p:txBody>
          <a:bodyPr anchorCtr="0" anchor="t" bIns="91425" lIns="91425" spcFirstLastPara="1" rIns="91425" wrap="square" tIns="91425">
            <a:noAutofit/>
          </a:bodyPr>
          <a:lstStyle/>
          <a:p>
            <a:pPr indent="-342900" lvl="0" marL="360001" rtl="0" algn="just">
              <a:lnSpc>
                <a:spcPct val="100000"/>
              </a:lnSpc>
              <a:spcBef>
                <a:spcPts val="0"/>
              </a:spcBef>
              <a:spcAft>
                <a:spcPts val="0"/>
              </a:spcAft>
              <a:buSzPts val="1800"/>
              <a:buFont typeface="Times"/>
              <a:buChar char="➢"/>
            </a:pPr>
            <a:r>
              <a:rPr b="1" lang="en-GB" sz="1800">
                <a:highlight>
                  <a:srgbClr val="FFFFFF"/>
                </a:highlight>
                <a:latin typeface="Times"/>
                <a:ea typeface="Times"/>
                <a:cs typeface="Times"/>
                <a:sym typeface="Times"/>
              </a:rPr>
              <a:t>Algorithm:</a:t>
            </a:r>
            <a:endParaRPr b="1" sz="1800">
              <a:highlight>
                <a:srgbClr val="FFFFFF"/>
              </a:highlight>
              <a:latin typeface="Times"/>
              <a:ea typeface="Times"/>
              <a:cs typeface="Times"/>
              <a:sym typeface="Times"/>
            </a:endParaRPr>
          </a:p>
          <a:p>
            <a:pPr indent="0" lvl="0" marL="457200" rtl="0" algn="just">
              <a:spcBef>
                <a:spcPts val="0"/>
              </a:spcBef>
              <a:spcAft>
                <a:spcPts val="0"/>
              </a:spcAft>
              <a:buNone/>
            </a:pPr>
            <a:r>
              <a:rPr lang="en-GB" sz="1800">
                <a:highlight>
                  <a:srgbClr val="FFFFFF"/>
                </a:highlight>
                <a:latin typeface="Times"/>
                <a:ea typeface="Times"/>
                <a:cs typeface="Times"/>
                <a:sym typeface="Times"/>
              </a:rPr>
              <a:t>1️⃣ Start with any vertex (let’s call it u).</a:t>
            </a:r>
            <a:endParaRPr sz="1800">
              <a:highlight>
                <a:srgbClr val="FFFFFF"/>
              </a:highlight>
              <a:latin typeface="Times"/>
              <a:ea typeface="Times"/>
              <a:cs typeface="Times"/>
              <a:sym typeface="Times"/>
            </a:endParaRPr>
          </a:p>
          <a:p>
            <a:pPr indent="0" lvl="0" marL="457200" rtl="0" algn="just">
              <a:spcBef>
                <a:spcPts val="0"/>
              </a:spcBef>
              <a:spcAft>
                <a:spcPts val="0"/>
              </a:spcAft>
              <a:buNone/>
            </a:pPr>
            <a:r>
              <a:rPr lang="en-GB" sz="1800">
                <a:highlight>
                  <a:srgbClr val="FFFFFF"/>
                </a:highlight>
                <a:latin typeface="Times"/>
                <a:ea typeface="Times"/>
                <a:cs typeface="Times"/>
                <a:sym typeface="Times"/>
              </a:rPr>
              <a:t>2️⃣ Initialize:</a:t>
            </a:r>
            <a:endParaRPr sz="1800">
              <a:highlight>
                <a:srgbClr val="FFFFFF"/>
              </a:highlight>
              <a:latin typeface="Times"/>
              <a:ea typeface="Times"/>
              <a:cs typeface="Times"/>
              <a:sym typeface="Times"/>
            </a:endParaRPr>
          </a:p>
          <a:p>
            <a:pPr indent="0" lvl="0" marL="457200" rtl="0" algn="just">
              <a:spcBef>
                <a:spcPts val="0"/>
              </a:spcBef>
              <a:spcAft>
                <a:spcPts val="0"/>
              </a:spcAft>
              <a:buNone/>
            </a:pPr>
            <a:r>
              <a:rPr lang="en-GB" sz="1800">
                <a:highlight>
                  <a:srgbClr val="FFFFFF"/>
                </a:highlight>
                <a:latin typeface="Times"/>
                <a:ea typeface="Times"/>
                <a:cs typeface="Times"/>
                <a:sym typeface="Times"/>
              </a:rPr>
              <a:t>	A set of visited nodes (starts with just u).</a:t>
            </a:r>
            <a:endParaRPr sz="1800">
              <a:highlight>
                <a:srgbClr val="FFFFFF"/>
              </a:highlight>
              <a:latin typeface="Times"/>
              <a:ea typeface="Times"/>
              <a:cs typeface="Times"/>
              <a:sym typeface="Times"/>
            </a:endParaRPr>
          </a:p>
          <a:p>
            <a:pPr indent="0" lvl="0" marL="914400" rtl="0" algn="just">
              <a:spcBef>
                <a:spcPts val="0"/>
              </a:spcBef>
              <a:spcAft>
                <a:spcPts val="0"/>
              </a:spcAft>
              <a:buNone/>
            </a:pPr>
            <a:r>
              <a:rPr lang="en-GB" sz="1800">
                <a:highlight>
                  <a:srgbClr val="FFFFFF"/>
                </a:highlight>
                <a:latin typeface="Times"/>
                <a:ea typeface="Times"/>
                <a:cs typeface="Times"/>
                <a:sym typeface="Times"/>
              </a:rPr>
              <a:t>A priority queue (min-heap) storing edges connected to the visited nodes, sorted by weight.</a:t>
            </a:r>
            <a:endParaRPr sz="1800">
              <a:highlight>
                <a:srgbClr val="FFFFFF"/>
              </a:highlight>
              <a:latin typeface="Times"/>
              <a:ea typeface="Times"/>
              <a:cs typeface="Times"/>
              <a:sym typeface="Times"/>
            </a:endParaRPr>
          </a:p>
          <a:p>
            <a:pPr indent="0" lvl="0" marL="457200" rtl="0" algn="just">
              <a:spcBef>
                <a:spcPts val="0"/>
              </a:spcBef>
              <a:spcAft>
                <a:spcPts val="0"/>
              </a:spcAft>
              <a:buNone/>
            </a:pPr>
            <a:r>
              <a:rPr lang="en-GB" sz="1800">
                <a:highlight>
                  <a:srgbClr val="FFFFFF"/>
                </a:highlight>
                <a:latin typeface="Times"/>
                <a:ea typeface="Times"/>
                <a:cs typeface="Times"/>
                <a:sym typeface="Times"/>
              </a:rPr>
              <a:t>3️⃣ Pick the smallest weight edge from the queue that connects a visited node to an </a:t>
            </a:r>
            <a:endParaRPr sz="1800">
              <a:highlight>
                <a:srgbClr val="FFFFFF"/>
              </a:highlight>
              <a:latin typeface="Times"/>
              <a:ea typeface="Times"/>
              <a:cs typeface="Times"/>
              <a:sym typeface="Times"/>
            </a:endParaRPr>
          </a:p>
          <a:p>
            <a:pPr indent="0" lvl="0" marL="457200" rtl="0" algn="just">
              <a:spcBef>
                <a:spcPts val="0"/>
              </a:spcBef>
              <a:spcAft>
                <a:spcPts val="0"/>
              </a:spcAft>
              <a:buNone/>
            </a:pPr>
            <a:r>
              <a:rPr lang="en-GB" sz="1800">
                <a:highlight>
                  <a:srgbClr val="FFFFFF"/>
                </a:highlight>
                <a:latin typeface="Times"/>
                <a:ea typeface="Times"/>
                <a:cs typeface="Times"/>
                <a:sym typeface="Times"/>
              </a:rPr>
              <a:t>      unvisited node.</a:t>
            </a:r>
            <a:endParaRPr sz="1800">
              <a:highlight>
                <a:srgbClr val="FFFFFF"/>
              </a:highlight>
              <a:latin typeface="Times"/>
              <a:ea typeface="Times"/>
              <a:cs typeface="Times"/>
              <a:sym typeface="Times"/>
            </a:endParaRPr>
          </a:p>
          <a:p>
            <a:pPr indent="0" lvl="0" marL="457200" rtl="0" algn="just">
              <a:spcBef>
                <a:spcPts val="0"/>
              </a:spcBef>
              <a:spcAft>
                <a:spcPts val="0"/>
              </a:spcAft>
              <a:buNone/>
            </a:pPr>
            <a:r>
              <a:rPr lang="en-GB" sz="1800">
                <a:highlight>
                  <a:srgbClr val="FFFFFF"/>
                </a:highlight>
                <a:latin typeface="Times"/>
                <a:ea typeface="Times"/>
                <a:cs typeface="Times"/>
                <a:sym typeface="Times"/>
              </a:rPr>
              <a:t>4️⃣ Add this edge and the new node to the MCST.</a:t>
            </a:r>
            <a:endParaRPr sz="1800">
              <a:highlight>
                <a:srgbClr val="FFFFFF"/>
              </a:highlight>
              <a:latin typeface="Times"/>
              <a:ea typeface="Times"/>
              <a:cs typeface="Times"/>
              <a:sym typeface="Times"/>
            </a:endParaRPr>
          </a:p>
          <a:p>
            <a:pPr indent="0" lvl="0" marL="457200" rtl="0" algn="just">
              <a:spcBef>
                <a:spcPts val="0"/>
              </a:spcBef>
              <a:spcAft>
                <a:spcPts val="0"/>
              </a:spcAft>
              <a:buNone/>
            </a:pPr>
            <a:r>
              <a:rPr lang="en-GB" sz="1800">
                <a:highlight>
                  <a:srgbClr val="FFFFFF"/>
                </a:highlight>
                <a:latin typeface="Times"/>
                <a:ea typeface="Times"/>
                <a:cs typeface="Times"/>
                <a:sym typeface="Times"/>
              </a:rPr>
              <a:t>5️⃣ Repeat steps 3 and 4 until all nodes are included.</a:t>
            </a:r>
            <a:endParaRPr sz="1800">
              <a:highlight>
                <a:srgbClr val="FFFFFF"/>
              </a:highlight>
              <a:latin typeface="Times"/>
              <a:ea typeface="Times"/>
              <a:cs typeface="Times"/>
              <a:sym typeface="Times"/>
            </a:endParaRPr>
          </a:p>
          <a:p>
            <a:pPr indent="0" lvl="0" marL="0" rtl="0" algn="just">
              <a:spcBef>
                <a:spcPts val="0"/>
              </a:spcBef>
              <a:spcAft>
                <a:spcPts val="0"/>
              </a:spcAft>
              <a:buNone/>
            </a:pPr>
            <a:r>
              <a:t/>
            </a:r>
            <a:endParaRPr sz="1800">
              <a:highlight>
                <a:srgbClr val="FFFFFF"/>
              </a:highlight>
              <a:latin typeface="Times"/>
              <a:ea typeface="Times"/>
              <a:cs typeface="Times"/>
              <a:sym typeface="Times"/>
            </a:endParaRPr>
          </a:p>
          <a:p>
            <a:pPr indent="0" lvl="0" marL="0" rtl="0" algn="just">
              <a:spcBef>
                <a:spcPts val="0"/>
              </a:spcBef>
              <a:spcAft>
                <a:spcPts val="0"/>
              </a:spcAft>
              <a:buNone/>
            </a:pPr>
            <a:r>
              <a:rPr lang="en-GB" sz="1800">
                <a:highlight>
                  <a:srgbClr val="FFFFFF"/>
                </a:highlight>
                <a:latin typeface="Times"/>
                <a:ea typeface="Times"/>
                <a:cs typeface="Times"/>
                <a:sym typeface="Times"/>
              </a:rPr>
              <a:t>Time Complexity:</a:t>
            </a:r>
            <a:endParaRPr sz="1800">
              <a:highlight>
                <a:srgbClr val="FFFFFF"/>
              </a:highlight>
              <a:latin typeface="Times"/>
              <a:ea typeface="Times"/>
              <a:cs typeface="Times"/>
              <a:sym typeface="Times"/>
            </a:endParaRPr>
          </a:p>
          <a:p>
            <a:pPr indent="0" lvl="0" marL="457200" rtl="0" algn="just">
              <a:spcBef>
                <a:spcPts val="0"/>
              </a:spcBef>
              <a:spcAft>
                <a:spcPts val="0"/>
              </a:spcAft>
              <a:buNone/>
            </a:pPr>
            <a:r>
              <a:rPr lang="en-GB" sz="1800">
                <a:latin typeface="Times"/>
                <a:ea typeface="Times"/>
                <a:cs typeface="Times"/>
                <a:sym typeface="Times"/>
              </a:rPr>
              <a:t>O((V + E) log V) using a priority queue (min-heap).</a:t>
            </a:r>
            <a:endParaRPr sz="1800">
              <a:highlight>
                <a:srgbClr val="FFFFFF"/>
              </a:highlight>
              <a:latin typeface="Times"/>
              <a:ea typeface="Times"/>
              <a:cs typeface="Times"/>
              <a:sym typeface="Times"/>
            </a:endParaRPr>
          </a:p>
          <a:p>
            <a:pPr indent="0" lvl="0" marL="0" rtl="0" algn="just">
              <a:spcBef>
                <a:spcPts val="0"/>
              </a:spcBef>
              <a:spcAft>
                <a:spcPts val="0"/>
              </a:spcAft>
              <a:buNone/>
            </a:pPr>
            <a:r>
              <a:t/>
            </a:r>
            <a:endParaRPr sz="1800">
              <a:highlight>
                <a:srgbClr val="FFFFFF"/>
              </a:highlight>
              <a:latin typeface="Times"/>
              <a:ea typeface="Times"/>
              <a:cs typeface="Times"/>
              <a:sym typeface="Times"/>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01" name="Shape 1501"/>
        <p:cNvGrpSpPr/>
        <p:nvPr/>
      </p:nvGrpSpPr>
      <p:grpSpPr>
        <a:xfrm>
          <a:off x="0" y="0"/>
          <a:ext cx="0" cy="0"/>
          <a:chOff x="0" y="0"/>
          <a:chExt cx="0" cy="0"/>
        </a:xfrm>
      </p:grpSpPr>
      <p:sp>
        <p:nvSpPr>
          <p:cNvPr id="1502" name="Google Shape;1502;p104"/>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503" name="Google Shape;1503;p104"/>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504" name="Google Shape;1504;p104"/>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rtl="0" algn="ctr">
              <a:spcBef>
                <a:spcPts val="1800"/>
              </a:spcBef>
              <a:spcAft>
                <a:spcPts val="1800"/>
              </a:spcAft>
              <a:buNone/>
            </a:pPr>
            <a:r>
              <a:rPr b="1" lang="en-GB" sz="3000">
                <a:highlight>
                  <a:schemeClr val="lt1"/>
                </a:highlight>
                <a:latin typeface="Times"/>
                <a:ea typeface="Times"/>
                <a:cs typeface="Times"/>
                <a:sym typeface="Times"/>
              </a:rPr>
              <a:t>Prim’s Algorithm for MCST</a:t>
            </a:r>
            <a:endParaRPr b="1" sz="3000">
              <a:solidFill>
                <a:srgbClr val="2B2C30"/>
              </a:solidFill>
              <a:latin typeface="Times"/>
              <a:ea typeface="Times"/>
              <a:cs typeface="Times"/>
              <a:sym typeface="Times"/>
            </a:endParaRPr>
          </a:p>
        </p:txBody>
      </p:sp>
      <p:cxnSp>
        <p:nvCxnSpPr>
          <p:cNvPr id="1505" name="Google Shape;1505;p104"/>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pic>
        <p:nvPicPr>
          <p:cNvPr id="1506" name="Google Shape;1506;p104"/>
          <p:cNvPicPr preferRelativeResize="0"/>
          <p:nvPr/>
        </p:nvPicPr>
        <p:blipFill rotWithShape="1">
          <a:blip r:embed="rId6">
            <a:alphaModFix/>
          </a:blip>
          <a:srcRect b="22791" l="20906" r="23047" t="9279"/>
          <a:stretch/>
        </p:blipFill>
        <p:spPr>
          <a:xfrm>
            <a:off x="402850" y="713563"/>
            <a:ext cx="3202699" cy="2038275"/>
          </a:xfrm>
          <a:prstGeom prst="rect">
            <a:avLst/>
          </a:prstGeom>
          <a:noFill/>
          <a:ln>
            <a:noFill/>
          </a:ln>
        </p:spPr>
      </p:pic>
      <p:pic>
        <p:nvPicPr>
          <p:cNvPr id="1507" name="Google Shape;1507;p104"/>
          <p:cNvPicPr preferRelativeResize="0"/>
          <p:nvPr/>
        </p:nvPicPr>
        <p:blipFill>
          <a:blip r:embed="rId7">
            <a:alphaModFix/>
          </a:blip>
          <a:stretch>
            <a:fillRect/>
          </a:stretch>
        </p:blipFill>
        <p:spPr>
          <a:xfrm>
            <a:off x="453200" y="2751813"/>
            <a:ext cx="3575875" cy="2137712"/>
          </a:xfrm>
          <a:prstGeom prst="rect">
            <a:avLst/>
          </a:prstGeom>
          <a:noFill/>
          <a:ln>
            <a:noFill/>
          </a:ln>
        </p:spPr>
      </p:pic>
      <p:pic>
        <p:nvPicPr>
          <p:cNvPr id="1508" name="Google Shape;1508;p104"/>
          <p:cNvPicPr preferRelativeResize="0"/>
          <p:nvPr/>
        </p:nvPicPr>
        <p:blipFill>
          <a:blip r:embed="rId8">
            <a:alphaModFix/>
          </a:blip>
          <a:stretch>
            <a:fillRect/>
          </a:stretch>
        </p:blipFill>
        <p:spPr>
          <a:xfrm>
            <a:off x="3943575" y="2285250"/>
            <a:ext cx="4854475" cy="2518300"/>
          </a:xfrm>
          <a:prstGeom prst="rect">
            <a:avLst/>
          </a:prstGeom>
          <a:noFill/>
          <a:ln>
            <a:noFill/>
          </a:ln>
        </p:spPr>
      </p:pic>
      <p:pic>
        <p:nvPicPr>
          <p:cNvPr id="1509" name="Google Shape;1509;p104"/>
          <p:cNvPicPr preferRelativeResize="0"/>
          <p:nvPr/>
        </p:nvPicPr>
        <p:blipFill rotWithShape="1">
          <a:blip r:embed="rId9">
            <a:alphaModFix/>
          </a:blip>
          <a:srcRect b="7663" l="0" r="6682" t="6618"/>
          <a:stretch/>
        </p:blipFill>
        <p:spPr>
          <a:xfrm>
            <a:off x="5139225" y="685100"/>
            <a:ext cx="2463175" cy="197515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13" name="Shape 1513"/>
        <p:cNvGrpSpPr/>
        <p:nvPr/>
      </p:nvGrpSpPr>
      <p:grpSpPr>
        <a:xfrm>
          <a:off x="0" y="0"/>
          <a:ext cx="0" cy="0"/>
          <a:chOff x="0" y="0"/>
          <a:chExt cx="0" cy="0"/>
        </a:xfrm>
      </p:grpSpPr>
      <p:sp>
        <p:nvSpPr>
          <p:cNvPr id="1514" name="Google Shape;1514;p105"/>
          <p:cNvSpPr txBox="1"/>
          <p:nvPr/>
        </p:nvSpPr>
        <p:spPr>
          <a:xfrm>
            <a:off x="453200" y="4888751"/>
            <a:ext cx="8236800" cy="189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600"/>
              <a:buNone/>
            </a:pPr>
            <a:r>
              <a:rPr lang="en-GB" sz="1000">
                <a:solidFill>
                  <a:srgbClr val="9900FF"/>
                </a:solidFill>
                <a:highlight>
                  <a:srgbClr val="FFFFFF"/>
                </a:highlight>
                <a:latin typeface="Times"/>
                <a:ea typeface="Times"/>
                <a:cs typeface="Times"/>
                <a:sym typeface="Times"/>
              </a:rPr>
              <a:t>Er. Baburam Shrestha || </a:t>
            </a:r>
            <a:r>
              <a:rPr lang="en-GB" sz="1000">
                <a:solidFill>
                  <a:srgbClr val="9900FF"/>
                </a:solidFill>
                <a:highlight>
                  <a:srgbClr val="FFFFFF"/>
                </a:highlight>
                <a:uFill>
                  <a:noFill/>
                </a:uFill>
                <a:latin typeface="Times"/>
                <a:ea typeface="Times"/>
                <a:cs typeface="Times"/>
                <a:sym typeface="Times"/>
                <a:hlinkClick r:id="rId3">
                  <a:extLst>
                    <a:ext uri="{A12FA001-AC4F-418D-AE19-62706E023703}">
                      <ahyp:hlinkClr val="tx"/>
                    </a:ext>
                  </a:extLst>
                </a:hlinkClick>
              </a:rPr>
              <a:t>Gmail</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4">
                  <a:extLst>
                    <a:ext uri="{A12FA001-AC4F-418D-AE19-62706E023703}">
                      <ahyp:hlinkClr val="tx"/>
                    </a:ext>
                  </a:extLst>
                </a:hlinkClick>
              </a:rPr>
              <a:t>Linkedin</a:t>
            </a:r>
            <a:r>
              <a:rPr lang="en-GB" sz="1000">
                <a:solidFill>
                  <a:srgbClr val="9900FF"/>
                </a:solidFill>
                <a:highlight>
                  <a:srgbClr val="FFFFFF"/>
                </a:highlight>
                <a:latin typeface="Times"/>
                <a:ea typeface="Times"/>
                <a:cs typeface="Times"/>
                <a:sym typeface="Times"/>
              </a:rPr>
              <a:t> || </a:t>
            </a:r>
            <a:r>
              <a:rPr lang="en-GB" sz="1000">
                <a:solidFill>
                  <a:srgbClr val="9900FF"/>
                </a:solidFill>
                <a:highlight>
                  <a:srgbClr val="FFFFFF"/>
                </a:highlight>
                <a:uFill>
                  <a:noFill/>
                </a:uFill>
                <a:latin typeface="Times"/>
                <a:ea typeface="Times"/>
                <a:cs typeface="Times"/>
                <a:sym typeface="Times"/>
                <a:hlinkClick r:id="rId5">
                  <a:extLst>
                    <a:ext uri="{A12FA001-AC4F-418D-AE19-62706E023703}">
                      <ahyp:hlinkClr val="tx"/>
                    </a:ext>
                  </a:extLst>
                </a:hlinkClick>
              </a:rPr>
              <a:t>Github</a:t>
            </a:r>
            <a:endParaRPr sz="1000">
              <a:solidFill>
                <a:srgbClr val="9900FF"/>
              </a:solidFill>
              <a:highlight>
                <a:srgbClr val="FFFFFF"/>
              </a:highlight>
              <a:latin typeface="Times"/>
              <a:ea typeface="Times"/>
              <a:cs typeface="Times"/>
              <a:sym typeface="Times"/>
            </a:endParaRPr>
          </a:p>
        </p:txBody>
      </p:sp>
      <p:sp>
        <p:nvSpPr>
          <p:cNvPr id="1515" name="Google Shape;1515;p105"/>
          <p:cNvSpPr txBox="1"/>
          <p:nvPr>
            <p:ph idx="12" type="sldNum"/>
          </p:nvPr>
        </p:nvSpPr>
        <p:spPr>
          <a:xfrm>
            <a:off x="8537900" y="4744175"/>
            <a:ext cx="606300" cy="39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516" name="Google Shape;1516;p105"/>
          <p:cNvSpPr txBox="1"/>
          <p:nvPr/>
        </p:nvSpPr>
        <p:spPr>
          <a:xfrm>
            <a:off x="548725" y="107900"/>
            <a:ext cx="8201700" cy="437100"/>
          </a:xfrm>
          <a:prstGeom prst="rect">
            <a:avLst/>
          </a:prstGeom>
          <a:noFill/>
          <a:ln>
            <a:noFill/>
          </a:ln>
        </p:spPr>
        <p:txBody>
          <a:bodyPr anchorCtr="0" anchor="t" bIns="0" lIns="0" spcFirstLastPara="1" rIns="0" wrap="square" tIns="0">
            <a:noAutofit/>
          </a:bodyPr>
          <a:lstStyle/>
          <a:p>
            <a:pPr indent="0" lvl="0" marL="0" rtl="0" algn="ctr">
              <a:spcBef>
                <a:spcPts val="1800"/>
              </a:spcBef>
              <a:spcAft>
                <a:spcPts val="1800"/>
              </a:spcAft>
              <a:buNone/>
            </a:pPr>
            <a:r>
              <a:rPr b="1" lang="en-GB" sz="3000">
                <a:highlight>
                  <a:schemeClr val="lt1"/>
                </a:highlight>
                <a:latin typeface="Times"/>
                <a:ea typeface="Times"/>
                <a:cs typeface="Times"/>
                <a:sym typeface="Times"/>
              </a:rPr>
              <a:t>Kruskal’s vs Prim’s Algorithm for MCST</a:t>
            </a:r>
            <a:endParaRPr b="1" sz="3000">
              <a:solidFill>
                <a:srgbClr val="2B2C30"/>
              </a:solidFill>
              <a:latin typeface="Times"/>
              <a:ea typeface="Times"/>
              <a:cs typeface="Times"/>
              <a:sym typeface="Times"/>
            </a:endParaRPr>
          </a:p>
        </p:txBody>
      </p:sp>
      <p:cxnSp>
        <p:nvCxnSpPr>
          <p:cNvPr id="1517" name="Google Shape;1517;p105"/>
          <p:cNvCxnSpPr/>
          <p:nvPr/>
        </p:nvCxnSpPr>
        <p:spPr>
          <a:xfrm flipH="1" rot="10800000">
            <a:off x="402850" y="611450"/>
            <a:ext cx="8395200" cy="7200"/>
          </a:xfrm>
          <a:prstGeom prst="straightConnector1">
            <a:avLst/>
          </a:prstGeom>
          <a:noFill/>
          <a:ln cap="flat" cmpd="sng" w="9525">
            <a:solidFill>
              <a:srgbClr val="2B2C30"/>
            </a:solidFill>
            <a:prstDash val="solid"/>
            <a:round/>
            <a:headEnd len="sm" w="sm" type="none"/>
            <a:tailEnd len="sm" w="sm" type="none"/>
          </a:ln>
        </p:spPr>
      </p:cxnSp>
      <p:graphicFrame>
        <p:nvGraphicFramePr>
          <p:cNvPr id="1518" name="Google Shape;1518;p105"/>
          <p:cNvGraphicFramePr/>
          <p:nvPr/>
        </p:nvGraphicFramePr>
        <p:xfrm>
          <a:off x="402850" y="676200"/>
          <a:ext cx="3000000" cy="3000000"/>
        </p:xfrm>
        <a:graphic>
          <a:graphicData uri="http://schemas.openxmlformats.org/drawingml/2006/table">
            <a:tbl>
              <a:tblPr>
                <a:noFill/>
                <a:tableStyleId>{7F126A5D-A463-4A11-B10A-57A102AC726B}</a:tableStyleId>
              </a:tblPr>
              <a:tblGrid>
                <a:gridCol w="4028050"/>
                <a:gridCol w="4367150"/>
              </a:tblGrid>
              <a:tr h="369100">
                <a:tc>
                  <a:txBody>
                    <a:bodyPr/>
                    <a:lstStyle/>
                    <a:p>
                      <a:pPr indent="0" lvl="0" marL="0" rtl="0" algn="l">
                        <a:lnSpc>
                          <a:spcPct val="115000"/>
                        </a:lnSpc>
                        <a:spcBef>
                          <a:spcPts val="0"/>
                        </a:spcBef>
                        <a:spcAft>
                          <a:spcPts val="0"/>
                        </a:spcAft>
                        <a:buNone/>
                      </a:pPr>
                      <a:r>
                        <a:rPr b="1" lang="en-GB" sz="1600">
                          <a:latin typeface="Times"/>
                          <a:ea typeface="Times"/>
                          <a:cs typeface="Times"/>
                          <a:sym typeface="Times"/>
                        </a:rPr>
                        <a:t>Prim’s Algorithm</a:t>
                      </a:r>
                      <a:endParaRPr b="1" sz="16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GB" sz="1600">
                          <a:latin typeface="Times"/>
                          <a:ea typeface="Times"/>
                          <a:cs typeface="Times"/>
                          <a:sym typeface="Times"/>
                        </a:rPr>
                        <a:t>Kruskal’s Algorithm</a:t>
                      </a:r>
                      <a:endParaRPr b="1" sz="16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1275">
                <a:tc>
                  <a:txBody>
                    <a:bodyPr/>
                    <a:lstStyle/>
                    <a:p>
                      <a:pPr indent="0" lvl="0" marL="0" rtl="0" algn="l">
                        <a:spcBef>
                          <a:spcPts val="0"/>
                        </a:spcBef>
                        <a:spcAft>
                          <a:spcPts val="0"/>
                        </a:spcAft>
                        <a:buNone/>
                      </a:pPr>
                      <a:r>
                        <a:rPr lang="en-GB" sz="1600">
                          <a:latin typeface="Times"/>
                          <a:ea typeface="Times"/>
                          <a:cs typeface="Times"/>
                          <a:sym typeface="Times"/>
                        </a:rPr>
                        <a:t>Begins constructing the shortest spanning tree from any vertex in the graph.</a:t>
                      </a:r>
                      <a:endParaRPr sz="16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sz="1600">
                          <a:latin typeface="Times"/>
                          <a:ea typeface="Times"/>
                          <a:cs typeface="Times"/>
                          <a:sym typeface="Times"/>
                        </a:rPr>
                        <a:t>Begins constructing the shortest spanning tree from the edge with the lowest weight in the graph.</a:t>
                      </a:r>
                      <a:endParaRPr sz="16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1275">
                <a:tc>
                  <a:txBody>
                    <a:bodyPr/>
                    <a:lstStyle/>
                    <a:p>
                      <a:pPr indent="0" lvl="0" marL="0" rtl="0" algn="l">
                        <a:spcBef>
                          <a:spcPts val="0"/>
                        </a:spcBef>
                        <a:spcAft>
                          <a:spcPts val="0"/>
                        </a:spcAft>
                        <a:buNone/>
                      </a:pPr>
                      <a:r>
                        <a:rPr lang="en-GB" sz="1600">
                          <a:latin typeface="Times"/>
                          <a:ea typeface="Times"/>
                          <a:cs typeface="Times"/>
                          <a:sym typeface="Times"/>
                        </a:rPr>
                        <a:t>Traverses one node more than once to find the minimum distance.</a:t>
                      </a:r>
                      <a:endParaRPr sz="16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sz="1600">
                          <a:latin typeface="Times"/>
                          <a:ea typeface="Times"/>
                          <a:cs typeface="Times"/>
                          <a:sym typeface="Times"/>
                        </a:rPr>
                        <a:t>Each node is visited only once.</a:t>
                      </a:r>
                      <a:endParaRPr sz="16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9825">
                <a:tc>
                  <a:txBody>
                    <a:bodyPr/>
                    <a:lstStyle/>
                    <a:p>
                      <a:pPr indent="0" lvl="0" marL="0" rtl="0" algn="l">
                        <a:spcBef>
                          <a:spcPts val="0"/>
                        </a:spcBef>
                        <a:spcAft>
                          <a:spcPts val="0"/>
                        </a:spcAft>
                        <a:buNone/>
                      </a:pPr>
                      <a:r>
                        <a:rPr lang="en-GB" sz="1600">
                          <a:latin typeface="Times"/>
                          <a:ea typeface="Times"/>
                          <a:cs typeface="Times"/>
                          <a:sym typeface="Times"/>
                        </a:rPr>
                        <a:t>Time complexity: </a:t>
                      </a:r>
                      <a:r>
                        <a:rPr b="1" lang="en-GB" sz="1600">
                          <a:latin typeface="Times"/>
                          <a:ea typeface="Times"/>
                          <a:cs typeface="Times"/>
                          <a:sym typeface="Times"/>
                        </a:rPr>
                        <a:t>O(V²)</a:t>
                      </a:r>
                      <a:r>
                        <a:rPr lang="en-GB" sz="1600">
                          <a:latin typeface="Times"/>
                          <a:ea typeface="Times"/>
                          <a:cs typeface="Times"/>
                          <a:sym typeface="Times"/>
                        </a:rPr>
                        <a:t> (better for dense graphs).</a:t>
                      </a:r>
                      <a:endParaRPr sz="16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sz="1600">
                          <a:latin typeface="Times"/>
                          <a:ea typeface="Times"/>
                          <a:cs typeface="Times"/>
                          <a:sym typeface="Times"/>
                        </a:rPr>
                        <a:t>Time complexity: </a:t>
                      </a:r>
                      <a:r>
                        <a:rPr b="1" lang="en-GB" sz="1600">
                          <a:latin typeface="Times"/>
                          <a:ea typeface="Times"/>
                          <a:cs typeface="Times"/>
                          <a:sym typeface="Times"/>
                        </a:rPr>
                        <a:t>O(E log V)</a:t>
                      </a:r>
                      <a:r>
                        <a:rPr lang="en-GB" sz="1600">
                          <a:latin typeface="Times"/>
                          <a:ea typeface="Times"/>
                          <a:cs typeface="Times"/>
                          <a:sym typeface="Times"/>
                        </a:rPr>
                        <a:t> (better for sparse graphs).</a:t>
                      </a:r>
                      <a:endParaRPr sz="16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9825">
                <a:tc>
                  <a:txBody>
                    <a:bodyPr/>
                    <a:lstStyle/>
                    <a:p>
                      <a:pPr indent="0" lvl="0" marL="0" rtl="0" algn="l">
                        <a:spcBef>
                          <a:spcPts val="0"/>
                        </a:spcBef>
                        <a:spcAft>
                          <a:spcPts val="0"/>
                        </a:spcAft>
                        <a:buNone/>
                      </a:pPr>
                      <a:r>
                        <a:rPr lang="en-GB" sz="1600">
                          <a:latin typeface="Times"/>
                          <a:ea typeface="Times"/>
                          <a:cs typeface="Times"/>
                          <a:sym typeface="Times"/>
                        </a:rPr>
                        <a:t>Requires the graph to be connected.</a:t>
                      </a:r>
                      <a:endParaRPr sz="16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sz="1600">
                          <a:latin typeface="Times"/>
                          <a:ea typeface="Times"/>
                          <a:cs typeface="Times"/>
                          <a:sym typeface="Times"/>
                        </a:rPr>
                        <a:t>Can handle disconnected graphs too.</a:t>
                      </a:r>
                      <a:endParaRPr sz="16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9825">
                <a:tc>
                  <a:txBody>
                    <a:bodyPr/>
                    <a:lstStyle/>
                    <a:p>
                      <a:pPr indent="0" lvl="0" marL="0" rtl="0" algn="l">
                        <a:spcBef>
                          <a:spcPts val="0"/>
                        </a:spcBef>
                        <a:spcAft>
                          <a:spcPts val="0"/>
                        </a:spcAft>
                        <a:buNone/>
                      </a:pPr>
                      <a:r>
                        <a:rPr lang="en-GB" sz="1600">
                          <a:latin typeface="Times"/>
                          <a:ea typeface="Times"/>
                          <a:cs typeface="Times"/>
                          <a:sym typeface="Times"/>
                        </a:rPr>
                        <a:t>Faster for </a:t>
                      </a:r>
                      <a:r>
                        <a:rPr b="1" lang="en-GB" sz="1600">
                          <a:latin typeface="Times"/>
                          <a:ea typeface="Times"/>
                          <a:cs typeface="Times"/>
                          <a:sym typeface="Times"/>
                        </a:rPr>
                        <a:t>dense graphs</a:t>
                      </a:r>
                      <a:r>
                        <a:rPr lang="en-GB" sz="1600">
                          <a:latin typeface="Times"/>
                          <a:ea typeface="Times"/>
                          <a:cs typeface="Times"/>
                          <a:sym typeface="Times"/>
                        </a:rPr>
                        <a:t> (more edges).</a:t>
                      </a:r>
                      <a:endParaRPr sz="16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sz="1600">
                          <a:latin typeface="Times"/>
                          <a:ea typeface="Times"/>
                          <a:cs typeface="Times"/>
                          <a:sym typeface="Times"/>
                        </a:rPr>
                        <a:t>Faster for </a:t>
                      </a:r>
                      <a:r>
                        <a:rPr b="1" lang="en-GB" sz="1600">
                          <a:latin typeface="Times"/>
                          <a:ea typeface="Times"/>
                          <a:cs typeface="Times"/>
                          <a:sym typeface="Times"/>
                        </a:rPr>
                        <a:t>sparse graphs</a:t>
                      </a:r>
                      <a:r>
                        <a:rPr lang="en-GB" sz="1600">
                          <a:latin typeface="Times"/>
                          <a:ea typeface="Times"/>
                          <a:cs typeface="Times"/>
                          <a:sym typeface="Times"/>
                        </a:rPr>
                        <a:t> (fewer edges).</a:t>
                      </a:r>
                      <a:endParaRPr sz="16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9825">
                <a:tc>
                  <a:txBody>
                    <a:bodyPr/>
                    <a:lstStyle/>
                    <a:p>
                      <a:pPr indent="0" lvl="0" marL="0" rtl="0" algn="l">
                        <a:spcBef>
                          <a:spcPts val="0"/>
                        </a:spcBef>
                        <a:spcAft>
                          <a:spcPts val="0"/>
                        </a:spcAft>
                        <a:buNone/>
                      </a:pPr>
                      <a:r>
                        <a:rPr lang="en-GB" sz="1600">
                          <a:latin typeface="Times"/>
                          <a:ea typeface="Times"/>
                          <a:cs typeface="Times"/>
                          <a:sym typeface="Times"/>
                        </a:rPr>
                        <a:t>Prefers </a:t>
                      </a:r>
                      <a:r>
                        <a:rPr b="1" lang="en-GB" sz="1600">
                          <a:latin typeface="Times"/>
                          <a:ea typeface="Times"/>
                          <a:cs typeface="Times"/>
                          <a:sym typeface="Times"/>
                        </a:rPr>
                        <a:t>adjacency list</a:t>
                      </a:r>
                      <a:r>
                        <a:rPr lang="en-GB" sz="1600">
                          <a:latin typeface="Times"/>
                          <a:ea typeface="Times"/>
                          <a:cs typeface="Times"/>
                          <a:sym typeface="Times"/>
                        </a:rPr>
                        <a:t> data structure.</a:t>
                      </a:r>
                      <a:endParaRPr sz="16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sz="1600">
                          <a:latin typeface="Times"/>
                          <a:ea typeface="Times"/>
                          <a:cs typeface="Times"/>
                          <a:sym typeface="Times"/>
                        </a:rPr>
                        <a:t>Prefers </a:t>
                      </a:r>
                      <a:r>
                        <a:rPr b="1" lang="en-GB" sz="1600">
                          <a:latin typeface="Times"/>
                          <a:ea typeface="Times"/>
                          <a:cs typeface="Times"/>
                          <a:sym typeface="Times"/>
                        </a:rPr>
                        <a:t>heap/union-find</a:t>
                      </a:r>
                      <a:r>
                        <a:rPr lang="en-GB" sz="1600">
                          <a:latin typeface="Times"/>
                          <a:ea typeface="Times"/>
                          <a:cs typeface="Times"/>
                          <a:sym typeface="Times"/>
                        </a:rPr>
                        <a:t> data structure.</a:t>
                      </a:r>
                      <a:endParaRPr sz="1600">
                        <a:latin typeface="Times"/>
                        <a:ea typeface="Times"/>
                        <a:cs typeface="Times"/>
                        <a:sym typeface="Time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