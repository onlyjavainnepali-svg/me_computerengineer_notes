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349" r:id="rId3"/>
    <p:sldId id="350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69" r:id="rId18"/>
    <p:sldId id="364" r:id="rId19"/>
    <p:sldId id="365" r:id="rId20"/>
    <p:sldId id="366" r:id="rId21"/>
    <p:sldId id="367" r:id="rId22"/>
    <p:sldId id="368" r:id="rId23"/>
    <p:sldId id="370" r:id="rId24"/>
    <p:sldId id="371" r:id="rId25"/>
    <p:sldId id="391" r:id="rId26"/>
    <p:sldId id="372" r:id="rId27"/>
    <p:sldId id="373" r:id="rId28"/>
    <p:sldId id="374" r:id="rId29"/>
    <p:sldId id="375" r:id="rId30"/>
    <p:sldId id="392" r:id="rId31"/>
    <p:sldId id="376" r:id="rId32"/>
    <p:sldId id="393" r:id="rId33"/>
    <p:sldId id="377" r:id="rId34"/>
    <p:sldId id="394" r:id="rId35"/>
    <p:sldId id="378" r:id="rId36"/>
    <p:sldId id="379" r:id="rId37"/>
    <p:sldId id="380" r:id="rId38"/>
    <p:sldId id="395" r:id="rId39"/>
    <p:sldId id="381" r:id="rId40"/>
    <p:sldId id="382" r:id="rId41"/>
    <p:sldId id="383" r:id="rId42"/>
    <p:sldId id="396" r:id="rId43"/>
    <p:sldId id="384" r:id="rId44"/>
    <p:sldId id="385" r:id="rId45"/>
    <p:sldId id="386" r:id="rId46"/>
    <p:sldId id="387" r:id="rId47"/>
    <p:sldId id="388" r:id="rId48"/>
    <p:sldId id="389" r:id="rId49"/>
    <p:sldId id="390" r:id="rId50"/>
    <p:sldId id="397" r:id="rId51"/>
    <p:sldId id="398" r:id="rId52"/>
    <p:sldId id="399" r:id="rId53"/>
    <p:sldId id="400" r:id="rId54"/>
    <p:sldId id="401" r:id="rId55"/>
    <p:sldId id="402" r:id="rId56"/>
    <p:sldId id="403" r:id="rId57"/>
    <p:sldId id="404" r:id="rId58"/>
    <p:sldId id="405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750" autoAdjust="0"/>
    <p:restoredTop sz="94624" autoAdjust="0"/>
  </p:normalViewPr>
  <p:slideViewPr>
    <p:cSldViewPr snapToGrid="0">
      <p:cViewPr varScale="1">
        <p:scale>
          <a:sx n="67" d="100"/>
          <a:sy n="67" d="100"/>
        </p:scale>
        <p:origin x="-688" y="-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8F07B9-9D9B-4DCE-8B91-64F37D38FCAA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5842A-3C2C-4F37-9748-E112CAAF2C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90631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C5048-271C-4645-A976-E8BC25B8C31B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33C2-00AB-4DBE-9551-D6AD09632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13215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C5048-271C-4645-A976-E8BC25B8C31B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33C2-00AB-4DBE-9551-D6AD09632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442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C5048-271C-4645-A976-E8BC25B8C31B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33C2-00AB-4DBE-9551-D6AD09632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84666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C5048-271C-4645-A976-E8BC25B8C31B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33C2-00AB-4DBE-9551-D6AD09632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11108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C5048-271C-4645-A976-E8BC25B8C31B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33C2-00AB-4DBE-9551-D6AD09632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9523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C5048-271C-4645-A976-E8BC25B8C31B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33C2-00AB-4DBE-9551-D6AD09632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6747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C5048-271C-4645-A976-E8BC25B8C31B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33C2-00AB-4DBE-9551-D6AD09632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40811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C5048-271C-4645-A976-E8BC25B8C31B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33C2-00AB-4DBE-9551-D6AD09632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65428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C5048-271C-4645-A976-E8BC25B8C31B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33C2-00AB-4DBE-9551-D6AD09632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12089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C5048-271C-4645-A976-E8BC25B8C31B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33C2-00AB-4DBE-9551-D6AD09632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636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C5048-271C-4645-A976-E8BC25B8C31B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33C2-00AB-4DBE-9551-D6AD09632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6456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C5048-271C-4645-A976-E8BC25B8C31B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533C2-00AB-4DBE-9551-D6AD09632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20872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505" y="235257"/>
            <a:ext cx="11914495" cy="3558819"/>
          </a:xfrm>
        </p:spPr>
        <p:txBody>
          <a:bodyPr>
            <a:noAutofit/>
          </a:bodyPr>
          <a:lstStyle/>
          <a:p>
            <a:pPr lvl="0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6</a:t>
            </a:r>
            <a:b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/>
              <a:t>Security and Isolation in Operating Systems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9627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Security-Enhanced Linux (</a:t>
            </a:r>
            <a:r>
              <a:rPr lang="en-US" b="1" dirty="0" err="1" smtClean="0"/>
              <a:t>SELinux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SELinux</a:t>
            </a:r>
            <a:r>
              <a:rPr lang="en-US" b="1" dirty="0" smtClean="0"/>
              <a:t> (Security-Enhanced Linux)</a:t>
            </a:r>
            <a:r>
              <a:rPr lang="en-US" dirty="0" smtClean="0"/>
              <a:t> is a Mandatory Access Control (MAC) security mechanism integrated into the Linux kernel. </a:t>
            </a:r>
          </a:p>
          <a:p>
            <a:r>
              <a:rPr lang="en-US" dirty="0" smtClean="0"/>
              <a:t>It was developed by the </a:t>
            </a:r>
            <a:r>
              <a:rPr lang="en-US" b="1" dirty="0" smtClean="0"/>
              <a:t>U.S. National Security Agency (NSA)</a:t>
            </a:r>
            <a:r>
              <a:rPr lang="en-US" dirty="0" smtClean="0"/>
              <a:t> and later integrated into mainstream Linux distributions like Red Hat and Fedora.</a:t>
            </a:r>
          </a:p>
          <a:p>
            <a:r>
              <a:rPr lang="en-US" dirty="0" smtClean="0"/>
              <a:t>Unlike traditional Linux Discretionary Access Control (DAC), where the owner controls permissions, </a:t>
            </a:r>
            <a:r>
              <a:rPr lang="en-US" dirty="0" err="1" smtClean="0"/>
              <a:t>SELinux</a:t>
            </a:r>
            <a:r>
              <a:rPr lang="en-US" dirty="0" smtClean="0"/>
              <a:t> enforces centrally defined security policies.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SELinux</a:t>
            </a:r>
            <a:r>
              <a:rPr lang="en-US" b="1" dirty="0" smtClean="0"/>
              <a:t> NEED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Traditional Linux security uses:</a:t>
            </a:r>
          </a:p>
          <a:p>
            <a:pPr lvl="1"/>
            <a:r>
              <a:rPr lang="en-US" dirty="0" smtClean="0"/>
              <a:t>User/group ownership	</a:t>
            </a:r>
          </a:p>
          <a:p>
            <a:pPr lvl="1"/>
            <a:r>
              <a:rPr lang="en-US" dirty="0" smtClean="0"/>
              <a:t>Read, write, execute permissions</a:t>
            </a:r>
          </a:p>
          <a:p>
            <a:r>
              <a:rPr lang="en-US" dirty="0" smtClean="0"/>
              <a:t>Problem:</a:t>
            </a:r>
          </a:p>
          <a:p>
            <a:pPr lvl="1"/>
            <a:r>
              <a:rPr lang="en-US" dirty="0" smtClean="0"/>
              <a:t>Root user can override everything.</a:t>
            </a:r>
          </a:p>
          <a:p>
            <a:pPr lvl="1"/>
            <a:r>
              <a:rPr lang="en-US" dirty="0" smtClean="0"/>
              <a:t>No fine-grained control over processes.</a:t>
            </a:r>
          </a:p>
          <a:p>
            <a:endParaRPr lang="en-US" dirty="0" smtClean="0"/>
          </a:p>
          <a:p>
            <a:r>
              <a:rPr lang="en-US" dirty="0" err="1" smtClean="0"/>
              <a:t>SELinux</a:t>
            </a:r>
            <a:r>
              <a:rPr lang="en-US" dirty="0" smtClean="0"/>
              <a:t> solves this using Mandatory Access Control (MAC).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SELinux</a:t>
            </a:r>
            <a:r>
              <a:rPr lang="en-US" b="1" dirty="0" smtClean="0"/>
              <a:t> Core Concepts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b="1" dirty="0" smtClean="0"/>
          </a:p>
          <a:p>
            <a:r>
              <a:rPr lang="en-US" b="1" dirty="0" smtClean="0"/>
              <a:t>1. Mandatory Access Control (MAC)</a:t>
            </a:r>
          </a:p>
          <a:p>
            <a:pPr lvl="1"/>
            <a:r>
              <a:rPr lang="en-US" dirty="0" smtClean="0"/>
              <a:t>Access decisions are enforced by system-wide policies. Even root cannot bypass them.</a:t>
            </a:r>
          </a:p>
          <a:p>
            <a:r>
              <a:rPr lang="en-US" b="1" dirty="0" smtClean="0"/>
              <a:t>2. Security Context</a:t>
            </a:r>
          </a:p>
          <a:p>
            <a:pPr lvl="1"/>
            <a:r>
              <a:rPr lang="en-US" dirty="0" smtClean="0"/>
              <a:t>Every process and object has a label: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Components:</a:t>
            </a:r>
          </a:p>
          <a:p>
            <a:pPr lvl="1"/>
            <a:r>
              <a:rPr lang="en-US" dirty="0" smtClean="0"/>
              <a:t>User</a:t>
            </a:r>
          </a:p>
          <a:p>
            <a:pPr lvl="1"/>
            <a:r>
              <a:rPr lang="en-US" dirty="0" smtClean="0"/>
              <a:t>Role</a:t>
            </a:r>
          </a:p>
          <a:p>
            <a:pPr lvl="1"/>
            <a:r>
              <a:rPr lang="en-US" dirty="0" smtClean="0"/>
              <a:t>Type (domain)</a:t>
            </a:r>
          </a:p>
          <a:p>
            <a:pPr lvl="1"/>
            <a:r>
              <a:rPr lang="en-US" dirty="0" smtClean="0"/>
              <a:t>Level (MLS/MCS)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93850" y="3415241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level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system_u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system_r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httpd_t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Staff_u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Staff_r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var_log_t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SELinux</a:t>
            </a:r>
            <a:r>
              <a:rPr lang="en-US" b="1" dirty="0" smtClean="0"/>
              <a:t> Architecture</a:t>
            </a:r>
            <a:endParaRPr lang="en-US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909803" y="1668577"/>
            <a:ext cx="4787163" cy="3684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81000" y="1609724"/>
            <a:ext cx="65151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Main components:</a:t>
            </a:r>
          </a:p>
          <a:p>
            <a:endParaRPr lang="en-US" sz="2800" dirty="0" smtClean="0"/>
          </a:p>
          <a:p>
            <a:r>
              <a:rPr lang="en-US" sz="2800" b="1" dirty="0" smtClean="0"/>
              <a:t>Security Server</a:t>
            </a:r>
            <a:r>
              <a:rPr lang="en-US" sz="2800" dirty="0" smtClean="0"/>
              <a:t> – Enforces security policy</a:t>
            </a:r>
          </a:p>
          <a:p>
            <a:endParaRPr lang="en-US" sz="2800" b="1" dirty="0" smtClean="0"/>
          </a:p>
          <a:p>
            <a:r>
              <a:rPr lang="en-US" sz="2800" b="1" dirty="0" smtClean="0"/>
              <a:t>Policy Database</a:t>
            </a:r>
            <a:r>
              <a:rPr lang="en-US" sz="2800" dirty="0" smtClean="0"/>
              <a:t> – Contains rules</a:t>
            </a:r>
          </a:p>
          <a:p>
            <a:endParaRPr lang="en-US" sz="2800" b="1" dirty="0" smtClean="0"/>
          </a:p>
          <a:p>
            <a:r>
              <a:rPr lang="en-US" sz="2800" b="1" dirty="0" smtClean="0"/>
              <a:t>Access Vector Cache (AVC)</a:t>
            </a:r>
            <a:r>
              <a:rPr lang="en-US" sz="2800" dirty="0" smtClean="0"/>
              <a:t> – Caches decisions for performance</a:t>
            </a:r>
          </a:p>
          <a:p>
            <a:endParaRPr lang="en-US" sz="2800" b="1" dirty="0" smtClean="0"/>
          </a:p>
          <a:p>
            <a:r>
              <a:rPr lang="en-US" sz="2800" b="1" dirty="0" err="1" smtClean="0"/>
              <a:t>SELinux</a:t>
            </a:r>
            <a:r>
              <a:rPr lang="en-US" sz="2800" b="1" dirty="0" smtClean="0"/>
              <a:t> Hooks in Kernel</a:t>
            </a:r>
            <a:r>
              <a:rPr lang="en-US" sz="2800" dirty="0" smtClean="0"/>
              <a:t> – Intercepts system calls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SELinux</a:t>
            </a:r>
            <a:r>
              <a:rPr lang="en-US" b="1" dirty="0" smtClean="0"/>
              <a:t> Working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Process requests access to a resource.</a:t>
            </a:r>
          </a:p>
          <a:p>
            <a:r>
              <a:rPr lang="en-US" sz="3200" dirty="0" smtClean="0"/>
              <a:t>Kernel checks </a:t>
            </a:r>
            <a:r>
              <a:rPr lang="en-US" sz="3200" dirty="0" err="1" smtClean="0"/>
              <a:t>SELinux</a:t>
            </a:r>
            <a:r>
              <a:rPr lang="en-US" sz="3200" dirty="0" smtClean="0"/>
              <a:t> policy.</a:t>
            </a:r>
          </a:p>
          <a:p>
            <a:r>
              <a:rPr lang="en-US" sz="3200" dirty="0" smtClean="0"/>
              <a:t>Policy decision is made.</a:t>
            </a:r>
          </a:p>
          <a:p>
            <a:r>
              <a:rPr lang="en-US" sz="3200" dirty="0" smtClean="0"/>
              <a:t>Access is allowed or denied.</a:t>
            </a:r>
          </a:p>
          <a:p>
            <a:r>
              <a:rPr lang="en-US" dirty="0" smtClean="0"/>
              <a:t>Modes of operation:</a:t>
            </a:r>
          </a:p>
          <a:p>
            <a:pPr lvl="1"/>
            <a:r>
              <a:rPr lang="en-US" b="1" dirty="0" smtClean="0"/>
              <a:t>Enforcing</a:t>
            </a:r>
            <a:r>
              <a:rPr lang="en-US" dirty="0" smtClean="0"/>
              <a:t> → Policy strictly enforced</a:t>
            </a:r>
          </a:p>
          <a:p>
            <a:pPr lvl="1"/>
            <a:r>
              <a:rPr lang="en-US" b="1" dirty="0" smtClean="0"/>
              <a:t>Permissive</a:t>
            </a:r>
            <a:r>
              <a:rPr lang="en-US" dirty="0" smtClean="0"/>
              <a:t> → Violations logged but not blocked</a:t>
            </a:r>
          </a:p>
          <a:p>
            <a:pPr lvl="1"/>
            <a:r>
              <a:rPr lang="en-US" b="1" dirty="0" smtClean="0"/>
              <a:t>Disabled</a:t>
            </a:r>
            <a:r>
              <a:rPr lang="en-US" dirty="0" smtClean="0"/>
              <a:t> → </a:t>
            </a:r>
            <a:r>
              <a:rPr lang="en-US" dirty="0" err="1" smtClean="0"/>
              <a:t>SELinux</a:t>
            </a:r>
            <a:r>
              <a:rPr lang="en-US" dirty="0" smtClean="0"/>
              <a:t> off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AppArmor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AppArmor</a:t>
            </a:r>
            <a:r>
              <a:rPr lang="en-US" dirty="0" smtClean="0"/>
              <a:t> (Application Armor) is a Linux Security Module (LSM) that implements </a:t>
            </a:r>
            <a:r>
              <a:rPr lang="en-US" b="1" dirty="0" smtClean="0"/>
              <a:t>Mandatory Access Control (MAC)</a:t>
            </a:r>
            <a:r>
              <a:rPr lang="en-US" dirty="0" smtClean="0"/>
              <a:t> to restrict program capabilities and limit damage from compromised applications.</a:t>
            </a:r>
          </a:p>
          <a:p>
            <a:r>
              <a:rPr lang="en-US" dirty="0" smtClean="0"/>
              <a:t>It was originally developed by </a:t>
            </a:r>
            <a:r>
              <a:rPr lang="en-US" b="1" dirty="0" smtClean="0"/>
              <a:t>Novell</a:t>
            </a:r>
            <a:r>
              <a:rPr lang="en-US" dirty="0" smtClean="0"/>
              <a:t> and is widely used in Linux distributions such as:</a:t>
            </a:r>
          </a:p>
          <a:p>
            <a:r>
              <a:rPr lang="en-US" b="1" dirty="0" err="1" smtClean="0"/>
              <a:t>Ubuntu</a:t>
            </a:r>
            <a:endParaRPr lang="en-US" dirty="0" smtClean="0"/>
          </a:p>
          <a:p>
            <a:r>
              <a:rPr lang="en-US" b="1" dirty="0" smtClean="0"/>
              <a:t>SUSE Linux Enterprise</a:t>
            </a:r>
            <a:endParaRPr lang="en-US" dirty="0" smtClean="0"/>
          </a:p>
          <a:p>
            <a:r>
              <a:rPr lang="en-US" dirty="0" smtClean="0"/>
              <a:t>Unlike traditional Linux security which uses Discretionary Access Control (DAC), </a:t>
            </a:r>
            <a:r>
              <a:rPr lang="en-US" dirty="0" err="1" smtClean="0"/>
              <a:t>AppArmor</a:t>
            </a:r>
            <a:r>
              <a:rPr lang="en-US" dirty="0" smtClean="0"/>
              <a:t> enforces centrally defined security policies.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AppArmor</a:t>
            </a:r>
            <a:r>
              <a:rPr lang="en-US" b="1" dirty="0" smtClean="0"/>
              <a:t> NEED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Traditional Linux permissions are based on:</a:t>
            </a:r>
          </a:p>
          <a:p>
            <a:pPr lvl="1"/>
            <a:r>
              <a:rPr lang="en-US" dirty="0" smtClean="0"/>
              <a:t>User</a:t>
            </a:r>
          </a:p>
          <a:p>
            <a:pPr lvl="1"/>
            <a:r>
              <a:rPr lang="en-US" dirty="0" smtClean="0"/>
              <a:t>Group</a:t>
            </a:r>
          </a:p>
          <a:p>
            <a:pPr lvl="1"/>
            <a:r>
              <a:rPr lang="en-US" dirty="0" smtClean="0"/>
              <a:t>Read/Write/Execute bits</a:t>
            </a:r>
          </a:p>
          <a:p>
            <a:r>
              <a:rPr lang="en-US" dirty="0" smtClean="0"/>
              <a:t>Limitations:</a:t>
            </a:r>
          </a:p>
          <a:p>
            <a:pPr lvl="1"/>
            <a:r>
              <a:rPr lang="en-US" dirty="0" smtClean="0"/>
              <a:t>If an application is compromised, attacker inherits its permissions.</a:t>
            </a:r>
          </a:p>
          <a:p>
            <a:pPr lvl="1"/>
            <a:r>
              <a:rPr lang="en-US" dirty="0" smtClean="0"/>
              <a:t>Root privileges can bypass standard controls.</a:t>
            </a:r>
          </a:p>
          <a:p>
            <a:pPr lvl="1"/>
            <a:r>
              <a:rPr lang="en-US" dirty="0" smtClean="0"/>
              <a:t>No fine-grained per-application restriction.</a:t>
            </a:r>
          </a:p>
          <a:p>
            <a:r>
              <a:rPr lang="en-US" dirty="0" err="1" smtClean="0"/>
              <a:t>AppArmor</a:t>
            </a:r>
            <a:r>
              <a:rPr lang="en-US" dirty="0" smtClean="0"/>
              <a:t> solves this by providing </a:t>
            </a:r>
            <a:r>
              <a:rPr lang="en-US" b="1" dirty="0" smtClean="0"/>
              <a:t>application-level confinement</a:t>
            </a:r>
            <a:r>
              <a:rPr lang="en-US" dirty="0" smtClean="0"/>
              <a:t>, limiting what each program can access.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AppArmor</a:t>
            </a:r>
            <a:r>
              <a:rPr lang="en-US" b="1" dirty="0" smtClean="0"/>
              <a:t> Core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AppArmor</a:t>
            </a:r>
            <a:r>
              <a:rPr lang="en-US" dirty="0" smtClean="0"/>
              <a:t> uses </a:t>
            </a:r>
            <a:r>
              <a:rPr lang="en-US" b="1" dirty="0" smtClean="0"/>
              <a:t>security profiles</a:t>
            </a:r>
            <a:r>
              <a:rPr lang="en-US" dirty="0" smtClean="0"/>
              <a:t> to define restrictions for individual applications.</a:t>
            </a:r>
          </a:p>
          <a:p>
            <a:r>
              <a:rPr lang="en-US" dirty="0" smtClean="0"/>
              <a:t>Each profile specifies:</a:t>
            </a:r>
          </a:p>
          <a:p>
            <a:pPr lvl="1"/>
            <a:r>
              <a:rPr lang="en-US" dirty="0" smtClean="0"/>
              <a:t>File system access</a:t>
            </a:r>
          </a:p>
          <a:p>
            <a:pPr lvl="1"/>
            <a:r>
              <a:rPr lang="en-US" dirty="0" smtClean="0"/>
              <a:t>Network permissions</a:t>
            </a:r>
          </a:p>
          <a:p>
            <a:pPr lvl="1"/>
            <a:r>
              <a:rPr lang="en-US" dirty="0" smtClean="0"/>
              <a:t>Linux capabilities</a:t>
            </a:r>
          </a:p>
          <a:p>
            <a:pPr lvl="1"/>
            <a:r>
              <a:rPr lang="en-US" dirty="0" smtClean="0"/>
              <a:t>Signal permissions</a:t>
            </a:r>
          </a:p>
          <a:p>
            <a:pPr lvl="1"/>
            <a:r>
              <a:rPr lang="en-US" dirty="0" smtClean="0"/>
              <a:t>Inter-process communication (IPC)</a:t>
            </a:r>
          </a:p>
          <a:p>
            <a:r>
              <a:rPr lang="en-US" b="1" dirty="0" smtClean="0"/>
              <a:t>Path-Based Access Control</a:t>
            </a:r>
          </a:p>
          <a:p>
            <a:r>
              <a:rPr lang="en-US" dirty="0" err="1" smtClean="0"/>
              <a:t>AppArmor</a:t>
            </a:r>
            <a:r>
              <a:rPr lang="en-US" dirty="0" smtClean="0"/>
              <a:t> is </a:t>
            </a:r>
            <a:r>
              <a:rPr lang="en-US" b="1" dirty="0" smtClean="0"/>
              <a:t>path-based</a:t>
            </a:r>
            <a:r>
              <a:rPr lang="en-US" dirty="0" smtClean="0"/>
              <a:t>, meaning rules are written using file paths.</a:t>
            </a:r>
          </a:p>
          <a:p>
            <a:pPr lvl="1"/>
            <a:r>
              <a:rPr lang="en-US" dirty="0" smtClean="0"/>
              <a:t>Example:   /etc/</a:t>
            </a:r>
            <a:r>
              <a:rPr lang="en-US" dirty="0" err="1" smtClean="0"/>
              <a:t>passwd</a:t>
            </a:r>
            <a:r>
              <a:rPr lang="en-US" dirty="0" smtClean="0"/>
              <a:t> r,</a:t>
            </a:r>
          </a:p>
          <a:p>
            <a:r>
              <a:rPr lang="en-US" dirty="0" smtClean="0"/>
              <a:t>This differs from </a:t>
            </a:r>
            <a:r>
              <a:rPr lang="en-US" b="1" dirty="0" smtClean="0"/>
              <a:t>Security-Enhanced Linux</a:t>
            </a:r>
            <a:r>
              <a:rPr lang="en-US" dirty="0" smtClean="0"/>
              <a:t>, which uses label-based access control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AppArmor</a:t>
            </a:r>
            <a:r>
              <a:rPr lang="en-US" b="1" dirty="0" smtClean="0"/>
              <a:t> Architecture</a:t>
            </a:r>
            <a:endParaRPr lang="en-US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957913" y="1820132"/>
            <a:ext cx="6396058" cy="3342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71474" y="1513612"/>
            <a:ext cx="713422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Kernel Module</a:t>
            </a:r>
            <a:endParaRPr lang="en-US" dirty="0" smtClean="0"/>
          </a:p>
          <a:p>
            <a:r>
              <a:rPr lang="en-US" dirty="0" smtClean="0"/>
              <a:t>	Intercepts system calls.</a:t>
            </a:r>
          </a:p>
          <a:p>
            <a:r>
              <a:rPr lang="en-US" dirty="0" smtClean="0"/>
              <a:t>	Enforces security rules.</a:t>
            </a:r>
          </a:p>
          <a:p>
            <a:r>
              <a:rPr lang="en-US" b="1" dirty="0" smtClean="0"/>
              <a:t>Security Profiles</a:t>
            </a:r>
            <a:endParaRPr lang="en-US" dirty="0" smtClean="0"/>
          </a:p>
          <a:p>
            <a:r>
              <a:rPr lang="en-US" dirty="0" smtClean="0"/>
              <a:t>	Stored in:  /etc/</a:t>
            </a:r>
            <a:r>
              <a:rPr lang="en-US" dirty="0" err="1" smtClean="0"/>
              <a:t>apparmor.d</a:t>
            </a:r>
            <a:r>
              <a:rPr lang="en-US" dirty="0" smtClean="0"/>
              <a:t>/ </a:t>
            </a:r>
          </a:p>
          <a:p>
            <a:r>
              <a:rPr lang="en-US" dirty="0" smtClean="0"/>
              <a:t>Define restrictions per application.</a:t>
            </a:r>
          </a:p>
          <a:p>
            <a:endParaRPr lang="en-US" b="1" dirty="0" smtClean="0"/>
          </a:p>
          <a:p>
            <a:r>
              <a:rPr lang="en-US" b="1" dirty="0" err="1" smtClean="0"/>
              <a:t>Userspace</a:t>
            </a:r>
            <a:r>
              <a:rPr lang="en-US" b="1" dirty="0" smtClean="0"/>
              <a:t> Tools</a:t>
            </a:r>
          </a:p>
          <a:p>
            <a:endParaRPr lang="en-US" dirty="0" smtClean="0"/>
          </a:p>
          <a:p>
            <a:r>
              <a:rPr lang="en-US" dirty="0" err="1" smtClean="0"/>
              <a:t>aa</a:t>
            </a:r>
            <a:r>
              <a:rPr lang="en-US" dirty="0" smtClean="0"/>
              <a:t>-status → Show profile status</a:t>
            </a:r>
          </a:p>
          <a:p>
            <a:r>
              <a:rPr lang="en-US" dirty="0" err="1" smtClean="0"/>
              <a:t>aa</a:t>
            </a:r>
            <a:r>
              <a:rPr lang="en-US" dirty="0" smtClean="0"/>
              <a:t>-enforce → Enable enforce mode</a:t>
            </a:r>
          </a:p>
          <a:p>
            <a:r>
              <a:rPr lang="en-US" dirty="0" err="1" smtClean="0"/>
              <a:t>aa</a:t>
            </a:r>
            <a:r>
              <a:rPr lang="en-US" dirty="0" smtClean="0"/>
              <a:t>-complain → Enable complain mode</a:t>
            </a:r>
          </a:p>
          <a:p>
            <a:r>
              <a:rPr lang="en-US" dirty="0" err="1" smtClean="0"/>
              <a:t>aa</a:t>
            </a:r>
            <a:r>
              <a:rPr lang="en-US" dirty="0" smtClean="0"/>
              <a:t>-disable → Disable profile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AppArmor</a:t>
            </a:r>
            <a:r>
              <a:rPr lang="en-US" b="1" dirty="0" smtClean="0"/>
              <a:t> Working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Application starts execution.</a:t>
            </a:r>
          </a:p>
          <a:p>
            <a:r>
              <a:rPr lang="en-US" dirty="0" smtClean="0"/>
              <a:t>Kernel checks if a profile exists for it.</a:t>
            </a:r>
          </a:p>
          <a:p>
            <a:r>
              <a:rPr lang="en-US" dirty="0" smtClean="0"/>
              <a:t>If profile exists → access is restricted.</a:t>
            </a:r>
          </a:p>
          <a:p>
            <a:r>
              <a:rPr lang="en-US" dirty="0" smtClean="0"/>
              <a:t>If no profile exists → application runs unconfined.</a:t>
            </a:r>
          </a:p>
          <a:p>
            <a:r>
              <a:rPr lang="en-US" b="1" dirty="0" smtClean="0"/>
              <a:t>Modes of Operation</a:t>
            </a:r>
          </a:p>
          <a:p>
            <a:r>
              <a:rPr lang="en-US" b="1" dirty="0" smtClean="0"/>
              <a:t>Enforce Mode</a:t>
            </a:r>
            <a:endParaRPr lang="en-US" dirty="0" smtClean="0"/>
          </a:p>
          <a:p>
            <a:pPr lvl="1"/>
            <a:r>
              <a:rPr lang="en-US" dirty="0" smtClean="0"/>
              <a:t>Blocks unauthorized actions.</a:t>
            </a:r>
          </a:p>
          <a:p>
            <a:pPr lvl="1"/>
            <a:r>
              <a:rPr lang="en-US" dirty="0" smtClean="0"/>
              <a:t>Logs violations.</a:t>
            </a:r>
          </a:p>
          <a:p>
            <a:r>
              <a:rPr lang="en-US" b="1" dirty="0" smtClean="0"/>
              <a:t>Complain Mode</a:t>
            </a:r>
            <a:endParaRPr lang="en-US" dirty="0" smtClean="0"/>
          </a:p>
          <a:p>
            <a:pPr lvl="1"/>
            <a:r>
              <a:rPr lang="en-US" dirty="0" smtClean="0"/>
              <a:t>Allows actions.</a:t>
            </a:r>
          </a:p>
          <a:p>
            <a:pPr lvl="1"/>
            <a:r>
              <a:rPr lang="en-US" dirty="0" smtClean="0"/>
              <a:t>Logs violations for debugging.</a:t>
            </a:r>
          </a:p>
          <a:p>
            <a:r>
              <a:rPr lang="en-US" b="1" dirty="0" smtClean="0"/>
              <a:t>Disabled Mode</a:t>
            </a:r>
            <a:endParaRPr lang="en-US" dirty="0" smtClean="0"/>
          </a:p>
          <a:p>
            <a:pPr lvl="1"/>
            <a:r>
              <a:rPr lang="en-US" dirty="0" err="1" smtClean="0"/>
              <a:t>AppArmor</a:t>
            </a:r>
            <a:r>
              <a:rPr lang="en-US" dirty="0" smtClean="0"/>
              <a:t> inactive.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AppArmor</a:t>
            </a:r>
            <a:r>
              <a:rPr lang="en-US" b="1" dirty="0" smtClean="0"/>
              <a:t>:</a:t>
            </a:r>
            <a:r>
              <a:rPr lang="en-US" dirty="0" smtClean="0"/>
              <a:t> Profile Structure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/</a:t>
            </a:r>
            <a:r>
              <a:rPr lang="en-US" dirty="0" err="1" smtClean="0"/>
              <a:t>usr</a:t>
            </a:r>
            <a:r>
              <a:rPr lang="en-US" dirty="0" smtClean="0"/>
              <a:t>/bin/</a:t>
            </a:r>
            <a:r>
              <a:rPr lang="en-US" dirty="0" err="1" smtClean="0"/>
              <a:t>firefox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/home/user/** r,</a:t>
            </a:r>
          </a:p>
          <a:p>
            <a:r>
              <a:rPr lang="en-US" dirty="0" smtClean="0"/>
              <a:t>  /etc/** r,</a:t>
            </a:r>
          </a:p>
          <a:p>
            <a:r>
              <a:rPr lang="en-US" dirty="0" smtClean="0"/>
              <a:t>  /</a:t>
            </a:r>
            <a:r>
              <a:rPr lang="en-US" dirty="0" err="1" smtClean="0"/>
              <a:t>tmp</a:t>
            </a:r>
            <a:r>
              <a:rPr lang="en-US" dirty="0" smtClean="0"/>
              <a:t>/** </a:t>
            </a:r>
            <a:r>
              <a:rPr lang="en-US" dirty="0" err="1" smtClean="0"/>
              <a:t>rw</a:t>
            </a:r>
            <a:r>
              <a:rPr lang="en-US" dirty="0" smtClean="0"/>
              <a:t>,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Meaning:</a:t>
            </a:r>
          </a:p>
          <a:p>
            <a:pPr lvl="1"/>
            <a:r>
              <a:rPr lang="en-US" dirty="0" smtClean="0"/>
              <a:t>Read access to home directory</a:t>
            </a:r>
          </a:p>
          <a:p>
            <a:pPr lvl="1"/>
            <a:r>
              <a:rPr lang="en-US" dirty="0" smtClean="0"/>
              <a:t>Read access to /etc</a:t>
            </a:r>
          </a:p>
          <a:p>
            <a:pPr lvl="1"/>
            <a:r>
              <a:rPr lang="en-US" dirty="0" smtClean="0"/>
              <a:t>Read &amp; write access to /</a:t>
            </a:r>
            <a:r>
              <a:rPr lang="en-US" dirty="0" err="1" smtClean="0"/>
              <a:t>tmp</a:t>
            </a:r>
            <a:endParaRPr lang="en-US" dirty="0" smtClean="0"/>
          </a:p>
          <a:p>
            <a:pPr lvl="1"/>
            <a:r>
              <a:rPr lang="en-US" dirty="0" smtClean="0"/>
              <a:t>Profiles are human-readable and easier to manage.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AppArmor</a:t>
            </a:r>
            <a:r>
              <a:rPr lang="en-US" b="1" dirty="0" smtClean="0"/>
              <a:t> Features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Path-based access control</a:t>
            </a:r>
          </a:p>
          <a:p>
            <a:r>
              <a:rPr lang="en-US" dirty="0" smtClean="0"/>
              <a:t>Per-application confinement</a:t>
            </a:r>
          </a:p>
          <a:p>
            <a:r>
              <a:rPr lang="en-US" dirty="0" smtClean="0"/>
              <a:t>Learning/complain mode for profile generation</a:t>
            </a:r>
          </a:p>
          <a:p>
            <a:r>
              <a:rPr lang="en-US" dirty="0" smtClean="0"/>
              <a:t>Integration with Linux Security Module framework</a:t>
            </a:r>
          </a:p>
          <a:p>
            <a:r>
              <a:rPr lang="en-US" dirty="0" smtClean="0"/>
              <a:t>Lightweight and efficient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AppArmor</a:t>
            </a:r>
            <a:r>
              <a:rPr lang="en-US" b="1" dirty="0" smtClean="0"/>
              <a:t> 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Easier to configure than </a:t>
            </a:r>
            <a:r>
              <a:rPr lang="en-US" dirty="0" err="1" smtClean="0"/>
              <a:t>SELinux</a:t>
            </a:r>
            <a:endParaRPr lang="en-US" dirty="0" smtClean="0"/>
          </a:p>
          <a:p>
            <a:r>
              <a:rPr lang="en-US" dirty="0" smtClean="0"/>
              <a:t>Human-readable profiles</a:t>
            </a:r>
          </a:p>
          <a:p>
            <a:r>
              <a:rPr lang="en-US" dirty="0" smtClean="0"/>
              <a:t>Lower learning curve</a:t>
            </a:r>
          </a:p>
          <a:p>
            <a:r>
              <a:rPr lang="en-US" dirty="0" smtClean="0"/>
              <a:t>Suitable for desktops and mid-level servers</a:t>
            </a:r>
          </a:p>
          <a:p>
            <a:r>
              <a:rPr lang="en-US" dirty="0" smtClean="0"/>
              <a:t>Effective containment of compromised applications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AppArmor</a:t>
            </a:r>
            <a:r>
              <a:rPr lang="en-US" b="1" dirty="0" smtClean="0"/>
              <a:t> Disadvantages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Path-based control can be bypassed via hard links or renamed paths</a:t>
            </a:r>
          </a:p>
          <a:p>
            <a:r>
              <a:rPr lang="en-US" dirty="0" smtClean="0"/>
              <a:t>Less granular than </a:t>
            </a:r>
            <a:r>
              <a:rPr lang="en-US" dirty="0" err="1" smtClean="0"/>
              <a:t>SELinux</a:t>
            </a:r>
            <a:endParaRPr lang="en-US" dirty="0" smtClean="0"/>
          </a:p>
          <a:p>
            <a:r>
              <a:rPr lang="en-US" dirty="0" smtClean="0"/>
              <a:t>Limited support for MLS (Multi-Level Security)</a:t>
            </a:r>
          </a:p>
          <a:p>
            <a:r>
              <a:rPr lang="en-US" dirty="0" smtClean="0"/>
              <a:t>Not ideal for high-assurance military systems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SELinux</a:t>
            </a:r>
            <a:r>
              <a:rPr lang="en-US" b="1" dirty="0" smtClean="0"/>
              <a:t> </a:t>
            </a:r>
            <a:r>
              <a:rPr lang="en-US" b="1" dirty="0" err="1" smtClean="0"/>
              <a:t>vs</a:t>
            </a:r>
            <a:r>
              <a:rPr lang="en-US" b="1" dirty="0" smtClean="0"/>
              <a:t> </a:t>
            </a:r>
            <a:r>
              <a:rPr lang="en-US" b="1" dirty="0" err="1" smtClean="0"/>
              <a:t>AppArmor</a:t>
            </a:r>
            <a:r>
              <a:rPr lang="en-US" b="1" dirty="0" smtClean="0"/>
              <a:t> – Comparison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Both </a:t>
            </a:r>
            <a:r>
              <a:rPr lang="en-US" b="1" dirty="0" smtClean="0"/>
              <a:t>Security-Enhanced Linux</a:t>
            </a:r>
            <a:r>
              <a:rPr lang="en-US" dirty="0" smtClean="0"/>
              <a:t> and </a:t>
            </a:r>
            <a:r>
              <a:rPr lang="en-US" b="1" dirty="0" err="1" smtClean="0"/>
              <a:t>AppArmor</a:t>
            </a:r>
            <a:r>
              <a:rPr lang="en-US" dirty="0" smtClean="0"/>
              <a:t> are Linux Security Modules (LSM) that implement </a:t>
            </a:r>
            <a:r>
              <a:rPr lang="en-US" b="1" dirty="0" smtClean="0"/>
              <a:t>Mandatory Access Control (MAC)</a:t>
            </a:r>
            <a:r>
              <a:rPr lang="en-US" dirty="0" smtClean="0"/>
              <a:t> to enhance system security beyond traditional Unix permissions.</a:t>
            </a:r>
          </a:p>
          <a:p>
            <a:r>
              <a:rPr lang="en-US" dirty="0" smtClean="0"/>
              <a:t>However, they differ significantly in architecture, complexity, and enforcement model.</a:t>
            </a:r>
          </a:p>
          <a:p>
            <a:r>
              <a:rPr lang="en-US" b="1" dirty="0" err="1" smtClean="0"/>
              <a:t>SELinux</a:t>
            </a:r>
            <a:r>
              <a:rPr lang="en-US" dirty="0" smtClean="0"/>
              <a:t> assigns security labels to files and </a:t>
            </a:r>
            <a:r>
              <a:rPr lang="en-US" dirty="0" err="1" smtClean="0"/>
              <a:t>processes.</a:t>
            </a:r>
            <a:r>
              <a:rPr lang="en-US" b="1" dirty="0" err="1" smtClean="0"/>
              <a:t>AppArmor</a:t>
            </a:r>
            <a:r>
              <a:rPr lang="en-US" dirty="0" smtClean="0"/>
              <a:t> uses file path rules to restrict applications.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SELinux</a:t>
            </a:r>
            <a:r>
              <a:rPr lang="en-US" b="1" dirty="0" smtClean="0"/>
              <a:t> </a:t>
            </a:r>
            <a:r>
              <a:rPr lang="en-US" b="1" dirty="0" err="1" smtClean="0"/>
              <a:t>vs</a:t>
            </a:r>
            <a:r>
              <a:rPr lang="en-US" b="1" dirty="0" smtClean="0"/>
              <a:t> </a:t>
            </a:r>
            <a:r>
              <a:rPr lang="en-US" b="1" dirty="0" err="1" smtClean="0"/>
              <a:t>AppArmor</a:t>
            </a:r>
            <a:r>
              <a:rPr lang="en-US" b="1" dirty="0" smtClean="0"/>
              <a:t> – Comparison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>
              <a:buNone/>
            </a:pPr>
            <a:r>
              <a:rPr lang="en-US" sz="3200" b="1" dirty="0" smtClean="0"/>
              <a:t>Security Model</a:t>
            </a:r>
          </a:p>
          <a:p>
            <a:endParaRPr lang="en-US" b="1" dirty="0" smtClean="0"/>
          </a:p>
          <a:p>
            <a:r>
              <a:rPr lang="en-US" b="1" dirty="0" err="1" smtClean="0"/>
              <a:t>SELinux</a:t>
            </a:r>
            <a:endParaRPr lang="en-US" b="1" dirty="0" smtClean="0"/>
          </a:p>
          <a:p>
            <a:r>
              <a:rPr lang="en-US" dirty="0" smtClean="0"/>
              <a:t>Uses security context:</a:t>
            </a:r>
          </a:p>
          <a:p>
            <a:r>
              <a:rPr lang="en-US" dirty="0" err="1" smtClean="0"/>
              <a:t>user:role:type:level</a:t>
            </a:r>
            <a:r>
              <a:rPr lang="en-US" dirty="0" smtClean="0"/>
              <a:t> </a:t>
            </a:r>
          </a:p>
          <a:p>
            <a:r>
              <a:rPr lang="en-US" dirty="0" smtClean="0"/>
              <a:t>Based on:</a:t>
            </a:r>
          </a:p>
          <a:p>
            <a:pPr lvl="1"/>
            <a:r>
              <a:rPr lang="en-US" dirty="0" smtClean="0"/>
              <a:t>Type Enforcement (TE)</a:t>
            </a:r>
          </a:p>
          <a:p>
            <a:pPr lvl="1"/>
            <a:r>
              <a:rPr lang="en-US" dirty="0" smtClean="0"/>
              <a:t>Role-Based Access Control (RBAC)</a:t>
            </a:r>
          </a:p>
          <a:p>
            <a:pPr lvl="1"/>
            <a:r>
              <a:rPr lang="en-US" dirty="0" smtClean="0"/>
              <a:t>Multi-Level Security (MLS/MCS)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r>
              <a:rPr lang="en-US" b="1" dirty="0" err="1" smtClean="0"/>
              <a:t>AppArmor</a:t>
            </a:r>
            <a:endParaRPr lang="en-US" b="1" dirty="0" smtClean="0"/>
          </a:p>
          <a:p>
            <a:r>
              <a:rPr lang="en-US" dirty="0" smtClean="0"/>
              <a:t>Uses application-specific profiles.</a:t>
            </a:r>
          </a:p>
          <a:p>
            <a:r>
              <a:rPr lang="en-US" dirty="0" smtClean="0"/>
              <a:t>No label system.</a:t>
            </a:r>
          </a:p>
          <a:p>
            <a:r>
              <a:rPr lang="en-US" dirty="0" smtClean="0"/>
              <a:t>Focused mainly on per-program restriction.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SELinux</a:t>
            </a:r>
            <a:r>
              <a:rPr lang="en-US" b="1" dirty="0" smtClean="0"/>
              <a:t> </a:t>
            </a:r>
            <a:r>
              <a:rPr lang="en-US" b="1" dirty="0" err="1" smtClean="0"/>
              <a:t>vs</a:t>
            </a:r>
            <a:r>
              <a:rPr lang="en-US" b="1" dirty="0" smtClean="0"/>
              <a:t> </a:t>
            </a:r>
            <a:r>
              <a:rPr lang="en-US" b="1" dirty="0" err="1" smtClean="0"/>
              <a:t>AppArmor</a:t>
            </a:r>
            <a:r>
              <a:rPr lang="en-US" b="1" dirty="0" smtClean="0"/>
              <a:t> – Comparison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52475" y="260667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SELinux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AppArmor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Fine-grained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Moderate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Process-to-process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Limited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MLS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Full MLS/MCS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90574" y="4733925"/>
          <a:ext cx="10496550" cy="1666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8850"/>
                <a:gridCol w="3498850"/>
                <a:gridCol w="3498850"/>
              </a:tblGrid>
              <a:tr h="413141">
                <a:tc>
                  <a:txBody>
                    <a:bodyPr/>
                    <a:lstStyle/>
                    <a:p>
                      <a:r>
                        <a:rPr lang="en-US" dirty="0"/>
                        <a:t>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SELinux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AppArmor</a:t>
                      </a:r>
                    </a:p>
                  </a:txBody>
                  <a:tcPr anchor="ctr"/>
                </a:tc>
              </a:tr>
              <a:tr h="417911">
                <a:tc>
                  <a:txBody>
                    <a:bodyPr/>
                    <a:lstStyle/>
                    <a:p>
                      <a:r>
                        <a:rPr lang="en-US"/>
                        <a:t>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Easier</a:t>
                      </a:r>
                    </a:p>
                  </a:txBody>
                  <a:tcPr anchor="ctr"/>
                </a:tc>
              </a:tr>
              <a:tr h="417911">
                <a:tc>
                  <a:txBody>
                    <a:bodyPr/>
                    <a:lstStyle/>
                    <a:p>
                      <a:r>
                        <a:rPr lang="en-US"/>
                        <a:t>Learning Curve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Steep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Moderate</a:t>
                      </a:r>
                    </a:p>
                  </a:txBody>
                  <a:tcPr anchor="ctr"/>
                </a:tc>
              </a:tr>
              <a:tr h="417911">
                <a:tc>
                  <a:txBody>
                    <a:bodyPr/>
                    <a:lstStyle/>
                    <a:p>
                      <a:r>
                        <a:rPr lang="en-US"/>
                        <a:t>Debugging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Difficult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Simpler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06811" y="4158734"/>
            <a:ext cx="12598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Complexity</a:t>
            </a:r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1009507" y="2006084"/>
            <a:ext cx="22745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Granularity of Control</a:t>
            </a:r>
            <a:endParaRPr lang="en-US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SELinux</a:t>
            </a:r>
            <a:r>
              <a:rPr lang="en-US" b="1" dirty="0" smtClean="0"/>
              <a:t> </a:t>
            </a:r>
            <a:r>
              <a:rPr lang="en-US" b="1" dirty="0" err="1" smtClean="0"/>
              <a:t>vs</a:t>
            </a:r>
            <a:r>
              <a:rPr lang="en-US" b="1" dirty="0" smtClean="0"/>
              <a:t> </a:t>
            </a:r>
            <a:r>
              <a:rPr lang="en-US" b="1" dirty="0" err="1" smtClean="0"/>
              <a:t>AppArmor</a:t>
            </a:r>
            <a:r>
              <a:rPr lang="en-US" b="1" dirty="0" smtClean="0"/>
              <a:t> – Comparison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Security Strength</a:t>
            </a:r>
          </a:p>
          <a:p>
            <a:pPr lvl="1"/>
            <a:r>
              <a:rPr lang="en-US" dirty="0" err="1" smtClean="0"/>
              <a:t>SELinux</a:t>
            </a:r>
            <a:r>
              <a:rPr lang="en-US" dirty="0" smtClean="0"/>
              <a:t> → Stronger and more robust security.</a:t>
            </a:r>
          </a:p>
          <a:p>
            <a:pPr lvl="1"/>
            <a:r>
              <a:rPr lang="en-US" dirty="0" err="1" smtClean="0"/>
              <a:t>AppArmor</a:t>
            </a:r>
            <a:r>
              <a:rPr lang="en-US" dirty="0" smtClean="0"/>
              <a:t> → Good protection but less strict.</a:t>
            </a:r>
          </a:p>
          <a:p>
            <a:r>
              <a:rPr lang="en-US" dirty="0" err="1" smtClean="0"/>
              <a:t>SELinux</a:t>
            </a:r>
            <a:r>
              <a:rPr lang="en-US" dirty="0" smtClean="0"/>
              <a:t> is preferred in:</a:t>
            </a:r>
          </a:p>
          <a:p>
            <a:pPr lvl="1"/>
            <a:r>
              <a:rPr lang="en-US" dirty="0" smtClean="0"/>
              <a:t>Enterprise environments</a:t>
            </a:r>
          </a:p>
          <a:p>
            <a:pPr lvl="1"/>
            <a:r>
              <a:rPr lang="en-US" dirty="0" smtClean="0"/>
              <a:t>Government systems</a:t>
            </a:r>
          </a:p>
          <a:p>
            <a:pPr lvl="1"/>
            <a:r>
              <a:rPr lang="en-US" dirty="0" smtClean="0"/>
              <a:t>High-security servers</a:t>
            </a:r>
          </a:p>
          <a:p>
            <a:r>
              <a:rPr lang="en-US" dirty="0" err="1" smtClean="0"/>
              <a:t>AppArmor</a:t>
            </a:r>
            <a:r>
              <a:rPr lang="en-US" dirty="0" smtClean="0"/>
              <a:t> is preferred in:</a:t>
            </a:r>
          </a:p>
          <a:p>
            <a:pPr lvl="1"/>
            <a:r>
              <a:rPr lang="en-US" dirty="0" smtClean="0"/>
              <a:t>Desktop systems</a:t>
            </a:r>
          </a:p>
          <a:p>
            <a:pPr lvl="1"/>
            <a:r>
              <a:rPr lang="en-US" dirty="0" smtClean="0"/>
              <a:t>Small to medium servers</a:t>
            </a:r>
          </a:p>
          <a:p>
            <a:pPr lvl="1"/>
            <a:r>
              <a:rPr lang="en-US" dirty="0" err="1" smtClean="0"/>
              <a:t>Ubuntu</a:t>
            </a:r>
            <a:r>
              <a:rPr lang="en-US" dirty="0" smtClean="0"/>
              <a:t>-based environments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SELinux</a:t>
            </a:r>
            <a:r>
              <a:rPr lang="en-US" b="1" dirty="0" smtClean="0"/>
              <a:t> </a:t>
            </a:r>
            <a:r>
              <a:rPr lang="en-US" b="1" dirty="0" err="1" smtClean="0"/>
              <a:t>vs</a:t>
            </a:r>
            <a:r>
              <a:rPr lang="en-US" b="1" dirty="0" smtClean="0"/>
              <a:t> </a:t>
            </a:r>
            <a:r>
              <a:rPr lang="en-US" b="1" dirty="0" err="1" smtClean="0"/>
              <a:t>AppArmor</a:t>
            </a:r>
            <a:r>
              <a:rPr lang="en-US" b="1" dirty="0" smtClean="0"/>
              <a:t> – Comparison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Default Distribution Usage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Mode of Operation</a:t>
            </a:r>
          </a:p>
          <a:p>
            <a:r>
              <a:rPr lang="en-US" dirty="0" smtClean="0"/>
              <a:t>Both support:</a:t>
            </a:r>
          </a:p>
          <a:p>
            <a:pPr lvl="1"/>
            <a:r>
              <a:rPr lang="en-US" dirty="0" smtClean="0"/>
              <a:t>Enforcing mode</a:t>
            </a:r>
          </a:p>
          <a:p>
            <a:pPr lvl="1"/>
            <a:r>
              <a:rPr lang="en-US" dirty="0" smtClean="0"/>
              <a:t>Permissive/Complain mode</a:t>
            </a:r>
          </a:p>
          <a:p>
            <a:pPr lvl="1"/>
            <a:r>
              <a:rPr lang="en-US" dirty="0" smtClean="0"/>
              <a:t>Disabled mode</a:t>
            </a:r>
          </a:p>
          <a:p>
            <a:r>
              <a:rPr lang="en-US" dirty="0" smtClean="0"/>
              <a:t>But </a:t>
            </a:r>
            <a:r>
              <a:rPr lang="en-US" dirty="0" err="1" smtClean="0"/>
              <a:t>SELinux</a:t>
            </a:r>
            <a:r>
              <a:rPr lang="en-US" dirty="0" smtClean="0"/>
              <a:t> policies are more extensive.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90599" y="2276475"/>
          <a:ext cx="783907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9538"/>
                <a:gridCol w="3919538"/>
              </a:tblGrid>
              <a:tr h="355177">
                <a:tc>
                  <a:txBody>
                    <a:bodyPr/>
                    <a:lstStyle/>
                    <a:p>
                      <a:r>
                        <a:rPr lang="en-US" dirty="0"/>
                        <a:t>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Default</a:t>
                      </a:r>
                    </a:p>
                  </a:txBody>
                  <a:tcPr anchor="ctr"/>
                </a:tc>
              </a:tr>
              <a:tr h="355177">
                <a:tc>
                  <a:txBody>
                    <a:bodyPr/>
                    <a:lstStyle/>
                    <a:p>
                      <a:r>
                        <a:rPr lang="en-US"/>
                        <a:t>RHEL, Fedora, CentOS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SELinux</a:t>
                      </a:r>
                    </a:p>
                  </a:txBody>
                  <a:tcPr anchor="ctr"/>
                </a:tc>
              </a:tr>
              <a:tr h="355177">
                <a:tc>
                  <a:txBody>
                    <a:bodyPr/>
                    <a:lstStyle/>
                    <a:p>
                      <a:r>
                        <a:rPr lang="en-US"/>
                        <a:t>Ubuntu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AppArmor</a:t>
                      </a:r>
                    </a:p>
                  </a:txBody>
                  <a:tcPr anchor="ctr"/>
                </a:tc>
              </a:tr>
              <a:tr h="355177">
                <a:tc>
                  <a:txBody>
                    <a:bodyPr/>
                    <a:lstStyle/>
                    <a:p>
                      <a:r>
                        <a:rPr lang="en-US"/>
                        <a:t>SUSE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AppArmor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SELinux</a:t>
            </a:r>
            <a:r>
              <a:rPr lang="en-US" b="1" dirty="0" smtClean="0"/>
              <a:t> </a:t>
            </a:r>
            <a:r>
              <a:rPr lang="en-US" b="1" dirty="0" err="1" smtClean="0"/>
              <a:t>vs</a:t>
            </a:r>
            <a:r>
              <a:rPr lang="en-US" b="1" dirty="0" smtClean="0"/>
              <a:t> </a:t>
            </a:r>
            <a:r>
              <a:rPr lang="en-US" b="1" dirty="0" err="1" smtClean="0"/>
              <a:t>AppArmor</a:t>
            </a:r>
            <a:r>
              <a:rPr lang="en-US" b="1" dirty="0" smtClean="0"/>
              <a:t> – Comparison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Performance</a:t>
            </a:r>
          </a:p>
          <a:p>
            <a:pPr lvl="1"/>
            <a:r>
              <a:rPr lang="en-US" dirty="0" smtClean="0"/>
              <a:t>Both have minimal performance overhead, but </a:t>
            </a:r>
            <a:r>
              <a:rPr lang="en-US" dirty="0" err="1" smtClean="0"/>
              <a:t>SELinux</a:t>
            </a:r>
            <a:r>
              <a:rPr lang="en-US" dirty="0" smtClean="0"/>
              <a:t> may consume slightly more resources due to deeper policy enforcement.</a:t>
            </a:r>
          </a:p>
          <a:p>
            <a:r>
              <a:rPr lang="en-US" b="1" dirty="0" smtClean="0"/>
              <a:t>Security Weakness</a:t>
            </a:r>
          </a:p>
          <a:p>
            <a:pPr lvl="1"/>
            <a:r>
              <a:rPr lang="en-US" dirty="0" err="1" smtClean="0"/>
              <a:t>SELinux</a:t>
            </a:r>
            <a:r>
              <a:rPr lang="en-US" dirty="0" smtClean="0"/>
              <a:t> is Complex to manage, Can break apps if </a:t>
            </a:r>
            <a:r>
              <a:rPr lang="en-US" dirty="0" err="1" smtClean="0"/>
              <a:t>misconfigured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AppArmor</a:t>
            </a:r>
            <a:r>
              <a:rPr lang="en-US" dirty="0" smtClean="0"/>
              <a:t> is Vulnerable to path-based bypass (hard links), Less granular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Isolation Techniques in Linux: Namespaces, </a:t>
            </a:r>
            <a:r>
              <a:rPr lang="en-US" b="1" dirty="0" err="1" smtClean="0"/>
              <a:t>Cgroups</a:t>
            </a:r>
            <a:r>
              <a:rPr lang="en-US" b="1" dirty="0" smtClean="0"/>
              <a:t>, and Sandboxing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Isolation techniques are used in operating systems to ensure that processes, users, or applications do not interfere with each other. In Linux, isolation is primarily achieved using:</a:t>
            </a:r>
          </a:p>
          <a:p>
            <a:r>
              <a:rPr lang="en-US" dirty="0" smtClean="0"/>
              <a:t>Namespaces</a:t>
            </a:r>
          </a:p>
          <a:p>
            <a:r>
              <a:rPr lang="en-US" dirty="0" smtClean="0"/>
              <a:t>Control Groups (</a:t>
            </a:r>
            <a:r>
              <a:rPr lang="en-US" dirty="0" err="1" smtClean="0"/>
              <a:t>Cgroups</a:t>
            </a:r>
            <a:r>
              <a:rPr lang="en-US" dirty="0" smtClean="0"/>
              <a:t>)</a:t>
            </a:r>
          </a:p>
          <a:p>
            <a:r>
              <a:rPr lang="en-US" dirty="0" smtClean="0"/>
              <a:t>Sandboxing</a:t>
            </a:r>
          </a:p>
          <a:p>
            <a:r>
              <a:rPr lang="en-US" dirty="0" smtClean="0"/>
              <a:t>These techniques form the foundation of container technologies like </a:t>
            </a:r>
            <a:r>
              <a:rPr lang="en-US" b="1" dirty="0" err="1" smtClean="0"/>
              <a:t>Docker</a:t>
            </a:r>
            <a:r>
              <a:rPr lang="en-US" dirty="0" smtClean="0"/>
              <a:t> and </a:t>
            </a:r>
            <a:r>
              <a:rPr lang="en-US" b="1" dirty="0" err="1" smtClean="0"/>
              <a:t>Kubernetes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Namespaces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Introduction</a:t>
            </a:r>
          </a:p>
          <a:p>
            <a:r>
              <a:rPr lang="en-US" b="1" dirty="0" smtClean="0"/>
              <a:t>Namespaces</a:t>
            </a:r>
            <a:r>
              <a:rPr lang="en-US" dirty="0" smtClean="0"/>
              <a:t> provide </a:t>
            </a:r>
            <a:r>
              <a:rPr lang="en-US" i="1" dirty="0" smtClean="0"/>
              <a:t>process-level isolation</a:t>
            </a:r>
            <a:r>
              <a:rPr lang="en-US" dirty="0" smtClean="0"/>
              <a:t> by partitioning kernel resources so that one set of processes sees one view of the system, while another set sees a different view.</a:t>
            </a:r>
          </a:p>
          <a:p>
            <a:r>
              <a:rPr lang="en-US" dirty="0" smtClean="0"/>
              <a:t>In simple words:</a:t>
            </a:r>
            <a:br>
              <a:rPr lang="en-US" dirty="0" smtClean="0"/>
            </a:br>
            <a:r>
              <a:rPr lang="en-US" dirty="0" smtClean="0"/>
              <a:t>	Namespaces isolate </a:t>
            </a:r>
            <a:r>
              <a:rPr lang="en-US" i="1" dirty="0" smtClean="0"/>
              <a:t>what a process can see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Types of Linux Namespaces</a:t>
            </a:r>
          </a:p>
          <a:p>
            <a:r>
              <a:rPr lang="en-US" b="1" dirty="0" smtClean="0"/>
              <a:t>1. PID Namespace</a:t>
            </a:r>
          </a:p>
          <a:p>
            <a:r>
              <a:rPr lang="en-US" dirty="0" smtClean="0"/>
              <a:t>Isolates process IDs.</a:t>
            </a:r>
          </a:p>
          <a:p>
            <a:r>
              <a:rPr lang="en-US" dirty="0" smtClean="0"/>
              <a:t>Each namespace has its own PID numbering.</a:t>
            </a:r>
          </a:p>
          <a:p>
            <a:r>
              <a:rPr lang="en-US" dirty="0" smtClean="0"/>
              <a:t>A process can have PID 1 inside a container but a different PID in host.</a:t>
            </a:r>
          </a:p>
          <a:p>
            <a:r>
              <a:rPr lang="en-US" dirty="0" smtClean="0"/>
              <a:t>Used heavily in containers.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Namespaces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2. Mount (</a:t>
            </a:r>
            <a:r>
              <a:rPr lang="en-US" b="1" dirty="0" err="1" smtClean="0"/>
              <a:t>mnt</a:t>
            </a:r>
            <a:r>
              <a:rPr lang="en-US" b="1" dirty="0" smtClean="0"/>
              <a:t>) Namespace</a:t>
            </a:r>
          </a:p>
          <a:p>
            <a:r>
              <a:rPr lang="en-US" dirty="0" smtClean="0"/>
              <a:t>Isolates </a:t>
            </a:r>
            <a:r>
              <a:rPr lang="en-US" dirty="0" err="1" smtClean="0"/>
              <a:t>filesystem</a:t>
            </a:r>
            <a:r>
              <a:rPr lang="en-US" dirty="0" smtClean="0"/>
              <a:t> mount points.</a:t>
            </a:r>
          </a:p>
          <a:p>
            <a:r>
              <a:rPr lang="en-US" dirty="0" smtClean="0"/>
              <a:t>Processes can have different root </a:t>
            </a:r>
            <a:r>
              <a:rPr lang="en-US" dirty="0" err="1" smtClean="0"/>
              <a:t>filesystems</a:t>
            </a:r>
            <a:r>
              <a:rPr lang="en-US" dirty="0" smtClean="0"/>
              <a:t>.</a:t>
            </a:r>
          </a:p>
          <a:p>
            <a:r>
              <a:rPr lang="en-US" dirty="0" smtClean="0"/>
              <a:t>Used to create container root </a:t>
            </a:r>
            <a:r>
              <a:rPr lang="en-US" dirty="0" err="1" smtClean="0"/>
              <a:t>filesystem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3. Network Namespace</a:t>
            </a:r>
          </a:p>
          <a:p>
            <a:r>
              <a:rPr lang="en-US" dirty="0" smtClean="0"/>
              <a:t>Provides separate:</a:t>
            </a:r>
          </a:p>
          <a:p>
            <a:pPr lvl="1"/>
            <a:r>
              <a:rPr lang="en-US" dirty="0" smtClean="0"/>
              <a:t>IP addresses</a:t>
            </a:r>
          </a:p>
          <a:p>
            <a:pPr lvl="1"/>
            <a:r>
              <a:rPr lang="en-US" dirty="0" smtClean="0"/>
              <a:t>Routing tables</a:t>
            </a:r>
          </a:p>
          <a:p>
            <a:pPr lvl="1"/>
            <a:r>
              <a:rPr lang="en-US" dirty="0" smtClean="0"/>
              <a:t>Network interfaces</a:t>
            </a:r>
          </a:p>
          <a:p>
            <a:pPr lvl="1"/>
            <a:r>
              <a:rPr lang="en-US" dirty="0" smtClean="0"/>
              <a:t>Firewall rules</a:t>
            </a:r>
          </a:p>
          <a:p>
            <a:r>
              <a:rPr lang="en-US" dirty="0" smtClean="0"/>
              <a:t>Each container can have its own virtual network stack.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Namespaces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4. IPC Namespace</a:t>
            </a:r>
          </a:p>
          <a:p>
            <a:r>
              <a:rPr lang="en-US" dirty="0" smtClean="0"/>
              <a:t>Isolates inter-process communication:</a:t>
            </a:r>
          </a:p>
          <a:p>
            <a:pPr lvl="1"/>
            <a:r>
              <a:rPr lang="en-US" dirty="0" smtClean="0"/>
              <a:t>Shared memory</a:t>
            </a:r>
          </a:p>
          <a:p>
            <a:pPr lvl="1"/>
            <a:r>
              <a:rPr lang="en-US" dirty="0" smtClean="0"/>
              <a:t>Message queues</a:t>
            </a:r>
          </a:p>
          <a:p>
            <a:pPr lvl="1"/>
            <a:r>
              <a:rPr lang="en-US" dirty="0" smtClean="0"/>
              <a:t>Semaphores</a:t>
            </a:r>
          </a:p>
          <a:p>
            <a:r>
              <a:rPr lang="en-US" b="1" dirty="0" smtClean="0"/>
              <a:t>5. UTS Namespace</a:t>
            </a:r>
          </a:p>
          <a:p>
            <a:r>
              <a:rPr lang="en-US" dirty="0" smtClean="0"/>
              <a:t>Isolates hostname and domain name.</a:t>
            </a:r>
          </a:p>
          <a:p>
            <a:r>
              <a:rPr lang="en-US" dirty="0" smtClean="0"/>
              <a:t>Each container can have a unique hostname.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Namespaces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6. User Namespace</a:t>
            </a:r>
          </a:p>
          <a:p>
            <a:r>
              <a:rPr lang="en-US" dirty="0" smtClean="0"/>
              <a:t>Maps user IDs inside namespace to different IDs outside.</a:t>
            </a:r>
          </a:p>
          <a:p>
            <a:r>
              <a:rPr lang="en-US" dirty="0" smtClean="0"/>
              <a:t>Allows root inside container without root on host.</a:t>
            </a:r>
          </a:p>
          <a:p>
            <a:r>
              <a:rPr lang="en-US" dirty="0" smtClean="0"/>
              <a:t>Important for security.</a:t>
            </a:r>
          </a:p>
          <a:p>
            <a:r>
              <a:rPr lang="en-US" b="1" dirty="0" smtClean="0"/>
              <a:t>Advantages of Namespaces</a:t>
            </a:r>
          </a:p>
          <a:p>
            <a:r>
              <a:rPr lang="en-US" dirty="0" smtClean="0"/>
              <a:t>Lightweight isolation</a:t>
            </a:r>
          </a:p>
          <a:p>
            <a:r>
              <a:rPr lang="en-US" dirty="0" smtClean="0"/>
              <a:t>Foundation of containers</a:t>
            </a:r>
          </a:p>
          <a:p>
            <a:r>
              <a:rPr lang="en-US" dirty="0" smtClean="0"/>
              <a:t>Minimal performance overhead</a:t>
            </a:r>
          </a:p>
          <a:p>
            <a:r>
              <a:rPr lang="en-US" dirty="0" smtClean="0"/>
              <a:t>Strong process separation</a:t>
            </a:r>
          </a:p>
          <a:p>
            <a:r>
              <a:rPr lang="en-US" b="1" dirty="0" smtClean="0"/>
              <a:t>Limitation</a:t>
            </a:r>
          </a:p>
          <a:p>
            <a:r>
              <a:rPr lang="en-US" dirty="0" smtClean="0"/>
              <a:t>Does not control resource usage.</a:t>
            </a:r>
          </a:p>
          <a:p>
            <a:r>
              <a:rPr lang="en-US" dirty="0" smtClean="0"/>
              <a:t>Needs </a:t>
            </a:r>
            <a:r>
              <a:rPr lang="en-US" dirty="0" err="1" smtClean="0"/>
              <a:t>Cgroups</a:t>
            </a:r>
            <a:r>
              <a:rPr lang="en-US" dirty="0" smtClean="0"/>
              <a:t> for resource management.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Control Groups (</a:t>
            </a:r>
            <a:r>
              <a:rPr lang="en-US" b="1" dirty="0" err="1" smtClean="0"/>
              <a:t>Cgroups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Control Groups (</a:t>
            </a:r>
            <a:r>
              <a:rPr lang="en-US" b="1" dirty="0" err="1" smtClean="0"/>
              <a:t>Cgroups</a:t>
            </a:r>
            <a:r>
              <a:rPr lang="en-US" b="1" dirty="0" smtClean="0"/>
              <a:t>)</a:t>
            </a:r>
            <a:r>
              <a:rPr lang="en-US" dirty="0" smtClean="0"/>
              <a:t> limit, account, and isolate resource usage of process groups.</a:t>
            </a:r>
          </a:p>
          <a:p>
            <a:r>
              <a:rPr lang="en-US" dirty="0" smtClean="0"/>
              <a:t>In simple words:</a:t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err="1" smtClean="0"/>
              <a:t>Cgroups</a:t>
            </a:r>
            <a:r>
              <a:rPr lang="en-US" dirty="0" smtClean="0"/>
              <a:t> control </a:t>
            </a:r>
            <a:r>
              <a:rPr lang="en-US" i="1" dirty="0" smtClean="0"/>
              <a:t>how much a process can use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Developed by Google and integrated into Linux kernel.</a:t>
            </a:r>
          </a:p>
          <a:p>
            <a:r>
              <a:rPr lang="en-US" b="1" dirty="0" smtClean="0"/>
              <a:t>Resources Controlled by </a:t>
            </a:r>
            <a:r>
              <a:rPr lang="en-US" b="1" dirty="0" err="1" smtClean="0"/>
              <a:t>Cgroups</a:t>
            </a:r>
            <a:endParaRPr lang="en-US" b="1" dirty="0" smtClean="0"/>
          </a:p>
          <a:p>
            <a:r>
              <a:rPr lang="en-US" dirty="0" smtClean="0"/>
              <a:t>CPU usage</a:t>
            </a:r>
          </a:p>
          <a:p>
            <a:r>
              <a:rPr lang="en-US" dirty="0" smtClean="0"/>
              <a:t>Memory usage</a:t>
            </a:r>
          </a:p>
          <a:p>
            <a:r>
              <a:rPr lang="en-US" dirty="0" smtClean="0"/>
              <a:t>Disk I/O</a:t>
            </a:r>
          </a:p>
          <a:p>
            <a:r>
              <a:rPr lang="en-US" dirty="0" smtClean="0"/>
              <a:t>Network bandwidth</a:t>
            </a:r>
          </a:p>
          <a:p>
            <a:r>
              <a:rPr lang="en-US" dirty="0" smtClean="0"/>
              <a:t>Number of processes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Control Groups (</a:t>
            </a:r>
            <a:r>
              <a:rPr lang="en-US" b="1" dirty="0" err="1" smtClean="0"/>
              <a:t>Cgroups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Key Components</a:t>
            </a:r>
          </a:p>
          <a:p>
            <a:r>
              <a:rPr lang="en-US" dirty="0" smtClean="0"/>
              <a:t>Control Group</a:t>
            </a:r>
          </a:p>
          <a:p>
            <a:r>
              <a:rPr lang="en-US" dirty="0" smtClean="0"/>
              <a:t>Subsystems (Controllers)</a:t>
            </a:r>
          </a:p>
          <a:p>
            <a:r>
              <a:rPr lang="en-US" dirty="0" smtClean="0"/>
              <a:t>Hierarchy</a:t>
            </a:r>
          </a:p>
          <a:p>
            <a:r>
              <a:rPr lang="en-US" b="1" dirty="0" smtClean="0"/>
              <a:t>Important Controllers</a:t>
            </a:r>
          </a:p>
          <a:p>
            <a:r>
              <a:rPr lang="en-US" dirty="0" err="1" smtClean="0"/>
              <a:t>cpu</a:t>
            </a:r>
            <a:r>
              <a:rPr lang="en-US" dirty="0" smtClean="0"/>
              <a:t> → CPU allocation</a:t>
            </a:r>
          </a:p>
          <a:p>
            <a:r>
              <a:rPr lang="en-US" dirty="0" smtClean="0"/>
              <a:t>memory → Memory limits</a:t>
            </a:r>
          </a:p>
          <a:p>
            <a:r>
              <a:rPr lang="en-US" dirty="0" err="1" smtClean="0"/>
              <a:t>blkio</a:t>
            </a:r>
            <a:r>
              <a:rPr lang="en-US" dirty="0" smtClean="0"/>
              <a:t> → Disk I/O</a:t>
            </a:r>
          </a:p>
          <a:p>
            <a:r>
              <a:rPr lang="en-US" dirty="0" err="1" smtClean="0"/>
              <a:t>pids</a:t>
            </a:r>
            <a:r>
              <a:rPr lang="en-US" dirty="0" smtClean="0"/>
              <a:t> → Limit number of processes</a:t>
            </a:r>
          </a:p>
          <a:p>
            <a:r>
              <a:rPr lang="en-US" dirty="0" err="1" smtClean="0"/>
              <a:t>net_cls</a:t>
            </a:r>
            <a:r>
              <a:rPr lang="en-US" dirty="0" smtClean="0"/>
              <a:t> → Network classification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Control Groups (</a:t>
            </a:r>
            <a:r>
              <a:rPr lang="en-US" b="1" dirty="0" err="1" smtClean="0"/>
              <a:t>Cgroups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Working</a:t>
            </a:r>
            <a:endParaRPr lang="en-US" dirty="0" smtClean="0"/>
          </a:p>
          <a:p>
            <a:r>
              <a:rPr lang="en-US" dirty="0" smtClean="0"/>
              <a:t>Create a </a:t>
            </a:r>
            <a:r>
              <a:rPr lang="en-US" dirty="0" err="1" smtClean="0"/>
              <a:t>cgroup</a:t>
            </a:r>
            <a:r>
              <a:rPr lang="en-US" dirty="0" smtClean="0"/>
              <a:t>.</a:t>
            </a:r>
          </a:p>
          <a:p>
            <a:r>
              <a:rPr lang="en-US" dirty="0" smtClean="0"/>
              <a:t>Assign resource limits.</a:t>
            </a:r>
          </a:p>
          <a:p>
            <a:r>
              <a:rPr lang="en-US" dirty="0" smtClean="0"/>
              <a:t>Add processes to that group.</a:t>
            </a:r>
          </a:p>
          <a:p>
            <a:r>
              <a:rPr lang="en-US" dirty="0" smtClean="0"/>
              <a:t>Kernel enforces limits.</a:t>
            </a:r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Limit memory to 512MB:</a:t>
            </a:r>
          </a:p>
          <a:p>
            <a:r>
              <a:rPr lang="en-US" dirty="0" err="1" smtClean="0"/>
              <a:t>memory.limit_in_bytes</a:t>
            </a:r>
            <a:r>
              <a:rPr lang="en-US" dirty="0" smtClean="0"/>
              <a:t> = 536870912 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Control Groups (</a:t>
            </a:r>
            <a:r>
              <a:rPr lang="en-US" b="1" dirty="0" err="1" smtClean="0"/>
              <a:t>Cgroups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Advantages</a:t>
            </a:r>
          </a:p>
          <a:p>
            <a:r>
              <a:rPr lang="en-US" dirty="0" smtClean="0"/>
              <a:t>Prevents resource starvation</a:t>
            </a:r>
          </a:p>
          <a:p>
            <a:r>
              <a:rPr lang="en-US" dirty="0" smtClean="0"/>
              <a:t>Ensures fair resource distribution</a:t>
            </a:r>
          </a:p>
          <a:p>
            <a:r>
              <a:rPr lang="en-US" dirty="0" smtClean="0"/>
              <a:t>Essential for container platforms</a:t>
            </a:r>
          </a:p>
          <a:p>
            <a:r>
              <a:rPr lang="en-US" dirty="0" smtClean="0"/>
              <a:t>Supports accounting and monitoring</a:t>
            </a:r>
          </a:p>
          <a:p>
            <a:r>
              <a:rPr lang="en-US" b="1" dirty="0" smtClean="0"/>
              <a:t>Limitation</a:t>
            </a:r>
          </a:p>
          <a:p>
            <a:r>
              <a:rPr lang="en-US" dirty="0" smtClean="0"/>
              <a:t>Does not provide visibility isolation (needs namespaces).</a:t>
            </a:r>
          </a:p>
          <a:p>
            <a:r>
              <a:rPr lang="en-US" dirty="0" smtClean="0"/>
              <a:t>Complex hierarchy management (in v1).</a:t>
            </a:r>
          </a:p>
          <a:p>
            <a:r>
              <a:rPr lang="en-US" dirty="0" smtClean="0"/>
              <a:t>Note: </a:t>
            </a:r>
            <a:r>
              <a:rPr lang="en-US" dirty="0" err="1" smtClean="0"/>
              <a:t>Cgroups</a:t>
            </a:r>
            <a:r>
              <a:rPr lang="en-US" dirty="0" smtClean="0"/>
              <a:t> v2 simplifies design.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Sandboxing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Introduction</a:t>
            </a:r>
          </a:p>
          <a:p>
            <a:r>
              <a:rPr lang="en-US" b="1" dirty="0" smtClean="0"/>
              <a:t>Sandboxing</a:t>
            </a:r>
            <a:r>
              <a:rPr lang="en-US" dirty="0" smtClean="0"/>
              <a:t> is a security technique that runs applications in a restricted environment to prevent them from affecting the rest of the system.</a:t>
            </a:r>
          </a:p>
          <a:p>
            <a:r>
              <a:rPr lang="en-US" dirty="0" smtClean="0"/>
              <a:t>It isolates applications from:</a:t>
            </a:r>
          </a:p>
          <a:p>
            <a:r>
              <a:rPr lang="en-US" dirty="0" smtClean="0"/>
              <a:t>File system</a:t>
            </a:r>
          </a:p>
          <a:p>
            <a:r>
              <a:rPr lang="en-US" dirty="0" smtClean="0"/>
              <a:t>Network</a:t>
            </a:r>
          </a:p>
          <a:p>
            <a:r>
              <a:rPr lang="en-US" dirty="0" smtClean="0"/>
              <a:t>System calls</a:t>
            </a:r>
          </a:p>
          <a:p>
            <a:r>
              <a:rPr lang="en-US" dirty="0" smtClean="0"/>
              <a:t>Hardware access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Sandboxing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Types of Sandboxing in Linux</a:t>
            </a:r>
          </a:p>
          <a:p>
            <a:r>
              <a:rPr lang="en-US" b="1" dirty="0" smtClean="0"/>
              <a:t>1. </a:t>
            </a:r>
            <a:r>
              <a:rPr lang="en-US" b="1" dirty="0" err="1" smtClean="0"/>
              <a:t>Seccomp</a:t>
            </a:r>
            <a:r>
              <a:rPr lang="en-US" b="1" dirty="0" smtClean="0"/>
              <a:t> (Secure Computing Mode)</a:t>
            </a:r>
          </a:p>
          <a:p>
            <a:r>
              <a:rPr lang="en-US" dirty="0" smtClean="0"/>
              <a:t>Restricts system calls a process can make.</a:t>
            </a:r>
          </a:p>
          <a:p>
            <a:r>
              <a:rPr lang="en-US" dirty="0" smtClean="0"/>
              <a:t>Used in:</a:t>
            </a:r>
          </a:p>
          <a:p>
            <a:r>
              <a:rPr lang="en-US" dirty="0" smtClean="0"/>
              <a:t>Containers</a:t>
            </a:r>
          </a:p>
          <a:p>
            <a:r>
              <a:rPr lang="en-US" dirty="0" smtClean="0"/>
              <a:t>Browsers</a:t>
            </a:r>
          </a:p>
          <a:p>
            <a:r>
              <a:rPr lang="en-US" dirty="0" smtClean="0"/>
              <a:t>Example:</a:t>
            </a:r>
            <a:br>
              <a:rPr lang="en-US" dirty="0" smtClean="0"/>
            </a:br>
            <a:r>
              <a:rPr lang="en-US" dirty="0" smtClean="0"/>
              <a:t>Allow only read, write, exit </a:t>
            </a:r>
            <a:r>
              <a:rPr lang="en-US" dirty="0" err="1" smtClean="0"/>
              <a:t>syscalls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Sandboxing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2. </a:t>
            </a:r>
            <a:r>
              <a:rPr lang="en-US" b="1" dirty="0" err="1" smtClean="0"/>
              <a:t>AppArmor</a:t>
            </a:r>
            <a:r>
              <a:rPr lang="en-US" b="1" dirty="0" smtClean="0"/>
              <a:t> / </a:t>
            </a:r>
            <a:r>
              <a:rPr lang="en-US" b="1" dirty="0" err="1" smtClean="0"/>
              <a:t>SELinux</a:t>
            </a:r>
            <a:endParaRPr lang="en-US" b="1" dirty="0" smtClean="0"/>
          </a:p>
          <a:p>
            <a:r>
              <a:rPr lang="en-US" dirty="0" smtClean="0"/>
              <a:t>Mandatory Access Control-based sandboxing.</a:t>
            </a:r>
          </a:p>
          <a:p>
            <a:r>
              <a:rPr lang="en-US" b="1" dirty="0" smtClean="0"/>
              <a:t>Security-Enhanced Linux</a:t>
            </a:r>
            <a:endParaRPr lang="en-US" dirty="0" smtClean="0"/>
          </a:p>
          <a:p>
            <a:r>
              <a:rPr lang="en-US" b="1" dirty="0" err="1" smtClean="0"/>
              <a:t>AppArmor</a:t>
            </a:r>
            <a:endParaRPr lang="en-US" dirty="0" smtClean="0"/>
          </a:p>
          <a:p>
            <a:r>
              <a:rPr lang="en-US" dirty="0" smtClean="0"/>
              <a:t>They confine application behavior.</a:t>
            </a:r>
          </a:p>
          <a:p>
            <a:r>
              <a:rPr lang="en-US" b="1" dirty="0" smtClean="0"/>
              <a:t>3. </a:t>
            </a:r>
            <a:r>
              <a:rPr lang="en-US" b="1" dirty="0" err="1" smtClean="0"/>
              <a:t>chroot</a:t>
            </a:r>
            <a:r>
              <a:rPr lang="en-US" b="1" dirty="0" smtClean="0"/>
              <a:t> Jail</a:t>
            </a:r>
          </a:p>
          <a:p>
            <a:r>
              <a:rPr lang="en-US" dirty="0" smtClean="0"/>
              <a:t>Changes root directory for a process.</a:t>
            </a:r>
          </a:p>
          <a:p>
            <a:r>
              <a:rPr lang="en-US" dirty="0" smtClean="0"/>
              <a:t>But weak compared to namespaces.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Sandboxing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4. Browser Sandboxing</a:t>
            </a:r>
          </a:p>
          <a:p>
            <a:r>
              <a:rPr lang="en-US" dirty="0" smtClean="0"/>
              <a:t>Used in:</a:t>
            </a:r>
          </a:p>
          <a:p>
            <a:r>
              <a:rPr lang="en-US" dirty="0" smtClean="0"/>
              <a:t>Chrome</a:t>
            </a:r>
          </a:p>
          <a:p>
            <a:r>
              <a:rPr lang="en-US" dirty="0" smtClean="0"/>
              <a:t>Firefox</a:t>
            </a:r>
          </a:p>
          <a:p>
            <a:r>
              <a:rPr lang="en-US" dirty="0" smtClean="0"/>
              <a:t>Prevents malicious web code from accessing OS.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Sandboxing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Advantages of Sandboxing</a:t>
            </a:r>
          </a:p>
          <a:p>
            <a:r>
              <a:rPr lang="en-US" dirty="0" smtClean="0"/>
              <a:t>Contains malware damage</a:t>
            </a:r>
          </a:p>
          <a:p>
            <a:r>
              <a:rPr lang="en-US" dirty="0" smtClean="0"/>
              <a:t>Reduces attack surface</a:t>
            </a:r>
          </a:p>
          <a:p>
            <a:r>
              <a:rPr lang="en-US" dirty="0" smtClean="0"/>
              <a:t>Protects system integrity</a:t>
            </a:r>
          </a:p>
          <a:p>
            <a:r>
              <a:rPr lang="en-US" dirty="0" smtClean="0"/>
              <a:t>Enhances application-level security</a:t>
            </a:r>
          </a:p>
          <a:p>
            <a:r>
              <a:rPr lang="en-US" b="1" dirty="0" smtClean="0"/>
              <a:t>Limitations</a:t>
            </a:r>
          </a:p>
          <a:p>
            <a:r>
              <a:rPr lang="en-US" dirty="0" err="1" smtClean="0"/>
              <a:t>Misconfiguration</a:t>
            </a:r>
            <a:r>
              <a:rPr lang="en-US" dirty="0" smtClean="0"/>
              <a:t> reduces effectiveness</a:t>
            </a:r>
          </a:p>
          <a:p>
            <a:r>
              <a:rPr lang="en-US" dirty="0" smtClean="0"/>
              <a:t>Some performance overhead</a:t>
            </a:r>
          </a:p>
          <a:p>
            <a:r>
              <a:rPr lang="en-US" dirty="0" smtClean="0"/>
              <a:t>Not complete virtualization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Address Space Layout Randomization (ASLR) and Stack Protection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Modern operating systems implement memory protection techniques to prevent exploitation of vulnerabilities such as buffer overflow attacks. Two important protection mechanisms are:</a:t>
            </a:r>
          </a:p>
          <a:p>
            <a:r>
              <a:rPr lang="en-US" dirty="0" smtClean="0"/>
              <a:t>Address Space Layout Randomization (ASLR)</a:t>
            </a:r>
          </a:p>
          <a:p>
            <a:r>
              <a:rPr lang="en-US" dirty="0" smtClean="0"/>
              <a:t>Stack Protection (Stack Canaries / Stack Smashing Protection)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Address Space Layout Randomization (ASLR)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Introduction</a:t>
            </a:r>
          </a:p>
          <a:p>
            <a:r>
              <a:rPr lang="en-US" b="1" dirty="0" smtClean="0"/>
              <a:t>Address Space Layout Randomization (ASLR)</a:t>
            </a:r>
            <a:r>
              <a:rPr lang="en-US" dirty="0" smtClean="0"/>
              <a:t> is a memory protection technique that randomizes the memory addresses used by system and application processes.</a:t>
            </a:r>
          </a:p>
          <a:p>
            <a:r>
              <a:rPr lang="en-US" dirty="0" smtClean="0"/>
              <a:t>It prevents attackers from predicting the location of:</a:t>
            </a:r>
          </a:p>
          <a:p>
            <a:r>
              <a:rPr lang="en-US" dirty="0" smtClean="0"/>
              <a:t>Stack</a:t>
            </a:r>
          </a:p>
          <a:p>
            <a:r>
              <a:rPr lang="en-US" dirty="0" smtClean="0"/>
              <a:t>Heap</a:t>
            </a:r>
          </a:p>
          <a:p>
            <a:r>
              <a:rPr lang="en-US" dirty="0" smtClean="0"/>
              <a:t>Shared libraries</a:t>
            </a:r>
          </a:p>
          <a:p>
            <a:r>
              <a:rPr lang="en-US" dirty="0" smtClean="0"/>
              <a:t>Executable code</a:t>
            </a:r>
          </a:p>
          <a:p>
            <a:r>
              <a:rPr lang="en-US" dirty="0" smtClean="0"/>
              <a:t>ASLR makes memory exploitation significantly harder.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Address Space Layout Randomization (ASLR)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Why ASLR is Needed</a:t>
            </a:r>
          </a:p>
          <a:p>
            <a:r>
              <a:rPr lang="en-US" dirty="0" smtClean="0"/>
              <a:t>In classic buffer overflow attacks:</a:t>
            </a:r>
          </a:p>
          <a:p>
            <a:r>
              <a:rPr lang="en-US" dirty="0" smtClean="0"/>
              <a:t>Attacker injects malicious code.</a:t>
            </a:r>
          </a:p>
          <a:p>
            <a:r>
              <a:rPr lang="en-US" dirty="0" smtClean="0"/>
              <a:t>Overwrites return address.</a:t>
            </a:r>
          </a:p>
          <a:p>
            <a:r>
              <a:rPr lang="en-US" dirty="0" smtClean="0"/>
              <a:t>Redirects execution to known memory address.</a:t>
            </a:r>
          </a:p>
          <a:p>
            <a:r>
              <a:rPr lang="en-US" dirty="0" smtClean="0"/>
              <a:t>Without ASLR:</a:t>
            </a:r>
          </a:p>
          <a:p>
            <a:r>
              <a:rPr lang="en-US" dirty="0" smtClean="0"/>
              <a:t>Memory layout is predictable.</a:t>
            </a:r>
          </a:p>
          <a:p>
            <a:r>
              <a:rPr lang="en-US" dirty="0" smtClean="0"/>
              <a:t>Exploit becomes easy.</a:t>
            </a:r>
          </a:p>
          <a:p>
            <a:r>
              <a:rPr lang="en-US" dirty="0" smtClean="0"/>
              <a:t>With ASLR:</a:t>
            </a:r>
          </a:p>
          <a:p>
            <a:r>
              <a:rPr lang="en-US" dirty="0" smtClean="0"/>
              <a:t>Memory addresses change each execution.</a:t>
            </a:r>
          </a:p>
          <a:p>
            <a:r>
              <a:rPr lang="en-US" dirty="0" smtClean="0"/>
              <a:t>Attacker cannot predict target address.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Address Space Layout Randomization (ASLR)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What ASLR Randomizes</a:t>
            </a:r>
          </a:p>
          <a:p>
            <a:r>
              <a:rPr lang="en-US" dirty="0" smtClean="0"/>
              <a:t>Stack base address</a:t>
            </a:r>
          </a:p>
          <a:p>
            <a:r>
              <a:rPr lang="en-US" dirty="0" smtClean="0"/>
              <a:t>Heap base address</a:t>
            </a:r>
          </a:p>
          <a:p>
            <a:r>
              <a:rPr lang="en-US" dirty="0" err="1" smtClean="0"/>
              <a:t>mmap</a:t>
            </a:r>
            <a:r>
              <a:rPr lang="en-US" dirty="0" smtClean="0"/>
              <a:t> region</a:t>
            </a:r>
          </a:p>
          <a:p>
            <a:r>
              <a:rPr lang="en-US" dirty="0" smtClean="0"/>
              <a:t>Shared libraries</a:t>
            </a:r>
          </a:p>
          <a:p>
            <a:r>
              <a:rPr lang="en-US" dirty="0" smtClean="0"/>
              <a:t>Executable base (if PIE enabled)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Address Space Layout Randomization (ASLR)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Working Mechanism</a:t>
            </a:r>
          </a:p>
          <a:p>
            <a:r>
              <a:rPr lang="en-US" dirty="0" smtClean="0"/>
              <a:t>When a program starts:</a:t>
            </a:r>
          </a:p>
          <a:p>
            <a:r>
              <a:rPr lang="en-US" dirty="0" smtClean="0"/>
              <a:t>Kernel loads program into memory.</a:t>
            </a:r>
          </a:p>
          <a:p>
            <a:r>
              <a:rPr lang="en-US" dirty="0" smtClean="0"/>
              <a:t>Memory regions are assigned random offsets.</a:t>
            </a:r>
          </a:p>
          <a:p>
            <a:r>
              <a:rPr lang="en-US" dirty="0" smtClean="0"/>
              <a:t>Each execution gets a different layout.</a:t>
            </a:r>
          </a:p>
          <a:p>
            <a:r>
              <a:rPr lang="en-US" dirty="0" smtClean="0"/>
              <a:t>Example:</a:t>
            </a:r>
          </a:p>
          <a:p>
            <a:r>
              <a:rPr lang="en-US" dirty="0" smtClean="0"/>
              <a:t>Run 1:</a:t>
            </a:r>
          </a:p>
          <a:p>
            <a:r>
              <a:rPr lang="en-US" dirty="0" err="1" smtClean="0"/>
              <a:t>libc</a:t>
            </a:r>
            <a:r>
              <a:rPr lang="en-US" dirty="0" smtClean="0"/>
              <a:t> → 0x7f34a12000 </a:t>
            </a:r>
          </a:p>
          <a:p>
            <a:r>
              <a:rPr lang="en-US" dirty="0" smtClean="0"/>
              <a:t>Run 2:</a:t>
            </a:r>
          </a:p>
          <a:p>
            <a:r>
              <a:rPr lang="en-US" dirty="0" err="1" smtClean="0"/>
              <a:t>libc</a:t>
            </a:r>
            <a:r>
              <a:rPr lang="en-US" dirty="0" smtClean="0"/>
              <a:t> → 0x6a91b34000 </a:t>
            </a:r>
          </a:p>
          <a:p>
            <a:r>
              <a:rPr lang="en-US" dirty="0" smtClean="0"/>
              <a:t>Different address every time.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Address Space Layout Randomization (ASLR)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Types of ASLR</a:t>
            </a:r>
          </a:p>
          <a:p>
            <a:r>
              <a:rPr lang="en-US" dirty="0" smtClean="0"/>
              <a:t>Partial ASLR</a:t>
            </a:r>
          </a:p>
          <a:p>
            <a:pPr lvl="1"/>
            <a:r>
              <a:rPr lang="en-US" dirty="0" smtClean="0"/>
              <a:t>Randomizes stack and libraries only.</a:t>
            </a:r>
          </a:p>
          <a:p>
            <a:r>
              <a:rPr lang="en-US" dirty="0" smtClean="0"/>
              <a:t>Full ASLR</a:t>
            </a:r>
          </a:p>
          <a:p>
            <a:pPr lvl="1"/>
            <a:r>
              <a:rPr lang="en-US" dirty="0" smtClean="0"/>
              <a:t>Randomizes stack, heap, </a:t>
            </a:r>
            <a:r>
              <a:rPr lang="en-US" dirty="0" err="1" smtClean="0"/>
              <a:t>mmap</a:t>
            </a:r>
            <a:r>
              <a:rPr lang="en-US" dirty="0" smtClean="0"/>
              <a:t>, and executable.</a:t>
            </a:r>
          </a:p>
          <a:p>
            <a:r>
              <a:rPr lang="en-US" dirty="0" smtClean="0"/>
              <a:t>PIE (Position Independent Executable)</a:t>
            </a:r>
          </a:p>
          <a:p>
            <a:pPr lvl="1"/>
            <a:r>
              <a:rPr lang="en-US" dirty="0" smtClean="0"/>
              <a:t>Required for full randomization of main program.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Address Space Layout Randomization (ASLR)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Advantages</a:t>
            </a:r>
          </a:p>
          <a:p>
            <a:r>
              <a:rPr lang="en-US" dirty="0" smtClean="0"/>
              <a:t>Prevents Return-to-</a:t>
            </a:r>
            <a:r>
              <a:rPr lang="en-US" dirty="0" err="1" smtClean="0"/>
              <a:t>libc</a:t>
            </a:r>
            <a:r>
              <a:rPr lang="en-US" dirty="0" smtClean="0"/>
              <a:t> attacks</a:t>
            </a:r>
          </a:p>
          <a:p>
            <a:r>
              <a:rPr lang="en-US" dirty="0" smtClean="0"/>
              <a:t>Mitigates buffer overflow exploitation</a:t>
            </a:r>
          </a:p>
          <a:p>
            <a:r>
              <a:rPr lang="en-US" dirty="0" smtClean="0"/>
              <a:t>Increases attack complexity</a:t>
            </a:r>
          </a:p>
          <a:p>
            <a:r>
              <a:rPr lang="en-US" dirty="0" smtClean="0"/>
              <a:t>Lightweight protection</a:t>
            </a:r>
          </a:p>
          <a:p>
            <a:r>
              <a:rPr lang="en-US" b="1" dirty="0" smtClean="0"/>
              <a:t>Limitations</a:t>
            </a:r>
          </a:p>
          <a:p>
            <a:r>
              <a:rPr lang="en-US" dirty="0" smtClean="0"/>
              <a:t>Does not fix vulnerability itself</a:t>
            </a:r>
          </a:p>
          <a:p>
            <a:r>
              <a:rPr lang="en-US" dirty="0" smtClean="0"/>
              <a:t>Can be bypassed using:</a:t>
            </a:r>
          </a:p>
          <a:p>
            <a:pPr lvl="1"/>
            <a:r>
              <a:rPr lang="en-US" dirty="0" smtClean="0"/>
              <a:t>Information leaks</a:t>
            </a:r>
          </a:p>
          <a:p>
            <a:pPr lvl="1"/>
            <a:r>
              <a:rPr lang="en-US" dirty="0" smtClean="0"/>
              <a:t>Brute force</a:t>
            </a:r>
          </a:p>
          <a:p>
            <a:r>
              <a:rPr lang="en-US" dirty="0" smtClean="0"/>
              <a:t>Less effective in 32-bit systems (limited address space)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Stack Protection (Stack Smashing Protection)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Introduction</a:t>
            </a:r>
          </a:p>
          <a:p>
            <a:r>
              <a:rPr lang="en-US" dirty="0" smtClean="0"/>
              <a:t>Stack protection mechanisms prevent </a:t>
            </a:r>
            <a:r>
              <a:rPr lang="en-US" b="1" dirty="0" smtClean="0"/>
              <a:t>stack-based buffer overflow attacks</a:t>
            </a:r>
            <a:r>
              <a:rPr lang="en-US" dirty="0" smtClean="0"/>
              <a:t> by detecting unauthorized modification of return addresses.</a:t>
            </a:r>
          </a:p>
          <a:p>
            <a:r>
              <a:rPr lang="en-US" dirty="0" smtClean="0"/>
              <a:t>Common implementation:</a:t>
            </a:r>
          </a:p>
          <a:p>
            <a:r>
              <a:rPr lang="en-US" dirty="0" smtClean="0"/>
              <a:t>Stack Canaries</a:t>
            </a:r>
          </a:p>
          <a:p>
            <a:r>
              <a:rPr lang="en-US" dirty="0" smtClean="0"/>
              <a:t>Stack Smashing Protection (SSP)</a:t>
            </a:r>
          </a:p>
          <a:p>
            <a:r>
              <a:rPr lang="en-US" b="1" dirty="0" smtClean="0"/>
              <a:t>What is Stack Overflow?</a:t>
            </a:r>
          </a:p>
          <a:p>
            <a:r>
              <a:rPr lang="en-US" dirty="0" smtClean="0"/>
              <a:t>When:</a:t>
            </a:r>
          </a:p>
          <a:p>
            <a:r>
              <a:rPr lang="en-US" dirty="0" smtClean="0"/>
              <a:t>Program writes beyond buffer size.</a:t>
            </a:r>
          </a:p>
          <a:p>
            <a:r>
              <a:rPr lang="en-US" dirty="0" smtClean="0"/>
              <a:t>Overwrites adjacent memory.</a:t>
            </a:r>
          </a:p>
          <a:p>
            <a:r>
              <a:rPr lang="en-US" dirty="0" smtClean="0"/>
              <a:t>May overwrite return address.</a:t>
            </a:r>
          </a:p>
          <a:p>
            <a:r>
              <a:rPr lang="en-US" dirty="0" smtClean="0"/>
              <a:t>Example:</a:t>
            </a:r>
          </a:p>
          <a:p>
            <a:r>
              <a:rPr lang="en-US" dirty="0" smtClean="0"/>
              <a:t>char buffer[10]; gets(buffer); // unsafe </a:t>
            </a:r>
          </a:p>
          <a:p>
            <a:r>
              <a:rPr lang="en-US" dirty="0" smtClean="0"/>
              <a:t>If input &gt; 10 characters → overflow.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Stack Protection (Stack Smashing Protection)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Stack Canary Concept</a:t>
            </a:r>
          </a:p>
          <a:p>
            <a:r>
              <a:rPr lang="en-US" dirty="0" smtClean="0"/>
              <a:t>A </a:t>
            </a:r>
            <a:r>
              <a:rPr lang="en-US" b="1" dirty="0" smtClean="0"/>
              <a:t>canary value</a:t>
            </a:r>
            <a:r>
              <a:rPr lang="en-US" dirty="0" smtClean="0"/>
              <a:t> is placed between:</a:t>
            </a:r>
          </a:p>
          <a:p>
            <a:r>
              <a:rPr lang="en-US" dirty="0" smtClean="0"/>
              <a:t>Local variables ↓ Canary ↓ Return Address </a:t>
            </a:r>
          </a:p>
          <a:p>
            <a:r>
              <a:rPr lang="en-US" dirty="0" smtClean="0"/>
              <a:t>Before function returns:</a:t>
            </a:r>
          </a:p>
          <a:p>
            <a:r>
              <a:rPr lang="en-US" dirty="0" smtClean="0"/>
              <a:t>Program checks if canary value changed.</a:t>
            </a:r>
          </a:p>
          <a:p>
            <a:r>
              <a:rPr lang="en-US" dirty="0" smtClean="0"/>
              <a:t>If modified → program terminates.</a:t>
            </a:r>
          </a:p>
          <a:p>
            <a:r>
              <a:rPr lang="en-US" b="1" dirty="0" smtClean="0"/>
              <a:t>Why Called “Canary”?</a:t>
            </a:r>
          </a:p>
          <a:p>
            <a:r>
              <a:rPr lang="en-US" dirty="0" smtClean="0"/>
              <a:t>Like a coal mine canary:</a:t>
            </a:r>
          </a:p>
          <a:p>
            <a:r>
              <a:rPr lang="en-US" dirty="0" smtClean="0"/>
              <a:t>If it dies → danger detected.</a:t>
            </a:r>
          </a:p>
          <a:p>
            <a:r>
              <a:rPr lang="en-US" dirty="0" smtClean="0"/>
              <a:t>If canary value changes → attack detected.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Stack Protection (Stack Smashing Protection)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 smtClean="0"/>
              <a:t>Types of Stack Canaries</a:t>
            </a:r>
          </a:p>
          <a:p>
            <a:r>
              <a:rPr lang="en-US" dirty="0" smtClean="0"/>
              <a:t>Terminator Canary</a:t>
            </a:r>
          </a:p>
          <a:p>
            <a:pPr lvl="1"/>
            <a:r>
              <a:rPr lang="en-US" dirty="0" smtClean="0"/>
              <a:t>Uses special characters (null, newline, etc.)</a:t>
            </a:r>
          </a:p>
          <a:p>
            <a:r>
              <a:rPr lang="en-US" dirty="0" smtClean="0"/>
              <a:t>Random Canary</a:t>
            </a:r>
          </a:p>
          <a:p>
            <a:pPr lvl="1"/>
            <a:r>
              <a:rPr lang="en-US" dirty="0" smtClean="0"/>
              <a:t>Random value generated at runtime.</a:t>
            </a:r>
          </a:p>
          <a:p>
            <a:r>
              <a:rPr lang="en-US" dirty="0" smtClean="0"/>
              <a:t>XOR Canary</a:t>
            </a:r>
          </a:p>
          <a:p>
            <a:pPr lvl="1"/>
            <a:r>
              <a:rPr lang="en-US" dirty="0" smtClean="0"/>
              <a:t>Combines random value with control data.</a:t>
            </a:r>
          </a:p>
          <a:p>
            <a:r>
              <a:rPr lang="en-US" b="1" dirty="0" smtClean="0"/>
              <a:t>Working Mechanism</a:t>
            </a:r>
          </a:p>
          <a:p>
            <a:r>
              <a:rPr lang="en-US" dirty="0" smtClean="0"/>
              <a:t>Function call.</a:t>
            </a:r>
          </a:p>
          <a:p>
            <a:r>
              <a:rPr lang="en-US" dirty="0" smtClean="0"/>
              <a:t>Canary inserted into stack.</a:t>
            </a:r>
          </a:p>
          <a:p>
            <a:r>
              <a:rPr lang="en-US" dirty="0" smtClean="0"/>
              <a:t>Buffer overflow occurs.</a:t>
            </a:r>
          </a:p>
          <a:p>
            <a:r>
              <a:rPr lang="en-US" dirty="0" smtClean="0"/>
              <a:t>Canary gets overwritten.</a:t>
            </a:r>
          </a:p>
          <a:p>
            <a:r>
              <a:rPr lang="en-US" dirty="0" smtClean="0"/>
              <a:t>Before returning:</a:t>
            </a:r>
          </a:p>
          <a:p>
            <a:r>
              <a:rPr lang="en-US" dirty="0" smtClean="0"/>
              <a:t>if (canary != </a:t>
            </a:r>
            <a:r>
              <a:rPr lang="en-US" dirty="0" err="1" smtClean="0"/>
              <a:t>original_value</a:t>
            </a:r>
            <a:r>
              <a:rPr lang="en-US" dirty="0" smtClean="0"/>
              <a:t>) abort(); </a:t>
            </a:r>
          </a:p>
          <a:p>
            <a:r>
              <a:rPr lang="en-US" dirty="0" smtClean="0"/>
              <a:t>Program terminates.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Stack Protection (Stack Smashing Protection)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Advantages</a:t>
            </a:r>
          </a:p>
          <a:p>
            <a:r>
              <a:rPr lang="en-US" dirty="0" smtClean="0"/>
              <a:t>Detects stack buffer overflow</a:t>
            </a:r>
          </a:p>
          <a:p>
            <a:r>
              <a:rPr lang="en-US" dirty="0" smtClean="0"/>
              <a:t>Low overhead</a:t>
            </a:r>
          </a:p>
          <a:p>
            <a:r>
              <a:rPr lang="en-US" dirty="0" smtClean="0"/>
              <a:t>Prevents return address corruption</a:t>
            </a:r>
          </a:p>
          <a:p>
            <a:r>
              <a:rPr lang="en-US" dirty="0" smtClean="0"/>
              <a:t>Integrated in modern compilers (GCC with -</a:t>
            </a:r>
            <a:r>
              <a:rPr lang="en-US" dirty="0" err="1" smtClean="0"/>
              <a:t>fstack</a:t>
            </a:r>
            <a:r>
              <a:rPr lang="en-US" dirty="0" smtClean="0"/>
              <a:t>-protector)</a:t>
            </a:r>
          </a:p>
          <a:p>
            <a:r>
              <a:rPr lang="en-US" b="1" dirty="0" smtClean="0"/>
              <a:t>Limitations</a:t>
            </a:r>
          </a:p>
          <a:p>
            <a:r>
              <a:rPr lang="en-US" dirty="0" smtClean="0"/>
              <a:t>Protects only stack-based overflow</a:t>
            </a:r>
          </a:p>
          <a:p>
            <a:r>
              <a:rPr lang="en-US" dirty="0" smtClean="0"/>
              <a:t>Cannot stop heap overflow</a:t>
            </a:r>
          </a:p>
          <a:p>
            <a:r>
              <a:rPr lang="en-US" dirty="0" smtClean="0"/>
              <a:t>If attacker knows canary value → bypass possible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Mitigation Techniques for Side-Channel Attacks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 </a:t>
            </a:r>
            <a:r>
              <a:rPr lang="en-US" b="1" dirty="0" smtClean="0"/>
              <a:t>side-channel attack</a:t>
            </a:r>
            <a:r>
              <a:rPr lang="en-US" dirty="0" smtClean="0"/>
              <a:t> is a type of security attack that exploits indirect information leakage from a system rather than weaknesses in cryptographic algorithms themselves.</a:t>
            </a:r>
          </a:p>
          <a:p>
            <a:r>
              <a:rPr lang="en-US" dirty="0" smtClean="0"/>
              <a:t>Instead of breaking encryption mathematically, attackers analyze:</a:t>
            </a:r>
          </a:p>
          <a:p>
            <a:r>
              <a:rPr lang="en-US" dirty="0" smtClean="0"/>
              <a:t>Execution time</a:t>
            </a:r>
          </a:p>
          <a:p>
            <a:r>
              <a:rPr lang="en-US" dirty="0" smtClean="0"/>
              <a:t>Power consumption</a:t>
            </a:r>
          </a:p>
          <a:p>
            <a:r>
              <a:rPr lang="en-US" dirty="0" smtClean="0"/>
              <a:t>Electromagnetic radiation</a:t>
            </a:r>
          </a:p>
          <a:p>
            <a:r>
              <a:rPr lang="en-US" dirty="0" smtClean="0"/>
              <a:t>Cache behavior</a:t>
            </a:r>
          </a:p>
          <a:p>
            <a:r>
              <a:rPr lang="en-US" dirty="0" smtClean="0"/>
              <a:t>Acoustic signals</a:t>
            </a:r>
          </a:p>
          <a:p>
            <a:r>
              <a:rPr lang="en-US" dirty="0" smtClean="0"/>
              <a:t>These attacks are especially dangerous in:</a:t>
            </a:r>
          </a:p>
          <a:p>
            <a:r>
              <a:rPr lang="en-US" dirty="0" smtClean="0"/>
              <a:t>Cryptographic systems</a:t>
            </a:r>
          </a:p>
          <a:p>
            <a:r>
              <a:rPr lang="en-US" dirty="0" smtClean="0"/>
              <a:t>Smart cards</a:t>
            </a:r>
          </a:p>
          <a:p>
            <a:r>
              <a:rPr lang="en-US" dirty="0" smtClean="0"/>
              <a:t>Embedded devices</a:t>
            </a:r>
          </a:p>
          <a:p>
            <a:r>
              <a:rPr lang="en-US" dirty="0" smtClean="0"/>
              <a:t>Cloud computing environments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Mitigation Techniques for Side-Channel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Common Types of Side-Channel Attacks</a:t>
            </a:r>
          </a:p>
          <a:p>
            <a:r>
              <a:rPr lang="en-US" dirty="0" smtClean="0"/>
              <a:t>Timing Attacks</a:t>
            </a:r>
          </a:p>
          <a:p>
            <a:r>
              <a:rPr lang="en-US" dirty="0" smtClean="0"/>
              <a:t>Power Analysis Attacks</a:t>
            </a:r>
          </a:p>
          <a:p>
            <a:r>
              <a:rPr lang="en-US" dirty="0" smtClean="0"/>
              <a:t>Electromagnetic (EM) Attacks</a:t>
            </a:r>
          </a:p>
          <a:p>
            <a:r>
              <a:rPr lang="en-US" dirty="0" smtClean="0"/>
              <a:t>Cache Attacks</a:t>
            </a:r>
          </a:p>
          <a:p>
            <a:r>
              <a:rPr lang="en-US" dirty="0" smtClean="0"/>
              <a:t>Speculative Execution Attacks (e.g., </a:t>
            </a:r>
            <a:r>
              <a:rPr lang="en-US" b="1" dirty="0" err="1" smtClean="0"/>
              <a:t>Spectre</a:t>
            </a:r>
            <a:r>
              <a:rPr lang="en-US" dirty="0" smtClean="0"/>
              <a:t>, </a:t>
            </a:r>
            <a:r>
              <a:rPr lang="en-US" b="1" dirty="0" smtClean="0"/>
              <a:t>Meltdown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Mitigation Techniques for Side-Channel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Mitigation Techniques</a:t>
            </a:r>
          </a:p>
          <a:p>
            <a:r>
              <a:rPr lang="en-US" dirty="0" smtClean="0"/>
              <a:t>Side-channel mitigation can be implemented at multiple levels:</a:t>
            </a:r>
          </a:p>
          <a:p>
            <a:r>
              <a:rPr lang="en-US" dirty="0" smtClean="0"/>
              <a:t>Algorithm level</a:t>
            </a:r>
          </a:p>
          <a:p>
            <a:r>
              <a:rPr lang="en-US" dirty="0" smtClean="0"/>
              <a:t>Software level</a:t>
            </a:r>
          </a:p>
          <a:p>
            <a:r>
              <a:rPr lang="en-US" dirty="0" smtClean="0"/>
              <a:t>Hardware level</a:t>
            </a:r>
          </a:p>
          <a:p>
            <a:r>
              <a:rPr lang="en-US" dirty="0" smtClean="0"/>
              <a:t>System level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Mitigation Techniques for Side-Channel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Constant-Time Algorithms</a:t>
            </a:r>
          </a:p>
          <a:p>
            <a:r>
              <a:rPr lang="en-US" b="1" dirty="0" smtClean="0"/>
              <a:t>Problem:</a:t>
            </a:r>
          </a:p>
          <a:p>
            <a:r>
              <a:rPr lang="en-US" dirty="0" smtClean="0"/>
              <a:t>Timing variations reveal secret information.</a:t>
            </a:r>
          </a:p>
          <a:p>
            <a:r>
              <a:rPr lang="en-US" b="1" dirty="0" smtClean="0"/>
              <a:t>Solution:</a:t>
            </a:r>
          </a:p>
          <a:p>
            <a:r>
              <a:rPr lang="en-US" dirty="0" smtClean="0"/>
              <a:t>Use constant-time implementations.</a:t>
            </a:r>
          </a:p>
          <a:p>
            <a:r>
              <a:rPr lang="en-US" dirty="0" smtClean="0"/>
              <a:t>Example:</a:t>
            </a:r>
            <a:br>
              <a:rPr lang="en-US" dirty="0" smtClean="0"/>
            </a:br>
            <a:r>
              <a:rPr lang="en-US" dirty="0" smtClean="0"/>
              <a:t>Instead of:</a:t>
            </a:r>
          </a:p>
          <a:p>
            <a:r>
              <a:rPr lang="en-US" dirty="0" smtClean="0"/>
              <a:t>if (</a:t>
            </a:r>
            <a:r>
              <a:rPr lang="en-US" dirty="0" err="1" smtClean="0"/>
              <a:t>key_bit</a:t>
            </a:r>
            <a:r>
              <a:rPr lang="en-US" dirty="0" smtClean="0"/>
              <a:t> == 1) </a:t>
            </a:r>
            <a:r>
              <a:rPr lang="en-US" dirty="0" err="1" smtClean="0"/>
              <a:t>do_operation</a:t>
            </a:r>
            <a:r>
              <a:rPr lang="en-US" dirty="0" smtClean="0"/>
              <a:t>(); </a:t>
            </a:r>
          </a:p>
          <a:p>
            <a:r>
              <a:rPr lang="en-US" dirty="0" smtClean="0"/>
              <a:t>Use:</a:t>
            </a:r>
          </a:p>
          <a:p>
            <a:r>
              <a:rPr lang="en-US" dirty="0" smtClean="0"/>
              <a:t>Branch-free logic</a:t>
            </a:r>
          </a:p>
          <a:p>
            <a:r>
              <a:rPr lang="en-US" dirty="0" smtClean="0"/>
              <a:t>Same execution path regardless of key value</a:t>
            </a:r>
          </a:p>
          <a:p>
            <a:r>
              <a:rPr lang="en-US" dirty="0" smtClean="0"/>
              <a:t>This prevents timing leakage.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Mitigation Techniques for Side-Channel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Masking Techniques</a:t>
            </a:r>
          </a:p>
          <a:p>
            <a:r>
              <a:rPr lang="en-US" b="1" dirty="0" smtClean="0"/>
              <a:t>Concept:</a:t>
            </a:r>
          </a:p>
          <a:p>
            <a:r>
              <a:rPr lang="en-US" dirty="0" smtClean="0"/>
              <a:t>Randomize intermediate values during computation.</a:t>
            </a:r>
          </a:p>
          <a:p>
            <a:r>
              <a:rPr lang="en-US" dirty="0" smtClean="0"/>
              <a:t>Instead of computing:</a:t>
            </a:r>
          </a:p>
          <a:p>
            <a:r>
              <a:rPr lang="en-US" dirty="0" smtClean="0"/>
              <a:t>C = f(</a:t>
            </a:r>
            <a:r>
              <a:rPr lang="en-US" dirty="0" err="1" smtClean="0"/>
              <a:t>secret_key</a:t>
            </a:r>
            <a:r>
              <a:rPr lang="en-US" dirty="0" smtClean="0"/>
              <a:t>) </a:t>
            </a:r>
          </a:p>
          <a:p>
            <a:r>
              <a:rPr lang="en-US" dirty="0" smtClean="0"/>
              <a:t>Compute:</a:t>
            </a:r>
          </a:p>
          <a:p>
            <a:r>
              <a:rPr lang="en-US" dirty="0" smtClean="0"/>
              <a:t>C = f(</a:t>
            </a:r>
            <a:r>
              <a:rPr lang="en-US" dirty="0" err="1" smtClean="0"/>
              <a:t>secret_key</a:t>
            </a:r>
            <a:r>
              <a:rPr lang="en-US" dirty="0" smtClean="0"/>
              <a:t> ⊕ </a:t>
            </a:r>
            <a:r>
              <a:rPr lang="en-US" dirty="0" err="1" smtClean="0"/>
              <a:t>random_mask</a:t>
            </a:r>
            <a:r>
              <a:rPr lang="en-US" dirty="0" smtClean="0"/>
              <a:t>) </a:t>
            </a:r>
          </a:p>
          <a:p>
            <a:r>
              <a:rPr lang="en-US" dirty="0" smtClean="0"/>
              <a:t>Even if attacker measures power or EM signals, the secret remains hidden.</a:t>
            </a:r>
          </a:p>
          <a:p>
            <a:r>
              <a:rPr lang="en-US" dirty="0" smtClean="0"/>
              <a:t>Used widely in:</a:t>
            </a:r>
          </a:p>
          <a:p>
            <a:r>
              <a:rPr lang="en-US" dirty="0" smtClean="0"/>
              <a:t>Smart cards</a:t>
            </a:r>
          </a:p>
          <a:p>
            <a:r>
              <a:rPr lang="en-US" dirty="0" smtClean="0"/>
              <a:t>Hardware cryptographic modules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Mitigation Techniques for Side-Channel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Blinding Techniques</a:t>
            </a:r>
          </a:p>
          <a:p>
            <a:r>
              <a:rPr lang="en-US" dirty="0" smtClean="0"/>
              <a:t>Used especially in RSA.</a:t>
            </a:r>
          </a:p>
          <a:p>
            <a:r>
              <a:rPr lang="en-US" dirty="0" smtClean="0"/>
              <a:t>Before encryption/decryption:</a:t>
            </a:r>
          </a:p>
          <a:p>
            <a:r>
              <a:rPr lang="en-US" dirty="0" smtClean="0"/>
              <a:t>Multiply input by random number.</a:t>
            </a:r>
          </a:p>
          <a:p>
            <a:r>
              <a:rPr lang="en-US" dirty="0" smtClean="0"/>
              <a:t>Remove randomization after computation.</a:t>
            </a:r>
          </a:p>
          <a:p>
            <a:r>
              <a:rPr lang="en-US" dirty="0" smtClean="0"/>
              <a:t>This prevents attackers from correlating power or timing patterns.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Mitigation Techniques for Side-Channel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Cache Attack Mitigation</a:t>
            </a:r>
          </a:p>
          <a:p>
            <a:r>
              <a:rPr lang="en-US" dirty="0" smtClean="0"/>
              <a:t>Cache-based side-channel attacks occur in shared environments like cloud systems.</a:t>
            </a:r>
          </a:p>
          <a:p>
            <a:r>
              <a:rPr lang="en-US" b="1" dirty="0" smtClean="0"/>
              <a:t>Techniques:</a:t>
            </a:r>
          </a:p>
          <a:p>
            <a:r>
              <a:rPr lang="en-US" b="1" dirty="0" smtClean="0"/>
              <a:t>a) Cache Partitioning</a:t>
            </a:r>
          </a:p>
          <a:p>
            <a:r>
              <a:rPr lang="en-US" dirty="0" smtClean="0"/>
              <a:t>Separate cache regions for different processes.</a:t>
            </a:r>
          </a:p>
          <a:p>
            <a:r>
              <a:rPr lang="en-US" b="1" dirty="0" smtClean="0"/>
              <a:t>b) Flush-on-Context-Switch</a:t>
            </a:r>
          </a:p>
          <a:p>
            <a:r>
              <a:rPr lang="en-US" dirty="0" smtClean="0"/>
              <a:t>Clear cache when switching processes.</a:t>
            </a:r>
          </a:p>
          <a:p>
            <a:r>
              <a:rPr lang="en-US" b="1" dirty="0" smtClean="0"/>
              <a:t>c) Disable Shared Memory</a:t>
            </a:r>
          </a:p>
          <a:p>
            <a:r>
              <a:rPr lang="en-US" dirty="0" smtClean="0"/>
              <a:t>Prevent cross-VM leakage.</a:t>
            </a:r>
          </a:p>
          <a:p>
            <a:r>
              <a:rPr lang="en-US" b="1" dirty="0" smtClean="0"/>
              <a:t>d) Constant Memory Access Pattern</a:t>
            </a:r>
          </a:p>
          <a:p>
            <a:r>
              <a:rPr lang="en-US" dirty="0" smtClean="0"/>
              <a:t>Avoid secret-dependent memory access.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Mitigation Techniques for Side-Channel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Noise Injection</a:t>
            </a:r>
          </a:p>
          <a:p>
            <a:r>
              <a:rPr lang="en-US" dirty="0" smtClean="0"/>
              <a:t>Introduce artificial randomness:</a:t>
            </a:r>
          </a:p>
          <a:p>
            <a:r>
              <a:rPr lang="en-US" dirty="0" smtClean="0"/>
              <a:t>Add random delays</a:t>
            </a:r>
          </a:p>
          <a:p>
            <a:r>
              <a:rPr lang="en-US" dirty="0" smtClean="0"/>
              <a:t>Random dummy operations</a:t>
            </a:r>
          </a:p>
          <a:p>
            <a:r>
              <a:rPr lang="en-US" dirty="0" smtClean="0"/>
              <a:t>Random power noise</a:t>
            </a:r>
          </a:p>
          <a:p>
            <a:r>
              <a:rPr lang="en-US" dirty="0" smtClean="0"/>
              <a:t>Makes signal analysis difficult.</a:t>
            </a:r>
          </a:p>
          <a:p>
            <a:r>
              <a:rPr lang="en-US" dirty="0" smtClean="0"/>
              <a:t>Limitation:</a:t>
            </a:r>
            <a:br>
              <a:rPr lang="en-US" dirty="0" smtClean="0"/>
            </a:br>
            <a:r>
              <a:rPr lang="en-US" dirty="0" smtClean="0"/>
              <a:t>Too much noise reduces performance.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Mitigation Techniques for Side-Channel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Hardware-Level Countermeasures</a:t>
            </a:r>
          </a:p>
          <a:p>
            <a:r>
              <a:rPr lang="en-US" b="1" dirty="0" smtClean="0"/>
              <a:t>a) Shielding</a:t>
            </a:r>
          </a:p>
          <a:p>
            <a:r>
              <a:rPr lang="en-US" dirty="0" smtClean="0"/>
              <a:t>Protect against EM leakage.</a:t>
            </a:r>
          </a:p>
          <a:p>
            <a:r>
              <a:rPr lang="en-US" b="1" dirty="0" smtClean="0"/>
              <a:t>b) Power Line Filtering</a:t>
            </a:r>
          </a:p>
          <a:p>
            <a:r>
              <a:rPr lang="en-US" dirty="0" smtClean="0"/>
              <a:t>Prevent power analysis.</a:t>
            </a:r>
          </a:p>
          <a:p>
            <a:r>
              <a:rPr lang="en-US" b="1" dirty="0" smtClean="0"/>
              <a:t>c) Secure Enclaves</a:t>
            </a:r>
          </a:p>
          <a:p>
            <a:r>
              <a:rPr lang="en-US" dirty="0" smtClean="0"/>
              <a:t>Example:</a:t>
            </a:r>
          </a:p>
          <a:p>
            <a:r>
              <a:rPr lang="en-US" b="1" dirty="0" smtClean="0"/>
              <a:t>Intel SGX</a:t>
            </a:r>
            <a:endParaRPr lang="en-US" dirty="0" smtClean="0"/>
          </a:p>
          <a:p>
            <a:r>
              <a:rPr lang="en-US" dirty="0" smtClean="0"/>
              <a:t>Isolate sensitive computation.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Mitigation Techniques for Side-Channel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Speculative Execution Mitigation</a:t>
            </a:r>
          </a:p>
          <a:p>
            <a:r>
              <a:rPr lang="en-US" dirty="0" smtClean="0"/>
              <a:t>For vulnerabilities like </a:t>
            </a:r>
            <a:r>
              <a:rPr lang="en-US" dirty="0" err="1" smtClean="0"/>
              <a:t>Spectre</a:t>
            </a:r>
            <a:r>
              <a:rPr lang="en-US" dirty="0" smtClean="0"/>
              <a:t> and Meltdown:</a:t>
            </a:r>
          </a:p>
          <a:p>
            <a:r>
              <a:rPr lang="en-US" dirty="0" smtClean="0"/>
              <a:t>Disable branch prediction features</a:t>
            </a:r>
          </a:p>
          <a:p>
            <a:r>
              <a:rPr lang="en-US" dirty="0" smtClean="0"/>
              <a:t>Kernel page table isolation (KPTI)</a:t>
            </a:r>
          </a:p>
          <a:p>
            <a:r>
              <a:rPr lang="en-US" dirty="0" smtClean="0"/>
              <a:t>Microcode updates</a:t>
            </a:r>
          </a:p>
          <a:p>
            <a:r>
              <a:rPr lang="en-US" dirty="0" err="1" smtClean="0"/>
              <a:t>Retpoline</a:t>
            </a:r>
            <a:r>
              <a:rPr lang="en-US" dirty="0" smtClean="0"/>
              <a:t> technique</a:t>
            </a:r>
          </a:p>
          <a:p>
            <a:r>
              <a:rPr lang="en-US" dirty="0" smtClean="0"/>
              <a:t>These prevent speculative execution from leaking data.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Mitigation Techniques for Side-Channel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Operating System Level Mitigation</a:t>
            </a:r>
          </a:p>
          <a:p>
            <a:r>
              <a:rPr lang="en-US" dirty="0" smtClean="0"/>
              <a:t>Isolate processes using namespaces</a:t>
            </a:r>
          </a:p>
          <a:p>
            <a:r>
              <a:rPr lang="en-US" dirty="0" smtClean="0"/>
              <a:t>Disable simultaneous multithreading (SMT)</a:t>
            </a:r>
          </a:p>
          <a:p>
            <a:r>
              <a:rPr lang="en-US" dirty="0" smtClean="0"/>
              <a:t>Restrict shared hardware resources</a:t>
            </a:r>
          </a:p>
          <a:p>
            <a:r>
              <a:rPr lang="en-US" dirty="0" smtClean="0"/>
              <a:t>Apply security patches regularly</a:t>
            </a:r>
          </a:p>
          <a:p>
            <a:r>
              <a:rPr lang="en-US" b="1" dirty="0" smtClean="0"/>
              <a:t>Cryptographic Best Practices</a:t>
            </a:r>
          </a:p>
          <a:p>
            <a:r>
              <a:rPr lang="en-US" dirty="0" smtClean="0"/>
              <a:t>Use well-tested libraries</a:t>
            </a:r>
          </a:p>
          <a:p>
            <a:r>
              <a:rPr lang="en-US" dirty="0" smtClean="0"/>
              <a:t>Avoid custom crypto implementations</a:t>
            </a:r>
          </a:p>
          <a:p>
            <a:r>
              <a:rPr lang="en-US" dirty="0" smtClean="0"/>
              <a:t>Keep keys in hardware security modules (HSMs)</a:t>
            </a:r>
          </a:p>
          <a:p>
            <a:r>
              <a:rPr lang="en-US" dirty="0" smtClean="0"/>
              <a:t>Use side-channel resistant algorithms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Case Studies:(15 MARKS) </a:t>
            </a:r>
          </a:p>
          <a:p>
            <a:endParaRPr lang="en-US" dirty="0" smtClean="0"/>
          </a:p>
          <a:p>
            <a:r>
              <a:rPr lang="en-US" dirty="0" smtClean="0"/>
              <a:t>Linux Security Module, </a:t>
            </a:r>
          </a:p>
          <a:p>
            <a:r>
              <a:rPr lang="en-US" dirty="0" smtClean="0"/>
              <a:t>Android Security Architecture</a:t>
            </a:r>
          </a:p>
          <a:p>
            <a:r>
              <a:rPr lang="en-US" dirty="0" err="1" smtClean="0"/>
              <a:t>macOS</a:t>
            </a:r>
            <a:r>
              <a:rPr lang="en-US" dirty="0" smtClean="0"/>
              <a:t> Security Architecture)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4603</TotalTime>
  <Words>2474</Words>
  <Application>Microsoft Office PowerPoint</Application>
  <PresentationFormat>Custom</PresentationFormat>
  <Paragraphs>594</Paragraphs>
  <Slides>58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Office Theme</vt:lpstr>
      <vt:lpstr>Unit 6 Security and Isolation in Operating Systems </vt:lpstr>
      <vt:lpstr>Security-Enhanced Linux (SELinux)</vt:lpstr>
      <vt:lpstr>SELinux NEED</vt:lpstr>
      <vt:lpstr>SELinux Core Concepts </vt:lpstr>
      <vt:lpstr>SELinux Architecture</vt:lpstr>
      <vt:lpstr>SELinux Working</vt:lpstr>
      <vt:lpstr>AppArmor</vt:lpstr>
      <vt:lpstr>AppArmor NEED</vt:lpstr>
      <vt:lpstr>AppArmor Core Concept</vt:lpstr>
      <vt:lpstr>AppArmor Architecture</vt:lpstr>
      <vt:lpstr>AppArmor Working</vt:lpstr>
      <vt:lpstr>AppArmor: Profile Structure Example</vt:lpstr>
      <vt:lpstr>AppArmor Features</vt:lpstr>
      <vt:lpstr>AppArmor Advantages</vt:lpstr>
      <vt:lpstr>AppArmor Disadvantages</vt:lpstr>
      <vt:lpstr>SELinux vs AppArmor – Comparison</vt:lpstr>
      <vt:lpstr>SELinux vs AppArmor – Comparison</vt:lpstr>
      <vt:lpstr>SELinux vs AppArmor – Comparison</vt:lpstr>
      <vt:lpstr>SELinux vs AppArmor – Comparison</vt:lpstr>
      <vt:lpstr>SELinux vs AppArmor – Comparison</vt:lpstr>
      <vt:lpstr>SELinux vs AppArmor – Comparison</vt:lpstr>
      <vt:lpstr>Isolation Techniques in Linux: Namespaces, Cgroups, and Sandboxing</vt:lpstr>
      <vt:lpstr>Namespaces</vt:lpstr>
      <vt:lpstr>Namespaces</vt:lpstr>
      <vt:lpstr>Namespaces</vt:lpstr>
      <vt:lpstr>Namespaces</vt:lpstr>
      <vt:lpstr>Control Groups (Cgroups)</vt:lpstr>
      <vt:lpstr>Control Groups (Cgroups)</vt:lpstr>
      <vt:lpstr>Control Groups (Cgroups)</vt:lpstr>
      <vt:lpstr>Control Groups (Cgroups)</vt:lpstr>
      <vt:lpstr>Sandboxing</vt:lpstr>
      <vt:lpstr>Sandboxing</vt:lpstr>
      <vt:lpstr>Sandboxing</vt:lpstr>
      <vt:lpstr>Sandboxing</vt:lpstr>
      <vt:lpstr>Sandboxing</vt:lpstr>
      <vt:lpstr>Address Space Layout Randomization (ASLR) and Stack Protection</vt:lpstr>
      <vt:lpstr>Address Space Layout Randomization (ASLR)</vt:lpstr>
      <vt:lpstr>Address Space Layout Randomization (ASLR)</vt:lpstr>
      <vt:lpstr>Address Space Layout Randomization (ASLR)</vt:lpstr>
      <vt:lpstr>Address Space Layout Randomization (ASLR)</vt:lpstr>
      <vt:lpstr>Address Space Layout Randomization (ASLR)</vt:lpstr>
      <vt:lpstr>Address Space Layout Randomization (ASLR)</vt:lpstr>
      <vt:lpstr>Stack Protection (Stack Smashing Protection) </vt:lpstr>
      <vt:lpstr>Stack Protection (Stack Smashing Protection) </vt:lpstr>
      <vt:lpstr>Stack Protection (Stack Smashing Protection) </vt:lpstr>
      <vt:lpstr>Stack Protection (Stack Smashing Protection) </vt:lpstr>
      <vt:lpstr>Mitigation Techniques for Side-Channel Attacks</vt:lpstr>
      <vt:lpstr>Mitigation Techniques for Side-Channel Attacks</vt:lpstr>
      <vt:lpstr>Mitigation Techniques for Side-Channel Attacks</vt:lpstr>
      <vt:lpstr>Mitigation Techniques for Side-Channel Attacks</vt:lpstr>
      <vt:lpstr>Mitigation Techniques for Side-Channel Attacks</vt:lpstr>
      <vt:lpstr>Mitigation Techniques for Side-Channel Attacks</vt:lpstr>
      <vt:lpstr>Mitigation Techniques for Side-Channel Attacks</vt:lpstr>
      <vt:lpstr>Mitigation Techniques for Side-Channel Attacks</vt:lpstr>
      <vt:lpstr>Mitigation Techniques for Side-Channel Attacks</vt:lpstr>
      <vt:lpstr>Mitigation Techniques for Side-Channel Attacks</vt:lpstr>
      <vt:lpstr>Mitigation Techniques for Side-Channel Attacks</vt:lpstr>
      <vt:lpstr>Slide 58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6 Input/Output Device Management</dc:title>
  <dc:creator>User</dc:creator>
  <cp:lastModifiedBy>Bishwadeep Mainaly</cp:lastModifiedBy>
  <cp:revision>232</cp:revision>
  <dcterms:created xsi:type="dcterms:W3CDTF">2022-02-17T03:06:27Z</dcterms:created>
  <dcterms:modified xsi:type="dcterms:W3CDTF">2026-02-05T13:06:50Z</dcterms:modified>
</cp:coreProperties>
</file>