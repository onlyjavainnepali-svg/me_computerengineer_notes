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slides/slide113.xml" ContentType="application/vnd.openxmlformats-officedocument.presentationml.slide+xml"/>
  <Override PartName="/ppt/slides/slide142.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s/slide120.xml" ContentType="application/vnd.openxmlformats-officedocument.presentationml.slide+xml"/>
  <Override PartName="/ppt/slides/slide131.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s/slide129.xml" ContentType="application/vnd.openxmlformats-officedocument.presentationml.slide+xml"/>
  <Override PartName="/ppt/slides/slide99.xml" ContentType="application/vnd.openxmlformats-officedocument.presentationml.slide+xml"/>
  <Override PartName="/ppt/slides/slide118.xml" ContentType="application/vnd.openxmlformats-officedocument.presentationml.slide+xml"/>
  <Override PartName="/ppt/slides/slide136.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107.xml" ContentType="application/vnd.openxmlformats-officedocument.presentationml.slide+xml"/>
  <Override PartName="/ppt/slides/slide125.xml" ContentType="application/vnd.openxmlformats-officedocument.presentationml.slide+xml"/>
  <Override PartName="/ppt/slides/slide143.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s/slide132.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Default Extension="emf" ContentType="image/x-emf"/>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slides/slide119.xml" ContentType="application/vnd.openxmlformats-officedocument.presentationml.slide+xml"/>
  <Override PartName="/ppt/slides/slide139.xml" ContentType="application/vnd.openxmlformats-officedocument.presentationml.slide+xml"/>
  <Override PartName="/ppt/slideLayouts/slideLayout10.xml" ContentType="application/vnd.openxmlformats-officedocument.presentationml.slideLayout+xml"/>
  <Override PartName="/ppt/slides/slide89.xml" ContentType="application/vnd.openxmlformats-officedocument.presentationml.slide+xml"/>
  <Override PartName="/ppt/slides/slide98.xml" ContentType="application/vnd.openxmlformats-officedocument.presentationml.slide+xml"/>
  <Override PartName="/ppt/slides/slide108.xml" ContentType="application/vnd.openxmlformats-officedocument.presentationml.slide+xml"/>
  <Override PartName="/ppt/slides/slide117.xml" ContentType="application/vnd.openxmlformats-officedocument.presentationml.slide+xml"/>
  <Override PartName="/ppt/slides/slide126.xml" ContentType="application/vnd.openxmlformats-officedocument.presentationml.slide+xml"/>
  <Override PartName="/ppt/slides/slide128.xml" ContentType="application/vnd.openxmlformats-officedocument.presentationml.slide+xml"/>
  <Override PartName="/ppt/slides/slide137.xml" ContentType="application/vnd.openxmlformats-officedocument.presentationml.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slides/slide106.xml" ContentType="application/vnd.openxmlformats-officedocument.presentationml.slide+xml"/>
  <Override PartName="/ppt/slides/slide115.xml" ContentType="application/vnd.openxmlformats-officedocument.presentationml.slide+xml"/>
  <Override PartName="/ppt/slides/slide124.xml" ContentType="application/vnd.openxmlformats-officedocument.presentationml.slide+xml"/>
  <Override PartName="/ppt/slides/slide135.xml" ContentType="application/vnd.openxmlformats-officedocument.presentationml.slide+xml"/>
  <Override PartName="/ppt/slides/slide144.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s/slide122.xml" ContentType="application/vnd.openxmlformats-officedocument.presentationml.slide+xml"/>
  <Override PartName="/ppt/slides/slide133.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s/slide140.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slides/slide138.xml" ContentType="application/vnd.openxmlformats-officedocument.presentationml.slide+xml"/>
  <Override PartName="/ppt/slides/slide79.xml" ContentType="application/vnd.openxmlformats-officedocument.presentationml.slide+xml"/>
  <Override PartName="/ppt/slides/slide109.xml" ContentType="application/vnd.openxmlformats-officedocument.presentationml.slide+xml"/>
  <Override PartName="/ppt/slides/slide127.xml" ContentType="application/vnd.openxmlformats-officedocument.presentationml.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slides/slide134.xml" ContentType="application/vnd.openxmlformats-officedocument.presentationml.slide+xml"/>
  <Override PartName="/ppt/slideLayouts/slideLayout9.xml" ContentType="application/vnd.openxmlformats-officedocument.presentationml.slideLayout+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slides/slide123.xml" ContentType="application/vnd.openxmlformats-officedocument.presentationml.slide+xml"/>
  <Override PartName="/ppt/slides/slide141.xml" ContentType="application/vnd.openxmlformats-officedocument.presentationml.slide+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s/slide130.xml" ContentType="application/vnd.openxmlformats-officedocument.presentationml.slide+xml"/>
  <Override PartName="/ppt/slideLayouts/slideLayout5.xml" ContentType="application/vnd.openxmlformats-officedocument.presentationml.slideLayout+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Default Extension="jpeg" ContentType="image/jpeg"/>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slides/slide2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6"/>
  </p:notesMasterIdLst>
  <p:sldIdLst>
    <p:sldId id="256" r:id="rId2"/>
    <p:sldId id="257" r:id="rId3"/>
    <p:sldId id="347" r:id="rId4"/>
    <p:sldId id="348" r:id="rId5"/>
    <p:sldId id="349" r:id="rId6"/>
    <p:sldId id="350" r:id="rId7"/>
    <p:sldId id="352" r:id="rId8"/>
    <p:sldId id="391" r:id="rId9"/>
    <p:sldId id="392" r:id="rId10"/>
    <p:sldId id="393" r:id="rId11"/>
    <p:sldId id="394" r:id="rId12"/>
    <p:sldId id="395" r:id="rId13"/>
    <p:sldId id="396" r:id="rId14"/>
    <p:sldId id="397" r:id="rId15"/>
    <p:sldId id="398" r:id="rId16"/>
    <p:sldId id="399" r:id="rId17"/>
    <p:sldId id="400" r:id="rId18"/>
    <p:sldId id="401" r:id="rId19"/>
    <p:sldId id="402" r:id="rId20"/>
    <p:sldId id="403" r:id="rId21"/>
    <p:sldId id="404" r:id="rId22"/>
    <p:sldId id="405" r:id="rId23"/>
    <p:sldId id="406" r:id="rId24"/>
    <p:sldId id="407" r:id="rId25"/>
    <p:sldId id="408" r:id="rId26"/>
    <p:sldId id="409" r:id="rId27"/>
    <p:sldId id="410" r:id="rId28"/>
    <p:sldId id="411" r:id="rId29"/>
    <p:sldId id="412" r:id="rId30"/>
    <p:sldId id="413" r:id="rId31"/>
    <p:sldId id="414" r:id="rId32"/>
    <p:sldId id="415" r:id="rId33"/>
    <p:sldId id="416" r:id="rId34"/>
    <p:sldId id="417" r:id="rId35"/>
    <p:sldId id="418" r:id="rId36"/>
    <p:sldId id="419" r:id="rId37"/>
    <p:sldId id="420" r:id="rId38"/>
    <p:sldId id="421" r:id="rId39"/>
    <p:sldId id="422" r:id="rId40"/>
    <p:sldId id="423" r:id="rId41"/>
    <p:sldId id="424" r:id="rId42"/>
    <p:sldId id="425" r:id="rId43"/>
    <p:sldId id="426" r:id="rId44"/>
    <p:sldId id="427" r:id="rId45"/>
    <p:sldId id="428" r:id="rId46"/>
    <p:sldId id="429" r:id="rId47"/>
    <p:sldId id="430" r:id="rId48"/>
    <p:sldId id="431" r:id="rId49"/>
    <p:sldId id="432" r:id="rId50"/>
    <p:sldId id="433" r:id="rId51"/>
    <p:sldId id="434" r:id="rId52"/>
    <p:sldId id="435" r:id="rId53"/>
    <p:sldId id="436" r:id="rId54"/>
    <p:sldId id="437" r:id="rId55"/>
    <p:sldId id="438" r:id="rId56"/>
    <p:sldId id="439" r:id="rId57"/>
    <p:sldId id="440" r:id="rId58"/>
    <p:sldId id="441" r:id="rId59"/>
    <p:sldId id="442" r:id="rId60"/>
    <p:sldId id="443" r:id="rId61"/>
    <p:sldId id="444" r:id="rId62"/>
    <p:sldId id="445" r:id="rId63"/>
    <p:sldId id="446" r:id="rId64"/>
    <p:sldId id="353" r:id="rId65"/>
    <p:sldId id="354" r:id="rId66"/>
    <p:sldId id="355" r:id="rId67"/>
    <p:sldId id="356" r:id="rId68"/>
    <p:sldId id="357" r:id="rId69"/>
    <p:sldId id="358" r:id="rId70"/>
    <p:sldId id="359" r:id="rId71"/>
    <p:sldId id="360" r:id="rId72"/>
    <p:sldId id="361" r:id="rId73"/>
    <p:sldId id="362" r:id="rId74"/>
    <p:sldId id="363" r:id="rId75"/>
    <p:sldId id="364" r:id="rId76"/>
    <p:sldId id="365" r:id="rId77"/>
    <p:sldId id="366" r:id="rId78"/>
    <p:sldId id="367" r:id="rId79"/>
    <p:sldId id="368" r:id="rId80"/>
    <p:sldId id="369" r:id="rId81"/>
    <p:sldId id="370" r:id="rId82"/>
    <p:sldId id="371" r:id="rId83"/>
    <p:sldId id="372" r:id="rId84"/>
    <p:sldId id="373" r:id="rId85"/>
    <p:sldId id="374" r:id="rId86"/>
    <p:sldId id="375" r:id="rId87"/>
    <p:sldId id="376" r:id="rId88"/>
    <p:sldId id="377" r:id="rId89"/>
    <p:sldId id="378" r:id="rId90"/>
    <p:sldId id="379" r:id="rId91"/>
    <p:sldId id="380" r:id="rId92"/>
    <p:sldId id="381" r:id="rId93"/>
    <p:sldId id="382" r:id="rId94"/>
    <p:sldId id="383" r:id="rId95"/>
    <p:sldId id="384" r:id="rId96"/>
    <p:sldId id="385" r:id="rId97"/>
    <p:sldId id="386" r:id="rId98"/>
    <p:sldId id="387" r:id="rId99"/>
    <p:sldId id="388" r:id="rId100"/>
    <p:sldId id="389" r:id="rId101"/>
    <p:sldId id="390" r:id="rId102"/>
    <p:sldId id="447" r:id="rId103"/>
    <p:sldId id="448" r:id="rId104"/>
    <p:sldId id="449" r:id="rId105"/>
    <p:sldId id="450" r:id="rId106"/>
    <p:sldId id="451" r:id="rId107"/>
    <p:sldId id="452" r:id="rId108"/>
    <p:sldId id="453" r:id="rId109"/>
    <p:sldId id="454" r:id="rId110"/>
    <p:sldId id="457" r:id="rId111"/>
    <p:sldId id="455" r:id="rId112"/>
    <p:sldId id="458" r:id="rId113"/>
    <p:sldId id="459" r:id="rId114"/>
    <p:sldId id="469" r:id="rId115"/>
    <p:sldId id="470" r:id="rId116"/>
    <p:sldId id="471" r:id="rId117"/>
    <p:sldId id="472" r:id="rId118"/>
    <p:sldId id="473" r:id="rId119"/>
    <p:sldId id="460" r:id="rId120"/>
    <p:sldId id="474" r:id="rId121"/>
    <p:sldId id="475" r:id="rId122"/>
    <p:sldId id="476" r:id="rId123"/>
    <p:sldId id="477" r:id="rId124"/>
    <p:sldId id="478" r:id="rId125"/>
    <p:sldId id="479" r:id="rId126"/>
    <p:sldId id="480" r:id="rId127"/>
    <p:sldId id="482" r:id="rId128"/>
    <p:sldId id="485" r:id="rId129"/>
    <p:sldId id="486" r:id="rId130"/>
    <p:sldId id="483" r:id="rId131"/>
    <p:sldId id="487" r:id="rId132"/>
    <p:sldId id="488" r:id="rId133"/>
    <p:sldId id="489" r:id="rId134"/>
    <p:sldId id="490" r:id="rId135"/>
    <p:sldId id="484" r:id="rId136"/>
    <p:sldId id="491" r:id="rId137"/>
    <p:sldId id="492" r:id="rId138"/>
    <p:sldId id="493" r:id="rId139"/>
    <p:sldId id="494" r:id="rId140"/>
    <p:sldId id="495" r:id="rId141"/>
    <p:sldId id="496" r:id="rId142"/>
    <p:sldId id="497" r:id="rId143"/>
    <p:sldId id="498" r:id="rId144"/>
    <p:sldId id="499" r:id="rId1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5620"/>
    <p:restoredTop sz="94660"/>
  </p:normalViewPr>
  <p:slideViewPr>
    <p:cSldViewPr snapToGrid="0">
      <p:cViewPr varScale="1">
        <p:scale>
          <a:sx n="71" d="100"/>
          <a:sy n="71" d="100"/>
        </p:scale>
        <p:origin x="-456" y="-72"/>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6853242-109D-4B2B-BFED-FB6A64FFD89C}" type="datetimeFigureOut">
              <a:rPr lang="en-US" smtClean="0"/>
              <a:pPr/>
              <a:t>6/23/2026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38CBA36-74DA-4483-AD80-10F7EE62564D}"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15A30C1-38C3-4B9C-8B49-88779834575E}" type="slidenum">
              <a:rPr lang="en-US" smtClean="0"/>
              <a:pPr/>
              <a:t>43</a:t>
            </a:fld>
            <a:endParaRPr lang="en-US"/>
          </a:p>
        </p:txBody>
      </p:sp>
    </p:spTree>
    <p:extLst>
      <p:ext uri="{BB962C8B-B14F-4D97-AF65-F5344CB8AC3E}">
        <p14:creationId xmlns="" xmlns:p14="http://schemas.microsoft.com/office/powerpoint/2010/main" val="3094754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15A30C1-38C3-4B9C-8B49-88779834575E}" type="slidenum">
              <a:rPr lang="en-US" smtClean="0"/>
              <a:pPr/>
              <a:t>44</a:t>
            </a:fld>
            <a:endParaRPr lang="en-US"/>
          </a:p>
        </p:txBody>
      </p:sp>
    </p:spTree>
    <p:extLst>
      <p:ext uri="{BB962C8B-B14F-4D97-AF65-F5344CB8AC3E}">
        <p14:creationId xmlns="" xmlns:p14="http://schemas.microsoft.com/office/powerpoint/2010/main" val="19195120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2C81C2C-B5C2-4A69-BCDB-C9B00CC61F6C}" type="datetimeFigureOut">
              <a:rPr lang="en-US" smtClean="0"/>
              <a:pPr/>
              <a:t>6/23/2026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085873-7D97-4ADB-BC1E-8B9BEDCC0508}" type="slidenum">
              <a:rPr lang="en-US" smtClean="0"/>
              <a:pPr/>
              <a:t>‹#›</a:t>
            </a:fld>
            <a:endParaRPr lang="en-US"/>
          </a:p>
        </p:txBody>
      </p:sp>
    </p:spTree>
    <p:extLst>
      <p:ext uri="{BB962C8B-B14F-4D97-AF65-F5344CB8AC3E}">
        <p14:creationId xmlns:p14="http://schemas.microsoft.com/office/powerpoint/2010/main" xmlns="" val="37642633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2C81C2C-B5C2-4A69-BCDB-C9B00CC61F6C}" type="datetimeFigureOut">
              <a:rPr lang="en-US" smtClean="0"/>
              <a:pPr/>
              <a:t>6/23/2026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085873-7D97-4ADB-BC1E-8B9BEDCC0508}" type="slidenum">
              <a:rPr lang="en-US" smtClean="0"/>
              <a:pPr/>
              <a:t>‹#›</a:t>
            </a:fld>
            <a:endParaRPr lang="en-US"/>
          </a:p>
        </p:txBody>
      </p:sp>
    </p:spTree>
    <p:extLst>
      <p:ext uri="{BB962C8B-B14F-4D97-AF65-F5344CB8AC3E}">
        <p14:creationId xmlns:p14="http://schemas.microsoft.com/office/powerpoint/2010/main" xmlns="" val="26666516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2C81C2C-B5C2-4A69-BCDB-C9B00CC61F6C}" type="datetimeFigureOut">
              <a:rPr lang="en-US" smtClean="0"/>
              <a:pPr/>
              <a:t>6/23/2026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085873-7D97-4ADB-BC1E-8B9BEDCC0508}" type="slidenum">
              <a:rPr lang="en-US" smtClean="0"/>
              <a:pPr/>
              <a:t>‹#›</a:t>
            </a:fld>
            <a:endParaRPr lang="en-US"/>
          </a:p>
        </p:txBody>
      </p:sp>
    </p:spTree>
    <p:extLst>
      <p:ext uri="{BB962C8B-B14F-4D97-AF65-F5344CB8AC3E}">
        <p14:creationId xmlns:p14="http://schemas.microsoft.com/office/powerpoint/2010/main" xmlns="" val="8773941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2C81C2C-B5C2-4A69-BCDB-C9B00CC61F6C}" type="datetimeFigureOut">
              <a:rPr lang="en-US" smtClean="0"/>
              <a:pPr/>
              <a:t>6/23/2026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085873-7D97-4ADB-BC1E-8B9BEDCC0508}" type="slidenum">
              <a:rPr lang="en-US" smtClean="0"/>
              <a:pPr/>
              <a:t>‹#›</a:t>
            </a:fld>
            <a:endParaRPr lang="en-US"/>
          </a:p>
        </p:txBody>
      </p:sp>
    </p:spTree>
    <p:extLst>
      <p:ext uri="{BB962C8B-B14F-4D97-AF65-F5344CB8AC3E}">
        <p14:creationId xmlns:p14="http://schemas.microsoft.com/office/powerpoint/2010/main" xmlns="" val="22013900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2C81C2C-B5C2-4A69-BCDB-C9B00CC61F6C}" type="datetimeFigureOut">
              <a:rPr lang="en-US" smtClean="0"/>
              <a:pPr/>
              <a:t>6/23/2026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D085873-7D97-4ADB-BC1E-8B9BEDCC0508}" type="slidenum">
              <a:rPr lang="en-US" smtClean="0"/>
              <a:pPr/>
              <a:t>‹#›</a:t>
            </a:fld>
            <a:endParaRPr lang="en-US"/>
          </a:p>
        </p:txBody>
      </p:sp>
    </p:spTree>
    <p:extLst>
      <p:ext uri="{BB962C8B-B14F-4D97-AF65-F5344CB8AC3E}">
        <p14:creationId xmlns:p14="http://schemas.microsoft.com/office/powerpoint/2010/main" xmlns="" val="11814189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2C81C2C-B5C2-4A69-BCDB-C9B00CC61F6C}" type="datetimeFigureOut">
              <a:rPr lang="en-US" smtClean="0"/>
              <a:pPr/>
              <a:t>6/23/2026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D085873-7D97-4ADB-BC1E-8B9BEDCC0508}" type="slidenum">
              <a:rPr lang="en-US" smtClean="0"/>
              <a:pPr/>
              <a:t>‹#›</a:t>
            </a:fld>
            <a:endParaRPr lang="en-US"/>
          </a:p>
        </p:txBody>
      </p:sp>
    </p:spTree>
    <p:extLst>
      <p:ext uri="{BB962C8B-B14F-4D97-AF65-F5344CB8AC3E}">
        <p14:creationId xmlns:p14="http://schemas.microsoft.com/office/powerpoint/2010/main" xmlns="" val="8976746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2C81C2C-B5C2-4A69-BCDB-C9B00CC61F6C}" type="datetimeFigureOut">
              <a:rPr lang="en-US" smtClean="0"/>
              <a:pPr/>
              <a:t>6/23/2026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D085873-7D97-4ADB-BC1E-8B9BEDCC0508}" type="slidenum">
              <a:rPr lang="en-US" smtClean="0"/>
              <a:pPr/>
              <a:t>‹#›</a:t>
            </a:fld>
            <a:endParaRPr lang="en-US"/>
          </a:p>
        </p:txBody>
      </p:sp>
    </p:spTree>
    <p:extLst>
      <p:ext uri="{BB962C8B-B14F-4D97-AF65-F5344CB8AC3E}">
        <p14:creationId xmlns:p14="http://schemas.microsoft.com/office/powerpoint/2010/main" xmlns="" val="5596980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2C81C2C-B5C2-4A69-BCDB-C9B00CC61F6C}" type="datetimeFigureOut">
              <a:rPr lang="en-US" smtClean="0"/>
              <a:pPr/>
              <a:t>6/23/2026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085873-7D97-4ADB-BC1E-8B9BEDCC0508}" type="slidenum">
              <a:rPr lang="en-US" smtClean="0"/>
              <a:pPr/>
              <a:t>‹#›</a:t>
            </a:fld>
            <a:endParaRPr lang="en-US"/>
          </a:p>
        </p:txBody>
      </p:sp>
    </p:spTree>
    <p:extLst>
      <p:ext uri="{BB962C8B-B14F-4D97-AF65-F5344CB8AC3E}">
        <p14:creationId xmlns:p14="http://schemas.microsoft.com/office/powerpoint/2010/main" xmlns="" val="30731677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2C81C2C-B5C2-4A69-BCDB-C9B00CC61F6C}" type="datetimeFigureOut">
              <a:rPr lang="en-US" smtClean="0"/>
              <a:pPr/>
              <a:t>6/23/2026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085873-7D97-4ADB-BC1E-8B9BEDCC0508}" type="slidenum">
              <a:rPr lang="en-US" smtClean="0"/>
              <a:pPr/>
              <a:t>‹#›</a:t>
            </a:fld>
            <a:endParaRPr lang="en-US"/>
          </a:p>
        </p:txBody>
      </p:sp>
    </p:spTree>
    <p:extLst>
      <p:ext uri="{BB962C8B-B14F-4D97-AF65-F5344CB8AC3E}">
        <p14:creationId xmlns:p14="http://schemas.microsoft.com/office/powerpoint/2010/main" xmlns="" val="7809341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2C81C2C-B5C2-4A69-BCDB-C9B00CC61F6C}" type="datetimeFigureOut">
              <a:rPr lang="en-US" smtClean="0"/>
              <a:pPr/>
              <a:t>6/23/2026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085873-7D97-4ADB-BC1E-8B9BEDCC0508}" type="slidenum">
              <a:rPr lang="en-US" smtClean="0"/>
              <a:pPr/>
              <a:t>‹#›</a:t>
            </a:fld>
            <a:endParaRPr lang="en-US"/>
          </a:p>
        </p:txBody>
      </p:sp>
    </p:spTree>
    <p:extLst>
      <p:ext uri="{BB962C8B-B14F-4D97-AF65-F5344CB8AC3E}">
        <p14:creationId xmlns:p14="http://schemas.microsoft.com/office/powerpoint/2010/main" xmlns="" val="26676686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2C81C2C-B5C2-4A69-BCDB-C9B00CC61F6C}" type="datetimeFigureOut">
              <a:rPr lang="en-US" smtClean="0"/>
              <a:pPr/>
              <a:t>6/23/2026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085873-7D97-4ADB-BC1E-8B9BEDCC0508}" type="slidenum">
              <a:rPr lang="en-US" smtClean="0"/>
              <a:pPr/>
              <a:t>‹#›</a:t>
            </a:fld>
            <a:endParaRPr lang="en-US"/>
          </a:p>
        </p:txBody>
      </p:sp>
    </p:spTree>
    <p:extLst>
      <p:ext uri="{BB962C8B-B14F-4D97-AF65-F5344CB8AC3E}">
        <p14:creationId xmlns:p14="http://schemas.microsoft.com/office/powerpoint/2010/main" xmlns="" val="18917535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2C81C2C-B5C2-4A69-BCDB-C9B00CC61F6C}" type="datetimeFigureOut">
              <a:rPr lang="en-US" smtClean="0"/>
              <a:pPr/>
              <a:t>6/23/2026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085873-7D97-4ADB-BC1E-8B9BEDCC0508}" type="slidenum">
              <a:rPr lang="en-US" smtClean="0"/>
              <a:pPr/>
              <a:t>‹#›</a:t>
            </a:fld>
            <a:endParaRPr lang="en-US"/>
          </a:p>
        </p:txBody>
      </p:sp>
    </p:spTree>
    <p:extLst>
      <p:ext uri="{BB962C8B-B14F-4D97-AF65-F5344CB8AC3E}">
        <p14:creationId xmlns:p14="http://schemas.microsoft.com/office/powerpoint/2010/main" xmlns="" val="211546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42.emf"/><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43.emf"/><Relationship Id="rId1" Type="http://schemas.openxmlformats.org/officeDocument/2006/relationships/slideLayout" Target="../slideLayouts/slideLayout4.xml"/></Relationships>
</file>

<file path=ppt/slides/_rels/slide99.xml.rels><?xml version="1.0" encoding="UTF-8" standalone="yes"?>
<Relationships xmlns="http://schemas.openxmlformats.org/package/2006/relationships"><Relationship Id="rId2" Type="http://schemas.openxmlformats.org/officeDocument/2006/relationships/image" Target="../media/image44.emf"/><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45.emf"/><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3999" y="1122363"/>
            <a:ext cx="9639869" cy="2917374"/>
          </a:xfrm>
        </p:spPr>
        <p:txBody>
          <a:bodyPr>
            <a:normAutofit/>
          </a:bodyPr>
          <a:lstStyle/>
          <a:p>
            <a:pPr lvl="0"/>
            <a:r>
              <a:rPr lang="en-US" b="1" dirty="0" smtClean="0">
                <a:latin typeface="Times New Roman" panose="02020603050405020304" pitchFamily="18" charset="0"/>
                <a:cs typeface="Times New Roman" panose="02020603050405020304" pitchFamily="18" charset="0"/>
              </a:rPr>
              <a:t>Unit 3</a:t>
            </a:r>
            <a:br>
              <a:rPr lang="en-US" b="1" dirty="0" smtClean="0">
                <a:latin typeface="Times New Roman" panose="02020603050405020304" pitchFamily="18" charset="0"/>
                <a:cs typeface="Times New Roman" panose="02020603050405020304" pitchFamily="18" charset="0"/>
              </a:rPr>
            </a:br>
            <a:r>
              <a:rPr lang="en-US" b="1" dirty="0" smtClean="0"/>
              <a:t>Memory Management and Virtualization</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42474774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53991"/>
          </a:xfrm>
        </p:spPr>
        <p:txBody>
          <a:bodyPr>
            <a:normAutofit/>
          </a:bodyPr>
          <a:lstStyle/>
          <a:p>
            <a:r>
              <a:rPr lang="en-US" b="1" dirty="0" smtClean="0">
                <a:latin typeface="Times New Roman" panose="02020603050405020304" pitchFamily="18" charset="0"/>
                <a:cs typeface="Times New Roman" panose="02020603050405020304" pitchFamily="18" charset="0"/>
              </a:rPr>
              <a:t>Introduction to Memory Management</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392072"/>
            <a:ext cx="10515600" cy="4784891"/>
          </a:xfrm>
        </p:spPr>
        <p:txBody>
          <a:bodyPr>
            <a:normAutofit lnSpcReduction="10000"/>
          </a:bodyPr>
          <a:lstStyle/>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Program must be brought (from disk) into memory and placed into a process for it to run</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OS loads the program into the memory and then only the CPU can access the instructions and the data from memory while executing the process</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In a </a:t>
            </a:r>
            <a:r>
              <a:rPr lang="en-US" dirty="0" err="1" smtClean="0">
                <a:latin typeface="Times New Roman" panose="02020603050405020304" pitchFamily="18" charset="0"/>
                <a:cs typeface="Times New Roman" panose="02020603050405020304" pitchFamily="18" charset="0"/>
              </a:rPr>
              <a:t>uni</a:t>
            </a:r>
            <a:r>
              <a:rPr lang="en-US" dirty="0" smtClean="0">
                <a:latin typeface="Times New Roman" panose="02020603050405020304" pitchFamily="18" charset="0"/>
                <a:cs typeface="Times New Roman" panose="02020603050405020304" pitchFamily="18" charset="0"/>
              </a:rPr>
              <a:t>-programming system, main memory is divided into two parts: one part for the operating system and one part for the program currently being executed</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In a multiprogramming system, the “user” part of the memory must be further subdivided to accommodate multiple processes</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The task of subdivision is carried out dynamically by the operating system and it is known as </a:t>
            </a:r>
            <a:r>
              <a:rPr lang="en-US" b="1" dirty="0" smtClean="0">
                <a:latin typeface="Times New Roman" panose="02020603050405020304" pitchFamily="18" charset="0"/>
                <a:cs typeface="Times New Roman" panose="02020603050405020304" pitchFamily="18" charset="0"/>
              </a:rPr>
              <a:t>memory management</a:t>
            </a:r>
            <a:endParaRPr lang="en-US" dirty="0" smtClean="0">
              <a:latin typeface="Times New Roman" panose="02020603050405020304" pitchFamily="18"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xmlns="" val="25592627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Introduction to Memory Management</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Memory manager in an OS effectively manages the memory. It</a:t>
            </a:r>
          </a:p>
          <a:p>
            <a:pPr lvl="1"/>
            <a:r>
              <a:rPr lang="en-US" sz="2800" dirty="0" smtClean="0">
                <a:latin typeface="Times New Roman" panose="02020603050405020304" pitchFamily="18" charset="0"/>
                <a:cs typeface="Times New Roman" panose="02020603050405020304" pitchFamily="18" charset="0"/>
              </a:rPr>
              <a:t>Keeps track of used/unused part of memory.</a:t>
            </a:r>
          </a:p>
          <a:p>
            <a:pPr lvl="1"/>
            <a:r>
              <a:rPr lang="en-US" sz="2800" dirty="0" smtClean="0">
                <a:latin typeface="Times New Roman" panose="02020603050405020304" pitchFamily="18" charset="0"/>
                <a:cs typeface="Times New Roman" panose="02020603050405020304" pitchFamily="18" charset="0"/>
              </a:rPr>
              <a:t>Allocate/de-allocate memory to processes.</a:t>
            </a:r>
          </a:p>
          <a:p>
            <a:pPr lvl="1"/>
            <a:r>
              <a:rPr lang="en-US" sz="2800" dirty="0" smtClean="0">
                <a:latin typeface="Times New Roman" panose="02020603050405020304" pitchFamily="18" charset="0"/>
                <a:cs typeface="Times New Roman" panose="02020603050405020304" pitchFamily="18" charset="0"/>
              </a:rPr>
              <a:t>Manages swapping between main memory and disk.</a:t>
            </a:r>
          </a:p>
          <a:p>
            <a:pPr lvl="1"/>
            <a:r>
              <a:rPr lang="en-US" sz="2800" dirty="0" smtClean="0">
                <a:latin typeface="Times New Roman" panose="02020603050405020304" pitchFamily="18" charset="0"/>
                <a:cs typeface="Times New Roman" panose="02020603050405020304" pitchFamily="18" charset="0"/>
              </a:rPr>
              <a:t>Protection and sharing of memory</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13048"/>
          </a:xfrm>
        </p:spPr>
        <p:txBody>
          <a:bodyPr>
            <a:normAutofit/>
          </a:bodyPr>
          <a:lstStyle/>
          <a:p>
            <a:r>
              <a:rPr lang="en-US" sz="2800" b="1" dirty="0" smtClean="0">
                <a:latin typeface="Times New Roman" panose="02020603050405020304" pitchFamily="18" charset="0"/>
                <a:cs typeface="Times New Roman" panose="02020603050405020304" pitchFamily="18" charset="0"/>
              </a:rPr>
              <a:t>Logical and Physical Address </a:t>
            </a:r>
            <a:endParaRPr lang="en-US"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323832"/>
            <a:ext cx="10515600" cy="5322627"/>
          </a:xfrm>
        </p:spPr>
        <p:txBody>
          <a:bodyPr>
            <a:normAutofit/>
          </a:bodyPr>
          <a:lstStyle/>
          <a:p>
            <a:pPr marL="0" indent="0">
              <a:buNone/>
            </a:pPr>
            <a:r>
              <a:rPr lang="en-US" dirty="0" smtClean="0">
                <a:latin typeface="Times New Roman" panose="02020603050405020304" pitchFamily="18" charset="0"/>
                <a:cs typeface="Times New Roman" panose="02020603050405020304" pitchFamily="18" charset="0"/>
              </a:rPr>
              <a:t>Logical Address</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address that is generated by the CPU is commonly referred to as the Logical Address. </a:t>
            </a: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It </a:t>
            </a:r>
            <a:r>
              <a:rPr lang="en-US" dirty="0">
                <a:latin typeface="Times New Roman" panose="02020603050405020304" pitchFamily="18" charset="0"/>
                <a:cs typeface="Times New Roman" panose="02020603050405020304" pitchFamily="18" charset="0"/>
              </a:rPr>
              <a:t>is basically a virtual address. The logical address is basically the address of an instruction or data used by any program.</a:t>
            </a:r>
            <a:endParaRPr lang="en-US" b="1"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logical address is virtual address as it does not exist physically, therefore, it is also known as Virtual Address</a:t>
            </a:r>
            <a:r>
              <a:rPr lang="en-US"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This </a:t>
            </a:r>
            <a:r>
              <a:rPr lang="en-US" dirty="0">
                <a:latin typeface="Times New Roman" panose="02020603050405020304" pitchFamily="18" charset="0"/>
                <a:cs typeface="Times New Roman" panose="02020603050405020304" pitchFamily="18" charset="0"/>
              </a:rPr>
              <a:t>address is used as a reference to access the physical memory location by CPU. </a:t>
            </a: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hardware device called Memory-Management Unit is used for mapping logical address to its corresponding physical address. </a:t>
            </a:r>
          </a:p>
        </p:txBody>
      </p:sp>
    </p:spTree>
    <p:extLst>
      <p:ext uri="{BB962C8B-B14F-4D97-AF65-F5344CB8AC3E}">
        <p14:creationId xmlns="" xmlns:p14="http://schemas.microsoft.com/office/powerpoint/2010/main" val="302575534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13048"/>
          </a:xfrm>
        </p:spPr>
        <p:txBody>
          <a:bodyPr>
            <a:normAutofit/>
          </a:bodyPr>
          <a:lstStyle/>
          <a:p>
            <a:r>
              <a:rPr lang="en-US" sz="2800" b="1" dirty="0" smtClean="0">
                <a:latin typeface="Times New Roman" panose="02020603050405020304" pitchFamily="18" charset="0"/>
                <a:cs typeface="Times New Roman" panose="02020603050405020304" pitchFamily="18" charset="0"/>
              </a:rPr>
              <a:t>Logical and Physical Address </a:t>
            </a:r>
            <a:endParaRPr lang="en-US"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323832"/>
            <a:ext cx="10515600" cy="5322627"/>
          </a:xfrm>
        </p:spPr>
        <p:txBody>
          <a:bodyPr>
            <a:normAutofit/>
          </a:bodyPr>
          <a:lstStyle/>
          <a:p>
            <a:pPr marL="0" indent="0">
              <a:buNone/>
            </a:pPr>
            <a:r>
              <a:rPr lang="en-US" dirty="0" smtClean="0">
                <a:latin typeface="Times New Roman" panose="02020603050405020304" pitchFamily="18" charset="0"/>
                <a:cs typeface="Times New Roman" panose="02020603050405020304" pitchFamily="18" charset="0"/>
              </a:rPr>
              <a:t>Physical Address</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 real address in memory</a:t>
            </a: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Physical </a:t>
            </a:r>
            <a:r>
              <a:rPr lang="en-US" dirty="0">
                <a:latin typeface="Times New Roman" panose="02020603050405020304" pitchFamily="18" charset="0"/>
                <a:cs typeface="Times New Roman" panose="02020603050405020304" pitchFamily="18" charset="0"/>
              </a:rPr>
              <a:t>Address identifies a physical location of required data in a memory. </a:t>
            </a: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user never directly deals with the physical address but can access by its corresponding logical address. </a:t>
            </a: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user program generates the logical address and thinks that the program is running in this logical address but the program needs physical memory for its execution, therefore, the logical address must be mapped to the physical address by MMU before they are used.</a:t>
            </a:r>
          </a:p>
        </p:txBody>
      </p:sp>
    </p:spTree>
    <p:extLst>
      <p:ext uri="{BB962C8B-B14F-4D97-AF65-F5344CB8AC3E}">
        <p14:creationId xmlns="" xmlns:p14="http://schemas.microsoft.com/office/powerpoint/2010/main" val="165165980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13048"/>
          </a:xfrm>
        </p:spPr>
        <p:txBody>
          <a:bodyPr>
            <a:normAutofit/>
          </a:bodyPr>
          <a:lstStyle/>
          <a:p>
            <a:r>
              <a:rPr lang="en-US" sz="2800" b="1" dirty="0" smtClean="0">
                <a:latin typeface="Times New Roman" panose="02020603050405020304" pitchFamily="18" charset="0"/>
                <a:cs typeface="Times New Roman" panose="02020603050405020304" pitchFamily="18" charset="0"/>
              </a:rPr>
              <a:t>Logical and Physical Address </a:t>
            </a:r>
            <a:endParaRPr lang="en-US" sz="2800" b="1" dirty="0">
              <a:latin typeface="Times New Roman" panose="02020603050405020304" pitchFamily="18" charset="0"/>
              <a:cs typeface="Times New Roman" panose="02020603050405020304" pitchFamily="18" charset="0"/>
            </a:endParaRPr>
          </a:p>
        </p:txBody>
      </p:sp>
      <p:pic>
        <p:nvPicPr>
          <p:cNvPr id="4" name="Content Placeholder 3"/>
          <p:cNvPicPr>
            <a:picLocks noGrp="1" noChangeAspect="1"/>
          </p:cNvPicPr>
          <p:nvPr>
            <p:ph idx="1"/>
          </p:nvPr>
        </p:nvPicPr>
        <p:blipFill>
          <a:blip r:embed="rId2">
            <a:extLst>
              <a:ext uri="{28A0092B-C50C-407E-A947-70E740481C1C}">
                <a14:useLocalDpi xmlns="" xmlns:a14="http://schemas.microsoft.com/office/drawing/2010/main" val="0"/>
              </a:ext>
            </a:extLst>
          </a:blip>
          <a:stretch>
            <a:fillRect/>
          </a:stretch>
        </p:blipFill>
        <p:spPr>
          <a:xfrm>
            <a:off x="1880073" y="1378423"/>
            <a:ext cx="7823485" cy="4735773"/>
          </a:xfrm>
        </p:spPr>
      </p:pic>
    </p:spTree>
    <p:extLst>
      <p:ext uri="{BB962C8B-B14F-4D97-AF65-F5344CB8AC3E}">
        <p14:creationId xmlns="" xmlns:p14="http://schemas.microsoft.com/office/powerpoint/2010/main" val="50319478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60659"/>
            <a:ext cx="10515600" cy="549275"/>
          </a:xfrm>
        </p:spPr>
        <p:txBody>
          <a:bodyPr>
            <a:normAutofit/>
          </a:bodyPr>
          <a:lstStyle/>
          <a:p>
            <a:r>
              <a:rPr lang="en-US" sz="2800" b="1" dirty="0" smtClean="0">
                <a:latin typeface="Times New Roman" panose="02020603050405020304" pitchFamily="18" charset="0"/>
                <a:cs typeface="Times New Roman" panose="02020603050405020304" pitchFamily="18" charset="0"/>
              </a:rPr>
              <a:t>Physical and Logical Address Space</a:t>
            </a:r>
            <a:endParaRPr lang="en-US"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473958"/>
            <a:ext cx="10515600" cy="4703005"/>
          </a:xfrm>
        </p:spPr>
        <p:txBody>
          <a:bodyPr/>
          <a:lstStyle/>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The term Logical Address Space is used for the set of all logical addresses generated by a program’s perspective. </a:t>
            </a: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 The term Physical Address Space is used for all physical addresses corresponding to the logical addresses in a Logical address space. </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run-time mapping from virtual to physical addresses is done by hardware device called the memory-management unit (MMU)</a:t>
            </a:r>
          </a:p>
          <a:p>
            <a:pP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54053004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49275"/>
          </a:xfrm>
        </p:spPr>
        <p:txBody>
          <a:bodyPr>
            <a:normAutofit/>
          </a:bodyPr>
          <a:lstStyle/>
          <a:p>
            <a:r>
              <a:rPr lang="en-US" sz="2800" b="1" dirty="0">
                <a:latin typeface="Times New Roman" panose="02020603050405020304" pitchFamily="18" charset="0"/>
                <a:cs typeface="Times New Roman" panose="02020603050405020304" pitchFamily="18" charset="0"/>
              </a:rPr>
              <a:t>Memory Allocation Techniques</a:t>
            </a:r>
          </a:p>
        </p:txBody>
      </p:sp>
      <p:pic>
        <p:nvPicPr>
          <p:cNvPr id="4" name="Content Placeholder 3"/>
          <p:cNvPicPr>
            <a:picLocks noGrp="1" noChangeAspect="1"/>
          </p:cNvPicPr>
          <p:nvPr>
            <p:ph idx="1"/>
          </p:nvPr>
        </p:nvPicPr>
        <p:blipFill>
          <a:blip r:embed="rId2">
            <a:extLst>
              <a:ext uri="{28A0092B-C50C-407E-A947-70E740481C1C}">
                <a14:useLocalDpi xmlns="" xmlns:a14="http://schemas.microsoft.com/office/drawing/2010/main" val="0"/>
              </a:ext>
            </a:extLst>
          </a:blip>
          <a:stretch>
            <a:fillRect/>
          </a:stretch>
        </p:blipFill>
        <p:spPr>
          <a:xfrm>
            <a:off x="1609218" y="1378423"/>
            <a:ext cx="8367296" cy="4749422"/>
          </a:xfrm>
        </p:spPr>
      </p:pic>
    </p:spTree>
    <p:extLst>
      <p:ext uri="{BB962C8B-B14F-4D97-AF65-F5344CB8AC3E}">
        <p14:creationId xmlns="" xmlns:p14="http://schemas.microsoft.com/office/powerpoint/2010/main" val="238686309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2296"/>
            <a:ext cx="10515600" cy="617514"/>
          </a:xfrm>
        </p:spPr>
        <p:txBody>
          <a:bodyPr>
            <a:normAutofit/>
          </a:bodyPr>
          <a:lstStyle/>
          <a:p>
            <a:r>
              <a:rPr lang="en-US" sz="2800" b="1" dirty="0">
                <a:latin typeface="Times New Roman" panose="02020603050405020304" pitchFamily="18" charset="0"/>
                <a:cs typeface="Times New Roman" panose="02020603050405020304" pitchFamily="18" charset="0"/>
              </a:rPr>
              <a:t>Contiguous Memory Allocation</a:t>
            </a:r>
          </a:p>
        </p:txBody>
      </p:sp>
      <p:sp>
        <p:nvSpPr>
          <p:cNvPr id="3" name="Content Placeholder 2"/>
          <p:cNvSpPr>
            <a:spLocks noGrp="1"/>
          </p:cNvSpPr>
          <p:nvPr>
            <p:ph idx="1"/>
          </p:nvPr>
        </p:nvSpPr>
        <p:spPr>
          <a:xfrm>
            <a:off x="838200" y="982640"/>
            <a:ext cx="10912522" cy="5875360"/>
          </a:xfrm>
        </p:spPr>
        <p:txBody>
          <a:bodyPr>
            <a:normAutofit fontScale="92500" lnSpcReduction="10000"/>
          </a:bodyPr>
          <a:lstStyle/>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memory is usually divided into two partitions: one for the resident operating system and one for the user processes</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We </a:t>
            </a:r>
            <a:r>
              <a:rPr lang="en-US" dirty="0">
                <a:latin typeface="Times New Roman" panose="02020603050405020304" pitchFamily="18" charset="0"/>
                <a:cs typeface="Times New Roman" panose="02020603050405020304" pitchFamily="18" charset="0"/>
              </a:rPr>
              <a:t>can place the operating system in either low memory or high memory(usually in low memory)</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In </a:t>
            </a:r>
            <a:r>
              <a:rPr lang="en-US" dirty="0">
                <a:latin typeface="Times New Roman" panose="02020603050405020304" pitchFamily="18" charset="0"/>
                <a:cs typeface="Times New Roman" panose="02020603050405020304" pitchFamily="18" charset="0"/>
              </a:rPr>
              <a:t>this contiguous memory allocation, each process is contained in a single contiguous section of memory (i.e. memory resident program occupies a single contiguous block of physical memory</a:t>
            </a:r>
            <a:r>
              <a:rPr lang="en-US"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Contiguous Memory Allocation allocates consecutive blocks of memory to a file/process.</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memory is partitioned into blocks of different sizes to accommodate the programs.</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Difficult </a:t>
            </a:r>
            <a:r>
              <a:rPr lang="en-US" dirty="0">
                <a:latin typeface="Times New Roman" panose="02020603050405020304" pitchFamily="18" charset="0"/>
                <a:cs typeface="Times New Roman" panose="02020603050405020304" pitchFamily="18" charset="0"/>
              </a:rPr>
              <a:t>to grow or shrink process</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This </a:t>
            </a:r>
            <a:r>
              <a:rPr lang="en-US" dirty="0">
                <a:latin typeface="Times New Roman" panose="02020603050405020304" pitchFamily="18" charset="0"/>
                <a:cs typeface="Times New Roman" panose="02020603050405020304" pitchFamily="18" charset="0"/>
              </a:rPr>
              <a:t>partitioning is of two type:</a:t>
            </a:r>
          </a:p>
          <a:p>
            <a:pPr marL="457200" lvl="1" indent="0">
              <a:buNone/>
            </a:pPr>
            <a:r>
              <a:rPr lang="en-US" sz="2600" dirty="0">
                <a:latin typeface="Times New Roman" panose="02020603050405020304" pitchFamily="18" charset="0"/>
                <a:cs typeface="Times New Roman" panose="02020603050405020304" pitchFamily="18" charset="0"/>
              </a:rPr>
              <a:t>1. Fixed/Static Partition Allocation</a:t>
            </a:r>
          </a:p>
          <a:p>
            <a:pPr marL="457200" lvl="1" indent="0">
              <a:buNone/>
            </a:pPr>
            <a:r>
              <a:rPr lang="en-US" sz="2600" dirty="0">
                <a:latin typeface="Times New Roman" panose="02020603050405020304" pitchFamily="18" charset="0"/>
                <a:cs typeface="Times New Roman" panose="02020603050405020304" pitchFamily="18" charset="0"/>
              </a:rPr>
              <a:t>2. Variable/Dynamic Partition Allocation</a:t>
            </a:r>
          </a:p>
        </p:txBody>
      </p:sp>
    </p:spTree>
    <p:extLst>
      <p:ext uri="{BB962C8B-B14F-4D97-AF65-F5344CB8AC3E}">
        <p14:creationId xmlns="" xmlns:p14="http://schemas.microsoft.com/office/powerpoint/2010/main" val="398804405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92422"/>
            <a:ext cx="10515600" cy="617514"/>
          </a:xfrm>
        </p:spPr>
        <p:txBody>
          <a:bodyPr>
            <a:normAutofit/>
          </a:bodyPr>
          <a:lstStyle/>
          <a:p>
            <a:r>
              <a:rPr lang="en-US" sz="2800" b="1" dirty="0">
                <a:latin typeface="Times New Roman" panose="02020603050405020304" pitchFamily="18" charset="0"/>
                <a:cs typeface="Times New Roman" panose="02020603050405020304" pitchFamily="18" charset="0"/>
              </a:rPr>
              <a:t>Contiguous Memory Allocation</a:t>
            </a:r>
          </a:p>
        </p:txBody>
      </p:sp>
      <p:pic>
        <p:nvPicPr>
          <p:cNvPr id="4" name="Content Placeholder 3"/>
          <p:cNvPicPr>
            <a:picLocks noGrp="1" noChangeAspect="1"/>
          </p:cNvPicPr>
          <p:nvPr>
            <p:ph idx="1"/>
          </p:nvPr>
        </p:nvPicPr>
        <p:blipFill>
          <a:blip r:embed="rId2">
            <a:extLst>
              <a:ext uri="{28A0092B-C50C-407E-A947-70E740481C1C}">
                <a14:useLocalDpi xmlns="" xmlns:a14="http://schemas.microsoft.com/office/drawing/2010/main" val="0"/>
              </a:ext>
            </a:extLst>
          </a:blip>
          <a:stretch>
            <a:fillRect/>
          </a:stretch>
        </p:blipFill>
        <p:spPr>
          <a:xfrm>
            <a:off x="3532981" y="1352950"/>
            <a:ext cx="4328130" cy="5075145"/>
          </a:xfrm>
        </p:spPr>
      </p:pic>
    </p:spTree>
    <p:extLst>
      <p:ext uri="{BB962C8B-B14F-4D97-AF65-F5344CB8AC3E}">
        <p14:creationId xmlns="" xmlns:p14="http://schemas.microsoft.com/office/powerpoint/2010/main" val="9777209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72105"/>
          </a:xfrm>
        </p:spPr>
        <p:txBody>
          <a:bodyPr>
            <a:normAutofit/>
          </a:bodyPr>
          <a:lstStyle/>
          <a:p>
            <a:r>
              <a:rPr lang="en-US" sz="2800" b="1" dirty="0">
                <a:latin typeface="Times New Roman" panose="02020603050405020304" pitchFamily="18" charset="0"/>
                <a:cs typeface="Times New Roman" panose="02020603050405020304" pitchFamily="18" charset="0"/>
              </a:rPr>
              <a:t>Contiguous Memory </a:t>
            </a:r>
            <a:r>
              <a:rPr lang="en-US" sz="2800" b="1" dirty="0" smtClean="0">
                <a:latin typeface="Times New Roman" panose="02020603050405020304" pitchFamily="18" charset="0"/>
                <a:cs typeface="Times New Roman" panose="02020603050405020304" pitchFamily="18" charset="0"/>
              </a:rPr>
              <a:t>Allocation-</a:t>
            </a:r>
            <a:r>
              <a:rPr lang="en-US" sz="2800" b="1" dirty="0">
                <a:latin typeface="Times New Roman" panose="02020603050405020304" pitchFamily="18" charset="0"/>
                <a:cs typeface="Times New Roman" panose="02020603050405020304" pitchFamily="18" charset="0"/>
              </a:rPr>
              <a:t>Fixed Partition Allocation</a:t>
            </a:r>
          </a:p>
        </p:txBody>
      </p:sp>
      <p:sp>
        <p:nvSpPr>
          <p:cNvPr id="3" name="Content Placeholder 2"/>
          <p:cNvSpPr>
            <a:spLocks noGrp="1"/>
          </p:cNvSpPr>
          <p:nvPr>
            <p:ph sz="half" idx="1"/>
          </p:nvPr>
        </p:nvSpPr>
        <p:spPr>
          <a:xfrm>
            <a:off x="682388" y="1473958"/>
            <a:ext cx="5704764" cy="5022376"/>
          </a:xfrm>
        </p:spPr>
        <p:txBody>
          <a:bodyPr>
            <a:normAutofit/>
          </a:bodyPr>
          <a:lstStyle/>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simplest way to manage the memory available for the processes is to partition memory into regions with fixed </a:t>
            </a:r>
            <a:r>
              <a:rPr lang="en-US" dirty="0" smtClean="0">
                <a:latin typeface="Times New Roman" panose="02020603050405020304" pitchFamily="18" charset="0"/>
                <a:cs typeface="Times New Roman" panose="02020603050405020304" pitchFamily="18" charset="0"/>
              </a:rPr>
              <a:t>boundaries</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In </a:t>
            </a:r>
            <a:r>
              <a:rPr lang="en-US" dirty="0">
                <a:latin typeface="Times New Roman" panose="02020603050405020304" pitchFamily="18" charset="0"/>
                <a:cs typeface="Times New Roman" panose="02020603050405020304" pitchFamily="18" charset="0"/>
              </a:rPr>
              <a:t>Fixed Partitioning, we </a:t>
            </a:r>
            <a:r>
              <a:rPr lang="en-US" b="1" dirty="0">
                <a:latin typeface="Times New Roman" panose="02020603050405020304" pitchFamily="18" charset="0"/>
                <a:cs typeface="Times New Roman" panose="02020603050405020304" pitchFamily="18" charset="0"/>
              </a:rPr>
              <a:t>divide the main memory into partitions</a:t>
            </a:r>
            <a:r>
              <a:rPr lang="en-US" dirty="0">
                <a:latin typeface="Times New Roman" panose="02020603050405020304" pitchFamily="18" charset="0"/>
                <a:cs typeface="Times New Roman" panose="02020603050405020304" pitchFamily="18" charset="0"/>
              </a:rPr>
              <a:t>, and the size of partitions can be different or </a:t>
            </a:r>
            <a:r>
              <a:rPr lang="en-US" dirty="0" smtClean="0">
                <a:latin typeface="Times New Roman" panose="02020603050405020304" pitchFamily="18" charset="0"/>
                <a:cs typeface="Times New Roman" panose="02020603050405020304" pitchFamily="18" charset="0"/>
              </a:rPr>
              <a:t>equal.</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A process </a:t>
            </a:r>
            <a:r>
              <a:rPr lang="en-US" dirty="0">
                <a:latin typeface="Times New Roman" panose="02020603050405020304" pitchFamily="18" charset="0"/>
                <a:cs typeface="Times New Roman" panose="02020603050405020304" pitchFamily="18" charset="0"/>
              </a:rPr>
              <a:t>whose size is less than or equal to the partition size can be loaded into that partition</a:t>
            </a:r>
          </a:p>
          <a:p>
            <a:pP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p:txBody>
      </p:sp>
      <p:pic>
        <p:nvPicPr>
          <p:cNvPr id="5" name="Content Placeholder 4"/>
          <p:cNvPicPr>
            <a:picLocks noGrp="1" noChangeAspect="1"/>
          </p:cNvPicPr>
          <p:nvPr>
            <p:ph sz="half" idx="2"/>
          </p:nvPr>
        </p:nvPicPr>
        <p:blipFill>
          <a:blip r:embed="rId2"/>
          <a:stretch>
            <a:fillRect/>
          </a:stretch>
        </p:blipFill>
        <p:spPr>
          <a:xfrm>
            <a:off x="6632812" y="1037230"/>
            <a:ext cx="4913193" cy="5595345"/>
          </a:xfrm>
          <a:prstGeom prst="rect">
            <a:avLst/>
          </a:prstGeom>
        </p:spPr>
      </p:pic>
    </p:spTree>
    <p:extLst>
      <p:ext uri="{BB962C8B-B14F-4D97-AF65-F5344CB8AC3E}">
        <p14:creationId xmlns="" xmlns:p14="http://schemas.microsoft.com/office/powerpoint/2010/main" val="35933142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53991"/>
          </a:xfrm>
        </p:spPr>
        <p:txBody>
          <a:bodyPr>
            <a:normAutofit/>
          </a:bodyPr>
          <a:lstStyle/>
          <a:p>
            <a:r>
              <a:rPr lang="en-US" sz="2800" b="1" dirty="0">
                <a:latin typeface="Times New Roman" panose="02020603050405020304" pitchFamily="18" charset="0"/>
                <a:cs typeface="Times New Roman" panose="02020603050405020304" pitchFamily="18" charset="0"/>
              </a:rPr>
              <a:t>Contiguous Memory </a:t>
            </a:r>
            <a:r>
              <a:rPr lang="en-US" sz="2800" b="1" dirty="0" smtClean="0">
                <a:latin typeface="Times New Roman" panose="02020603050405020304" pitchFamily="18" charset="0"/>
                <a:cs typeface="Times New Roman" panose="02020603050405020304" pitchFamily="18" charset="0"/>
              </a:rPr>
              <a:t>Allocation-</a:t>
            </a:r>
            <a:r>
              <a:rPr lang="en-US" sz="2800" b="1" dirty="0">
                <a:latin typeface="Times New Roman" panose="02020603050405020304" pitchFamily="18" charset="0"/>
                <a:cs typeface="Times New Roman" panose="02020603050405020304" pitchFamily="18" charset="0"/>
              </a:rPr>
              <a:t>Fixed Partition Allocation</a:t>
            </a:r>
          </a:p>
        </p:txBody>
      </p:sp>
      <p:sp>
        <p:nvSpPr>
          <p:cNvPr id="3" name="Content Placeholder 2"/>
          <p:cNvSpPr>
            <a:spLocks noGrp="1"/>
          </p:cNvSpPr>
          <p:nvPr>
            <p:ph idx="1"/>
          </p:nvPr>
        </p:nvSpPr>
        <p:spPr>
          <a:xfrm>
            <a:off x="838200" y="1119116"/>
            <a:ext cx="10680510" cy="5513696"/>
          </a:xfrm>
        </p:spPr>
        <p:txBody>
          <a:bodyPr>
            <a:normAutofit lnSpcReduction="10000"/>
          </a:bodyPr>
          <a:lstStyle/>
          <a:p>
            <a:pPr>
              <a:buFont typeface="Wingdings" panose="05000000000000000000" pitchFamily="2" charset="2"/>
              <a:buChar char="v"/>
            </a:pPr>
            <a:r>
              <a:rPr lang="en-US" sz="2600" dirty="0" smtClean="0">
                <a:latin typeface="Times New Roman" panose="02020603050405020304" pitchFamily="18" charset="0"/>
                <a:cs typeface="Times New Roman" panose="02020603050405020304" pitchFamily="18" charset="0"/>
              </a:rPr>
              <a:t>We </a:t>
            </a:r>
            <a:r>
              <a:rPr lang="en-US" sz="2600" dirty="0">
                <a:latin typeface="Times New Roman" panose="02020603050405020304" pitchFamily="18" charset="0"/>
                <a:cs typeface="Times New Roman" panose="02020603050405020304" pitchFamily="18" charset="0"/>
              </a:rPr>
              <a:t>divide the memory into several fixed size partitions where each partition will accommodate only one </a:t>
            </a:r>
            <a:r>
              <a:rPr lang="en-US" sz="2600" dirty="0" smtClean="0">
                <a:latin typeface="Times New Roman" panose="02020603050405020304" pitchFamily="18" charset="0"/>
                <a:cs typeface="Times New Roman" panose="02020603050405020304" pitchFamily="18" charset="0"/>
              </a:rPr>
              <a:t>program for </a:t>
            </a:r>
            <a:r>
              <a:rPr lang="en-US" sz="2600" dirty="0">
                <a:latin typeface="Times New Roman" panose="02020603050405020304" pitchFamily="18" charset="0"/>
                <a:cs typeface="Times New Roman" panose="02020603050405020304" pitchFamily="18" charset="0"/>
              </a:rPr>
              <a:t>execution. </a:t>
            </a:r>
          </a:p>
          <a:p>
            <a:pPr>
              <a:buFont typeface="Wingdings" panose="05000000000000000000" pitchFamily="2" charset="2"/>
              <a:buChar char="v"/>
            </a:pPr>
            <a:r>
              <a:rPr lang="en-US" sz="2600" dirty="0" smtClean="0">
                <a:latin typeface="Times New Roman" panose="02020603050405020304" pitchFamily="18" charset="0"/>
                <a:cs typeface="Times New Roman" panose="02020603050405020304" pitchFamily="18" charset="0"/>
              </a:rPr>
              <a:t>The </a:t>
            </a:r>
            <a:r>
              <a:rPr lang="en-US" sz="2600" dirty="0">
                <a:latin typeface="Times New Roman" panose="02020603050405020304" pitchFamily="18" charset="0"/>
                <a:cs typeface="Times New Roman" panose="02020603050405020304" pitchFamily="18" charset="0"/>
              </a:rPr>
              <a:t>number of programs (i.e. degree of multiprogramming) residing in the memory will be bound by the number of partitions. </a:t>
            </a:r>
          </a:p>
          <a:p>
            <a:pPr>
              <a:buFont typeface="Wingdings" panose="05000000000000000000" pitchFamily="2" charset="2"/>
              <a:buChar char="v"/>
            </a:pPr>
            <a:r>
              <a:rPr lang="en-US" sz="2600" dirty="0" smtClean="0">
                <a:latin typeface="Times New Roman" panose="02020603050405020304" pitchFamily="18" charset="0"/>
                <a:cs typeface="Times New Roman" panose="02020603050405020304" pitchFamily="18" charset="0"/>
              </a:rPr>
              <a:t>When </a:t>
            </a:r>
            <a:r>
              <a:rPr lang="en-US" sz="2600" dirty="0">
                <a:latin typeface="Times New Roman" panose="02020603050405020304" pitchFamily="18" charset="0"/>
                <a:cs typeface="Times New Roman" panose="02020603050405020304" pitchFamily="18" charset="0"/>
              </a:rPr>
              <a:t>a program terminates, that partition is freed for another program waiting in a queue.</a:t>
            </a:r>
          </a:p>
          <a:p>
            <a:pPr marL="514350" indent="-514350">
              <a:buFont typeface="+mj-lt"/>
              <a:buAutoNum type="alphaLcPeriod"/>
            </a:pPr>
            <a:r>
              <a:rPr lang="en-US" sz="2600" dirty="0" smtClean="0">
                <a:latin typeface="Times New Roman" panose="02020603050405020304" pitchFamily="18" charset="0"/>
                <a:cs typeface="Times New Roman" panose="02020603050405020304" pitchFamily="18" charset="0"/>
              </a:rPr>
              <a:t>Equal-size </a:t>
            </a:r>
            <a:r>
              <a:rPr lang="en-US" sz="2600" dirty="0">
                <a:latin typeface="Times New Roman" panose="02020603050405020304" pitchFamily="18" charset="0"/>
                <a:cs typeface="Times New Roman" panose="02020603050405020304" pitchFamily="18" charset="0"/>
              </a:rPr>
              <a:t>partitions</a:t>
            </a:r>
          </a:p>
          <a:p>
            <a:pPr lvl="1"/>
            <a:r>
              <a:rPr lang="en-US" sz="2600" dirty="0" smtClean="0">
                <a:latin typeface="Times New Roman" panose="02020603050405020304" pitchFamily="18" charset="0"/>
                <a:cs typeface="Times New Roman" panose="02020603050405020304" pitchFamily="18" charset="0"/>
              </a:rPr>
              <a:t>Because </a:t>
            </a:r>
            <a:r>
              <a:rPr lang="en-US" sz="2600" dirty="0">
                <a:latin typeface="Times New Roman" panose="02020603050405020304" pitchFamily="18" charset="0"/>
                <a:cs typeface="Times New Roman" panose="02020603050405020304" pitchFamily="18" charset="0"/>
              </a:rPr>
              <a:t>all partitions are of equal size, it does not matter which partition is used</a:t>
            </a:r>
          </a:p>
          <a:p>
            <a:pPr marL="514350" indent="-514350">
              <a:buFont typeface="+mj-lt"/>
              <a:buAutoNum type="alphaLcPeriod"/>
            </a:pPr>
            <a:r>
              <a:rPr lang="en-US" sz="2600" dirty="0" smtClean="0">
                <a:latin typeface="Times New Roman" panose="02020603050405020304" pitchFamily="18" charset="0"/>
                <a:cs typeface="Times New Roman" panose="02020603050405020304" pitchFamily="18" charset="0"/>
              </a:rPr>
              <a:t>Unequal-size </a:t>
            </a:r>
            <a:r>
              <a:rPr lang="en-US" sz="2600" dirty="0">
                <a:latin typeface="Times New Roman" panose="02020603050405020304" pitchFamily="18" charset="0"/>
                <a:cs typeface="Times New Roman" panose="02020603050405020304" pitchFamily="18" charset="0"/>
              </a:rPr>
              <a:t>partitions</a:t>
            </a:r>
          </a:p>
          <a:p>
            <a:pPr lvl="1"/>
            <a:r>
              <a:rPr lang="en-US" sz="2600" dirty="0" smtClean="0">
                <a:latin typeface="Times New Roman" panose="02020603050405020304" pitchFamily="18" charset="0"/>
                <a:cs typeface="Times New Roman" panose="02020603050405020304" pitchFamily="18" charset="0"/>
              </a:rPr>
              <a:t>Can </a:t>
            </a:r>
            <a:r>
              <a:rPr lang="en-US" sz="2600" dirty="0">
                <a:latin typeface="Times New Roman" panose="02020603050405020304" pitchFamily="18" charset="0"/>
                <a:cs typeface="Times New Roman" panose="02020603050405020304" pitchFamily="18" charset="0"/>
              </a:rPr>
              <a:t>assign each process to the smallest partition within which it will fit</a:t>
            </a:r>
          </a:p>
          <a:p>
            <a:pPr lvl="1"/>
            <a:r>
              <a:rPr lang="en-US" sz="2600" dirty="0" smtClean="0">
                <a:latin typeface="Times New Roman" panose="02020603050405020304" pitchFamily="18" charset="0"/>
                <a:cs typeface="Times New Roman" panose="02020603050405020304" pitchFamily="18" charset="0"/>
              </a:rPr>
              <a:t>Queue </a:t>
            </a:r>
            <a:r>
              <a:rPr lang="en-US" sz="2600" dirty="0">
                <a:latin typeface="Times New Roman" panose="02020603050405020304" pitchFamily="18" charset="0"/>
                <a:cs typeface="Times New Roman" panose="02020603050405020304" pitchFamily="18" charset="0"/>
              </a:rPr>
              <a:t>for each partition</a:t>
            </a:r>
          </a:p>
          <a:p>
            <a:pPr lvl="1"/>
            <a:r>
              <a:rPr lang="en-US" sz="2600" dirty="0" smtClean="0">
                <a:latin typeface="Times New Roman" panose="02020603050405020304" pitchFamily="18" charset="0"/>
                <a:cs typeface="Times New Roman" panose="02020603050405020304" pitchFamily="18" charset="0"/>
              </a:rPr>
              <a:t>Processes </a:t>
            </a:r>
            <a:r>
              <a:rPr lang="en-US" sz="2600" dirty="0">
                <a:latin typeface="Times New Roman" panose="02020603050405020304" pitchFamily="18" charset="0"/>
                <a:cs typeface="Times New Roman" panose="02020603050405020304" pitchFamily="18" charset="0"/>
              </a:rPr>
              <a:t>are assigned in such a way as to minimize wasted memory within a partition</a:t>
            </a:r>
          </a:p>
          <a:p>
            <a:pP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203915014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7257" y="133113"/>
            <a:ext cx="10515600" cy="753991"/>
          </a:xfrm>
        </p:spPr>
        <p:txBody>
          <a:bodyPr>
            <a:normAutofit/>
          </a:bodyPr>
          <a:lstStyle/>
          <a:p>
            <a:r>
              <a:rPr lang="en-US" sz="2800" b="1" dirty="0">
                <a:latin typeface="Times New Roman" panose="02020603050405020304" pitchFamily="18" charset="0"/>
                <a:cs typeface="Times New Roman" panose="02020603050405020304" pitchFamily="18" charset="0"/>
              </a:rPr>
              <a:t>Contiguous Memory </a:t>
            </a:r>
            <a:r>
              <a:rPr lang="en-US" sz="2800" b="1" dirty="0" smtClean="0">
                <a:latin typeface="Times New Roman" panose="02020603050405020304" pitchFamily="18" charset="0"/>
                <a:cs typeface="Times New Roman" panose="02020603050405020304" pitchFamily="18" charset="0"/>
              </a:rPr>
              <a:t>Allocation-</a:t>
            </a:r>
            <a:r>
              <a:rPr lang="en-US" sz="2800" b="1" dirty="0">
                <a:latin typeface="Times New Roman" panose="02020603050405020304" pitchFamily="18" charset="0"/>
                <a:cs typeface="Times New Roman" panose="02020603050405020304" pitchFamily="18" charset="0"/>
              </a:rPr>
              <a:t>Fixed Partition Allocation</a:t>
            </a:r>
          </a:p>
        </p:txBody>
      </p:sp>
      <p:pic>
        <p:nvPicPr>
          <p:cNvPr id="4" name="Content Placeholder 3"/>
          <p:cNvPicPr>
            <a:picLocks noGrp="1" noChangeAspect="1"/>
          </p:cNvPicPr>
          <p:nvPr>
            <p:ph idx="1"/>
          </p:nvPr>
        </p:nvPicPr>
        <p:blipFill>
          <a:blip r:embed="rId2">
            <a:extLst>
              <a:ext uri="{28A0092B-C50C-407E-A947-70E740481C1C}">
                <a14:useLocalDpi xmlns="" xmlns:a14="http://schemas.microsoft.com/office/drawing/2010/main" val="0"/>
              </a:ext>
            </a:extLst>
          </a:blip>
          <a:stretch>
            <a:fillRect/>
          </a:stretch>
        </p:blipFill>
        <p:spPr>
          <a:xfrm>
            <a:off x="4501401" y="928048"/>
            <a:ext cx="3919268" cy="5793474"/>
          </a:xfrm>
        </p:spPr>
      </p:pic>
    </p:spTree>
    <p:extLst>
      <p:ext uri="{BB962C8B-B14F-4D97-AF65-F5344CB8AC3E}">
        <p14:creationId xmlns="" xmlns:p14="http://schemas.microsoft.com/office/powerpoint/2010/main" val="372597369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7257" y="133113"/>
            <a:ext cx="10515600" cy="753991"/>
          </a:xfrm>
        </p:spPr>
        <p:txBody>
          <a:bodyPr>
            <a:normAutofit/>
          </a:bodyPr>
          <a:lstStyle/>
          <a:p>
            <a:r>
              <a:rPr lang="en-US" sz="2800" b="1" dirty="0">
                <a:latin typeface="Times New Roman" panose="02020603050405020304" pitchFamily="18" charset="0"/>
                <a:cs typeface="Times New Roman" panose="02020603050405020304" pitchFamily="18" charset="0"/>
              </a:rPr>
              <a:t>Contiguous Memory </a:t>
            </a:r>
            <a:r>
              <a:rPr lang="en-US" sz="2800" b="1" dirty="0" smtClean="0">
                <a:latin typeface="Times New Roman" panose="02020603050405020304" pitchFamily="18" charset="0"/>
                <a:cs typeface="Times New Roman" panose="02020603050405020304" pitchFamily="18" charset="0"/>
              </a:rPr>
              <a:t>Allocation-</a:t>
            </a:r>
            <a:r>
              <a:rPr lang="en-US" sz="2800" b="1" dirty="0">
                <a:latin typeface="Times New Roman" panose="02020603050405020304" pitchFamily="18" charset="0"/>
                <a:cs typeface="Times New Roman" panose="02020603050405020304" pitchFamily="18" charset="0"/>
              </a:rPr>
              <a:t>Fixed Partition Allocation</a:t>
            </a:r>
          </a:p>
        </p:txBody>
      </p:sp>
      <p:sp>
        <p:nvSpPr>
          <p:cNvPr id="3" name="Content Placeholder 2"/>
          <p:cNvSpPr>
            <a:spLocks noGrp="1"/>
          </p:cNvSpPr>
          <p:nvPr>
            <p:ph idx="1"/>
          </p:nvPr>
        </p:nvSpPr>
        <p:spPr>
          <a:xfrm>
            <a:off x="838200" y="1119116"/>
            <a:ext cx="11253716" cy="5431809"/>
          </a:xfrm>
        </p:spPr>
        <p:txBody>
          <a:bodyPr>
            <a:normAutofit/>
          </a:bodyPr>
          <a:lstStyle/>
          <a:p>
            <a:pPr>
              <a:buFont typeface="Wingdings" panose="05000000000000000000" pitchFamily="2" charset="2"/>
              <a:buChar char="v"/>
            </a:pPr>
            <a:r>
              <a:rPr lang="en-US" sz="2400" dirty="0" smtClean="0">
                <a:latin typeface="Times New Roman" panose="02020603050405020304" pitchFamily="18" charset="0"/>
                <a:cs typeface="Times New Roman" panose="02020603050405020304" pitchFamily="18" charset="0"/>
              </a:rPr>
              <a:t>Advantages</a:t>
            </a:r>
          </a:p>
          <a:p>
            <a:pPr marL="514350" indent="-514350">
              <a:buFont typeface="+mj-lt"/>
              <a:buAutoNum type="arabicPeriod"/>
            </a:pPr>
            <a:r>
              <a:rPr lang="en-US" sz="2400" dirty="0" smtClean="0">
                <a:latin typeface="Times New Roman" panose="02020603050405020304" pitchFamily="18" charset="0"/>
                <a:cs typeface="Times New Roman" panose="02020603050405020304" pitchFamily="18" charset="0"/>
              </a:rPr>
              <a:t>Easy to implement: </a:t>
            </a:r>
            <a:r>
              <a:rPr lang="en-US" sz="2400" dirty="0">
                <a:latin typeface="Times New Roman" panose="02020603050405020304" pitchFamily="18" charset="0"/>
                <a:cs typeface="Times New Roman" panose="02020603050405020304" pitchFamily="18" charset="0"/>
              </a:rPr>
              <a:t>Algorithms needed to implement Fixed Partitioning are easy to implement</a:t>
            </a:r>
            <a:r>
              <a:rPr lang="en-US" sz="2400" dirty="0" smtClean="0">
                <a:latin typeface="Times New Roman" panose="02020603050405020304" pitchFamily="18" charset="0"/>
                <a:cs typeface="Times New Roman" panose="02020603050405020304" pitchFamily="18" charset="0"/>
              </a:rPr>
              <a:t>.</a:t>
            </a:r>
          </a:p>
          <a:p>
            <a:pPr marL="514350" indent="-514350">
              <a:buFont typeface="+mj-lt"/>
              <a:buAutoNum type="arabicPeriod"/>
            </a:pPr>
            <a:r>
              <a:rPr lang="en-US" sz="2400" dirty="0" smtClean="0">
                <a:latin typeface="Times New Roman" panose="02020603050405020304" pitchFamily="18" charset="0"/>
                <a:cs typeface="Times New Roman" panose="02020603050405020304" pitchFamily="18" charset="0"/>
              </a:rPr>
              <a:t>Little OS Overhead: </a:t>
            </a:r>
            <a:r>
              <a:rPr lang="en-US" sz="2400" dirty="0">
                <a:latin typeface="Times New Roman" panose="02020603050405020304" pitchFamily="18" charset="0"/>
                <a:cs typeface="Times New Roman" panose="02020603050405020304" pitchFamily="18" charset="0"/>
              </a:rPr>
              <a:t>Processing of Fixed Partitioning requires lesser excess and indirect computational power.</a:t>
            </a:r>
            <a:endParaRPr lang="en-US" sz="24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400" dirty="0" smtClean="0">
                <a:latin typeface="Times New Roman" panose="02020603050405020304" pitchFamily="18" charset="0"/>
                <a:cs typeface="Times New Roman" panose="02020603050405020304" pitchFamily="18" charset="0"/>
              </a:rPr>
              <a:t>Disadvantages</a:t>
            </a: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 Internal </a:t>
            </a:r>
            <a:r>
              <a:rPr lang="en-US" sz="2400" dirty="0" smtClean="0">
                <a:latin typeface="Times New Roman" panose="02020603050405020304" pitchFamily="18" charset="0"/>
                <a:cs typeface="Times New Roman" panose="02020603050405020304" pitchFamily="18" charset="0"/>
              </a:rPr>
              <a:t>Fragmentation: </a:t>
            </a:r>
            <a:r>
              <a:rPr lang="en-US" sz="2400" dirty="0">
                <a:latin typeface="Times New Roman" panose="02020603050405020304" pitchFamily="18" charset="0"/>
                <a:cs typeface="Times New Roman" panose="02020603050405020304" pitchFamily="18" charset="0"/>
              </a:rPr>
              <a:t>If the size of the process is lesser then the total size of the partition then some size of the partition get wasted and remain </a:t>
            </a:r>
            <a:r>
              <a:rPr lang="en-US" sz="2400" dirty="0" smtClean="0">
                <a:latin typeface="Times New Roman" panose="02020603050405020304" pitchFamily="18" charset="0"/>
                <a:cs typeface="Times New Roman" panose="02020603050405020304" pitchFamily="18" charset="0"/>
              </a:rPr>
              <a:t>unused.</a:t>
            </a:r>
          </a:p>
          <a:p>
            <a:pPr marL="457200" indent="-457200">
              <a:buFont typeface="+mj-lt"/>
              <a:buAutoNum type="arabicPeriod"/>
            </a:pPr>
            <a:r>
              <a:rPr lang="en-US" sz="2400" dirty="0" smtClean="0">
                <a:latin typeface="Times New Roman" panose="02020603050405020304" pitchFamily="18" charset="0"/>
                <a:cs typeface="Times New Roman" panose="02020603050405020304" pitchFamily="18" charset="0"/>
              </a:rPr>
              <a:t>External Fragmentation: Frequent </a:t>
            </a:r>
            <a:r>
              <a:rPr lang="en-US" sz="2400" dirty="0">
                <a:latin typeface="Times New Roman" panose="02020603050405020304" pitchFamily="18" charset="0"/>
                <a:cs typeface="Times New Roman" panose="02020603050405020304" pitchFamily="18" charset="0"/>
              </a:rPr>
              <a:t>loading and unloading of programs  causes free space to be broken into little </a:t>
            </a:r>
            <a:r>
              <a:rPr lang="en-US" sz="2400" dirty="0" smtClean="0">
                <a:latin typeface="Times New Roman" panose="02020603050405020304" pitchFamily="18" charset="0"/>
                <a:cs typeface="Times New Roman" panose="02020603050405020304" pitchFamily="18" charset="0"/>
              </a:rPr>
              <a:t>pieces. The </a:t>
            </a:r>
            <a:r>
              <a:rPr lang="en-US" sz="2400" dirty="0">
                <a:latin typeface="Times New Roman" panose="02020603050405020304" pitchFamily="18" charset="0"/>
                <a:cs typeface="Times New Roman" panose="02020603050405020304" pitchFamily="18" charset="0"/>
              </a:rPr>
              <a:t>total unused space of various partitions cannot be used to load the processes even though there is space available but not in the contiguous form.</a:t>
            </a:r>
          </a:p>
        </p:txBody>
      </p:sp>
    </p:spTree>
    <p:extLst>
      <p:ext uri="{BB962C8B-B14F-4D97-AF65-F5344CB8AC3E}">
        <p14:creationId xmlns="" xmlns:p14="http://schemas.microsoft.com/office/powerpoint/2010/main" val="391686425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7257" y="133113"/>
            <a:ext cx="10515600" cy="753991"/>
          </a:xfrm>
        </p:spPr>
        <p:txBody>
          <a:bodyPr>
            <a:normAutofit/>
          </a:bodyPr>
          <a:lstStyle/>
          <a:p>
            <a:r>
              <a:rPr lang="en-US" sz="2800" b="1" dirty="0">
                <a:latin typeface="Times New Roman" panose="02020603050405020304" pitchFamily="18" charset="0"/>
                <a:cs typeface="Times New Roman" panose="02020603050405020304" pitchFamily="18" charset="0"/>
              </a:rPr>
              <a:t>Contiguous Memory </a:t>
            </a:r>
            <a:r>
              <a:rPr lang="en-US" sz="2800" b="1" dirty="0" smtClean="0">
                <a:latin typeface="Times New Roman" panose="02020603050405020304" pitchFamily="18" charset="0"/>
                <a:cs typeface="Times New Roman" panose="02020603050405020304" pitchFamily="18" charset="0"/>
              </a:rPr>
              <a:t>Allocation-</a:t>
            </a:r>
            <a:r>
              <a:rPr lang="en-US" sz="2800" b="1" dirty="0">
                <a:latin typeface="Times New Roman" panose="02020603050405020304" pitchFamily="18" charset="0"/>
                <a:cs typeface="Times New Roman" panose="02020603050405020304" pitchFamily="18" charset="0"/>
              </a:rPr>
              <a:t>Fixed Partition Allocation</a:t>
            </a:r>
          </a:p>
        </p:txBody>
      </p:sp>
      <p:sp>
        <p:nvSpPr>
          <p:cNvPr id="3" name="Content Placeholder 2"/>
          <p:cNvSpPr>
            <a:spLocks noGrp="1"/>
          </p:cNvSpPr>
          <p:nvPr>
            <p:ph idx="1"/>
          </p:nvPr>
        </p:nvSpPr>
        <p:spPr>
          <a:xfrm>
            <a:off x="838200" y="1119116"/>
            <a:ext cx="11253716" cy="5431809"/>
          </a:xfrm>
        </p:spPr>
        <p:txBody>
          <a:bodyPr>
            <a:normAutofit/>
          </a:bodyPr>
          <a:lstStyle/>
          <a:p>
            <a:pPr>
              <a:buFont typeface="Wingdings" panose="05000000000000000000" pitchFamily="2" charset="2"/>
              <a:buChar char="v"/>
            </a:pPr>
            <a:r>
              <a:rPr lang="en-US" sz="2400" dirty="0" smtClean="0">
                <a:latin typeface="Times New Roman" panose="02020603050405020304" pitchFamily="18" charset="0"/>
                <a:cs typeface="Times New Roman" panose="02020603050405020304" pitchFamily="18" charset="0"/>
              </a:rPr>
              <a:t>Disadvantages</a:t>
            </a:r>
          </a:p>
          <a:p>
            <a:pPr marL="457200" indent="-457200">
              <a:buAutoNum type="arabicPeriod" startAt="3"/>
            </a:pPr>
            <a:r>
              <a:rPr lang="en-US" sz="2400" dirty="0" smtClean="0">
                <a:latin typeface="Times New Roman" panose="02020603050405020304" pitchFamily="18" charset="0"/>
                <a:cs typeface="Times New Roman" panose="02020603050405020304" pitchFamily="18" charset="0"/>
              </a:rPr>
              <a:t>Limitation </a:t>
            </a:r>
            <a:r>
              <a:rPr lang="en-US" sz="2400" dirty="0">
                <a:latin typeface="Times New Roman" panose="02020603050405020304" pitchFamily="18" charset="0"/>
                <a:cs typeface="Times New Roman" panose="02020603050405020304" pitchFamily="18" charset="0"/>
              </a:rPr>
              <a:t>on the size of the </a:t>
            </a:r>
            <a:r>
              <a:rPr lang="en-US" sz="2400" dirty="0" smtClean="0">
                <a:latin typeface="Times New Roman" panose="02020603050405020304" pitchFamily="18" charset="0"/>
                <a:cs typeface="Times New Roman" panose="02020603050405020304" pitchFamily="18" charset="0"/>
              </a:rPr>
              <a:t>process: </a:t>
            </a:r>
            <a:r>
              <a:rPr lang="en-US" sz="2400" dirty="0">
                <a:latin typeface="Times New Roman" panose="02020603050405020304" pitchFamily="18" charset="0"/>
                <a:cs typeface="Times New Roman" panose="02020603050405020304" pitchFamily="18" charset="0"/>
              </a:rPr>
              <a:t>If the process size is larger than the size of maximum sized partition then that process cannot be loaded into the memory. Therefore, a limitation can be imposed on the process size that is it cannot be larger than the size of the largest partition</a:t>
            </a:r>
            <a:r>
              <a:rPr lang="en-US" sz="2400" dirty="0" smtClean="0">
                <a:latin typeface="Times New Roman" panose="02020603050405020304" pitchFamily="18" charset="0"/>
                <a:cs typeface="Times New Roman" panose="02020603050405020304" pitchFamily="18" charset="0"/>
              </a:rPr>
              <a:t>.</a:t>
            </a:r>
          </a:p>
          <a:p>
            <a:pPr marL="457200" indent="-457200">
              <a:buAutoNum type="arabicPeriod" startAt="3"/>
            </a:pPr>
            <a:r>
              <a:rPr lang="en-US" sz="2400" dirty="0">
                <a:latin typeface="Times New Roman" panose="02020603050405020304" pitchFamily="18" charset="0"/>
                <a:cs typeface="Times New Roman" panose="02020603050405020304" pitchFamily="18" charset="0"/>
              </a:rPr>
              <a:t>Degree of multiprogramming is </a:t>
            </a:r>
            <a:r>
              <a:rPr lang="en-US" sz="2400" dirty="0" smtClean="0">
                <a:latin typeface="Times New Roman" panose="02020603050405020304" pitchFamily="18" charset="0"/>
                <a:cs typeface="Times New Roman" panose="02020603050405020304" pitchFamily="18" charset="0"/>
              </a:rPr>
              <a:t>less: </a:t>
            </a:r>
            <a:r>
              <a:rPr lang="en-US" sz="2400" dirty="0">
                <a:latin typeface="Times New Roman" panose="02020603050405020304" pitchFamily="18" charset="0"/>
                <a:cs typeface="Times New Roman" panose="02020603050405020304" pitchFamily="18" charset="0"/>
              </a:rPr>
              <a:t>By Degree of multi programming, we simply mean the maximum number of processes that can be loaded into the memory at the same time.</a:t>
            </a:r>
            <a:endParaRPr lang="en-US" sz="2400" dirty="0" smtClean="0">
              <a:latin typeface="Times New Roman" panose="02020603050405020304" pitchFamily="18" charset="0"/>
              <a:cs typeface="Times New Roman" panose="02020603050405020304" pitchFamily="18" charset="0"/>
            </a:endParaRPr>
          </a:p>
          <a:p>
            <a:pPr marL="0" indent="0">
              <a:buNone/>
            </a:pPr>
            <a:endParaRPr lang="en-US" sz="24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258536838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63174"/>
          </a:xfrm>
        </p:spPr>
        <p:txBody>
          <a:bodyPr>
            <a:normAutofit/>
          </a:bodyPr>
          <a:lstStyle/>
          <a:p>
            <a:r>
              <a:rPr lang="en-US" sz="2800" b="1" dirty="0">
                <a:latin typeface="Times New Roman" panose="02020603050405020304" pitchFamily="18" charset="0"/>
                <a:cs typeface="Times New Roman" panose="02020603050405020304" pitchFamily="18" charset="0"/>
              </a:rPr>
              <a:t>Contiguous Memory </a:t>
            </a:r>
            <a:r>
              <a:rPr lang="en-US" sz="2800" b="1" dirty="0" smtClean="0">
                <a:latin typeface="Times New Roman" panose="02020603050405020304" pitchFamily="18" charset="0"/>
                <a:cs typeface="Times New Roman" panose="02020603050405020304" pitchFamily="18" charset="0"/>
              </a:rPr>
              <a:t>Allocation-Dynamic Partition</a:t>
            </a:r>
            <a:endParaRPr lang="en-US" sz="2800" dirty="0"/>
          </a:p>
        </p:txBody>
      </p:sp>
      <p:sp>
        <p:nvSpPr>
          <p:cNvPr id="3" name="Content Placeholder 2"/>
          <p:cNvSpPr>
            <a:spLocks noGrp="1"/>
          </p:cNvSpPr>
          <p:nvPr>
            <p:ph idx="1"/>
          </p:nvPr>
        </p:nvSpPr>
        <p:spPr>
          <a:xfrm>
            <a:off x="838200" y="1228300"/>
            <a:ext cx="10515600" cy="4948663"/>
          </a:xfrm>
        </p:spPr>
        <p:txBody>
          <a:bodyPr/>
          <a:lstStyle/>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In </a:t>
            </a:r>
            <a:r>
              <a:rPr lang="en-US" dirty="0">
                <a:latin typeface="Times New Roman" panose="02020603050405020304" pitchFamily="18" charset="0"/>
                <a:cs typeface="Times New Roman" panose="02020603050405020304" pitchFamily="18" charset="0"/>
              </a:rPr>
              <a:t>this method, partitions are created dynamically to meet the requirements of each requesting process</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When </a:t>
            </a:r>
            <a:r>
              <a:rPr lang="en-US" dirty="0">
                <a:latin typeface="Times New Roman" panose="02020603050405020304" pitchFamily="18" charset="0"/>
                <a:cs typeface="Times New Roman" panose="02020603050405020304" pitchFamily="18" charset="0"/>
              </a:rPr>
              <a:t>a process terminates or is swapped-out, the memory manager can return the vacated space to the pool of free memory area and can be provided to another process later</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Holes </a:t>
            </a:r>
            <a:r>
              <a:rPr lang="en-US" dirty="0">
                <a:latin typeface="Times New Roman" panose="02020603050405020304" pitchFamily="18" charset="0"/>
                <a:cs typeface="Times New Roman" panose="02020603050405020304" pitchFamily="18" charset="0"/>
              </a:rPr>
              <a:t>(pieces of free memory) might be created during dynamic partitioning</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Given </a:t>
            </a:r>
            <a:r>
              <a:rPr lang="en-US" dirty="0">
                <a:latin typeface="Times New Roman" panose="02020603050405020304" pitchFamily="18" charset="0"/>
                <a:cs typeface="Times New Roman" panose="02020603050405020304" pitchFamily="18" charset="0"/>
              </a:rPr>
              <a:t>a new process, the OS must decide which hole to use for new process</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10915813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63174"/>
          </a:xfrm>
        </p:spPr>
        <p:txBody>
          <a:bodyPr>
            <a:normAutofit/>
          </a:bodyPr>
          <a:lstStyle/>
          <a:p>
            <a:r>
              <a:rPr lang="en-US" sz="2800" b="1" dirty="0">
                <a:latin typeface="Times New Roman" panose="02020603050405020304" pitchFamily="18" charset="0"/>
                <a:cs typeface="Times New Roman" panose="02020603050405020304" pitchFamily="18" charset="0"/>
              </a:rPr>
              <a:t>Contiguous Memory </a:t>
            </a:r>
            <a:r>
              <a:rPr lang="en-US" sz="2800" b="1" dirty="0" smtClean="0">
                <a:latin typeface="Times New Roman" panose="02020603050405020304" pitchFamily="18" charset="0"/>
                <a:cs typeface="Times New Roman" panose="02020603050405020304" pitchFamily="18" charset="0"/>
              </a:rPr>
              <a:t>Allocation-Dynamic Partition</a:t>
            </a:r>
            <a:endParaRPr lang="en-US" sz="2800" dirty="0"/>
          </a:p>
        </p:txBody>
      </p:sp>
      <p:sp>
        <p:nvSpPr>
          <p:cNvPr id="3" name="Content Placeholder 2"/>
          <p:cNvSpPr>
            <a:spLocks noGrp="1"/>
          </p:cNvSpPr>
          <p:nvPr>
            <p:ph idx="1"/>
          </p:nvPr>
        </p:nvSpPr>
        <p:spPr>
          <a:xfrm>
            <a:off x="838200" y="1228300"/>
            <a:ext cx="10515600" cy="4948663"/>
          </a:xfrm>
        </p:spPr>
        <p:txBody>
          <a:bodyPr/>
          <a:lstStyle/>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In </a:t>
            </a:r>
            <a:r>
              <a:rPr lang="en-US" dirty="0">
                <a:latin typeface="Times New Roman" panose="02020603050405020304" pitchFamily="18" charset="0"/>
                <a:cs typeface="Times New Roman" panose="02020603050405020304" pitchFamily="18" charset="0"/>
              </a:rPr>
              <a:t>this method, partitions are created dynamically to meet the requirements of each requesting process</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When </a:t>
            </a:r>
            <a:r>
              <a:rPr lang="en-US" dirty="0">
                <a:latin typeface="Times New Roman" panose="02020603050405020304" pitchFamily="18" charset="0"/>
                <a:cs typeface="Times New Roman" panose="02020603050405020304" pitchFamily="18" charset="0"/>
              </a:rPr>
              <a:t>a process terminates or is swapped-out, the memory manager can return the vacated space to the pool of free memory area and can be provided to another process later</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Holes </a:t>
            </a:r>
            <a:r>
              <a:rPr lang="en-US" dirty="0">
                <a:latin typeface="Times New Roman" panose="02020603050405020304" pitchFamily="18" charset="0"/>
                <a:cs typeface="Times New Roman" panose="02020603050405020304" pitchFamily="18" charset="0"/>
              </a:rPr>
              <a:t>(pieces of free memory) might be created during dynamic partitioning</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Given </a:t>
            </a:r>
            <a:r>
              <a:rPr lang="en-US" dirty="0">
                <a:latin typeface="Times New Roman" panose="02020603050405020304" pitchFamily="18" charset="0"/>
                <a:cs typeface="Times New Roman" panose="02020603050405020304" pitchFamily="18" charset="0"/>
              </a:rPr>
              <a:t>a new process, the OS must decide which hole to use for new process</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13770912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63174"/>
          </a:xfrm>
        </p:spPr>
        <p:txBody>
          <a:bodyPr>
            <a:normAutofit/>
          </a:bodyPr>
          <a:lstStyle/>
          <a:p>
            <a:r>
              <a:rPr lang="en-US" sz="2800" b="1" dirty="0">
                <a:latin typeface="Times New Roman" panose="02020603050405020304" pitchFamily="18" charset="0"/>
                <a:cs typeface="Times New Roman" panose="02020603050405020304" pitchFamily="18" charset="0"/>
              </a:rPr>
              <a:t>Contiguous Memory </a:t>
            </a:r>
            <a:r>
              <a:rPr lang="en-US" sz="2800" b="1" dirty="0" smtClean="0">
                <a:latin typeface="Times New Roman" panose="02020603050405020304" pitchFamily="18" charset="0"/>
                <a:cs typeface="Times New Roman" panose="02020603050405020304" pitchFamily="18" charset="0"/>
              </a:rPr>
              <a:t>Allocation-Dynamic Partition</a:t>
            </a:r>
            <a:endParaRPr lang="en-US" sz="2800" dirty="0"/>
          </a:p>
        </p:txBody>
      </p:sp>
      <p:pic>
        <p:nvPicPr>
          <p:cNvPr id="4" name="Content Placeholder 3"/>
          <p:cNvPicPr>
            <a:picLocks noGrp="1" noChangeAspect="1"/>
          </p:cNvPicPr>
          <p:nvPr>
            <p:ph idx="1"/>
          </p:nvPr>
        </p:nvPicPr>
        <p:blipFill>
          <a:blip r:embed="rId2"/>
          <a:stretch>
            <a:fillRect/>
          </a:stretch>
        </p:blipFill>
        <p:spPr>
          <a:xfrm>
            <a:off x="1533969" y="1392072"/>
            <a:ext cx="9124061" cy="4640238"/>
          </a:xfrm>
          <a:prstGeom prst="rect">
            <a:avLst/>
          </a:prstGeom>
        </p:spPr>
      </p:pic>
    </p:spTree>
    <p:extLst>
      <p:ext uri="{BB962C8B-B14F-4D97-AF65-F5344CB8AC3E}">
        <p14:creationId xmlns="" xmlns:p14="http://schemas.microsoft.com/office/powerpoint/2010/main" val="378451394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4302" y="187704"/>
            <a:ext cx="10515600" cy="672105"/>
          </a:xfrm>
        </p:spPr>
        <p:txBody>
          <a:bodyPr>
            <a:normAutofit/>
          </a:bodyPr>
          <a:lstStyle/>
          <a:p>
            <a:r>
              <a:rPr lang="en-US" sz="2800" b="1" dirty="0" smtClean="0">
                <a:latin typeface="Times New Roman" panose="02020603050405020304" pitchFamily="18" charset="0"/>
                <a:cs typeface="Times New Roman" panose="02020603050405020304" pitchFamily="18" charset="0"/>
              </a:rPr>
              <a:t>Fixed </a:t>
            </a:r>
            <a:r>
              <a:rPr lang="en-US" sz="2800" b="1" dirty="0" err="1" smtClean="0">
                <a:latin typeface="Times New Roman" panose="02020603050405020304" pitchFamily="18" charset="0"/>
                <a:cs typeface="Times New Roman" panose="02020603050405020304" pitchFamily="18" charset="0"/>
              </a:rPr>
              <a:t>vs</a:t>
            </a:r>
            <a:r>
              <a:rPr lang="en-US" sz="2800" b="1" dirty="0" smtClean="0">
                <a:latin typeface="Times New Roman" panose="02020603050405020304" pitchFamily="18" charset="0"/>
                <a:cs typeface="Times New Roman" panose="02020603050405020304" pitchFamily="18" charset="0"/>
              </a:rPr>
              <a:t> Variable Partitioning</a:t>
            </a:r>
            <a:endParaRPr lang="en-US" sz="2800" b="1" dirty="0">
              <a:latin typeface="Times New Roman" panose="02020603050405020304" pitchFamily="18" charset="0"/>
              <a:cs typeface="Times New Roman" panose="02020603050405020304" pitchFamily="18" charset="0"/>
            </a:endParaRPr>
          </a:p>
        </p:txBody>
      </p:sp>
      <p:graphicFrame>
        <p:nvGraphicFramePr>
          <p:cNvPr id="4" name="Content Placeholder 3"/>
          <p:cNvGraphicFramePr>
            <a:graphicFrameLocks noGrp="1"/>
          </p:cNvGraphicFramePr>
          <p:nvPr>
            <p:ph idx="1"/>
            <p:extLst>
              <p:ext uri="{D42A27DB-BD31-4B8C-83A1-F6EECF244321}">
                <p14:modId xmlns="" xmlns:p14="http://schemas.microsoft.com/office/powerpoint/2010/main" val="2335100955"/>
              </p:ext>
            </p:extLst>
          </p:nvPr>
        </p:nvGraphicFramePr>
        <p:xfrm>
          <a:off x="524302" y="996287"/>
          <a:ext cx="11376546" cy="5486400"/>
        </p:xfrm>
        <a:graphic>
          <a:graphicData uri="http://schemas.openxmlformats.org/drawingml/2006/table">
            <a:tbl>
              <a:tblPr firstRow="1" bandRow="1">
                <a:tableStyleId>{073A0DAA-6AF3-43AB-8588-CEC1D06C72B9}</a:tableStyleId>
              </a:tblPr>
              <a:tblGrid>
                <a:gridCol w="5688273"/>
                <a:gridCol w="5688273"/>
              </a:tblGrid>
              <a:tr h="370840">
                <a:tc>
                  <a:txBody>
                    <a:bodyPr/>
                    <a:lstStyle/>
                    <a:p>
                      <a:pPr algn="ctr" fontAlgn="base"/>
                      <a:r>
                        <a:rPr lang="en-US" sz="2400" b="0" dirty="0" smtClean="0">
                          <a:effectLst/>
                          <a:latin typeface="Times New Roman" panose="02020603050405020304" pitchFamily="18" charset="0"/>
                          <a:cs typeface="Times New Roman" panose="02020603050405020304" pitchFamily="18" charset="0"/>
                        </a:rPr>
                        <a:t>Fixed </a:t>
                      </a:r>
                      <a:r>
                        <a:rPr lang="en-US" sz="2400" b="0" dirty="0">
                          <a:effectLst/>
                          <a:latin typeface="Times New Roman" panose="02020603050405020304" pitchFamily="18" charset="0"/>
                          <a:cs typeface="Times New Roman" panose="02020603050405020304" pitchFamily="18" charset="0"/>
                        </a:rPr>
                        <a:t>partitioning</a:t>
                      </a:r>
                    </a:p>
                  </a:txBody>
                  <a:tcPr marL="95250" marR="95250" marT="95250" marB="95250" anchor="ctr"/>
                </a:tc>
                <a:tc>
                  <a:txBody>
                    <a:bodyPr/>
                    <a:lstStyle/>
                    <a:p>
                      <a:pPr algn="ctr" fontAlgn="base"/>
                      <a:r>
                        <a:rPr lang="en-US" sz="2400" b="0" dirty="0">
                          <a:effectLst/>
                          <a:latin typeface="Times New Roman" panose="02020603050405020304" pitchFamily="18" charset="0"/>
                          <a:cs typeface="Times New Roman" panose="02020603050405020304" pitchFamily="18" charset="0"/>
                        </a:rPr>
                        <a:t>Variable partitioning</a:t>
                      </a:r>
                    </a:p>
                  </a:txBody>
                  <a:tcPr marL="95250" marR="95250" marT="95250" marB="95250" anchor="ctr"/>
                </a:tc>
              </a:tr>
              <a:tr h="370840">
                <a:tc>
                  <a:txBody>
                    <a:bodyPr/>
                    <a:lstStyle/>
                    <a:p>
                      <a:pPr algn="l" fontAlgn="base"/>
                      <a:r>
                        <a:rPr lang="en-US" sz="2400" b="0" dirty="0">
                          <a:effectLst/>
                          <a:latin typeface="Times New Roman" panose="02020603050405020304" pitchFamily="18" charset="0"/>
                          <a:cs typeface="Times New Roman" panose="02020603050405020304" pitchFamily="18" charset="0"/>
                        </a:rPr>
                        <a:t>In multi-programming with fixed partitioning the main memory is divided into fixed sized partitions.</a:t>
                      </a:r>
                    </a:p>
                  </a:txBody>
                  <a:tcPr marL="95250" marR="95250" marT="133350" marB="133350" anchor="ctr"/>
                </a:tc>
                <a:tc>
                  <a:txBody>
                    <a:bodyPr/>
                    <a:lstStyle/>
                    <a:p>
                      <a:pPr algn="l" fontAlgn="base"/>
                      <a:r>
                        <a:rPr lang="en-US" sz="2400" b="0" dirty="0">
                          <a:effectLst/>
                          <a:latin typeface="Times New Roman" panose="02020603050405020304" pitchFamily="18" charset="0"/>
                          <a:cs typeface="Times New Roman" panose="02020603050405020304" pitchFamily="18" charset="0"/>
                        </a:rPr>
                        <a:t>In multi-programming with variable partitioning the main memory is not divided into fixed sized partitions.</a:t>
                      </a:r>
                    </a:p>
                  </a:txBody>
                  <a:tcPr marL="95250" marR="95250" marT="133350" marB="133350" anchor="ctr"/>
                </a:tc>
              </a:tr>
              <a:tr h="370840">
                <a:tc>
                  <a:txBody>
                    <a:bodyPr/>
                    <a:lstStyle/>
                    <a:p>
                      <a:pPr algn="l" fontAlgn="base"/>
                      <a:r>
                        <a:rPr lang="en-US" sz="2400" b="0" dirty="0">
                          <a:effectLst/>
                          <a:latin typeface="Times New Roman" panose="02020603050405020304" pitchFamily="18" charset="0"/>
                          <a:cs typeface="Times New Roman" panose="02020603050405020304" pitchFamily="18" charset="0"/>
                        </a:rPr>
                        <a:t>Only one process can be placed in a partition.</a:t>
                      </a:r>
                    </a:p>
                  </a:txBody>
                  <a:tcPr marL="95250" marR="95250" marT="133350" marB="133350" anchor="ctr"/>
                </a:tc>
                <a:tc>
                  <a:txBody>
                    <a:bodyPr/>
                    <a:lstStyle/>
                    <a:p>
                      <a:pPr algn="l" fontAlgn="base"/>
                      <a:r>
                        <a:rPr lang="en-US" sz="2400" b="0" dirty="0">
                          <a:effectLst/>
                          <a:latin typeface="Times New Roman" panose="02020603050405020304" pitchFamily="18" charset="0"/>
                          <a:cs typeface="Times New Roman" panose="02020603050405020304" pitchFamily="18" charset="0"/>
                        </a:rPr>
                        <a:t>In variable partitioning, the process is allocated a chunk of free memory</a:t>
                      </a:r>
                    </a:p>
                  </a:txBody>
                  <a:tcPr marL="95250" marR="95250" marT="133350" marB="133350" anchor="ctr"/>
                </a:tc>
              </a:tr>
              <a:tr h="370840">
                <a:tc>
                  <a:txBody>
                    <a:bodyPr/>
                    <a:lstStyle/>
                    <a:p>
                      <a:pPr algn="l" fontAlgn="base"/>
                      <a:r>
                        <a:rPr lang="en-US" sz="2400" b="0" dirty="0">
                          <a:effectLst/>
                          <a:latin typeface="Times New Roman" panose="02020603050405020304" pitchFamily="18" charset="0"/>
                          <a:cs typeface="Times New Roman" panose="02020603050405020304" pitchFamily="18" charset="0"/>
                        </a:rPr>
                        <a:t>It does not utilize the main memory effectively.</a:t>
                      </a:r>
                    </a:p>
                  </a:txBody>
                  <a:tcPr marL="95250" marR="95250" marT="133350" marB="133350" anchor="ctr"/>
                </a:tc>
                <a:tc>
                  <a:txBody>
                    <a:bodyPr/>
                    <a:lstStyle/>
                    <a:p>
                      <a:pPr algn="l" fontAlgn="base"/>
                      <a:r>
                        <a:rPr lang="en-US" sz="2400" b="0" dirty="0">
                          <a:effectLst/>
                          <a:latin typeface="Times New Roman" panose="02020603050405020304" pitchFamily="18" charset="0"/>
                          <a:cs typeface="Times New Roman" panose="02020603050405020304" pitchFamily="18" charset="0"/>
                        </a:rPr>
                        <a:t>It utilizes the main memory effectively.</a:t>
                      </a:r>
                    </a:p>
                  </a:txBody>
                  <a:tcPr marL="95250" marR="95250" marT="133350" marB="133350" anchor="ctr"/>
                </a:tc>
              </a:tr>
              <a:tr h="370840">
                <a:tc>
                  <a:txBody>
                    <a:bodyPr/>
                    <a:lstStyle/>
                    <a:p>
                      <a:pPr algn="l" fontAlgn="base"/>
                      <a:r>
                        <a:rPr lang="en-US" sz="2400" b="0" dirty="0">
                          <a:effectLst/>
                          <a:latin typeface="Times New Roman" panose="02020603050405020304" pitchFamily="18" charset="0"/>
                          <a:cs typeface="Times New Roman" panose="02020603050405020304" pitchFamily="18" charset="0"/>
                        </a:rPr>
                        <a:t>There is presence of internal fragmentation and external fragmentation.</a:t>
                      </a:r>
                    </a:p>
                  </a:txBody>
                  <a:tcPr marL="95250" marR="95250" marT="133350" marB="133350" anchor="ctr"/>
                </a:tc>
                <a:tc>
                  <a:txBody>
                    <a:bodyPr/>
                    <a:lstStyle/>
                    <a:p>
                      <a:pPr algn="l" fontAlgn="base"/>
                      <a:r>
                        <a:rPr lang="en-US" sz="2400" b="0" dirty="0">
                          <a:effectLst/>
                          <a:latin typeface="Times New Roman" panose="02020603050405020304" pitchFamily="18" charset="0"/>
                          <a:cs typeface="Times New Roman" panose="02020603050405020304" pitchFamily="18" charset="0"/>
                        </a:rPr>
                        <a:t>There is external fragmentation.</a:t>
                      </a:r>
                    </a:p>
                  </a:txBody>
                  <a:tcPr marL="95250" marR="95250" marT="133350" marB="133350" anchor="ctr"/>
                </a:tc>
              </a:tr>
              <a:tr h="370840">
                <a:tc>
                  <a:txBody>
                    <a:bodyPr/>
                    <a:lstStyle/>
                    <a:p>
                      <a:pPr algn="l" fontAlgn="base"/>
                      <a:r>
                        <a:rPr lang="en-US" sz="2000" b="0" dirty="0">
                          <a:effectLst/>
                          <a:latin typeface="Times New Roman" panose="02020603050405020304" pitchFamily="18" charset="0"/>
                          <a:cs typeface="Times New Roman" panose="02020603050405020304" pitchFamily="18" charset="0"/>
                        </a:rPr>
                        <a:t>It is more easier to implement.</a:t>
                      </a:r>
                    </a:p>
                  </a:txBody>
                  <a:tcPr marL="95250" marR="95250" marT="133350" marB="133350" anchor="ctr"/>
                </a:tc>
                <a:tc>
                  <a:txBody>
                    <a:bodyPr/>
                    <a:lstStyle/>
                    <a:p>
                      <a:pPr algn="l" fontAlgn="base"/>
                      <a:r>
                        <a:rPr lang="en-US" sz="2000" b="0" dirty="0">
                          <a:effectLst/>
                          <a:latin typeface="Times New Roman" panose="02020603050405020304" pitchFamily="18" charset="0"/>
                          <a:cs typeface="Times New Roman" panose="02020603050405020304" pitchFamily="18" charset="0"/>
                        </a:rPr>
                        <a:t>It is less easier to implement.</a:t>
                      </a:r>
                    </a:p>
                  </a:txBody>
                  <a:tcPr marL="95250" marR="95250" marT="133350" marB="133350" anchor="ctr"/>
                </a:tc>
              </a:tr>
            </a:tbl>
          </a:graphicData>
        </a:graphic>
      </p:graphicFrame>
    </p:spTree>
    <p:extLst>
      <p:ext uri="{BB962C8B-B14F-4D97-AF65-F5344CB8AC3E}">
        <p14:creationId xmlns="" xmlns:p14="http://schemas.microsoft.com/office/powerpoint/2010/main" val="203381843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4510" y="474307"/>
            <a:ext cx="10515600" cy="672105"/>
          </a:xfrm>
        </p:spPr>
        <p:txBody>
          <a:bodyPr>
            <a:normAutofit/>
          </a:bodyPr>
          <a:lstStyle/>
          <a:p>
            <a:r>
              <a:rPr lang="en-US" sz="2800" b="1" dirty="0">
                <a:latin typeface="Times New Roman" panose="02020603050405020304" pitchFamily="18" charset="0"/>
                <a:cs typeface="Times New Roman" panose="02020603050405020304" pitchFamily="18" charset="0"/>
              </a:rPr>
              <a:t>External Fragmentation</a:t>
            </a:r>
          </a:p>
        </p:txBody>
      </p:sp>
      <p:sp>
        <p:nvSpPr>
          <p:cNvPr id="4" name="Content Placeholder 3"/>
          <p:cNvSpPr>
            <a:spLocks noGrp="1"/>
          </p:cNvSpPr>
          <p:nvPr>
            <p:ph sz="half" idx="1"/>
          </p:nvPr>
        </p:nvSpPr>
        <p:spPr>
          <a:xfrm>
            <a:off x="586853" y="1528549"/>
            <a:ext cx="5445457" cy="4743948"/>
          </a:xfrm>
        </p:spPr>
        <p:txBody>
          <a:bodyPr/>
          <a:lstStyle/>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Frequent </a:t>
            </a:r>
            <a:r>
              <a:rPr lang="en-US" dirty="0">
                <a:latin typeface="Times New Roman" panose="02020603050405020304" pitchFamily="18" charset="0"/>
                <a:cs typeface="Times New Roman" panose="02020603050405020304" pitchFamily="18" charset="0"/>
              </a:rPr>
              <a:t>loading and unloading of programs  causes free space to be broken into little pieces</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External </a:t>
            </a:r>
            <a:r>
              <a:rPr lang="en-US" dirty="0">
                <a:latin typeface="Times New Roman" panose="02020603050405020304" pitchFamily="18" charset="0"/>
                <a:cs typeface="Times New Roman" panose="02020603050405020304" pitchFamily="18" charset="0"/>
              </a:rPr>
              <a:t>fragmentation exists when there is enough memory  to fit a process in memory, but the space is not contiguous</a:t>
            </a:r>
          </a:p>
          <a:p>
            <a:pPr marL="0" indent="0">
              <a:buNone/>
            </a:pPr>
            <a:endParaRPr lang="en-US" dirty="0"/>
          </a:p>
        </p:txBody>
      </p:sp>
      <p:pic>
        <p:nvPicPr>
          <p:cNvPr id="6" name="Content Placeholder 5"/>
          <p:cNvPicPr>
            <a:picLocks noGrp="1" noChangeAspect="1"/>
          </p:cNvPicPr>
          <p:nvPr>
            <p:ph sz="half" idx="2"/>
          </p:nvPr>
        </p:nvPicPr>
        <p:blipFill>
          <a:blip r:embed="rId2">
            <a:extLst>
              <a:ext uri="{28A0092B-C50C-407E-A947-70E740481C1C}">
                <a14:useLocalDpi xmlns="" xmlns:a14="http://schemas.microsoft.com/office/drawing/2010/main" val="0"/>
              </a:ext>
            </a:extLst>
          </a:blip>
          <a:stretch>
            <a:fillRect/>
          </a:stretch>
        </p:blipFill>
        <p:spPr>
          <a:xfrm>
            <a:off x="6267734" y="1787858"/>
            <a:ext cx="5619466" cy="2806910"/>
          </a:xfrm>
        </p:spPr>
      </p:pic>
    </p:spTree>
    <p:extLst>
      <p:ext uri="{BB962C8B-B14F-4D97-AF65-F5344CB8AC3E}">
        <p14:creationId xmlns="" xmlns:p14="http://schemas.microsoft.com/office/powerpoint/2010/main" val="328001383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53991"/>
          </a:xfrm>
        </p:spPr>
        <p:txBody>
          <a:bodyPr>
            <a:normAutofit/>
          </a:bodyPr>
          <a:lstStyle/>
          <a:p>
            <a:r>
              <a:rPr lang="en-US" sz="2800" b="1" dirty="0">
                <a:latin typeface="Times New Roman" panose="02020603050405020304" pitchFamily="18" charset="0"/>
                <a:cs typeface="Times New Roman" panose="02020603050405020304" pitchFamily="18" charset="0"/>
              </a:rPr>
              <a:t>Memory Allocation Policies</a:t>
            </a:r>
          </a:p>
        </p:txBody>
      </p:sp>
      <p:sp>
        <p:nvSpPr>
          <p:cNvPr id="5" name="Content Placeholder 4"/>
          <p:cNvSpPr>
            <a:spLocks noGrp="1"/>
          </p:cNvSpPr>
          <p:nvPr>
            <p:ph idx="1"/>
          </p:nvPr>
        </p:nvSpPr>
        <p:spPr>
          <a:xfrm>
            <a:off x="838200" y="1351128"/>
            <a:ext cx="10515600" cy="4825835"/>
          </a:xfrm>
        </p:spPr>
        <p:txBody>
          <a:bodyPr>
            <a:normAutofit/>
          </a:bodyPr>
          <a:lstStyle/>
          <a:p>
            <a:pPr marL="514350" indent="-514350">
              <a:buFont typeface="+mj-lt"/>
              <a:buAutoNum type="arabicPeriod"/>
            </a:pPr>
            <a:r>
              <a:rPr lang="en-US" b="1" dirty="0" smtClean="0">
                <a:latin typeface="Times New Roman" panose="02020603050405020304" pitchFamily="18" charset="0"/>
                <a:cs typeface="Times New Roman" panose="02020603050405020304" pitchFamily="18" charset="0"/>
              </a:rPr>
              <a:t>First-Fit</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memory manager allocates the first hole that is big enough. It stops the searching as soon as it finds a free hole that is large enough</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Advantages</a:t>
            </a:r>
            <a:r>
              <a:rPr lang="en-US" dirty="0">
                <a:latin typeface="Times New Roman" panose="02020603050405020304" pitchFamily="18" charset="0"/>
                <a:cs typeface="Times New Roman" panose="02020603050405020304" pitchFamily="18" charset="0"/>
              </a:rPr>
              <a:t>: It is a fast algorithm because it searches as little as possible</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Disadvantages</a:t>
            </a:r>
            <a:r>
              <a:rPr lang="en-US" dirty="0">
                <a:latin typeface="Times New Roman" panose="02020603050405020304" pitchFamily="18" charset="0"/>
                <a:cs typeface="Times New Roman" panose="02020603050405020304" pitchFamily="18" charset="0"/>
              </a:rPr>
              <a:t>: Not good in terms of storage utilization</a:t>
            </a:r>
          </a:p>
          <a:p>
            <a:pPr marL="0" indent="0">
              <a:buNone/>
            </a:pPr>
            <a:r>
              <a:rPr lang="en-US" b="1" dirty="0" smtClean="0">
                <a:latin typeface="Times New Roman" panose="02020603050405020304" pitchFamily="18" charset="0"/>
                <a:cs typeface="Times New Roman" panose="02020603050405020304" pitchFamily="18" charset="0"/>
              </a:rPr>
              <a:t>2.   Next-Fit</a:t>
            </a:r>
            <a:endParaRPr lang="en-US"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Variation </a:t>
            </a:r>
            <a:r>
              <a:rPr lang="en-US" dirty="0">
                <a:latin typeface="Times New Roman" panose="02020603050405020304" pitchFamily="18" charset="0"/>
                <a:cs typeface="Times New Roman" panose="02020603050405020304" pitchFamily="18" charset="0"/>
              </a:rPr>
              <a:t>of first fit</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It </a:t>
            </a:r>
            <a:r>
              <a:rPr lang="en-US" dirty="0">
                <a:latin typeface="Times New Roman" panose="02020603050405020304" pitchFamily="18" charset="0"/>
                <a:cs typeface="Times New Roman" panose="02020603050405020304" pitchFamily="18" charset="0"/>
              </a:rPr>
              <a:t>works the same way as first fit, except that it keeps track of where it is whenever it finds a suitable hole</a:t>
            </a:r>
          </a:p>
          <a:p>
            <a:pPr marL="0" indent="0">
              <a:buNone/>
            </a:pPr>
            <a:endParaRPr lang="en-US" dirty="0"/>
          </a:p>
        </p:txBody>
      </p:sp>
    </p:spTree>
    <p:extLst>
      <p:ext uri="{BB962C8B-B14F-4D97-AF65-F5344CB8AC3E}">
        <p14:creationId xmlns="" xmlns:p14="http://schemas.microsoft.com/office/powerpoint/2010/main" val="98457476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53991"/>
          </a:xfrm>
        </p:spPr>
        <p:txBody>
          <a:bodyPr>
            <a:normAutofit/>
          </a:bodyPr>
          <a:lstStyle/>
          <a:p>
            <a:r>
              <a:rPr lang="en-US" sz="2800" b="1" dirty="0">
                <a:latin typeface="Times New Roman" panose="02020603050405020304" pitchFamily="18" charset="0"/>
                <a:cs typeface="Times New Roman" panose="02020603050405020304" pitchFamily="18" charset="0"/>
              </a:rPr>
              <a:t>Memory Allocation Policies</a:t>
            </a:r>
          </a:p>
        </p:txBody>
      </p:sp>
      <p:sp>
        <p:nvSpPr>
          <p:cNvPr id="5" name="Content Placeholder 4"/>
          <p:cNvSpPr>
            <a:spLocks noGrp="1"/>
          </p:cNvSpPr>
          <p:nvPr>
            <p:ph idx="1"/>
          </p:nvPr>
        </p:nvSpPr>
        <p:spPr>
          <a:xfrm>
            <a:off x="838200" y="1351128"/>
            <a:ext cx="10515600" cy="4825835"/>
          </a:xfrm>
        </p:spPr>
        <p:txBody>
          <a:bodyPr>
            <a:normAutofit/>
          </a:bodyPr>
          <a:lstStyle/>
          <a:p>
            <a:pPr marL="514350" indent="-514350">
              <a:buAutoNum type="arabicPeriod" startAt="3"/>
            </a:pPr>
            <a:r>
              <a:rPr lang="en-US" b="1" dirty="0" smtClean="0">
                <a:latin typeface="Times New Roman" panose="02020603050405020304" pitchFamily="18" charset="0"/>
                <a:cs typeface="Times New Roman" panose="02020603050405020304" pitchFamily="18" charset="0"/>
              </a:rPr>
              <a:t>Best-Fit</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Allocate the smallest hole that is big enough for a process</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OS must search the entire list of holes or store the list sorted by size of the hole</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Best </a:t>
            </a:r>
            <a:r>
              <a:rPr lang="en-US" dirty="0">
                <a:latin typeface="Times New Roman" panose="02020603050405020304" pitchFamily="18" charset="0"/>
                <a:cs typeface="Times New Roman" panose="02020603050405020304" pitchFamily="18" charset="0"/>
              </a:rPr>
              <a:t>fit try to find a hole that is close to the actual size needed.</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Advantages</a:t>
            </a:r>
            <a:r>
              <a:rPr lang="en-US" dirty="0">
                <a:latin typeface="Times New Roman" panose="02020603050405020304" pitchFamily="18" charset="0"/>
                <a:cs typeface="Times New Roman" panose="02020603050405020304" pitchFamily="18" charset="0"/>
              </a:rPr>
              <a:t>: more storage utilization than first fit.</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Disadvantages</a:t>
            </a:r>
            <a:r>
              <a:rPr lang="en-US" dirty="0">
                <a:latin typeface="Times New Roman" panose="02020603050405020304" pitchFamily="18" charset="0"/>
                <a:cs typeface="Times New Roman" panose="02020603050405020304" pitchFamily="18" charset="0"/>
              </a:rPr>
              <a:t>: slower than first fit because it   requires searching whole list at time. </a:t>
            </a:r>
          </a:p>
          <a:p>
            <a:pPr marL="0" indent="0">
              <a:buNone/>
            </a:pP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200152556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53991"/>
          </a:xfrm>
        </p:spPr>
        <p:txBody>
          <a:bodyPr>
            <a:normAutofit/>
          </a:bodyPr>
          <a:lstStyle/>
          <a:p>
            <a:r>
              <a:rPr lang="en-US" sz="2800" b="1" dirty="0">
                <a:latin typeface="Times New Roman" panose="02020603050405020304" pitchFamily="18" charset="0"/>
                <a:cs typeface="Times New Roman" panose="02020603050405020304" pitchFamily="18" charset="0"/>
              </a:rPr>
              <a:t>Memory Allocation Policies</a:t>
            </a:r>
          </a:p>
        </p:txBody>
      </p:sp>
      <p:sp>
        <p:nvSpPr>
          <p:cNvPr id="5" name="Content Placeholder 4"/>
          <p:cNvSpPr>
            <a:spLocks noGrp="1"/>
          </p:cNvSpPr>
          <p:nvPr>
            <p:ph idx="1"/>
          </p:nvPr>
        </p:nvSpPr>
        <p:spPr>
          <a:xfrm>
            <a:off x="838200" y="1351128"/>
            <a:ext cx="10515600" cy="5227093"/>
          </a:xfrm>
        </p:spPr>
        <p:txBody>
          <a:bodyPr>
            <a:normAutofit fontScale="92500" lnSpcReduction="10000"/>
          </a:bodyPr>
          <a:lstStyle/>
          <a:p>
            <a:pPr marL="0" indent="0">
              <a:buNone/>
            </a:pPr>
            <a:r>
              <a:rPr lang="en-US" sz="3000" b="1" dirty="0" smtClean="0">
                <a:latin typeface="Times New Roman" panose="02020603050405020304" pitchFamily="18" charset="0"/>
                <a:cs typeface="Times New Roman" panose="02020603050405020304" pitchFamily="18" charset="0"/>
              </a:rPr>
              <a:t>4.   Worst-Fit</a:t>
            </a:r>
            <a:endParaRPr lang="en-US" sz="3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3000" dirty="0" smtClean="0">
                <a:latin typeface="Times New Roman" panose="02020603050405020304" pitchFamily="18" charset="0"/>
                <a:cs typeface="Times New Roman" panose="02020603050405020304" pitchFamily="18" charset="0"/>
              </a:rPr>
              <a:t>Allocate </a:t>
            </a:r>
            <a:r>
              <a:rPr lang="en-US" sz="3000" dirty="0">
                <a:latin typeface="Times New Roman" panose="02020603050405020304" pitchFamily="18" charset="0"/>
                <a:cs typeface="Times New Roman" panose="02020603050405020304" pitchFamily="18" charset="0"/>
              </a:rPr>
              <a:t>the largest hole</a:t>
            </a:r>
          </a:p>
          <a:p>
            <a:pPr>
              <a:buFont typeface="Wingdings" panose="05000000000000000000" pitchFamily="2" charset="2"/>
              <a:buChar char="v"/>
            </a:pPr>
            <a:r>
              <a:rPr lang="en-US" sz="3000" dirty="0" smtClean="0">
                <a:latin typeface="Times New Roman" panose="02020603050405020304" pitchFamily="18" charset="0"/>
                <a:cs typeface="Times New Roman" panose="02020603050405020304" pitchFamily="18" charset="0"/>
              </a:rPr>
              <a:t>It </a:t>
            </a:r>
            <a:r>
              <a:rPr lang="en-US" sz="3000" dirty="0">
                <a:latin typeface="Times New Roman" panose="02020603050405020304" pitchFamily="18" charset="0"/>
                <a:cs typeface="Times New Roman" panose="02020603050405020304" pitchFamily="18" charset="0"/>
              </a:rPr>
              <a:t>search the entire list, and takes the largest hole, rather than creating a tiny hole</a:t>
            </a:r>
          </a:p>
          <a:p>
            <a:pPr>
              <a:buFont typeface="Wingdings" panose="05000000000000000000" pitchFamily="2" charset="2"/>
              <a:buChar char="v"/>
            </a:pPr>
            <a:r>
              <a:rPr lang="en-US" sz="3000" dirty="0" smtClean="0">
                <a:latin typeface="Times New Roman" panose="02020603050405020304" pitchFamily="18" charset="0"/>
                <a:cs typeface="Times New Roman" panose="02020603050405020304" pitchFamily="18" charset="0"/>
              </a:rPr>
              <a:t>It </a:t>
            </a:r>
            <a:r>
              <a:rPr lang="en-US" sz="3000" dirty="0">
                <a:latin typeface="Times New Roman" panose="02020603050405020304" pitchFamily="18" charset="0"/>
                <a:cs typeface="Times New Roman" panose="02020603050405020304" pitchFamily="18" charset="0"/>
              </a:rPr>
              <a:t>produces the largest leftover hole, which may be more useful</a:t>
            </a:r>
          </a:p>
          <a:p>
            <a:pPr>
              <a:buFont typeface="Wingdings" panose="05000000000000000000" pitchFamily="2" charset="2"/>
              <a:buChar char="v"/>
            </a:pPr>
            <a:r>
              <a:rPr lang="en-US" sz="3000" dirty="0" smtClean="0">
                <a:latin typeface="Times New Roman" panose="02020603050405020304" pitchFamily="18" charset="0"/>
                <a:cs typeface="Times New Roman" panose="02020603050405020304" pitchFamily="18" charset="0"/>
              </a:rPr>
              <a:t>Advantages</a:t>
            </a:r>
            <a:r>
              <a:rPr lang="en-US" sz="3000" dirty="0">
                <a:latin typeface="Times New Roman" panose="02020603050405020304" pitchFamily="18" charset="0"/>
                <a:cs typeface="Times New Roman" panose="02020603050405020304" pitchFamily="18" charset="0"/>
              </a:rPr>
              <a:t>: some time it has more storage utilization than first fit and best fit.</a:t>
            </a:r>
          </a:p>
          <a:p>
            <a:pPr>
              <a:buFont typeface="Wingdings" panose="05000000000000000000" pitchFamily="2" charset="2"/>
              <a:buChar char="v"/>
            </a:pPr>
            <a:r>
              <a:rPr lang="en-US" sz="3000" dirty="0" smtClean="0">
                <a:latin typeface="Times New Roman" panose="02020603050405020304" pitchFamily="18" charset="0"/>
                <a:cs typeface="Times New Roman" panose="02020603050405020304" pitchFamily="18" charset="0"/>
              </a:rPr>
              <a:t>Disadvantages</a:t>
            </a:r>
            <a:r>
              <a:rPr lang="en-US" sz="3000" dirty="0">
                <a:latin typeface="Times New Roman" panose="02020603050405020304" pitchFamily="18" charset="0"/>
                <a:cs typeface="Times New Roman" panose="02020603050405020304" pitchFamily="18" charset="0"/>
              </a:rPr>
              <a:t>: not good for both performance and utilization.</a:t>
            </a:r>
          </a:p>
          <a:p>
            <a:endParaRPr lang="en-US" sz="3000" dirty="0" smtClean="0">
              <a:latin typeface="Times New Roman" panose="02020603050405020304" pitchFamily="18" charset="0"/>
              <a:cs typeface="Times New Roman" panose="02020603050405020304" pitchFamily="18" charset="0"/>
            </a:endParaRPr>
          </a:p>
          <a:p>
            <a:r>
              <a:rPr lang="en-US" sz="3000" dirty="0" smtClean="0">
                <a:latin typeface="Times New Roman" panose="02020603050405020304" pitchFamily="18" charset="0"/>
                <a:cs typeface="Times New Roman" panose="02020603050405020304" pitchFamily="18" charset="0"/>
              </a:rPr>
              <a:t>Note</a:t>
            </a:r>
            <a:r>
              <a:rPr lang="en-US" sz="3000" dirty="0">
                <a:latin typeface="Times New Roman" panose="02020603050405020304" pitchFamily="18" charset="0"/>
                <a:cs typeface="Times New Roman" panose="02020603050405020304" pitchFamily="18" charset="0"/>
              </a:rPr>
              <a:t>: Simulations show that first-fit(including next-fit) and best-fit usually yield better storage utilization than worst-fit. First-fit is generally faster than best-fit</a:t>
            </a:r>
          </a:p>
          <a:p>
            <a:pPr marL="0" indent="0">
              <a:buNone/>
            </a:pP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311416276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5001"/>
            <a:ext cx="10515600" cy="726696"/>
          </a:xfrm>
        </p:spPr>
        <p:txBody>
          <a:bodyPr>
            <a:normAutofit/>
          </a:bodyPr>
          <a:lstStyle/>
          <a:p>
            <a:r>
              <a:rPr lang="en-US" sz="2800" b="1" dirty="0">
                <a:latin typeface="Times New Roman" panose="02020603050405020304" pitchFamily="18" charset="0"/>
                <a:cs typeface="Times New Roman" panose="02020603050405020304" pitchFamily="18" charset="0"/>
              </a:rPr>
              <a:t>Memory Allocation Policies : Problem</a:t>
            </a:r>
          </a:p>
        </p:txBody>
      </p:sp>
      <p:pic>
        <p:nvPicPr>
          <p:cNvPr id="4" name="Content Placeholder 3"/>
          <p:cNvPicPr>
            <a:picLocks noGrp="1" noChangeAspect="1"/>
          </p:cNvPicPr>
          <p:nvPr>
            <p:ph idx="1"/>
          </p:nvPr>
        </p:nvPicPr>
        <p:blipFill>
          <a:blip r:embed="rId2"/>
          <a:stretch>
            <a:fillRect/>
          </a:stretch>
        </p:blipFill>
        <p:spPr>
          <a:xfrm>
            <a:off x="1651380" y="1091822"/>
            <a:ext cx="8491182" cy="5308978"/>
          </a:xfrm>
          <a:prstGeom prst="rect">
            <a:avLst/>
          </a:prstGeom>
        </p:spPr>
      </p:pic>
    </p:spTree>
    <p:extLst>
      <p:ext uri="{BB962C8B-B14F-4D97-AF65-F5344CB8AC3E}">
        <p14:creationId xmlns="" xmlns:p14="http://schemas.microsoft.com/office/powerpoint/2010/main" val="217583653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7256" y="201353"/>
            <a:ext cx="10515600" cy="726696"/>
          </a:xfrm>
        </p:spPr>
        <p:txBody>
          <a:bodyPr>
            <a:normAutofit/>
          </a:bodyPr>
          <a:lstStyle/>
          <a:p>
            <a:r>
              <a:rPr lang="en-US" sz="2800" b="1" dirty="0">
                <a:latin typeface="Times New Roman" panose="02020603050405020304" pitchFamily="18" charset="0"/>
                <a:cs typeface="Times New Roman" panose="02020603050405020304" pitchFamily="18" charset="0"/>
              </a:rPr>
              <a:t>Memory Allocation Policies : </a:t>
            </a:r>
            <a:r>
              <a:rPr lang="en-US" sz="2800" b="1" dirty="0" smtClean="0">
                <a:latin typeface="Times New Roman" panose="02020603050405020304" pitchFamily="18" charset="0"/>
                <a:cs typeface="Times New Roman" panose="02020603050405020304" pitchFamily="18" charset="0"/>
              </a:rPr>
              <a:t>Solution</a:t>
            </a:r>
            <a:endParaRPr lang="en-US" sz="2800" b="1" dirty="0">
              <a:latin typeface="Times New Roman" panose="02020603050405020304" pitchFamily="18" charset="0"/>
              <a:cs typeface="Times New Roman" panose="02020603050405020304" pitchFamily="18" charset="0"/>
            </a:endParaRPr>
          </a:p>
        </p:txBody>
      </p:sp>
      <p:pic>
        <p:nvPicPr>
          <p:cNvPr id="6" name="Content Placeholder 5"/>
          <p:cNvPicPr>
            <a:picLocks noGrp="1" noChangeAspect="1"/>
          </p:cNvPicPr>
          <p:nvPr>
            <p:ph idx="1"/>
          </p:nvPr>
        </p:nvPicPr>
        <p:blipFill>
          <a:blip r:embed="rId2"/>
          <a:stretch>
            <a:fillRect/>
          </a:stretch>
        </p:blipFill>
        <p:spPr>
          <a:xfrm>
            <a:off x="1555844" y="1146412"/>
            <a:ext cx="9512490" cy="5227092"/>
          </a:xfrm>
          <a:prstGeom prst="rect">
            <a:avLst/>
          </a:prstGeom>
        </p:spPr>
      </p:pic>
    </p:spTree>
    <p:extLst>
      <p:ext uri="{BB962C8B-B14F-4D97-AF65-F5344CB8AC3E}">
        <p14:creationId xmlns="" xmlns:p14="http://schemas.microsoft.com/office/powerpoint/2010/main" val="12858728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7256" y="201353"/>
            <a:ext cx="10515600" cy="726696"/>
          </a:xfrm>
        </p:spPr>
        <p:txBody>
          <a:bodyPr>
            <a:normAutofit/>
          </a:bodyPr>
          <a:lstStyle/>
          <a:p>
            <a:r>
              <a:rPr lang="en-US" sz="2800" b="1" dirty="0">
                <a:latin typeface="Times New Roman" panose="02020603050405020304" pitchFamily="18" charset="0"/>
                <a:cs typeface="Times New Roman" panose="02020603050405020304" pitchFamily="18" charset="0"/>
              </a:rPr>
              <a:t>Memory Allocation Policies : </a:t>
            </a:r>
            <a:r>
              <a:rPr lang="en-US" sz="2800" b="1" dirty="0" smtClean="0">
                <a:latin typeface="Times New Roman" panose="02020603050405020304" pitchFamily="18" charset="0"/>
                <a:cs typeface="Times New Roman" panose="02020603050405020304" pitchFamily="18" charset="0"/>
              </a:rPr>
              <a:t>Solution</a:t>
            </a:r>
            <a:endParaRPr lang="en-US" sz="2800" b="1"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1958672" y="1132764"/>
            <a:ext cx="7867716" cy="5336275"/>
          </a:xfrm>
          <a:prstGeom prst="rect">
            <a:avLst/>
          </a:prstGeom>
        </p:spPr>
      </p:pic>
    </p:spTree>
    <p:extLst>
      <p:ext uri="{BB962C8B-B14F-4D97-AF65-F5344CB8AC3E}">
        <p14:creationId xmlns="" xmlns:p14="http://schemas.microsoft.com/office/powerpoint/2010/main" val="400038936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7256" y="201353"/>
            <a:ext cx="10515600" cy="726696"/>
          </a:xfrm>
        </p:spPr>
        <p:txBody>
          <a:bodyPr>
            <a:normAutofit/>
          </a:bodyPr>
          <a:lstStyle/>
          <a:p>
            <a:r>
              <a:rPr lang="en-US" sz="2800" b="1" dirty="0">
                <a:latin typeface="Times New Roman" panose="02020603050405020304" pitchFamily="18" charset="0"/>
                <a:cs typeface="Times New Roman" panose="02020603050405020304" pitchFamily="18" charset="0"/>
              </a:rPr>
              <a:t>Memory Allocation Policies : </a:t>
            </a:r>
            <a:r>
              <a:rPr lang="en-US" sz="2800" b="1" dirty="0" smtClean="0">
                <a:latin typeface="Times New Roman" panose="02020603050405020304" pitchFamily="18" charset="0"/>
                <a:cs typeface="Times New Roman" panose="02020603050405020304" pitchFamily="18" charset="0"/>
              </a:rPr>
              <a:t>Solution</a:t>
            </a:r>
            <a:endParaRPr lang="en-US" sz="2800" b="1"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1514902" y="1255594"/>
            <a:ext cx="8311486" cy="4872251"/>
          </a:xfrm>
          <a:prstGeom prst="rect">
            <a:avLst/>
          </a:prstGeom>
        </p:spPr>
      </p:pic>
    </p:spTree>
    <p:extLst>
      <p:ext uri="{BB962C8B-B14F-4D97-AF65-F5344CB8AC3E}">
        <p14:creationId xmlns="" xmlns:p14="http://schemas.microsoft.com/office/powerpoint/2010/main" val="294657476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7256" y="201353"/>
            <a:ext cx="10515600" cy="726696"/>
          </a:xfrm>
        </p:spPr>
        <p:txBody>
          <a:bodyPr>
            <a:normAutofit/>
          </a:bodyPr>
          <a:lstStyle/>
          <a:p>
            <a:r>
              <a:rPr lang="en-US" sz="2800" b="1" dirty="0">
                <a:latin typeface="Times New Roman" panose="02020603050405020304" pitchFamily="18" charset="0"/>
                <a:cs typeface="Times New Roman" panose="02020603050405020304" pitchFamily="18" charset="0"/>
              </a:rPr>
              <a:t>Memory Allocation Policies : </a:t>
            </a:r>
            <a:r>
              <a:rPr lang="en-US" sz="2800" b="1" dirty="0" smtClean="0">
                <a:latin typeface="Times New Roman" panose="02020603050405020304" pitchFamily="18" charset="0"/>
                <a:cs typeface="Times New Roman" panose="02020603050405020304" pitchFamily="18" charset="0"/>
              </a:rPr>
              <a:t>Problem</a:t>
            </a:r>
            <a:endParaRPr lang="en-US" sz="2800" b="1"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1050878" y="1173708"/>
            <a:ext cx="9306635" cy="5090615"/>
          </a:xfrm>
          <a:prstGeom prst="rect">
            <a:avLst/>
          </a:prstGeom>
        </p:spPr>
      </p:pic>
    </p:spTree>
    <p:extLst>
      <p:ext uri="{BB962C8B-B14F-4D97-AF65-F5344CB8AC3E}">
        <p14:creationId xmlns="" xmlns:p14="http://schemas.microsoft.com/office/powerpoint/2010/main" val="349793415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7256" y="201353"/>
            <a:ext cx="10515600" cy="726696"/>
          </a:xfrm>
        </p:spPr>
        <p:txBody>
          <a:bodyPr>
            <a:normAutofit/>
          </a:bodyPr>
          <a:lstStyle/>
          <a:p>
            <a:r>
              <a:rPr lang="en-US" sz="2800" b="1" dirty="0">
                <a:latin typeface="Times New Roman" panose="02020603050405020304" pitchFamily="18" charset="0"/>
                <a:cs typeface="Times New Roman" panose="02020603050405020304" pitchFamily="18" charset="0"/>
              </a:rPr>
              <a:t>Memory Allocation Policies : </a:t>
            </a:r>
            <a:r>
              <a:rPr lang="en-US" sz="2800" b="1" dirty="0" smtClean="0">
                <a:latin typeface="Times New Roman" panose="02020603050405020304" pitchFamily="18" charset="0"/>
                <a:cs typeface="Times New Roman" panose="02020603050405020304" pitchFamily="18" charset="0"/>
              </a:rPr>
              <a:t>Solution</a:t>
            </a:r>
            <a:endParaRPr lang="en-US" sz="2800" b="1"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1249553" y="1241945"/>
            <a:ext cx="8645073" cy="4572001"/>
          </a:xfrm>
          <a:prstGeom prst="rect">
            <a:avLst/>
          </a:prstGeom>
        </p:spPr>
      </p:pic>
    </p:spTree>
    <p:extLst>
      <p:ext uri="{BB962C8B-B14F-4D97-AF65-F5344CB8AC3E}">
        <p14:creationId xmlns="" xmlns:p14="http://schemas.microsoft.com/office/powerpoint/2010/main" val="274380590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38200" y="365125"/>
            <a:ext cx="10515600" cy="794935"/>
          </a:xfrm>
        </p:spPr>
        <p:txBody>
          <a:bodyPr>
            <a:normAutofit/>
          </a:bodyPr>
          <a:lstStyle/>
          <a:p>
            <a:r>
              <a:rPr lang="en-US" sz="2800" b="1" dirty="0" smtClean="0">
                <a:latin typeface="Times New Roman" panose="02020603050405020304" pitchFamily="18" charset="0"/>
                <a:cs typeface="Times New Roman" panose="02020603050405020304" pitchFamily="18" charset="0"/>
              </a:rPr>
              <a:t>Memory Protection</a:t>
            </a:r>
            <a:r>
              <a:rPr lang="en-US" sz="2800" b="1" dirty="0">
                <a:latin typeface="Times New Roman" panose="02020603050405020304" pitchFamily="18" charset="0"/>
                <a:cs typeface="Times New Roman" panose="02020603050405020304" pitchFamily="18" charset="0"/>
              </a:rPr>
              <a:t>: Base and Limit Registers</a:t>
            </a:r>
            <a:endParaRPr lang="en-US" sz="2800" dirty="0"/>
          </a:p>
        </p:txBody>
      </p:sp>
      <p:sp>
        <p:nvSpPr>
          <p:cNvPr id="2" name="Content Placeholder 1"/>
          <p:cNvSpPr>
            <a:spLocks noGrp="1"/>
          </p:cNvSpPr>
          <p:nvPr>
            <p:ph idx="1"/>
          </p:nvPr>
        </p:nvSpPr>
        <p:spPr>
          <a:xfrm>
            <a:off x="838200" y="1160060"/>
            <a:ext cx="10515600" cy="5016903"/>
          </a:xfrm>
        </p:spPr>
        <p:txBody>
          <a:bodyPr>
            <a:normAutofit/>
          </a:bodyPr>
          <a:lstStyle/>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Any </a:t>
            </a:r>
            <a:r>
              <a:rPr lang="en-US" dirty="0">
                <a:latin typeface="Times New Roman" panose="02020603050405020304" pitchFamily="18" charset="0"/>
                <a:cs typeface="Times New Roman" panose="02020603050405020304" pitchFamily="18" charset="0"/>
              </a:rPr>
              <a:t>attempt by a program executing in user </a:t>
            </a:r>
            <a:r>
              <a:rPr lang="en-US" dirty="0" smtClean="0">
                <a:latin typeface="Times New Roman" panose="02020603050405020304" pitchFamily="18" charset="0"/>
                <a:cs typeface="Times New Roman" panose="02020603050405020304" pitchFamily="18" charset="0"/>
              </a:rPr>
              <a:t>mode to </a:t>
            </a:r>
            <a:r>
              <a:rPr lang="en-US" dirty="0">
                <a:latin typeface="Times New Roman" panose="02020603050405020304" pitchFamily="18" charset="0"/>
                <a:cs typeface="Times New Roman" panose="02020603050405020304" pitchFamily="18" charset="0"/>
              </a:rPr>
              <a:t>access operating-system memory or other users' memory results in a </a:t>
            </a:r>
            <a:r>
              <a:rPr lang="en-US" b="1" dirty="0" smtClean="0">
                <a:latin typeface="Times New Roman" panose="02020603050405020304" pitchFamily="18" charset="0"/>
                <a:cs typeface="Times New Roman" panose="02020603050405020304" pitchFamily="18" charset="0"/>
              </a:rPr>
              <a:t>trap </a:t>
            </a:r>
            <a:r>
              <a:rPr lang="en-US" dirty="0" smtClean="0">
                <a:latin typeface="Times New Roman" panose="02020603050405020304" pitchFamily="18" charset="0"/>
                <a:cs typeface="Times New Roman" panose="02020603050405020304" pitchFamily="18" charset="0"/>
              </a:rPr>
              <a:t>to </a:t>
            </a:r>
            <a:r>
              <a:rPr lang="en-US" dirty="0">
                <a:latin typeface="Times New Roman" panose="02020603050405020304" pitchFamily="18" charset="0"/>
                <a:cs typeface="Times New Roman" panose="02020603050405020304" pitchFamily="18" charset="0"/>
              </a:rPr>
              <a:t>the operating system, which treats the attempt as a </a:t>
            </a:r>
            <a:r>
              <a:rPr lang="en-US" b="1" dirty="0">
                <a:latin typeface="Times New Roman" panose="02020603050405020304" pitchFamily="18" charset="0"/>
                <a:cs typeface="Times New Roman" panose="02020603050405020304" pitchFamily="18" charset="0"/>
              </a:rPr>
              <a:t>fatal error</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base and limit registers can be loaded only by the operating system, which uses a special privileged instruction. </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Since </a:t>
            </a:r>
            <a:r>
              <a:rPr lang="en-US" dirty="0">
                <a:latin typeface="Times New Roman" panose="02020603050405020304" pitchFamily="18" charset="0"/>
                <a:cs typeface="Times New Roman" panose="02020603050405020304" pitchFamily="18" charset="0"/>
              </a:rPr>
              <a:t>privileged instructions can be executed only in kernel mode, and since only the operating system execute in kernel mode, only the operating system can load the base and limit registers.</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This </a:t>
            </a:r>
            <a:r>
              <a:rPr lang="en-US" dirty="0">
                <a:latin typeface="Times New Roman" panose="02020603050405020304" pitchFamily="18" charset="0"/>
                <a:cs typeface="Times New Roman" panose="02020603050405020304" pitchFamily="18" charset="0"/>
              </a:rPr>
              <a:t>scheme allows the operating system to change the value of the registers but prevents user programs from changing the registers' contents.</a:t>
            </a:r>
          </a:p>
          <a:p>
            <a:pP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16233138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44809"/>
          </a:xfrm>
        </p:spPr>
        <p:txBody>
          <a:bodyPr>
            <a:normAutofit/>
          </a:bodyPr>
          <a:lstStyle/>
          <a:p>
            <a:r>
              <a:rPr lang="en-US" sz="2800" b="1" dirty="0" smtClean="0">
                <a:latin typeface="Times New Roman" panose="02020603050405020304" pitchFamily="18" charset="0"/>
                <a:cs typeface="Times New Roman" panose="02020603050405020304" pitchFamily="18" charset="0"/>
              </a:rPr>
              <a:t>Memory Protection</a:t>
            </a:r>
            <a:r>
              <a:rPr lang="en-US" sz="2800" b="1" dirty="0">
                <a:latin typeface="Times New Roman" panose="02020603050405020304" pitchFamily="18" charset="0"/>
                <a:cs typeface="Times New Roman" panose="02020603050405020304" pitchFamily="18" charset="0"/>
              </a:rPr>
              <a:t>: Base and Limit Registers</a:t>
            </a:r>
          </a:p>
        </p:txBody>
      </p:sp>
      <p:pic>
        <p:nvPicPr>
          <p:cNvPr id="6" name="Content Placeholder 5"/>
          <p:cNvPicPr>
            <a:picLocks noGrp="1" noChangeAspect="1"/>
          </p:cNvPicPr>
          <p:nvPr>
            <p:ph sz="half" idx="1"/>
          </p:nvPr>
        </p:nvPicPr>
        <p:blipFill>
          <a:blip r:embed="rId2"/>
          <a:stretch>
            <a:fillRect/>
          </a:stretch>
        </p:blipFill>
        <p:spPr>
          <a:xfrm>
            <a:off x="742665" y="1252857"/>
            <a:ext cx="5153167" cy="5049672"/>
          </a:xfrm>
          <a:prstGeom prst="rect">
            <a:avLst/>
          </a:prstGeom>
        </p:spPr>
      </p:pic>
      <p:sp>
        <p:nvSpPr>
          <p:cNvPr id="5" name="Content Placeholder 4"/>
          <p:cNvSpPr>
            <a:spLocks noGrp="1"/>
          </p:cNvSpPr>
          <p:nvPr>
            <p:ph sz="half" idx="2"/>
          </p:nvPr>
        </p:nvSpPr>
        <p:spPr>
          <a:xfrm>
            <a:off x="6096000" y="1364776"/>
            <a:ext cx="5783239" cy="4825835"/>
          </a:xfrm>
        </p:spPr>
        <p:txBody>
          <a:bodyPr/>
          <a:lstStyle/>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For </a:t>
            </a:r>
            <a:r>
              <a:rPr lang="en-US" dirty="0">
                <a:latin typeface="Times New Roman" panose="02020603050405020304" pitchFamily="18" charset="0"/>
                <a:cs typeface="Times New Roman" panose="02020603050405020304" pitchFamily="18" charset="0"/>
              </a:rPr>
              <a:t>example, if the base register </a:t>
            </a:r>
            <a:r>
              <a:rPr lang="en-US" dirty="0" smtClean="0">
                <a:latin typeface="Times New Roman" panose="02020603050405020304" pitchFamily="18" charset="0"/>
                <a:cs typeface="Times New Roman" panose="02020603050405020304" pitchFamily="18" charset="0"/>
              </a:rPr>
              <a:t>holds 300000and </a:t>
            </a:r>
            <a:r>
              <a:rPr lang="en-US" dirty="0">
                <a:latin typeface="Times New Roman" panose="02020603050405020304" pitchFamily="18" charset="0"/>
                <a:cs typeface="Times New Roman" panose="02020603050405020304" pitchFamily="18" charset="0"/>
              </a:rPr>
              <a:t>the limit register </a:t>
            </a:r>
            <a:r>
              <a:rPr lang="en-US" dirty="0" smtClean="0">
                <a:latin typeface="Times New Roman" panose="02020603050405020304" pitchFamily="18" charset="0"/>
                <a:cs typeface="Times New Roman" panose="02020603050405020304" pitchFamily="18" charset="0"/>
              </a:rPr>
              <a:t>is 120000</a:t>
            </a:r>
            <a:r>
              <a:rPr lang="en-US" dirty="0">
                <a:latin typeface="Times New Roman" panose="02020603050405020304" pitchFamily="18" charset="0"/>
                <a:cs typeface="Times New Roman" panose="02020603050405020304" pitchFamily="18" charset="0"/>
              </a:rPr>
              <a:t>, then the program can </a:t>
            </a:r>
            <a:r>
              <a:rPr lang="en-US" dirty="0" smtClean="0">
                <a:latin typeface="Times New Roman" panose="02020603050405020304" pitchFamily="18" charset="0"/>
                <a:cs typeface="Times New Roman" panose="02020603050405020304" pitchFamily="18" charset="0"/>
              </a:rPr>
              <a:t>legally </a:t>
            </a:r>
            <a:r>
              <a:rPr lang="en-US" dirty="0">
                <a:latin typeface="Times New Roman" panose="02020603050405020304" pitchFamily="18" charset="0"/>
                <a:cs typeface="Times New Roman" panose="02020603050405020304" pitchFamily="18" charset="0"/>
              </a:rPr>
              <a:t>access all addresses </a:t>
            </a:r>
            <a:r>
              <a:rPr lang="en-US" dirty="0" smtClean="0">
                <a:latin typeface="Times New Roman" panose="02020603050405020304" pitchFamily="18" charset="0"/>
                <a:cs typeface="Times New Roman" panose="02020603050405020304" pitchFamily="18" charset="0"/>
              </a:rPr>
              <a:t>from 300000 </a:t>
            </a:r>
            <a:r>
              <a:rPr lang="en-US" dirty="0">
                <a:latin typeface="Times New Roman" panose="02020603050405020304" pitchFamily="18" charset="0"/>
                <a:cs typeface="Times New Roman" panose="02020603050405020304" pitchFamily="18" charset="0"/>
              </a:rPr>
              <a:t>through 419999.</a:t>
            </a:r>
          </a:p>
        </p:txBody>
      </p:sp>
    </p:spTree>
    <p:extLst>
      <p:ext uri="{BB962C8B-B14F-4D97-AF65-F5344CB8AC3E}">
        <p14:creationId xmlns="" xmlns:p14="http://schemas.microsoft.com/office/powerpoint/2010/main" val="416143536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38200" y="365125"/>
            <a:ext cx="10515600" cy="794935"/>
          </a:xfrm>
        </p:spPr>
        <p:txBody>
          <a:bodyPr>
            <a:normAutofit/>
          </a:bodyPr>
          <a:lstStyle/>
          <a:p>
            <a:r>
              <a:rPr lang="en-US" sz="2800" b="1" dirty="0" smtClean="0">
                <a:latin typeface="Times New Roman" panose="02020603050405020304" pitchFamily="18" charset="0"/>
                <a:cs typeface="Times New Roman" panose="02020603050405020304" pitchFamily="18" charset="0"/>
              </a:rPr>
              <a:t>Memory Protection</a:t>
            </a:r>
            <a:r>
              <a:rPr lang="en-US" sz="2800" b="1" dirty="0">
                <a:latin typeface="Times New Roman" panose="02020603050405020304" pitchFamily="18" charset="0"/>
                <a:cs typeface="Times New Roman" panose="02020603050405020304" pitchFamily="18" charset="0"/>
              </a:rPr>
              <a:t>: Base and Limit Registers</a:t>
            </a:r>
            <a:endParaRPr lang="en-US" sz="2800" dirty="0"/>
          </a:p>
        </p:txBody>
      </p:sp>
      <p:pic>
        <p:nvPicPr>
          <p:cNvPr id="7" name="Content Placeholder 6"/>
          <p:cNvPicPr>
            <a:picLocks noGrp="1" noChangeAspect="1"/>
          </p:cNvPicPr>
          <p:nvPr>
            <p:ph idx="1"/>
          </p:nvPr>
        </p:nvPicPr>
        <p:blipFill>
          <a:blip r:embed="rId2"/>
          <a:stretch>
            <a:fillRect/>
          </a:stretch>
        </p:blipFill>
        <p:spPr>
          <a:xfrm>
            <a:off x="1184384" y="1310185"/>
            <a:ext cx="8778482" cy="4585648"/>
          </a:xfrm>
          <a:prstGeom prst="rect">
            <a:avLst/>
          </a:prstGeom>
        </p:spPr>
      </p:pic>
    </p:spTree>
    <p:extLst>
      <p:ext uri="{BB962C8B-B14F-4D97-AF65-F5344CB8AC3E}">
        <p14:creationId xmlns="" xmlns:p14="http://schemas.microsoft.com/office/powerpoint/2010/main" val="364181611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49526"/>
          </a:xfrm>
        </p:spPr>
        <p:txBody>
          <a:bodyPr>
            <a:normAutofit/>
          </a:bodyPr>
          <a:lstStyle/>
          <a:p>
            <a:r>
              <a:rPr lang="en-US" sz="2800" b="1" dirty="0" smtClean="0">
                <a:latin typeface="Times New Roman" panose="02020603050405020304" pitchFamily="18" charset="0"/>
                <a:cs typeface="Times New Roman" panose="02020603050405020304" pitchFamily="18" charset="0"/>
              </a:rPr>
              <a:t>Memory Fragmentation</a:t>
            </a:r>
            <a:endParaRPr lang="en-US"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323833"/>
            <a:ext cx="10515600" cy="4853130"/>
          </a:xfrm>
        </p:spPr>
        <p:txBody>
          <a:bodyPr/>
          <a:lstStyle/>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Memory Fragmentation is a problem where the free memory space is fragmented when processes are loaded and unloaded from memory.</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Processes can’t be assigned to memory blocks due to their small size, and the memory blocks stay unused.</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There are mainly two types of fragmentation in the operating system. These are as follows:</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Internal Fragmentation</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External Fragmentation</a:t>
            </a:r>
          </a:p>
          <a:p>
            <a:pPr marL="0" indent="0">
              <a:buNone/>
            </a:pPr>
            <a:endParaRPr lang="en-US" dirty="0"/>
          </a:p>
        </p:txBody>
      </p:sp>
    </p:spTree>
    <p:extLst>
      <p:ext uri="{BB962C8B-B14F-4D97-AF65-F5344CB8AC3E}">
        <p14:creationId xmlns="" xmlns:p14="http://schemas.microsoft.com/office/powerpoint/2010/main" val="361092582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1132764"/>
          </a:xfrm>
        </p:spPr>
        <p:txBody>
          <a:bodyPr>
            <a:normAutofit/>
          </a:bodyPr>
          <a:lstStyle/>
          <a:p>
            <a:r>
              <a:rPr lang="en-US" sz="2800" b="1" dirty="0" smtClean="0">
                <a:latin typeface="Times New Roman" panose="02020603050405020304" pitchFamily="18" charset="0"/>
                <a:cs typeface="Times New Roman" panose="02020603050405020304" pitchFamily="18" charset="0"/>
              </a:rPr>
              <a:t>Memory Fragmentation-</a:t>
            </a:r>
            <a:r>
              <a:rPr lang="en-US" sz="2800" b="1" dirty="0">
                <a:latin typeface="Times New Roman" panose="02020603050405020304" pitchFamily="18" charset="0"/>
                <a:cs typeface="Times New Roman" panose="02020603050405020304" pitchFamily="18" charset="0"/>
              </a:rPr>
              <a:t>Internal </a:t>
            </a:r>
            <a:r>
              <a:rPr lang="en-US" sz="2800" b="1" dirty="0" smtClean="0">
                <a:latin typeface="Times New Roman" panose="02020603050405020304" pitchFamily="18" charset="0"/>
                <a:cs typeface="Times New Roman" panose="02020603050405020304" pitchFamily="18" charset="0"/>
              </a:rPr>
              <a:t>Fragmentation</a:t>
            </a:r>
            <a:endParaRPr lang="en-US"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565245" y="1132765"/>
            <a:ext cx="7054968" cy="5044198"/>
          </a:xfrm>
        </p:spPr>
        <p:txBody>
          <a:bodyPr>
            <a:noAutofit/>
          </a:bodyPr>
          <a:lstStyle/>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When a process is allocated to a memory block, and if the process is smaller than the amount of memory requested, a free space is created in the given memory block. </a:t>
            </a: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Due </a:t>
            </a:r>
            <a:r>
              <a:rPr lang="en-US" dirty="0">
                <a:latin typeface="Times New Roman" panose="02020603050405020304" pitchFamily="18" charset="0"/>
                <a:cs typeface="Times New Roman" panose="02020603050405020304" pitchFamily="18" charset="0"/>
              </a:rPr>
              <a:t>to this, the free space of the memory block is unused, which causes internal fragmentation</a:t>
            </a:r>
            <a:r>
              <a:rPr lang="en-US"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Consider figure alongside </a:t>
            </a:r>
            <a:r>
              <a:rPr lang="en-US" dirty="0">
                <a:latin typeface="Times New Roman" panose="02020603050405020304" pitchFamily="18" charset="0"/>
                <a:cs typeface="Times New Roman" panose="02020603050405020304" pitchFamily="18" charset="0"/>
              </a:rPr>
              <a:t>memory allocation in RAM is done using fixed partitioning (i.e., memory blocks of fixed sizes). 2MB, 4MB, 4MB, and 8MB are the available sizes</a:t>
            </a:r>
            <a:r>
              <a:rPr lang="en-US"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Operating System uses a part of this RAM.</a:t>
            </a:r>
          </a:p>
        </p:txBody>
      </p:sp>
      <p:pic>
        <p:nvPicPr>
          <p:cNvPr id="7" name="Picture 6"/>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7620212" y="1392071"/>
            <a:ext cx="4471703" cy="4286250"/>
          </a:xfrm>
          <a:prstGeom prst="rect">
            <a:avLst/>
          </a:prstGeom>
        </p:spPr>
      </p:pic>
    </p:spTree>
    <p:extLst>
      <p:ext uri="{BB962C8B-B14F-4D97-AF65-F5344CB8AC3E}">
        <p14:creationId xmlns="" xmlns:p14="http://schemas.microsoft.com/office/powerpoint/2010/main" val="239062606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2137" y="137331"/>
            <a:ext cx="10515600" cy="822230"/>
          </a:xfrm>
        </p:spPr>
        <p:txBody>
          <a:bodyPr>
            <a:normAutofit/>
          </a:bodyPr>
          <a:lstStyle/>
          <a:p>
            <a:r>
              <a:rPr lang="en-US" sz="2800" b="1" dirty="0" smtClean="0">
                <a:latin typeface="Times New Roman" panose="02020603050405020304" pitchFamily="18" charset="0"/>
                <a:cs typeface="Times New Roman" panose="02020603050405020304" pitchFamily="18" charset="0"/>
              </a:rPr>
              <a:t>Memory Fragmentation-</a:t>
            </a:r>
            <a:r>
              <a:rPr lang="en-US" sz="2800" b="1" dirty="0">
                <a:latin typeface="Times New Roman" panose="02020603050405020304" pitchFamily="18" charset="0"/>
                <a:cs typeface="Times New Roman" panose="02020603050405020304" pitchFamily="18" charset="0"/>
              </a:rPr>
              <a:t>Internal </a:t>
            </a:r>
            <a:r>
              <a:rPr lang="en-US" sz="2800" b="1" dirty="0" smtClean="0">
                <a:latin typeface="Times New Roman" panose="02020603050405020304" pitchFamily="18" charset="0"/>
                <a:cs typeface="Times New Roman" panose="02020603050405020304" pitchFamily="18" charset="0"/>
              </a:rPr>
              <a:t>Fragmentation</a:t>
            </a:r>
            <a:endParaRPr lang="en-US"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427166" y="1521725"/>
            <a:ext cx="5928247" cy="5336275"/>
          </a:xfrm>
        </p:spPr>
        <p:txBody>
          <a:bodyPr>
            <a:noAutofit/>
          </a:bodyPr>
          <a:lstStyle/>
          <a:p>
            <a:pPr marL="0" indent="0">
              <a:buNone/>
            </a:pPr>
            <a:r>
              <a:rPr lang="en-US" dirty="0" smtClean="0">
                <a:latin typeface="Times New Roman" panose="02020603050405020304" pitchFamily="18" charset="0"/>
                <a:cs typeface="Times New Roman" panose="02020603050405020304" pitchFamily="18" charset="0"/>
              </a:rPr>
              <a:t>Example</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Let's </a:t>
            </a:r>
            <a:r>
              <a:rPr lang="en-US" dirty="0">
                <a:latin typeface="Times New Roman" panose="02020603050405020304" pitchFamily="18" charset="0"/>
                <a:cs typeface="Times New Roman" panose="02020603050405020304" pitchFamily="18" charset="0"/>
              </a:rPr>
              <a:t>suppose a process P1 with a size of 3MB arrives and is given a memory block of 4MB. </a:t>
            </a: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As </a:t>
            </a:r>
            <a:r>
              <a:rPr lang="en-US" dirty="0">
                <a:latin typeface="Times New Roman" panose="02020603050405020304" pitchFamily="18" charset="0"/>
                <a:cs typeface="Times New Roman" panose="02020603050405020304" pitchFamily="18" charset="0"/>
              </a:rPr>
              <a:t>a result, the 1MB of free space in this block is unused and cannot be used to allocate memory to another process. </a:t>
            </a: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It </a:t>
            </a:r>
            <a:r>
              <a:rPr lang="en-US" dirty="0">
                <a:latin typeface="Times New Roman" panose="02020603050405020304" pitchFamily="18" charset="0"/>
                <a:cs typeface="Times New Roman" panose="02020603050405020304" pitchFamily="18" charset="0"/>
              </a:rPr>
              <a:t>is known as internal fragmentation.</a:t>
            </a:r>
          </a:p>
          <a:p>
            <a:pPr marL="0" indent="0">
              <a:buNone/>
            </a:pPr>
            <a:endParaRPr lang="en-US" sz="2500" dirty="0">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sz="half" idx="2"/>
          </p:nvPr>
        </p:nvSpPr>
        <p:spPr>
          <a:xfrm>
            <a:off x="6032310" y="1378423"/>
            <a:ext cx="6159690" cy="5336275"/>
          </a:xfrm>
        </p:spPr>
        <p:txBody>
          <a:bodyPr>
            <a:normAutofit/>
          </a:bodyPr>
          <a:lstStyle/>
          <a:p>
            <a:pPr marL="0" indent="0">
              <a:buNone/>
            </a:pPr>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smtClean="0"/>
          </a:p>
          <a:p>
            <a:pPr marL="0" indent="0">
              <a:buNone/>
            </a:pPr>
            <a:endParaRPr lang="en-US" dirty="0" smtClean="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6678517" y="2088107"/>
            <a:ext cx="4867275" cy="4286250"/>
          </a:xfrm>
          <a:prstGeom prst="rect">
            <a:avLst/>
          </a:prstGeom>
        </p:spPr>
      </p:pic>
    </p:spTree>
    <p:extLst>
      <p:ext uri="{BB962C8B-B14F-4D97-AF65-F5344CB8AC3E}">
        <p14:creationId xmlns="" xmlns:p14="http://schemas.microsoft.com/office/powerpoint/2010/main" val="90007679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smtClean="0">
                <a:latin typeface="Times New Roman" panose="02020603050405020304" pitchFamily="18" charset="0"/>
                <a:cs typeface="Times New Roman" panose="02020603050405020304" pitchFamily="18" charset="0"/>
              </a:rPr>
              <a:t>Memory Fragmentation-</a:t>
            </a:r>
            <a:r>
              <a:rPr lang="en-US" sz="2800" b="1" dirty="0">
                <a:latin typeface="Times New Roman" panose="02020603050405020304" pitchFamily="18" charset="0"/>
                <a:cs typeface="Times New Roman" panose="02020603050405020304" pitchFamily="18" charset="0"/>
              </a:rPr>
              <a:t>Internal </a:t>
            </a:r>
            <a:r>
              <a:rPr lang="en-US" sz="2800" b="1" dirty="0" smtClean="0">
                <a:latin typeface="Times New Roman" panose="02020603050405020304" pitchFamily="18" charset="0"/>
                <a:cs typeface="Times New Roman" panose="02020603050405020304" pitchFamily="18" charset="0"/>
              </a:rPr>
              <a:t>Fragmentation</a:t>
            </a:r>
            <a:endParaRPr lang="en-US"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Autofit/>
          </a:bodyPr>
          <a:lstStyle/>
          <a:p>
            <a:pPr marL="0" indent="0">
              <a:buNone/>
            </a:pPr>
            <a:r>
              <a:rPr lang="en-US" b="1" dirty="0" smtClean="0">
                <a:latin typeface="Times New Roman" panose="02020603050405020304" pitchFamily="18" charset="0"/>
                <a:cs typeface="Times New Roman" panose="02020603050405020304" pitchFamily="18" charset="0"/>
              </a:rPr>
              <a:t>Solution</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The problem of internal fragmentation may arise due to the fixed sizes of the memory blocks. </a:t>
            </a: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It </a:t>
            </a:r>
            <a:r>
              <a:rPr lang="en-US" dirty="0">
                <a:latin typeface="Times New Roman" panose="02020603050405020304" pitchFamily="18" charset="0"/>
                <a:cs typeface="Times New Roman" panose="02020603050405020304" pitchFamily="18" charset="0"/>
              </a:rPr>
              <a:t>may be solved by assigning space to the process via dynamic partitioning. </a:t>
            </a: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Dynamic </a:t>
            </a:r>
            <a:r>
              <a:rPr lang="en-US" dirty="0">
                <a:latin typeface="Times New Roman" panose="02020603050405020304" pitchFamily="18" charset="0"/>
                <a:cs typeface="Times New Roman" panose="02020603050405020304" pitchFamily="18" charset="0"/>
              </a:rPr>
              <a:t>partitioning allocates only the amount of space requested by the process. As </a:t>
            </a:r>
            <a:r>
              <a:rPr lang="en-US" dirty="0" smtClean="0">
                <a:latin typeface="Times New Roman" panose="02020603050405020304" pitchFamily="18" charset="0"/>
                <a:cs typeface="Times New Roman" panose="02020603050405020304" pitchFamily="18" charset="0"/>
              </a:rPr>
              <a:t>a  </a:t>
            </a:r>
            <a:r>
              <a:rPr lang="en-US" dirty="0">
                <a:latin typeface="Times New Roman" panose="02020603050405020304" pitchFamily="18" charset="0"/>
                <a:cs typeface="Times New Roman" panose="02020603050405020304" pitchFamily="18" charset="0"/>
              </a:rPr>
              <a:t>result, there is no internal fragmentation.</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273430030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2137" y="137331"/>
            <a:ext cx="10515600" cy="822230"/>
          </a:xfrm>
        </p:spPr>
        <p:txBody>
          <a:bodyPr>
            <a:normAutofit/>
          </a:bodyPr>
          <a:lstStyle/>
          <a:p>
            <a:r>
              <a:rPr lang="en-US" sz="2800" b="1" dirty="0" smtClean="0">
                <a:latin typeface="Times New Roman" panose="02020603050405020304" pitchFamily="18" charset="0"/>
                <a:cs typeface="Times New Roman" panose="02020603050405020304" pitchFamily="18" charset="0"/>
              </a:rPr>
              <a:t>Memory Fragmentation-External Fragmentation</a:t>
            </a:r>
            <a:endParaRPr lang="en-US"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427166" y="1201003"/>
            <a:ext cx="5928247" cy="5656997"/>
          </a:xfrm>
        </p:spPr>
        <p:txBody>
          <a:bodyPr>
            <a:noAutofit/>
          </a:bodyPr>
          <a:lstStyle/>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External fragmentation happens when a dynamic memory allocation method allocates some memory but leaves a small amount of memory unusable. </a:t>
            </a: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quantity of available memory is substantially reduced if there is too much external fragmentation. </a:t>
            </a: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There </a:t>
            </a:r>
            <a:r>
              <a:rPr lang="en-US" dirty="0">
                <a:latin typeface="Times New Roman" panose="02020603050405020304" pitchFamily="18" charset="0"/>
                <a:cs typeface="Times New Roman" panose="02020603050405020304" pitchFamily="18" charset="0"/>
              </a:rPr>
              <a:t>is enough memory space to complete a request, but it is not contiguous. It's known as external fragmentation.</a:t>
            </a:r>
          </a:p>
          <a:p>
            <a:pPr marL="0" indent="0">
              <a:buNone/>
            </a:pPr>
            <a:endParaRPr lang="en-US" sz="2500" dirty="0">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sz="half" idx="2"/>
          </p:nvPr>
        </p:nvSpPr>
        <p:spPr>
          <a:xfrm>
            <a:off x="6032310" y="1378423"/>
            <a:ext cx="6159690" cy="5336275"/>
          </a:xfrm>
        </p:spPr>
        <p:txBody>
          <a:bodyPr>
            <a:normAutofit/>
          </a:bodyPr>
          <a:lstStyle/>
          <a:p>
            <a:pPr marL="0" indent="0">
              <a:buNone/>
            </a:pPr>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smtClean="0"/>
          </a:p>
          <a:p>
            <a:pPr marL="0" indent="0">
              <a:buNone/>
            </a:pPr>
            <a:endParaRPr lang="en-US" dirty="0" smtClean="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6678517" y="2088107"/>
            <a:ext cx="4867275" cy="4286250"/>
          </a:xfrm>
          <a:prstGeom prst="rect">
            <a:avLst/>
          </a:prstGeom>
        </p:spPr>
      </p:pic>
    </p:spTree>
    <p:extLst>
      <p:ext uri="{BB962C8B-B14F-4D97-AF65-F5344CB8AC3E}">
        <p14:creationId xmlns="" xmlns:p14="http://schemas.microsoft.com/office/powerpoint/2010/main" val="10856792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2137" y="137331"/>
            <a:ext cx="10515600" cy="822230"/>
          </a:xfrm>
        </p:spPr>
        <p:txBody>
          <a:bodyPr>
            <a:normAutofit/>
          </a:bodyPr>
          <a:lstStyle/>
          <a:p>
            <a:r>
              <a:rPr lang="en-US" sz="2800" b="1" dirty="0" smtClean="0">
                <a:latin typeface="Times New Roman" panose="02020603050405020304" pitchFamily="18" charset="0"/>
                <a:cs typeface="Times New Roman" panose="02020603050405020304" pitchFamily="18" charset="0"/>
              </a:rPr>
              <a:t>Memory Fragmentation-External Fragmentation</a:t>
            </a:r>
            <a:endParaRPr lang="en-US"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427166" y="1201003"/>
            <a:ext cx="5928247" cy="5656997"/>
          </a:xfrm>
        </p:spPr>
        <p:txBody>
          <a:bodyPr>
            <a:noAutofit/>
          </a:bodyPr>
          <a:lstStyle/>
          <a:p>
            <a:pPr marL="0" indent="0">
              <a:buNone/>
            </a:pPr>
            <a:r>
              <a:rPr lang="en-US" sz="2500" dirty="0" smtClean="0">
                <a:latin typeface="Times New Roman" panose="02020603050405020304" pitchFamily="18" charset="0"/>
                <a:cs typeface="Times New Roman" panose="02020603050405020304" pitchFamily="18" charset="0"/>
              </a:rPr>
              <a:t>Example</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Consider the figure alongside.</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We can </a:t>
            </a:r>
            <a:r>
              <a:rPr lang="en-US" dirty="0">
                <a:latin typeface="Times New Roman" panose="02020603050405020304" pitchFamily="18" charset="0"/>
                <a:cs typeface="Times New Roman" panose="02020603050405020304" pitchFamily="18" charset="0"/>
              </a:rPr>
              <a:t>see that there is sufficient space (50 KB) to run a process (05) (need 45KB), but the memory is not contiguous</a:t>
            </a:r>
            <a:r>
              <a:rPr lang="en-US"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We can </a:t>
            </a:r>
            <a:r>
              <a:rPr lang="en-US" dirty="0">
                <a:latin typeface="Times New Roman" panose="02020603050405020304" pitchFamily="18" charset="0"/>
                <a:cs typeface="Times New Roman" panose="02020603050405020304" pitchFamily="18" charset="0"/>
              </a:rPr>
              <a:t>use compaction, paging, and segmentation to use the free space to execute a process.</a:t>
            </a:r>
          </a:p>
        </p:txBody>
      </p:sp>
      <p:sp>
        <p:nvSpPr>
          <p:cNvPr id="4" name="Content Placeholder 3"/>
          <p:cNvSpPr>
            <a:spLocks noGrp="1"/>
          </p:cNvSpPr>
          <p:nvPr>
            <p:ph sz="half" idx="2"/>
          </p:nvPr>
        </p:nvSpPr>
        <p:spPr>
          <a:xfrm>
            <a:off x="6032310" y="1378423"/>
            <a:ext cx="6159690" cy="5336275"/>
          </a:xfrm>
        </p:spPr>
        <p:txBody>
          <a:bodyPr>
            <a:normAutofit/>
          </a:bodyPr>
          <a:lstStyle/>
          <a:p>
            <a:pPr marL="0" indent="0">
              <a:buNone/>
            </a:pPr>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smtClean="0"/>
          </a:p>
          <a:p>
            <a:pPr marL="0" indent="0">
              <a:buNone/>
            </a:pPr>
            <a:endParaRPr lang="en-US" dirty="0" smtClean="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6505432" y="1235121"/>
            <a:ext cx="5213445" cy="4885899"/>
          </a:xfrm>
          <a:prstGeom prst="rect">
            <a:avLst/>
          </a:prstGeom>
        </p:spPr>
      </p:pic>
    </p:spTree>
    <p:extLst>
      <p:ext uri="{BB962C8B-B14F-4D97-AF65-F5344CB8AC3E}">
        <p14:creationId xmlns="" xmlns:p14="http://schemas.microsoft.com/office/powerpoint/2010/main" val="88871485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90218"/>
          </a:xfrm>
        </p:spPr>
        <p:txBody>
          <a:bodyPr>
            <a:normAutofit/>
          </a:bodyPr>
          <a:lstStyle/>
          <a:p>
            <a:r>
              <a:rPr lang="en-US" sz="2800" b="1" dirty="0" smtClean="0">
                <a:latin typeface="Times New Roman" panose="02020603050405020304" pitchFamily="18" charset="0"/>
                <a:cs typeface="Times New Roman" panose="02020603050405020304" pitchFamily="18" charset="0"/>
              </a:rPr>
              <a:t>Dealing With Fragmentation</a:t>
            </a:r>
            <a:endParaRPr lang="en-US" sz="2800" b="1"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838200" y="1282890"/>
            <a:ext cx="10515600" cy="4894073"/>
          </a:xfrm>
        </p:spPr>
        <p:txBody>
          <a:bodyPr/>
          <a:lstStyle/>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External fragmentation </a:t>
            </a:r>
            <a:r>
              <a:rPr lang="en-US" dirty="0">
                <a:latin typeface="Times New Roman" panose="02020603050405020304" pitchFamily="18" charset="0"/>
                <a:cs typeface="Times New Roman" panose="02020603050405020304" pitchFamily="18" charset="0"/>
              </a:rPr>
              <a:t>can be </a:t>
            </a:r>
            <a:r>
              <a:rPr lang="en-US" dirty="0" smtClean="0">
                <a:latin typeface="Times New Roman" panose="02020603050405020304" pitchFamily="18" charset="0"/>
                <a:cs typeface="Times New Roman" panose="02020603050405020304" pitchFamily="18" charset="0"/>
              </a:rPr>
              <a:t>mined by compaction and </a:t>
            </a:r>
            <a:r>
              <a:rPr lang="en-US" dirty="0">
                <a:latin typeface="Times New Roman" panose="02020603050405020304" pitchFamily="18" charset="0"/>
                <a:cs typeface="Times New Roman" panose="02020603050405020304" pitchFamily="18" charset="0"/>
              </a:rPr>
              <a:t>coalescing</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External fragmentation </a:t>
            </a:r>
            <a:r>
              <a:rPr lang="en-US" dirty="0">
                <a:latin typeface="Times New Roman" panose="02020603050405020304" pitchFamily="18" charset="0"/>
                <a:cs typeface="Times New Roman" panose="02020603050405020304" pitchFamily="18" charset="0"/>
              </a:rPr>
              <a:t>can be </a:t>
            </a:r>
            <a:r>
              <a:rPr lang="en-US" dirty="0" smtClean="0">
                <a:latin typeface="Times New Roman" panose="02020603050405020304" pitchFamily="18" charset="0"/>
                <a:cs typeface="Times New Roman" panose="02020603050405020304" pitchFamily="18" charset="0"/>
              </a:rPr>
              <a:t>prevented by </a:t>
            </a:r>
            <a:r>
              <a:rPr lang="en-US" dirty="0">
                <a:latin typeface="Times New Roman" panose="02020603050405020304" pitchFamily="18" charset="0"/>
                <a:cs typeface="Times New Roman" panose="02020603050405020304" pitchFamily="18" charset="0"/>
              </a:rPr>
              <a:t>mechanisms such as segmentation and paging</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Internal fragmentation </a:t>
            </a:r>
            <a:r>
              <a:rPr lang="en-US" dirty="0">
                <a:latin typeface="Times New Roman" panose="02020603050405020304" pitchFamily="18" charset="0"/>
                <a:cs typeface="Times New Roman" panose="02020603050405020304" pitchFamily="18" charset="0"/>
              </a:rPr>
              <a:t>can be maimed by having partitions of several sizes and assigning a program based on the best fit. However, still internal fragmentation is not fully eliminated</a:t>
            </a:r>
          </a:p>
          <a:p>
            <a:pPr marL="0" indent="0">
              <a:buNone/>
            </a:pPr>
            <a:endParaRPr lang="en-US" dirty="0"/>
          </a:p>
        </p:txBody>
      </p:sp>
    </p:spTree>
    <p:extLst>
      <p:ext uri="{BB962C8B-B14F-4D97-AF65-F5344CB8AC3E}">
        <p14:creationId xmlns="" xmlns:p14="http://schemas.microsoft.com/office/powerpoint/2010/main" val="139047475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31162"/>
          </a:xfrm>
        </p:spPr>
        <p:txBody>
          <a:bodyPr>
            <a:normAutofit/>
          </a:bodyPr>
          <a:lstStyle/>
          <a:p>
            <a:r>
              <a:rPr lang="en-US" sz="2800" b="1" dirty="0">
                <a:latin typeface="Times New Roman" panose="02020603050405020304" pitchFamily="18" charset="0"/>
                <a:cs typeface="Times New Roman" panose="02020603050405020304" pitchFamily="18" charset="0"/>
              </a:rPr>
              <a:t>Coalescing </a:t>
            </a:r>
          </a:p>
        </p:txBody>
      </p:sp>
      <p:sp>
        <p:nvSpPr>
          <p:cNvPr id="3" name="Content Placeholder 2"/>
          <p:cNvSpPr>
            <a:spLocks noGrp="1"/>
          </p:cNvSpPr>
          <p:nvPr>
            <p:ph idx="1"/>
          </p:nvPr>
        </p:nvSpPr>
        <p:spPr>
          <a:xfrm>
            <a:off x="838200" y="1282890"/>
            <a:ext cx="10515600" cy="4894073"/>
          </a:xfrm>
        </p:spPr>
        <p:txBody>
          <a:bodyPr/>
          <a:lstStyle/>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process of </a:t>
            </a:r>
            <a:r>
              <a:rPr lang="en-US" b="1" dirty="0">
                <a:latin typeface="Times New Roman" panose="02020603050405020304" pitchFamily="18" charset="0"/>
                <a:cs typeface="Times New Roman" panose="02020603050405020304" pitchFamily="18" charset="0"/>
              </a:rPr>
              <a:t>merging two adjacent holes </a:t>
            </a:r>
            <a:r>
              <a:rPr lang="en-US" dirty="0">
                <a:latin typeface="Times New Roman" panose="02020603050405020304" pitchFamily="18" charset="0"/>
                <a:cs typeface="Times New Roman" panose="02020603050405020304" pitchFamily="18" charset="0"/>
              </a:rPr>
              <a:t>to form a single larger hole is called coalescing.</a:t>
            </a:r>
          </a:p>
          <a:p>
            <a:pPr marL="0" indent="0">
              <a:buNone/>
            </a:pPr>
            <a:endParaRPr lang="en-US" dirty="0"/>
          </a:p>
        </p:txBody>
      </p:sp>
      <p:pic>
        <p:nvPicPr>
          <p:cNvPr id="4" name="Picture 3"/>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3586996" y="2318800"/>
            <a:ext cx="5372850" cy="3858163"/>
          </a:xfrm>
          <a:prstGeom prst="rect">
            <a:avLst/>
          </a:prstGeom>
        </p:spPr>
      </p:pic>
    </p:spTree>
    <p:extLst>
      <p:ext uri="{BB962C8B-B14F-4D97-AF65-F5344CB8AC3E}">
        <p14:creationId xmlns="" xmlns:p14="http://schemas.microsoft.com/office/powerpoint/2010/main" val="254378743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9465"/>
            <a:ext cx="10515600" cy="672105"/>
          </a:xfrm>
        </p:spPr>
        <p:txBody>
          <a:bodyPr>
            <a:normAutofit/>
          </a:bodyPr>
          <a:lstStyle/>
          <a:p>
            <a:r>
              <a:rPr lang="en-US" sz="2800" b="1" dirty="0">
                <a:latin typeface="Times New Roman" panose="02020603050405020304" pitchFamily="18" charset="0"/>
                <a:cs typeface="Times New Roman" panose="02020603050405020304" pitchFamily="18" charset="0"/>
              </a:rPr>
              <a:t>Compaction</a:t>
            </a:r>
          </a:p>
        </p:txBody>
      </p:sp>
      <p:sp>
        <p:nvSpPr>
          <p:cNvPr id="3" name="Content Placeholder 2"/>
          <p:cNvSpPr>
            <a:spLocks noGrp="1"/>
          </p:cNvSpPr>
          <p:nvPr>
            <p:ph idx="1"/>
          </p:nvPr>
        </p:nvSpPr>
        <p:spPr>
          <a:xfrm>
            <a:off x="838200" y="968992"/>
            <a:ext cx="10515600" cy="5207972"/>
          </a:xfrm>
        </p:spPr>
        <p:txBody>
          <a:bodyPr>
            <a:normAutofit/>
          </a:bodyPr>
          <a:lstStyle/>
          <a:p>
            <a:pPr>
              <a:buFont typeface="Wingdings" panose="05000000000000000000" pitchFamily="2" charset="2"/>
              <a:buChar char="v"/>
            </a:pPr>
            <a:r>
              <a:rPr lang="en-US" b="1" dirty="0" smtClean="0">
                <a:latin typeface="Times New Roman" panose="02020603050405020304" pitchFamily="18" charset="0"/>
                <a:cs typeface="Times New Roman" panose="02020603050405020304" pitchFamily="18" charset="0"/>
              </a:rPr>
              <a:t>Drawback </a:t>
            </a:r>
            <a:r>
              <a:rPr lang="en-US" b="1" dirty="0">
                <a:latin typeface="Times New Roman" panose="02020603050405020304" pitchFamily="18" charset="0"/>
                <a:cs typeface="Times New Roman" panose="02020603050405020304" pitchFamily="18" charset="0"/>
              </a:rPr>
              <a:t>of coalescing : </a:t>
            </a:r>
            <a:r>
              <a:rPr lang="en-US" dirty="0">
                <a:latin typeface="Times New Roman" panose="02020603050405020304" pitchFamily="18" charset="0"/>
                <a:cs typeface="Times New Roman" panose="02020603050405020304" pitchFamily="18" charset="0"/>
              </a:rPr>
              <a:t>Even when holes are coalesced, no individual hole may be large enough to hold the process, although the sum of holes is larger than the storage required for a process</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It </a:t>
            </a:r>
            <a:r>
              <a:rPr lang="en-US" dirty="0">
                <a:latin typeface="Times New Roman" panose="02020603050405020304" pitchFamily="18" charset="0"/>
                <a:cs typeface="Times New Roman" panose="02020603050405020304" pitchFamily="18" charset="0"/>
              </a:rPr>
              <a:t>is possible to combine all the holes into one big one by moving all the processes </a:t>
            </a:r>
            <a:r>
              <a:rPr lang="en-US" dirty="0" smtClean="0">
                <a:latin typeface="Times New Roman" panose="02020603050405020304" pitchFamily="18" charset="0"/>
                <a:cs typeface="Times New Roman" panose="02020603050405020304" pitchFamily="18" charset="0"/>
              </a:rPr>
              <a:t>downward as </a:t>
            </a:r>
            <a:r>
              <a:rPr lang="en-US" dirty="0">
                <a:latin typeface="Times New Roman" panose="02020603050405020304" pitchFamily="18" charset="0"/>
                <a:cs typeface="Times New Roman" panose="02020603050405020304" pitchFamily="18" charset="0"/>
              </a:rPr>
              <a:t>far as possible; this technique is called memory compaction. </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Drawbacks:</a:t>
            </a:r>
            <a:endParaRPr lang="en-US" dirty="0">
              <a:latin typeface="Times New Roman" panose="02020603050405020304" pitchFamily="18" charset="0"/>
              <a:cs typeface="Times New Roman" panose="02020603050405020304" pitchFamily="18" charset="0"/>
            </a:endParaRPr>
          </a:p>
          <a:p>
            <a:pPr lvl="1"/>
            <a:r>
              <a:rPr lang="en-US" sz="2800" dirty="0" smtClean="0">
                <a:latin typeface="Times New Roman" panose="02020603050405020304" pitchFamily="18" charset="0"/>
                <a:cs typeface="Times New Roman" panose="02020603050405020304" pitchFamily="18" charset="0"/>
              </a:rPr>
              <a:t>Reallocation </a:t>
            </a:r>
            <a:r>
              <a:rPr lang="en-US" sz="2800" dirty="0">
                <a:latin typeface="Times New Roman" panose="02020603050405020304" pitchFamily="18" charset="0"/>
                <a:cs typeface="Times New Roman" panose="02020603050405020304" pitchFamily="18" charset="0"/>
              </a:rPr>
              <a:t>info must be maintained</a:t>
            </a:r>
          </a:p>
          <a:p>
            <a:pPr lvl="1"/>
            <a:r>
              <a:rPr lang="en-US" sz="2800" dirty="0" smtClean="0">
                <a:latin typeface="Times New Roman" panose="02020603050405020304" pitchFamily="18" charset="0"/>
                <a:cs typeface="Times New Roman" panose="02020603050405020304" pitchFamily="18" charset="0"/>
              </a:rPr>
              <a:t>System </a:t>
            </a:r>
            <a:r>
              <a:rPr lang="en-US" sz="2800" dirty="0">
                <a:latin typeface="Times New Roman" panose="02020603050405020304" pitchFamily="18" charset="0"/>
                <a:cs typeface="Times New Roman" panose="02020603050405020304" pitchFamily="18" charset="0"/>
              </a:rPr>
              <a:t>must stop everything during compaction</a:t>
            </a:r>
          </a:p>
          <a:p>
            <a:pPr lvl="1"/>
            <a:r>
              <a:rPr lang="en-US" sz="2800" dirty="0" smtClean="0">
                <a:latin typeface="Times New Roman" panose="02020603050405020304" pitchFamily="18" charset="0"/>
                <a:cs typeface="Times New Roman" panose="02020603050405020304" pitchFamily="18" charset="0"/>
              </a:rPr>
              <a:t>Memory </a:t>
            </a:r>
            <a:r>
              <a:rPr lang="en-US" sz="2800" dirty="0">
                <a:latin typeface="Times New Roman" panose="02020603050405020304" pitchFamily="18" charset="0"/>
                <a:cs typeface="Times New Roman" panose="02020603050405020304" pitchFamily="18" charset="0"/>
              </a:rPr>
              <a:t>compaction requires lots of CPU time</a:t>
            </a:r>
          </a:p>
          <a:p>
            <a:pP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324464983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13048"/>
          </a:xfrm>
        </p:spPr>
        <p:txBody>
          <a:bodyPr>
            <a:normAutofit/>
          </a:bodyPr>
          <a:lstStyle/>
          <a:p>
            <a:r>
              <a:rPr lang="en-US" sz="2800" b="1" dirty="0" smtClean="0">
                <a:latin typeface="Times New Roman" panose="02020603050405020304" pitchFamily="18" charset="0"/>
                <a:cs typeface="Times New Roman" panose="02020603050405020304" pitchFamily="18" charset="0"/>
              </a:rPr>
              <a:t>Non-Contiguous Memory Allocation</a:t>
            </a:r>
            <a:endParaRPr lang="en-US" sz="2800" b="1"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sz="half" idx="1"/>
          </p:nvPr>
        </p:nvSpPr>
        <p:spPr>
          <a:xfrm>
            <a:off x="518615" y="1378424"/>
            <a:ext cx="6264322" cy="5076967"/>
          </a:xfrm>
        </p:spPr>
        <p:txBody>
          <a:bodyPr>
            <a:normAutofit lnSpcReduction="10000"/>
          </a:bodyPr>
          <a:lstStyle/>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In non-contiguous memory allocation, different parts of a process is allocated different places in Main Memory. </a:t>
            </a: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With the help of Non-contiguous memory allocation, a process is allowed to acquire several memory blocks at different locations in the memory according to its need. </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In the non-contiguous memory allocation, the available free memory space is distributed here and there which means that all the free memory space is not in one place.</a:t>
            </a:r>
            <a:endParaRPr lang="en-US" dirty="0" smtClean="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7282829" y="1596789"/>
            <a:ext cx="4235882" cy="4240456"/>
          </a:xfrm>
          <a:prstGeom prst="rect">
            <a:avLst/>
          </a:prstGeom>
        </p:spPr>
      </p:pic>
    </p:spTree>
    <p:extLst>
      <p:ext uri="{BB962C8B-B14F-4D97-AF65-F5344CB8AC3E}">
        <p14:creationId xmlns="" xmlns:p14="http://schemas.microsoft.com/office/powerpoint/2010/main" val="205517532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26696"/>
          </a:xfrm>
        </p:spPr>
        <p:txBody>
          <a:bodyPr>
            <a:normAutofit/>
          </a:bodyPr>
          <a:lstStyle/>
          <a:p>
            <a:r>
              <a:rPr lang="en-US" sz="2800" b="1" dirty="0">
                <a:latin typeface="Times New Roman" panose="02020603050405020304" pitchFamily="18" charset="0"/>
                <a:cs typeface="Times New Roman" panose="02020603050405020304" pitchFamily="18" charset="0"/>
              </a:rPr>
              <a:t>How to deal with insufficient Memory?</a:t>
            </a:r>
          </a:p>
        </p:txBody>
      </p:sp>
      <p:sp>
        <p:nvSpPr>
          <p:cNvPr id="5" name="Content Placeholder 4"/>
          <p:cNvSpPr>
            <a:spLocks noGrp="1"/>
          </p:cNvSpPr>
          <p:nvPr>
            <p:ph idx="1"/>
          </p:nvPr>
        </p:nvSpPr>
        <p:spPr>
          <a:xfrm>
            <a:off x="838200" y="1282890"/>
            <a:ext cx="10707806" cy="4926841"/>
          </a:xfrm>
        </p:spPr>
        <p:txBody>
          <a:bodyPr>
            <a:normAutofit/>
          </a:bodyPr>
          <a:lstStyle/>
          <a:p>
            <a:pPr>
              <a:buFont typeface="Wingdings" panose="05000000000000000000" pitchFamily="2" charset="2"/>
              <a:buChar char="v"/>
            </a:pPr>
            <a:r>
              <a:rPr lang="en-US" b="1" dirty="0" smtClean="0">
                <a:latin typeface="Times New Roman" panose="02020603050405020304" pitchFamily="18" charset="0"/>
                <a:cs typeface="Times New Roman" panose="02020603050405020304" pitchFamily="18" charset="0"/>
              </a:rPr>
              <a:t>Swapping</a:t>
            </a:r>
            <a:endParaRPr lang="en-US" dirty="0">
              <a:latin typeface="Times New Roman" panose="02020603050405020304" pitchFamily="18" charset="0"/>
              <a:cs typeface="Times New Roman" panose="02020603050405020304" pitchFamily="18" charset="0"/>
            </a:endParaRPr>
          </a:p>
          <a:p>
            <a:pPr lvl="1"/>
            <a:r>
              <a:rPr lang="en-US" sz="2800" dirty="0" smtClean="0">
                <a:latin typeface="Times New Roman" panose="02020603050405020304" pitchFamily="18" charset="0"/>
                <a:cs typeface="Times New Roman" panose="02020603050405020304" pitchFamily="18" charset="0"/>
              </a:rPr>
              <a:t>temporarily </a:t>
            </a:r>
            <a:r>
              <a:rPr lang="en-US" sz="2800" dirty="0">
                <a:latin typeface="Times New Roman" panose="02020603050405020304" pitchFamily="18" charset="0"/>
                <a:cs typeface="Times New Roman" panose="02020603050405020304" pitchFamily="18" charset="0"/>
              </a:rPr>
              <a:t>move processes to disk</a:t>
            </a:r>
          </a:p>
          <a:p>
            <a:pPr lvl="1"/>
            <a:r>
              <a:rPr lang="en-US" sz="2800" dirty="0" smtClean="0">
                <a:latin typeface="Times New Roman" panose="02020603050405020304" pitchFamily="18" charset="0"/>
                <a:cs typeface="Times New Roman" panose="02020603050405020304" pitchFamily="18" charset="0"/>
              </a:rPr>
              <a:t>require </a:t>
            </a:r>
            <a:r>
              <a:rPr lang="en-US" sz="2800" dirty="0">
                <a:latin typeface="Times New Roman" panose="02020603050405020304" pitchFamily="18" charset="0"/>
                <a:cs typeface="Times New Roman" panose="02020603050405020304" pitchFamily="18" charset="0"/>
              </a:rPr>
              <a:t>dynamic relocation</a:t>
            </a:r>
          </a:p>
          <a:p>
            <a:pPr>
              <a:buFont typeface="Wingdings" panose="05000000000000000000" pitchFamily="2" charset="2"/>
              <a:buChar char="v"/>
            </a:pPr>
            <a:r>
              <a:rPr lang="en-US" b="1" dirty="0" smtClean="0">
                <a:latin typeface="Times New Roman" panose="02020603050405020304" pitchFamily="18" charset="0"/>
                <a:cs typeface="Times New Roman" panose="02020603050405020304" pitchFamily="18" charset="0"/>
              </a:rPr>
              <a:t>Memory </a:t>
            </a:r>
            <a:r>
              <a:rPr lang="en-US" b="1" dirty="0">
                <a:latin typeface="Times New Roman" panose="02020603050405020304" pitchFamily="18" charset="0"/>
                <a:cs typeface="Times New Roman" panose="02020603050405020304" pitchFamily="18" charset="0"/>
              </a:rPr>
              <a:t>Compaction</a:t>
            </a:r>
            <a:endParaRPr lang="en-US" dirty="0">
              <a:latin typeface="Times New Roman" panose="02020603050405020304" pitchFamily="18" charset="0"/>
              <a:cs typeface="Times New Roman" panose="02020603050405020304" pitchFamily="18" charset="0"/>
            </a:endParaRPr>
          </a:p>
          <a:p>
            <a:pPr lvl="1"/>
            <a:r>
              <a:rPr lang="en-US" sz="2800" dirty="0" smtClean="0">
                <a:latin typeface="Times New Roman" panose="02020603050405020304" pitchFamily="18" charset="0"/>
                <a:cs typeface="Times New Roman" panose="02020603050405020304" pitchFamily="18" charset="0"/>
              </a:rPr>
              <a:t>move </a:t>
            </a:r>
            <a:r>
              <a:rPr lang="en-US" sz="2800" dirty="0">
                <a:latin typeface="Times New Roman" panose="02020603050405020304" pitchFamily="18" charset="0"/>
                <a:cs typeface="Times New Roman" panose="02020603050405020304" pitchFamily="18" charset="0"/>
              </a:rPr>
              <a:t>blocks around to create larger holes</a:t>
            </a:r>
          </a:p>
          <a:p>
            <a:pPr>
              <a:buFont typeface="Wingdings" panose="05000000000000000000" pitchFamily="2" charset="2"/>
              <a:buChar char="v"/>
            </a:pPr>
            <a:r>
              <a:rPr lang="en-US" b="1" dirty="0" smtClean="0">
                <a:latin typeface="Times New Roman" panose="02020603050405020304" pitchFamily="18" charset="0"/>
                <a:cs typeface="Times New Roman" panose="02020603050405020304" pitchFamily="18" charset="0"/>
              </a:rPr>
              <a:t>Virtual </a:t>
            </a:r>
            <a:r>
              <a:rPr lang="en-US" b="1" dirty="0">
                <a:latin typeface="Times New Roman" panose="02020603050405020304" pitchFamily="18" charset="0"/>
                <a:cs typeface="Times New Roman" panose="02020603050405020304" pitchFamily="18" charset="0"/>
              </a:rPr>
              <a:t>Memory</a:t>
            </a:r>
            <a:endParaRPr lang="en-US" dirty="0">
              <a:latin typeface="Times New Roman" panose="02020603050405020304" pitchFamily="18" charset="0"/>
              <a:cs typeface="Times New Roman" panose="02020603050405020304" pitchFamily="18" charset="0"/>
            </a:endParaRPr>
          </a:p>
          <a:p>
            <a:pPr lvl="1"/>
            <a:r>
              <a:rPr lang="en-US" sz="2800" dirty="0" smtClean="0">
                <a:latin typeface="Times New Roman" panose="02020603050405020304" pitchFamily="18" charset="0"/>
                <a:cs typeface="Times New Roman" panose="02020603050405020304" pitchFamily="18" charset="0"/>
              </a:rPr>
              <a:t>allow </a:t>
            </a:r>
            <a:r>
              <a:rPr lang="en-US" sz="2800" dirty="0">
                <a:latin typeface="Times New Roman" panose="02020603050405020304" pitchFamily="18" charset="0"/>
                <a:cs typeface="Times New Roman" panose="02020603050405020304" pitchFamily="18" charset="0"/>
              </a:rPr>
              <a:t>programs larger than physical memory</a:t>
            </a:r>
          </a:p>
          <a:p>
            <a:pPr lvl="1"/>
            <a:r>
              <a:rPr lang="en-US" sz="2800" dirty="0" smtClean="0">
                <a:latin typeface="Times New Roman" panose="02020603050405020304" pitchFamily="18" charset="0"/>
                <a:cs typeface="Times New Roman" panose="02020603050405020304" pitchFamily="18" charset="0"/>
              </a:rPr>
              <a:t>portions </a:t>
            </a:r>
            <a:r>
              <a:rPr lang="en-US" sz="2800" dirty="0">
                <a:latin typeface="Times New Roman" panose="02020603050405020304" pitchFamily="18" charset="0"/>
                <a:cs typeface="Times New Roman" panose="02020603050405020304" pitchFamily="18" charset="0"/>
              </a:rPr>
              <a:t>of programs loaded as needed</a:t>
            </a:r>
          </a:p>
        </p:txBody>
      </p:sp>
    </p:spTree>
    <p:extLst>
      <p:ext uri="{BB962C8B-B14F-4D97-AF65-F5344CB8AC3E}">
        <p14:creationId xmlns="" xmlns:p14="http://schemas.microsoft.com/office/powerpoint/2010/main" val="225266717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31825"/>
            <a:ext cx="10515600" cy="537168"/>
          </a:xfrm>
        </p:spPr>
        <p:txBody>
          <a:bodyPr>
            <a:normAutofit/>
          </a:bodyPr>
          <a:lstStyle/>
          <a:p>
            <a:r>
              <a:rPr lang="en-US" sz="2800" b="1" dirty="0">
                <a:latin typeface="Times New Roman" panose="02020603050405020304" pitchFamily="18" charset="0"/>
                <a:cs typeface="Times New Roman" panose="02020603050405020304" pitchFamily="18" charset="0"/>
              </a:rPr>
              <a:t>Virtual Memory</a:t>
            </a:r>
          </a:p>
        </p:txBody>
      </p:sp>
      <p:sp>
        <p:nvSpPr>
          <p:cNvPr id="3" name="Content Placeholder 2"/>
          <p:cNvSpPr>
            <a:spLocks noGrp="1"/>
          </p:cNvSpPr>
          <p:nvPr>
            <p:ph idx="1"/>
          </p:nvPr>
        </p:nvSpPr>
        <p:spPr>
          <a:xfrm>
            <a:off x="838200" y="1310185"/>
            <a:ext cx="10515600" cy="4866778"/>
          </a:xfrm>
        </p:spPr>
        <p:txBody>
          <a:bodyPr>
            <a:normAutofit/>
          </a:bodyPr>
          <a:lstStyle/>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Virtual </a:t>
            </a:r>
            <a:r>
              <a:rPr lang="en-US" dirty="0">
                <a:latin typeface="Times New Roman" panose="02020603050405020304" pitchFamily="18" charset="0"/>
                <a:cs typeface="Times New Roman" panose="02020603050405020304" pitchFamily="18" charset="0"/>
              </a:rPr>
              <a:t>memory is a memory management technique that allows programs larger than physical memory to be executed</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Virtual </a:t>
            </a:r>
            <a:r>
              <a:rPr lang="en-US" dirty="0">
                <a:latin typeface="Times New Roman" panose="02020603050405020304" pitchFamily="18" charset="0"/>
                <a:cs typeface="Times New Roman" panose="02020603050405020304" pitchFamily="18" charset="0"/>
              </a:rPr>
              <a:t>Memory is a space where large programs can store themselves in form of pages while their execution and only the required </a:t>
            </a:r>
            <a:r>
              <a:rPr lang="en-US" dirty="0" smtClean="0">
                <a:latin typeface="Times New Roman" panose="02020603050405020304" pitchFamily="18" charset="0"/>
                <a:cs typeface="Times New Roman" panose="02020603050405020304" pitchFamily="18" charset="0"/>
              </a:rPr>
              <a:t>pages or </a:t>
            </a:r>
            <a:r>
              <a:rPr lang="en-US" dirty="0">
                <a:latin typeface="Times New Roman" panose="02020603050405020304" pitchFamily="18" charset="0"/>
                <a:cs typeface="Times New Roman" panose="02020603050405020304" pitchFamily="18" charset="0"/>
              </a:rPr>
              <a:t>portions of processes are loaded into the main memory</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Virtual </a:t>
            </a:r>
            <a:r>
              <a:rPr lang="en-US" dirty="0">
                <a:latin typeface="Times New Roman" panose="02020603050405020304" pitchFamily="18" charset="0"/>
                <a:cs typeface="Times New Roman" panose="02020603050405020304" pitchFamily="18" charset="0"/>
              </a:rPr>
              <a:t>memory takes the advantage of the fact that processes typically do not use all the allocated memory at once.</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In </a:t>
            </a:r>
            <a:r>
              <a:rPr lang="en-US" dirty="0">
                <a:latin typeface="Times New Roman" panose="02020603050405020304" pitchFamily="18" charset="0"/>
                <a:cs typeface="Times New Roman" panose="02020603050405020304" pitchFamily="18" charset="0"/>
              </a:rPr>
              <a:t>other words, most processes never need all their pages at once.</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Logical </a:t>
            </a:r>
            <a:r>
              <a:rPr lang="en-US" dirty="0">
                <a:latin typeface="Times New Roman" panose="02020603050405020304" pitchFamily="18" charset="0"/>
                <a:cs typeface="Times New Roman" panose="02020603050405020304" pitchFamily="18" charset="0"/>
              </a:rPr>
              <a:t>address space can therefore be much larger than physical address space</a:t>
            </a:r>
          </a:p>
          <a:p>
            <a:endParaRPr lang="en-US" dirty="0"/>
          </a:p>
        </p:txBody>
      </p:sp>
    </p:spTree>
    <p:extLst>
      <p:ext uri="{BB962C8B-B14F-4D97-AF65-F5344CB8AC3E}">
        <p14:creationId xmlns="" xmlns:p14="http://schemas.microsoft.com/office/powerpoint/2010/main" val="958283220"/>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2296"/>
            <a:ext cx="10515600" cy="835878"/>
          </a:xfrm>
        </p:spPr>
        <p:txBody>
          <a:bodyPr>
            <a:normAutofit/>
          </a:bodyPr>
          <a:lstStyle/>
          <a:p>
            <a:r>
              <a:rPr lang="en-US" sz="2800" b="1" dirty="0" smtClean="0">
                <a:latin typeface="Times New Roman" panose="02020603050405020304" pitchFamily="18" charset="0"/>
                <a:cs typeface="Times New Roman" panose="02020603050405020304" pitchFamily="18" charset="0"/>
              </a:rPr>
              <a:t>Paging</a:t>
            </a:r>
            <a:endParaRPr lang="en-US"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078174"/>
            <a:ext cx="10515600" cy="5779825"/>
          </a:xfrm>
        </p:spPr>
        <p:txBody>
          <a:bodyPr/>
          <a:lstStyle/>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Paging is a storage mechanism that allows OS to retrieve processes from the secondary storage into the main memory in the form of pages. </a:t>
            </a: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The main idea behind the paging is to </a:t>
            </a:r>
            <a:r>
              <a:rPr lang="en-US" b="1" dirty="0">
                <a:latin typeface="Times New Roman" panose="02020603050405020304" pitchFamily="18" charset="0"/>
                <a:cs typeface="Times New Roman" panose="02020603050405020304" pitchFamily="18" charset="0"/>
              </a:rPr>
              <a:t>divide each process in the form of pages</a:t>
            </a:r>
            <a:r>
              <a:rPr lang="en-US" dirty="0">
                <a:latin typeface="Times New Roman" panose="02020603050405020304" pitchFamily="18" charset="0"/>
                <a:cs typeface="Times New Roman" panose="02020603050405020304" pitchFamily="18" charset="0"/>
              </a:rPr>
              <a:t>. The </a:t>
            </a:r>
            <a:r>
              <a:rPr lang="en-US" b="1" dirty="0">
                <a:latin typeface="Times New Roman" panose="02020603050405020304" pitchFamily="18" charset="0"/>
                <a:cs typeface="Times New Roman" panose="02020603050405020304" pitchFamily="18" charset="0"/>
              </a:rPr>
              <a:t>main memory will also be divided in the form of frames</a:t>
            </a:r>
            <a:r>
              <a:rPr lang="en-US"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One page of the process is to be stored in one of the frames of the memory. The pages can be stored at the different locations of the memory but the priority is always to find the contiguous frames or holes</a:t>
            </a:r>
            <a:r>
              <a:rPr lang="en-US"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Pages of the process are brought into the main memory only when they are required otherwise they reside in the secondary storage.</a:t>
            </a:r>
          </a:p>
        </p:txBody>
      </p:sp>
    </p:spTree>
    <p:extLst>
      <p:ext uri="{BB962C8B-B14F-4D97-AF65-F5344CB8AC3E}">
        <p14:creationId xmlns="" xmlns:p14="http://schemas.microsoft.com/office/powerpoint/2010/main" val="2470583123"/>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2296"/>
            <a:ext cx="10515600" cy="835878"/>
          </a:xfrm>
        </p:spPr>
        <p:txBody>
          <a:bodyPr>
            <a:normAutofit/>
          </a:bodyPr>
          <a:lstStyle/>
          <a:p>
            <a:r>
              <a:rPr lang="en-US" sz="2800" b="1" dirty="0" smtClean="0">
                <a:latin typeface="Times New Roman" panose="02020603050405020304" pitchFamily="18" charset="0"/>
                <a:cs typeface="Times New Roman" panose="02020603050405020304" pitchFamily="18" charset="0"/>
              </a:rPr>
              <a:t>Paging</a:t>
            </a:r>
            <a:endParaRPr lang="en-US" sz="2800" b="1" dirty="0">
              <a:latin typeface="Times New Roman" panose="02020603050405020304" pitchFamily="18" charset="0"/>
              <a:cs typeface="Times New Roman" panose="02020603050405020304" pitchFamily="18" charset="0"/>
            </a:endParaRPr>
          </a:p>
        </p:txBody>
      </p:sp>
      <p:pic>
        <p:nvPicPr>
          <p:cNvPr id="4" name="Content Placeholder 3"/>
          <p:cNvPicPr>
            <a:picLocks noGrp="1" noChangeAspect="1"/>
          </p:cNvPicPr>
          <p:nvPr>
            <p:ph idx="1"/>
          </p:nvPr>
        </p:nvPicPr>
        <p:blipFill>
          <a:blip r:embed="rId2">
            <a:extLst>
              <a:ext uri="{28A0092B-C50C-407E-A947-70E740481C1C}">
                <a14:useLocalDpi xmlns="" xmlns:a14="http://schemas.microsoft.com/office/drawing/2010/main" val="0"/>
              </a:ext>
            </a:extLst>
          </a:blip>
          <a:stretch>
            <a:fillRect/>
          </a:stretch>
        </p:blipFill>
        <p:spPr>
          <a:xfrm>
            <a:off x="2920123" y="1078174"/>
            <a:ext cx="6351753" cy="5240741"/>
          </a:xfrm>
        </p:spPr>
      </p:pic>
    </p:spTree>
    <p:extLst>
      <p:ext uri="{BB962C8B-B14F-4D97-AF65-F5344CB8AC3E}">
        <p14:creationId xmlns="" xmlns:p14="http://schemas.microsoft.com/office/powerpoint/2010/main" val="726220156"/>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17514"/>
          </a:xfrm>
        </p:spPr>
        <p:txBody>
          <a:bodyPr>
            <a:normAutofit/>
          </a:bodyPr>
          <a:lstStyle/>
          <a:p>
            <a:r>
              <a:rPr lang="en-US" sz="2800" b="1" dirty="0" smtClean="0">
                <a:latin typeface="Times New Roman" panose="02020603050405020304" pitchFamily="18" charset="0"/>
                <a:cs typeface="Times New Roman" panose="02020603050405020304" pitchFamily="18" charset="0"/>
              </a:rPr>
              <a:t>Paging-Example</a:t>
            </a:r>
            <a:endParaRPr lang="en-US" sz="2800" b="1" dirty="0">
              <a:latin typeface="Times New Roman" panose="02020603050405020304" pitchFamily="18" charset="0"/>
              <a:cs typeface="Times New Roman" panose="02020603050405020304" pitchFamily="18" charset="0"/>
            </a:endParaRPr>
          </a:p>
        </p:txBody>
      </p:sp>
      <p:pic>
        <p:nvPicPr>
          <p:cNvPr id="6" name="Content Placeholder 5"/>
          <p:cNvPicPr>
            <a:picLocks noGrp="1" noChangeAspect="1"/>
          </p:cNvPicPr>
          <p:nvPr>
            <p:ph sz="half" idx="2"/>
          </p:nvPr>
        </p:nvPicPr>
        <p:blipFill>
          <a:blip r:embed="rId2">
            <a:extLst>
              <a:ext uri="{28A0092B-C50C-407E-A947-70E740481C1C}">
                <a14:useLocalDpi xmlns="" xmlns:a14="http://schemas.microsoft.com/office/drawing/2010/main" val="0"/>
              </a:ext>
            </a:extLst>
          </a:blip>
          <a:stretch>
            <a:fillRect/>
          </a:stretch>
        </p:blipFill>
        <p:spPr>
          <a:xfrm>
            <a:off x="6096000" y="887105"/>
            <a:ext cx="5873087" cy="5472990"/>
          </a:xfrm>
        </p:spPr>
      </p:pic>
      <p:sp>
        <p:nvSpPr>
          <p:cNvPr id="5" name="Content Placeholder 4"/>
          <p:cNvSpPr>
            <a:spLocks noGrp="1"/>
          </p:cNvSpPr>
          <p:nvPr>
            <p:ph sz="half" idx="1"/>
          </p:nvPr>
        </p:nvSpPr>
        <p:spPr>
          <a:xfrm>
            <a:off x="586854" y="1105469"/>
            <a:ext cx="5323764" cy="5363570"/>
          </a:xfrm>
        </p:spPr>
        <p:txBody>
          <a:bodyPr>
            <a:normAutofit fontScale="92500"/>
          </a:bodyPr>
          <a:lstStyle/>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Let us consider the </a:t>
            </a:r>
            <a:r>
              <a:rPr lang="en-US" b="1" dirty="0">
                <a:latin typeface="Times New Roman" panose="02020603050405020304" pitchFamily="18" charset="0"/>
                <a:cs typeface="Times New Roman" panose="02020603050405020304" pitchFamily="18" charset="0"/>
              </a:rPr>
              <a:t>main memory size 16 </a:t>
            </a:r>
            <a:r>
              <a:rPr lang="en-US" b="1" dirty="0" smtClean="0">
                <a:latin typeface="Times New Roman" panose="02020603050405020304" pitchFamily="18" charset="0"/>
                <a:cs typeface="Times New Roman" panose="02020603050405020304" pitchFamily="18" charset="0"/>
              </a:rPr>
              <a:t>KB</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and </a:t>
            </a:r>
            <a:r>
              <a:rPr lang="en-US" b="1" dirty="0">
                <a:latin typeface="Times New Roman" panose="02020603050405020304" pitchFamily="18" charset="0"/>
                <a:cs typeface="Times New Roman" panose="02020603050405020304" pitchFamily="18" charset="0"/>
              </a:rPr>
              <a:t>Frame size is 1 KB </a:t>
            </a:r>
            <a:r>
              <a:rPr lang="en-US" dirty="0">
                <a:latin typeface="Times New Roman" panose="02020603050405020304" pitchFamily="18" charset="0"/>
                <a:cs typeface="Times New Roman" panose="02020603050405020304" pitchFamily="18" charset="0"/>
              </a:rPr>
              <a:t>therefore the main memory will be divided into the collection of 16 frames of 1 KB each.</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There are 4 processes in the system that is </a:t>
            </a:r>
            <a:r>
              <a:rPr lang="en-US" b="1" dirty="0">
                <a:latin typeface="Times New Roman" panose="02020603050405020304" pitchFamily="18" charset="0"/>
                <a:cs typeface="Times New Roman" panose="02020603050405020304" pitchFamily="18" charset="0"/>
              </a:rPr>
              <a:t>P1, P2, P3 and P4 of 4 KB each.</a:t>
            </a:r>
            <a:r>
              <a:rPr lang="en-US" dirty="0">
                <a:latin typeface="Times New Roman" panose="02020603050405020304" pitchFamily="18" charset="0"/>
                <a:cs typeface="Times New Roman" panose="02020603050405020304" pitchFamily="18" charset="0"/>
              </a:rPr>
              <a:t> Each process is divided into pages of 1 KB each so that one page can be stored in one frame.</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Initially, all the frames are empty therefore pages of the processes will get stored in the contiguous way.</a:t>
            </a:r>
          </a:p>
          <a:p>
            <a:endParaRPr lang="en-US" dirty="0"/>
          </a:p>
        </p:txBody>
      </p:sp>
    </p:spTree>
    <p:extLst>
      <p:ext uri="{BB962C8B-B14F-4D97-AF65-F5344CB8AC3E}">
        <p14:creationId xmlns="" xmlns:p14="http://schemas.microsoft.com/office/powerpoint/2010/main" val="300114269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5509" y="269591"/>
            <a:ext cx="10515600" cy="617514"/>
          </a:xfrm>
        </p:spPr>
        <p:txBody>
          <a:bodyPr>
            <a:normAutofit/>
          </a:bodyPr>
          <a:lstStyle/>
          <a:p>
            <a:r>
              <a:rPr lang="en-US" sz="2800" b="1" dirty="0" smtClean="0">
                <a:latin typeface="Times New Roman" panose="02020603050405020304" pitchFamily="18" charset="0"/>
                <a:cs typeface="Times New Roman" panose="02020603050405020304" pitchFamily="18" charset="0"/>
              </a:rPr>
              <a:t>Paging-Example</a:t>
            </a:r>
            <a:endParaRPr lang="en-US" sz="2800" b="1"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sz="half" idx="1"/>
          </p:nvPr>
        </p:nvSpPr>
        <p:spPr>
          <a:xfrm>
            <a:off x="344037" y="1023582"/>
            <a:ext cx="5659272" cy="5691117"/>
          </a:xfrm>
        </p:spPr>
        <p:txBody>
          <a:bodyPr>
            <a:normAutofit fontScale="92500" lnSpcReduction="10000"/>
          </a:bodyPr>
          <a:lstStyle/>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Let us consider that, P2 and P4 are moved to waiting state after some time. </a:t>
            </a: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Now</a:t>
            </a:r>
            <a:r>
              <a:rPr lang="en-US" dirty="0">
                <a:latin typeface="Times New Roman" panose="02020603050405020304" pitchFamily="18" charset="0"/>
                <a:cs typeface="Times New Roman" panose="02020603050405020304" pitchFamily="18" charset="0"/>
              </a:rPr>
              <a:t>, 8 frames become empty and therefore other pages can be loaded in that empty place</a:t>
            </a:r>
            <a:r>
              <a:rPr lang="en-US"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Assume </a:t>
            </a:r>
            <a:r>
              <a:rPr lang="en-US" dirty="0">
                <a:latin typeface="Times New Roman" panose="02020603050405020304" pitchFamily="18" charset="0"/>
                <a:cs typeface="Times New Roman" panose="02020603050405020304" pitchFamily="18" charset="0"/>
              </a:rPr>
              <a:t>process P5 of size 8 KB (8 pages) is waiting inside the ready queue.</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Given the fact that, we have 8 non contiguous frames available in the memory and paging provides the flexibility of storing the process at the different places. Therefore, we can load the pages of process P5 in the place of P2 and P4</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endParaRPr lang="en-US" dirty="0"/>
          </a:p>
        </p:txBody>
      </p:sp>
      <p:pic>
        <p:nvPicPr>
          <p:cNvPr id="3" name="Picture 2"/>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6003309" y="269591"/>
            <a:ext cx="5958951" cy="6127845"/>
          </a:xfrm>
          <a:prstGeom prst="rect">
            <a:avLst/>
          </a:prstGeom>
        </p:spPr>
      </p:pic>
    </p:spTree>
    <p:extLst>
      <p:ext uri="{BB962C8B-B14F-4D97-AF65-F5344CB8AC3E}">
        <p14:creationId xmlns="" xmlns:p14="http://schemas.microsoft.com/office/powerpoint/2010/main" val="6352373"/>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44809"/>
          </a:xfrm>
        </p:spPr>
        <p:txBody>
          <a:bodyPr>
            <a:normAutofit/>
          </a:bodyPr>
          <a:lstStyle/>
          <a:p>
            <a:r>
              <a:rPr lang="en-US" sz="2800" b="1" dirty="0">
                <a:latin typeface="Times New Roman" panose="02020603050405020304" pitchFamily="18" charset="0"/>
                <a:cs typeface="Times New Roman" panose="02020603050405020304" pitchFamily="18" charset="0"/>
              </a:rPr>
              <a:t>Paging</a:t>
            </a:r>
          </a:p>
        </p:txBody>
      </p:sp>
      <p:sp>
        <p:nvSpPr>
          <p:cNvPr id="5" name="Content Placeholder 4"/>
          <p:cNvSpPr>
            <a:spLocks noGrp="1"/>
          </p:cNvSpPr>
          <p:nvPr>
            <p:ph idx="1"/>
          </p:nvPr>
        </p:nvSpPr>
        <p:spPr>
          <a:xfrm>
            <a:off x="838200" y="1160060"/>
            <a:ext cx="10515600" cy="5016903"/>
          </a:xfrm>
        </p:spPr>
        <p:txBody>
          <a:bodyPr/>
          <a:lstStyle/>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OS </a:t>
            </a:r>
            <a:r>
              <a:rPr lang="en-US" dirty="0">
                <a:latin typeface="Times New Roman" panose="02020603050405020304" pitchFamily="18" charset="0"/>
                <a:cs typeface="Times New Roman" panose="02020603050405020304" pitchFamily="18" charset="0"/>
              </a:rPr>
              <a:t>needs to do two things for paging</a:t>
            </a:r>
          </a:p>
          <a:p>
            <a:pPr marL="0" indent="0">
              <a:buNone/>
            </a:pPr>
            <a:r>
              <a:rPr lang="en-US" dirty="0">
                <a:latin typeface="Times New Roman" panose="02020603050405020304" pitchFamily="18" charset="0"/>
                <a:cs typeface="Times New Roman" panose="02020603050405020304" pitchFamily="18" charset="0"/>
              </a:rPr>
              <a:t>1. </a:t>
            </a:r>
            <a:r>
              <a:rPr lang="en-US" dirty="0" smtClean="0">
                <a:latin typeface="Times New Roman" panose="02020603050405020304" pitchFamily="18" charset="0"/>
                <a:cs typeface="Times New Roman" panose="02020603050405020304" pitchFamily="18" charset="0"/>
              </a:rPr>
              <a:t>Mapping the </a:t>
            </a:r>
            <a:r>
              <a:rPr lang="en-US" dirty="0">
                <a:latin typeface="Times New Roman" panose="02020603050405020304" pitchFamily="18" charset="0"/>
                <a:cs typeface="Times New Roman" panose="02020603050405020304" pitchFamily="18" charset="0"/>
              </a:rPr>
              <a:t>pages to frame, maintain a page table</a:t>
            </a:r>
          </a:p>
          <a:p>
            <a:pPr marL="0" indent="0">
              <a:buNone/>
            </a:pPr>
            <a:r>
              <a:rPr lang="en-US" dirty="0">
                <a:latin typeface="Times New Roman" panose="02020603050405020304" pitchFamily="18" charset="0"/>
                <a:cs typeface="Times New Roman" panose="02020603050405020304" pitchFamily="18" charset="0"/>
              </a:rPr>
              <a:t>2. Translate the virtual address (contiguous) into physical address (not so easy as the physical address for a process is scattered all over the memory)</a:t>
            </a:r>
          </a:p>
        </p:txBody>
      </p:sp>
    </p:spTree>
    <p:extLst>
      <p:ext uri="{BB962C8B-B14F-4D97-AF65-F5344CB8AC3E}">
        <p14:creationId xmlns="" xmlns:p14="http://schemas.microsoft.com/office/powerpoint/2010/main" val="1267641738"/>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13048"/>
          </a:xfrm>
        </p:spPr>
        <p:txBody>
          <a:bodyPr>
            <a:normAutofit/>
          </a:bodyPr>
          <a:lstStyle/>
          <a:p>
            <a:r>
              <a:rPr lang="en-US" sz="2800" b="1" dirty="0" smtClean="0">
                <a:latin typeface="Times New Roman" panose="02020603050405020304" pitchFamily="18" charset="0"/>
                <a:cs typeface="Times New Roman" panose="02020603050405020304" pitchFamily="18" charset="0"/>
              </a:rPr>
              <a:t>Page Table</a:t>
            </a:r>
            <a:endParaRPr lang="en-US" sz="2800" b="1" dirty="0">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sz="half" idx="1"/>
          </p:nvPr>
        </p:nvSpPr>
        <p:spPr>
          <a:xfrm>
            <a:off x="200993" y="1255594"/>
            <a:ext cx="5872261" cy="5281683"/>
          </a:xfrm>
        </p:spPr>
        <p:txBody>
          <a:bodyPr>
            <a:normAutofit lnSpcReduction="10000"/>
          </a:bodyPr>
          <a:lstStyle/>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Page Table is a data structure used by the virtual memory system to store the mapping between logical addresses and physical addresses.</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Logical addresses are generated by the CPU for the pages of the processes therefore they are generally used by the processes.</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Physical addresses are the actual frame address of the memory. They are generally used by the hardware or more specifically by RAM subsystems.</a:t>
            </a:r>
          </a:p>
          <a:p>
            <a:pPr marL="0" indent="0">
              <a:buNone/>
            </a:pPr>
            <a:endParaRPr lang="en-US" dirty="0"/>
          </a:p>
        </p:txBody>
      </p:sp>
      <p:pic>
        <p:nvPicPr>
          <p:cNvPr id="6" name="Picture 5"/>
          <p:cNvPicPr>
            <a:picLocks noChangeAspect="1"/>
          </p:cNvPicPr>
          <p:nvPr/>
        </p:nvPicPr>
        <p:blipFill>
          <a:blip r:embed="rId2"/>
          <a:stretch>
            <a:fillRect/>
          </a:stretch>
        </p:blipFill>
        <p:spPr>
          <a:xfrm>
            <a:off x="6073254" y="1419367"/>
            <a:ext cx="5964073" cy="4230806"/>
          </a:xfrm>
          <a:prstGeom prst="rect">
            <a:avLst/>
          </a:prstGeom>
        </p:spPr>
      </p:pic>
    </p:spTree>
    <p:extLst>
      <p:ext uri="{BB962C8B-B14F-4D97-AF65-F5344CB8AC3E}">
        <p14:creationId xmlns="" xmlns:p14="http://schemas.microsoft.com/office/powerpoint/2010/main" val="454991568"/>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03865"/>
          </a:xfrm>
        </p:spPr>
        <p:txBody>
          <a:bodyPr>
            <a:normAutofit/>
          </a:bodyPr>
          <a:lstStyle/>
          <a:p>
            <a:r>
              <a:rPr lang="en-US" sz="2800" b="1" dirty="0" smtClean="0">
                <a:latin typeface="Times New Roman" panose="02020603050405020304" pitchFamily="18" charset="0"/>
                <a:cs typeface="Times New Roman" panose="02020603050405020304" pitchFamily="18" charset="0"/>
              </a:rPr>
              <a:t>Page Table Entry(PTE)</a:t>
            </a:r>
            <a:endParaRPr lang="en-US" sz="2800" b="1"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838200" y="1378424"/>
            <a:ext cx="10515600" cy="4798539"/>
          </a:xfrm>
        </p:spPr>
        <p:txBody>
          <a:bodyPr/>
          <a:lstStyle/>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Page table has page table entries where each page table entry stores a frame number </a:t>
            </a:r>
            <a:r>
              <a:rPr lang="en-US" dirty="0" smtClean="0">
                <a:latin typeface="Times New Roman" panose="02020603050405020304" pitchFamily="18" charset="0"/>
                <a:cs typeface="Times New Roman" panose="02020603050405020304" pitchFamily="18" charset="0"/>
              </a:rPr>
              <a:t>and many other bits representing some extra information regarding the page.</a:t>
            </a:r>
          </a:p>
          <a:p>
            <a:pPr marL="0" indent="0">
              <a:buNone/>
            </a:pPr>
            <a:endParaRPr lang="en-US" dirty="0" smtClean="0"/>
          </a:p>
          <a:p>
            <a:endParaRPr lang="en-US" dirty="0"/>
          </a:p>
        </p:txBody>
      </p:sp>
      <p:pic>
        <p:nvPicPr>
          <p:cNvPr id="6" name="Picture 5"/>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2967178" y="3166281"/>
            <a:ext cx="7295937" cy="1937200"/>
          </a:xfrm>
          <a:prstGeom prst="rect">
            <a:avLst/>
          </a:prstGeom>
        </p:spPr>
      </p:pic>
    </p:spTree>
    <p:extLst>
      <p:ext uri="{BB962C8B-B14F-4D97-AF65-F5344CB8AC3E}">
        <p14:creationId xmlns="" xmlns:p14="http://schemas.microsoft.com/office/powerpoint/2010/main" val="1715195678"/>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03865"/>
          </a:xfrm>
        </p:spPr>
        <p:txBody>
          <a:bodyPr>
            <a:normAutofit/>
          </a:bodyPr>
          <a:lstStyle/>
          <a:p>
            <a:r>
              <a:rPr lang="en-US" sz="2800" b="1" dirty="0" smtClean="0">
                <a:latin typeface="Times New Roman" panose="02020603050405020304" pitchFamily="18" charset="0"/>
                <a:cs typeface="Times New Roman" panose="02020603050405020304" pitchFamily="18" charset="0"/>
              </a:rPr>
              <a:t>Page Table Entry(PTE)</a:t>
            </a:r>
            <a:endParaRPr lang="en-US" sz="2800" b="1"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838200" y="1378424"/>
            <a:ext cx="10926170" cy="4798539"/>
          </a:xfrm>
        </p:spPr>
        <p:txBody>
          <a:bodyPr>
            <a:normAutofit lnSpcReduction="10000"/>
          </a:bodyPr>
          <a:lstStyle/>
          <a:p>
            <a:pPr>
              <a:buFont typeface="Wingdings" panose="05000000000000000000" pitchFamily="2" charset="2"/>
              <a:buChar char="v"/>
            </a:pPr>
            <a:r>
              <a:rPr lang="en-US" b="1" dirty="0" smtClean="0">
                <a:latin typeface="Times New Roman" panose="02020603050405020304" pitchFamily="18" charset="0"/>
                <a:cs typeface="Times New Roman" panose="02020603050405020304" pitchFamily="18" charset="0"/>
              </a:rPr>
              <a:t>Frame </a:t>
            </a:r>
            <a:r>
              <a:rPr lang="en-US" b="1" dirty="0">
                <a:latin typeface="Times New Roman" panose="02020603050405020304" pitchFamily="18" charset="0"/>
                <a:cs typeface="Times New Roman" panose="02020603050405020304" pitchFamily="18" charset="0"/>
              </a:rPr>
              <a:t>number</a:t>
            </a:r>
            <a:r>
              <a:rPr lang="en-US" b="1" dirty="0" smtClean="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actual  page frame number.</a:t>
            </a:r>
          </a:p>
          <a:p>
            <a:pPr>
              <a:buFont typeface="Wingdings" panose="05000000000000000000" pitchFamily="2" charset="2"/>
              <a:buChar char="v"/>
            </a:pPr>
            <a:r>
              <a:rPr lang="en-US" b="1" dirty="0" smtClean="0">
                <a:latin typeface="Times New Roman" panose="02020603050405020304" pitchFamily="18" charset="0"/>
                <a:cs typeface="Times New Roman" panose="02020603050405020304" pitchFamily="18" charset="0"/>
              </a:rPr>
              <a:t>Present </a:t>
            </a:r>
            <a:r>
              <a:rPr lang="en-US" b="1" dirty="0">
                <a:latin typeface="Times New Roman" panose="02020603050405020304" pitchFamily="18" charset="0"/>
                <a:cs typeface="Times New Roman" panose="02020603050405020304" pitchFamily="18" charset="0"/>
              </a:rPr>
              <a:t>(1) / Absent (0) bit</a:t>
            </a:r>
            <a:r>
              <a:rPr lang="en-US" dirty="0">
                <a:latin typeface="Times New Roman" panose="02020603050405020304" pitchFamily="18" charset="0"/>
                <a:cs typeface="Times New Roman" panose="02020603050405020304" pitchFamily="18" charset="0"/>
              </a:rPr>
              <a:t>: Defines whether the virtual page is currently mapped or not.</a:t>
            </a:r>
          </a:p>
          <a:p>
            <a:pPr>
              <a:buFont typeface="Wingdings" panose="05000000000000000000" pitchFamily="2" charset="2"/>
              <a:buChar char="v"/>
            </a:pPr>
            <a:r>
              <a:rPr lang="en-US" b="1" dirty="0" smtClean="0">
                <a:latin typeface="Times New Roman" panose="02020603050405020304" pitchFamily="18" charset="0"/>
                <a:cs typeface="Times New Roman" panose="02020603050405020304" pitchFamily="18" charset="0"/>
              </a:rPr>
              <a:t>Protection </a:t>
            </a:r>
            <a:r>
              <a:rPr lang="en-US" b="1" dirty="0">
                <a:latin typeface="Times New Roman" panose="02020603050405020304" pitchFamily="18" charset="0"/>
                <a:cs typeface="Times New Roman" panose="02020603050405020304" pitchFamily="18" charset="0"/>
              </a:rPr>
              <a:t>bit: </a:t>
            </a:r>
            <a:r>
              <a:rPr lang="en-US" dirty="0">
                <a:latin typeface="Times New Roman" panose="02020603050405020304" pitchFamily="18" charset="0"/>
                <a:cs typeface="Times New Roman" panose="02020603050405020304" pitchFamily="18" charset="0"/>
              </a:rPr>
              <a:t>Kinds of access permission; read/write/execution.</a:t>
            </a:r>
          </a:p>
          <a:p>
            <a:pPr>
              <a:buFont typeface="Wingdings" panose="05000000000000000000" pitchFamily="2" charset="2"/>
              <a:buChar char="v"/>
            </a:pPr>
            <a:r>
              <a:rPr lang="en-US" b="1" dirty="0" smtClean="0">
                <a:latin typeface="Times New Roman" panose="02020603050405020304" pitchFamily="18" charset="0"/>
                <a:cs typeface="Times New Roman" panose="02020603050405020304" pitchFamily="18" charset="0"/>
              </a:rPr>
              <a:t>Modified </a:t>
            </a:r>
            <a:r>
              <a:rPr lang="en-US" b="1" dirty="0">
                <a:latin typeface="Times New Roman" panose="02020603050405020304" pitchFamily="18" charset="0"/>
                <a:cs typeface="Times New Roman" panose="02020603050405020304" pitchFamily="18" charset="0"/>
              </a:rPr>
              <a:t>bit/dirty bit: </a:t>
            </a:r>
            <a:r>
              <a:rPr lang="en-US" dirty="0">
                <a:latin typeface="Times New Roman" panose="02020603050405020304" pitchFamily="18" charset="0"/>
                <a:cs typeface="Times New Roman" panose="02020603050405020304" pitchFamily="18" charset="0"/>
              </a:rPr>
              <a:t>Defines  the changed status of the page since last access.</a:t>
            </a:r>
          </a:p>
          <a:p>
            <a:pPr>
              <a:buFont typeface="Wingdings" panose="05000000000000000000" pitchFamily="2" charset="2"/>
              <a:buChar char="v"/>
            </a:pPr>
            <a:r>
              <a:rPr lang="en-US" b="1" dirty="0" smtClean="0">
                <a:latin typeface="Times New Roman" panose="02020603050405020304" pitchFamily="18" charset="0"/>
                <a:cs typeface="Times New Roman" panose="02020603050405020304" pitchFamily="18" charset="0"/>
              </a:rPr>
              <a:t>Referenced </a:t>
            </a:r>
            <a:r>
              <a:rPr lang="en-US" b="1" dirty="0">
                <a:latin typeface="Times New Roman" panose="02020603050405020304" pitchFamily="18" charset="0"/>
                <a:cs typeface="Times New Roman" panose="02020603050405020304" pitchFamily="18" charset="0"/>
              </a:rPr>
              <a:t>bit: </a:t>
            </a:r>
            <a:r>
              <a:rPr lang="en-US" dirty="0">
                <a:latin typeface="Times New Roman" panose="02020603050405020304" pitchFamily="18" charset="0"/>
                <a:cs typeface="Times New Roman" panose="02020603050405020304" pitchFamily="18" charset="0"/>
              </a:rPr>
              <a:t>is set when a page is referenced. Used for replacement strategy.</a:t>
            </a:r>
          </a:p>
          <a:p>
            <a:pPr>
              <a:buFont typeface="Wingdings" panose="05000000000000000000" pitchFamily="2" charset="2"/>
              <a:buChar char="v"/>
            </a:pPr>
            <a:r>
              <a:rPr lang="en-US" b="1" dirty="0" smtClean="0">
                <a:latin typeface="Times New Roman" panose="02020603050405020304" pitchFamily="18" charset="0"/>
                <a:cs typeface="Times New Roman" panose="02020603050405020304" pitchFamily="18" charset="0"/>
              </a:rPr>
              <a:t>Caching </a:t>
            </a:r>
            <a:r>
              <a:rPr lang="en-US" b="1" dirty="0">
                <a:latin typeface="Times New Roman" panose="02020603050405020304" pitchFamily="18" charset="0"/>
                <a:cs typeface="Times New Roman" panose="02020603050405020304" pitchFamily="18" charset="0"/>
              </a:rPr>
              <a:t>disabled: </a:t>
            </a:r>
            <a:r>
              <a:rPr lang="en-US" dirty="0">
                <a:latin typeface="Times New Roman" panose="02020603050405020304" pitchFamily="18" charset="0"/>
                <a:cs typeface="Times New Roman" panose="02020603050405020304" pitchFamily="18" charset="0"/>
              </a:rPr>
              <a:t>allows caching to be disabled for the page</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size of PTE varies from computer to computer, but 32 bits (4 bytes) is a common size</a:t>
            </a:r>
          </a:p>
          <a:p>
            <a:pPr>
              <a:buFont typeface="Wingdings" panose="05000000000000000000" pitchFamily="2" charset="2"/>
              <a:buChar char="v"/>
            </a:pPr>
            <a:endParaRPr lang="en-US" dirty="0" smtClean="0"/>
          </a:p>
          <a:p>
            <a:endParaRPr lang="en-US" dirty="0"/>
          </a:p>
        </p:txBody>
      </p:sp>
    </p:spTree>
    <p:extLst>
      <p:ext uri="{BB962C8B-B14F-4D97-AF65-F5344CB8AC3E}">
        <p14:creationId xmlns="" xmlns:p14="http://schemas.microsoft.com/office/powerpoint/2010/main" val="331702858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03866"/>
          </a:xfrm>
        </p:spPr>
        <p:txBody>
          <a:bodyPr>
            <a:normAutofit/>
          </a:bodyPr>
          <a:lstStyle/>
          <a:p>
            <a:r>
              <a:rPr lang="en-US" sz="2800" b="1" dirty="0">
                <a:latin typeface="Times New Roman" panose="02020603050405020304" pitchFamily="18" charset="0"/>
                <a:cs typeface="Times New Roman" panose="02020603050405020304" pitchFamily="18" charset="0"/>
              </a:rPr>
              <a:t>Characteristics of the Page </a:t>
            </a:r>
            <a:r>
              <a:rPr lang="en-US" sz="2800" b="1" dirty="0" smtClean="0">
                <a:latin typeface="Times New Roman" panose="02020603050405020304" pitchFamily="18" charset="0"/>
                <a:cs typeface="Times New Roman" panose="02020603050405020304" pitchFamily="18" charset="0"/>
              </a:rPr>
              <a:t>Table</a:t>
            </a:r>
            <a:endParaRPr lang="en-US" sz="2800" b="1"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838200" y="1241946"/>
            <a:ext cx="10515600" cy="4935017"/>
          </a:xfrm>
        </p:spPr>
        <p:txBody>
          <a:bodyPr/>
          <a:lstStyle/>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It is stored in the main memory.</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Generally; the Number of entries in the page table = the Number of Pages in which the process is divided.</a:t>
            </a:r>
          </a:p>
          <a:p>
            <a:pPr>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PTBR</a:t>
            </a:r>
            <a:r>
              <a:rPr lang="en-US" dirty="0">
                <a:latin typeface="Times New Roman" panose="02020603050405020304" pitchFamily="18" charset="0"/>
                <a:cs typeface="Times New Roman" panose="02020603050405020304" pitchFamily="18" charset="0"/>
              </a:rPr>
              <a:t> means </a:t>
            </a:r>
            <a:r>
              <a:rPr lang="en-US" b="1" dirty="0" smtClean="0">
                <a:latin typeface="Times New Roman" panose="02020603050405020304" pitchFamily="18" charset="0"/>
                <a:cs typeface="Times New Roman" panose="02020603050405020304" pitchFamily="18" charset="0"/>
              </a:rPr>
              <a:t>Page Table Base Register </a:t>
            </a:r>
            <a:r>
              <a:rPr lang="en-US" dirty="0" smtClean="0">
                <a:latin typeface="Times New Roman" panose="02020603050405020304" pitchFamily="18" charset="0"/>
                <a:cs typeface="Times New Roman" panose="02020603050405020304" pitchFamily="18" charset="0"/>
              </a:rPr>
              <a:t>and </a:t>
            </a:r>
            <a:r>
              <a:rPr lang="en-US" dirty="0">
                <a:latin typeface="Times New Roman" panose="02020603050405020304" pitchFamily="18" charset="0"/>
                <a:cs typeface="Times New Roman" panose="02020603050405020304" pitchFamily="18" charset="0"/>
              </a:rPr>
              <a:t>it is basically used to hold the base address for the page table of the current process.</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Each process has its own independent page table.</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1351682356"/>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99400"/>
          </a:xfrm>
        </p:spPr>
        <p:txBody>
          <a:bodyPr>
            <a:normAutofit/>
          </a:bodyPr>
          <a:lstStyle/>
          <a:p>
            <a:r>
              <a:rPr lang="en-US" sz="2800" b="1" dirty="0" smtClean="0">
                <a:latin typeface="Times New Roman" panose="02020603050405020304" pitchFamily="18" charset="0"/>
                <a:cs typeface="Times New Roman" panose="02020603050405020304" pitchFamily="18" charset="0"/>
              </a:rPr>
              <a:t>Address Translation</a:t>
            </a:r>
            <a:endParaRPr lang="en-US"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228299"/>
            <a:ext cx="10515600" cy="4948664"/>
          </a:xfrm>
        </p:spPr>
        <p:txBody>
          <a:bodyPr/>
          <a:lstStyle/>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conversion from virtual address to the physical address is done by </a:t>
            </a:r>
            <a:r>
              <a:rPr lang="en-US" dirty="0" smtClean="0">
                <a:latin typeface="Times New Roman" panose="02020603050405020304" pitchFamily="18" charset="0"/>
                <a:cs typeface="Times New Roman" panose="02020603050405020304" pitchFamily="18" charset="0"/>
              </a:rPr>
              <a:t>MMU(Memory Management Unit).</a:t>
            </a:r>
          </a:p>
          <a:p>
            <a:pPr marL="0" indent="0">
              <a:buNone/>
            </a:pPr>
            <a:endParaRPr lang="en-US" dirty="0"/>
          </a:p>
          <a:p>
            <a:endParaRPr lang="en-US" dirty="0"/>
          </a:p>
        </p:txBody>
      </p:sp>
      <p:pic>
        <p:nvPicPr>
          <p:cNvPr id="4" name="Picture 3"/>
          <p:cNvPicPr>
            <a:picLocks noChangeAspect="1"/>
          </p:cNvPicPr>
          <p:nvPr/>
        </p:nvPicPr>
        <p:blipFill>
          <a:blip r:embed="rId2"/>
          <a:stretch>
            <a:fillRect/>
          </a:stretch>
        </p:blipFill>
        <p:spPr>
          <a:xfrm>
            <a:off x="2641758" y="2087090"/>
            <a:ext cx="7484882" cy="4089873"/>
          </a:xfrm>
          <a:prstGeom prst="rect">
            <a:avLst/>
          </a:prstGeom>
        </p:spPr>
      </p:pic>
    </p:spTree>
    <p:extLst>
      <p:ext uri="{BB962C8B-B14F-4D97-AF65-F5344CB8AC3E}">
        <p14:creationId xmlns="" xmlns:p14="http://schemas.microsoft.com/office/powerpoint/2010/main" val="497301782"/>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smtClean="0">
                <a:latin typeface="Times New Roman" panose="02020603050405020304" pitchFamily="18" charset="0"/>
                <a:cs typeface="Times New Roman" panose="02020603050405020304" pitchFamily="18" charset="0"/>
              </a:rPr>
              <a:t>Address Translation-Example</a:t>
            </a:r>
            <a:endParaRPr lang="en-US"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838200" y="1690688"/>
            <a:ext cx="5125872" cy="4486275"/>
          </a:xfrm>
        </p:spPr>
        <p:txBody>
          <a:bodyPr/>
          <a:lstStyle/>
          <a:p>
            <a:pPr>
              <a:buFont typeface="Wingdings" panose="05000000000000000000" pitchFamily="2" charset="2"/>
              <a:buChar char="v"/>
            </a:pPr>
            <a:r>
              <a:rPr lang="pl-PL" dirty="0">
                <a:latin typeface="Times New Roman" panose="02020603050405020304" pitchFamily="18" charset="0"/>
                <a:cs typeface="Times New Roman" panose="02020603050405020304" pitchFamily="18" charset="0"/>
              </a:rPr>
              <a:t>64KB program, 4 KB </a:t>
            </a:r>
            <a:r>
              <a:rPr lang="pl-PL" dirty="0" smtClean="0">
                <a:latin typeface="Times New Roman" panose="02020603050405020304" pitchFamily="18" charset="0"/>
                <a:cs typeface="Times New Roman" panose="02020603050405020304" pitchFamily="18" charset="0"/>
              </a:rPr>
              <a:t>pages</a:t>
            </a:r>
            <a:r>
              <a:rPr lang="en-US"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32 </a:t>
            </a:r>
            <a:r>
              <a:rPr lang="en-US" dirty="0">
                <a:latin typeface="Times New Roman" panose="02020603050405020304" pitchFamily="18" charset="0"/>
                <a:cs typeface="Times New Roman" panose="02020603050405020304" pitchFamily="18" charset="0"/>
              </a:rPr>
              <a:t>KB physical memory, </a:t>
            </a:r>
            <a:r>
              <a:rPr lang="en-US" dirty="0" smtClean="0">
                <a:latin typeface="Times New Roman" panose="02020603050405020304" pitchFamily="18" charset="0"/>
                <a:cs typeface="Times New Roman" panose="02020603050405020304" pitchFamily="18" charset="0"/>
              </a:rPr>
              <a:t>16 </a:t>
            </a:r>
            <a:r>
              <a:rPr lang="en-US" dirty="0">
                <a:latin typeface="Times New Roman" panose="02020603050405020304" pitchFamily="18" charset="0"/>
                <a:cs typeface="Times New Roman" panose="02020603050405020304" pitchFamily="18" charset="0"/>
              </a:rPr>
              <a:t>virtual pages and 8 page </a:t>
            </a:r>
            <a:r>
              <a:rPr lang="en-US" dirty="0" smtClean="0">
                <a:latin typeface="Times New Roman" panose="02020603050405020304" pitchFamily="18" charset="0"/>
                <a:cs typeface="Times New Roman" panose="02020603050405020304" pitchFamily="18" charset="0"/>
              </a:rPr>
              <a:t>frames</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Range </a:t>
            </a:r>
            <a:r>
              <a:rPr lang="en-US" dirty="0">
                <a:latin typeface="Times New Roman" panose="02020603050405020304" pitchFamily="18" charset="0"/>
                <a:cs typeface="Times New Roman" panose="02020603050405020304" pitchFamily="18" charset="0"/>
              </a:rPr>
              <a:t>marked 0k-4k means that the physical or virtual addresses in that page are 0 to 4095</a:t>
            </a:r>
          </a:p>
          <a:p>
            <a:endParaRPr lang="en-US" dirty="0"/>
          </a:p>
        </p:txBody>
      </p:sp>
      <p:pic>
        <p:nvPicPr>
          <p:cNvPr id="6" name="Content Placeholder 5"/>
          <p:cNvPicPr>
            <a:picLocks noGrp="1" noChangeAspect="1"/>
          </p:cNvPicPr>
          <p:nvPr>
            <p:ph sz="half" idx="2"/>
          </p:nvPr>
        </p:nvPicPr>
        <p:blipFill>
          <a:blip r:embed="rId2"/>
          <a:stretch>
            <a:fillRect/>
          </a:stretch>
        </p:blipFill>
        <p:spPr>
          <a:xfrm>
            <a:off x="6441744" y="136478"/>
            <a:ext cx="5308978" cy="6564573"/>
          </a:xfrm>
          <a:prstGeom prst="rect">
            <a:avLst/>
          </a:prstGeom>
        </p:spPr>
      </p:pic>
    </p:spTree>
    <p:extLst>
      <p:ext uri="{BB962C8B-B14F-4D97-AF65-F5344CB8AC3E}">
        <p14:creationId xmlns="" xmlns:p14="http://schemas.microsoft.com/office/powerpoint/2010/main" val="1946126351"/>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67639"/>
          </a:xfrm>
        </p:spPr>
        <p:txBody>
          <a:bodyPr>
            <a:normAutofit/>
          </a:bodyPr>
          <a:lstStyle/>
          <a:p>
            <a:r>
              <a:rPr lang="en-US" sz="2800" b="1" dirty="0" smtClean="0">
                <a:latin typeface="Times New Roman" panose="02020603050405020304" pitchFamily="18" charset="0"/>
                <a:cs typeface="Times New Roman" panose="02020603050405020304" pitchFamily="18" charset="0"/>
              </a:rPr>
              <a:t>Address Translation-Example</a:t>
            </a:r>
            <a:endParaRPr lang="en-US"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419367"/>
            <a:ext cx="10515600" cy="4757596"/>
          </a:xfrm>
        </p:spPr>
        <p:txBody>
          <a:bodyPr>
            <a:normAutofit/>
          </a:bodyPr>
          <a:lstStyle/>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Consider </a:t>
            </a:r>
            <a:r>
              <a:rPr lang="en-US" dirty="0">
                <a:latin typeface="Times New Roman" panose="02020603050405020304" pitchFamily="18" charset="0"/>
                <a:cs typeface="Times New Roman" panose="02020603050405020304" pitchFamily="18" charset="0"/>
              </a:rPr>
              <a:t>an instruction </a:t>
            </a:r>
            <a:r>
              <a:rPr lang="en-US" b="1" dirty="0">
                <a:latin typeface="Times New Roman" panose="02020603050405020304" pitchFamily="18" charset="0"/>
                <a:cs typeface="Times New Roman" panose="02020603050405020304" pitchFamily="18" charset="0"/>
              </a:rPr>
              <a:t>MOV REG,0</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Virtual </a:t>
            </a:r>
            <a:r>
              <a:rPr lang="en-US" dirty="0">
                <a:latin typeface="Times New Roman" panose="02020603050405020304" pitchFamily="18" charset="0"/>
                <a:cs typeface="Times New Roman" panose="02020603050405020304" pitchFamily="18" charset="0"/>
              </a:rPr>
              <a:t>address </a:t>
            </a:r>
            <a:r>
              <a:rPr lang="en-US" b="1" dirty="0">
                <a:latin typeface="Times New Roman" panose="02020603050405020304" pitchFamily="18" charset="0"/>
                <a:cs typeface="Times New Roman" panose="02020603050405020304" pitchFamily="18" charset="0"/>
              </a:rPr>
              <a:t>0 is sent to MMU</a:t>
            </a:r>
            <a:r>
              <a:rPr lang="en-US" dirty="0">
                <a:latin typeface="Times New Roman" panose="02020603050405020304" pitchFamily="18" charset="0"/>
                <a:cs typeface="Times New Roman" panose="02020603050405020304" pitchFamily="18" charset="0"/>
              </a:rPr>
              <a:t>. The MMU sees that this virtual address falls in page 0 (0 to 4095), which is </a:t>
            </a:r>
            <a:r>
              <a:rPr lang="en-US" b="1" dirty="0">
                <a:latin typeface="Times New Roman" panose="02020603050405020304" pitchFamily="18" charset="0"/>
                <a:cs typeface="Times New Roman" panose="02020603050405020304" pitchFamily="18" charset="0"/>
              </a:rPr>
              <a:t>mapped to page frame 2(8192 to 12287)</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Thus </a:t>
            </a:r>
            <a:r>
              <a:rPr lang="en-US" dirty="0">
                <a:latin typeface="Times New Roman" panose="02020603050405020304" pitchFamily="18" charset="0"/>
                <a:cs typeface="Times New Roman" panose="02020603050405020304" pitchFamily="18" charset="0"/>
              </a:rPr>
              <a:t>it transforms the address to 8192 &amp; outputs </a:t>
            </a:r>
            <a:r>
              <a:rPr lang="en-US" b="1" dirty="0">
                <a:latin typeface="Times New Roman" panose="02020603050405020304" pitchFamily="18" charset="0"/>
                <a:cs typeface="Times New Roman" panose="02020603050405020304" pitchFamily="18" charset="0"/>
              </a:rPr>
              <a:t>8192</a:t>
            </a:r>
            <a:r>
              <a:rPr lang="en-US" dirty="0">
                <a:latin typeface="Times New Roman" panose="02020603050405020304" pitchFamily="18" charset="0"/>
                <a:cs typeface="Times New Roman" panose="02020603050405020304" pitchFamily="18" charset="0"/>
              </a:rPr>
              <a:t>onto the bus</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Similarly </a:t>
            </a:r>
            <a:r>
              <a:rPr lang="en-US" b="1" dirty="0">
                <a:latin typeface="Times New Roman" panose="02020603050405020304" pitchFamily="18" charset="0"/>
                <a:cs typeface="Times New Roman" panose="02020603050405020304" pitchFamily="18" charset="0"/>
              </a:rPr>
              <a:t>MOV  REG, 8192 </a:t>
            </a:r>
            <a:r>
              <a:rPr lang="en-US" dirty="0">
                <a:latin typeface="Times New Roman" panose="02020603050405020304" pitchFamily="18" charset="0"/>
                <a:cs typeface="Times New Roman" panose="02020603050405020304" pitchFamily="18" charset="0"/>
              </a:rPr>
              <a:t>(virtual page 2) is effectively transformed into </a:t>
            </a:r>
            <a:r>
              <a:rPr lang="en-US" b="1" dirty="0">
                <a:latin typeface="Times New Roman" panose="02020603050405020304" pitchFamily="18" charset="0"/>
                <a:cs typeface="Times New Roman" panose="02020603050405020304" pitchFamily="18" charset="0"/>
              </a:rPr>
              <a:t>MOV REG, 24576</a:t>
            </a:r>
            <a:r>
              <a:rPr lang="en-US" dirty="0">
                <a:latin typeface="Times New Roman" panose="02020603050405020304" pitchFamily="18" charset="0"/>
                <a:cs typeface="Times New Roman" panose="02020603050405020304" pitchFamily="18" charset="0"/>
              </a:rPr>
              <a:t>(physical page frame 6)</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Also</a:t>
            </a:r>
            <a:r>
              <a:rPr lang="en-US" dirty="0">
                <a:latin typeface="Times New Roman" panose="02020603050405020304" pitchFamily="18" charset="0"/>
                <a:cs typeface="Times New Roman" panose="02020603050405020304" pitchFamily="18" charset="0"/>
              </a:rPr>
              <a:t>, a virtual address </a:t>
            </a:r>
            <a:r>
              <a:rPr lang="en-US" b="1" dirty="0">
                <a:latin typeface="Times New Roman" panose="02020603050405020304" pitchFamily="18" charset="0"/>
                <a:cs typeface="Times New Roman" panose="02020603050405020304" pitchFamily="18" charset="0"/>
              </a:rPr>
              <a:t>20500 </a:t>
            </a:r>
            <a:r>
              <a:rPr lang="en-US" dirty="0">
                <a:latin typeface="Times New Roman" panose="02020603050405020304" pitchFamily="18" charset="0"/>
                <a:cs typeface="Times New Roman" panose="02020603050405020304" pitchFamily="18" charset="0"/>
              </a:rPr>
              <a:t>is </a:t>
            </a:r>
            <a:r>
              <a:rPr lang="en-US" b="1" dirty="0">
                <a:latin typeface="Times New Roman" panose="02020603050405020304" pitchFamily="18" charset="0"/>
                <a:cs typeface="Times New Roman" panose="02020603050405020304" pitchFamily="18" charset="0"/>
              </a:rPr>
              <a:t>20 bytes from the start of the virtual page 6 </a:t>
            </a:r>
            <a:r>
              <a:rPr lang="en-US" dirty="0">
                <a:latin typeface="Times New Roman" panose="02020603050405020304" pitchFamily="18" charset="0"/>
                <a:cs typeface="Times New Roman" panose="02020603050405020304" pitchFamily="18" charset="0"/>
              </a:rPr>
              <a:t>(virtual addresses 20480 to 24575) and maps onto physical address </a:t>
            </a:r>
            <a:r>
              <a:rPr lang="en-US" b="1" dirty="0">
                <a:latin typeface="Times New Roman" panose="02020603050405020304" pitchFamily="18" charset="0"/>
                <a:cs typeface="Times New Roman" panose="02020603050405020304" pitchFamily="18" charset="0"/>
              </a:rPr>
              <a:t>12288+20=12308</a:t>
            </a:r>
            <a:endParaRPr lang="en-US"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 xmlns:p14="http://schemas.microsoft.com/office/powerpoint/2010/main" val="959502072"/>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13048"/>
          </a:xfrm>
        </p:spPr>
        <p:txBody>
          <a:bodyPr>
            <a:normAutofit/>
          </a:bodyPr>
          <a:lstStyle/>
          <a:p>
            <a:r>
              <a:rPr lang="en-US" sz="2800" b="1" dirty="0">
                <a:latin typeface="Times New Roman" panose="02020603050405020304" pitchFamily="18" charset="0"/>
                <a:cs typeface="Times New Roman" panose="02020603050405020304" pitchFamily="18" charset="0"/>
              </a:rPr>
              <a:t>Address </a:t>
            </a:r>
            <a:r>
              <a:rPr lang="en-US" sz="2800" b="1" dirty="0" smtClean="0">
                <a:latin typeface="Times New Roman" panose="02020603050405020304" pitchFamily="18" charset="0"/>
                <a:cs typeface="Times New Roman" panose="02020603050405020304" pitchFamily="18" charset="0"/>
              </a:rPr>
              <a:t>Translation</a:t>
            </a:r>
            <a:endParaRPr lang="en-US"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255594"/>
            <a:ext cx="10515600" cy="5472752"/>
          </a:xfrm>
        </p:spPr>
        <p:txBody>
          <a:bodyPr>
            <a:normAutofit fontScale="92500" lnSpcReduction="10000"/>
          </a:bodyPr>
          <a:lstStyle/>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Every </a:t>
            </a:r>
            <a:r>
              <a:rPr lang="en-US" dirty="0">
                <a:latin typeface="Times New Roman" panose="02020603050405020304" pitchFamily="18" charset="0"/>
                <a:cs typeface="Times New Roman" panose="02020603050405020304" pitchFamily="18" charset="0"/>
              </a:rPr>
              <a:t>address generated by the CPU is divided into two parts:</a:t>
            </a:r>
          </a:p>
          <a:p>
            <a:pPr marL="914400" lvl="1" indent="-457200">
              <a:buAutoNum type="arabicPeriod"/>
            </a:pPr>
            <a:r>
              <a:rPr lang="en-US" sz="2800" dirty="0" smtClean="0">
                <a:latin typeface="Times New Roman" panose="02020603050405020304" pitchFamily="18" charset="0"/>
                <a:cs typeface="Times New Roman" panose="02020603050405020304" pitchFamily="18" charset="0"/>
              </a:rPr>
              <a:t>page </a:t>
            </a:r>
            <a:r>
              <a:rPr lang="en-US" sz="2800" dirty="0">
                <a:latin typeface="Times New Roman" panose="02020603050405020304" pitchFamily="18" charset="0"/>
                <a:cs typeface="Times New Roman" panose="02020603050405020304" pitchFamily="18" charset="0"/>
              </a:rPr>
              <a:t>number (p</a:t>
            </a:r>
            <a:r>
              <a:rPr lang="en-US" sz="2800" dirty="0" smtClean="0">
                <a:latin typeface="Times New Roman" panose="02020603050405020304" pitchFamily="18" charset="0"/>
                <a:cs typeface="Times New Roman" panose="02020603050405020304" pitchFamily="18" charset="0"/>
              </a:rPr>
              <a:t>)</a:t>
            </a:r>
          </a:p>
          <a:p>
            <a:pPr marL="914400" lvl="1" indent="-457200">
              <a:buAutoNum type="arabicPeriod"/>
            </a:pPr>
            <a:r>
              <a:rPr lang="en-US" sz="2800" dirty="0" smtClean="0">
                <a:latin typeface="Times New Roman" panose="02020603050405020304" pitchFamily="18" charset="0"/>
                <a:cs typeface="Times New Roman" panose="02020603050405020304" pitchFamily="18" charset="0"/>
              </a:rPr>
              <a:t>2</a:t>
            </a:r>
            <a:r>
              <a:rPr lang="en-US" sz="2800" dirty="0">
                <a:latin typeface="Times New Roman" panose="02020603050405020304" pitchFamily="18" charset="0"/>
                <a:cs typeface="Times New Roman" panose="02020603050405020304" pitchFamily="18" charset="0"/>
              </a:rPr>
              <a:t>. page offset (d)</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Virtual </a:t>
            </a:r>
            <a:r>
              <a:rPr lang="en-US" dirty="0">
                <a:latin typeface="Times New Roman" panose="02020603050405020304" pitchFamily="18" charset="0"/>
                <a:cs typeface="Times New Roman" panose="02020603050405020304" pitchFamily="18" charset="0"/>
              </a:rPr>
              <a:t>address space of size </a:t>
            </a:r>
            <a:r>
              <a:rPr lang="en-US" dirty="0" smtClean="0">
                <a:latin typeface="Times New Roman" panose="02020603050405020304" pitchFamily="18" charset="0"/>
                <a:cs typeface="Times New Roman" panose="02020603050405020304" pitchFamily="18" charset="0"/>
              </a:rPr>
              <a:t>2</a:t>
            </a:r>
            <a:r>
              <a:rPr lang="en-US" baseline="30000" dirty="0" smtClean="0">
                <a:latin typeface="Times New Roman" panose="02020603050405020304" pitchFamily="18" charset="0"/>
                <a:cs typeface="Times New Roman" panose="02020603050405020304" pitchFamily="18" charset="0"/>
              </a:rPr>
              <a:t>m </a:t>
            </a:r>
            <a:r>
              <a:rPr lang="en-US" dirty="0" smtClean="0">
                <a:latin typeface="Times New Roman" panose="02020603050405020304" pitchFamily="18" charset="0"/>
                <a:cs typeface="Times New Roman" panose="02020603050405020304" pitchFamily="18" charset="0"/>
              </a:rPr>
              <a:t>bytes </a:t>
            </a:r>
            <a:r>
              <a:rPr lang="en-US" dirty="0">
                <a:latin typeface="Times New Roman" panose="02020603050405020304" pitchFamily="18" charset="0"/>
                <a:cs typeface="Times New Roman" panose="02020603050405020304" pitchFamily="18" charset="0"/>
              </a:rPr>
              <a:t>and a </a:t>
            </a:r>
            <a:r>
              <a:rPr lang="en-US" b="1" dirty="0">
                <a:latin typeface="Times New Roman" panose="02020603050405020304" pitchFamily="18" charset="0"/>
                <a:cs typeface="Times New Roman" panose="02020603050405020304" pitchFamily="18" charset="0"/>
              </a:rPr>
              <a:t>page of size </a:t>
            </a:r>
            <a:r>
              <a:rPr lang="en-US" dirty="0">
                <a:latin typeface="Times New Roman" panose="02020603050405020304" pitchFamily="18" charset="0"/>
                <a:cs typeface="Times New Roman" panose="02020603050405020304" pitchFamily="18" charset="0"/>
              </a:rPr>
              <a:t>2</a:t>
            </a:r>
            <a:r>
              <a:rPr lang="en-US" baseline="30000" dirty="0">
                <a:latin typeface="Times New Roman" panose="02020603050405020304" pitchFamily="18" charset="0"/>
                <a:cs typeface="Times New Roman" panose="02020603050405020304" pitchFamily="18" charset="0"/>
              </a:rPr>
              <a:t>n</a:t>
            </a:r>
            <a:r>
              <a:rPr lang="en-US" dirty="0">
                <a:latin typeface="Times New Roman" panose="02020603050405020304" pitchFamily="18" charset="0"/>
                <a:cs typeface="Times New Roman" panose="02020603050405020304" pitchFamily="18" charset="0"/>
              </a:rPr>
              <a:t> , then the high order m-n bits of a virtual address select the page, and the low order n bits select the offset in the </a:t>
            </a:r>
            <a:r>
              <a:rPr lang="en-US" dirty="0" smtClean="0">
                <a:latin typeface="Times New Roman" panose="02020603050405020304" pitchFamily="18" charset="0"/>
                <a:cs typeface="Times New Roman" panose="02020603050405020304" pitchFamily="18" charset="0"/>
              </a:rPr>
              <a:t>page</a:t>
            </a:r>
          </a:p>
          <a:p>
            <a:pP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v"/>
            </a:pP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page number is used as an index into a page table</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page table contains the base address of each </a:t>
            </a:r>
            <a:r>
              <a:rPr lang="en-US" dirty="0" smtClean="0">
                <a:latin typeface="Times New Roman" panose="02020603050405020304" pitchFamily="18" charset="0"/>
                <a:cs typeface="Times New Roman" panose="02020603050405020304" pitchFamily="18" charset="0"/>
              </a:rPr>
              <a:t>page in </a:t>
            </a:r>
            <a:r>
              <a:rPr lang="en-US" dirty="0">
                <a:latin typeface="Times New Roman" panose="02020603050405020304" pitchFamily="18" charset="0"/>
                <a:cs typeface="Times New Roman" panose="02020603050405020304" pitchFamily="18" charset="0"/>
              </a:rPr>
              <a:t>physical memory. </a:t>
            </a: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This </a:t>
            </a:r>
            <a:r>
              <a:rPr lang="en-US" dirty="0">
                <a:latin typeface="Times New Roman" panose="02020603050405020304" pitchFamily="18" charset="0"/>
                <a:cs typeface="Times New Roman" panose="02020603050405020304" pitchFamily="18" charset="0"/>
              </a:rPr>
              <a:t>base address is combined with the page offset </a:t>
            </a:r>
            <a:r>
              <a:rPr lang="en-US" dirty="0" smtClean="0">
                <a:latin typeface="Times New Roman" panose="02020603050405020304" pitchFamily="18" charset="0"/>
                <a:cs typeface="Times New Roman" panose="02020603050405020304" pitchFamily="18" charset="0"/>
              </a:rPr>
              <a:t>to </a:t>
            </a:r>
            <a:r>
              <a:rPr lang="en-US" dirty="0">
                <a:latin typeface="Times New Roman" panose="02020603050405020304" pitchFamily="18" charset="0"/>
                <a:cs typeface="Times New Roman" panose="02020603050405020304" pitchFamily="18" charset="0"/>
              </a:rPr>
              <a:t>define the physical </a:t>
            </a:r>
            <a:r>
              <a:rPr lang="en-US" dirty="0" smtClean="0">
                <a:latin typeface="Times New Roman" panose="02020603050405020304" pitchFamily="18" charset="0"/>
                <a:cs typeface="Times New Roman" panose="02020603050405020304" pitchFamily="18" charset="0"/>
              </a:rPr>
              <a:t>memory address that </a:t>
            </a:r>
            <a:r>
              <a:rPr lang="en-US" dirty="0">
                <a:latin typeface="Times New Roman" panose="02020603050405020304" pitchFamily="18" charset="0"/>
                <a:cs typeface="Times New Roman" panose="02020603050405020304" pitchFamily="18" charset="0"/>
              </a:rPr>
              <a:t>is sent to the memory unit</a:t>
            </a:r>
          </a:p>
          <a:p>
            <a:pP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3511883" y="3551397"/>
            <a:ext cx="4444761" cy="881145"/>
          </a:xfrm>
          <a:prstGeom prst="rect">
            <a:avLst/>
          </a:prstGeom>
        </p:spPr>
      </p:pic>
    </p:spTree>
    <p:extLst>
      <p:ext uri="{BB962C8B-B14F-4D97-AF65-F5344CB8AC3E}">
        <p14:creationId xmlns="" xmlns:p14="http://schemas.microsoft.com/office/powerpoint/2010/main" val="3875827426"/>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13048"/>
          </a:xfrm>
        </p:spPr>
        <p:txBody>
          <a:bodyPr>
            <a:normAutofit/>
          </a:bodyPr>
          <a:lstStyle/>
          <a:p>
            <a:r>
              <a:rPr lang="en-US" sz="2800" b="1" dirty="0">
                <a:latin typeface="Times New Roman" panose="02020603050405020304" pitchFamily="18" charset="0"/>
                <a:cs typeface="Times New Roman" panose="02020603050405020304" pitchFamily="18" charset="0"/>
              </a:rPr>
              <a:t>Address </a:t>
            </a:r>
            <a:r>
              <a:rPr lang="en-US" sz="2800" b="1" dirty="0" smtClean="0">
                <a:latin typeface="Times New Roman" panose="02020603050405020304" pitchFamily="18" charset="0"/>
                <a:cs typeface="Times New Roman" panose="02020603050405020304" pitchFamily="18" charset="0"/>
              </a:rPr>
              <a:t>Translation</a:t>
            </a:r>
            <a:endParaRPr lang="en-US"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255594"/>
            <a:ext cx="10912522" cy="5472752"/>
          </a:xfrm>
        </p:spPr>
        <p:txBody>
          <a:bodyPr>
            <a:normAutofit/>
          </a:bodyPr>
          <a:lstStyle/>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Let </a:t>
            </a:r>
            <a:r>
              <a:rPr lang="en-US" dirty="0">
                <a:latin typeface="Times New Roman" panose="02020603050405020304" pitchFamily="18" charset="0"/>
                <a:cs typeface="Times New Roman" panose="02020603050405020304" pitchFamily="18" charset="0"/>
              </a:rPr>
              <a:t>us see how the incoming virtual address 8196(0010000000000100 in binary) is mapped to physical address </a:t>
            </a:r>
            <a:r>
              <a:rPr lang="en-US" dirty="0" smtClean="0">
                <a:latin typeface="Times New Roman" panose="02020603050405020304" pitchFamily="18" charset="0"/>
                <a:cs typeface="Times New Roman" panose="02020603050405020304" pitchFamily="18" charset="0"/>
              </a:rPr>
              <a:t>24580</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Incoming </a:t>
            </a:r>
            <a:r>
              <a:rPr lang="en-US" dirty="0">
                <a:latin typeface="Times New Roman" panose="02020603050405020304" pitchFamily="18" charset="0"/>
                <a:cs typeface="Times New Roman" panose="02020603050405020304" pitchFamily="18" charset="0"/>
              </a:rPr>
              <a:t>16-bit virtual address is split into 4-bit page number and 12-bit offset</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With </a:t>
            </a:r>
            <a:r>
              <a:rPr lang="en-US" dirty="0">
                <a:latin typeface="Times New Roman" panose="02020603050405020304" pitchFamily="18" charset="0"/>
                <a:cs typeface="Times New Roman" panose="02020603050405020304" pitchFamily="18" charset="0"/>
              </a:rPr>
              <a:t>4-bits, we can have 16 pages and with 12-bits for the offset, we can address all 4096 bytes within a page</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page number is used as an index into the page table, gives number of virtual pages.</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Page </a:t>
            </a:r>
            <a:r>
              <a:rPr lang="en-US" dirty="0">
                <a:latin typeface="Times New Roman" panose="02020603050405020304" pitchFamily="18" charset="0"/>
                <a:cs typeface="Times New Roman" panose="02020603050405020304" pitchFamily="18" charset="0"/>
              </a:rPr>
              <a:t>table contains Present/Absent bit also to keep track of whether a particular page number is present in memory or not </a:t>
            </a:r>
          </a:p>
          <a:p>
            <a:pP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3365176207"/>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13048"/>
          </a:xfrm>
        </p:spPr>
        <p:txBody>
          <a:bodyPr>
            <a:normAutofit/>
          </a:bodyPr>
          <a:lstStyle/>
          <a:p>
            <a:r>
              <a:rPr lang="en-US" sz="2800" b="1" dirty="0">
                <a:latin typeface="Times New Roman" panose="02020603050405020304" pitchFamily="18" charset="0"/>
                <a:cs typeface="Times New Roman" panose="02020603050405020304" pitchFamily="18" charset="0"/>
              </a:rPr>
              <a:t>Address </a:t>
            </a:r>
            <a:r>
              <a:rPr lang="en-US" sz="2800" b="1" dirty="0" smtClean="0">
                <a:latin typeface="Times New Roman" panose="02020603050405020304" pitchFamily="18" charset="0"/>
                <a:cs typeface="Times New Roman" panose="02020603050405020304" pitchFamily="18" charset="0"/>
              </a:rPr>
              <a:t>Translation</a:t>
            </a:r>
            <a:endParaRPr lang="en-US"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255594"/>
            <a:ext cx="10912522" cy="5472752"/>
          </a:xfrm>
        </p:spPr>
        <p:txBody>
          <a:bodyPr>
            <a:normAutofit/>
          </a:bodyPr>
          <a:lstStyle/>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838200" y="1392072"/>
            <a:ext cx="10426889" cy="4681182"/>
          </a:xfrm>
          <a:prstGeom prst="rect">
            <a:avLst/>
          </a:prstGeom>
        </p:spPr>
      </p:pic>
    </p:spTree>
    <p:extLst>
      <p:ext uri="{BB962C8B-B14F-4D97-AF65-F5344CB8AC3E}">
        <p14:creationId xmlns="" xmlns:p14="http://schemas.microsoft.com/office/powerpoint/2010/main" val="3092805205"/>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6416"/>
            <a:ext cx="10515600" cy="713048"/>
          </a:xfrm>
        </p:spPr>
        <p:txBody>
          <a:bodyPr>
            <a:normAutofit/>
          </a:bodyPr>
          <a:lstStyle/>
          <a:p>
            <a:r>
              <a:rPr lang="en-US" sz="2800" b="1" dirty="0">
                <a:latin typeface="Times New Roman" panose="02020603050405020304" pitchFamily="18" charset="0"/>
                <a:cs typeface="Times New Roman" panose="02020603050405020304" pitchFamily="18" charset="0"/>
              </a:rPr>
              <a:t>Address </a:t>
            </a:r>
            <a:r>
              <a:rPr lang="en-US" sz="2800" b="1" dirty="0" smtClean="0">
                <a:latin typeface="Times New Roman" panose="02020603050405020304" pitchFamily="18" charset="0"/>
                <a:cs typeface="Times New Roman" panose="02020603050405020304" pitchFamily="18" charset="0"/>
              </a:rPr>
              <a:t>Translation</a:t>
            </a:r>
            <a:endParaRPr lang="en-US"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255594"/>
            <a:ext cx="10912522" cy="5472752"/>
          </a:xfrm>
        </p:spPr>
        <p:txBody>
          <a:bodyPr>
            <a:normAutofit/>
          </a:bodyPr>
          <a:lstStyle/>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2047273" y="1078174"/>
            <a:ext cx="7656285" cy="5639052"/>
          </a:xfrm>
          <a:prstGeom prst="rect">
            <a:avLst/>
          </a:prstGeom>
        </p:spPr>
      </p:pic>
    </p:spTree>
    <p:extLst>
      <p:ext uri="{BB962C8B-B14F-4D97-AF65-F5344CB8AC3E}">
        <p14:creationId xmlns="" xmlns:p14="http://schemas.microsoft.com/office/powerpoint/2010/main" val="2610424223"/>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67639"/>
          </a:xfrm>
        </p:spPr>
        <p:txBody>
          <a:bodyPr>
            <a:normAutofit/>
          </a:bodyPr>
          <a:lstStyle/>
          <a:p>
            <a:r>
              <a:rPr lang="en-US" sz="2800" b="1" dirty="0" smtClean="0">
                <a:latin typeface="Times New Roman" panose="02020603050405020304" pitchFamily="18" charset="0"/>
                <a:cs typeface="Times New Roman" panose="02020603050405020304" pitchFamily="18" charset="0"/>
              </a:rPr>
              <a:t>Page Fault</a:t>
            </a:r>
            <a:endParaRPr lang="en-US"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982640"/>
            <a:ext cx="10830636" cy="5554638"/>
          </a:xfrm>
        </p:spPr>
        <p:txBody>
          <a:bodyPr>
            <a:noAutofit/>
          </a:bodyPr>
          <a:lstStyle/>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When </a:t>
            </a:r>
            <a:r>
              <a:rPr lang="en-US" dirty="0">
                <a:latin typeface="Times New Roman" panose="02020603050405020304" pitchFamily="18" charset="0"/>
                <a:cs typeface="Times New Roman" panose="02020603050405020304" pitchFamily="18" charset="0"/>
              </a:rPr>
              <a:t>the page (data) requested by a program is not available in the memory, it is called as a page fault</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In the previous example,  what </a:t>
            </a:r>
            <a:r>
              <a:rPr lang="en-US" dirty="0">
                <a:latin typeface="Times New Roman" panose="02020603050405020304" pitchFamily="18" charset="0"/>
                <a:cs typeface="Times New Roman" panose="02020603050405020304" pitchFamily="18" charset="0"/>
              </a:rPr>
              <a:t>happens if a program references an unmapped address? For example the instruction</a:t>
            </a:r>
          </a:p>
          <a:p>
            <a:pPr marL="457200" lvl="1" indent="0">
              <a:buNone/>
            </a:pPr>
            <a:r>
              <a:rPr lang="en-US" sz="2800" b="1" dirty="0">
                <a:latin typeface="Times New Roman" panose="02020603050405020304" pitchFamily="18" charset="0"/>
                <a:cs typeface="Times New Roman" panose="02020603050405020304" pitchFamily="18" charset="0"/>
              </a:rPr>
              <a:t>MOV REG, 32780</a:t>
            </a:r>
            <a:endParaRPr lang="en-US" sz="2800" dirty="0">
              <a:latin typeface="Times New Roman" panose="02020603050405020304" pitchFamily="18" charset="0"/>
              <a:cs typeface="Times New Roman" panose="02020603050405020304" pitchFamily="18" charset="0"/>
            </a:endParaRPr>
          </a:p>
          <a:p>
            <a:pPr marL="457200" lvl="1" indent="0">
              <a:buNone/>
            </a:pPr>
            <a:r>
              <a:rPr lang="en-US" sz="2800" dirty="0" smtClean="0">
                <a:latin typeface="Times New Roman" panose="02020603050405020304" pitchFamily="18" charset="0"/>
                <a:cs typeface="Times New Roman" panose="02020603050405020304" pitchFamily="18" charset="0"/>
              </a:rPr>
              <a:t>which </a:t>
            </a:r>
            <a:r>
              <a:rPr lang="en-US" sz="2800" dirty="0">
                <a:latin typeface="Times New Roman" panose="02020603050405020304" pitchFamily="18" charset="0"/>
                <a:cs typeface="Times New Roman" panose="02020603050405020304" pitchFamily="18" charset="0"/>
              </a:rPr>
              <a:t>is 12 byte within virtual page 8 (starting at 32768).</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MMU notices that the page is unmapped and causes the CPU to trap the OS</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This </a:t>
            </a:r>
            <a:r>
              <a:rPr lang="en-US" dirty="0">
                <a:latin typeface="Times New Roman" panose="02020603050405020304" pitchFamily="18" charset="0"/>
                <a:cs typeface="Times New Roman" panose="02020603050405020304" pitchFamily="18" charset="0"/>
              </a:rPr>
              <a:t>trap is called page fault</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We </a:t>
            </a:r>
            <a:r>
              <a:rPr lang="en-US" dirty="0">
                <a:latin typeface="Times New Roman" panose="02020603050405020304" pitchFamily="18" charset="0"/>
                <a:cs typeface="Times New Roman" panose="02020603050405020304" pitchFamily="18" charset="0"/>
              </a:rPr>
              <a:t>know that there is page fault by consulting a page table. If there is no entry in the page table or the entry points to DISK, we know that there is page fault</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1118077588"/>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76571"/>
          </a:xfrm>
        </p:spPr>
        <p:txBody>
          <a:bodyPr>
            <a:normAutofit/>
          </a:bodyPr>
          <a:lstStyle/>
          <a:p>
            <a:r>
              <a:rPr lang="en-US" sz="2800" b="1" dirty="0">
                <a:latin typeface="Times New Roman" panose="02020603050405020304" pitchFamily="18" charset="0"/>
                <a:cs typeface="Times New Roman" panose="02020603050405020304" pitchFamily="18" charset="0"/>
              </a:rPr>
              <a:t>Issues with Paging</a:t>
            </a:r>
          </a:p>
        </p:txBody>
      </p:sp>
      <p:sp>
        <p:nvSpPr>
          <p:cNvPr id="3" name="Content Placeholder 2"/>
          <p:cNvSpPr>
            <a:spLocks noGrp="1"/>
          </p:cNvSpPr>
          <p:nvPr>
            <p:ph idx="1"/>
          </p:nvPr>
        </p:nvSpPr>
        <p:spPr>
          <a:xfrm>
            <a:off x="838200" y="1282890"/>
            <a:ext cx="10515600" cy="4894073"/>
          </a:xfrm>
        </p:spPr>
        <p:txBody>
          <a:bodyPr>
            <a:normAutofit/>
          </a:bodyPr>
          <a:lstStyle/>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In </a:t>
            </a:r>
            <a:r>
              <a:rPr lang="en-US" dirty="0">
                <a:latin typeface="Times New Roman" panose="02020603050405020304" pitchFamily="18" charset="0"/>
                <a:cs typeface="Times New Roman" panose="02020603050405020304" pitchFamily="18" charset="0"/>
              </a:rPr>
              <a:t>any paging system, two major issues must be faced:</a:t>
            </a:r>
          </a:p>
          <a:p>
            <a:pPr marL="0" indent="0">
              <a:buNone/>
            </a:pPr>
            <a:r>
              <a:rPr lang="en-US" b="1" dirty="0">
                <a:latin typeface="Times New Roman" panose="02020603050405020304" pitchFamily="18" charset="0"/>
                <a:cs typeface="Times New Roman" panose="02020603050405020304" pitchFamily="18" charset="0"/>
              </a:rPr>
              <a:t>1.Many memory access (slower process</a:t>
            </a:r>
            <a:r>
              <a:rPr lang="en-US" dirty="0">
                <a:latin typeface="Times New Roman" panose="02020603050405020304" pitchFamily="18" charset="0"/>
                <a:cs typeface="Times New Roman" panose="02020603050405020304" pitchFamily="18" charset="0"/>
              </a:rPr>
              <a:t>)</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For </a:t>
            </a:r>
            <a:r>
              <a:rPr lang="en-US" dirty="0">
                <a:latin typeface="Times New Roman" panose="02020603050405020304" pitchFamily="18" charset="0"/>
                <a:cs typeface="Times New Roman" panose="02020603050405020304" pitchFamily="18" charset="0"/>
              </a:rPr>
              <a:t>each memory access with virtual memory, we have to :</a:t>
            </a:r>
          </a:p>
          <a:p>
            <a:pPr lvl="1"/>
            <a:r>
              <a:rPr lang="en-US" sz="2800" dirty="0" smtClean="0">
                <a:latin typeface="Times New Roman" panose="02020603050405020304" pitchFamily="18" charset="0"/>
                <a:cs typeface="Times New Roman" panose="02020603050405020304" pitchFamily="18" charset="0"/>
              </a:rPr>
              <a:t>Access </a:t>
            </a:r>
            <a:r>
              <a:rPr lang="en-US" sz="2800" dirty="0">
                <a:latin typeface="Times New Roman" panose="02020603050405020304" pitchFamily="18" charset="0"/>
                <a:cs typeface="Times New Roman" panose="02020603050405020304" pitchFamily="18" charset="0"/>
              </a:rPr>
              <a:t>the page table in RAM</a:t>
            </a:r>
          </a:p>
          <a:p>
            <a:pPr lvl="1"/>
            <a:r>
              <a:rPr lang="en-US" sz="2800" dirty="0" smtClean="0">
                <a:latin typeface="Times New Roman" panose="02020603050405020304" pitchFamily="18" charset="0"/>
                <a:cs typeface="Times New Roman" panose="02020603050405020304" pitchFamily="18" charset="0"/>
              </a:rPr>
              <a:t>Translate </a:t>
            </a:r>
            <a:r>
              <a:rPr lang="en-US" sz="2800" dirty="0">
                <a:latin typeface="Times New Roman" panose="02020603050405020304" pitchFamily="18" charset="0"/>
                <a:cs typeface="Times New Roman" panose="02020603050405020304" pitchFamily="18" charset="0"/>
              </a:rPr>
              <a:t>the address</a:t>
            </a:r>
          </a:p>
          <a:p>
            <a:pPr lvl="1"/>
            <a:r>
              <a:rPr lang="en-US" sz="2800" dirty="0" smtClean="0">
                <a:latin typeface="Times New Roman" panose="02020603050405020304" pitchFamily="18" charset="0"/>
                <a:cs typeface="Times New Roman" panose="02020603050405020304" pitchFamily="18" charset="0"/>
              </a:rPr>
              <a:t>Access </a:t>
            </a:r>
            <a:r>
              <a:rPr lang="en-US" sz="2800" dirty="0">
                <a:latin typeface="Times New Roman" panose="02020603050405020304" pitchFamily="18" charset="0"/>
                <a:cs typeface="Times New Roman" panose="02020603050405020304" pitchFamily="18" charset="0"/>
              </a:rPr>
              <a:t>the data in RAM</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a:t>
            </a:r>
            <a:r>
              <a:rPr lang="en-US" dirty="0" smtClean="0">
                <a:latin typeface="Times New Roman" panose="02020603050405020304" pitchFamily="18" charset="0"/>
                <a:cs typeface="Times New Roman" panose="02020603050405020304" pitchFamily="18" charset="0"/>
              </a:rPr>
              <a:t>his </a:t>
            </a:r>
            <a:r>
              <a:rPr lang="en-US" dirty="0">
                <a:latin typeface="Times New Roman" panose="02020603050405020304" pitchFamily="18" charset="0"/>
                <a:cs typeface="Times New Roman" panose="02020603050405020304" pitchFamily="18" charset="0"/>
              </a:rPr>
              <a:t>is a lot of work for every memory access </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bottom-line is that paging can make computer slower</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Solution</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Use Translation Lookaside Buffer (TLB)</a:t>
            </a:r>
            <a:endParaRPr lang="en-US"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 xmlns:p14="http://schemas.microsoft.com/office/powerpoint/2010/main" val="197189773"/>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76571"/>
          </a:xfrm>
        </p:spPr>
        <p:txBody>
          <a:bodyPr>
            <a:normAutofit/>
          </a:bodyPr>
          <a:lstStyle/>
          <a:p>
            <a:r>
              <a:rPr lang="en-US" sz="2800" b="1" dirty="0">
                <a:latin typeface="Times New Roman" panose="02020603050405020304" pitchFamily="18" charset="0"/>
                <a:cs typeface="Times New Roman" panose="02020603050405020304" pitchFamily="18" charset="0"/>
              </a:rPr>
              <a:t>Issues with Paging</a:t>
            </a:r>
          </a:p>
        </p:txBody>
      </p:sp>
      <p:sp>
        <p:nvSpPr>
          <p:cNvPr id="3" name="Content Placeholder 2"/>
          <p:cNvSpPr>
            <a:spLocks noGrp="1"/>
          </p:cNvSpPr>
          <p:nvPr>
            <p:ph idx="1"/>
          </p:nvPr>
        </p:nvSpPr>
        <p:spPr>
          <a:xfrm>
            <a:off x="838200" y="1160060"/>
            <a:ext cx="10515600" cy="5554639"/>
          </a:xfrm>
        </p:spPr>
        <p:txBody>
          <a:bodyPr>
            <a:normAutofit/>
          </a:bodyPr>
          <a:lstStyle/>
          <a:p>
            <a:pPr marL="0" indent="0">
              <a:buNone/>
            </a:pPr>
            <a:r>
              <a:rPr lang="en-US" b="1" dirty="0" smtClean="0">
                <a:latin typeface="Times New Roman" panose="02020603050405020304" pitchFamily="18" charset="0"/>
                <a:cs typeface="Times New Roman" panose="02020603050405020304" pitchFamily="18" charset="0"/>
              </a:rPr>
              <a:t>2.Large </a:t>
            </a:r>
            <a:r>
              <a:rPr lang="en-US" b="1" dirty="0">
                <a:latin typeface="Times New Roman" panose="02020603050405020304" pitchFamily="18" charset="0"/>
                <a:cs typeface="Times New Roman" panose="02020603050405020304" pitchFamily="18" charset="0"/>
              </a:rPr>
              <a:t>page tables</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If </a:t>
            </a:r>
            <a:r>
              <a:rPr lang="en-US" dirty="0">
                <a:latin typeface="Times New Roman" panose="02020603050405020304" pitchFamily="18" charset="0"/>
                <a:cs typeface="Times New Roman" panose="02020603050405020304" pitchFamily="18" charset="0"/>
              </a:rPr>
              <a:t>the virtual address space is large, the page table will be </a:t>
            </a:r>
            <a:r>
              <a:rPr lang="en-US" dirty="0" smtClean="0">
                <a:latin typeface="Times New Roman" panose="02020603050405020304" pitchFamily="18" charset="0"/>
                <a:cs typeface="Times New Roman" panose="02020603050405020304" pitchFamily="18" charset="0"/>
              </a:rPr>
              <a:t>large</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For </a:t>
            </a:r>
            <a:r>
              <a:rPr lang="en-US" dirty="0">
                <a:latin typeface="Times New Roman" panose="02020603050405020304" pitchFamily="18" charset="0"/>
                <a:cs typeface="Times New Roman" panose="02020603050405020304" pitchFamily="18" charset="0"/>
              </a:rPr>
              <a:t>example, if we use 32 bit virtual addresses and 4KB page size, we will have around 1 million page table </a:t>
            </a:r>
            <a:r>
              <a:rPr lang="en-US" dirty="0" smtClean="0">
                <a:latin typeface="Times New Roman" panose="02020603050405020304" pitchFamily="18" charset="0"/>
                <a:cs typeface="Times New Roman" panose="02020603050405020304" pitchFamily="18" charset="0"/>
              </a:rPr>
              <a:t>entries</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Each PTE(Page Table Entry) </a:t>
            </a:r>
            <a:r>
              <a:rPr lang="en-US" dirty="0">
                <a:latin typeface="Times New Roman" panose="02020603050405020304" pitchFamily="18" charset="0"/>
                <a:cs typeface="Times New Roman" panose="02020603050405020304" pitchFamily="18" charset="0"/>
              </a:rPr>
              <a:t>is about 4 bytes, making a page table of size </a:t>
            </a:r>
            <a:r>
              <a:rPr lang="en-US" dirty="0" smtClean="0">
                <a:latin typeface="Times New Roman" panose="02020603050405020304" pitchFamily="18" charset="0"/>
                <a:cs typeface="Times New Roman" panose="02020603050405020304" pitchFamily="18" charset="0"/>
              </a:rPr>
              <a:t>4MB</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4MB </a:t>
            </a:r>
            <a:r>
              <a:rPr lang="en-US" dirty="0">
                <a:latin typeface="Times New Roman" panose="02020603050405020304" pitchFamily="18" charset="0"/>
                <a:cs typeface="Times New Roman" panose="02020603050405020304" pitchFamily="18" charset="0"/>
              </a:rPr>
              <a:t>is not bad, but each program need its own page table (100 </a:t>
            </a:r>
            <a:r>
              <a:rPr lang="en-US" dirty="0" smtClean="0">
                <a:latin typeface="Times New Roman" panose="02020603050405020304" pitchFamily="18" charset="0"/>
                <a:cs typeface="Times New Roman" panose="02020603050405020304" pitchFamily="18" charset="0"/>
              </a:rPr>
              <a:t>programs=400MB)</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Solution</a:t>
            </a:r>
            <a:r>
              <a:rPr lang="en-US" dirty="0">
                <a:latin typeface="Times New Roman" panose="02020603050405020304" pitchFamily="18" charset="0"/>
                <a:cs typeface="Times New Roman" panose="02020603050405020304" pitchFamily="18" charset="0"/>
              </a:rPr>
              <a:t>:</a:t>
            </a:r>
          </a:p>
          <a:p>
            <a:pPr lvl="1"/>
            <a:r>
              <a:rPr lang="en-US" b="1" dirty="0" smtClean="0">
                <a:latin typeface="Times New Roman" panose="02020603050405020304" pitchFamily="18" charset="0"/>
                <a:cs typeface="Times New Roman" panose="02020603050405020304" pitchFamily="18" charset="0"/>
              </a:rPr>
              <a:t>Multilevel </a:t>
            </a:r>
            <a:r>
              <a:rPr lang="en-US" b="1" dirty="0">
                <a:latin typeface="Times New Roman" panose="02020603050405020304" pitchFamily="18" charset="0"/>
                <a:cs typeface="Times New Roman" panose="02020603050405020304" pitchFamily="18" charset="0"/>
              </a:rPr>
              <a:t>Page Tables</a:t>
            </a:r>
            <a:endParaRPr lang="en-US" dirty="0">
              <a:latin typeface="Times New Roman" panose="02020603050405020304" pitchFamily="18" charset="0"/>
              <a:cs typeface="Times New Roman" panose="02020603050405020304" pitchFamily="18" charset="0"/>
            </a:endParaRPr>
          </a:p>
          <a:p>
            <a:pPr lvl="1"/>
            <a:r>
              <a:rPr lang="en-US" b="1" dirty="0" smtClean="0">
                <a:latin typeface="Times New Roman" panose="02020603050405020304" pitchFamily="18" charset="0"/>
                <a:cs typeface="Times New Roman" panose="02020603050405020304" pitchFamily="18" charset="0"/>
              </a:rPr>
              <a:t>Inverted </a:t>
            </a:r>
            <a:r>
              <a:rPr lang="en-US" b="1" dirty="0">
                <a:latin typeface="Times New Roman" panose="02020603050405020304" pitchFamily="18" charset="0"/>
                <a:cs typeface="Times New Roman" panose="02020603050405020304" pitchFamily="18" charset="0"/>
              </a:rPr>
              <a:t>Page Tables </a:t>
            </a:r>
            <a:endParaRPr lang="en-US" b="1" dirty="0" smtClean="0">
              <a:latin typeface="Times New Roman" panose="02020603050405020304" pitchFamily="18" charset="0"/>
              <a:cs typeface="Times New Roman" panose="02020603050405020304" pitchFamily="18" charset="0"/>
            </a:endParaRPr>
          </a:p>
          <a:p>
            <a:pPr lvl="1"/>
            <a:r>
              <a:rPr lang="en-US" b="1" dirty="0" smtClean="0">
                <a:latin typeface="Times New Roman" panose="02020603050405020304" pitchFamily="18" charset="0"/>
                <a:cs typeface="Times New Roman" panose="02020603050405020304" pitchFamily="18" charset="0"/>
              </a:rPr>
              <a:t>Hashing </a:t>
            </a:r>
            <a:r>
              <a:rPr lang="en-US" b="1" smtClean="0">
                <a:latin typeface="Times New Roman" panose="02020603050405020304" pitchFamily="18" charset="0"/>
                <a:cs typeface="Times New Roman" panose="02020603050405020304" pitchFamily="18" charset="0"/>
              </a:rPr>
              <a:t>Page Tables</a:t>
            </a:r>
            <a:endParaRPr lang="en-US" dirty="0">
              <a:latin typeface="Times New Roman" panose="02020603050405020304" pitchFamily="18" charset="0"/>
              <a:cs typeface="Times New Roman" panose="02020603050405020304" pitchFamily="18" charset="0"/>
            </a:endParaRPr>
          </a:p>
          <a:p>
            <a:pPr marL="0" indent="0">
              <a:buNone/>
            </a:pPr>
            <a:endParaRPr lang="en-US" dirty="0"/>
          </a:p>
        </p:txBody>
      </p:sp>
    </p:spTree>
    <p:extLst>
      <p:ext uri="{BB962C8B-B14F-4D97-AF65-F5344CB8AC3E}">
        <p14:creationId xmlns="" xmlns:p14="http://schemas.microsoft.com/office/powerpoint/2010/main" val="3544500442"/>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81287"/>
          </a:xfrm>
        </p:spPr>
        <p:txBody>
          <a:bodyPr>
            <a:normAutofit/>
          </a:bodyPr>
          <a:lstStyle/>
          <a:p>
            <a:r>
              <a:rPr lang="en-US" sz="2800" b="1" dirty="0">
                <a:latin typeface="Times New Roman" panose="02020603050405020304" pitchFamily="18" charset="0"/>
                <a:cs typeface="Times New Roman" panose="02020603050405020304" pitchFamily="18" charset="0"/>
              </a:rPr>
              <a:t>Translation Lookaside Buffer (TLB)</a:t>
            </a:r>
          </a:p>
        </p:txBody>
      </p:sp>
      <p:sp>
        <p:nvSpPr>
          <p:cNvPr id="3" name="Content Placeholder 2"/>
          <p:cNvSpPr>
            <a:spLocks noGrp="1"/>
          </p:cNvSpPr>
          <p:nvPr>
            <p:ph idx="1"/>
          </p:nvPr>
        </p:nvSpPr>
        <p:spPr>
          <a:xfrm>
            <a:off x="838200" y="1323833"/>
            <a:ext cx="10515600" cy="4853130"/>
          </a:xfrm>
        </p:spPr>
        <p:txBody>
          <a:bodyPr>
            <a:normAutofit lnSpcReduction="10000"/>
          </a:bodyPr>
          <a:lstStyle/>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Every </a:t>
            </a:r>
            <a:r>
              <a:rPr lang="en-US" dirty="0">
                <a:latin typeface="Times New Roman" panose="02020603050405020304" pitchFamily="18" charset="0"/>
                <a:cs typeface="Times New Roman" panose="02020603050405020304" pitchFamily="18" charset="0"/>
              </a:rPr>
              <a:t>virtual memory reference can </a:t>
            </a:r>
            <a:r>
              <a:rPr lang="en-US" dirty="0" smtClean="0">
                <a:latin typeface="Times New Roman" panose="02020603050405020304" pitchFamily="18" charset="0"/>
                <a:cs typeface="Times New Roman" panose="02020603050405020304" pitchFamily="18" charset="0"/>
              </a:rPr>
              <a:t>cause two </a:t>
            </a:r>
            <a:r>
              <a:rPr lang="en-US" dirty="0">
                <a:latin typeface="Times New Roman" panose="02020603050405020304" pitchFamily="18" charset="0"/>
                <a:cs typeface="Times New Roman" panose="02020603050405020304" pitchFamily="18" charset="0"/>
              </a:rPr>
              <a:t>physical memory access: one to </a:t>
            </a:r>
            <a:r>
              <a:rPr lang="en-US" dirty="0" smtClean="0">
                <a:latin typeface="Times New Roman" panose="02020603050405020304" pitchFamily="18" charset="0"/>
                <a:cs typeface="Times New Roman" panose="02020603050405020304" pitchFamily="18" charset="0"/>
              </a:rPr>
              <a:t>fetch the </a:t>
            </a:r>
            <a:r>
              <a:rPr lang="en-US" dirty="0">
                <a:latin typeface="Times New Roman" panose="02020603050405020304" pitchFamily="18" charset="0"/>
                <a:cs typeface="Times New Roman" panose="02020603050405020304" pitchFamily="18" charset="0"/>
              </a:rPr>
              <a:t>appropriate page table entry and one to fetch the desired data</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Most </a:t>
            </a:r>
            <a:r>
              <a:rPr lang="en-US" dirty="0">
                <a:latin typeface="Times New Roman" panose="02020603050405020304" pitchFamily="18" charset="0"/>
                <a:cs typeface="Times New Roman" panose="02020603050405020304" pitchFamily="18" charset="0"/>
              </a:rPr>
              <a:t>program tend to make a large number of references to a smaller number of pages</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That </a:t>
            </a:r>
            <a:r>
              <a:rPr lang="en-US" dirty="0">
                <a:latin typeface="Times New Roman" panose="02020603050405020304" pitchFamily="18" charset="0"/>
                <a:cs typeface="Times New Roman" panose="02020603050405020304" pitchFamily="18" charset="0"/>
              </a:rPr>
              <a:t>is, only a small fraction of the page table entries are heavily read; the rest are barely used</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Using </a:t>
            </a:r>
            <a:r>
              <a:rPr lang="en-US" dirty="0">
                <a:latin typeface="Times New Roman" panose="02020603050405020304" pitchFamily="18" charset="0"/>
                <a:cs typeface="Times New Roman" panose="02020603050405020304" pitchFamily="18" charset="0"/>
              </a:rPr>
              <a:t>this observation, a solution has been devised to equip computer with a small hardware device for mapping virtual addresses to physical addresses without going through page table</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device is called Translation Lookaside Buffer (TLB) or sometimes called an associative memory</a:t>
            </a:r>
          </a:p>
          <a:p>
            <a:pP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1154012414"/>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81287"/>
          </a:xfrm>
        </p:spPr>
        <p:txBody>
          <a:bodyPr>
            <a:normAutofit/>
          </a:bodyPr>
          <a:lstStyle/>
          <a:p>
            <a:r>
              <a:rPr lang="en-US" sz="2800" b="1" dirty="0">
                <a:latin typeface="Times New Roman" panose="02020603050405020304" pitchFamily="18" charset="0"/>
                <a:cs typeface="Times New Roman" panose="02020603050405020304" pitchFamily="18" charset="0"/>
              </a:rPr>
              <a:t>Translation Lookaside Buffer (TLB)</a:t>
            </a:r>
          </a:p>
        </p:txBody>
      </p:sp>
      <p:pic>
        <p:nvPicPr>
          <p:cNvPr id="4" name="Content Placeholder 3"/>
          <p:cNvPicPr>
            <a:picLocks noGrp="1" noChangeAspect="1"/>
          </p:cNvPicPr>
          <p:nvPr>
            <p:ph idx="1"/>
          </p:nvPr>
        </p:nvPicPr>
        <p:blipFill>
          <a:blip r:embed="rId2"/>
          <a:stretch>
            <a:fillRect/>
          </a:stretch>
        </p:blipFill>
        <p:spPr>
          <a:xfrm>
            <a:off x="1009934" y="1282890"/>
            <a:ext cx="8188657" cy="4153861"/>
          </a:xfrm>
          <a:prstGeom prst="rect">
            <a:avLst/>
          </a:prstGeom>
        </p:spPr>
      </p:pic>
    </p:spTree>
    <p:extLst>
      <p:ext uri="{BB962C8B-B14F-4D97-AF65-F5344CB8AC3E}">
        <p14:creationId xmlns="" xmlns:p14="http://schemas.microsoft.com/office/powerpoint/2010/main" val="3453024006"/>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704"/>
            <a:ext cx="10515600" cy="781287"/>
          </a:xfrm>
        </p:spPr>
        <p:txBody>
          <a:bodyPr>
            <a:normAutofit/>
          </a:bodyPr>
          <a:lstStyle/>
          <a:p>
            <a:r>
              <a:rPr lang="en-US" sz="2800" b="1" dirty="0">
                <a:latin typeface="Times New Roman" panose="02020603050405020304" pitchFamily="18" charset="0"/>
                <a:cs typeface="Times New Roman" panose="02020603050405020304" pitchFamily="18" charset="0"/>
              </a:rPr>
              <a:t>Translation Lookaside Buffer (TLB)</a:t>
            </a:r>
          </a:p>
        </p:txBody>
      </p:sp>
      <p:sp>
        <p:nvSpPr>
          <p:cNvPr id="3" name="Content Placeholder 2"/>
          <p:cNvSpPr>
            <a:spLocks noGrp="1"/>
          </p:cNvSpPr>
          <p:nvPr>
            <p:ph idx="1"/>
          </p:nvPr>
        </p:nvSpPr>
        <p:spPr>
          <a:xfrm>
            <a:off x="838200" y="968991"/>
            <a:ext cx="11035352" cy="5207972"/>
          </a:xfrm>
        </p:spPr>
        <p:txBody>
          <a:bodyPr>
            <a:noAutofit/>
          </a:bodyPr>
          <a:lstStyle/>
          <a:p>
            <a:pPr>
              <a:buFont typeface="Wingdings" panose="05000000000000000000" pitchFamily="2" charset="2"/>
              <a:buChar char="v"/>
            </a:pPr>
            <a:r>
              <a:rPr lang="en-US" sz="2600" dirty="0" smtClean="0">
                <a:latin typeface="Times New Roman" panose="02020603050405020304" pitchFamily="18" charset="0"/>
                <a:cs typeface="Times New Roman" panose="02020603050405020304" pitchFamily="18" charset="0"/>
              </a:rPr>
              <a:t>TLB </a:t>
            </a:r>
            <a:r>
              <a:rPr lang="en-US" sz="2600" dirty="0">
                <a:latin typeface="Times New Roman" panose="02020603050405020304" pitchFamily="18" charset="0"/>
                <a:cs typeface="Times New Roman" panose="02020603050405020304" pitchFamily="18" charset="0"/>
              </a:rPr>
              <a:t>is usually inside the MMU and consists of small number of entries</a:t>
            </a:r>
          </a:p>
          <a:p>
            <a:pPr>
              <a:buFont typeface="Wingdings" panose="05000000000000000000" pitchFamily="2" charset="2"/>
              <a:buChar char="v"/>
            </a:pPr>
            <a:r>
              <a:rPr lang="en-US" sz="2600" dirty="0" smtClean="0">
                <a:latin typeface="Times New Roman" panose="02020603050405020304" pitchFamily="18" charset="0"/>
                <a:cs typeface="Times New Roman" panose="02020603050405020304" pitchFamily="18" charset="0"/>
              </a:rPr>
              <a:t>Each </a:t>
            </a:r>
            <a:r>
              <a:rPr lang="en-US" sz="2600" dirty="0">
                <a:latin typeface="Times New Roman" panose="02020603050405020304" pitchFamily="18" charset="0"/>
                <a:cs typeface="Times New Roman" panose="02020603050405020304" pitchFamily="18" charset="0"/>
              </a:rPr>
              <a:t>entry contains information about one page, including a virtual page number, a bit that is set when the page is modified, the protection code, and physical frame in which the page is located</a:t>
            </a:r>
          </a:p>
          <a:p>
            <a:pPr>
              <a:buFont typeface="Wingdings" panose="05000000000000000000" pitchFamily="2" charset="2"/>
              <a:buChar char="v"/>
            </a:pPr>
            <a:r>
              <a:rPr lang="en-US" sz="2600" dirty="0" smtClean="0">
                <a:latin typeface="Times New Roman" panose="02020603050405020304" pitchFamily="18" charset="0"/>
                <a:cs typeface="Times New Roman" panose="02020603050405020304" pitchFamily="18" charset="0"/>
              </a:rPr>
              <a:t>When </a:t>
            </a:r>
            <a:r>
              <a:rPr lang="en-US" sz="2600" dirty="0">
                <a:latin typeface="Times New Roman" panose="02020603050405020304" pitchFamily="18" charset="0"/>
                <a:cs typeface="Times New Roman" panose="02020603050405020304" pitchFamily="18" charset="0"/>
              </a:rPr>
              <a:t>a virtual address is provided to the MMU for translation, the hardware first checks to see if its virtual page number is present in the TLB</a:t>
            </a:r>
          </a:p>
          <a:p>
            <a:pPr>
              <a:buFont typeface="Wingdings" panose="05000000000000000000" pitchFamily="2" charset="2"/>
              <a:buChar char="v"/>
            </a:pPr>
            <a:r>
              <a:rPr lang="en-US" sz="2600" dirty="0" smtClean="0">
                <a:latin typeface="Times New Roman" panose="02020603050405020304" pitchFamily="18" charset="0"/>
                <a:cs typeface="Times New Roman" panose="02020603050405020304" pitchFamily="18" charset="0"/>
              </a:rPr>
              <a:t>If </a:t>
            </a:r>
            <a:r>
              <a:rPr lang="en-US" sz="2600" dirty="0">
                <a:latin typeface="Times New Roman" panose="02020603050405020304" pitchFamily="18" charset="0"/>
                <a:cs typeface="Times New Roman" panose="02020603050405020304" pitchFamily="18" charset="0"/>
              </a:rPr>
              <a:t>a valid match is found, and the access does not violate the protection bits, the page frame is taken directly form the TLB</a:t>
            </a:r>
          </a:p>
          <a:p>
            <a:pPr>
              <a:buFont typeface="Wingdings" panose="05000000000000000000" pitchFamily="2" charset="2"/>
              <a:buChar char="v"/>
            </a:pPr>
            <a:r>
              <a:rPr lang="en-US" sz="2600" dirty="0" smtClean="0">
                <a:latin typeface="Times New Roman" panose="02020603050405020304" pitchFamily="18" charset="0"/>
                <a:cs typeface="Times New Roman" panose="02020603050405020304" pitchFamily="18" charset="0"/>
              </a:rPr>
              <a:t>If </a:t>
            </a:r>
            <a:r>
              <a:rPr lang="en-US" sz="2600" dirty="0">
                <a:latin typeface="Times New Roman" panose="02020603050405020304" pitchFamily="18" charset="0"/>
                <a:cs typeface="Times New Roman" panose="02020603050405020304" pitchFamily="18" charset="0"/>
              </a:rPr>
              <a:t>virtual page frame is present in table but instruction is trying to write on a read only page, it generates a protection fault</a:t>
            </a:r>
          </a:p>
          <a:p>
            <a:pPr>
              <a:buFont typeface="Wingdings" panose="05000000000000000000" pitchFamily="2" charset="2"/>
              <a:buChar char="v"/>
            </a:pPr>
            <a:r>
              <a:rPr lang="en-US" sz="2600" dirty="0" smtClean="0">
                <a:latin typeface="Times New Roman" panose="02020603050405020304" pitchFamily="18" charset="0"/>
                <a:cs typeface="Times New Roman" panose="02020603050405020304" pitchFamily="18" charset="0"/>
              </a:rPr>
              <a:t>If </a:t>
            </a:r>
            <a:r>
              <a:rPr lang="en-US" sz="2600" dirty="0">
                <a:latin typeface="Times New Roman" panose="02020603050405020304" pitchFamily="18" charset="0"/>
                <a:cs typeface="Times New Roman" panose="02020603050405020304" pitchFamily="18" charset="0"/>
              </a:rPr>
              <a:t>virtual page number is not found in the TLB, MMU detects the miss and does an ordinary page </a:t>
            </a:r>
            <a:r>
              <a:rPr lang="en-US" sz="2600" dirty="0" smtClean="0">
                <a:latin typeface="Times New Roman" panose="02020603050405020304" pitchFamily="18" charset="0"/>
                <a:cs typeface="Times New Roman" panose="02020603050405020304" pitchFamily="18" charset="0"/>
              </a:rPr>
              <a:t>table lookup</a:t>
            </a:r>
            <a:endParaRPr lang="en-US" sz="2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3820336549"/>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318521" y="286604"/>
            <a:ext cx="7917299" cy="6182436"/>
          </a:xfrm>
          <a:prstGeom prst="rect">
            <a:avLst/>
          </a:prstGeom>
        </p:spPr>
      </p:pic>
    </p:spTree>
    <p:extLst>
      <p:ext uri="{BB962C8B-B14F-4D97-AF65-F5344CB8AC3E}">
        <p14:creationId xmlns="" xmlns:p14="http://schemas.microsoft.com/office/powerpoint/2010/main" val="2547214673"/>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3113"/>
            <a:ext cx="10515600" cy="685753"/>
          </a:xfrm>
        </p:spPr>
        <p:txBody>
          <a:bodyPr>
            <a:normAutofit/>
          </a:bodyPr>
          <a:lstStyle/>
          <a:p>
            <a:r>
              <a:rPr lang="en-US" sz="2800" b="1" dirty="0" smtClean="0">
                <a:latin typeface="Times New Roman" panose="02020603050405020304" pitchFamily="18" charset="0"/>
                <a:cs typeface="Times New Roman" panose="02020603050405020304" pitchFamily="18" charset="0"/>
              </a:rPr>
              <a:t>Direct </a:t>
            </a:r>
            <a:r>
              <a:rPr lang="en-US" sz="2800" b="1" dirty="0" err="1" smtClean="0">
                <a:latin typeface="Times New Roman" panose="02020603050405020304" pitchFamily="18" charset="0"/>
                <a:cs typeface="Times New Roman" panose="02020603050405020304" pitchFamily="18" charset="0"/>
              </a:rPr>
              <a:t>vs</a:t>
            </a:r>
            <a:r>
              <a:rPr lang="en-US" sz="2800" b="1" dirty="0" smtClean="0">
                <a:latin typeface="Times New Roman" panose="02020603050405020304" pitchFamily="18" charset="0"/>
                <a:cs typeface="Times New Roman" panose="02020603050405020304" pitchFamily="18" charset="0"/>
              </a:rPr>
              <a:t> Associative Mapping</a:t>
            </a:r>
            <a:endParaRPr lang="en-US" sz="2800" b="1" dirty="0">
              <a:latin typeface="Times New Roman" panose="02020603050405020304" pitchFamily="18" charset="0"/>
              <a:cs typeface="Times New Roman" panose="02020603050405020304" pitchFamily="18" charset="0"/>
            </a:endParaRPr>
          </a:p>
        </p:txBody>
      </p:sp>
      <p:pic>
        <p:nvPicPr>
          <p:cNvPr id="4" name="Content Placeholder 3"/>
          <p:cNvPicPr>
            <a:picLocks noGrp="1" noChangeAspect="1"/>
          </p:cNvPicPr>
          <p:nvPr>
            <p:ph idx="1"/>
          </p:nvPr>
        </p:nvPicPr>
        <p:blipFill>
          <a:blip r:embed="rId2"/>
          <a:stretch>
            <a:fillRect/>
          </a:stretch>
        </p:blipFill>
        <p:spPr>
          <a:xfrm>
            <a:off x="1754338" y="818866"/>
            <a:ext cx="8301186" cy="5581933"/>
          </a:xfrm>
          <a:prstGeom prst="rect">
            <a:avLst/>
          </a:prstGeom>
        </p:spPr>
      </p:pic>
    </p:spTree>
    <p:extLst>
      <p:ext uri="{BB962C8B-B14F-4D97-AF65-F5344CB8AC3E}">
        <p14:creationId xmlns="" xmlns:p14="http://schemas.microsoft.com/office/powerpoint/2010/main" val="2471195782"/>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5001"/>
            <a:ext cx="10515600" cy="808582"/>
          </a:xfrm>
        </p:spPr>
        <p:txBody>
          <a:bodyPr>
            <a:normAutofit/>
          </a:bodyPr>
          <a:lstStyle/>
          <a:p>
            <a:r>
              <a:rPr lang="en-US" sz="2800" b="1" dirty="0" smtClean="0">
                <a:latin typeface="Times New Roman" panose="02020603050405020304" pitchFamily="18" charset="0"/>
                <a:cs typeface="Times New Roman" panose="02020603050405020304" pitchFamily="18" charset="0"/>
              </a:rPr>
              <a:t>Demand Paging</a:t>
            </a:r>
            <a:endParaRPr lang="en-US"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023584"/>
            <a:ext cx="10515600" cy="5513694"/>
          </a:xfrm>
        </p:spPr>
        <p:txBody>
          <a:bodyPr>
            <a:normAutofit fontScale="92500" lnSpcReduction="10000"/>
          </a:bodyPr>
          <a:lstStyle/>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Load </a:t>
            </a:r>
            <a:r>
              <a:rPr lang="en-US" dirty="0">
                <a:latin typeface="Times New Roman" panose="02020603050405020304" pitchFamily="18" charset="0"/>
                <a:cs typeface="Times New Roman" panose="02020603050405020304" pitchFamily="18" charset="0"/>
              </a:rPr>
              <a:t>pages to memory only when they are needed</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With </a:t>
            </a:r>
            <a:r>
              <a:rPr lang="en-US" dirty="0">
                <a:latin typeface="Times New Roman" panose="02020603050405020304" pitchFamily="18" charset="0"/>
                <a:cs typeface="Times New Roman" panose="02020603050405020304" pitchFamily="18" charset="0"/>
              </a:rPr>
              <a:t>demand-paged virtual memory, pages are only loaded when they are demanded during program execution; pages that are never accessed are thus never loaded into physical memory.</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A </a:t>
            </a:r>
            <a:r>
              <a:rPr lang="en-US" dirty="0">
                <a:latin typeface="Times New Roman" panose="02020603050405020304" pitchFamily="18" charset="0"/>
                <a:cs typeface="Times New Roman" panose="02020603050405020304" pitchFamily="18" charset="0"/>
              </a:rPr>
              <a:t>demand-paging system is similar to a paging system with swapping where processes reside in secondary memory </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When </a:t>
            </a:r>
            <a:r>
              <a:rPr lang="en-US" dirty="0">
                <a:latin typeface="Times New Roman" panose="02020603050405020304" pitchFamily="18" charset="0"/>
                <a:cs typeface="Times New Roman" panose="02020603050405020304" pitchFamily="18" charset="0"/>
              </a:rPr>
              <a:t>we want to execute a process, we swap it into memory</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Rather </a:t>
            </a:r>
            <a:r>
              <a:rPr lang="en-US" dirty="0">
                <a:latin typeface="Times New Roman" panose="02020603050405020304" pitchFamily="18" charset="0"/>
                <a:cs typeface="Times New Roman" panose="02020603050405020304" pitchFamily="18" charset="0"/>
              </a:rPr>
              <a:t>than swapping the entire process into memory, however, we use a lazy swapper </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A </a:t>
            </a:r>
            <a:r>
              <a:rPr lang="en-US" dirty="0">
                <a:latin typeface="Times New Roman" panose="02020603050405020304" pitchFamily="18" charset="0"/>
                <a:cs typeface="Times New Roman" panose="02020603050405020304" pitchFamily="18" charset="0"/>
              </a:rPr>
              <a:t>lazy swapper never swaps a page into memory unless that page will be needed</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Its </a:t>
            </a:r>
            <a:r>
              <a:rPr lang="en-US" dirty="0">
                <a:latin typeface="Times New Roman" panose="02020603050405020304" pitchFamily="18" charset="0"/>
                <a:cs typeface="Times New Roman" panose="02020603050405020304" pitchFamily="18" charset="0"/>
              </a:rPr>
              <a:t>better to use the term </a:t>
            </a:r>
            <a:r>
              <a:rPr lang="en-US" dirty="0" smtClean="0">
                <a:latin typeface="Times New Roman" panose="02020603050405020304" pitchFamily="18" charset="0"/>
                <a:cs typeface="Times New Roman" panose="02020603050405020304" pitchFamily="18" charset="0"/>
              </a:rPr>
              <a:t>pager than </a:t>
            </a:r>
            <a:r>
              <a:rPr lang="en-US" dirty="0">
                <a:latin typeface="Times New Roman" panose="02020603050405020304" pitchFamily="18" charset="0"/>
                <a:cs typeface="Times New Roman" panose="02020603050405020304" pitchFamily="18" charset="0"/>
              </a:rPr>
              <a:t>swapper in demand pages since  we are viewing a process as a sequence of pages, rather than as one large contiguous address </a:t>
            </a:r>
            <a:r>
              <a:rPr lang="en-US" dirty="0" smtClean="0">
                <a:latin typeface="Times New Roman" panose="02020603050405020304" pitchFamily="18" charset="0"/>
                <a:cs typeface="Times New Roman" panose="02020603050405020304" pitchFamily="18" charset="0"/>
              </a:rPr>
              <a:t>space</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3227592442"/>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5001"/>
            <a:ext cx="10515600" cy="808582"/>
          </a:xfrm>
        </p:spPr>
        <p:txBody>
          <a:bodyPr>
            <a:normAutofit/>
          </a:bodyPr>
          <a:lstStyle/>
          <a:p>
            <a:r>
              <a:rPr lang="en-US" sz="2800" b="1" dirty="0" smtClean="0">
                <a:latin typeface="Times New Roman" panose="02020603050405020304" pitchFamily="18" charset="0"/>
                <a:cs typeface="Times New Roman" panose="02020603050405020304" pitchFamily="18" charset="0"/>
              </a:rPr>
              <a:t>Demand Paging</a:t>
            </a:r>
            <a:endParaRPr lang="en-US"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023584"/>
            <a:ext cx="10515600" cy="5513694"/>
          </a:xfrm>
        </p:spPr>
        <p:txBody>
          <a:bodyPr>
            <a:normAutofit/>
          </a:bodyPr>
          <a:lstStyle/>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We </a:t>
            </a:r>
            <a:r>
              <a:rPr lang="en-US" dirty="0">
                <a:latin typeface="Times New Roman" panose="02020603050405020304" pitchFamily="18" charset="0"/>
                <a:cs typeface="Times New Roman" panose="02020603050405020304" pitchFamily="18" charset="0"/>
              </a:rPr>
              <a:t>must develop two algorithm for demand paging</a:t>
            </a:r>
          </a:p>
          <a:p>
            <a:pPr marL="514350" indent="-514350">
              <a:buFont typeface="+mj-lt"/>
              <a:buAutoNum type="arabicPeriod"/>
            </a:pPr>
            <a:r>
              <a:rPr lang="en-US" b="1" dirty="0" smtClean="0">
                <a:latin typeface="Times New Roman" panose="02020603050405020304" pitchFamily="18" charset="0"/>
                <a:cs typeface="Times New Roman" panose="02020603050405020304" pitchFamily="18" charset="0"/>
              </a:rPr>
              <a:t>frame-allocation </a:t>
            </a:r>
            <a:r>
              <a:rPr lang="en-US" b="1" dirty="0">
                <a:latin typeface="Times New Roman" panose="02020603050405020304" pitchFamily="18" charset="0"/>
                <a:cs typeface="Times New Roman" panose="02020603050405020304" pitchFamily="18" charset="0"/>
              </a:rPr>
              <a:t>algorithm</a:t>
            </a:r>
            <a:endParaRPr lang="en-US" dirty="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If </a:t>
            </a:r>
            <a:r>
              <a:rPr lang="en-US" dirty="0">
                <a:latin typeface="Times New Roman" panose="02020603050405020304" pitchFamily="18" charset="0"/>
                <a:cs typeface="Times New Roman" panose="02020603050405020304" pitchFamily="18" charset="0"/>
              </a:rPr>
              <a:t>we have multiple processes in memory, we must decide how many frames to allocate to each </a:t>
            </a:r>
            <a:r>
              <a:rPr lang="en-US" dirty="0" smtClean="0">
                <a:latin typeface="Times New Roman" panose="02020603050405020304" pitchFamily="18" charset="0"/>
                <a:cs typeface="Times New Roman" panose="02020603050405020304" pitchFamily="18" charset="0"/>
              </a:rPr>
              <a:t>process</a:t>
            </a:r>
          </a:p>
          <a:p>
            <a:pPr marL="514350" indent="-514350">
              <a:buAutoNum type="arabicPeriod" startAt="2"/>
            </a:pPr>
            <a:r>
              <a:rPr lang="en-US" b="1" dirty="0" smtClean="0">
                <a:latin typeface="Times New Roman" panose="02020603050405020304" pitchFamily="18" charset="0"/>
                <a:cs typeface="Times New Roman" panose="02020603050405020304" pitchFamily="18" charset="0"/>
              </a:rPr>
              <a:t>page-replacement algorithm </a:t>
            </a:r>
            <a:endParaRPr lang="en-US" dirty="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Further</a:t>
            </a:r>
            <a:r>
              <a:rPr lang="en-US" dirty="0">
                <a:latin typeface="Times New Roman" panose="02020603050405020304" pitchFamily="18" charset="0"/>
                <a:cs typeface="Times New Roman" panose="02020603050405020304" pitchFamily="18" charset="0"/>
              </a:rPr>
              <a:t>, when page replacement is required, we must select the frames that are to be replaced</a:t>
            </a:r>
          </a:p>
        </p:txBody>
      </p:sp>
    </p:spTree>
    <p:extLst>
      <p:ext uri="{BB962C8B-B14F-4D97-AF65-F5344CB8AC3E}">
        <p14:creationId xmlns="" xmlns:p14="http://schemas.microsoft.com/office/powerpoint/2010/main" val="137395631"/>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26696"/>
          </a:xfrm>
        </p:spPr>
        <p:txBody>
          <a:bodyPr>
            <a:normAutofit/>
          </a:bodyPr>
          <a:lstStyle/>
          <a:p>
            <a:r>
              <a:rPr lang="en-US" sz="2800" b="1" dirty="0">
                <a:latin typeface="Times New Roman" panose="02020603050405020304" pitchFamily="18" charset="0"/>
                <a:cs typeface="Times New Roman" panose="02020603050405020304" pitchFamily="18" charset="0"/>
              </a:rPr>
              <a:t>Frame Allocation Algorithm</a:t>
            </a:r>
          </a:p>
        </p:txBody>
      </p:sp>
      <p:sp>
        <p:nvSpPr>
          <p:cNvPr id="3" name="Content Placeholder 2"/>
          <p:cNvSpPr>
            <a:spLocks noGrp="1"/>
          </p:cNvSpPr>
          <p:nvPr>
            <p:ph idx="1"/>
          </p:nvPr>
        </p:nvSpPr>
        <p:spPr>
          <a:xfrm>
            <a:off x="838200" y="1091822"/>
            <a:ext cx="10515600" cy="5085141"/>
          </a:xfrm>
        </p:spPr>
        <p:txBody>
          <a:bodyPr/>
          <a:lstStyle/>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Frame </a:t>
            </a:r>
            <a:r>
              <a:rPr lang="en-US" dirty="0">
                <a:latin typeface="Times New Roman" panose="02020603050405020304" pitchFamily="18" charset="0"/>
                <a:cs typeface="Times New Roman" panose="02020603050405020304" pitchFamily="18" charset="0"/>
              </a:rPr>
              <a:t>allocation algorithm determines how many frames to give each process</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Each </a:t>
            </a:r>
            <a:r>
              <a:rPr lang="en-US" dirty="0">
                <a:latin typeface="Times New Roman" panose="02020603050405020304" pitchFamily="18" charset="0"/>
                <a:cs typeface="Times New Roman" panose="02020603050405020304" pitchFamily="18" charset="0"/>
              </a:rPr>
              <a:t>process needs some minimum number of frames to operate correctly</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Two </a:t>
            </a:r>
            <a:r>
              <a:rPr lang="en-US" dirty="0">
                <a:latin typeface="Times New Roman" panose="02020603050405020304" pitchFamily="18" charset="0"/>
                <a:cs typeface="Times New Roman" panose="02020603050405020304" pitchFamily="18" charset="0"/>
              </a:rPr>
              <a:t>major allocation schemes:</a:t>
            </a:r>
          </a:p>
          <a:p>
            <a:pPr marL="457200" lvl="1" indent="0">
              <a:buNone/>
            </a:pPr>
            <a:r>
              <a:rPr lang="en-US" sz="2800" dirty="0">
                <a:latin typeface="Times New Roman" panose="02020603050405020304" pitchFamily="18" charset="0"/>
                <a:cs typeface="Times New Roman" panose="02020603050405020304" pitchFamily="18" charset="0"/>
              </a:rPr>
              <a:t>1. Fixed Allocation</a:t>
            </a:r>
          </a:p>
          <a:p>
            <a:pPr marL="457200" lvl="1" indent="0">
              <a:buNone/>
            </a:pPr>
            <a:r>
              <a:rPr lang="en-US" sz="2800" dirty="0">
                <a:latin typeface="Times New Roman" panose="02020603050405020304" pitchFamily="18" charset="0"/>
                <a:cs typeface="Times New Roman" panose="02020603050405020304" pitchFamily="18" charset="0"/>
              </a:rPr>
              <a:t>2. Priority Allocation</a:t>
            </a:r>
          </a:p>
        </p:txBody>
      </p:sp>
    </p:spTree>
    <p:extLst>
      <p:ext uri="{BB962C8B-B14F-4D97-AF65-F5344CB8AC3E}">
        <p14:creationId xmlns="" xmlns:p14="http://schemas.microsoft.com/office/powerpoint/2010/main" val="1586300406"/>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26696"/>
          </a:xfrm>
        </p:spPr>
        <p:txBody>
          <a:bodyPr>
            <a:normAutofit/>
          </a:bodyPr>
          <a:lstStyle/>
          <a:p>
            <a:r>
              <a:rPr lang="en-US" sz="2800" b="1" dirty="0">
                <a:latin typeface="Times New Roman" panose="02020603050405020304" pitchFamily="18" charset="0"/>
                <a:cs typeface="Times New Roman" panose="02020603050405020304" pitchFamily="18" charset="0"/>
              </a:rPr>
              <a:t>Frame Allocation Algorithm</a:t>
            </a:r>
          </a:p>
        </p:txBody>
      </p:sp>
      <p:sp>
        <p:nvSpPr>
          <p:cNvPr id="3" name="Content Placeholder 2"/>
          <p:cNvSpPr>
            <a:spLocks noGrp="1"/>
          </p:cNvSpPr>
          <p:nvPr>
            <p:ph idx="1"/>
          </p:nvPr>
        </p:nvSpPr>
        <p:spPr>
          <a:xfrm>
            <a:off x="838200" y="1091822"/>
            <a:ext cx="10515600" cy="5085141"/>
          </a:xfrm>
        </p:spPr>
        <p:txBody>
          <a:bodyPr/>
          <a:lstStyle/>
          <a:p>
            <a:pPr marL="0" indent="0">
              <a:buNone/>
            </a:pPr>
            <a:r>
              <a:rPr lang="en-US" b="1" dirty="0" smtClean="0">
                <a:latin typeface="Times New Roman" panose="02020603050405020304" pitchFamily="18" charset="0"/>
                <a:cs typeface="Times New Roman" panose="02020603050405020304" pitchFamily="18" charset="0"/>
              </a:rPr>
              <a:t>1.Fixed </a:t>
            </a:r>
            <a:r>
              <a:rPr lang="en-US" b="1" dirty="0">
                <a:latin typeface="Times New Roman" panose="02020603050405020304" pitchFamily="18" charset="0"/>
                <a:cs typeface="Times New Roman" panose="02020603050405020304" pitchFamily="18" charset="0"/>
              </a:rPr>
              <a:t>Allocation</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Equal </a:t>
            </a:r>
            <a:r>
              <a:rPr lang="en-US" dirty="0">
                <a:latin typeface="Times New Roman" panose="02020603050405020304" pitchFamily="18" charset="0"/>
                <a:cs typeface="Times New Roman" panose="02020603050405020304" pitchFamily="18" charset="0"/>
              </a:rPr>
              <a:t>Allocation : For examples, if there are 100 frames (after allocating frames for OS), and 5 processes, give each process 20 frames</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Proportional </a:t>
            </a:r>
            <a:r>
              <a:rPr lang="en-US" dirty="0">
                <a:latin typeface="Times New Roman" panose="02020603050405020304" pitchFamily="18" charset="0"/>
                <a:cs typeface="Times New Roman" panose="02020603050405020304" pitchFamily="18" charset="0"/>
              </a:rPr>
              <a:t>Allocation : Allocate according to size of process</a:t>
            </a:r>
          </a:p>
          <a:p>
            <a:pPr marL="0" indent="0">
              <a:buNone/>
            </a:pPr>
            <a:endParaRPr lang="en-US" sz="28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3012619" y="3466531"/>
            <a:ext cx="6991189" cy="2818632"/>
          </a:xfrm>
          <a:prstGeom prst="rect">
            <a:avLst/>
          </a:prstGeom>
        </p:spPr>
      </p:pic>
    </p:spTree>
    <p:extLst>
      <p:ext uri="{BB962C8B-B14F-4D97-AF65-F5344CB8AC3E}">
        <p14:creationId xmlns="" xmlns:p14="http://schemas.microsoft.com/office/powerpoint/2010/main" val="2002996243"/>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26696"/>
          </a:xfrm>
        </p:spPr>
        <p:txBody>
          <a:bodyPr>
            <a:normAutofit/>
          </a:bodyPr>
          <a:lstStyle/>
          <a:p>
            <a:r>
              <a:rPr lang="en-US" sz="2800" b="1" dirty="0">
                <a:latin typeface="Times New Roman" panose="02020603050405020304" pitchFamily="18" charset="0"/>
                <a:cs typeface="Times New Roman" panose="02020603050405020304" pitchFamily="18" charset="0"/>
              </a:rPr>
              <a:t>Frame Allocation Algorithm</a:t>
            </a:r>
          </a:p>
        </p:txBody>
      </p:sp>
      <p:sp>
        <p:nvSpPr>
          <p:cNvPr id="3" name="Content Placeholder 2"/>
          <p:cNvSpPr>
            <a:spLocks noGrp="1"/>
          </p:cNvSpPr>
          <p:nvPr>
            <p:ph idx="1"/>
          </p:nvPr>
        </p:nvSpPr>
        <p:spPr>
          <a:xfrm>
            <a:off x="838200" y="1091822"/>
            <a:ext cx="10515600" cy="5085141"/>
          </a:xfrm>
        </p:spPr>
        <p:txBody>
          <a:bodyPr/>
          <a:lstStyle/>
          <a:p>
            <a:pPr marL="0" indent="0">
              <a:buNone/>
            </a:pPr>
            <a:r>
              <a:rPr lang="en-US" b="1" dirty="0">
                <a:latin typeface="Times New Roman" panose="02020603050405020304" pitchFamily="18" charset="0"/>
                <a:cs typeface="Times New Roman" panose="02020603050405020304" pitchFamily="18" charset="0"/>
              </a:rPr>
              <a:t>2. Priority Allocation</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Uses </a:t>
            </a:r>
            <a:r>
              <a:rPr lang="en-US" dirty="0">
                <a:latin typeface="Times New Roman" panose="02020603050405020304" pitchFamily="18" charset="0"/>
                <a:cs typeface="Times New Roman" panose="02020603050405020304" pitchFamily="18" charset="0"/>
              </a:rPr>
              <a:t>proportional allocation scheme using priorities rather than size</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Higher </a:t>
            </a:r>
            <a:r>
              <a:rPr lang="en-US" dirty="0">
                <a:latin typeface="Times New Roman" panose="02020603050405020304" pitchFamily="18" charset="0"/>
                <a:cs typeface="Times New Roman" panose="02020603050405020304" pitchFamily="18" charset="0"/>
              </a:rPr>
              <a:t>priority process gets more frames than lower priority process</a:t>
            </a:r>
          </a:p>
          <a:p>
            <a:pPr marL="0" indent="0">
              <a:buNone/>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2512487309"/>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26696"/>
          </a:xfrm>
        </p:spPr>
        <p:txBody>
          <a:bodyPr>
            <a:normAutofit/>
          </a:bodyPr>
          <a:lstStyle/>
          <a:p>
            <a:r>
              <a:rPr lang="en-US" sz="2800" b="1" dirty="0">
                <a:latin typeface="Times New Roman" panose="02020603050405020304" pitchFamily="18" charset="0"/>
                <a:cs typeface="Times New Roman" panose="02020603050405020304" pitchFamily="18" charset="0"/>
              </a:rPr>
              <a:t>Thrashing</a:t>
            </a:r>
          </a:p>
        </p:txBody>
      </p:sp>
      <p:sp>
        <p:nvSpPr>
          <p:cNvPr id="3" name="Content Placeholder 2"/>
          <p:cNvSpPr>
            <a:spLocks noGrp="1"/>
          </p:cNvSpPr>
          <p:nvPr>
            <p:ph idx="1"/>
          </p:nvPr>
        </p:nvSpPr>
        <p:spPr>
          <a:xfrm>
            <a:off x="838199" y="1091822"/>
            <a:ext cx="10789693" cy="5540990"/>
          </a:xfrm>
        </p:spPr>
        <p:txBody>
          <a:bodyPr>
            <a:normAutofit/>
          </a:bodyPr>
          <a:lstStyle/>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If </a:t>
            </a:r>
            <a:r>
              <a:rPr lang="en-US" dirty="0">
                <a:latin typeface="Times New Roman" panose="02020603050405020304" pitchFamily="18" charset="0"/>
                <a:cs typeface="Times New Roman" panose="02020603050405020304" pitchFamily="18" charset="0"/>
              </a:rPr>
              <a:t>a process does not have “enough” pages in memory (less number of frames allocated), the page fault rate is very high</a:t>
            </a:r>
          </a:p>
          <a:p>
            <a:pPr lvl="1"/>
            <a:r>
              <a:rPr lang="en-US" sz="2800" dirty="0" smtClean="0">
                <a:latin typeface="Times New Roman" panose="02020603050405020304" pitchFamily="18" charset="0"/>
                <a:cs typeface="Times New Roman" panose="02020603050405020304" pitchFamily="18" charset="0"/>
              </a:rPr>
              <a:t>Page </a:t>
            </a:r>
            <a:r>
              <a:rPr lang="en-US" sz="2800" dirty="0">
                <a:latin typeface="Times New Roman" panose="02020603050405020304" pitchFamily="18" charset="0"/>
                <a:cs typeface="Times New Roman" panose="02020603050405020304" pitchFamily="18" charset="0"/>
              </a:rPr>
              <a:t>fault to get page</a:t>
            </a:r>
          </a:p>
          <a:p>
            <a:pPr lvl="1"/>
            <a:r>
              <a:rPr lang="en-US" sz="2800" dirty="0" smtClean="0">
                <a:latin typeface="Times New Roman" panose="02020603050405020304" pitchFamily="18" charset="0"/>
                <a:cs typeface="Times New Roman" panose="02020603050405020304" pitchFamily="18" charset="0"/>
              </a:rPr>
              <a:t>Replace </a:t>
            </a:r>
            <a:r>
              <a:rPr lang="en-US" sz="2800" dirty="0">
                <a:latin typeface="Times New Roman" panose="02020603050405020304" pitchFamily="18" charset="0"/>
                <a:cs typeface="Times New Roman" panose="02020603050405020304" pitchFamily="18" charset="0"/>
              </a:rPr>
              <a:t>existing frame</a:t>
            </a:r>
          </a:p>
          <a:p>
            <a:pPr lvl="1"/>
            <a:r>
              <a:rPr lang="en-US" sz="2800" dirty="0" smtClean="0">
                <a:latin typeface="Times New Roman" panose="02020603050405020304" pitchFamily="18" charset="0"/>
                <a:cs typeface="Times New Roman" panose="02020603050405020304" pitchFamily="18" charset="0"/>
              </a:rPr>
              <a:t>But </a:t>
            </a:r>
            <a:r>
              <a:rPr lang="en-US" sz="2800" dirty="0">
                <a:latin typeface="Times New Roman" panose="02020603050405020304" pitchFamily="18" charset="0"/>
                <a:cs typeface="Times New Roman" panose="02020603050405020304" pitchFamily="18" charset="0"/>
              </a:rPr>
              <a:t>quickly need replaced frame back</a:t>
            </a:r>
          </a:p>
          <a:p>
            <a:pPr lvl="1"/>
            <a:r>
              <a:rPr lang="en-US" sz="2800" dirty="0" smtClean="0">
                <a:latin typeface="Times New Roman" panose="02020603050405020304" pitchFamily="18" charset="0"/>
                <a:cs typeface="Times New Roman" panose="02020603050405020304" pitchFamily="18" charset="0"/>
              </a:rPr>
              <a:t>This </a:t>
            </a:r>
            <a:r>
              <a:rPr lang="en-US" sz="2800" dirty="0">
                <a:latin typeface="Times New Roman" panose="02020603050405020304" pitchFamily="18" charset="0"/>
                <a:cs typeface="Times New Roman" panose="02020603050405020304" pitchFamily="18" charset="0"/>
              </a:rPr>
              <a:t>leads to :</a:t>
            </a:r>
          </a:p>
          <a:p>
            <a:pPr lvl="2"/>
            <a:r>
              <a:rPr lang="en-US" sz="2800" dirty="0" smtClean="0">
                <a:latin typeface="Times New Roman" panose="02020603050405020304" pitchFamily="18" charset="0"/>
                <a:cs typeface="Times New Roman" panose="02020603050405020304" pitchFamily="18" charset="0"/>
              </a:rPr>
              <a:t>low </a:t>
            </a:r>
            <a:r>
              <a:rPr lang="en-US" sz="2800" dirty="0">
                <a:latin typeface="Times New Roman" panose="02020603050405020304" pitchFamily="18" charset="0"/>
                <a:cs typeface="Times New Roman" panose="02020603050405020304" pitchFamily="18" charset="0"/>
              </a:rPr>
              <a:t>CPU utilization</a:t>
            </a:r>
          </a:p>
          <a:p>
            <a:pPr lvl="2"/>
            <a:r>
              <a:rPr lang="en-US" sz="2800" dirty="0" smtClean="0">
                <a:latin typeface="Times New Roman" panose="02020603050405020304" pitchFamily="18" charset="0"/>
                <a:cs typeface="Times New Roman" panose="02020603050405020304" pitchFamily="18" charset="0"/>
              </a:rPr>
              <a:t>OS </a:t>
            </a:r>
            <a:r>
              <a:rPr lang="en-US" sz="2800" dirty="0">
                <a:latin typeface="Times New Roman" panose="02020603050405020304" pitchFamily="18" charset="0"/>
                <a:cs typeface="Times New Roman" panose="02020603050405020304" pitchFamily="18" charset="0"/>
              </a:rPr>
              <a:t>thinks that it needs to increase the increase the degree of multiprogramming and adds another process to the system</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Thrashing </a:t>
            </a:r>
            <a:r>
              <a:rPr lang="en-US" dirty="0">
                <a:latin typeface="Times New Roman" panose="02020603050405020304" pitchFamily="18" charset="0"/>
                <a:cs typeface="Times New Roman" panose="02020603050405020304" pitchFamily="18" charset="0"/>
              </a:rPr>
              <a:t>is a condition where a process is busy swapping pages in and out</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Task</a:t>
            </a:r>
            <a:r>
              <a:rPr lang="en-US" dirty="0">
                <a:latin typeface="Times New Roman" panose="02020603050405020304" pitchFamily="18" charset="0"/>
                <a:cs typeface="Times New Roman" panose="02020603050405020304" pitchFamily="18" charset="0"/>
              </a:rPr>
              <a:t>: How can you deal with this??</a:t>
            </a:r>
          </a:p>
          <a:p>
            <a:pPr marL="0" indent="0">
              <a:buNone/>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1380965284"/>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17513"/>
          </a:xfrm>
        </p:spPr>
        <p:txBody>
          <a:bodyPr>
            <a:normAutofit/>
          </a:bodyPr>
          <a:lstStyle/>
          <a:p>
            <a:r>
              <a:rPr lang="en-US" sz="2800" b="1" dirty="0">
                <a:latin typeface="Times New Roman" panose="02020603050405020304" pitchFamily="18" charset="0"/>
                <a:cs typeface="Times New Roman" panose="02020603050405020304" pitchFamily="18" charset="0"/>
              </a:rPr>
              <a:t>Page Replacement</a:t>
            </a:r>
          </a:p>
        </p:txBody>
      </p:sp>
      <p:sp>
        <p:nvSpPr>
          <p:cNvPr id="3" name="Content Placeholder 2"/>
          <p:cNvSpPr>
            <a:spLocks noGrp="1"/>
          </p:cNvSpPr>
          <p:nvPr>
            <p:ph idx="1"/>
          </p:nvPr>
        </p:nvSpPr>
        <p:spPr>
          <a:xfrm>
            <a:off x="838200" y="1296537"/>
            <a:ext cx="10515600" cy="4880426"/>
          </a:xfrm>
        </p:spPr>
        <p:txBody>
          <a:bodyPr/>
          <a:lstStyle/>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When </a:t>
            </a:r>
            <a:r>
              <a:rPr lang="en-US" dirty="0">
                <a:latin typeface="Times New Roman" panose="02020603050405020304" pitchFamily="18" charset="0"/>
                <a:cs typeface="Times New Roman" panose="02020603050405020304" pitchFamily="18" charset="0"/>
              </a:rPr>
              <a:t>a page fault occurs, the OS has to choose a page to remove from memory to make room for incoming page</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If </a:t>
            </a:r>
            <a:r>
              <a:rPr lang="en-US" dirty="0">
                <a:latin typeface="Times New Roman" panose="02020603050405020304" pitchFamily="18" charset="0"/>
                <a:cs typeface="Times New Roman" panose="02020603050405020304" pitchFamily="18" charset="0"/>
              </a:rPr>
              <a:t>the page to be removed has been modified while in memory (check the modified bit), it must be rewritten to the disk to make the copy of the page in the disk up to date</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If </a:t>
            </a:r>
            <a:r>
              <a:rPr lang="en-US" dirty="0">
                <a:latin typeface="Times New Roman" panose="02020603050405020304" pitchFamily="18" charset="0"/>
                <a:cs typeface="Times New Roman" panose="02020603050405020304" pitchFamily="18" charset="0"/>
              </a:rPr>
              <a:t>the page has not been changed, the disk copy is up to date and no rewrite is needed, the page to be brought in simply replaces the old page in memory</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Choosing </a:t>
            </a:r>
            <a:r>
              <a:rPr lang="en-US" dirty="0">
                <a:latin typeface="Times New Roman" panose="02020603050405020304" pitchFamily="18" charset="0"/>
                <a:cs typeface="Times New Roman" panose="02020603050405020304" pitchFamily="18" charset="0"/>
              </a:rPr>
              <a:t>a page randomly to be removed might not be effective. We will discuss the some algorithms in doing so.</a:t>
            </a:r>
          </a:p>
          <a:p>
            <a:endParaRPr lang="en-US" dirty="0"/>
          </a:p>
        </p:txBody>
      </p:sp>
    </p:spTree>
    <p:extLst>
      <p:ext uri="{BB962C8B-B14F-4D97-AF65-F5344CB8AC3E}">
        <p14:creationId xmlns="" xmlns:p14="http://schemas.microsoft.com/office/powerpoint/2010/main" val="3367290441"/>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40344"/>
          </a:xfrm>
        </p:spPr>
        <p:txBody>
          <a:bodyPr>
            <a:normAutofit/>
          </a:bodyPr>
          <a:lstStyle/>
          <a:p>
            <a:r>
              <a:rPr lang="en-US" sz="2800" b="1" dirty="0">
                <a:latin typeface="Times New Roman" panose="02020603050405020304" pitchFamily="18" charset="0"/>
                <a:cs typeface="Times New Roman" panose="02020603050405020304" pitchFamily="18" charset="0"/>
              </a:rPr>
              <a:t>Page Replacement Procedure</a:t>
            </a:r>
          </a:p>
        </p:txBody>
      </p:sp>
      <p:pic>
        <p:nvPicPr>
          <p:cNvPr id="4" name="Content Placeholder 3"/>
          <p:cNvPicPr>
            <a:picLocks noGrp="1" noChangeAspect="1"/>
          </p:cNvPicPr>
          <p:nvPr>
            <p:ph idx="1"/>
          </p:nvPr>
        </p:nvPicPr>
        <p:blipFill>
          <a:blip r:embed="rId2"/>
          <a:stretch>
            <a:fillRect/>
          </a:stretch>
        </p:blipFill>
        <p:spPr>
          <a:xfrm>
            <a:off x="658788" y="1105470"/>
            <a:ext cx="10874423" cy="5008727"/>
          </a:xfrm>
          <a:prstGeom prst="rect">
            <a:avLst/>
          </a:prstGeom>
        </p:spPr>
      </p:pic>
    </p:spTree>
    <p:extLst>
      <p:ext uri="{BB962C8B-B14F-4D97-AF65-F5344CB8AC3E}">
        <p14:creationId xmlns="" xmlns:p14="http://schemas.microsoft.com/office/powerpoint/2010/main" val="255818194"/>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40344"/>
          </a:xfrm>
        </p:spPr>
        <p:txBody>
          <a:bodyPr>
            <a:normAutofit/>
          </a:bodyPr>
          <a:lstStyle/>
          <a:p>
            <a:r>
              <a:rPr lang="en-US" sz="2800" b="1" dirty="0">
                <a:latin typeface="Times New Roman" panose="02020603050405020304" pitchFamily="18" charset="0"/>
                <a:cs typeface="Times New Roman" panose="02020603050405020304" pitchFamily="18" charset="0"/>
              </a:rPr>
              <a:t>Page Replacement Algorithm</a:t>
            </a:r>
          </a:p>
        </p:txBody>
      </p:sp>
      <p:sp>
        <p:nvSpPr>
          <p:cNvPr id="3" name="Content Placeholder 2"/>
          <p:cNvSpPr>
            <a:spLocks noGrp="1"/>
          </p:cNvSpPr>
          <p:nvPr>
            <p:ph idx="1"/>
          </p:nvPr>
        </p:nvSpPr>
        <p:spPr>
          <a:xfrm>
            <a:off x="838200" y="1364776"/>
            <a:ext cx="10515600" cy="4812187"/>
          </a:xfrm>
        </p:spPr>
        <p:txBody>
          <a:bodyPr>
            <a:normAutofit/>
          </a:bodyPr>
          <a:lstStyle/>
          <a:p>
            <a:pPr marL="0" indent="0">
              <a:buNone/>
            </a:pPr>
            <a:r>
              <a:rPr lang="en-US" dirty="0" smtClean="0">
                <a:latin typeface="Times New Roman" panose="02020603050405020304" pitchFamily="18" charset="0"/>
                <a:cs typeface="Times New Roman" panose="02020603050405020304" pitchFamily="18" charset="0"/>
              </a:rPr>
              <a:t>1.The </a:t>
            </a:r>
            <a:r>
              <a:rPr lang="en-US" dirty="0">
                <a:latin typeface="Times New Roman" panose="02020603050405020304" pitchFamily="18" charset="0"/>
                <a:cs typeface="Times New Roman" panose="02020603050405020304" pitchFamily="18" charset="0"/>
              </a:rPr>
              <a:t>O</a:t>
            </a:r>
            <a:r>
              <a:rPr lang="en-US" dirty="0" smtClean="0">
                <a:latin typeface="Times New Roman" panose="02020603050405020304" pitchFamily="18" charset="0"/>
                <a:cs typeface="Times New Roman" panose="02020603050405020304" pitchFamily="18" charset="0"/>
              </a:rPr>
              <a:t>ptimal </a:t>
            </a:r>
            <a:r>
              <a:rPr lang="en-US" dirty="0">
                <a:latin typeface="Times New Roman" panose="02020603050405020304" pitchFamily="18" charset="0"/>
                <a:cs typeface="Times New Roman" panose="02020603050405020304" pitchFamily="18" charset="0"/>
              </a:rPr>
              <a:t>P</a:t>
            </a:r>
            <a:r>
              <a:rPr lang="en-US" dirty="0" smtClean="0">
                <a:latin typeface="Times New Roman" panose="02020603050405020304" pitchFamily="18" charset="0"/>
                <a:cs typeface="Times New Roman" panose="02020603050405020304" pitchFamily="18" charset="0"/>
              </a:rPr>
              <a:t>age Replacement (OPR) </a:t>
            </a:r>
            <a:r>
              <a:rPr lang="en-US" dirty="0">
                <a:latin typeface="Times New Roman" panose="02020603050405020304" pitchFamily="18" charset="0"/>
                <a:cs typeface="Times New Roman" panose="02020603050405020304" pitchFamily="18" charset="0"/>
              </a:rPr>
              <a:t>algorithm</a:t>
            </a:r>
          </a:p>
          <a:p>
            <a:pPr marL="0" indent="0">
              <a:buNone/>
            </a:pPr>
            <a:r>
              <a:rPr lang="en-US" dirty="0">
                <a:latin typeface="Times New Roman" panose="02020603050405020304" pitchFamily="18" charset="0"/>
                <a:cs typeface="Times New Roman" panose="02020603050405020304" pitchFamily="18" charset="0"/>
              </a:rPr>
              <a:t>2.The least recently used (LRU) page replacement algorithm</a:t>
            </a:r>
          </a:p>
          <a:p>
            <a:pPr marL="0" indent="0">
              <a:buNone/>
            </a:pPr>
            <a:r>
              <a:rPr lang="en-US" dirty="0">
                <a:latin typeface="Times New Roman" panose="02020603050405020304" pitchFamily="18" charset="0"/>
                <a:cs typeface="Times New Roman" panose="02020603050405020304" pitchFamily="18" charset="0"/>
              </a:rPr>
              <a:t>3.First-In First-Out page (FIFO) replacement algorithm</a:t>
            </a:r>
          </a:p>
          <a:p>
            <a:pPr marL="0" indent="0">
              <a:buNone/>
            </a:pPr>
            <a:r>
              <a:rPr lang="fr-FR" dirty="0" smtClean="0">
                <a:latin typeface="Times New Roman" panose="02020603050405020304" pitchFamily="18" charset="0"/>
                <a:cs typeface="Times New Roman" panose="02020603050405020304" pitchFamily="18" charset="0"/>
              </a:rPr>
              <a:t>4.Second </a:t>
            </a:r>
            <a:r>
              <a:rPr lang="fr-FR" dirty="0">
                <a:latin typeface="Times New Roman" panose="02020603050405020304" pitchFamily="18" charset="0"/>
                <a:cs typeface="Times New Roman" panose="02020603050405020304" pitchFamily="18" charset="0"/>
              </a:rPr>
              <a:t>C</a:t>
            </a:r>
            <a:r>
              <a:rPr lang="fr-FR" dirty="0" smtClean="0">
                <a:latin typeface="Times New Roman" panose="02020603050405020304" pitchFamily="18" charset="0"/>
                <a:cs typeface="Times New Roman" panose="02020603050405020304" pitchFamily="18" charset="0"/>
              </a:rPr>
              <a:t>hance Page (SCP) </a:t>
            </a:r>
            <a:r>
              <a:rPr lang="fr-FR" dirty="0">
                <a:latin typeface="Times New Roman" panose="02020603050405020304" pitchFamily="18" charset="0"/>
                <a:cs typeface="Times New Roman" panose="02020603050405020304" pitchFamily="18" charset="0"/>
              </a:rPr>
              <a:t>replacement algorithm</a:t>
            </a:r>
          </a:p>
          <a:p>
            <a:pPr marL="0" indent="0">
              <a:buNone/>
            </a:pPr>
            <a:r>
              <a:rPr lang="en-US" dirty="0">
                <a:latin typeface="Times New Roman" panose="02020603050405020304" pitchFamily="18" charset="0"/>
                <a:cs typeface="Times New Roman" panose="02020603050405020304" pitchFamily="18" charset="0"/>
              </a:rPr>
              <a:t>5</a:t>
            </a: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clock page replacement algorithm</a:t>
            </a:r>
          </a:p>
          <a:p>
            <a:pPr marL="0" indent="0">
              <a:buNone/>
            </a:pPr>
            <a:r>
              <a:rPr lang="en-US" dirty="0" smtClean="0">
                <a:latin typeface="Times New Roman" panose="02020603050405020304" pitchFamily="18" charset="0"/>
                <a:cs typeface="Times New Roman" panose="02020603050405020304" pitchFamily="18" charset="0"/>
              </a:rPr>
              <a:t>Note</a:t>
            </a:r>
            <a:r>
              <a:rPr lang="en-US" dirty="0">
                <a:latin typeface="Times New Roman" panose="02020603050405020304" pitchFamily="18" charset="0"/>
                <a:cs typeface="Times New Roman" panose="02020603050405020304" pitchFamily="18" charset="0"/>
              </a:rPr>
              <a:t>: We evaluate an algorithm by running it on a particular string of </a:t>
            </a:r>
            <a:r>
              <a:rPr lang="en-US" dirty="0" smtClean="0">
                <a:latin typeface="Times New Roman" panose="02020603050405020304" pitchFamily="18" charset="0"/>
                <a:cs typeface="Times New Roman" panose="02020603050405020304" pitchFamily="18" charset="0"/>
              </a:rPr>
              <a:t>memory references and </a:t>
            </a:r>
            <a:r>
              <a:rPr lang="en-US" dirty="0">
                <a:latin typeface="Times New Roman" panose="02020603050405020304" pitchFamily="18" charset="0"/>
                <a:cs typeface="Times New Roman" panose="02020603050405020304" pitchFamily="18" charset="0"/>
              </a:rPr>
              <a:t>computing the number of page faults</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1253978324"/>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55944"/>
            <a:ext cx="10515600" cy="1108832"/>
          </a:xfrm>
        </p:spPr>
        <p:txBody>
          <a:bodyPr>
            <a:noAutofit/>
          </a:bodyPr>
          <a:lstStyle/>
          <a:p>
            <a:r>
              <a:rPr lang="en-US" sz="2800" b="1" dirty="0" smtClean="0">
                <a:latin typeface="Times New Roman" panose="02020603050405020304" pitchFamily="18" charset="0"/>
                <a:cs typeface="Times New Roman" panose="02020603050405020304" pitchFamily="18" charset="0"/>
              </a:rPr>
              <a:t/>
            </a:r>
            <a:br>
              <a:rPr lang="en-US" sz="2800" b="1" dirty="0" smtClean="0">
                <a:latin typeface="Times New Roman" panose="02020603050405020304" pitchFamily="18" charset="0"/>
                <a:cs typeface="Times New Roman" panose="02020603050405020304" pitchFamily="18" charset="0"/>
              </a:rPr>
            </a:br>
            <a:r>
              <a:rPr lang="en-US" sz="2800" b="1" dirty="0" smtClean="0">
                <a:latin typeface="Times New Roman" panose="02020603050405020304" pitchFamily="18" charset="0"/>
                <a:cs typeface="Times New Roman" panose="02020603050405020304" pitchFamily="18" charset="0"/>
              </a:rPr>
              <a:t>Page </a:t>
            </a:r>
            <a:r>
              <a:rPr lang="en-US" sz="2800" b="1" dirty="0">
                <a:latin typeface="Times New Roman" panose="02020603050405020304" pitchFamily="18" charset="0"/>
                <a:cs typeface="Times New Roman" panose="02020603050405020304" pitchFamily="18" charset="0"/>
              </a:rPr>
              <a:t>Replacement </a:t>
            </a:r>
            <a:r>
              <a:rPr lang="en-US" sz="2800" b="1" dirty="0" smtClean="0">
                <a:latin typeface="Times New Roman" panose="02020603050405020304" pitchFamily="18" charset="0"/>
                <a:cs typeface="Times New Roman" panose="02020603050405020304" pitchFamily="18" charset="0"/>
              </a:rPr>
              <a:t>Algorithm-</a:t>
            </a:r>
            <a:r>
              <a:rPr lang="en-US" sz="2800" b="1" dirty="0">
                <a:latin typeface="Times New Roman" panose="02020603050405020304" pitchFamily="18" charset="0"/>
                <a:cs typeface="Times New Roman" panose="02020603050405020304" pitchFamily="18" charset="0"/>
              </a:rPr>
              <a:t>The Optimal Page Replacement (OPR) algorithm</a:t>
            </a:r>
            <a:br>
              <a:rPr lang="en-US" sz="2800" b="1" dirty="0">
                <a:latin typeface="Times New Roman" panose="02020603050405020304" pitchFamily="18" charset="0"/>
                <a:cs typeface="Times New Roman" panose="02020603050405020304" pitchFamily="18" charset="0"/>
              </a:rPr>
            </a:br>
            <a:endParaRPr lang="en-US"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473958"/>
            <a:ext cx="10515600" cy="4703005"/>
          </a:xfrm>
        </p:spPr>
        <p:txBody>
          <a:bodyPr>
            <a:normAutofit/>
          </a:bodyPr>
          <a:lstStyle/>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It </a:t>
            </a:r>
            <a:r>
              <a:rPr lang="en-US" dirty="0">
                <a:latin typeface="Times New Roman" panose="02020603050405020304" pitchFamily="18" charset="0"/>
                <a:cs typeface="Times New Roman" panose="02020603050405020304" pitchFamily="18" charset="0"/>
              </a:rPr>
              <a:t>is the best possible page replacement algorithm, which is easy to describe but impossible to implement</a:t>
            </a:r>
          </a:p>
          <a:p>
            <a:pPr>
              <a:buFont typeface="Wingdings" panose="05000000000000000000" pitchFamily="2" charset="2"/>
              <a:buChar char="v"/>
            </a:pPr>
            <a:r>
              <a:rPr lang="en-US" b="1" dirty="0" smtClean="0">
                <a:latin typeface="Times New Roman" panose="02020603050405020304" pitchFamily="18" charset="0"/>
                <a:cs typeface="Times New Roman" panose="02020603050405020304" pitchFamily="18" charset="0"/>
              </a:rPr>
              <a:t>Replace </a:t>
            </a:r>
            <a:r>
              <a:rPr lang="en-US" b="1" dirty="0">
                <a:latin typeface="Times New Roman" panose="02020603050405020304" pitchFamily="18" charset="0"/>
                <a:cs typeface="Times New Roman" panose="02020603050405020304" pitchFamily="18" charset="0"/>
              </a:rPr>
              <a:t>page that will not be used for longest period of </a:t>
            </a:r>
            <a:r>
              <a:rPr lang="en-US" b="1" dirty="0" smtClean="0">
                <a:latin typeface="Times New Roman" panose="02020603050405020304" pitchFamily="18" charset="0"/>
                <a:cs typeface="Times New Roman" panose="02020603050405020304" pitchFamily="18" charset="0"/>
              </a:rPr>
              <a:t>time</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For example, a page that is not going to be used for the next 6 seconds will be swapped out over a page that is going to be used within the next 0.4 seconds</a:t>
            </a:r>
            <a:r>
              <a:rPr lang="en-US"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Optimal page replacement is perfect, but not possible in practice as the operating system cannot know future requests. The use of Optimal Page replacement is to set up a benchmark so that other replacement algorithms can be analyzed against it.</a:t>
            </a:r>
          </a:p>
        </p:txBody>
      </p:sp>
    </p:spTree>
    <p:extLst>
      <p:ext uri="{BB962C8B-B14F-4D97-AF65-F5344CB8AC3E}">
        <p14:creationId xmlns="" xmlns:p14="http://schemas.microsoft.com/office/powerpoint/2010/main" val="522176727"/>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55944"/>
            <a:ext cx="10515600" cy="1108832"/>
          </a:xfrm>
        </p:spPr>
        <p:txBody>
          <a:bodyPr>
            <a:noAutofit/>
          </a:bodyPr>
          <a:lstStyle/>
          <a:p>
            <a:r>
              <a:rPr lang="en-US" sz="2800" b="1" dirty="0" smtClean="0">
                <a:latin typeface="Times New Roman" panose="02020603050405020304" pitchFamily="18" charset="0"/>
                <a:cs typeface="Times New Roman" panose="02020603050405020304" pitchFamily="18" charset="0"/>
              </a:rPr>
              <a:t/>
            </a:r>
            <a:br>
              <a:rPr lang="en-US" sz="2800" b="1" dirty="0" smtClean="0">
                <a:latin typeface="Times New Roman" panose="02020603050405020304" pitchFamily="18" charset="0"/>
                <a:cs typeface="Times New Roman" panose="02020603050405020304" pitchFamily="18" charset="0"/>
              </a:rPr>
            </a:br>
            <a:r>
              <a:rPr lang="en-US" sz="2800" b="1" dirty="0" smtClean="0">
                <a:latin typeface="Times New Roman" panose="02020603050405020304" pitchFamily="18" charset="0"/>
                <a:cs typeface="Times New Roman" panose="02020603050405020304" pitchFamily="18" charset="0"/>
              </a:rPr>
              <a:t>Page </a:t>
            </a:r>
            <a:r>
              <a:rPr lang="en-US" sz="2800" b="1" dirty="0">
                <a:latin typeface="Times New Roman" panose="02020603050405020304" pitchFamily="18" charset="0"/>
                <a:cs typeface="Times New Roman" panose="02020603050405020304" pitchFamily="18" charset="0"/>
              </a:rPr>
              <a:t>Replacement </a:t>
            </a:r>
            <a:r>
              <a:rPr lang="en-US" sz="2800" b="1" dirty="0" smtClean="0">
                <a:latin typeface="Times New Roman" panose="02020603050405020304" pitchFamily="18" charset="0"/>
                <a:cs typeface="Times New Roman" panose="02020603050405020304" pitchFamily="18" charset="0"/>
              </a:rPr>
              <a:t>Algorithm-</a:t>
            </a:r>
            <a:r>
              <a:rPr lang="en-US" sz="2800" b="1" dirty="0">
                <a:latin typeface="Times New Roman" panose="02020603050405020304" pitchFamily="18" charset="0"/>
                <a:cs typeface="Times New Roman" panose="02020603050405020304" pitchFamily="18" charset="0"/>
              </a:rPr>
              <a:t>The Optimal Page Replacement (OPR) algorithm</a:t>
            </a:r>
            <a:br>
              <a:rPr lang="en-US" sz="2800" b="1" dirty="0">
                <a:latin typeface="Times New Roman" panose="02020603050405020304" pitchFamily="18" charset="0"/>
                <a:cs typeface="Times New Roman" panose="02020603050405020304" pitchFamily="18" charset="0"/>
              </a:rPr>
            </a:br>
            <a:endParaRPr lang="en-US"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473958"/>
            <a:ext cx="10515600" cy="4703005"/>
          </a:xfrm>
        </p:spPr>
        <p:txBody>
          <a:bodyPr>
            <a:normAutofit/>
          </a:bodyPr>
          <a:lstStyle/>
          <a:p>
            <a:pPr marL="0" indent="0">
              <a:buNone/>
            </a:pPr>
            <a:r>
              <a:rPr lang="en-US" dirty="0">
                <a:latin typeface="Times New Roman" panose="02020603050405020304" pitchFamily="18" charset="0"/>
                <a:cs typeface="Times New Roman" panose="02020603050405020304" pitchFamily="18" charset="0"/>
              </a:rPr>
              <a:t>Consider the page references 7, 0, 1, 2, 0, 3, 0, 4, 2, 3, 0, 3, 2, with 4 page frame. Find number of page fault. </a:t>
            </a:r>
            <a:endParaRPr lang="en-US" dirty="0" smtClean="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1609796" y="2370375"/>
            <a:ext cx="9199231" cy="4038600"/>
          </a:xfrm>
          <a:prstGeom prst="rect">
            <a:avLst/>
          </a:prstGeom>
        </p:spPr>
      </p:pic>
    </p:spTree>
    <p:extLst>
      <p:ext uri="{BB962C8B-B14F-4D97-AF65-F5344CB8AC3E}">
        <p14:creationId xmlns="" xmlns:p14="http://schemas.microsoft.com/office/powerpoint/2010/main" val="1770617025"/>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55944"/>
            <a:ext cx="10515600" cy="1108832"/>
          </a:xfrm>
        </p:spPr>
        <p:txBody>
          <a:bodyPr>
            <a:noAutofit/>
          </a:bodyPr>
          <a:lstStyle/>
          <a:p>
            <a:r>
              <a:rPr lang="en-US" sz="2800" b="1" dirty="0" smtClean="0">
                <a:latin typeface="Times New Roman" panose="02020603050405020304" pitchFamily="18" charset="0"/>
                <a:cs typeface="Times New Roman" panose="02020603050405020304" pitchFamily="18" charset="0"/>
              </a:rPr>
              <a:t/>
            </a:r>
            <a:br>
              <a:rPr lang="en-US" sz="2800" b="1" dirty="0" smtClean="0">
                <a:latin typeface="Times New Roman" panose="02020603050405020304" pitchFamily="18" charset="0"/>
                <a:cs typeface="Times New Roman" panose="02020603050405020304" pitchFamily="18" charset="0"/>
              </a:rPr>
            </a:br>
            <a:r>
              <a:rPr lang="en-US" sz="2800" b="1" dirty="0" smtClean="0">
                <a:latin typeface="Times New Roman" panose="02020603050405020304" pitchFamily="18" charset="0"/>
                <a:cs typeface="Times New Roman" panose="02020603050405020304" pitchFamily="18" charset="0"/>
              </a:rPr>
              <a:t>Page </a:t>
            </a:r>
            <a:r>
              <a:rPr lang="en-US" sz="2800" b="1" dirty="0">
                <a:latin typeface="Times New Roman" panose="02020603050405020304" pitchFamily="18" charset="0"/>
                <a:cs typeface="Times New Roman" panose="02020603050405020304" pitchFamily="18" charset="0"/>
              </a:rPr>
              <a:t>Replacement </a:t>
            </a:r>
            <a:r>
              <a:rPr lang="en-US" sz="2800" b="1" dirty="0" smtClean="0">
                <a:latin typeface="Times New Roman" panose="02020603050405020304" pitchFamily="18" charset="0"/>
                <a:cs typeface="Times New Roman" panose="02020603050405020304" pitchFamily="18" charset="0"/>
              </a:rPr>
              <a:t>Algorithm-</a:t>
            </a:r>
            <a:r>
              <a:rPr lang="en-US" sz="2800" b="1" dirty="0">
                <a:latin typeface="Times New Roman" panose="02020603050405020304" pitchFamily="18" charset="0"/>
                <a:cs typeface="Times New Roman" panose="02020603050405020304" pitchFamily="18" charset="0"/>
              </a:rPr>
              <a:t>The Optimal Page Replacement (OPR) </a:t>
            </a:r>
            <a:r>
              <a:rPr lang="en-US" sz="2800" b="1" dirty="0" smtClean="0">
                <a:latin typeface="Times New Roman" panose="02020603050405020304" pitchFamily="18" charset="0"/>
                <a:cs typeface="Times New Roman" panose="02020603050405020304" pitchFamily="18" charset="0"/>
              </a:rPr>
              <a:t>algorithm-Example</a:t>
            </a:r>
            <a:r>
              <a:rPr lang="en-US" sz="2800" b="1" dirty="0">
                <a:latin typeface="Times New Roman" panose="02020603050405020304" pitchFamily="18" charset="0"/>
                <a:cs typeface="Times New Roman" panose="02020603050405020304" pitchFamily="18" charset="0"/>
              </a:rPr>
              <a:t/>
            </a:r>
            <a:br>
              <a:rPr lang="en-US" sz="2800" b="1" dirty="0">
                <a:latin typeface="Times New Roman" panose="02020603050405020304" pitchFamily="18" charset="0"/>
                <a:cs typeface="Times New Roman" panose="02020603050405020304" pitchFamily="18" charset="0"/>
              </a:rPr>
            </a:br>
            <a:endParaRPr lang="en-US"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473958"/>
            <a:ext cx="10515600" cy="4703005"/>
          </a:xfrm>
        </p:spPr>
        <p:txBody>
          <a:bodyPr>
            <a:normAutofit/>
          </a:bodyPr>
          <a:lstStyle/>
          <a:p>
            <a:r>
              <a:rPr lang="en-US" dirty="0">
                <a:latin typeface="Times New Roman" panose="02020603050405020304" pitchFamily="18" charset="0"/>
                <a:cs typeface="Times New Roman" panose="02020603050405020304" pitchFamily="18" charset="0"/>
              </a:rPr>
              <a:t>Consider </a:t>
            </a:r>
            <a:r>
              <a:rPr lang="en-US" dirty="0" smtClean="0">
                <a:latin typeface="Times New Roman" panose="02020603050405020304" pitchFamily="18" charset="0"/>
                <a:cs typeface="Times New Roman" panose="02020603050405020304" pitchFamily="18" charset="0"/>
              </a:rPr>
              <a:t>page </a:t>
            </a:r>
            <a:r>
              <a:rPr lang="en-US" dirty="0">
                <a:latin typeface="Times New Roman" panose="02020603050405020304" pitchFamily="18" charset="0"/>
                <a:cs typeface="Times New Roman" panose="02020603050405020304" pitchFamily="18" charset="0"/>
              </a:rPr>
              <a:t>frame size is 3 and the reference string </a:t>
            </a:r>
            <a:r>
              <a:rPr lang="en-US" dirty="0" smtClean="0">
                <a:latin typeface="Times New Roman" panose="02020603050405020304" pitchFamily="18" charset="0"/>
                <a:cs typeface="Times New Roman" panose="02020603050405020304" pitchFamily="18" charset="0"/>
              </a:rPr>
              <a:t>is 7,0,1,2,0,3,0,4,2,3,0,3,0,3,2,1,2,0,1,7,0,1. </a:t>
            </a:r>
            <a:r>
              <a:rPr lang="en-US" dirty="0">
                <a:latin typeface="Times New Roman" panose="02020603050405020304" pitchFamily="18" charset="0"/>
                <a:cs typeface="Times New Roman" panose="02020603050405020304" pitchFamily="18" charset="0"/>
              </a:rPr>
              <a:t>Find number of page fault. </a:t>
            </a:r>
            <a:endParaRPr lang="en-US" dirty="0" smtClean="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3716475091"/>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55944"/>
            <a:ext cx="10515600" cy="1108832"/>
          </a:xfrm>
        </p:spPr>
        <p:txBody>
          <a:bodyPr>
            <a:noAutofit/>
          </a:bodyPr>
          <a:lstStyle/>
          <a:p>
            <a:r>
              <a:rPr lang="en-US" sz="2800" b="1" dirty="0" smtClean="0">
                <a:latin typeface="Times New Roman" panose="02020603050405020304" pitchFamily="18" charset="0"/>
                <a:cs typeface="Times New Roman" panose="02020603050405020304" pitchFamily="18" charset="0"/>
              </a:rPr>
              <a:t/>
            </a:r>
            <a:br>
              <a:rPr lang="en-US" sz="2800" b="1" dirty="0" smtClean="0">
                <a:latin typeface="Times New Roman" panose="02020603050405020304" pitchFamily="18" charset="0"/>
                <a:cs typeface="Times New Roman" panose="02020603050405020304" pitchFamily="18" charset="0"/>
              </a:rPr>
            </a:br>
            <a:r>
              <a:rPr lang="en-US" sz="2800" b="1" dirty="0" smtClean="0">
                <a:latin typeface="Times New Roman" panose="02020603050405020304" pitchFamily="18" charset="0"/>
                <a:cs typeface="Times New Roman" panose="02020603050405020304" pitchFamily="18" charset="0"/>
              </a:rPr>
              <a:t>Page </a:t>
            </a:r>
            <a:r>
              <a:rPr lang="en-US" sz="2800" b="1" dirty="0">
                <a:latin typeface="Times New Roman" panose="02020603050405020304" pitchFamily="18" charset="0"/>
                <a:cs typeface="Times New Roman" panose="02020603050405020304" pitchFamily="18" charset="0"/>
              </a:rPr>
              <a:t>Replacement </a:t>
            </a:r>
            <a:r>
              <a:rPr lang="en-US" sz="2800" b="1" dirty="0" smtClean="0">
                <a:latin typeface="Times New Roman" panose="02020603050405020304" pitchFamily="18" charset="0"/>
                <a:cs typeface="Times New Roman" panose="02020603050405020304" pitchFamily="18" charset="0"/>
              </a:rPr>
              <a:t>Algorithm-</a:t>
            </a:r>
            <a:r>
              <a:rPr lang="en-US" sz="2800" b="1" dirty="0">
                <a:latin typeface="Times New Roman" panose="02020603050405020304" pitchFamily="18" charset="0"/>
                <a:cs typeface="Times New Roman" panose="02020603050405020304" pitchFamily="18" charset="0"/>
              </a:rPr>
              <a:t>The Optimal Page Replacement (OPR) </a:t>
            </a:r>
            <a:r>
              <a:rPr lang="en-US" sz="2800" b="1" dirty="0" smtClean="0">
                <a:latin typeface="Times New Roman" panose="02020603050405020304" pitchFamily="18" charset="0"/>
                <a:cs typeface="Times New Roman" panose="02020603050405020304" pitchFamily="18" charset="0"/>
              </a:rPr>
              <a:t>algorithm-Example</a:t>
            </a:r>
            <a:r>
              <a:rPr lang="en-US" sz="2800" b="1" dirty="0">
                <a:latin typeface="Times New Roman" panose="02020603050405020304" pitchFamily="18" charset="0"/>
                <a:cs typeface="Times New Roman" panose="02020603050405020304" pitchFamily="18" charset="0"/>
              </a:rPr>
              <a:t/>
            </a:r>
            <a:br>
              <a:rPr lang="en-US" sz="2800" b="1" dirty="0">
                <a:latin typeface="Times New Roman" panose="02020603050405020304" pitchFamily="18" charset="0"/>
                <a:cs typeface="Times New Roman" panose="02020603050405020304" pitchFamily="18" charset="0"/>
              </a:rPr>
            </a:br>
            <a:endParaRPr lang="en-US"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473958"/>
            <a:ext cx="10515600" cy="4703005"/>
          </a:xfrm>
        </p:spPr>
        <p:txBody>
          <a:bodyPr>
            <a:normAutofit/>
          </a:bodyPr>
          <a:lstStyle/>
          <a:p>
            <a:r>
              <a:rPr lang="en-US" dirty="0">
                <a:latin typeface="Times New Roman" panose="02020603050405020304" pitchFamily="18" charset="0"/>
                <a:cs typeface="Times New Roman" panose="02020603050405020304" pitchFamily="18" charset="0"/>
              </a:rPr>
              <a:t>Consider </a:t>
            </a:r>
            <a:r>
              <a:rPr lang="en-US" dirty="0" smtClean="0">
                <a:latin typeface="Times New Roman" panose="02020603050405020304" pitchFamily="18" charset="0"/>
                <a:cs typeface="Times New Roman" panose="02020603050405020304" pitchFamily="18" charset="0"/>
              </a:rPr>
              <a:t>page </a:t>
            </a:r>
            <a:r>
              <a:rPr lang="en-US" dirty="0">
                <a:latin typeface="Times New Roman" panose="02020603050405020304" pitchFamily="18" charset="0"/>
                <a:cs typeface="Times New Roman" panose="02020603050405020304" pitchFamily="18" charset="0"/>
              </a:rPr>
              <a:t>frame size is 3 and the reference string </a:t>
            </a:r>
            <a:r>
              <a:rPr lang="en-US" dirty="0" smtClean="0">
                <a:latin typeface="Times New Roman" panose="02020603050405020304" pitchFamily="18" charset="0"/>
                <a:cs typeface="Times New Roman" panose="02020603050405020304" pitchFamily="18" charset="0"/>
              </a:rPr>
              <a:t>is 7,0,1,2,0,3,0,4,2,3,0,3,0,3,2,1,2,0,1,7,0,1. </a:t>
            </a:r>
            <a:r>
              <a:rPr lang="en-US" dirty="0">
                <a:latin typeface="Times New Roman" panose="02020603050405020304" pitchFamily="18" charset="0"/>
                <a:cs typeface="Times New Roman" panose="02020603050405020304" pitchFamily="18" charset="0"/>
              </a:rPr>
              <a:t>Find number of page fault. </a:t>
            </a:r>
            <a:endParaRPr lang="en-US" dirty="0" smtClean="0">
              <a:latin typeface="Times New Roman" panose="02020603050405020304" pitchFamily="18" charset="0"/>
              <a:cs typeface="Times New Roman" panose="02020603050405020304" pitchFamily="18" charset="0"/>
            </a:endParaRPr>
          </a:p>
          <a:p>
            <a:pPr marL="0" indent="0">
              <a:buNone/>
            </a:pPr>
            <a:endParaRPr lang="en-US" dirty="0" smtClean="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1323833" y="2849906"/>
            <a:ext cx="9689910" cy="2117880"/>
          </a:xfrm>
          <a:prstGeom prst="rect">
            <a:avLst/>
          </a:prstGeom>
        </p:spPr>
      </p:pic>
    </p:spTree>
    <p:extLst>
      <p:ext uri="{BB962C8B-B14F-4D97-AF65-F5344CB8AC3E}">
        <p14:creationId xmlns="" xmlns:p14="http://schemas.microsoft.com/office/powerpoint/2010/main" val="3805682379"/>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dirty="0" smtClean="0">
                <a:latin typeface="Times New Roman" panose="02020603050405020304" pitchFamily="18" charset="0"/>
                <a:cs typeface="Times New Roman" panose="02020603050405020304" pitchFamily="18" charset="0"/>
              </a:rPr>
              <a:t/>
            </a:r>
            <a:br>
              <a:rPr lang="en-US" sz="2800" b="1" dirty="0" smtClean="0">
                <a:latin typeface="Times New Roman" panose="02020603050405020304" pitchFamily="18" charset="0"/>
                <a:cs typeface="Times New Roman" panose="02020603050405020304" pitchFamily="18" charset="0"/>
              </a:rPr>
            </a:br>
            <a:r>
              <a:rPr lang="en-US" sz="2800" b="1" dirty="0" smtClean="0">
                <a:latin typeface="Times New Roman" panose="02020603050405020304" pitchFamily="18" charset="0"/>
                <a:cs typeface="Times New Roman" panose="02020603050405020304" pitchFamily="18" charset="0"/>
              </a:rPr>
              <a:t>Page </a:t>
            </a:r>
            <a:r>
              <a:rPr lang="en-US" sz="2800" b="1" dirty="0">
                <a:latin typeface="Times New Roman" panose="02020603050405020304" pitchFamily="18" charset="0"/>
                <a:cs typeface="Times New Roman" panose="02020603050405020304" pitchFamily="18" charset="0"/>
              </a:rPr>
              <a:t>Replacement </a:t>
            </a:r>
            <a:r>
              <a:rPr lang="en-US" sz="2800" b="1" dirty="0" smtClean="0">
                <a:latin typeface="Times New Roman" panose="02020603050405020304" pitchFamily="18" charset="0"/>
                <a:cs typeface="Times New Roman" panose="02020603050405020304" pitchFamily="18" charset="0"/>
              </a:rPr>
              <a:t>Algorithm- First In First Out(FIFO) Page Replacement </a:t>
            </a:r>
            <a:r>
              <a:rPr lang="en-US" sz="2800" b="1" dirty="0">
                <a:latin typeface="Times New Roman" panose="02020603050405020304" pitchFamily="18" charset="0"/>
                <a:cs typeface="Times New Roman" panose="02020603050405020304" pitchFamily="18" charset="0"/>
              </a:rPr>
              <a:t>A</a:t>
            </a:r>
            <a:r>
              <a:rPr lang="en-US" sz="2800" b="1" dirty="0" smtClean="0">
                <a:latin typeface="Times New Roman" panose="02020603050405020304" pitchFamily="18" charset="0"/>
                <a:cs typeface="Times New Roman" panose="02020603050405020304" pitchFamily="18" charset="0"/>
              </a:rPr>
              <a:t>lgorithm</a:t>
            </a:r>
            <a:r>
              <a:rPr lang="en-US" sz="2800" b="1" dirty="0">
                <a:latin typeface="Times New Roman" panose="02020603050405020304" pitchFamily="18" charset="0"/>
                <a:cs typeface="Times New Roman" panose="02020603050405020304" pitchFamily="18" charset="0"/>
              </a:rPr>
              <a:t/>
            </a:r>
            <a:br>
              <a:rPr lang="en-US" sz="2800" b="1" dirty="0">
                <a:latin typeface="Times New Roman" panose="02020603050405020304" pitchFamily="18" charset="0"/>
                <a:cs typeface="Times New Roman" panose="02020603050405020304" pitchFamily="18" charset="0"/>
              </a:rPr>
            </a:br>
            <a:endParaRPr lang="en-US"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524301" y="1808802"/>
            <a:ext cx="5248701" cy="4351338"/>
          </a:xfrm>
        </p:spPr>
        <p:txBody>
          <a:bodyPr>
            <a:normAutofit/>
          </a:bodyPr>
          <a:lstStyle/>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This is the simplest page replacement algorithm. </a:t>
            </a: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In </a:t>
            </a:r>
            <a:r>
              <a:rPr lang="en-US" dirty="0">
                <a:latin typeface="Times New Roman" panose="02020603050405020304" pitchFamily="18" charset="0"/>
                <a:cs typeface="Times New Roman" panose="02020603050405020304" pitchFamily="18" charset="0"/>
              </a:rPr>
              <a:t>this algorithm, the operating system keeps track of all pages in the memory in a queue, the oldest page is in the front of the </a:t>
            </a:r>
            <a:r>
              <a:rPr lang="en-US" dirty="0" smtClean="0">
                <a:latin typeface="Times New Roman" panose="02020603050405020304" pitchFamily="18" charset="0"/>
                <a:cs typeface="Times New Roman" panose="02020603050405020304" pitchFamily="18" charset="0"/>
              </a:rPr>
              <a:t>queue.</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When </a:t>
            </a:r>
            <a:r>
              <a:rPr lang="en-US" dirty="0">
                <a:latin typeface="Times New Roman" panose="02020603050405020304" pitchFamily="18" charset="0"/>
                <a:cs typeface="Times New Roman" panose="02020603050405020304" pitchFamily="18" charset="0"/>
              </a:rPr>
              <a:t>a page needs to be replaced page in the front of the queue is selected for removal. </a:t>
            </a:r>
          </a:p>
        </p:txBody>
      </p:sp>
      <p:pic>
        <p:nvPicPr>
          <p:cNvPr id="5" name="Content Placeholder 4"/>
          <p:cNvPicPr>
            <a:picLocks noGrp="1" noChangeAspect="1"/>
          </p:cNvPicPr>
          <p:nvPr>
            <p:ph sz="half" idx="2"/>
          </p:nvPr>
        </p:nvPicPr>
        <p:blipFill>
          <a:blip r:embed="rId2">
            <a:extLst>
              <a:ext uri="{28A0092B-C50C-407E-A947-70E740481C1C}">
                <a14:useLocalDpi xmlns="" xmlns:a14="http://schemas.microsoft.com/office/drawing/2010/main" val="0"/>
              </a:ext>
            </a:extLst>
          </a:blip>
          <a:stretch>
            <a:fillRect/>
          </a:stretch>
        </p:blipFill>
        <p:spPr>
          <a:xfrm>
            <a:off x="6357060" y="1808802"/>
            <a:ext cx="4778375" cy="3838575"/>
          </a:xfrm>
        </p:spPr>
      </p:pic>
    </p:spTree>
    <p:extLst>
      <p:ext uri="{BB962C8B-B14F-4D97-AF65-F5344CB8AC3E}">
        <p14:creationId xmlns="" xmlns:p14="http://schemas.microsoft.com/office/powerpoint/2010/main" val="1682494594"/>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dirty="0" smtClean="0">
                <a:latin typeface="Times New Roman" panose="02020603050405020304" pitchFamily="18" charset="0"/>
                <a:cs typeface="Times New Roman" panose="02020603050405020304" pitchFamily="18" charset="0"/>
              </a:rPr>
              <a:t/>
            </a:r>
            <a:br>
              <a:rPr lang="en-US" sz="2800" b="1" dirty="0" smtClean="0">
                <a:latin typeface="Times New Roman" panose="02020603050405020304" pitchFamily="18" charset="0"/>
                <a:cs typeface="Times New Roman" panose="02020603050405020304" pitchFamily="18" charset="0"/>
              </a:rPr>
            </a:br>
            <a:r>
              <a:rPr lang="en-US" sz="2800" b="1" dirty="0" smtClean="0">
                <a:latin typeface="Times New Roman" panose="02020603050405020304" pitchFamily="18" charset="0"/>
                <a:cs typeface="Times New Roman" panose="02020603050405020304" pitchFamily="18" charset="0"/>
              </a:rPr>
              <a:t>Page </a:t>
            </a:r>
            <a:r>
              <a:rPr lang="en-US" sz="2800" b="1" dirty="0">
                <a:latin typeface="Times New Roman" panose="02020603050405020304" pitchFamily="18" charset="0"/>
                <a:cs typeface="Times New Roman" panose="02020603050405020304" pitchFamily="18" charset="0"/>
              </a:rPr>
              <a:t>Replacement Algorithm-First In First Out(FIFO) Page Replacement </a:t>
            </a:r>
            <a:r>
              <a:rPr lang="en-US" sz="2800" b="1" dirty="0" smtClean="0">
                <a:latin typeface="Times New Roman" panose="02020603050405020304" pitchFamily="18" charset="0"/>
                <a:cs typeface="Times New Roman" panose="02020603050405020304" pitchFamily="18" charset="0"/>
              </a:rPr>
              <a:t>Algorithm</a:t>
            </a:r>
            <a:r>
              <a:rPr lang="en-US" sz="2800" b="1" dirty="0">
                <a:latin typeface="Times New Roman" panose="02020603050405020304" pitchFamily="18" charset="0"/>
                <a:cs typeface="Times New Roman" panose="02020603050405020304" pitchFamily="18" charset="0"/>
              </a:rPr>
              <a:t/>
            </a:r>
            <a:br>
              <a:rPr lang="en-US" sz="2800" b="1" dirty="0">
                <a:latin typeface="Times New Roman" panose="02020603050405020304" pitchFamily="18" charset="0"/>
                <a:cs typeface="Times New Roman" panose="02020603050405020304" pitchFamily="18" charset="0"/>
              </a:rPr>
            </a:br>
            <a:endParaRPr lang="en-US"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690688"/>
            <a:ext cx="10515600" cy="4486275"/>
          </a:xfrm>
        </p:spPr>
        <p:txBody>
          <a:bodyPr>
            <a:normAutofit/>
          </a:bodyPr>
          <a:lstStyle/>
          <a:p>
            <a:pPr marL="0" indent="0">
              <a:buNone/>
            </a:pPr>
            <a:r>
              <a:rPr lang="en-US" dirty="0">
                <a:latin typeface="Times New Roman" panose="02020603050405020304" pitchFamily="18" charset="0"/>
                <a:cs typeface="Times New Roman" panose="02020603050405020304" pitchFamily="18" charset="0"/>
              </a:rPr>
              <a:t>Consider page frame size is 3 and the reference string is 7,0,1,2,0,3,0,4,2,3,0,3,0,3,2,1,2,0,1,7,0,1. Find number of page fault</a:t>
            </a:r>
            <a:r>
              <a:rPr lang="en-US" dirty="0" smtClean="0">
                <a:latin typeface="Times New Roman" panose="02020603050405020304" pitchFamily="18" charset="0"/>
                <a:cs typeface="Times New Roman" panose="02020603050405020304" pitchFamily="18" charset="0"/>
              </a:rPr>
              <a:t>.</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smtClean="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smtClean="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There </a:t>
            </a:r>
            <a:r>
              <a:rPr lang="en-US" dirty="0">
                <a:latin typeface="Times New Roman" panose="02020603050405020304" pitchFamily="18" charset="0"/>
                <a:cs typeface="Times New Roman" panose="02020603050405020304" pitchFamily="18" charset="0"/>
              </a:rPr>
              <a:t>are 15 page faults in this </a:t>
            </a:r>
            <a:r>
              <a:rPr lang="en-US" dirty="0" smtClean="0">
                <a:latin typeface="Times New Roman" panose="02020603050405020304" pitchFamily="18" charset="0"/>
                <a:cs typeface="Times New Roman" panose="02020603050405020304" pitchFamily="18" charset="0"/>
              </a:rPr>
              <a:t>case</a:t>
            </a:r>
            <a:r>
              <a:rPr lang="en-US" dirty="0">
                <a:latin typeface="Times New Roman" panose="02020603050405020304" pitchFamily="18" charset="0"/>
                <a:cs typeface="Times New Roman" panose="02020603050405020304" pitchFamily="18" charset="0"/>
              </a:rPr>
              <a:t> </a:t>
            </a:r>
          </a:p>
          <a:p>
            <a:pPr marL="0" indent="0">
              <a:buNone/>
            </a:pPr>
            <a:endParaRPr lang="en-US"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1263894" y="2711657"/>
            <a:ext cx="9135700" cy="2198676"/>
          </a:xfrm>
          <a:prstGeom prst="rect">
            <a:avLst/>
          </a:prstGeom>
        </p:spPr>
      </p:pic>
    </p:spTree>
    <p:extLst>
      <p:ext uri="{BB962C8B-B14F-4D97-AF65-F5344CB8AC3E}">
        <p14:creationId xmlns="" xmlns:p14="http://schemas.microsoft.com/office/powerpoint/2010/main" val="1155264508"/>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dirty="0" smtClean="0">
                <a:latin typeface="Times New Roman" panose="02020603050405020304" pitchFamily="18" charset="0"/>
                <a:cs typeface="Times New Roman" panose="02020603050405020304" pitchFamily="18" charset="0"/>
              </a:rPr>
              <a:t/>
            </a:r>
            <a:br>
              <a:rPr lang="en-US" sz="2800" b="1" dirty="0" smtClean="0">
                <a:latin typeface="Times New Roman" panose="02020603050405020304" pitchFamily="18" charset="0"/>
                <a:cs typeface="Times New Roman" panose="02020603050405020304" pitchFamily="18" charset="0"/>
              </a:rPr>
            </a:br>
            <a:r>
              <a:rPr lang="en-US" sz="2800" b="1" dirty="0" smtClean="0">
                <a:latin typeface="Times New Roman" panose="02020603050405020304" pitchFamily="18" charset="0"/>
                <a:cs typeface="Times New Roman" panose="02020603050405020304" pitchFamily="18" charset="0"/>
              </a:rPr>
              <a:t>Page </a:t>
            </a:r>
            <a:r>
              <a:rPr lang="en-US" sz="2800" b="1" dirty="0">
                <a:latin typeface="Times New Roman" panose="02020603050405020304" pitchFamily="18" charset="0"/>
                <a:cs typeface="Times New Roman" panose="02020603050405020304" pitchFamily="18" charset="0"/>
              </a:rPr>
              <a:t>Replacement </a:t>
            </a:r>
            <a:r>
              <a:rPr lang="en-US" sz="2800" b="1" dirty="0" smtClean="0">
                <a:latin typeface="Times New Roman" panose="02020603050405020304" pitchFamily="18" charset="0"/>
                <a:cs typeface="Times New Roman" panose="02020603050405020304" pitchFamily="18" charset="0"/>
              </a:rPr>
              <a:t>Algorithm-Least Recently Used(LRU) </a:t>
            </a:r>
            <a:r>
              <a:rPr lang="en-US" sz="2800" b="1" dirty="0">
                <a:latin typeface="Times New Roman" panose="02020603050405020304" pitchFamily="18" charset="0"/>
                <a:cs typeface="Times New Roman" panose="02020603050405020304" pitchFamily="18" charset="0"/>
              </a:rPr>
              <a:t>Page Replacement </a:t>
            </a:r>
            <a:r>
              <a:rPr lang="en-US" sz="2800" b="1" dirty="0" smtClean="0">
                <a:latin typeface="Times New Roman" panose="02020603050405020304" pitchFamily="18" charset="0"/>
                <a:cs typeface="Times New Roman" panose="02020603050405020304" pitchFamily="18" charset="0"/>
              </a:rPr>
              <a:t>Algorithm</a:t>
            </a:r>
            <a:r>
              <a:rPr lang="en-US" sz="2800" b="1" dirty="0">
                <a:latin typeface="Times New Roman" panose="02020603050405020304" pitchFamily="18" charset="0"/>
                <a:cs typeface="Times New Roman" panose="02020603050405020304" pitchFamily="18" charset="0"/>
              </a:rPr>
              <a:t/>
            </a:r>
            <a:br>
              <a:rPr lang="en-US" sz="2800" b="1" dirty="0">
                <a:latin typeface="Times New Roman" panose="02020603050405020304" pitchFamily="18" charset="0"/>
                <a:cs typeface="Times New Roman" panose="02020603050405020304" pitchFamily="18" charset="0"/>
              </a:rPr>
            </a:br>
            <a:endParaRPr lang="en-US"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690688"/>
            <a:ext cx="10515600" cy="4486275"/>
          </a:xfrm>
        </p:spPr>
        <p:txBody>
          <a:bodyPr>
            <a:normAutofit/>
          </a:bodyPr>
          <a:lstStyle/>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Use </a:t>
            </a:r>
            <a:r>
              <a:rPr lang="en-US" dirty="0">
                <a:latin typeface="Times New Roman" panose="02020603050405020304" pitchFamily="18" charset="0"/>
                <a:cs typeface="Times New Roman" panose="02020603050405020304" pitchFamily="18" charset="0"/>
              </a:rPr>
              <a:t>past knowledge rather than future</a:t>
            </a:r>
          </a:p>
          <a:p>
            <a:pPr>
              <a:buFont typeface="Wingdings" panose="05000000000000000000" pitchFamily="2" charset="2"/>
              <a:buChar char="v"/>
            </a:pPr>
            <a:r>
              <a:rPr lang="en-US" b="1" dirty="0" smtClean="0">
                <a:latin typeface="Times New Roman" panose="02020603050405020304" pitchFamily="18" charset="0"/>
                <a:cs typeface="Times New Roman" panose="02020603050405020304" pitchFamily="18" charset="0"/>
              </a:rPr>
              <a:t>Replace </a:t>
            </a:r>
            <a:r>
              <a:rPr lang="en-US" b="1" dirty="0">
                <a:latin typeface="Times New Roman" panose="02020603050405020304" pitchFamily="18" charset="0"/>
                <a:cs typeface="Times New Roman" panose="02020603050405020304" pitchFamily="18" charset="0"/>
              </a:rPr>
              <a:t>page that has not been used in the most amount of time</a:t>
            </a: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1. Counter implementation</a:t>
            </a:r>
            <a:endParaRPr lang="en-US" dirty="0">
              <a:latin typeface="Times New Roman" panose="02020603050405020304" pitchFamily="18" charset="0"/>
              <a:cs typeface="Times New Roman" panose="02020603050405020304" pitchFamily="18" charset="0"/>
            </a:endParaRPr>
          </a:p>
          <a:p>
            <a:pPr lvl="1"/>
            <a:r>
              <a:rPr lang="en-US" sz="2800" dirty="0" smtClean="0">
                <a:latin typeface="Times New Roman" panose="02020603050405020304" pitchFamily="18" charset="0"/>
                <a:cs typeface="Times New Roman" panose="02020603050405020304" pitchFamily="18" charset="0"/>
              </a:rPr>
              <a:t>Every </a:t>
            </a:r>
            <a:r>
              <a:rPr lang="en-US" sz="2800" dirty="0">
                <a:latin typeface="Times New Roman" panose="02020603050405020304" pitchFamily="18" charset="0"/>
                <a:cs typeface="Times New Roman" panose="02020603050405020304" pitchFamily="18" charset="0"/>
              </a:rPr>
              <a:t>page entry has a counter; every time page is referenced through this entry, copy the clock into the counter-When a page needs to be changed, look at the counters to find smallest value</a:t>
            </a:r>
          </a:p>
          <a:p>
            <a:pPr marL="0" indent="0">
              <a:buNone/>
            </a:pPr>
            <a:r>
              <a:rPr lang="en-US" b="1" dirty="0" smtClean="0">
                <a:latin typeface="Times New Roman" panose="02020603050405020304" pitchFamily="18" charset="0"/>
                <a:cs typeface="Times New Roman" panose="02020603050405020304" pitchFamily="18" charset="0"/>
              </a:rPr>
              <a:t>2</a:t>
            </a:r>
            <a:r>
              <a:rPr lang="en-US" b="1" dirty="0">
                <a:latin typeface="Times New Roman" panose="02020603050405020304" pitchFamily="18" charset="0"/>
                <a:cs typeface="Times New Roman" panose="02020603050405020304" pitchFamily="18" charset="0"/>
              </a:rPr>
              <a:t>. Stack Implementation</a:t>
            </a:r>
            <a:endParaRPr lang="en-US" dirty="0">
              <a:latin typeface="Times New Roman" panose="02020603050405020304" pitchFamily="18" charset="0"/>
              <a:cs typeface="Times New Roman" panose="02020603050405020304" pitchFamily="18" charset="0"/>
            </a:endParaRPr>
          </a:p>
          <a:p>
            <a:pPr lvl="1"/>
            <a:r>
              <a:rPr lang="en-US" sz="2800" dirty="0" smtClean="0">
                <a:latin typeface="Times New Roman" panose="02020603050405020304" pitchFamily="18" charset="0"/>
                <a:cs typeface="Times New Roman" panose="02020603050405020304" pitchFamily="18" charset="0"/>
              </a:rPr>
              <a:t>maintaining </a:t>
            </a:r>
            <a:r>
              <a:rPr lang="en-US" sz="2800" dirty="0">
                <a:latin typeface="Times New Roman" panose="02020603050405020304" pitchFamily="18" charset="0"/>
                <a:cs typeface="Times New Roman" panose="02020603050405020304" pitchFamily="18" charset="0"/>
              </a:rPr>
              <a:t>a stack of page references</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821499092"/>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dirty="0" smtClean="0">
                <a:latin typeface="Times New Roman" panose="02020603050405020304" pitchFamily="18" charset="0"/>
                <a:cs typeface="Times New Roman" panose="02020603050405020304" pitchFamily="18" charset="0"/>
              </a:rPr>
              <a:t/>
            </a:r>
            <a:br>
              <a:rPr lang="en-US" sz="2800" b="1" dirty="0" smtClean="0">
                <a:latin typeface="Times New Roman" panose="02020603050405020304" pitchFamily="18" charset="0"/>
                <a:cs typeface="Times New Roman" panose="02020603050405020304" pitchFamily="18" charset="0"/>
              </a:rPr>
            </a:br>
            <a:r>
              <a:rPr lang="en-US" sz="2800" b="1" dirty="0" smtClean="0">
                <a:latin typeface="Times New Roman" panose="02020603050405020304" pitchFamily="18" charset="0"/>
                <a:cs typeface="Times New Roman" panose="02020603050405020304" pitchFamily="18" charset="0"/>
              </a:rPr>
              <a:t>Page </a:t>
            </a:r>
            <a:r>
              <a:rPr lang="en-US" sz="2800" b="1" dirty="0">
                <a:latin typeface="Times New Roman" panose="02020603050405020304" pitchFamily="18" charset="0"/>
                <a:cs typeface="Times New Roman" panose="02020603050405020304" pitchFamily="18" charset="0"/>
              </a:rPr>
              <a:t>Replacement </a:t>
            </a:r>
            <a:r>
              <a:rPr lang="en-US" sz="2800" b="1" dirty="0" smtClean="0">
                <a:latin typeface="Times New Roman" panose="02020603050405020304" pitchFamily="18" charset="0"/>
                <a:cs typeface="Times New Roman" panose="02020603050405020304" pitchFamily="18" charset="0"/>
              </a:rPr>
              <a:t>Algorithm-Least Recently Used(LRU) </a:t>
            </a:r>
            <a:r>
              <a:rPr lang="en-US" sz="2800" b="1" dirty="0">
                <a:latin typeface="Times New Roman" panose="02020603050405020304" pitchFamily="18" charset="0"/>
                <a:cs typeface="Times New Roman" panose="02020603050405020304" pitchFamily="18" charset="0"/>
              </a:rPr>
              <a:t>Page Replacement </a:t>
            </a:r>
            <a:r>
              <a:rPr lang="en-US" sz="2800" b="1" dirty="0" smtClean="0">
                <a:latin typeface="Times New Roman" panose="02020603050405020304" pitchFamily="18" charset="0"/>
                <a:cs typeface="Times New Roman" panose="02020603050405020304" pitchFamily="18" charset="0"/>
              </a:rPr>
              <a:t>Algorithm-Example</a:t>
            </a:r>
            <a:r>
              <a:rPr lang="en-US" sz="2800" b="1" dirty="0">
                <a:latin typeface="Times New Roman" panose="02020603050405020304" pitchFamily="18" charset="0"/>
                <a:cs typeface="Times New Roman" panose="02020603050405020304" pitchFamily="18" charset="0"/>
              </a:rPr>
              <a:t/>
            </a:r>
            <a:br>
              <a:rPr lang="en-US" sz="2800" b="1" dirty="0">
                <a:latin typeface="Times New Roman" panose="02020603050405020304" pitchFamily="18" charset="0"/>
                <a:cs typeface="Times New Roman" panose="02020603050405020304" pitchFamily="18" charset="0"/>
              </a:rPr>
            </a:br>
            <a:endParaRPr lang="en-US"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690688"/>
            <a:ext cx="10352964" cy="4486275"/>
          </a:xfrm>
        </p:spPr>
        <p:txBody>
          <a:bodyPr>
            <a:normAutofit/>
          </a:bodyPr>
          <a:lstStyle/>
          <a:p>
            <a:r>
              <a:rPr lang="en-US" dirty="0" smtClean="0">
                <a:latin typeface="Times New Roman" panose="02020603050405020304" pitchFamily="18" charset="0"/>
                <a:cs typeface="Times New Roman" panose="02020603050405020304" pitchFamily="18" charset="0"/>
              </a:rPr>
              <a:t>Page </a:t>
            </a:r>
            <a:r>
              <a:rPr lang="en-US" dirty="0">
                <a:latin typeface="Times New Roman" panose="02020603050405020304" pitchFamily="18" charset="0"/>
                <a:cs typeface="Times New Roman" panose="02020603050405020304" pitchFamily="18" charset="0"/>
              </a:rPr>
              <a:t>frame size is 3 and the reference string </a:t>
            </a:r>
            <a:r>
              <a:rPr lang="en-US" dirty="0" smtClean="0">
                <a:latin typeface="Times New Roman" panose="02020603050405020304" pitchFamily="18" charset="0"/>
                <a:cs typeface="Times New Roman" panose="02020603050405020304" pitchFamily="18" charset="0"/>
              </a:rPr>
              <a:t>is 7,0,1,2,0,3,0,4,2,3,0,3,0,3,2,1,2,0,1,7,0,1</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1057703" y="2878464"/>
            <a:ext cx="9014346" cy="2110723"/>
          </a:xfrm>
          <a:prstGeom prst="rect">
            <a:avLst/>
          </a:prstGeom>
        </p:spPr>
      </p:pic>
    </p:spTree>
    <p:extLst>
      <p:ext uri="{BB962C8B-B14F-4D97-AF65-F5344CB8AC3E}">
        <p14:creationId xmlns="" xmlns:p14="http://schemas.microsoft.com/office/powerpoint/2010/main" val="1828408262"/>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026947"/>
          </a:xfrm>
        </p:spPr>
        <p:txBody>
          <a:bodyPr>
            <a:noAutofit/>
          </a:bodyPr>
          <a:lstStyle/>
          <a:p>
            <a:r>
              <a:rPr lang="en-US" sz="2800" b="1" dirty="0" smtClean="0">
                <a:latin typeface="Times New Roman" panose="02020603050405020304" pitchFamily="18" charset="0"/>
                <a:cs typeface="Times New Roman" panose="02020603050405020304" pitchFamily="18" charset="0"/>
              </a:rPr>
              <a:t/>
            </a:r>
            <a:br>
              <a:rPr lang="en-US" sz="2800" b="1" dirty="0" smtClean="0">
                <a:latin typeface="Times New Roman" panose="02020603050405020304" pitchFamily="18" charset="0"/>
                <a:cs typeface="Times New Roman" panose="02020603050405020304" pitchFamily="18" charset="0"/>
              </a:rPr>
            </a:br>
            <a:r>
              <a:rPr lang="en-US" sz="2800" b="1" dirty="0" smtClean="0">
                <a:latin typeface="Times New Roman" panose="02020603050405020304" pitchFamily="18" charset="0"/>
                <a:cs typeface="Times New Roman" panose="02020603050405020304" pitchFamily="18" charset="0"/>
              </a:rPr>
              <a:t>Page </a:t>
            </a:r>
            <a:r>
              <a:rPr lang="en-US" sz="2800" b="1" dirty="0">
                <a:latin typeface="Times New Roman" panose="02020603050405020304" pitchFamily="18" charset="0"/>
                <a:cs typeface="Times New Roman" panose="02020603050405020304" pitchFamily="18" charset="0"/>
              </a:rPr>
              <a:t>Replacement </a:t>
            </a:r>
            <a:r>
              <a:rPr lang="en-US" sz="2800" b="1" dirty="0" smtClean="0">
                <a:latin typeface="Times New Roman" panose="02020603050405020304" pitchFamily="18" charset="0"/>
                <a:cs typeface="Times New Roman" panose="02020603050405020304" pitchFamily="18" charset="0"/>
              </a:rPr>
              <a:t>Algorithm-</a:t>
            </a:r>
            <a:r>
              <a:rPr lang="fr-FR" sz="2800" b="1" dirty="0">
                <a:latin typeface="Times New Roman" panose="02020603050405020304" pitchFamily="18" charset="0"/>
                <a:cs typeface="Times New Roman" panose="02020603050405020304" pitchFamily="18" charset="0"/>
              </a:rPr>
              <a:t>Second Chance </a:t>
            </a:r>
            <a:r>
              <a:rPr lang="fr-FR" sz="2800" b="1" dirty="0" smtClean="0">
                <a:latin typeface="Times New Roman" panose="02020603050405020304" pitchFamily="18" charset="0"/>
                <a:cs typeface="Times New Roman" panose="02020603050405020304" pitchFamily="18" charset="0"/>
              </a:rPr>
              <a:t>Page (SCP) </a:t>
            </a:r>
            <a:r>
              <a:rPr lang="fr-FR" sz="2800" b="1" dirty="0">
                <a:latin typeface="Times New Roman" panose="02020603050405020304" pitchFamily="18" charset="0"/>
                <a:cs typeface="Times New Roman" panose="02020603050405020304" pitchFamily="18" charset="0"/>
              </a:rPr>
              <a:t>Replacement Algorithm</a:t>
            </a:r>
            <a:r>
              <a:rPr lang="en-US" sz="2800" b="1" dirty="0">
                <a:latin typeface="Times New Roman" panose="02020603050405020304" pitchFamily="18" charset="0"/>
                <a:cs typeface="Times New Roman" panose="02020603050405020304" pitchFamily="18" charset="0"/>
              </a:rPr>
              <a:t/>
            </a:r>
            <a:br>
              <a:rPr lang="en-US" sz="2800" b="1" dirty="0">
                <a:latin typeface="Times New Roman" panose="02020603050405020304" pitchFamily="18" charset="0"/>
                <a:cs typeface="Times New Roman" panose="02020603050405020304" pitchFamily="18" charset="0"/>
              </a:rPr>
            </a:br>
            <a:endParaRPr lang="en-US"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026947"/>
            <a:ext cx="11171830" cy="5633159"/>
          </a:xfrm>
        </p:spPr>
        <p:txBody>
          <a:bodyPr>
            <a:normAutofit fontScale="92500" lnSpcReduction="10000"/>
          </a:bodyPr>
          <a:lstStyle/>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It can be implemented by adding a “second chance” bit to each memory frame-every time the frame is considered (due to a reference made to the page inside </a:t>
            </a:r>
            <a:r>
              <a:rPr lang="en-US" dirty="0" smtClean="0">
                <a:latin typeface="Times New Roman" panose="02020603050405020304" pitchFamily="18" charset="0"/>
                <a:cs typeface="Times New Roman" panose="02020603050405020304" pitchFamily="18" charset="0"/>
              </a:rPr>
              <a:t>it).</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This </a:t>
            </a:r>
            <a:r>
              <a:rPr lang="en-US" dirty="0">
                <a:latin typeface="Times New Roman" panose="02020603050405020304" pitchFamily="18" charset="0"/>
                <a:cs typeface="Times New Roman" panose="02020603050405020304" pitchFamily="18" charset="0"/>
              </a:rPr>
              <a:t>bit is set to 1, which gives the page a second chance, as when we consider the candidate page for replacement, we replace the first one with this bit set to 0 (while zeroing out bits of the other pages we see in the process). </a:t>
            </a: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Thus</a:t>
            </a:r>
            <a:r>
              <a:rPr lang="en-US" dirty="0">
                <a:latin typeface="Times New Roman" panose="02020603050405020304" pitchFamily="18" charset="0"/>
                <a:cs typeface="Times New Roman" panose="02020603050405020304" pitchFamily="18" charset="0"/>
              </a:rPr>
              <a:t>, a page with the “second chance” bit set to 1 is never replaced during the first consideration and will only be replaced if all the other pages deserve a second chance too</a:t>
            </a:r>
            <a:r>
              <a:rPr lang="en-US"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Implementation</a:t>
            </a:r>
            <a:r>
              <a:rPr lang="en-US" dirty="0">
                <a:latin typeface="Times New Roman" panose="02020603050405020304" pitchFamily="18" charset="0"/>
                <a:cs typeface="Times New Roman" panose="02020603050405020304" pitchFamily="18" charset="0"/>
              </a:rPr>
              <a:t>:</a:t>
            </a:r>
          </a:p>
          <a:p>
            <a:pPr lvl="1"/>
            <a:r>
              <a:rPr lang="en-US" sz="2200" dirty="0">
                <a:latin typeface="Times New Roman" panose="02020603050405020304" pitchFamily="18" charset="0"/>
                <a:cs typeface="Times New Roman" panose="02020603050405020304" pitchFamily="18" charset="0"/>
              </a:rPr>
              <a:t>Add a "second chance" bit to each memory frame.</a:t>
            </a:r>
          </a:p>
          <a:p>
            <a:pPr lvl="1"/>
            <a:r>
              <a:rPr lang="en-US" sz="2200" dirty="0">
                <a:latin typeface="Times New Roman" panose="02020603050405020304" pitchFamily="18" charset="0"/>
                <a:cs typeface="Times New Roman" panose="02020603050405020304" pitchFamily="18" charset="0"/>
              </a:rPr>
              <a:t>Each time a memory frame is referenced, set the "second chance" bit to ONE (1) - this will give the frame a second chance</a:t>
            </a:r>
            <a:r>
              <a:rPr lang="en-US" sz="2200" dirty="0" smtClean="0">
                <a:latin typeface="Times New Roman" panose="02020603050405020304" pitchFamily="18" charset="0"/>
                <a:cs typeface="Times New Roman" panose="02020603050405020304" pitchFamily="18" charset="0"/>
              </a:rPr>
              <a:t>.</a:t>
            </a:r>
            <a:endParaRPr lang="en-US" sz="2200" dirty="0">
              <a:latin typeface="Times New Roman" panose="02020603050405020304" pitchFamily="18" charset="0"/>
              <a:cs typeface="Times New Roman" panose="02020603050405020304" pitchFamily="18" charset="0"/>
            </a:endParaRPr>
          </a:p>
          <a:p>
            <a:pPr lvl="1"/>
            <a:r>
              <a:rPr lang="en-US" sz="2200" dirty="0">
                <a:latin typeface="Times New Roman" panose="02020603050405020304" pitchFamily="18" charset="0"/>
                <a:cs typeface="Times New Roman" panose="02020603050405020304" pitchFamily="18" charset="0"/>
              </a:rPr>
              <a:t>A new page read into a memory frame has the second chance bit set to ZERO (0)</a:t>
            </a:r>
          </a:p>
          <a:p>
            <a:pPr lvl="1"/>
            <a:r>
              <a:rPr lang="en-US" sz="2200" dirty="0">
                <a:latin typeface="Times New Roman" panose="02020603050405020304" pitchFamily="18" charset="0"/>
                <a:cs typeface="Times New Roman" panose="02020603050405020304" pitchFamily="18" charset="0"/>
              </a:rPr>
              <a:t>When you need to find a page for removal, look in a round robin manner in the memory frames:</a:t>
            </a:r>
          </a:p>
          <a:p>
            <a:pPr lvl="2"/>
            <a:r>
              <a:rPr lang="en-US" sz="2200" dirty="0">
                <a:latin typeface="Times New Roman" panose="02020603050405020304" pitchFamily="18" charset="0"/>
                <a:cs typeface="Times New Roman" panose="02020603050405020304" pitchFamily="18" charset="0"/>
              </a:rPr>
              <a:t>If the second chance bit is ONE, reset its second chance bit (to ZERO) and continue.</a:t>
            </a:r>
          </a:p>
          <a:p>
            <a:pPr lvl="2"/>
            <a:r>
              <a:rPr lang="en-US" sz="2200" dirty="0">
                <a:latin typeface="Times New Roman" panose="02020603050405020304" pitchFamily="18" charset="0"/>
                <a:cs typeface="Times New Roman" panose="02020603050405020304" pitchFamily="18" charset="0"/>
              </a:rPr>
              <a:t>If the second chance bit is ZERO, replace the page in that memory frame.</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2164220311"/>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58708"/>
          </a:xfrm>
        </p:spPr>
        <p:txBody>
          <a:bodyPr>
            <a:normAutofit/>
          </a:bodyPr>
          <a:lstStyle/>
          <a:p>
            <a:r>
              <a:rPr lang="en-US" sz="2800" b="1" dirty="0" smtClean="0">
                <a:latin typeface="Times New Roman" panose="02020603050405020304" pitchFamily="18" charset="0"/>
                <a:cs typeface="Times New Roman" panose="02020603050405020304" pitchFamily="18" charset="0"/>
              </a:rPr>
              <a:t>Page </a:t>
            </a:r>
            <a:r>
              <a:rPr lang="en-US" sz="2800" b="1" dirty="0">
                <a:latin typeface="Times New Roman" panose="02020603050405020304" pitchFamily="18" charset="0"/>
                <a:cs typeface="Times New Roman" panose="02020603050405020304" pitchFamily="18" charset="0"/>
              </a:rPr>
              <a:t>Replacement Algorithm-</a:t>
            </a:r>
            <a:r>
              <a:rPr lang="fr-FR" sz="2800" b="1" dirty="0">
                <a:latin typeface="Times New Roman" panose="02020603050405020304" pitchFamily="18" charset="0"/>
                <a:cs typeface="Times New Roman" panose="02020603050405020304" pitchFamily="18" charset="0"/>
              </a:rPr>
              <a:t>Second Chance Page (SCP) Replacement Algorithm</a:t>
            </a:r>
            <a:endParaRPr lang="en-US" sz="2800" dirty="0"/>
          </a:p>
        </p:txBody>
      </p:sp>
      <p:sp>
        <p:nvSpPr>
          <p:cNvPr id="3" name="Content Placeholder 2"/>
          <p:cNvSpPr>
            <a:spLocks noGrp="1"/>
          </p:cNvSpPr>
          <p:nvPr>
            <p:ph idx="1"/>
          </p:nvPr>
        </p:nvSpPr>
        <p:spPr>
          <a:xfrm>
            <a:off x="838200" y="1487606"/>
            <a:ext cx="10515600" cy="5022376"/>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Let’s say the reference string is 0 4 1 4 2 4 3 4 2 4 0 4 1 4 2 4 3 4 and we have 3 frames</a:t>
            </a:r>
            <a:r>
              <a:rPr lang="en-US" sz="2400"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Initially, all frames are empty so after first 3 passes they will be filled with {0, 4, 1} and the second chance array will be {0, 0, 0} as none has been referenced yet. </a:t>
            </a:r>
            <a:endParaRPr lang="en-US" sz="24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400" b="1" dirty="0">
                <a:latin typeface="Times New Roman" panose="02020603050405020304" pitchFamily="18" charset="0"/>
                <a:cs typeface="Times New Roman" panose="02020603050405020304" pitchFamily="18" charset="0"/>
              </a:rPr>
              <a:t>Pass-4:</a:t>
            </a:r>
            <a:r>
              <a:rPr lang="en-US" sz="2400" dirty="0">
                <a:latin typeface="Times New Roman" panose="02020603050405020304" pitchFamily="18" charset="0"/>
                <a:cs typeface="Times New Roman" panose="02020603050405020304" pitchFamily="18" charset="0"/>
              </a:rPr>
              <a:t> Frame={0, 4, 1}, second_chance = {0, 1, 0} [4 will get a second chance</a:t>
            </a:r>
            <a:r>
              <a:rPr lang="en-US" sz="2400" dirty="0" smtClean="0">
                <a:latin typeface="Times New Roman" panose="02020603050405020304" pitchFamily="18" charset="0"/>
                <a:cs typeface="Times New Roman" panose="02020603050405020304" pitchFamily="18" charset="0"/>
              </a:rPr>
              <a:t>], No </a:t>
            </a:r>
            <a:r>
              <a:rPr lang="en-US" sz="2400" dirty="0">
                <a:latin typeface="Times New Roman" panose="02020603050405020304" pitchFamily="18" charset="0"/>
                <a:cs typeface="Times New Roman" panose="02020603050405020304" pitchFamily="18" charset="0"/>
              </a:rPr>
              <a:t>page needed to be updated so the candidate is still page in frame </a:t>
            </a:r>
            <a:r>
              <a:rPr lang="en-US" sz="2400" dirty="0" smtClean="0">
                <a:latin typeface="Times New Roman" panose="02020603050405020304" pitchFamily="18" charset="0"/>
                <a:cs typeface="Times New Roman" panose="02020603050405020304" pitchFamily="18" charset="0"/>
              </a:rPr>
              <a:t>0, </a:t>
            </a:r>
            <a:r>
              <a:rPr lang="en-US" sz="2400" dirty="0">
                <a:latin typeface="Times New Roman" panose="02020603050405020304" pitchFamily="18" charset="0"/>
                <a:cs typeface="Times New Roman" panose="02020603050405020304" pitchFamily="18" charset="0"/>
              </a:rPr>
              <a:t>pf = 3 (No increase in page fault number). </a:t>
            </a:r>
            <a:endParaRPr lang="en-US" sz="24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400" b="1" dirty="0">
                <a:latin typeface="Times New Roman" panose="02020603050405020304" pitchFamily="18" charset="0"/>
                <a:cs typeface="Times New Roman" panose="02020603050405020304" pitchFamily="18" charset="0"/>
              </a:rPr>
              <a:t>Pass-5:</a:t>
            </a:r>
            <a:r>
              <a:rPr lang="en-US" sz="2400" dirty="0">
                <a:latin typeface="Times New Roman" panose="02020603050405020304" pitchFamily="18" charset="0"/>
                <a:cs typeface="Times New Roman" panose="02020603050405020304" pitchFamily="18" charset="0"/>
              </a:rPr>
              <a:t> Frame={2, 4, 1}, second_chance= {0, 1, 0} [0 replaced; it’s second chance bit was 0, so it didn’t get a second chance], </a:t>
            </a:r>
            <a:r>
              <a:rPr lang="en-US" sz="2400" dirty="0" err="1" smtClean="0">
                <a:latin typeface="Times New Roman" panose="02020603050405020304" pitchFamily="18" charset="0"/>
                <a:cs typeface="Times New Roman" panose="02020603050405020304" pitchFamily="18" charset="0"/>
              </a:rPr>
              <a:t>pf</a:t>
            </a:r>
            <a:r>
              <a:rPr lang="en-US" sz="2400" dirty="0" smtClean="0">
                <a:latin typeface="Times New Roman" panose="02020603050405020304" pitchFamily="18" charset="0"/>
                <a:cs typeface="Times New Roman" panose="02020603050405020304" pitchFamily="18" charset="0"/>
              </a:rPr>
              <a:t>=4</a:t>
            </a:r>
            <a:r>
              <a:rPr lang="en-US" sz="2400" dirty="0">
                <a:latin typeface="Times New Roman" panose="02020603050405020304" pitchFamily="18" charset="0"/>
                <a:cs typeface="Times New Roman" panose="02020603050405020304" pitchFamily="18" charset="0"/>
              </a:rPr>
              <a:t> </a:t>
            </a:r>
            <a:endParaRPr lang="en-US" sz="24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400" b="1" dirty="0">
                <a:latin typeface="Times New Roman" panose="02020603050405020304" pitchFamily="18" charset="0"/>
                <a:cs typeface="Times New Roman" panose="02020603050405020304" pitchFamily="18" charset="0"/>
              </a:rPr>
              <a:t>Pass-6:</a:t>
            </a:r>
            <a:r>
              <a:rPr lang="en-US" sz="2400" dirty="0">
                <a:latin typeface="Times New Roman" panose="02020603050405020304" pitchFamily="18" charset="0"/>
                <a:cs typeface="Times New Roman" panose="02020603050405020304" pitchFamily="18" charset="0"/>
              </a:rPr>
              <a:t> Frame={2, 4, 1}, second_chance={0, 1, 0}, </a:t>
            </a:r>
            <a:r>
              <a:rPr lang="en-US" sz="2400" dirty="0" err="1" smtClean="0">
                <a:latin typeface="Times New Roman" panose="02020603050405020304" pitchFamily="18" charset="0"/>
                <a:cs typeface="Times New Roman" panose="02020603050405020304" pitchFamily="18" charset="0"/>
              </a:rPr>
              <a:t>pf</a:t>
            </a:r>
            <a:r>
              <a:rPr lang="en-US" sz="2400" dirty="0" smtClean="0">
                <a:latin typeface="Times New Roman" panose="02020603050405020304" pitchFamily="18" charset="0"/>
                <a:cs typeface="Times New Roman" panose="02020603050405020304" pitchFamily="18" charset="0"/>
              </a:rPr>
              <a:t>=4 </a:t>
            </a:r>
            <a:r>
              <a:rPr lang="en-US" sz="2400" dirty="0">
                <a:latin typeface="Times New Roman" panose="02020603050405020304" pitchFamily="18" charset="0"/>
                <a:cs typeface="Times New Roman" panose="02020603050405020304" pitchFamily="18" charset="0"/>
              </a:rPr>
              <a:t>(No change) </a:t>
            </a:r>
            <a:endParaRPr lang="en-US" sz="24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400" b="1" dirty="0">
                <a:latin typeface="Times New Roman" panose="02020603050405020304" pitchFamily="18" charset="0"/>
                <a:cs typeface="Times New Roman" panose="02020603050405020304" pitchFamily="18" charset="0"/>
              </a:rPr>
              <a:t>Pass-7:</a:t>
            </a:r>
            <a:r>
              <a:rPr lang="en-US" sz="2400" dirty="0">
                <a:latin typeface="Times New Roman" panose="02020603050405020304" pitchFamily="18" charset="0"/>
                <a:cs typeface="Times New Roman" panose="02020603050405020304" pitchFamily="18" charset="0"/>
              </a:rPr>
              <a:t> Frame={2, 4, 3}, second_chance= {0, 0, 0} [4 survived but it’s second chance bit became 0], </a:t>
            </a:r>
            <a:r>
              <a:rPr lang="en-US" sz="2400" dirty="0" err="1" smtClean="0">
                <a:latin typeface="Times New Roman" panose="02020603050405020304" pitchFamily="18" charset="0"/>
                <a:cs typeface="Times New Roman" panose="02020603050405020304" pitchFamily="18" charset="0"/>
              </a:rPr>
              <a:t>pf</a:t>
            </a:r>
            <a:r>
              <a:rPr lang="en-US" sz="2400" dirty="0" smtClean="0">
                <a:latin typeface="Times New Roman" panose="02020603050405020304" pitchFamily="18" charset="0"/>
                <a:cs typeface="Times New Roman" panose="02020603050405020304" pitchFamily="18" charset="0"/>
              </a:rPr>
              <a:t>=5</a:t>
            </a:r>
            <a:r>
              <a:rPr lang="en-US" sz="2400" dirty="0">
                <a:latin typeface="Times New Roman" panose="02020603050405020304" pitchFamily="18" charset="0"/>
                <a:cs typeface="Times New Roman" panose="02020603050405020304" pitchFamily="18" charset="0"/>
              </a:rPr>
              <a:t> </a:t>
            </a:r>
          </a:p>
        </p:txBody>
      </p:sp>
    </p:spTree>
    <p:extLst>
      <p:ext uri="{BB962C8B-B14F-4D97-AF65-F5344CB8AC3E}">
        <p14:creationId xmlns="" xmlns:p14="http://schemas.microsoft.com/office/powerpoint/2010/main" val="164628094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214999"/>
            <a:ext cx="10515600" cy="958708"/>
          </a:xfrm>
        </p:spPr>
        <p:txBody>
          <a:bodyPr>
            <a:normAutofit/>
          </a:bodyPr>
          <a:lstStyle/>
          <a:p>
            <a:r>
              <a:rPr lang="en-US" sz="2800" b="1" dirty="0" smtClean="0">
                <a:latin typeface="Times New Roman" panose="02020603050405020304" pitchFamily="18" charset="0"/>
                <a:cs typeface="Times New Roman" panose="02020603050405020304" pitchFamily="18" charset="0"/>
              </a:rPr>
              <a:t>Page </a:t>
            </a:r>
            <a:r>
              <a:rPr lang="en-US" sz="2800" b="1" dirty="0">
                <a:latin typeface="Times New Roman" panose="02020603050405020304" pitchFamily="18" charset="0"/>
                <a:cs typeface="Times New Roman" panose="02020603050405020304" pitchFamily="18" charset="0"/>
              </a:rPr>
              <a:t>Replacement Algorithm-</a:t>
            </a:r>
            <a:r>
              <a:rPr lang="fr-FR" sz="2800" b="1" dirty="0">
                <a:latin typeface="Times New Roman" panose="02020603050405020304" pitchFamily="18" charset="0"/>
                <a:cs typeface="Times New Roman" panose="02020603050405020304" pitchFamily="18" charset="0"/>
              </a:rPr>
              <a:t>Second Chance Page (SCP) Replacement Algorithm</a:t>
            </a:r>
            <a:endParaRPr lang="en-US" sz="2800" dirty="0"/>
          </a:p>
        </p:txBody>
      </p:sp>
      <p:sp>
        <p:nvSpPr>
          <p:cNvPr id="3" name="Content Placeholder 2"/>
          <p:cNvSpPr>
            <a:spLocks noGrp="1"/>
          </p:cNvSpPr>
          <p:nvPr>
            <p:ph idx="1"/>
          </p:nvPr>
        </p:nvSpPr>
        <p:spPr>
          <a:xfrm>
            <a:off x="838199" y="1296537"/>
            <a:ext cx="10857931" cy="5561463"/>
          </a:xfrm>
        </p:spPr>
        <p:txBody>
          <a:bodyPr>
            <a:normAutofit fontScale="92500"/>
          </a:bodyPr>
          <a:lstStyle/>
          <a:p>
            <a:pPr marL="0" indent="0">
              <a:buNone/>
            </a:pPr>
            <a:r>
              <a:rPr lang="en-US" sz="2600" dirty="0">
                <a:latin typeface="Times New Roman" panose="02020603050405020304" pitchFamily="18" charset="0"/>
                <a:cs typeface="Times New Roman" panose="02020603050405020304" pitchFamily="18" charset="0"/>
              </a:rPr>
              <a:t>Let’s say the reference string is 0 4 1 4 2 4 3 4 2 4 0 4 1 4 2 4 3 4 and we have 3 frames</a:t>
            </a:r>
            <a:r>
              <a:rPr lang="en-US" sz="2600" dirty="0" smtClean="0">
                <a:latin typeface="Times New Roman" panose="02020603050405020304" pitchFamily="18" charset="0"/>
                <a:cs typeface="Times New Roman" panose="02020603050405020304" pitchFamily="18" charset="0"/>
              </a:rPr>
              <a:t>.</a:t>
            </a:r>
          </a:p>
          <a:p>
            <a:pPr fontAlgn="base">
              <a:buFont typeface="Wingdings" panose="05000000000000000000" pitchFamily="2" charset="2"/>
              <a:buChar char="v"/>
            </a:pPr>
            <a:r>
              <a:rPr lang="en-US" sz="2600" b="1" dirty="0">
                <a:latin typeface="Times New Roman" panose="02020603050405020304" pitchFamily="18" charset="0"/>
                <a:cs typeface="Times New Roman" panose="02020603050405020304" pitchFamily="18" charset="0"/>
              </a:rPr>
              <a:t>Pass-8:</a:t>
            </a:r>
            <a:r>
              <a:rPr lang="en-US" sz="2600" dirty="0">
                <a:latin typeface="Times New Roman" panose="02020603050405020304" pitchFamily="18" charset="0"/>
                <a:cs typeface="Times New Roman" panose="02020603050405020304" pitchFamily="18" charset="0"/>
              </a:rPr>
              <a:t> Frame={2, 4, 3}, second_chance= {0, 1, 0} [4 referenced again], </a:t>
            </a:r>
            <a:r>
              <a:rPr lang="en-US" sz="2600" dirty="0" err="1" smtClean="0">
                <a:latin typeface="Times New Roman" panose="02020603050405020304" pitchFamily="18" charset="0"/>
                <a:cs typeface="Times New Roman" panose="02020603050405020304" pitchFamily="18" charset="0"/>
              </a:rPr>
              <a:t>pf</a:t>
            </a:r>
            <a:r>
              <a:rPr lang="en-US" sz="2600" dirty="0" smtClean="0">
                <a:latin typeface="Times New Roman" panose="02020603050405020304" pitchFamily="18" charset="0"/>
                <a:cs typeface="Times New Roman" panose="02020603050405020304" pitchFamily="18" charset="0"/>
              </a:rPr>
              <a:t>=5</a:t>
            </a:r>
            <a:r>
              <a:rPr lang="en-US" sz="2600" dirty="0">
                <a:latin typeface="Times New Roman" panose="02020603050405020304" pitchFamily="18" charset="0"/>
                <a:cs typeface="Times New Roman" panose="02020603050405020304" pitchFamily="18" charset="0"/>
              </a:rPr>
              <a:t> </a:t>
            </a:r>
          </a:p>
          <a:p>
            <a:pPr fontAlgn="base">
              <a:buFont typeface="Wingdings" panose="05000000000000000000" pitchFamily="2" charset="2"/>
              <a:buChar char="v"/>
            </a:pPr>
            <a:r>
              <a:rPr lang="en-US" sz="2600" b="1" dirty="0">
                <a:latin typeface="Times New Roman" panose="02020603050405020304" pitchFamily="18" charset="0"/>
                <a:cs typeface="Times New Roman" panose="02020603050405020304" pitchFamily="18" charset="0"/>
              </a:rPr>
              <a:t>Pass-9:</a:t>
            </a:r>
            <a:r>
              <a:rPr lang="en-US" sz="2600" dirty="0">
                <a:latin typeface="Times New Roman" panose="02020603050405020304" pitchFamily="18" charset="0"/>
                <a:cs typeface="Times New Roman" panose="02020603050405020304" pitchFamily="18" charset="0"/>
              </a:rPr>
              <a:t> Frame={2, 4, 3}, second_chance= {1, 1, 0} [2 referenced again</a:t>
            </a:r>
            <a:r>
              <a:rPr lang="en-US" sz="2600" dirty="0" smtClean="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pf</a:t>
            </a:r>
            <a:r>
              <a:rPr lang="en-US" sz="2600" dirty="0">
                <a:latin typeface="Times New Roman" panose="02020603050405020304" pitchFamily="18" charset="0"/>
                <a:cs typeface="Times New Roman" panose="02020603050405020304" pitchFamily="18" charset="0"/>
              </a:rPr>
              <a:t>=5 </a:t>
            </a:r>
          </a:p>
          <a:p>
            <a:pPr fontAlgn="base">
              <a:buFont typeface="Wingdings" panose="05000000000000000000" pitchFamily="2" charset="2"/>
              <a:buChar char="v"/>
            </a:pPr>
            <a:r>
              <a:rPr lang="en-US" sz="2600" b="1" dirty="0">
                <a:latin typeface="Times New Roman" panose="02020603050405020304" pitchFamily="18" charset="0"/>
                <a:cs typeface="Times New Roman" panose="02020603050405020304" pitchFamily="18" charset="0"/>
              </a:rPr>
              <a:t>Pass-10:</a:t>
            </a:r>
            <a:r>
              <a:rPr lang="en-US" sz="2600" dirty="0">
                <a:latin typeface="Times New Roman" panose="02020603050405020304" pitchFamily="18" charset="0"/>
                <a:cs typeface="Times New Roman" panose="02020603050405020304" pitchFamily="18" charset="0"/>
              </a:rPr>
              <a:t> Frame={2, 4, 3}, second_chance= {1, 1, 0</a:t>
            </a:r>
            <a:r>
              <a:rPr lang="en-US" sz="2600" dirty="0" smtClean="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pf</a:t>
            </a:r>
            <a:r>
              <a:rPr lang="en-US" sz="2600" dirty="0">
                <a:latin typeface="Times New Roman" panose="02020603050405020304" pitchFamily="18" charset="0"/>
                <a:cs typeface="Times New Roman" panose="02020603050405020304" pitchFamily="18" charset="0"/>
              </a:rPr>
              <a:t>=5 (no change) </a:t>
            </a:r>
          </a:p>
          <a:p>
            <a:pPr fontAlgn="base">
              <a:buFont typeface="Wingdings" panose="05000000000000000000" pitchFamily="2" charset="2"/>
              <a:buChar char="v"/>
            </a:pPr>
            <a:r>
              <a:rPr lang="en-US" sz="2600" b="1" dirty="0">
                <a:latin typeface="Times New Roman" panose="02020603050405020304" pitchFamily="18" charset="0"/>
                <a:cs typeface="Times New Roman" panose="02020603050405020304" pitchFamily="18" charset="0"/>
              </a:rPr>
              <a:t>Pass-11:</a:t>
            </a:r>
            <a:r>
              <a:rPr lang="en-US" sz="2600" dirty="0">
                <a:latin typeface="Times New Roman" panose="02020603050405020304" pitchFamily="18" charset="0"/>
                <a:cs typeface="Times New Roman" panose="02020603050405020304" pitchFamily="18" charset="0"/>
              </a:rPr>
              <a:t> Frame={2, 4, 0}, second_chance= {0, 0, 0</a:t>
            </a:r>
            <a:r>
              <a:rPr lang="en-US" sz="2600" dirty="0" smtClean="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pf</a:t>
            </a:r>
            <a:r>
              <a:rPr lang="en-US" sz="2600" dirty="0">
                <a:latin typeface="Times New Roman" panose="02020603050405020304" pitchFamily="18" charset="0"/>
                <a:cs typeface="Times New Roman" panose="02020603050405020304" pitchFamily="18" charset="0"/>
              </a:rPr>
              <a:t>=6 (2 and 4 got second chances) </a:t>
            </a:r>
          </a:p>
          <a:p>
            <a:pPr fontAlgn="base">
              <a:buFont typeface="Wingdings" panose="05000000000000000000" pitchFamily="2" charset="2"/>
              <a:buChar char="v"/>
            </a:pPr>
            <a:r>
              <a:rPr lang="en-US" sz="2600" b="1" dirty="0">
                <a:latin typeface="Times New Roman" panose="02020603050405020304" pitchFamily="18" charset="0"/>
                <a:cs typeface="Times New Roman" panose="02020603050405020304" pitchFamily="18" charset="0"/>
              </a:rPr>
              <a:t>Pass-12:</a:t>
            </a:r>
            <a:r>
              <a:rPr lang="en-US" sz="2600" dirty="0">
                <a:latin typeface="Times New Roman" panose="02020603050405020304" pitchFamily="18" charset="0"/>
                <a:cs typeface="Times New Roman" panose="02020603050405020304" pitchFamily="18" charset="0"/>
              </a:rPr>
              <a:t> Frame={2, 4, 0}, second_chance= {0, 1, 0</a:t>
            </a:r>
            <a:r>
              <a:rPr lang="en-US" sz="2600" dirty="0" smtClean="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pf</a:t>
            </a:r>
            <a:r>
              <a:rPr lang="en-US" sz="2600" dirty="0">
                <a:latin typeface="Times New Roman" panose="02020603050405020304" pitchFamily="18" charset="0"/>
                <a:cs typeface="Times New Roman" panose="02020603050405020304" pitchFamily="18" charset="0"/>
              </a:rPr>
              <a:t>=6 (4 will again get a second chance) </a:t>
            </a:r>
          </a:p>
          <a:p>
            <a:pPr fontAlgn="base">
              <a:buFont typeface="Wingdings" panose="05000000000000000000" pitchFamily="2" charset="2"/>
              <a:buChar char="v"/>
            </a:pPr>
            <a:r>
              <a:rPr lang="en-US" sz="2600" b="1" dirty="0">
                <a:latin typeface="Times New Roman" panose="02020603050405020304" pitchFamily="18" charset="0"/>
                <a:cs typeface="Times New Roman" panose="02020603050405020304" pitchFamily="18" charset="0"/>
              </a:rPr>
              <a:t>Pass-13:</a:t>
            </a:r>
            <a:r>
              <a:rPr lang="en-US" sz="2600" dirty="0">
                <a:latin typeface="Times New Roman" panose="02020603050405020304" pitchFamily="18" charset="0"/>
                <a:cs typeface="Times New Roman" panose="02020603050405020304" pitchFamily="18" charset="0"/>
              </a:rPr>
              <a:t> Frame={1, 4, 0}, second_chance= {0, 1, 0</a:t>
            </a:r>
            <a:r>
              <a:rPr lang="en-US" sz="2600" dirty="0" smtClean="0">
                <a:latin typeface="Times New Roman" panose="02020603050405020304" pitchFamily="18" charset="0"/>
                <a:cs typeface="Times New Roman" panose="02020603050405020304" pitchFamily="18" charset="0"/>
              </a:rPr>
              <a:t>}, pf=7 (pf </a:t>
            </a:r>
            <a:r>
              <a:rPr lang="en-US" sz="2600" dirty="0">
                <a:latin typeface="Times New Roman" panose="02020603050405020304" pitchFamily="18" charset="0"/>
                <a:cs typeface="Times New Roman" panose="02020603050405020304" pitchFamily="18" charset="0"/>
              </a:rPr>
              <a:t>updated) </a:t>
            </a:r>
          </a:p>
          <a:p>
            <a:pPr fontAlgn="base">
              <a:buFont typeface="Wingdings" panose="05000000000000000000" pitchFamily="2" charset="2"/>
              <a:buChar char="v"/>
            </a:pPr>
            <a:r>
              <a:rPr lang="en-US" sz="2600" b="1" dirty="0">
                <a:latin typeface="Times New Roman" panose="02020603050405020304" pitchFamily="18" charset="0"/>
                <a:cs typeface="Times New Roman" panose="02020603050405020304" pitchFamily="18" charset="0"/>
              </a:rPr>
              <a:t>Page-14:</a:t>
            </a:r>
            <a:r>
              <a:rPr lang="en-US" sz="2600" dirty="0">
                <a:latin typeface="Times New Roman" panose="02020603050405020304" pitchFamily="18" charset="0"/>
                <a:cs typeface="Times New Roman" panose="02020603050405020304" pitchFamily="18" charset="0"/>
              </a:rPr>
              <a:t> Frame={1, 4, 0}, second_chance= {0, 1, 0</a:t>
            </a:r>
            <a:r>
              <a:rPr lang="en-US" sz="2600" dirty="0" smtClean="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pf</a:t>
            </a:r>
            <a:r>
              <a:rPr lang="en-US" sz="2600" dirty="0">
                <a:latin typeface="Times New Roman" panose="02020603050405020304" pitchFamily="18" charset="0"/>
                <a:cs typeface="Times New Roman" panose="02020603050405020304" pitchFamily="18" charset="0"/>
              </a:rPr>
              <a:t>=7 (No change) </a:t>
            </a:r>
          </a:p>
          <a:p>
            <a:pPr fontAlgn="base">
              <a:buFont typeface="Wingdings" panose="05000000000000000000" pitchFamily="2" charset="2"/>
              <a:buChar char="v"/>
            </a:pPr>
            <a:r>
              <a:rPr lang="en-US" sz="2600" b="1" dirty="0">
                <a:latin typeface="Times New Roman" panose="02020603050405020304" pitchFamily="18" charset="0"/>
                <a:cs typeface="Times New Roman" panose="02020603050405020304" pitchFamily="18" charset="0"/>
              </a:rPr>
              <a:t>Page-15:</a:t>
            </a:r>
            <a:r>
              <a:rPr lang="en-US" sz="2600" dirty="0">
                <a:latin typeface="Times New Roman" panose="02020603050405020304" pitchFamily="18" charset="0"/>
                <a:cs typeface="Times New Roman" panose="02020603050405020304" pitchFamily="18" charset="0"/>
              </a:rPr>
              <a:t> Frame={1, 4, 2}, second_chance= {0, 0, 0</a:t>
            </a:r>
            <a:r>
              <a:rPr lang="en-US" sz="2600" dirty="0" smtClean="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pf</a:t>
            </a:r>
            <a:r>
              <a:rPr lang="en-US" sz="2600" dirty="0">
                <a:latin typeface="Times New Roman" panose="02020603050405020304" pitchFamily="18" charset="0"/>
                <a:cs typeface="Times New Roman" panose="02020603050405020304" pitchFamily="18" charset="0"/>
              </a:rPr>
              <a:t>=8 (4 survived again due to 2nd chance!) </a:t>
            </a:r>
          </a:p>
          <a:p>
            <a:pPr marL="0" indent="0">
              <a:buNone/>
            </a:pPr>
            <a:endParaRPr lang="en-US" sz="24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4250433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214999"/>
            <a:ext cx="10515600" cy="958708"/>
          </a:xfrm>
        </p:spPr>
        <p:txBody>
          <a:bodyPr>
            <a:normAutofit/>
          </a:bodyPr>
          <a:lstStyle/>
          <a:p>
            <a:r>
              <a:rPr lang="en-US" sz="2800" b="1" dirty="0" smtClean="0">
                <a:latin typeface="Times New Roman" panose="02020603050405020304" pitchFamily="18" charset="0"/>
                <a:cs typeface="Times New Roman" panose="02020603050405020304" pitchFamily="18" charset="0"/>
              </a:rPr>
              <a:t>Page </a:t>
            </a:r>
            <a:r>
              <a:rPr lang="en-US" sz="2800" b="1" dirty="0">
                <a:latin typeface="Times New Roman" panose="02020603050405020304" pitchFamily="18" charset="0"/>
                <a:cs typeface="Times New Roman" panose="02020603050405020304" pitchFamily="18" charset="0"/>
              </a:rPr>
              <a:t>Replacement Algorithm-</a:t>
            </a:r>
            <a:r>
              <a:rPr lang="fr-FR" sz="2800" b="1" dirty="0">
                <a:latin typeface="Times New Roman" panose="02020603050405020304" pitchFamily="18" charset="0"/>
                <a:cs typeface="Times New Roman" panose="02020603050405020304" pitchFamily="18" charset="0"/>
              </a:rPr>
              <a:t>Second Chance Page (SCP) Replacement Algorithm</a:t>
            </a:r>
            <a:endParaRPr lang="en-US" sz="2800" dirty="0"/>
          </a:p>
        </p:txBody>
      </p:sp>
      <p:sp>
        <p:nvSpPr>
          <p:cNvPr id="3" name="Content Placeholder 2"/>
          <p:cNvSpPr>
            <a:spLocks noGrp="1"/>
          </p:cNvSpPr>
          <p:nvPr>
            <p:ph idx="1"/>
          </p:nvPr>
        </p:nvSpPr>
        <p:spPr>
          <a:xfrm>
            <a:off x="838199" y="1296537"/>
            <a:ext cx="10857931" cy="5561463"/>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Let’s say the reference string is 0 4 1 4 2 4 3 4 2 4 0 4 1 4 2 4 3 4 and we have 3 frames</a:t>
            </a:r>
            <a:r>
              <a:rPr lang="en-US" sz="2400" dirty="0" smtClean="0">
                <a:latin typeface="Times New Roman" panose="02020603050405020304" pitchFamily="18" charset="0"/>
                <a:cs typeface="Times New Roman" panose="02020603050405020304" pitchFamily="18" charset="0"/>
              </a:rPr>
              <a:t>.</a:t>
            </a:r>
          </a:p>
          <a:p>
            <a:pPr fontAlgn="base">
              <a:buFont typeface="Wingdings" panose="05000000000000000000" pitchFamily="2" charset="2"/>
              <a:buChar char="v"/>
            </a:pPr>
            <a:r>
              <a:rPr lang="en-US" sz="2400" b="1" dirty="0">
                <a:latin typeface="Times New Roman" panose="02020603050405020304" pitchFamily="18" charset="0"/>
                <a:cs typeface="Times New Roman" panose="02020603050405020304" pitchFamily="18" charset="0"/>
              </a:rPr>
              <a:t>Page-16:</a:t>
            </a:r>
            <a:r>
              <a:rPr lang="en-US" sz="2400" dirty="0">
                <a:latin typeface="Times New Roman" panose="02020603050405020304" pitchFamily="18" charset="0"/>
                <a:cs typeface="Times New Roman" panose="02020603050405020304" pitchFamily="18" charset="0"/>
              </a:rPr>
              <a:t> Frame={1, 4, 2}, second_chance= {0, 1, 0</a:t>
            </a:r>
            <a:r>
              <a:rPr lang="en-US" sz="2400" dirty="0" smtClean="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pf</a:t>
            </a:r>
            <a:r>
              <a:rPr lang="en-US" sz="2400" dirty="0">
                <a:latin typeface="Times New Roman" panose="02020603050405020304" pitchFamily="18" charset="0"/>
                <a:cs typeface="Times New Roman" panose="02020603050405020304" pitchFamily="18" charset="0"/>
              </a:rPr>
              <a:t>=8 (2nd chance updated) </a:t>
            </a:r>
          </a:p>
          <a:p>
            <a:pPr fontAlgn="base">
              <a:buFont typeface="Wingdings" panose="05000000000000000000" pitchFamily="2" charset="2"/>
              <a:buChar char="v"/>
            </a:pPr>
            <a:r>
              <a:rPr lang="en-US" sz="2400" b="1" dirty="0">
                <a:latin typeface="Times New Roman" panose="02020603050405020304" pitchFamily="18" charset="0"/>
                <a:cs typeface="Times New Roman" panose="02020603050405020304" pitchFamily="18" charset="0"/>
              </a:rPr>
              <a:t>Page-17:</a:t>
            </a:r>
            <a:r>
              <a:rPr lang="en-US" sz="2400" dirty="0">
                <a:latin typeface="Times New Roman" panose="02020603050405020304" pitchFamily="18" charset="0"/>
                <a:cs typeface="Times New Roman" panose="02020603050405020304" pitchFamily="18" charset="0"/>
              </a:rPr>
              <a:t> Frame={3, 4, 2}, second_chance= {0, 1, 0</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pf=9 </a:t>
            </a:r>
            <a:r>
              <a:rPr lang="en-US" sz="2400" dirty="0" smtClean="0">
                <a:latin typeface="Times New Roman" panose="02020603050405020304" pitchFamily="18" charset="0"/>
                <a:cs typeface="Times New Roman" panose="02020603050405020304" pitchFamily="18" charset="0"/>
              </a:rPr>
              <a:t>(pf </a:t>
            </a:r>
            <a:r>
              <a:rPr lang="en-US" sz="2400" dirty="0">
                <a:latin typeface="Times New Roman" panose="02020603050405020304" pitchFamily="18" charset="0"/>
                <a:cs typeface="Times New Roman" panose="02020603050405020304" pitchFamily="18" charset="0"/>
              </a:rPr>
              <a:t>updated) </a:t>
            </a:r>
          </a:p>
          <a:p>
            <a:pPr fontAlgn="base">
              <a:buFont typeface="Wingdings" panose="05000000000000000000" pitchFamily="2" charset="2"/>
              <a:buChar char="v"/>
            </a:pPr>
            <a:r>
              <a:rPr lang="en-US" sz="2400" b="1" dirty="0">
                <a:latin typeface="Times New Roman" panose="02020603050405020304" pitchFamily="18" charset="0"/>
                <a:cs typeface="Times New Roman" panose="02020603050405020304" pitchFamily="18" charset="0"/>
              </a:rPr>
              <a:t>Page-18:</a:t>
            </a:r>
            <a:r>
              <a:rPr lang="en-US" sz="2400" dirty="0">
                <a:latin typeface="Times New Roman" panose="02020603050405020304" pitchFamily="18" charset="0"/>
                <a:cs typeface="Times New Roman" panose="02020603050405020304" pitchFamily="18" charset="0"/>
              </a:rPr>
              <a:t> Frame={3, 4, 2}, second_chance= {0, 1, 0</a:t>
            </a:r>
            <a:r>
              <a:rPr lang="en-US" sz="2400" dirty="0" smtClean="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pf</a:t>
            </a:r>
            <a:r>
              <a:rPr lang="en-US" sz="2400" dirty="0">
                <a:latin typeface="Times New Roman" panose="02020603050405020304" pitchFamily="18" charset="0"/>
                <a:cs typeface="Times New Roman" panose="02020603050405020304" pitchFamily="18" charset="0"/>
              </a:rPr>
              <a:t>=9 (No change) </a:t>
            </a:r>
          </a:p>
          <a:p>
            <a:pPr marL="0" indent="0">
              <a:buNone/>
            </a:pPr>
            <a:endParaRPr lang="en-US" sz="24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3658195228"/>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26947"/>
          </a:xfrm>
        </p:spPr>
        <p:txBody>
          <a:bodyPr>
            <a:noAutofit/>
          </a:bodyPr>
          <a:lstStyle/>
          <a:p>
            <a:r>
              <a:rPr lang="en-US" sz="2800" b="1" dirty="0" smtClean="0">
                <a:latin typeface="Times New Roman" panose="02020603050405020304" pitchFamily="18" charset="0"/>
                <a:cs typeface="Times New Roman" panose="02020603050405020304" pitchFamily="18" charset="0"/>
              </a:rPr>
              <a:t/>
            </a:r>
            <a:br>
              <a:rPr lang="en-US" sz="2800" b="1" dirty="0" smtClean="0">
                <a:latin typeface="Times New Roman" panose="02020603050405020304" pitchFamily="18" charset="0"/>
                <a:cs typeface="Times New Roman" panose="02020603050405020304" pitchFamily="18" charset="0"/>
              </a:rPr>
            </a:br>
            <a:r>
              <a:rPr lang="en-US" sz="2800" b="1" dirty="0" smtClean="0">
                <a:latin typeface="Times New Roman" panose="02020603050405020304" pitchFamily="18" charset="0"/>
                <a:cs typeface="Times New Roman" panose="02020603050405020304" pitchFamily="18" charset="0"/>
              </a:rPr>
              <a:t>Page </a:t>
            </a:r>
            <a:r>
              <a:rPr lang="en-US" sz="2800" b="1" dirty="0">
                <a:latin typeface="Times New Roman" panose="02020603050405020304" pitchFamily="18" charset="0"/>
                <a:cs typeface="Times New Roman" panose="02020603050405020304" pitchFamily="18" charset="0"/>
              </a:rPr>
              <a:t>Replacement </a:t>
            </a:r>
            <a:r>
              <a:rPr lang="en-US" sz="2800" b="1" dirty="0" smtClean="0">
                <a:latin typeface="Times New Roman" panose="02020603050405020304" pitchFamily="18" charset="0"/>
                <a:cs typeface="Times New Roman" panose="02020603050405020304" pitchFamily="18" charset="0"/>
              </a:rPr>
              <a:t>Algorithm-</a:t>
            </a:r>
            <a:r>
              <a:rPr lang="fr-FR" sz="2800" b="1" dirty="0">
                <a:latin typeface="Times New Roman" panose="02020603050405020304" pitchFamily="18" charset="0"/>
                <a:cs typeface="Times New Roman" panose="02020603050405020304" pitchFamily="18" charset="0"/>
              </a:rPr>
              <a:t>Second Chance </a:t>
            </a:r>
            <a:r>
              <a:rPr lang="fr-FR" sz="2800" b="1" dirty="0" smtClean="0">
                <a:latin typeface="Times New Roman" panose="02020603050405020304" pitchFamily="18" charset="0"/>
                <a:cs typeface="Times New Roman" panose="02020603050405020304" pitchFamily="18" charset="0"/>
              </a:rPr>
              <a:t>Page (SCP) </a:t>
            </a:r>
            <a:r>
              <a:rPr lang="fr-FR" sz="2800" b="1" dirty="0">
                <a:latin typeface="Times New Roman" panose="02020603050405020304" pitchFamily="18" charset="0"/>
                <a:cs typeface="Times New Roman" panose="02020603050405020304" pitchFamily="18" charset="0"/>
              </a:rPr>
              <a:t>Replacement </a:t>
            </a:r>
            <a:r>
              <a:rPr lang="fr-FR" sz="2800" b="1" dirty="0" smtClean="0">
                <a:latin typeface="Times New Roman" panose="02020603050405020304" pitchFamily="18" charset="0"/>
                <a:cs typeface="Times New Roman" panose="02020603050405020304" pitchFamily="18" charset="0"/>
              </a:rPr>
              <a:t>Algorithm-</a:t>
            </a:r>
            <a:r>
              <a:rPr lang="fr-FR" sz="2800" b="1" dirty="0" err="1" smtClean="0">
                <a:latin typeface="Times New Roman" panose="02020603050405020304" pitchFamily="18" charset="0"/>
                <a:cs typeface="Times New Roman" panose="02020603050405020304" pitchFamily="18" charset="0"/>
              </a:rPr>
              <a:t>Example</a:t>
            </a:r>
            <a:r>
              <a:rPr lang="en-US" sz="2800" b="1" dirty="0">
                <a:latin typeface="Times New Roman" panose="02020603050405020304" pitchFamily="18" charset="0"/>
                <a:cs typeface="Times New Roman" panose="02020603050405020304" pitchFamily="18" charset="0"/>
              </a:rPr>
              <a:t/>
            </a:r>
            <a:br>
              <a:rPr lang="en-US" sz="2800" b="1" dirty="0">
                <a:latin typeface="Times New Roman" panose="02020603050405020304" pitchFamily="18" charset="0"/>
                <a:cs typeface="Times New Roman" panose="02020603050405020304" pitchFamily="18" charset="0"/>
              </a:rPr>
            </a:br>
            <a:endParaRPr lang="en-US" sz="2800" b="1"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1351981" y="1519166"/>
            <a:ext cx="9810750" cy="4635974"/>
          </a:xfrm>
          <a:prstGeom prst="rect">
            <a:avLst/>
          </a:prstGeom>
        </p:spPr>
      </p:pic>
    </p:spTree>
    <p:extLst>
      <p:ext uri="{BB962C8B-B14F-4D97-AF65-F5344CB8AC3E}">
        <p14:creationId xmlns="" xmlns:p14="http://schemas.microsoft.com/office/powerpoint/2010/main" val="1316578758"/>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85753"/>
          </a:xfrm>
        </p:spPr>
        <p:txBody>
          <a:bodyPr>
            <a:normAutofit/>
          </a:bodyPr>
          <a:lstStyle/>
          <a:p>
            <a:r>
              <a:rPr lang="en-US" sz="2800" b="1" dirty="0">
                <a:latin typeface="Times New Roman" panose="02020603050405020304" pitchFamily="18" charset="0"/>
                <a:cs typeface="Times New Roman" panose="02020603050405020304" pitchFamily="18" charset="0"/>
              </a:rPr>
              <a:t>Clock Page Replacement Algorithm</a:t>
            </a:r>
          </a:p>
        </p:txBody>
      </p:sp>
      <p:sp>
        <p:nvSpPr>
          <p:cNvPr id="3" name="Content Placeholder 2"/>
          <p:cNvSpPr>
            <a:spLocks noGrp="1"/>
          </p:cNvSpPr>
          <p:nvPr>
            <p:ph idx="1"/>
          </p:nvPr>
        </p:nvSpPr>
        <p:spPr>
          <a:xfrm>
            <a:off x="838200" y="1228298"/>
            <a:ext cx="11158182" cy="5629701"/>
          </a:xfrm>
        </p:spPr>
        <p:txBody>
          <a:bodyPr>
            <a:noAutofit/>
          </a:bodyPr>
          <a:lstStyle/>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Second </a:t>
            </a:r>
            <a:r>
              <a:rPr lang="en-US" dirty="0">
                <a:latin typeface="Times New Roman" panose="02020603050405020304" pitchFamily="18" charset="0"/>
                <a:cs typeface="Times New Roman" panose="02020603050405020304" pitchFamily="18" charset="0"/>
              </a:rPr>
              <a:t>chance algorithm is </a:t>
            </a:r>
            <a:r>
              <a:rPr lang="en-US" dirty="0" smtClean="0">
                <a:latin typeface="Times New Roman" panose="02020603050405020304" pitchFamily="18" charset="0"/>
                <a:cs typeface="Times New Roman" panose="02020603050405020304" pitchFamily="18" charset="0"/>
              </a:rPr>
              <a:t>inefficient as </a:t>
            </a:r>
            <a:r>
              <a:rPr lang="en-US" dirty="0">
                <a:latin typeface="Times New Roman" panose="02020603050405020304" pitchFamily="18" charset="0"/>
                <a:cs typeface="Times New Roman" panose="02020603050405020304" pitchFamily="18" charset="0"/>
              </a:rPr>
              <a:t>it constantly moves pages around on its list</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A </a:t>
            </a:r>
            <a:r>
              <a:rPr lang="en-US" dirty="0">
                <a:latin typeface="Times New Roman" panose="02020603050405020304" pitchFamily="18" charset="0"/>
                <a:cs typeface="Times New Roman" panose="02020603050405020304" pitchFamily="18" charset="0"/>
              </a:rPr>
              <a:t>better approach is to keep all the pages on a circular </a:t>
            </a:r>
            <a:r>
              <a:rPr lang="en-US" dirty="0" smtClean="0">
                <a:latin typeface="Times New Roman" panose="02020603050405020304" pitchFamily="18" charset="0"/>
                <a:cs typeface="Times New Roman" panose="02020603050405020304" pitchFamily="18" charset="0"/>
              </a:rPr>
              <a:t>list in </a:t>
            </a:r>
            <a:r>
              <a:rPr lang="en-US" dirty="0">
                <a:latin typeface="Times New Roman" panose="02020603050405020304" pitchFamily="18" charset="0"/>
                <a:cs typeface="Times New Roman" panose="02020603050405020304" pitchFamily="18" charset="0"/>
              </a:rPr>
              <a:t>the form of clock</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hand points to the oldest page</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When </a:t>
            </a:r>
            <a:r>
              <a:rPr lang="en-US" dirty="0">
                <a:latin typeface="Times New Roman" panose="02020603050405020304" pitchFamily="18" charset="0"/>
                <a:cs typeface="Times New Roman" panose="02020603050405020304" pitchFamily="18" charset="0"/>
              </a:rPr>
              <a:t>new page is inserted, R is set to 1</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When </a:t>
            </a:r>
            <a:r>
              <a:rPr lang="en-US" dirty="0">
                <a:latin typeface="Times New Roman" panose="02020603050405020304" pitchFamily="18" charset="0"/>
                <a:cs typeface="Times New Roman" panose="02020603050405020304" pitchFamily="18" charset="0"/>
              </a:rPr>
              <a:t>a page fault occurs, the page being pointed at is inspected</a:t>
            </a:r>
          </a:p>
          <a:p>
            <a:pPr lvl="1"/>
            <a:r>
              <a:rPr lang="en-US" sz="2800" dirty="0" smtClean="0">
                <a:latin typeface="Times New Roman" panose="02020603050405020304" pitchFamily="18" charset="0"/>
                <a:cs typeface="Times New Roman" panose="02020603050405020304" pitchFamily="18" charset="0"/>
              </a:rPr>
              <a:t>If </a:t>
            </a:r>
            <a:r>
              <a:rPr lang="en-US" sz="2800" dirty="0">
                <a:latin typeface="Times New Roman" panose="02020603050405020304" pitchFamily="18" charset="0"/>
                <a:cs typeface="Times New Roman" panose="02020603050405020304" pitchFamily="18" charset="0"/>
              </a:rPr>
              <a:t>its R bit is 0, the page is evicted, the new page is inserted into the clock in its place, R is set to 1 and the hand is advanced one position</a:t>
            </a:r>
          </a:p>
          <a:p>
            <a:pPr lvl="1"/>
            <a:r>
              <a:rPr lang="en-US" sz="2800" dirty="0" smtClean="0">
                <a:latin typeface="Times New Roman" panose="02020603050405020304" pitchFamily="18" charset="0"/>
                <a:cs typeface="Times New Roman" panose="02020603050405020304" pitchFamily="18" charset="0"/>
              </a:rPr>
              <a:t>If </a:t>
            </a:r>
            <a:r>
              <a:rPr lang="en-US" sz="2800" dirty="0">
                <a:latin typeface="Times New Roman" panose="02020603050405020304" pitchFamily="18" charset="0"/>
                <a:cs typeface="Times New Roman" panose="02020603050405020304" pitchFamily="18" charset="0"/>
              </a:rPr>
              <a:t>R bit is 1, it is set to 0 and the hand is advanced to the next page</a:t>
            </a:r>
          </a:p>
          <a:p>
            <a:pPr lvl="1"/>
            <a:r>
              <a:rPr lang="en-US" sz="2800" dirty="0" smtClean="0">
                <a:latin typeface="Times New Roman" panose="02020603050405020304" pitchFamily="18" charset="0"/>
                <a:cs typeface="Times New Roman" panose="02020603050405020304" pitchFamily="18" charset="0"/>
              </a:rPr>
              <a:t>The </a:t>
            </a:r>
            <a:r>
              <a:rPr lang="en-US" sz="2800" dirty="0">
                <a:latin typeface="Times New Roman" panose="02020603050405020304" pitchFamily="18" charset="0"/>
                <a:cs typeface="Times New Roman" panose="02020603050405020304" pitchFamily="18" charset="0"/>
              </a:rPr>
              <a:t>process is repeated until a page is found with </a:t>
            </a:r>
            <a:r>
              <a:rPr lang="en-US" sz="2800" dirty="0" smtClean="0">
                <a:latin typeface="Times New Roman" panose="02020603050405020304" pitchFamily="18" charset="0"/>
                <a:cs typeface="Times New Roman" panose="02020603050405020304" pitchFamily="18" charset="0"/>
              </a:rPr>
              <a:t>R=0</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1220131026"/>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85753"/>
          </a:xfrm>
        </p:spPr>
        <p:txBody>
          <a:bodyPr>
            <a:normAutofit/>
          </a:bodyPr>
          <a:lstStyle/>
          <a:p>
            <a:r>
              <a:rPr lang="en-US" sz="2800" b="1" dirty="0">
                <a:latin typeface="Times New Roman" panose="02020603050405020304" pitchFamily="18" charset="0"/>
                <a:cs typeface="Times New Roman" panose="02020603050405020304" pitchFamily="18" charset="0"/>
              </a:rPr>
              <a:t>Clock Page Replacement Algorithm</a:t>
            </a:r>
          </a:p>
        </p:txBody>
      </p:sp>
      <p:pic>
        <p:nvPicPr>
          <p:cNvPr id="4" name="Content Placeholder 3"/>
          <p:cNvPicPr>
            <a:picLocks noGrp="1" noChangeAspect="1"/>
          </p:cNvPicPr>
          <p:nvPr>
            <p:ph idx="1"/>
          </p:nvPr>
        </p:nvPicPr>
        <p:blipFill>
          <a:blip r:embed="rId2"/>
          <a:stretch>
            <a:fillRect/>
          </a:stretch>
        </p:blipFill>
        <p:spPr>
          <a:xfrm>
            <a:off x="1985414" y="1351129"/>
            <a:ext cx="8221172" cy="4544704"/>
          </a:xfrm>
          <a:prstGeom prst="rect">
            <a:avLst/>
          </a:prstGeom>
        </p:spPr>
      </p:pic>
    </p:spTree>
    <p:extLst>
      <p:ext uri="{BB962C8B-B14F-4D97-AF65-F5344CB8AC3E}">
        <p14:creationId xmlns="" xmlns:p14="http://schemas.microsoft.com/office/powerpoint/2010/main" val="129502475"/>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81287"/>
          </a:xfrm>
        </p:spPr>
        <p:txBody>
          <a:bodyPr>
            <a:normAutofit/>
          </a:bodyPr>
          <a:lstStyle/>
          <a:p>
            <a:r>
              <a:rPr lang="en-US" sz="2800" b="1" dirty="0">
                <a:latin typeface="Times New Roman" panose="02020603050405020304" pitchFamily="18" charset="0"/>
                <a:cs typeface="Times New Roman" panose="02020603050405020304" pitchFamily="18" charset="0"/>
              </a:rPr>
              <a:t>Segmentation</a:t>
            </a:r>
          </a:p>
        </p:txBody>
      </p:sp>
      <p:sp>
        <p:nvSpPr>
          <p:cNvPr id="3" name="Content Placeholder 2"/>
          <p:cNvSpPr>
            <a:spLocks noGrp="1"/>
          </p:cNvSpPr>
          <p:nvPr>
            <p:ph idx="1"/>
          </p:nvPr>
        </p:nvSpPr>
        <p:spPr>
          <a:xfrm>
            <a:off x="838199" y="1337481"/>
            <a:ext cx="10653215" cy="4839482"/>
          </a:xfrm>
        </p:spPr>
        <p:txBody>
          <a:bodyPr>
            <a:normAutofit/>
          </a:bodyPr>
          <a:lstStyle/>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Program </a:t>
            </a:r>
            <a:r>
              <a:rPr lang="en-US" dirty="0">
                <a:latin typeface="Times New Roman" panose="02020603050405020304" pitchFamily="18" charset="0"/>
                <a:cs typeface="Times New Roman" panose="02020603050405020304" pitchFamily="18" charset="0"/>
              </a:rPr>
              <a:t>is divided into parts known as segments</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These </a:t>
            </a:r>
            <a:r>
              <a:rPr lang="en-US" dirty="0">
                <a:latin typeface="Times New Roman" panose="02020603050405020304" pitchFamily="18" charset="0"/>
                <a:cs typeface="Times New Roman" panose="02020603050405020304" pitchFamily="18" charset="0"/>
              </a:rPr>
              <a:t>segments may vary in size. But there exist a maximum limit to the size of segment</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In </a:t>
            </a:r>
            <a:r>
              <a:rPr lang="en-US" dirty="0">
                <a:latin typeface="Times New Roman" panose="02020603050405020304" pitchFamily="18" charset="0"/>
                <a:cs typeface="Times New Roman" panose="02020603050405020304" pitchFamily="18" charset="0"/>
              </a:rPr>
              <a:t>other words, segmentation is a technique to break memory into logical pieces where each piece (segment) represents a group of related information.</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Like </a:t>
            </a:r>
            <a:r>
              <a:rPr lang="en-US" dirty="0">
                <a:latin typeface="Times New Roman" panose="02020603050405020304" pitchFamily="18" charset="0"/>
                <a:cs typeface="Times New Roman" panose="02020603050405020304" pitchFamily="18" charset="0"/>
              </a:rPr>
              <a:t>paging, a logical address using segmentation consists of two parts:</a:t>
            </a:r>
          </a:p>
          <a:p>
            <a:pPr marL="457200" lvl="1" indent="0">
              <a:buNone/>
            </a:pPr>
            <a:r>
              <a:rPr lang="en-US" sz="2800" dirty="0">
                <a:latin typeface="Times New Roman" panose="02020603050405020304" pitchFamily="18" charset="0"/>
                <a:cs typeface="Times New Roman" panose="02020603050405020304" pitchFamily="18" charset="0"/>
              </a:rPr>
              <a:t>1. Segment number</a:t>
            </a:r>
          </a:p>
          <a:p>
            <a:pPr marL="457200" lvl="1" indent="0">
              <a:buNone/>
            </a:pPr>
            <a:r>
              <a:rPr lang="en-US" sz="2800" dirty="0">
                <a:latin typeface="Times New Roman" panose="02020603050405020304" pitchFamily="18" charset="0"/>
                <a:cs typeface="Times New Roman" panose="02020603050405020304" pitchFamily="18" charset="0"/>
              </a:rPr>
              <a:t>2. Offset</a:t>
            </a:r>
          </a:p>
        </p:txBody>
      </p:sp>
    </p:spTree>
    <p:extLst>
      <p:ext uri="{BB962C8B-B14F-4D97-AF65-F5344CB8AC3E}">
        <p14:creationId xmlns="" xmlns:p14="http://schemas.microsoft.com/office/powerpoint/2010/main" val="709162943"/>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228647"/>
            <a:ext cx="10515600" cy="781287"/>
          </a:xfrm>
        </p:spPr>
        <p:txBody>
          <a:bodyPr>
            <a:normAutofit/>
          </a:bodyPr>
          <a:lstStyle/>
          <a:p>
            <a:r>
              <a:rPr lang="en-US" sz="2800" b="1" dirty="0">
                <a:latin typeface="Times New Roman" panose="02020603050405020304" pitchFamily="18" charset="0"/>
                <a:cs typeface="Times New Roman" panose="02020603050405020304" pitchFamily="18" charset="0"/>
              </a:rPr>
              <a:t>Segmentation</a:t>
            </a:r>
          </a:p>
        </p:txBody>
      </p:sp>
      <p:sp>
        <p:nvSpPr>
          <p:cNvPr id="3" name="Content Placeholder 2"/>
          <p:cNvSpPr>
            <a:spLocks noGrp="1"/>
          </p:cNvSpPr>
          <p:nvPr>
            <p:ph idx="1"/>
          </p:nvPr>
        </p:nvSpPr>
        <p:spPr>
          <a:xfrm>
            <a:off x="838199" y="1105469"/>
            <a:ext cx="10653215" cy="5071494"/>
          </a:xfrm>
        </p:spPr>
        <p:txBody>
          <a:bodyPr>
            <a:normAutofit/>
          </a:bodyPr>
          <a:lstStyle/>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Because </a:t>
            </a:r>
            <a:r>
              <a:rPr lang="en-US" dirty="0">
                <a:latin typeface="Times New Roman" panose="02020603050405020304" pitchFamily="18" charset="0"/>
                <a:cs typeface="Times New Roman" panose="02020603050405020304" pitchFamily="18" charset="0"/>
              </a:rPr>
              <a:t>of the use of unequal size segments, segmentation is similar to dynamic partitioning</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The difference is </a:t>
            </a:r>
            <a:r>
              <a:rPr lang="en-US" dirty="0">
                <a:latin typeface="Times New Roman" panose="02020603050405020304" pitchFamily="18" charset="0"/>
                <a:cs typeface="Times New Roman" panose="02020603050405020304" pitchFamily="18" charset="0"/>
              </a:rPr>
              <a:t>that the </a:t>
            </a:r>
            <a:r>
              <a:rPr lang="en-US" b="1" dirty="0">
                <a:latin typeface="Times New Roman" panose="02020603050405020304" pitchFamily="18" charset="0"/>
                <a:cs typeface="Times New Roman" panose="02020603050405020304" pitchFamily="18" charset="0"/>
              </a:rPr>
              <a:t>segments of a same program </a:t>
            </a:r>
            <a:r>
              <a:rPr lang="en-US" b="1">
                <a:latin typeface="Times New Roman" panose="02020603050405020304" pitchFamily="18" charset="0"/>
                <a:cs typeface="Times New Roman" panose="02020603050405020304" pitchFamily="18" charset="0"/>
              </a:rPr>
              <a:t>need </a:t>
            </a:r>
            <a:r>
              <a:rPr lang="en-US" b="1" smtClean="0">
                <a:latin typeface="Times New Roman" panose="02020603050405020304" pitchFamily="18" charset="0"/>
                <a:cs typeface="Times New Roman" panose="02020603050405020304" pitchFamily="18" charset="0"/>
              </a:rPr>
              <a:t>not to </a:t>
            </a:r>
            <a:r>
              <a:rPr lang="en-US" b="1" dirty="0">
                <a:latin typeface="Times New Roman" panose="02020603050405020304" pitchFamily="18" charset="0"/>
                <a:cs typeface="Times New Roman" panose="02020603050405020304" pitchFamily="18" charset="0"/>
              </a:rPr>
              <a:t>be contiguous</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Segmentation </a:t>
            </a:r>
            <a:r>
              <a:rPr lang="en-US" dirty="0">
                <a:latin typeface="Times New Roman" panose="02020603050405020304" pitchFamily="18" charset="0"/>
                <a:cs typeface="Times New Roman" panose="02020603050405020304" pitchFamily="18" charset="0"/>
              </a:rPr>
              <a:t>eliminates internal </a:t>
            </a:r>
            <a:r>
              <a:rPr lang="en-US" dirty="0" smtClean="0">
                <a:latin typeface="Times New Roman" panose="02020603050405020304" pitchFamily="18" charset="0"/>
                <a:cs typeface="Times New Roman" panose="02020603050405020304" pitchFamily="18" charset="0"/>
              </a:rPr>
              <a:t>fragmentation but </a:t>
            </a:r>
            <a:r>
              <a:rPr lang="en-US" dirty="0">
                <a:latin typeface="Times New Roman" panose="02020603050405020304" pitchFamily="18" charset="0"/>
                <a:cs typeface="Times New Roman" panose="02020603050405020304" pitchFamily="18" charset="0"/>
              </a:rPr>
              <a:t>like dynamic partitioning, it suffers from external fragmentation</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Each </a:t>
            </a:r>
            <a:r>
              <a:rPr lang="en-US" dirty="0">
                <a:latin typeface="Times New Roman" panose="02020603050405020304" pitchFamily="18" charset="0"/>
                <a:cs typeface="Times New Roman" panose="02020603050405020304" pitchFamily="18" charset="0"/>
              </a:rPr>
              <a:t>segment consists of a linear sequence of addresses, from 0 to some maximum</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Segment </a:t>
            </a:r>
            <a:r>
              <a:rPr lang="en-US" dirty="0">
                <a:latin typeface="Times New Roman" panose="02020603050405020304" pitchFamily="18" charset="0"/>
                <a:cs typeface="Times New Roman" panose="02020603050405020304" pitchFamily="18" charset="0"/>
              </a:rPr>
              <a:t>length may change during execution. For example, the length of stack segment may be increased whenever something is pushed into the stack</a:t>
            </a:r>
          </a:p>
          <a:p>
            <a:pPr>
              <a:buFont typeface="Wingdings" panose="05000000000000000000" pitchFamily="2" charset="2"/>
              <a:buChar char="v"/>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299681943"/>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228647"/>
            <a:ext cx="10515600" cy="781287"/>
          </a:xfrm>
        </p:spPr>
        <p:txBody>
          <a:bodyPr>
            <a:normAutofit/>
          </a:bodyPr>
          <a:lstStyle/>
          <a:p>
            <a:r>
              <a:rPr lang="en-US" sz="2800" b="1" dirty="0">
                <a:latin typeface="Times New Roman" panose="02020603050405020304" pitchFamily="18" charset="0"/>
                <a:cs typeface="Times New Roman" panose="02020603050405020304" pitchFamily="18" charset="0"/>
              </a:rPr>
              <a:t>Segmentation</a:t>
            </a:r>
          </a:p>
        </p:txBody>
      </p:sp>
      <p:sp>
        <p:nvSpPr>
          <p:cNvPr id="3" name="Content Placeholder 2"/>
          <p:cNvSpPr>
            <a:spLocks noGrp="1"/>
          </p:cNvSpPr>
          <p:nvPr>
            <p:ph idx="1"/>
          </p:nvPr>
        </p:nvSpPr>
        <p:spPr>
          <a:xfrm>
            <a:off x="838199" y="1105469"/>
            <a:ext cx="10653215" cy="5071494"/>
          </a:xfrm>
        </p:spPr>
        <p:txBody>
          <a:bodyPr>
            <a:normAutofit/>
          </a:bodyPr>
          <a:lstStyle/>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Due </a:t>
            </a:r>
            <a:r>
              <a:rPr lang="en-US" dirty="0">
                <a:latin typeface="Times New Roman" panose="02020603050405020304" pitchFamily="18" charset="0"/>
                <a:cs typeface="Times New Roman" panose="02020603050405020304" pitchFamily="18" charset="0"/>
              </a:rPr>
              <a:t>to unequal size segments, there is no simple relation between logical and physical address</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Analogous </a:t>
            </a:r>
            <a:r>
              <a:rPr lang="en-US" dirty="0">
                <a:latin typeface="Times New Roman" panose="02020603050405020304" pitchFamily="18" charset="0"/>
                <a:cs typeface="Times New Roman" panose="02020603050405020304" pitchFamily="18" charset="0"/>
              </a:rPr>
              <a:t>to paging, we could create a segment table for each process </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Each </a:t>
            </a:r>
            <a:r>
              <a:rPr lang="en-US" dirty="0">
                <a:latin typeface="Times New Roman" panose="02020603050405020304" pitchFamily="18" charset="0"/>
                <a:cs typeface="Times New Roman" panose="02020603050405020304" pitchFamily="18" charset="0"/>
              </a:rPr>
              <a:t>segment table entry would contain starting address in the main memory of the corresponding segment</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Besides </a:t>
            </a:r>
            <a:r>
              <a:rPr lang="en-US" dirty="0">
                <a:latin typeface="Times New Roman" panose="02020603050405020304" pitchFamily="18" charset="0"/>
                <a:cs typeface="Times New Roman" panose="02020603050405020304" pitchFamily="18" charset="0"/>
              </a:rPr>
              <a:t>that, an entry would also provide the length of the segment so that invalid addresses are not used</a:t>
            </a:r>
          </a:p>
          <a:p>
            <a:pPr>
              <a:buFont typeface="Wingdings" panose="05000000000000000000" pitchFamily="2" charset="2"/>
              <a:buChar char="v"/>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4184809054"/>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228647"/>
            <a:ext cx="10515600" cy="781287"/>
          </a:xfrm>
        </p:spPr>
        <p:txBody>
          <a:bodyPr>
            <a:normAutofit/>
          </a:bodyPr>
          <a:lstStyle/>
          <a:p>
            <a:r>
              <a:rPr lang="en-US" sz="2800" b="1" dirty="0">
                <a:latin typeface="Times New Roman" panose="02020603050405020304" pitchFamily="18" charset="0"/>
                <a:cs typeface="Times New Roman" panose="02020603050405020304" pitchFamily="18" charset="0"/>
              </a:rPr>
              <a:t>Segmentation</a:t>
            </a:r>
          </a:p>
        </p:txBody>
      </p:sp>
      <p:pic>
        <p:nvPicPr>
          <p:cNvPr id="4" name="Content Placeholder 3"/>
          <p:cNvPicPr>
            <a:picLocks noGrp="1" noChangeAspect="1"/>
          </p:cNvPicPr>
          <p:nvPr>
            <p:ph idx="1"/>
          </p:nvPr>
        </p:nvPicPr>
        <p:blipFill>
          <a:blip r:embed="rId2"/>
          <a:stretch>
            <a:fillRect/>
          </a:stretch>
        </p:blipFill>
        <p:spPr>
          <a:xfrm>
            <a:off x="3380316" y="845592"/>
            <a:ext cx="6937392" cy="5910050"/>
          </a:xfrm>
          <a:prstGeom prst="rect">
            <a:avLst/>
          </a:prstGeom>
        </p:spPr>
      </p:pic>
    </p:spTree>
    <p:extLst>
      <p:ext uri="{BB962C8B-B14F-4D97-AF65-F5344CB8AC3E}">
        <p14:creationId xmlns="" xmlns:p14="http://schemas.microsoft.com/office/powerpoint/2010/main" val="232603384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67639"/>
          </a:xfrm>
        </p:spPr>
        <p:txBody>
          <a:bodyPr>
            <a:normAutofit/>
          </a:bodyPr>
          <a:lstStyle/>
          <a:p>
            <a:r>
              <a:rPr lang="en-US" sz="2800" b="1" dirty="0">
                <a:latin typeface="Times New Roman" panose="02020603050405020304" pitchFamily="18" charset="0"/>
                <a:cs typeface="Times New Roman" panose="02020603050405020304" pitchFamily="18" charset="0"/>
              </a:rPr>
              <a:t>Advantages of Segmentation</a:t>
            </a:r>
          </a:p>
        </p:txBody>
      </p:sp>
      <p:sp>
        <p:nvSpPr>
          <p:cNvPr id="3" name="Content Placeholder 2"/>
          <p:cNvSpPr>
            <a:spLocks noGrp="1"/>
          </p:cNvSpPr>
          <p:nvPr>
            <p:ph idx="1"/>
          </p:nvPr>
        </p:nvSpPr>
        <p:spPr>
          <a:xfrm>
            <a:off x="838200" y="1255594"/>
            <a:ext cx="10515600" cy="4921369"/>
          </a:xfrm>
        </p:spPr>
        <p:txBody>
          <a:bodyPr>
            <a:normAutofit/>
          </a:bodyPr>
          <a:lstStyle/>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It </a:t>
            </a:r>
            <a:r>
              <a:rPr lang="en-US" dirty="0">
                <a:latin typeface="Times New Roman" panose="02020603050405020304" pitchFamily="18" charset="0"/>
                <a:cs typeface="Times New Roman" panose="02020603050405020304" pitchFamily="18" charset="0"/>
              </a:rPr>
              <a:t>simplifies the handling of growing data structure(OS can grow or shrink the segments as needed)</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It </a:t>
            </a:r>
            <a:r>
              <a:rPr lang="en-US" dirty="0">
                <a:latin typeface="Times New Roman" panose="02020603050405020304" pitchFamily="18" charset="0"/>
                <a:cs typeface="Times New Roman" panose="02020603050405020304" pitchFamily="18" charset="0"/>
              </a:rPr>
              <a:t>allows programs to be altered and recompiled independently, without requiring the entire set of programs to be relinked and reloaded</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It </a:t>
            </a:r>
            <a:r>
              <a:rPr lang="en-US" dirty="0">
                <a:latin typeface="Times New Roman" panose="02020603050405020304" pitchFamily="18" charset="0"/>
                <a:cs typeface="Times New Roman" panose="02020603050405020304" pitchFamily="18" charset="0"/>
              </a:rPr>
              <a:t>lends itself to sharing among a process. A programmer can place a utility program or a useful table of data in a segment that can be referenced by other processes</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It </a:t>
            </a:r>
            <a:r>
              <a:rPr lang="en-US" dirty="0">
                <a:latin typeface="Times New Roman" panose="02020603050405020304" pitchFamily="18" charset="0"/>
                <a:cs typeface="Times New Roman" panose="02020603050405020304" pitchFamily="18" charset="0"/>
              </a:rPr>
              <a:t>lends itself to protection. Because a segment can be constructed to contain a well defined set of programs or data, the programmer/system administrator can assign access privileges in a convenient fashion. </a:t>
            </a:r>
          </a:p>
          <a:p>
            <a:endParaRPr lang="en-US" dirty="0"/>
          </a:p>
        </p:txBody>
      </p:sp>
    </p:spTree>
    <p:extLst>
      <p:ext uri="{BB962C8B-B14F-4D97-AF65-F5344CB8AC3E}">
        <p14:creationId xmlns="" xmlns:p14="http://schemas.microsoft.com/office/powerpoint/2010/main" val="100411900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85753"/>
          </a:xfrm>
        </p:spPr>
        <p:txBody>
          <a:bodyPr>
            <a:normAutofit/>
          </a:bodyPr>
          <a:lstStyle/>
          <a:p>
            <a:r>
              <a:rPr lang="en-US" sz="2800" b="1" dirty="0">
                <a:latin typeface="Times New Roman" panose="02020603050405020304" pitchFamily="18" charset="0"/>
                <a:cs typeface="Times New Roman" panose="02020603050405020304" pitchFamily="18" charset="0"/>
              </a:rPr>
              <a:t>Address Translation in Segmentation</a:t>
            </a:r>
          </a:p>
        </p:txBody>
      </p:sp>
      <p:sp>
        <p:nvSpPr>
          <p:cNvPr id="4" name="Content Placeholder 3"/>
          <p:cNvSpPr>
            <a:spLocks noGrp="1"/>
          </p:cNvSpPr>
          <p:nvPr>
            <p:ph sz="half" idx="1"/>
          </p:nvPr>
        </p:nvSpPr>
        <p:spPr>
          <a:xfrm>
            <a:off x="573206" y="1351128"/>
            <a:ext cx="6045958" cy="5213445"/>
          </a:xfrm>
        </p:spPr>
        <p:txBody>
          <a:bodyPr>
            <a:normAutofit/>
          </a:bodyPr>
          <a:lstStyle/>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Extract </a:t>
            </a:r>
            <a:r>
              <a:rPr lang="en-US" dirty="0">
                <a:latin typeface="Times New Roman" panose="02020603050405020304" pitchFamily="18" charset="0"/>
                <a:cs typeface="Times New Roman" panose="02020603050405020304" pitchFamily="18" charset="0"/>
              </a:rPr>
              <a:t>segment </a:t>
            </a:r>
            <a:r>
              <a:rPr lang="en-US" dirty="0" smtClean="0">
                <a:latin typeface="Times New Roman" panose="02020603050405020304" pitchFamily="18" charset="0"/>
                <a:cs typeface="Times New Roman" panose="02020603050405020304" pitchFamily="18" charset="0"/>
              </a:rPr>
              <a:t>number</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Use </a:t>
            </a:r>
            <a:r>
              <a:rPr lang="en-US" dirty="0">
                <a:latin typeface="Times New Roman" panose="02020603050405020304" pitchFamily="18" charset="0"/>
                <a:cs typeface="Times New Roman" panose="02020603050405020304" pitchFamily="18" charset="0"/>
              </a:rPr>
              <a:t>the segment number as index into the process segment table to find the starting physical address of the segment</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Compare </a:t>
            </a:r>
            <a:r>
              <a:rPr lang="en-US" dirty="0">
                <a:latin typeface="Times New Roman" panose="02020603050405020304" pitchFamily="18" charset="0"/>
                <a:cs typeface="Times New Roman" panose="02020603050405020304" pitchFamily="18" charset="0"/>
              </a:rPr>
              <a:t>the offset to the length of segment. If the offset is greater than or equal to the length, the offset is invalid</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desired physical address is the sum of starting physical address of the segment plus the offset</a:t>
            </a:r>
          </a:p>
          <a:p>
            <a:endParaRPr lang="en-US" dirty="0"/>
          </a:p>
        </p:txBody>
      </p:sp>
      <p:pic>
        <p:nvPicPr>
          <p:cNvPr id="6" name="Picture 5"/>
          <p:cNvPicPr>
            <a:picLocks noChangeAspect="1"/>
          </p:cNvPicPr>
          <p:nvPr/>
        </p:nvPicPr>
        <p:blipFill>
          <a:blip r:embed="rId2"/>
          <a:stretch>
            <a:fillRect/>
          </a:stretch>
        </p:blipFill>
        <p:spPr>
          <a:xfrm>
            <a:off x="6619164" y="1577854"/>
            <a:ext cx="5457453" cy="3866063"/>
          </a:xfrm>
          <a:prstGeom prst="rect">
            <a:avLst/>
          </a:prstGeom>
        </p:spPr>
      </p:pic>
    </p:spTree>
    <p:extLst>
      <p:ext uri="{BB962C8B-B14F-4D97-AF65-F5344CB8AC3E}">
        <p14:creationId xmlns="" xmlns:p14="http://schemas.microsoft.com/office/powerpoint/2010/main" val="37584307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38200" y="365126"/>
            <a:ext cx="10515600" cy="835878"/>
          </a:xfrm>
        </p:spPr>
        <p:txBody>
          <a:bodyPr>
            <a:normAutofit/>
          </a:bodyPr>
          <a:lstStyle/>
          <a:p>
            <a:r>
              <a:rPr lang="en-US" sz="2800" b="1" dirty="0">
                <a:latin typeface="Times New Roman" panose="02020603050405020304" pitchFamily="18" charset="0"/>
                <a:cs typeface="Times New Roman" panose="02020603050405020304" pitchFamily="18" charset="0"/>
              </a:rPr>
              <a:t>Segmentation Example</a:t>
            </a:r>
          </a:p>
        </p:txBody>
      </p:sp>
      <p:pic>
        <p:nvPicPr>
          <p:cNvPr id="8" name="Content Placeholder 7"/>
          <p:cNvPicPr>
            <a:picLocks noGrp="1" noChangeAspect="1"/>
          </p:cNvPicPr>
          <p:nvPr>
            <p:ph idx="1"/>
          </p:nvPr>
        </p:nvPicPr>
        <p:blipFill>
          <a:blip r:embed="rId2"/>
          <a:stretch>
            <a:fillRect/>
          </a:stretch>
        </p:blipFill>
        <p:spPr>
          <a:xfrm>
            <a:off x="1696301" y="1201004"/>
            <a:ext cx="8799397" cy="4599294"/>
          </a:xfrm>
          <a:prstGeom prst="rect">
            <a:avLst/>
          </a:prstGeom>
        </p:spPr>
      </p:pic>
    </p:spTree>
    <p:extLst>
      <p:ext uri="{BB962C8B-B14F-4D97-AF65-F5344CB8AC3E}">
        <p14:creationId xmlns="" xmlns:p14="http://schemas.microsoft.com/office/powerpoint/2010/main" val="190802215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96886"/>
            <a:ext cx="10515600" cy="576571"/>
          </a:xfrm>
        </p:spPr>
        <p:txBody>
          <a:bodyPr>
            <a:normAutofit/>
          </a:bodyPr>
          <a:lstStyle/>
          <a:p>
            <a:r>
              <a:rPr lang="en-US" sz="2800" b="1" dirty="0">
                <a:latin typeface="Times New Roman" panose="02020603050405020304" pitchFamily="18" charset="0"/>
                <a:cs typeface="Times New Roman" panose="02020603050405020304" pitchFamily="18" charset="0"/>
              </a:rPr>
              <a:t>Combining paging and </a:t>
            </a:r>
            <a:r>
              <a:rPr lang="en-US" sz="2800" b="1" dirty="0" smtClean="0">
                <a:latin typeface="Times New Roman" panose="02020603050405020304" pitchFamily="18" charset="0"/>
                <a:cs typeface="Times New Roman" panose="02020603050405020304" pitchFamily="18" charset="0"/>
              </a:rPr>
              <a:t>Segmentation: Paged </a:t>
            </a:r>
            <a:r>
              <a:rPr lang="en-US" sz="2800" b="1" dirty="0">
                <a:latin typeface="Times New Roman" panose="02020603050405020304" pitchFamily="18" charset="0"/>
                <a:cs typeface="Times New Roman" panose="02020603050405020304" pitchFamily="18" charset="0"/>
              </a:rPr>
              <a:t>Segmentation</a:t>
            </a:r>
          </a:p>
        </p:txBody>
      </p:sp>
      <p:sp>
        <p:nvSpPr>
          <p:cNvPr id="3" name="Content Placeholder 2"/>
          <p:cNvSpPr>
            <a:spLocks noGrp="1"/>
          </p:cNvSpPr>
          <p:nvPr>
            <p:ph idx="1"/>
          </p:nvPr>
        </p:nvSpPr>
        <p:spPr>
          <a:xfrm>
            <a:off x="838200" y="1050878"/>
            <a:ext cx="10515600" cy="5554638"/>
          </a:xfrm>
        </p:spPr>
        <p:txBody>
          <a:bodyPr>
            <a:normAutofit fontScale="92500" lnSpcReduction="20000"/>
          </a:bodyPr>
          <a:lstStyle/>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In </a:t>
            </a:r>
            <a:r>
              <a:rPr lang="en-US" dirty="0">
                <a:latin typeface="Times New Roman" panose="02020603050405020304" pitchFamily="18" charset="0"/>
                <a:cs typeface="Times New Roman" panose="02020603050405020304" pitchFamily="18" charset="0"/>
              </a:rPr>
              <a:t>a combined paging and segmentation system, a user’s address space is broken down into a number of segments</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Each </a:t>
            </a:r>
            <a:r>
              <a:rPr lang="en-US" dirty="0">
                <a:latin typeface="Times New Roman" panose="02020603050405020304" pitchFamily="18" charset="0"/>
                <a:cs typeface="Times New Roman" panose="02020603050405020304" pitchFamily="18" charset="0"/>
              </a:rPr>
              <a:t>segment is then divided into fixed sized pages which are equal in length to a main memory frame</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Associated </a:t>
            </a:r>
            <a:r>
              <a:rPr lang="en-US" dirty="0">
                <a:latin typeface="Times New Roman" panose="02020603050405020304" pitchFamily="18" charset="0"/>
                <a:cs typeface="Times New Roman" panose="02020603050405020304" pitchFamily="18" charset="0"/>
              </a:rPr>
              <a:t>with each process is a s</a:t>
            </a:r>
            <a:r>
              <a:rPr lang="en-US" b="1" dirty="0">
                <a:latin typeface="Times New Roman" panose="02020603050405020304" pitchFamily="18" charset="0"/>
                <a:cs typeface="Times New Roman" panose="02020603050405020304" pitchFamily="18" charset="0"/>
              </a:rPr>
              <a:t>egment table </a:t>
            </a:r>
            <a:r>
              <a:rPr lang="en-US" dirty="0">
                <a:latin typeface="Times New Roman" panose="02020603050405020304" pitchFamily="18" charset="0"/>
                <a:cs typeface="Times New Roman" panose="02020603050405020304" pitchFamily="18" charset="0"/>
              </a:rPr>
              <a:t>and </a:t>
            </a:r>
            <a:r>
              <a:rPr lang="en-US" b="1" dirty="0">
                <a:latin typeface="Times New Roman" panose="02020603050405020304" pitchFamily="18" charset="0"/>
                <a:cs typeface="Times New Roman" panose="02020603050405020304" pitchFamily="18" charset="0"/>
              </a:rPr>
              <a:t>a number of page tables</a:t>
            </a:r>
            <a:r>
              <a:rPr lang="en-US" dirty="0">
                <a:latin typeface="Times New Roman" panose="02020603050405020304" pitchFamily="18" charset="0"/>
                <a:cs typeface="Times New Roman" panose="02020603050405020304" pitchFamily="18" charset="0"/>
              </a:rPr>
              <a:t>, one per process segment</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When </a:t>
            </a:r>
            <a:r>
              <a:rPr lang="en-US" dirty="0">
                <a:latin typeface="Times New Roman" panose="02020603050405020304" pitchFamily="18" charset="0"/>
                <a:cs typeface="Times New Roman" panose="02020603050405020304" pitchFamily="18" charset="0"/>
              </a:rPr>
              <a:t>a process is running, a registers holds the starting address of the segment table for that process</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virtual address is broken down into segment number, page number and offset</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Using </a:t>
            </a:r>
            <a:r>
              <a:rPr lang="en-US" dirty="0">
                <a:latin typeface="Times New Roman" panose="02020603050405020304" pitchFamily="18" charset="0"/>
                <a:cs typeface="Times New Roman" panose="02020603050405020304" pitchFamily="18" charset="0"/>
              </a:rPr>
              <a:t>the segment number, and the segment table, we find the page table for that segment</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Then </a:t>
            </a:r>
            <a:r>
              <a:rPr lang="en-US" dirty="0">
                <a:latin typeface="Times New Roman" panose="02020603050405020304" pitchFamily="18" charset="0"/>
                <a:cs typeface="Times New Roman" panose="02020603050405020304" pitchFamily="18" charset="0"/>
              </a:rPr>
              <a:t>the page number portion of the virtual address is used to look up the corresponding frame number in the page table</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frame number combined with the offset forms the physical address </a:t>
            </a:r>
          </a:p>
          <a:p>
            <a:pP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359614701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96886"/>
            <a:ext cx="10515600" cy="576571"/>
          </a:xfrm>
        </p:spPr>
        <p:txBody>
          <a:bodyPr>
            <a:normAutofit/>
          </a:bodyPr>
          <a:lstStyle/>
          <a:p>
            <a:r>
              <a:rPr lang="en-US" sz="2800" b="1" dirty="0">
                <a:latin typeface="Times New Roman" panose="02020603050405020304" pitchFamily="18" charset="0"/>
                <a:cs typeface="Times New Roman" panose="02020603050405020304" pitchFamily="18" charset="0"/>
              </a:rPr>
              <a:t>Paged Segmentation</a:t>
            </a:r>
          </a:p>
        </p:txBody>
      </p:sp>
      <p:pic>
        <p:nvPicPr>
          <p:cNvPr id="4" name="Content Placeholder 3"/>
          <p:cNvPicPr>
            <a:picLocks noGrp="1" noChangeAspect="1"/>
          </p:cNvPicPr>
          <p:nvPr>
            <p:ph idx="1"/>
          </p:nvPr>
        </p:nvPicPr>
        <p:blipFill>
          <a:blip r:embed="rId2"/>
          <a:stretch>
            <a:fillRect/>
          </a:stretch>
        </p:blipFill>
        <p:spPr>
          <a:xfrm>
            <a:off x="1787858" y="1123400"/>
            <a:ext cx="8106770" cy="5363570"/>
          </a:xfrm>
          <a:prstGeom prst="rect">
            <a:avLst/>
          </a:prstGeom>
        </p:spPr>
      </p:pic>
    </p:spTree>
    <p:extLst>
      <p:ext uri="{BB962C8B-B14F-4D97-AF65-F5344CB8AC3E}">
        <p14:creationId xmlns="" xmlns:p14="http://schemas.microsoft.com/office/powerpoint/2010/main" val="333189734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Advanced Virtual Memory: Huge Pages &amp; Transparent Huge Pages (THP)</a:t>
            </a:r>
            <a:endParaRPr lang="en-US" dirty="0"/>
          </a:p>
        </p:txBody>
      </p:sp>
      <p:sp>
        <p:nvSpPr>
          <p:cNvPr id="3" name="Content Placeholder 2"/>
          <p:cNvSpPr>
            <a:spLocks noGrp="1"/>
          </p:cNvSpPr>
          <p:nvPr>
            <p:ph idx="1"/>
          </p:nvPr>
        </p:nvSpPr>
        <p:spPr/>
        <p:txBody>
          <a:bodyPr/>
          <a:lstStyle/>
          <a:p>
            <a:r>
              <a:rPr lang="en-US" b="1" dirty="0" smtClean="0"/>
              <a:t>What are Huge Pages?</a:t>
            </a:r>
          </a:p>
          <a:p>
            <a:r>
              <a:rPr lang="en-US" dirty="0" smtClean="0"/>
              <a:t>Normally, </a:t>
            </a:r>
            <a:r>
              <a:rPr lang="en-US" b="1" dirty="0" smtClean="0"/>
              <a:t>memory is divided into pages</a:t>
            </a:r>
            <a:r>
              <a:rPr lang="en-US" dirty="0" smtClean="0"/>
              <a:t>, usually </a:t>
            </a:r>
            <a:r>
              <a:rPr lang="en-US" b="1" dirty="0" smtClean="0"/>
              <a:t>4 KB</a:t>
            </a:r>
            <a:r>
              <a:rPr lang="en-US" dirty="0" smtClean="0"/>
              <a:t> in x86 systems.</a:t>
            </a:r>
          </a:p>
          <a:p>
            <a:r>
              <a:rPr lang="en-US" b="1" dirty="0" smtClean="0"/>
              <a:t>Huge pages</a:t>
            </a:r>
            <a:r>
              <a:rPr lang="en-US" dirty="0" smtClean="0"/>
              <a:t> are </a:t>
            </a:r>
            <a:r>
              <a:rPr lang="en-US" b="1" dirty="0" smtClean="0"/>
              <a:t>much larger pages</a:t>
            </a:r>
            <a:r>
              <a:rPr lang="en-US" dirty="0" smtClean="0"/>
              <a:t>, e.g., </a:t>
            </a:r>
            <a:r>
              <a:rPr lang="en-US" b="1" dirty="0" smtClean="0"/>
              <a:t>2 MB, 1 GB</a:t>
            </a:r>
            <a:r>
              <a:rPr lang="en-US" dirty="0" smtClean="0"/>
              <a:t>, used to reduce </a:t>
            </a:r>
            <a:r>
              <a:rPr lang="en-US" b="1" dirty="0" smtClean="0"/>
              <a:t>page table overhead</a:t>
            </a:r>
            <a:r>
              <a:rPr lang="en-US" dirty="0" smtClean="0"/>
              <a:t> and improve </a:t>
            </a:r>
            <a:r>
              <a:rPr lang="en-US" b="1" dirty="0" smtClean="0"/>
              <a:t>TLB efficiency</a:t>
            </a:r>
            <a:r>
              <a:rPr lang="en-US" dirty="0" smtClean="0"/>
              <a:t>.</a:t>
            </a:r>
            <a:endParaRPr lang="en-US"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Huge pages</a:t>
            </a:r>
            <a:endParaRPr lang="en-US" dirty="0"/>
          </a:p>
        </p:txBody>
      </p:sp>
      <p:sp>
        <p:nvSpPr>
          <p:cNvPr id="3" name="Content Placeholder 2"/>
          <p:cNvSpPr>
            <a:spLocks noGrp="1"/>
          </p:cNvSpPr>
          <p:nvPr>
            <p:ph idx="1"/>
          </p:nvPr>
        </p:nvSpPr>
        <p:spPr/>
        <p:txBody>
          <a:bodyPr>
            <a:normAutofit/>
          </a:bodyPr>
          <a:lstStyle/>
          <a:p>
            <a:r>
              <a:rPr lang="en-US" dirty="0" smtClean="0"/>
              <a:t>Why Huge pages</a:t>
            </a:r>
            <a:endParaRPr lang="en-US" b="1" dirty="0" smtClean="0"/>
          </a:p>
          <a:p>
            <a:r>
              <a:rPr lang="en-US" b="1" dirty="0" smtClean="0"/>
              <a:t>Reduce TLB misses</a:t>
            </a:r>
            <a:endParaRPr lang="en-US" dirty="0" smtClean="0"/>
          </a:p>
          <a:p>
            <a:pPr lvl="1"/>
            <a:r>
              <a:rPr lang="en-US" dirty="0" smtClean="0"/>
              <a:t>CPU uses TLB (Translation </a:t>
            </a:r>
            <a:r>
              <a:rPr lang="en-US" dirty="0" err="1" smtClean="0"/>
              <a:t>Lookaside</a:t>
            </a:r>
            <a:r>
              <a:rPr lang="en-US" dirty="0" smtClean="0"/>
              <a:t> Buffer) to cache page table entries.</a:t>
            </a:r>
          </a:p>
          <a:p>
            <a:pPr lvl="1"/>
            <a:r>
              <a:rPr lang="en-US" dirty="0" smtClean="0"/>
              <a:t>Larger pages → fewer entries → fewer TLB misses → faster memory access.</a:t>
            </a:r>
          </a:p>
          <a:p>
            <a:r>
              <a:rPr lang="en-US" b="1" dirty="0" smtClean="0"/>
              <a:t>Reduce page table memory usage</a:t>
            </a:r>
            <a:endParaRPr lang="en-US" dirty="0" smtClean="0"/>
          </a:p>
          <a:p>
            <a:pPr lvl="1"/>
            <a:r>
              <a:rPr lang="en-US" dirty="0" smtClean="0"/>
              <a:t>Page tables store mapping from virtual → physical addresses.</a:t>
            </a:r>
          </a:p>
          <a:p>
            <a:pPr lvl="1"/>
            <a:r>
              <a:rPr lang="en-US" dirty="0" smtClean="0"/>
              <a:t>Huge pages require fewer page table entries.</a:t>
            </a:r>
          </a:p>
          <a:p>
            <a:r>
              <a:rPr lang="en-US" b="1" dirty="0" smtClean="0"/>
              <a:t>Improve performance</a:t>
            </a:r>
            <a:endParaRPr lang="en-US" dirty="0" smtClean="0"/>
          </a:p>
          <a:p>
            <a:pPr lvl="1"/>
            <a:r>
              <a:rPr lang="en-US" dirty="0" smtClean="0"/>
              <a:t>Databases, HPC (High Performance Computing), virtualization, and large-memory applications benefit.</a:t>
            </a:r>
          </a:p>
          <a:p>
            <a:endParaRPr lang="en-US"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Huge pages</a:t>
            </a:r>
            <a:endParaRPr lang="en-US" dirty="0"/>
          </a:p>
        </p:txBody>
      </p:sp>
      <p:sp>
        <p:nvSpPr>
          <p:cNvPr id="3" name="Content Placeholder 2"/>
          <p:cNvSpPr>
            <a:spLocks noGrp="1"/>
          </p:cNvSpPr>
          <p:nvPr>
            <p:ph idx="1"/>
          </p:nvPr>
        </p:nvSpPr>
        <p:spPr/>
        <p:txBody>
          <a:bodyPr>
            <a:normAutofit/>
          </a:bodyPr>
          <a:lstStyle/>
          <a:p>
            <a:r>
              <a:rPr lang="en-US" dirty="0" smtClean="0"/>
              <a:t>Linux supports:</a:t>
            </a:r>
          </a:p>
          <a:p>
            <a:pPr lvl="1"/>
            <a:r>
              <a:rPr lang="en-US" b="1" dirty="0" smtClean="0"/>
              <a:t>4 KB</a:t>
            </a:r>
            <a:r>
              <a:rPr lang="en-US" dirty="0" smtClean="0"/>
              <a:t> → normal page</a:t>
            </a:r>
          </a:p>
          <a:p>
            <a:pPr lvl="1"/>
            <a:r>
              <a:rPr lang="en-US" b="1" dirty="0" smtClean="0"/>
              <a:t>2 MB</a:t>
            </a:r>
            <a:r>
              <a:rPr lang="en-US" dirty="0" smtClean="0"/>
              <a:t> → standard huge page</a:t>
            </a:r>
          </a:p>
          <a:p>
            <a:pPr lvl="1"/>
            <a:r>
              <a:rPr lang="en-US" b="1" dirty="0" smtClean="0"/>
              <a:t>1 GB</a:t>
            </a:r>
            <a:r>
              <a:rPr lang="en-US" dirty="0" smtClean="0"/>
              <a:t> → </a:t>
            </a:r>
            <a:r>
              <a:rPr lang="en-US" b="1" dirty="0" smtClean="0"/>
              <a:t>gigantic huge page</a:t>
            </a:r>
          </a:p>
          <a:p>
            <a:r>
              <a:rPr lang="en-US" b="1" dirty="0" smtClean="0"/>
              <a:t>Disadvantages</a:t>
            </a:r>
          </a:p>
          <a:p>
            <a:pPr lvl="1"/>
            <a:r>
              <a:rPr lang="en-US" dirty="0" smtClean="0"/>
              <a:t>Internal fragmentation (unused memory inside large pages)</a:t>
            </a:r>
          </a:p>
          <a:p>
            <a:pPr lvl="1"/>
            <a:r>
              <a:rPr lang="en-US" dirty="0" smtClean="0"/>
              <a:t>Less flexible memory allocation	</a:t>
            </a:r>
          </a:p>
          <a:p>
            <a:pPr lvl="1"/>
            <a:r>
              <a:rPr lang="en-US" dirty="0" smtClean="0"/>
              <a:t>Requires application or OS support</a:t>
            </a:r>
          </a:p>
          <a:p>
            <a:endParaRPr lang="en-US"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Mechanism of Huge Pages</a:t>
            </a:r>
            <a:endParaRPr lang="en-US" dirty="0"/>
          </a:p>
        </p:txBody>
      </p:sp>
      <p:sp>
        <p:nvSpPr>
          <p:cNvPr id="3" name="Content Placeholder 2"/>
          <p:cNvSpPr>
            <a:spLocks noGrp="1"/>
          </p:cNvSpPr>
          <p:nvPr>
            <p:ph idx="1"/>
          </p:nvPr>
        </p:nvSpPr>
        <p:spPr/>
        <p:txBody>
          <a:bodyPr>
            <a:normAutofit fontScale="92500" lnSpcReduction="20000"/>
          </a:bodyPr>
          <a:lstStyle/>
          <a:p>
            <a:r>
              <a:rPr lang="en-US" b="1" dirty="0" smtClean="0"/>
              <a:t>Paging Basics Recap</a:t>
            </a:r>
          </a:p>
          <a:p>
            <a:pPr lvl="1"/>
            <a:r>
              <a:rPr lang="en-US" dirty="0" smtClean="0"/>
              <a:t>Logical memory is divided into </a:t>
            </a:r>
            <a:r>
              <a:rPr lang="en-US" b="1" dirty="0" smtClean="0"/>
              <a:t>pages</a:t>
            </a:r>
            <a:endParaRPr lang="en-US" dirty="0" smtClean="0"/>
          </a:p>
          <a:p>
            <a:pPr lvl="1"/>
            <a:r>
              <a:rPr lang="en-US" dirty="0" smtClean="0"/>
              <a:t>Physical memory is divided into </a:t>
            </a:r>
            <a:r>
              <a:rPr lang="en-US" b="1" dirty="0" smtClean="0"/>
              <a:t>frames</a:t>
            </a:r>
            <a:endParaRPr lang="en-US" dirty="0" smtClean="0"/>
          </a:p>
          <a:p>
            <a:pPr lvl="1"/>
            <a:r>
              <a:rPr lang="en-US" dirty="0" smtClean="0"/>
              <a:t>Page table maps </a:t>
            </a:r>
            <a:r>
              <a:rPr lang="en-US" b="1" dirty="0" smtClean="0"/>
              <a:t>virtual page number → physical frame number</a:t>
            </a:r>
            <a:endParaRPr lang="en-US" dirty="0" smtClean="0"/>
          </a:p>
          <a:p>
            <a:pPr lvl="1"/>
            <a:r>
              <a:rPr lang="en-US" dirty="0" smtClean="0"/>
              <a:t>Normal page = 4 KB → many page table entries</a:t>
            </a:r>
          </a:p>
          <a:p>
            <a:r>
              <a:rPr lang="en-US" b="1" dirty="0" smtClean="0"/>
              <a:t>Using Huge Pages</a:t>
            </a:r>
          </a:p>
          <a:p>
            <a:pPr lvl="1"/>
            <a:r>
              <a:rPr lang="en-US" dirty="0" smtClean="0"/>
              <a:t>Instead of normal 4 KB pages, </a:t>
            </a:r>
            <a:r>
              <a:rPr lang="en-US" b="1" dirty="0" smtClean="0"/>
              <a:t>huge pages map larger memory blocks</a:t>
            </a:r>
            <a:endParaRPr lang="en-US" dirty="0" smtClean="0"/>
          </a:p>
          <a:p>
            <a:pPr lvl="1"/>
            <a:r>
              <a:rPr lang="en-US" dirty="0" smtClean="0"/>
              <a:t>1 huge page can replace hundreds or thousands of normal pages.</a:t>
            </a:r>
          </a:p>
          <a:p>
            <a:pPr lvl="1"/>
            <a:r>
              <a:rPr lang="en-US" dirty="0" smtClean="0"/>
              <a:t>Page table now has fewer entries → less overhead.</a:t>
            </a:r>
          </a:p>
          <a:p>
            <a:r>
              <a:rPr lang="en-US" b="1" dirty="0" smtClean="0"/>
              <a:t>Example</a:t>
            </a:r>
          </a:p>
          <a:p>
            <a:pPr lvl="1"/>
            <a:r>
              <a:rPr lang="en-US" dirty="0" smtClean="0"/>
              <a:t>Process requires 512 MB memory:</a:t>
            </a:r>
          </a:p>
          <a:p>
            <a:pPr lvl="2"/>
            <a:r>
              <a:rPr lang="en-US" dirty="0" smtClean="0"/>
              <a:t>Using 4 KB pages → 131,072 page table entries</a:t>
            </a:r>
          </a:p>
          <a:p>
            <a:pPr lvl="2"/>
            <a:r>
              <a:rPr lang="en-US" dirty="0" smtClean="0"/>
              <a:t>Using 2 MB huge pages → 256 entries only</a:t>
            </a:r>
          </a:p>
          <a:p>
            <a:endParaRPr lang="en-US"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Types of Huge Pages in Linux</a:t>
            </a:r>
            <a:br>
              <a:rPr lang="en-US" b="1" dirty="0" smtClean="0"/>
            </a:br>
            <a:endParaRPr lang="en-US" dirty="0"/>
          </a:p>
        </p:txBody>
      </p:sp>
      <p:sp>
        <p:nvSpPr>
          <p:cNvPr id="3" name="Content Placeholder 2"/>
          <p:cNvSpPr>
            <a:spLocks noGrp="1"/>
          </p:cNvSpPr>
          <p:nvPr>
            <p:ph idx="1"/>
          </p:nvPr>
        </p:nvSpPr>
        <p:spPr/>
        <p:txBody>
          <a:bodyPr>
            <a:normAutofit/>
          </a:bodyPr>
          <a:lstStyle/>
          <a:p>
            <a:r>
              <a:rPr lang="en-US" b="1" dirty="0" smtClean="0"/>
              <a:t>Explicit Huge Pages</a:t>
            </a:r>
            <a:endParaRPr lang="en-US" dirty="0" smtClean="0"/>
          </a:p>
          <a:p>
            <a:pPr lvl="1"/>
            <a:r>
              <a:rPr lang="en-US" dirty="0" smtClean="0"/>
              <a:t>Pre-allocated by OS for specific applications.</a:t>
            </a:r>
          </a:p>
          <a:p>
            <a:pPr lvl="1"/>
            <a:r>
              <a:rPr lang="en-US" dirty="0" smtClean="0"/>
              <a:t>Applications request via </a:t>
            </a:r>
            <a:r>
              <a:rPr lang="en-US" dirty="0" err="1" smtClean="0"/>
              <a:t>mmap</a:t>
            </a:r>
            <a:r>
              <a:rPr lang="en-US" dirty="0" smtClean="0"/>
              <a:t> or </a:t>
            </a:r>
            <a:r>
              <a:rPr lang="en-US" dirty="0" err="1" smtClean="0"/>
              <a:t>shmget</a:t>
            </a:r>
            <a:r>
              <a:rPr lang="en-US" dirty="0" smtClean="0"/>
              <a:t>.</a:t>
            </a:r>
          </a:p>
          <a:p>
            <a:r>
              <a:rPr lang="en-US" b="1" dirty="0" smtClean="0"/>
              <a:t>Transparent Huge Pages (THP)</a:t>
            </a:r>
            <a:endParaRPr lang="en-US" dirty="0" smtClean="0"/>
          </a:p>
          <a:p>
            <a:pPr lvl="1"/>
            <a:r>
              <a:rPr lang="en-US" dirty="0" smtClean="0"/>
              <a:t>OS automatically converts normal pages to huge pages </a:t>
            </a:r>
            <a:r>
              <a:rPr lang="en-US" b="1" dirty="0" smtClean="0"/>
              <a:t>without application changes</a:t>
            </a:r>
            <a:r>
              <a:rPr lang="en-US" dirty="0" smtClean="0"/>
              <a:t>.</a:t>
            </a:r>
          </a:p>
          <a:p>
            <a:pPr lvl="1"/>
            <a:r>
              <a:rPr lang="en-US" dirty="0" smtClean="0"/>
              <a:t>Modes:</a:t>
            </a:r>
          </a:p>
          <a:p>
            <a:pPr lvl="2"/>
            <a:r>
              <a:rPr lang="en-US" b="1" dirty="0" smtClean="0"/>
              <a:t>always</a:t>
            </a:r>
            <a:r>
              <a:rPr lang="en-US" dirty="0" smtClean="0"/>
              <a:t> → always try to use huge pages</a:t>
            </a:r>
          </a:p>
          <a:p>
            <a:pPr lvl="2"/>
            <a:r>
              <a:rPr lang="en-US" b="1" dirty="0" err="1" smtClean="0"/>
              <a:t>madvise</a:t>
            </a:r>
            <a:r>
              <a:rPr lang="en-US" dirty="0" smtClean="0"/>
              <a:t> → only when app requests via </a:t>
            </a:r>
            <a:r>
              <a:rPr lang="en-US" dirty="0" err="1" smtClean="0"/>
              <a:t>madvise</a:t>
            </a:r>
            <a:r>
              <a:rPr lang="en-US" dirty="0" smtClean="0"/>
              <a:t>()</a:t>
            </a:r>
          </a:p>
          <a:p>
            <a:pPr lvl="2"/>
            <a:r>
              <a:rPr lang="en-US" b="1" dirty="0" smtClean="0"/>
              <a:t>never</a:t>
            </a:r>
            <a:r>
              <a:rPr lang="en-US" dirty="0" smtClean="0"/>
              <a:t> → disabled</a:t>
            </a:r>
          </a:p>
          <a:p>
            <a:endParaRPr lang="en-US"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How Paging Works with Huge Pages</a:t>
            </a:r>
            <a:br>
              <a:rPr lang="en-US" b="1" dirty="0" smtClean="0"/>
            </a:br>
            <a:endParaRPr lang="en-US" dirty="0"/>
          </a:p>
        </p:txBody>
      </p:sp>
      <p:sp>
        <p:nvSpPr>
          <p:cNvPr id="3" name="Content Placeholder 2"/>
          <p:cNvSpPr>
            <a:spLocks noGrp="1"/>
          </p:cNvSpPr>
          <p:nvPr>
            <p:ph idx="1"/>
          </p:nvPr>
        </p:nvSpPr>
        <p:spPr/>
        <p:txBody>
          <a:bodyPr/>
          <a:lstStyle/>
          <a:p>
            <a:r>
              <a:rPr lang="en-US" b="1" dirty="0" smtClean="0"/>
              <a:t>Virtual Address Breakdown</a:t>
            </a:r>
            <a:endParaRPr lang="en-US" dirty="0" smtClean="0"/>
          </a:p>
          <a:p>
            <a:r>
              <a:rPr lang="en-US" dirty="0" smtClean="0"/>
              <a:t>Normally: Virtual Address = Page Number + Offset</a:t>
            </a:r>
          </a:p>
          <a:p>
            <a:r>
              <a:rPr lang="en-US" dirty="0" smtClean="0"/>
              <a:t>Huge page: Virtual Address = Huge Page Number + Offset (offset now larger)</a:t>
            </a:r>
          </a:p>
          <a:p>
            <a:r>
              <a:rPr lang="en-US" b="1" dirty="0" smtClean="0"/>
              <a:t>Page Table Levels</a:t>
            </a:r>
            <a:endParaRPr lang="en-US" dirty="0" smtClean="0"/>
          </a:p>
          <a:p>
            <a:pPr lvl="1"/>
            <a:r>
              <a:rPr lang="en-US" dirty="0" smtClean="0"/>
              <a:t>Multi-level page tables map huge pages:</a:t>
            </a:r>
          </a:p>
          <a:p>
            <a:pPr lvl="2"/>
            <a:r>
              <a:rPr lang="en-US" dirty="0" smtClean="0"/>
              <a:t>For 2 MB pages → skip one level of page table</a:t>
            </a:r>
          </a:p>
          <a:p>
            <a:pPr lvl="2"/>
            <a:r>
              <a:rPr lang="en-US" dirty="0" smtClean="0"/>
              <a:t>For 1 GB pages → skip two levels</a:t>
            </a:r>
          </a:p>
          <a:p>
            <a:r>
              <a:rPr lang="en-US" dirty="0" smtClean="0"/>
              <a:t>Reduces </a:t>
            </a:r>
            <a:r>
              <a:rPr lang="en-US" b="1" dirty="0" smtClean="0"/>
              <a:t>number of memory accesses for address translation</a:t>
            </a:r>
            <a:endParaRPr lang="en-US" dirty="0" smtClean="0"/>
          </a:p>
          <a:p>
            <a:endParaRPr lang="en-US"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how TLB hit increases</a:t>
            </a:r>
            <a:endParaRPr lang="en-US" dirty="0"/>
          </a:p>
        </p:txBody>
      </p:sp>
      <p:sp>
        <p:nvSpPr>
          <p:cNvPr id="3" name="Content Placeholder 2"/>
          <p:cNvSpPr>
            <a:spLocks noGrp="1"/>
          </p:cNvSpPr>
          <p:nvPr>
            <p:ph idx="1"/>
          </p:nvPr>
        </p:nvSpPr>
        <p:spPr/>
        <p:txBody>
          <a:bodyPr/>
          <a:lstStyle/>
          <a:p>
            <a:r>
              <a:rPr lang="en-US" dirty="0" smtClean="0"/>
              <a:t>Page size = 4 KB</a:t>
            </a:r>
          </a:p>
          <a:p>
            <a:r>
              <a:rPr lang="en-US" dirty="0" smtClean="0"/>
              <a:t>Huge page size = 2 MB = 512 × 4 KB</a:t>
            </a:r>
          </a:p>
          <a:p>
            <a:r>
              <a:rPr lang="en-US" dirty="0" smtClean="0"/>
              <a:t>Process requests 2 MB memory:</a:t>
            </a:r>
          </a:p>
          <a:p>
            <a:pPr lvl="1"/>
            <a:r>
              <a:rPr lang="en-US" dirty="0" smtClean="0"/>
              <a:t>Normal pages → 512 page table entries</a:t>
            </a:r>
          </a:p>
          <a:p>
            <a:pPr lvl="1"/>
            <a:r>
              <a:rPr lang="en-US" dirty="0" smtClean="0"/>
              <a:t>Huge page → 1 page table entry</a:t>
            </a:r>
          </a:p>
          <a:p>
            <a:r>
              <a:rPr lang="en-US" b="1" dirty="0" smtClean="0"/>
              <a:t>TLB hit improvement:</a:t>
            </a:r>
            <a:r>
              <a:rPr lang="en-US" dirty="0" smtClean="0"/>
              <a:t> 512 → 1 entry</a:t>
            </a:r>
          </a:p>
          <a:p>
            <a:endParaRPr lang="en-US"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Transparent Huge Pages (THP)</a:t>
            </a:r>
            <a:endParaRPr lang="en-US" dirty="0"/>
          </a:p>
        </p:txBody>
      </p:sp>
      <p:sp>
        <p:nvSpPr>
          <p:cNvPr id="3" name="Content Placeholder 2"/>
          <p:cNvSpPr>
            <a:spLocks noGrp="1"/>
          </p:cNvSpPr>
          <p:nvPr>
            <p:ph idx="1"/>
          </p:nvPr>
        </p:nvSpPr>
        <p:spPr/>
        <p:txBody>
          <a:bodyPr>
            <a:normAutofit/>
          </a:bodyPr>
          <a:lstStyle/>
          <a:p>
            <a:r>
              <a:rPr lang="en-US" dirty="0" smtClean="0"/>
              <a:t>THP is an </a:t>
            </a:r>
            <a:r>
              <a:rPr lang="en-US" b="1" dirty="0" smtClean="0"/>
              <a:t>OS feature</a:t>
            </a:r>
            <a:r>
              <a:rPr lang="en-US" dirty="0" smtClean="0"/>
              <a:t> that automatically uses huge pages </a:t>
            </a:r>
            <a:r>
              <a:rPr lang="en-US" b="1" dirty="0" smtClean="0"/>
              <a:t>without application modification</a:t>
            </a:r>
            <a:r>
              <a:rPr lang="en-US" dirty="0" smtClean="0"/>
              <a:t>.</a:t>
            </a:r>
          </a:p>
          <a:p>
            <a:r>
              <a:rPr lang="en-US" b="1" dirty="0" smtClean="0"/>
              <a:t>Key Features</a:t>
            </a:r>
          </a:p>
          <a:p>
            <a:pPr lvl="1"/>
            <a:r>
              <a:rPr lang="en-US" dirty="0" smtClean="0"/>
              <a:t>Automatic promotion of small pages to huge pages	</a:t>
            </a:r>
          </a:p>
          <a:p>
            <a:pPr lvl="1"/>
            <a:r>
              <a:rPr lang="en-US" dirty="0" smtClean="0"/>
              <a:t>OS decides when to use huge pages</a:t>
            </a:r>
          </a:p>
          <a:p>
            <a:pPr lvl="1"/>
            <a:r>
              <a:rPr lang="en-US" dirty="0" smtClean="0"/>
              <a:t>Available in Linux (enabled by default in many </a:t>
            </a:r>
            <a:r>
              <a:rPr lang="en-US" dirty="0" err="1" smtClean="0"/>
              <a:t>distros</a:t>
            </a:r>
            <a:r>
              <a:rPr lang="en-US" dirty="0" smtClean="0"/>
              <a:t>)</a:t>
            </a:r>
          </a:p>
          <a:p>
            <a:r>
              <a:rPr lang="en-US" b="1" dirty="0" smtClean="0"/>
              <a:t>Modes</a:t>
            </a:r>
          </a:p>
          <a:p>
            <a:pPr lvl="1"/>
            <a:r>
              <a:rPr lang="en-US" b="1" dirty="0" smtClean="0"/>
              <a:t>Always</a:t>
            </a:r>
            <a:r>
              <a:rPr lang="en-US" dirty="0" smtClean="0"/>
              <a:t>: Always try to use huge pages</a:t>
            </a:r>
          </a:p>
          <a:p>
            <a:pPr lvl="1"/>
            <a:r>
              <a:rPr lang="en-US" b="1" dirty="0" err="1" smtClean="0"/>
              <a:t>Madvise</a:t>
            </a:r>
            <a:r>
              <a:rPr lang="en-US" dirty="0" smtClean="0"/>
              <a:t>: Only if application requests</a:t>
            </a:r>
          </a:p>
          <a:p>
            <a:pPr lvl="1"/>
            <a:r>
              <a:rPr lang="en-US" b="1" dirty="0" smtClean="0"/>
              <a:t>Never</a:t>
            </a:r>
            <a:r>
              <a:rPr lang="en-US" dirty="0" smtClean="0"/>
              <a:t>: Disabled</a:t>
            </a:r>
          </a:p>
          <a:p>
            <a:endParaRPr lang="en-US"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Linux Commands</a:t>
            </a:r>
            <a:endParaRPr lang="en-US" dirty="0"/>
          </a:p>
        </p:txBody>
      </p:sp>
      <p:sp>
        <p:nvSpPr>
          <p:cNvPr id="3" name="Content Placeholder 2"/>
          <p:cNvSpPr>
            <a:spLocks noGrp="1"/>
          </p:cNvSpPr>
          <p:nvPr>
            <p:ph idx="1"/>
          </p:nvPr>
        </p:nvSpPr>
        <p:spPr/>
        <p:txBody>
          <a:bodyPr>
            <a:normAutofit fontScale="77500" lnSpcReduction="20000"/>
          </a:bodyPr>
          <a:lstStyle/>
          <a:p>
            <a:r>
              <a:rPr lang="en-US" b="1" dirty="0" smtClean="0"/>
              <a:t>Check Current THP Mode</a:t>
            </a:r>
          </a:p>
          <a:p>
            <a:pPr lvl="1"/>
            <a:r>
              <a:rPr lang="en-US" dirty="0" smtClean="0"/>
              <a:t>cat /sys/kernel/mm/</a:t>
            </a:r>
            <a:r>
              <a:rPr lang="en-US" dirty="0" err="1" smtClean="0"/>
              <a:t>transparent_hugepage</a:t>
            </a:r>
            <a:r>
              <a:rPr lang="en-US" dirty="0" smtClean="0"/>
              <a:t>/enabled </a:t>
            </a:r>
          </a:p>
          <a:p>
            <a:r>
              <a:rPr lang="en-US" b="1" dirty="0" smtClean="0"/>
              <a:t>Output Example:</a:t>
            </a:r>
          </a:p>
          <a:p>
            <a:pPr lvl="1"/>
            <a:r>
              <a:rPr lang="en-US" dirty="0" smtClean="0"/>
              <a:t>always </a:t>
            </a:r>
            <a:r>
              <a:rPr lang="en-US" dirty="0" err="1" smtClean="0"/>
              <a:t>madvise</a:t>
            </a:r>
            <a:r>
              <a:rPr lang="en-US" dirty="0" smtClean="0"/>
              <a:t> [never] </a:t>
            </a:r>
          </a:p>
          <a:p>
            <a:pPr lvl="1"/>
            <a:r>
              <a:rPr lang="en-US" dirty="0" smtClean="0"/>
              <a:t>The value in </a:t>
            </a:r>
            <a:r>
              <a:rPr lang="en-US" b="1" dirty="0" smtClean="0"/>
              <a:t>[brackets]</a:t>
            </a:r>
            <a:r>
              <a:rPr lang="en-US" dirty="0" smtClean="0"/>
              <a:t> is the </a:t>
            </a:r>
            <a:r>
              <a:rPr lang="en-US" b="1" dirty="0" smtClean="0"/>
              <a:t>currently active mode</a:t>
            </a:r>
            <a:r>
              <a:rPr lang="en-US" dirty="0" smtClean="0"/>
              <a:t/>
            </a:r>
            <a:br>
              <a:rPr lang="en-US" dirty="0" smtClean="0"/>
            </a:br>
            <a:r>
              <a:rPr lang="en-US" dirty="0" smtClean="0"/>
              <a:t>In this example: </a:t>
            </a:r>
            <a:r>
              <a:rPr lang="en-US" b="1" dirty="0" smtClean="0"/>
              <a:t>never</a:t>
            </a:r>
            <a:endParaRPr lang="en-US" dirty="0" smtClean="0"/>
          </a:p>
          <a:p>
            <a:r>
              <a:rPr lang="en-US" b="1" dirty="0" smtClean="0"/>
              <a:t>Temporarily Change THP Mode (Runtime Only)</a:t>
            </a:r>
          </a:p>
          <a:p>
            <a:pPr lvl="1"/>
            <a:r>
              <a:rPr lang="en-US" dirty="0" smtClean="0"/>
              <a:t> Change lasts until </a:t>
            </a:r>
            <a:r>
              <a:rPr lang="en-US" b="1" dirty="0" smtClean="0"/>
              <a:t>reboot</a:t>
            </a:r>
            <a:endParaRPr lang="en-US" dirty="0" smtClean="0"/>
          </a:p>
          <a:p>
            <a:r>
              <a:rPr lang="en-US" b="1" dirty="0" smtClean="0"/>
              <a:t>Enable Always Mode</a:t>
            </a:r>
          </a:p>
          <a:p>
            <a:pPr lvl="1"/>
            <a:r>
              <a:rPr lang="en-US" dirty="0" smtClean="0"/>
              <a:t>echo always | </a:t>
            </a:r>
            <a:r>
              <a:rPr lang="en-US" dirty="0" err="1" smtClean="0"/>
              <a:t>sudo</a:t>
            </a:r>
            <a:r>
              <a:rPr lang="en-US" dirty="0" smtClean="0"/>
              <a:t> tee /sys/kernel/mm/</a:t>
            </a:r>
            <a:r>
              <a:rPr lang="en-US" dirty="0" err="1" smtClean="0"/>
              <a:t>transparent_hugepage</a:t>
            </a:r>
            <a:r>
              <a:rPr lang="en-US" dirty="0" smtClean="0"/>
              <a:t>/enabled </a:t>
            </a:r>
          </a:p>
          <a:p>
            <a:r>
              <a:rPr lang="en-US" b="1" dirty="0" smtClean="0"/>
              <a:t>Enable </a:t>
            </a:r>
            <a:r>
              <a:rPr lang="en-US" b="1" dirty="0" err="1" smtClean="0"/>
              <a:t>Madvise</a:t>
            </a:r>
            <a:r>
              <a:rPr lang="en-US" b="1" dirty="0" smtClean="0"/>
              <a:t> Mode</a:t>
            </a:r>
          </a:p>
          <a:p>
            <a:pPr lvl="1"/>
            <a:r>
              <a:rPr lang="en-US" dirty="0" smtClean="0"/>
              <a:t>echo </a:t>
            </a:r>
            <a:r>
              <a:rPr lang="en-US" dirty="0" err="1" smtClean="0"/>
              <a:t>madvise</a:t>
            </a:r>
            <a:r>
              <a:rPr lang="en-US" dirty="0" smtClean="0"/>
              <a:t> | </a:t>
            </a:r>
            <a:r>
              <a:rPr lang="en-US" dirty="0" err="1" smtClean="0"/>
              <a:t>sudo</a:t>
            </a:r>
            <a:r>
              <a:rPr lang="en-US" dirty="0" smtClean="0"/>
              <a:t> tee /sys/kernel/mm/</a:t>
            </a:r>
            <a:r>
              <a:rPr lang="en-US" dirty="0" err="1" smtClean="0"/>
              <a:t>transparent_hugepage</a:t>
            </a:r>
            <a:r>
              <a:rPr lang="en-US" dirty="0" smtClean="0"/>
              <a:t>/enabled </a:t>
            </a:r>
          </a:p>
          <a:p>
            <a:r>
              <a:rPr lang="en-US" b="1" dirty="0" smtClean="0"/>
              <a:t>Disable THP (Never Mode)</a:t>
            </a:r>
          </a:p>
          <a:p>
            <a:pPr lvl="1"/>
            <a:r>
              <a:rPr lang="en-US" dirty="0" smtClean="0"/>
              <a:t>echo never | </a:t>
            </a:r>
            <a:r>
              <a:rPr lang="en-US" dirty="0" err="1" smtClean="0"/>
              <a:t>sudo</a:t>
            </a:r>
            <a:r>
              <a:rPr lang="en-US" dirty="0" smtClean="0"/>
              <a:t> tee /sys/kernel/mm/</a:t>
            </a:r>
            <a:r>
              <a:rPr lang="en-US" dirty="0" err="1" smtClean="0"/>
              <a:t>transparent_hugepage</a:t>
            </a:r>
            <a:r>
              <a:rPr lang="en-US" dirty="0" smtClean="0"/>
              <a:t>/enabled</a:t>
            </a:r>
          </a:p>
          <a:p>
            <a:endParaRPr lang="en-US"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Transparent Huge Pages (THP)</a:t>
            </a:r>
            <a:endParaRPr lang="en-US" dirty="0"/>
          </a:p>
        </p:txBody>
      </p:sp>
      <p:sp>
        <p:nvSpPr>
          <p:cNvPr id="3" name="Content Placeholder 2"/>
          <p:cNvSpPr>
            <a:spLocks noGrp="1"/>
          </p:cNvSpPr>
          <p:nvPr>
            <p:ph idx="1"/>
          </p:nvPr>
        </p:nvSpPr>
        <p:spPr/>
        <p:txBody>
          <a:bodyPr/>
          <a:lstStyle/>
          <a:p>
            <a:r>
              <a:rPr lang="en-US" b="1" dirty="0" smtClean="0"/>
              <a:t>Advantages</a:t>
            </a:r>
          </a:p>
          <a:p>
            <a:pPr lvl="1"/>
            <a:r>
              <a:rPr lang="en-US" dirty="0" smtClean="0"/>
              <a:t>Improved performance without developer effort</a:t>
            </a:r>
          </a:p>
          <a:p>
            <a:pPr lvl="1"/>
            <a:r>
              <a:rPr lang="en-US" dirty="0" smtClean="0"/>
              <a:t>Better TLB efficiency</a:t>
            </a:r>
          </a:p>
          <a:p>
            <a:r>
              <a:rPr lang="en-US" b="1" dirty="0" smtClean="0"/>
              <a:t>Problems</a:t>
            </a:r>
          </a:p>
          <a:p>
            <a:pPr lvl="1"/>
            <a:r>
              <a:rPr lang="en-US" dirty="0" smtClean="0"/>
              <a:t>Memory latency spikes during page promotion</a:t>
            </a:r>
          </a:p>
          <a:p>
            <a:pPr lvl="1"/>
            <a:r>
              <a:rPr lang="en-US" dirty="0" smtClean="0"/>
              <a:t>Not ideal for real-time systems</a:t>
            </a:r>
          </a:p>
          <a:p>
            <a:pPr lvl="1"/>
            <a:r>
              <a:rPr lang="en-US" dirty="0" smtClean="0"/>
              <a:t>Can cause unpredictable performance</a:t>
            </a:r>
          </a:p>
          <a:p>
            <a:endParaRPr lang="en-US"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t>Clock-Pro Algorithm</a:t>
            </a:r>
          </a:p>
        </p:txBody>
      </p:sp>
      <p:sp>
        <p:nvSpPr>
          <p:cNvPr id="3" name="Content Placeholder 2"/>
          <p:cNvSpPr>
            <a:spLocks noGrp="1"/>
          </p:cNvSpPr>
          <p:nvPr>
            <p:ph idx="1"/>
          </p:nvPr>
        </p:nvSpPr>
        <p:spPr/>
        <p:txBody>
          <a:bodyPr/>
          <a:lstStyle/>
          <a:p>
            <a:r>
              <a:t>Advanced CLOCK variant approximating LRU</a:t>
            </a:r>
          </a:p>
          <a:p>
            <a:r>
              <a:t>Separates pages into Hot, Cold, and Test</a:t>
            </a:r>
          </a:p>
          <a:p>
            <a:r>
              <a:t>Uses three clock hands to track page status</a:t>
            </a:r>
          </a:p>
          <a:p>
            <a:endParaRPr/>
          </a:p>
          <a:p>
            <a:r>
              <a:t>Numerical Example:</a:t>
            </a:r>
          </a:p>
          <a:p>
            <a:r>
              <a:t>Frames = 3, Pages = A B C D A B</a:t>
            </a:r>
          </a:p>
          <a:p>
            <a:r>
              <a:t>Cold pages evicted first, repeated access promotes to Hot</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t>Clock-Pro – Example Explained</a:t>
            </a:r>
          </a:p>
        </p:txBody>
      </p:sp>
      <p:sp>
        <p:nvSpPr>
          <p:cNvPr id="3" name="Content Placeholder 2"/>
          <p:cNvSpPr>
            <a:spLocks noGrp="1"/>
          </p:cNvSpPr>
          <p:nvPr>
            <p:ph idx="1"/>
          </p:nvPr>
        </p:nvSpPr>
        <p:spPr/>
        <p:txBody>
          <a:bodyPr>
            <a:normAutofit fontScale="92500" lnSpcReduction="10000"/>
          </a:bodyPr>
          <a:lstStyle/>
          <a:p>
            <a:r>
              <a:t>Reference: A B C D A</a:t>
            </a:r>
          </a:p>
          <a:p>
            <a:r>
              <a:t>Initial: A B C (Cold)</a:t>
            </a:r>
          </a:p>
          <a:p>
            <a:r>
              <a:t>D arrives → evict A (Cold)</a:t>
            </a:r>
          </a:p>
          <a:p>
            <a:r>
              <a:t>A accessed again → promoted </a:t>
            </a:r>
            <a:r>
              <a:rPr/>
              <a:t>to </a:t>
            </a:r>
            <a:r>
              <a:rPr smtClean="0"/>
              <a:t>Hot</a:t>
            </a:r>
            <a:endParaRPr/>
          </a:p>
          <a:p>
            <a:r>
              <a:t>Shows adaptation to </a:t>
            </a:r>
            <a:r>
              <a:rPr/>
              <a:t>recurring </a:t>
            </a:r>
            <a:r>
              <a:rPr smtClean="0"/>
              <a:t>access</a:t>
            </a:r>
            <a:endParaRPr lang="en-US" dirty="0" smtClean="0"/>
          </a:p>
          <a:p>
            <a:r>
              <a:rPr lang="en-US" b="1" dirty="0" smtClean="0"/>
              <a:t>Rules</a:t>
            </a:r>
            <a:endParaRPr lang="en-US" dirty="0" smtClean="0"/>
          </a:p>
          <a:p>
            <a:pPr lvl="1"/>
            <a:r>
              <a:rPr lang="en-US" dirty="0" smtClean="0"/>
              <a:t>New page → </a:t>
            </a:r>
            <a:r>
              <a:rPr lang="en-US" b="1" dirty="0" smtClean="0"/>
              <a:t>Cold</a:t>
            </a:r>
            <a:endParaRPr lang="en-US" dirty="0" smtClean="0"/>
          </a:p>
          <a:p>
            <a:pPr lvl="1"/>
            <a:r>
              <a:rPr lang="en-US" dirty="0" smtClean="0"/>
              <a:t>Cold page reused → </a:t>
            </a:r>
            <a:r>
              <a:rPr lang="en-US" b="1" dirty="0" smtClean="0"/>
              <a:t>Hot</a:t>
            </a:r>
            <a:endParaRPr lang="en-US" dirty="0" smtClean="0"/>
          </a:p>
          <a:p>
            <a:pPr lvl="1"/>
            <a:r>
              <a:rPr lang="en-US" dirty="0" smtClean="0"/>
              <a:t>Cold page evicted → </a:t>
            </a:r>
            <a:r>
              <a:rPr lang="en-US" b="1" dirty="0" smtClean="0"/>
              <a:t>Test</a:t>
            </a:r>
            <a:endParaRPr lang="en-US" dirty="0" smtClean="0"/>
          </a:p>
          <a:p>
            <a:pPr lvl="1"/>
            <a:r>
              <a:rPr lang="en-US" dirty="0" smtClean="0"/>
              <a:t>Test page reused → </a:t>
            </a:r>
            <a:r>
              <a:rPr lang="en-US" b="1" dirty="0" smtClean="0"/>
              <a:t>Hot</a:t>
            </a:r>
            <a:endParaRPr lang="en-US" dirty="0" smtClean="0"/>
          </a:p>
          <a:p>
            <a:pPr lvl="1"/>
            <a:r>
              <a:rPr lang="en-US" dirty="0" smtClean="0"/>
              <a:t>Cold pages are evicted before Hot pages</a:t>
            </a:r>
          </a:p>
          <a:p>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Clock-Pro Solution</a:t>
            </a:r>
            <a:endParaRPr lang="en-US" dirty="0"/>
          </a:p>
        </p:txBody>
      </p:sp>
      <p:sp>
        <p:nvSpPr>
          <p:cNvPr id="3" name="Content Placeholder 2"/>
          <p:cNvSpPr>
            <a:spLocks noGrp="1"/>
          </p:cNvSpPr>
          <p:nvPr>
            <p:ph idx="1"/>
          </p:nvPr>
        </p:nvSpPr>
        <p:spPr>
          <a:xfrm>
            <a:off x="838200" y="1825624"/>
            <a:ext cx="10515600" cy="4673788"/>
          </a:xfrm>
        </p:spPr>
        <p:txBody>
          <a:bodyPr numCol="2">
            <a:normAutofit fontScale="55000" lnSpcReduction="20000"/>
          </a:bodyPr>
          <a:lstStyle/>
          <a:p>
            <a:r>
              <a:rPr lang="en-US" dirty="0" smtClean="0"/>
              <a:t>1) A → Page fault</a:t>
            </a:r>
          </a:p>
          <a:p>
            <a:r>
              <a:rPr lang="en-US" dirty="0" smtClean="0"/>
              <a:t>   Frames: A(C)</a:t>
            </a:r>
          </a:p>
          <a:p>
            <a:r>
              <a:rPr lang="en-US" dirty="0" smtClean="0"/>
              <a:t>   Test: —</a:t>
            </a:r>
          </a:p>
          <a:p>
            <a:endParaRPr lang="en-US" dirty="0" smtClean="0"/>
          </a:p>
          <a:p>
            <a:r>
              <a:rPr lang="en-US" dirty="0" smtClean="0"/>
              <a:t>2) B → Page fault</a:t>
            </a:r>
          </a:p>
          <a:p>
            <a:r>
              <a:rPr lang="en-US" dirty="0" smtClean="0"/>
              <a:t>   Frames: A(C)  B(C)</a:t>
            </a:r>
          </a:p>
          <a:p>
            <a:r>
              <a:rPr lang="en-US" dirty="0" smtClean="0"/>
              <a:t>   Test: —</a:t>
            </a:r>
          </a:p>
          <a:p>
            <a:endParaRPr lang="en-US" dirty="0" smtClean="0"/>
          </a:p>
          <a:p>
            <a:r>
              <a:rPr lang="en-US" dirty="0" smtClean="0"/>
              <a:t>3) C → Page fault</a:t>
            </a:r>
          </a:p>
          <a:p>
            <a:r>
              <a:rPr lang="en-US" dirty="0" smtClean="0"/>
              <a:t>   Frames: A(C)  B(C)  C(C)</a:t>
            </a:r>
          </a:p>
          <a:p>
            <a:r>
              <a:rPr lang="en-US" dirty="0" smtClean="0"/>
              <a:t>   Test: —</a:t>
            </a:r>
          </a:p>
          <a:p>
            <a:endParaRPr lang="en-US" dirty="0" smtClean="0"/>
          </a:p>
          <a:p>
            <a:r>
              <a:rPr lang="en-US" dirty="0" smtClean="0"/>
              <a:t>4) D → Page fault (Frames full)</a:t>
            </a:r>
          </a:p>
          <a:p>
            <a:r>
              <a:rPr lang="en-US" dirty="0" smtClean="0"/>
              <a:t>   Evict A (Cold) → A becomes Test</a:t>
            </a:r>
          </a:p>
          <a:p>
            <a:r>
              <a:rPr lang="en-US" dirty="0" smtClean="0"/>
              <a:t>   Frames: B(C)  C(C)  D(C)</a:t>
            </a:r>
          </a:p>
          <a:p>
            <a:r>
              <a:rPr lang="en-US" dirty="0" smtClean="0"/>
              <a:t>   Test: A(T)</a:t>
            </a:r>
          </a:p>
          <a:p>
            <a:endParaRPr lang="en-US" dirty="0" smtClean="0"/>
          </a:p>
          <a:p>
            <a:r>
              <a:rPr lang="en-US" dirty="0" smtClean="0"/>
              <a:t>5) A → Found in Test</a:t>
            </a:r>
          </a:p>
          <a:p>
            <a:r>
              <a:rPr lang="en-US" dirty="0" smtClean="0"/>
              <a:t>   Promote A → Hot</a:t>
            </a:r>
          </a:p>
          <a:p>
            <a:r>
              <a:rPr lang="en-US" dirty="0" smtClean="0"/>
              <a:t>   Evict B (Cold) → B becomes Test</a:t>
            </a:r>
          </a:p>
          <a:p>
            <a:r>
              <a:rPr lang="en-US" dirty="0" smtClean="0"/>
              <a:t>   Frames: A(H)  C(C)  D(C)</a:t>
            </a:r>
          </a:p>
          <a:p>
            <a:r>
              <a:rPr lang="en-US" dirty="0" smtClean="0"/>
              <a:t>   Test: B(T)</a:t>
            </a:r>
          </a:p>
          <a:p>
            <a:endParaRPr lang="en-US" dirty="0" smtClean="0"/>
          </a:p>
          <a:p>
            <a:r>
              <a:rPr lang="en-US" dirty="0" smtClean="0"/>
              <a:t>6) B → Found in Test</a:t>
            </a:r>
          </a:p>
          <a:p>
            <a:r>
              <a:rPr lang="en-US" dirty="0" smtClean="0"/>
              <a:t>   Promote B → Hot</a:t>
            </a:r>
          </a:p>
          <a:p>
            <a:r>
              <a:rPr lang="en-US" dirty="0" smtClean="0"/>
              <a:t>   Evict C (Cold) → C becomes Test</a:t>
            </a:r>
          </a:p>
          <a:p>
            <a:r>
              <a:rPr lang="en-US" dirty="0" smtClean="0"/>
              <a:t>   Frames: A(H)  B(H)  D(C)</a:t>
            </a:r>
          </a:p>
          <a:p>
            <a:r>
              <a:rPr lang="en-US" dirty="0" smtClean="0"/>
              <a:t>   Test: C(T)</a:t>
            </a:r>
          </a:p>
          <a:p>
            <a:endParaRPr lang="en-US"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t>WSClock</a:t>
            </a:r>
            <a:r>
              <a:rPr lang="en-US" b="1" dirty="0" smtClean="0"/>
              <a:t> Algorithm</a:t>
            </a:r>
            <a:endParaRPr lang="en-US" dirty="0"/>
          </a:p>
        </p:txBody>
      </p:sp>
      <p:sp>
        <p:nvSpPr>
          <p:cNvPr id="3" name="Content Placeholder 2"/>
          <p:cNvSpPr>
            <a:spLocks noGrp="1"/>
          </p:cNvSpPr>
          <p:nvPr>
            <p:ph idx="1"/>
          </p:nvPr>
        </p:nvSpPr>
        <p:spPr/>
        <p:txBody>
          <a:bodyPr/>
          <a:lstStyle/>
          <a:p>
            <a:r>
              <a:rPr lang="en-US" dirty="0" smtClean="0"/>
              <a:t>Combines:</a:t>
            </a:r>
          </a:p>
          <a:p>
            <a:pPr lvl="1"/>
            <a:r>
              <a:rPr lang="en-US" b="1" dirty="0" smtClean="0"/>
              <a:t>Working Set model</a:t>
            </a:r>
            <a:endParaRPr lang="en-US" dirty="0" smtClean="0"/>
          </a:p>
          <a:p>
            <a:pPr lvl="1"/>
            <a:r>
              <a:rPr lang="en-US" b="1" dirty="0" smtClean="0"/>
              <a:t>Clock algorithm</a:t>
            </a:r>
            <a:endParaRPr lang="en-US" dirty="0" smtClean="0"/>
          </a:p>
          <a:p>
            <a:r>
              <a:rPr lang="en-US" b="1" dirty="0" smtClean="0"/>
              <a:t>Key Parameters</a:t>
            </a:r>
          </a:p>
          <a:p>
            <a:pPr lvl="1"/>
            <a:r>
              <a:rPr lang="en-US" b="1" dirty="0" smtClean="0"/>
              <a:t>τ (tau)</a:t>
            </a:r>
            <a:r>
              <a:rPr lang="en-US" dirty="0" smtClean="0"/>
              <a:t>: Working set window (time threshold)</a:t>
            </a:r>
          </a:p>
          <a:p>
            <a:pPr lvl="1"/>
            <a:r>
              <a:rPr lang="en-US" dirty="0" smtClean="0"/>
              <a:t>Reference bit</a:t>
            </a:r>
          </a:p>
          <a:p>
            <a:pPr lvl="1"/>
            <a:r>
              <a:rPr lang="en-US" dirty="0" smtClean="0"/>
              <a:t>Modified bit (dirty bit)</a:t>
            </a:r>
          </a:p>
          <a:p>
            <a:endParaRPr lang="en-US"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t>WSClock</a:t>
            </a:r>
            <a:r>
              <a:rPr lang="en-US" b="1" dirty="0" smtClean="0"/>
              <a:t> Algorithm</a:t>
            </a:r>
            <a:endParaRPr lang="en-US" dirty="0"/>
          </a:p>
        </p:txBody>
      </p:sp>
      <p:sp>
        <p:nvSpPr>
          <p:cNvPr id="3" name="Content Placeholder 2"/>
          <p:cNvSpPr>
            <a:spLocks noGrp="1"/>
          </p:cNvSpPr>
          <p:nvPr>
            <p:ph idx="1"/>
          </p:nvPr>
        </p:nvSpPr>
        <p:spPr/>
        <p:txBody>
          <a:bodyPr>
            <a:normAutofit fontScale="85000" lnSpcReduction="10000"/>
          </a:bodyPr>
          <a:lstStyle/>
          <a:p>
            <a:r>
              <a:rPr lang="en-US" b="1" dirty="0" smtClean="0"/>
              <a:t>τ (tau): Working Set Window</a:t>
            </a:r>
          </a:p>
          <a:p>
            <a:pPr lvl="1"/>
            <a:r>
              <a:rPr lang="en-US" b="1" dirty="0" smtClean="0"/>
              <a:t>τ</a:t>
            </a:r>
            <a:r>
              <a:rPr lang="en-US" dirty="0" smtClean="0"/>
              <a:t> is a </a:t>
            </a:r>
            <a:r>
              <a:rPr lang="en-US" b="1" dirty="0" smtClean="0"/>
              <a:t>time threshold</a:t>
            </a:r>
            <a:r>
              <a:rPr lang="en-US" dirty="0" smtClean="0"/>
              <a:t>.</a:t>
            </a:r>
          </a:p>
          <a:p>
            <a:pPr lvl="1"/>
            <a:r>
              <a:rPr lang="en-US" dirty="0" smtClean="0"/>
              <a:t>It defines </a:t>
            </a:r>
            <a:r>
              <a:rPr lang="en-US" b="1" dirty="0" smtClean="0"/>
              <a:t>how far back in time</a:t>
            </a:r>
            <a:r>
              <a:rPr lang="en-US" dirty="0" smtClean="0"/>
              <a:t> the OS looks to decide whether a page is </a:t>
            </a:r>
            <a:r>
              <a:rPr lang="en-US" i="1" dirty="0" smtClean="0"/>
              <a:t>actively used</a:t>
            </a:r>
            <a:r>
              <a:rPr lang="en-US" dirty="0" smtClean="0"/>
              <a:t>.</a:t>
            </a:r>
          </a:p>
          <a:p>
            <a:pPr lvl="1"/>
            <a:r>
              <a:rPr lang="en-US" dirty="0" smtClean="0"/>
              <a:t>If a page was referenced </a:t>
            </a:r>
            <a:r>
              <a:rPr lang="en-US" b="1" dirty="0" smtClean="0"/>
              <a:t>within the last τ time units</a:t>
            </a:r>
            <a:r>
              <a:rPr lang="en-US" dirty="0" smtClean="0"/>
              <a:t>, it is considered part of the </a:t>
            </a:r>
            <a:r>
              <a:rPr lang="en-US" b="1" dirty="0" smtClean="0"/>
              <a:t>working set</a:t>
            </a:r>
            <a:r>
              <a:rPr lang="en-US" dirty="0" smtClean="0"/>
              <a:t>.</a:t>
            </a:r>
          </a:p>
          <a:p>
            <a:r>
              <a:rPr lang="en-US" b="1" dirty="0" smtClean="0"/>
              <a:t>Reference Bit (R bit)</a:t>
            </a:r>
          </a:p>
          <a:p>
            <a:pPr lvl="1"/>
            <a:r>
              <a:rPr lang="en-US" dirty="0" smtClean="0"/>
              <a:t>Set to </a:t>
            </a:r>
            <a:r>
              <a:rPr lang="en-US" b="1" dirty="0" smtClean="0"/>
              <a:t>1</a:t>
            </a:r>
            <a:r>
              <a:rPr lang="en-US" dirty="0" smtClean="0"/>
              <a:t> when a page is </a:t>
            </a:r>
            <a:r>
              <a:rPr lang="en-US" b="1" dirty="0" smtClean="0"/>
              <a:t>accessed (read/write)</a:t>
            </a:r>
            <a:r>
              <a:rPr lang="en-US" dirty="0" smtClean="0"/>
              <a:t>.</a:t>
            </a:r>
          </a:p>
          <a:p>
            <a:pPr lvl="1"/>
            <a:r>
              <a:rPr lang="en-US" dirty="0" smtClean="0"/>
              <a:t>Reset periodically by the OS.</a:t>
            </a:r>
          </a:p>
          <a:p>
            <a:pPr lvl="1"/>
            <a:r>
              <a:rPr lang="en-US" dirty="0" smtClean="0"/>
              <a:t>Used to check </a:t>
            </a:r>
            <a:r>
              <a:rPr lang="en-US" b="1" dirty="0" smtClean="0"/>
              <a:t>recent usage</a:t>
            </a:r>
            <a:r>
              <a:rPr lang="en-US" dirty="0" smtClean="0"/>
              <a:t>.</a:t>
            </a:r>
          </a:p>
          <a:p>
            <a:pPr lvl="1"/>
            <a:r>
              <a:rPr lang="en-US" dirty="0" smtClean="0"/>
              <a:t>R bitMeaning1Page was referenced recently0Page was not referenced</a:t>
            </a:r>
          </a:p>
          <a:p>
            <a:r>
              <a:rPr lang="en-US" b="1" dirty="0" smtClean="0"/>
              <a:t>Modified Bit (M bit) / Dirty Bit</a:t>
            </a:r>
          </a:p>
          <a:p>
            <a:pPr lvl="1"/>
            <a:r>
              <a:rPr lang="en-US" dirty="0" smtClean="0"/>
              <a:t>Set to </a:t>
            </a:r>
            <a:r>
              <a:rPr lang="en-US" b="1" dirty="0" smtClean="0"/>
              <a:t>1</a:t>
            </a:r>
            <a:r>
              <a:rPr lang="en-US" dirty="0" smtClean="0"/>
              <a:t> when a page is </a:t>
            </a:r>
            <a:r>
              <a:rPr lang="en-US" b="1" dirty="0" smtClean="0"/>
              <a:t>written to</a:t>
            </a:r>
            <a:r>
              <a:rPr lang="en-US" dirty="0" smtClean="0"/>
              <a:t>.</a:t>
            </a:r>
          </a:p>
          <a:p>
            <a:pPr lvl="1"/>
            <a:r>
              <a:rPr lang="en-US" dirty="0" smtClean="0"/>
              <a:t>Indicates the page differs from disk version.</a:t>
            </a:r>
          </a:p>
          <a:p>
            <a:pPr lvl="1"/>
            <a:r>
              <a:rPr lang="en-US" dirty="0" smtClean="0"/>
              <a:t>M bitMeaning0Clean page (same as disk)1Dirty page (must be written back before removal)</a:t>
            </a:r>
          </a:p>
          <a:p>
            <a:endParaRPr lang="en-US"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err="1" smtClean="0"/>
              <a:t>WSClock</a:t>
            </a:r>
            <a:r>
              <a:rPr lang="en-US" b="1" dirty="0" smtClean="0"/>
              <a:t> Algorithm Page States</a:t>
            </a:r>
            <a:br>
              <a:rPr lang="en-US" b="1" dirty="0" smtClean="0"/>
            </a:br>
            <a:endParaRPr lang="en-US" dirty="0"/>
          </a:p>
        </p:txBody>
      </p:sp>
      <p:sp>
        <p:nvSpPr>
          <p:cNvPr id="3" name="Content Placeholder 2"/>
          <p:cNvSpPr>
            <a:spLocks noGrp="1"/>
          </p:cNvSpPr>
          <p:nvPr>
            <p:ph idx="1"/>
          </p:nvPr>
        </p:nvSpPr>
        <p:spPr/>
        <p:txBody>
          <a:bodyPr numCol="2">
            <a:normAutofit/>
          </a:bodyPr>
          <a:lstStyle/>
          <a:p>
            <a:r>
              <a:rPr lang="en-US" b="1" dirty="0" smtClean="0"/>
              <a:t>Clean Page</a:t>
            </a:r>
          </a:p>
          <a:p>
            <a:pPr lvl="1"/>
            <a:r>
              <a:rPr lang="en-US" b="1" dirty="0" smtClean="0"/>
              <a:t>Not modified</a:t>
            </a:r>
            <a:r>
              <a:rPr lang="en-US" dirty="0" smtClean="0"/>
              <a:t> (M = 0)</a:t>
            </a:r>
          </a:p>
          <a:p>
            <a:pPr lvl="1"/>
            <a:r>
              <a:rPr lang="en-US" dirty="0" smtClean="0"/>
              <a:t>Safe to discard</a:t>
            </a:r>
          </a:p>
          <a:p>
            <a:pPr lvl="1"/>
            <a:r>
              <a:rPr lang="en-US" dirty="0" smtClean="0"/>
              <a:t>No disk write needed</a:t>
            </a:r>
          </a:p>
          <a:p>
            <a:pPr lvl="1"/>
            <a:r>
              <a:rPr lang="en-US" i="1" dirty="0" smtClean="0"/>
              <a:t>Fast eviction</a:t>
            </a:r>
            <a:endParaRPr lang="en-US" dirty="0" smtClean="0"/>
          </a:p>
          <a:p>
            <a:r>
              <a:rPr lang="en-US" b="1" dirty="0" smtClean="0"/>
              <a:t>Dirty Page</a:t>
            </a:r>
          </a:p>
          <a:p>
            <a:pPr lvl="1"/>
            <a:r>
              <a:rPr lang="en-US" b="1" dirty="0" smtClean="0"/>
              <a:t>Modified</a:t>
            </a:r>
            <a:r>
              <a:rPr lang="en-US" dirty="0" smtClean="0"/>
              <a:t> (M = 1)</a:t>
            </a:r>
          </a:p>
          <a:p>
            <a:pPr lvl="1"/>
            <a:r>
              <a:rPr lang="en-US" dirty="0" smtClean="0"/>
              <a:t>Must be </a:t>
            </a:r>
            <a:r>
              <a:rPr lang="en-US" b="1" dirty="0" smtClean="0"/>
              <a:t>written back to disk</a:t>
            </a:r>
            <a:r>
              <a:rPr lang="en-US" dirty="0" smtClean="0"/>
              <a:t> before eviction</a:t>
            </a:r>
          </a:p>
          <a:p>
            <a:pPr lvl="1"/>
            <a:r>
              <a:rPr lang="en-US" i="1" dirty="0" smtClean="0"/>
              <a:t>slow eviction (extra I/O)</a:t>
            </a:r>
            <a:endParaRPr lang="en-US" dirty="0" smtClean="0"/>
          </a:p>
          <a:p>
            <a:r>
              <a:rPr lang="en-US" b="1" dirty="0" smtClean="0"/>
              <a:t>Old Page</a:t>
            </a:r>
          </a:p>
          <a:p>
            <a:pPr lvl="1"/>
            <a:r>
              <a:rPr lang="en-US" b="1" dirty="0" smtClean="0"/>
              <a:t>Not referenced within τ</a:t>
            </a:r>
            <a:endParaRPr lang="en-US" dirty="0" smtClean="0"/>
          </a:p>
          <a:p>
            <a:pPr lvl="1"/>
            <a:r>
              <a:rPr lang="en-US" dirty="0" smtClean="0"/>
              <a:t>Likely </a:t>
            </a:r>
            <a:r>
              <a:rPr lang="en-US" b="1" dirty="0" smtClean="0"/>
              <a:t>no longer needed</a:t>
            </a:r>
            <a:endParaRPr lang="en-US" dirty="0" smtClean="0"/>
          </a:p>
          <a:p>
            <a:pPr lvl="1"/>
            <a:r>
              <a:rPr lang="en-US" i="1" dirty="0" smtClean="0"/>
              <a:t>Eviction candidate</a:t>
            </a:r>
            <a:endParaRPr lang="en-US" dirty="0" smtClean="0"/>
          </a:p>
          <a:p>
            <a:pPr>
              <a:buNone/>
            </a:pPr>
            <a:endParaRPr lang="en-US"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Grp="1" noChangeAspect="1" noChangeArrowheads="1"/>
          </p:cNvPicPr>
          <p:nvPr>
            <p:ph idx="1"/>
          </p:nvPr>
        </p:nvPicPr>
        <p:blipFill>
          <a:blip r:embed="rId2"/>
          <a:srcRect/>
          <a:stretch>
            <a:fillRect/>
          </a:stretch>
        </p:blipFill>
        <p:spPr bwMode="auto">
          <a:xfrm>
            <a:off x="259361" y="2079813"/>
            <a:ext cx="11367863" cy="3742418"/>
          </a:xfrm>
          <a:prstGeom prst="rect">
            <a:avLst/>
          </a:prstGeom>
          <a:noFill/>
          <a:ln w="9525">
            <a:noFill/>
            <a:miter lim="800000"/>
            <a:headEnd/>
            <a:tailEnd/>
          </a:ln>
          <a:effectLst/>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t>WSClock Algorithm</a:t>
            </a:r>
          </a:p>
        </p:txBody>
      </p:sp>
      <p:sp>
        <p:nvSpPr>
          <p:cNvPr id="3" name="Content Placeholder 2"/>
          <p:cNvSpPr>
            <a:spLocks noGrp="1"/>
          </p:cNvSpPr>
          <p:nvPr>
            <p:ph idx="1"/>
          </p:nvPr>
        </p:nvSpPr>
        <p:spPr/>
        <p:txBody>
          <a:bodyPr>
            <a:normAutofit fontScale="77500" lnSpcReduction="20000"/>
          </a:bodyPr>
          <a:lstStyle/>
          <a:p>
            <a:r>
              <a:rPr lang="en-US" b="1" dirty="0" smtClean="0"/>
              <a:t>Page States</a:t>
            </a:r>
          </a:p>
          <a:p>
            <a:r>
              <a:rPr lang="en-US" dirty="0" smtClean="0"/>
              <a:t>Referenced recently → keep</a:t>
            </a:r>
          </a:p>
          <a:p>
            <a:r>
              <a:rPr lang="en-US" dirty="0" smtClean="0"/>
              <a:t>Not referenced + clean → evict</a:t>
            </a:r>
          </a:p>
          <a:p>
            <a:r>
              <a:rPr lang="en-US" dirty="0" smtClean="0"/>
              <a:t>Not referenced + dirty → schedule write-back</a:t>
            </a:r>
          </a:p>
          <a:p>
            <a:r>
              <a:rPr lang="en-US" dirty="0" smtClean="0"/>
              <a:t>Referenced but old → candidate for eviction</a:t>
            </a:r>
          </a:p>
          <a:p>
            <a:r>
              <a:rPr lang="en-US" b="1" dirty="0" smtClean="0"/>
              <a:t>Advantages</a:t>
            </a:r>
          </a:p>
          <a:p>
            <a:r>
              <a:rPr lang="en-US" dirty="0" smtClean="0"/>
              <a:t>Considers </a:t>
            </a:r>
            <a:r>
              <a:rPr lang="en-US" b="1" dirty="0" err="1" smtClean="0"/>
              <a:t>recency</a:t>
            </a:r>
            <a:r>
              <a:rPr lang="en-US" b="1" dirty="0" smtClean="0"/>
              <a:t> + modification</a:t>
            </a:r>
            <a:endParaRPr lang="en-US" dirty="0" smtClean="0"/>
          </a:p>
          <a:p>
            <a:r>
              <a:rPr lang="en-US" dirty="0" smtClean="0"/>
              <a:t>Reduces unnecessary disk writes</a:t>
            </a:r>
          </a:p>
          <a:p>
            <a:r>
              <a:rPr lang="en-US" dirty="0" smtClean="0"/>
              <a:t>Suitable for multiprogramming systems</a:t>
            </a:r>
          </a:p>
          <a:p>
            <a:r>
              <a:rPr lang="en-US" b="1" dirty="0" smtClean="0"/>
              <a:t>Disadvantages</a:t>
            </a:r>
          </a:p>
          <a:p>
            <a:r>
              <a:rPr lang="en-US" dirty="0" smtClean="0"/>
              <a:t>Needs time tracking</a:t>
            </a:r>
          </a:p>
          <a:p>
            <a:r>
              <a:rPr lang="en-US" dirty="0" smtClean="0"/>
              <a:t>More complex than CLOCK</a:t>
            </a:r>
            <a:endParaRPr lang="en-US"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Given</a:t>
            </a:r>
          </a:p>
          <a:p>
            <a:r>
              <a:rPr lang="en-US" b="1" dirty="0" smtClean="0"/>
              <a:t>τ = 10 ms</a:t>
            </a:r>
            <a:endParaRPr lang="en-US" dirty="0" smtClean="0"/>
          </a:p>
          <a:p>
            <a:r>
              <a:rPr lang="en-US" dirty="0" smtClean="0"/>
              <a:t>Current time </a:t>
            </a:r>
            <a:r>
              <a:rPr lang="en-US" b="1" dirty="0" smtClean="0"/>
              <a:t>t = 100 ms</a:t>
            </a:r>
            <a:endParaRPr lang="en-US" dirty="0" smtClean="0"/>
          </a:p>
          <a:p>
            <a:r>
              <a:rPr lang="en-US" dirty="0" smtClean="0"/>
              <a:t>Page table info:</a:t>
            </a:r>
          </a:p>
          <a:p>
            <a:endParaRPr lang="en-US" dirty="0" smtClean="0"/>
          </a:p>
          <a:p>
            <a:endParaRPr lang="en-US" dirty="0" smtClean="0"/>
          </a:p>
          <a:p>
            <a:endParaRPr lang="en-US" dirty="0"/>
          </a:p>
        </p:txBody>
      </p:sp>
      <p:pic>
        <p:nvPicPr>
          <p:cNvPr id="4" name="Picture 2"/>
          <p:cNvPicPr>
            <a:picLocks noChangeAspect="1" noChangeArrowheads="1"/>
          </p:cNvPicPr>
          <p:nvPr/>
        </p:nvPicPr>
        <p:blipFill>
          <a:blip r:embed="rId2"/>
          <a:srcRect/>
          <a:stretch>
            <a:fillRect/>
          </a:stretch>
        </p:blipFill>
        <p:spPr bwMode="auto">
          <a:xfrm>
            <a:off x="1685365" y="4277227"/>
            <a:ext cx="5378411" cy="1745469"/>
          </a:xfrm>
          <a:prstGeom prst="rect">
            <a:avLst/>
          </a:prstGeom>
          <a:noFill/>
          <a:ln w="9525">
            <a:noFill/>
            <a:miter lim="800000"/>
            <a:headEnd/>
            <a:tailEnd/>
          </a:ln>
          <a:effectLst/>
        </p:spPr>
      </p:pic>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0" name="Picture 2"/>
          <p:cNvPicPr>
            <a:picLocks noGrp="1" noChangeAspect="1" noChangeArrowheads="1"/>
          </p:cNvPicPr>
          <p:nvPr>
            <p:ph idx="1"/>
          </p:nvPr>
        </p:nvPicPr>
        <p:blipFill>
          <a:blip r:embed="rId2"/>
          <a:srcRect/>
          <a:stretch>
            <a:fillRect/>
          </a:stretch>
        </p:blipFill>
        <p:spPr bwMode="auto">
          <a:xfrm>
            <a:off x="3311382" y="2283530"/>
            <a:ext cx="5569236" cy="3435527"/>
          </a:xfrm>
          <a:prstGeom prst="rect">
            <a:avLst/>
          </a:prstGeom>
          <a:noFill/>
          <a:ln w="9525">
            <a:noFill/>
            <a:miter lim="800000"/>
            <a:headEnd/>
            <a:tailEnd/>
          </a:ln>
          <a:effectLst/>
        </p:spPr>
      </p:pic>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074" name="Picture 2"/>
          <p:cNvPicPr>
            <a:picLocks noGrp="1" noChangeAspect="1" noChangeArrowheads="1"/>
          </p:cNvPicPr>
          <p:nvPr>
            <p:ph idx="1"/>
          </p:nvPr>
        </p:nvPicPr>
        <p:blipFill>
          <a:blip r:embed="rId2"/>
          <a:srcRect/>
          <a:stretch>
            <a:fillRect/>
          </a:stretch>
        </p:blipFill>
        <p:spPr bwMode="auto">
          <a:xfrm>
            <a:off x="3168499" y="2674076"/>
            <a:ext cx="5855001" cy="2654436"/>
          </a:xfrm>
          <a:prstGeom prst="rect">
            <a:avLst/>
          </a:prstGeom>
          <a:noFill/>
          <a:ln w="9525">
            <a:noFill/>
            <a:miter lim="800000"/>
            <a:headEnd/>
            <a:tailEnd/>
          </a:ln>
          <a:effectLst/>
        </p:spPr>
      </p:pic>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b="1" dirty="0" smtClean="0"/>
              <a:t>Step 3: Eviction decision</a:t>
            </a:r>
          </a:p>
          <a:p>
            <a:pPr lvl="1"/>
            <a:r>
              <a:rPr lang="en-US" b="1" dirty="0" smtClean="0"/>
              <a:t>Best eviction candidate</a:t>
            </a:r>
          </a:p>
          <a:p>
            <a:pPr lvl="2"/>
            <a:r>
              <a:rPr lang="en-US" b="1" dirty="0" smtClean="0"/>
              <a:t>P3</a:t>
            </a:r>
            <a:r>
              <a:rPr lang="en-US" dirty="0" smtClean="0"/>
              <a:t> (Not referenced + clean)</a:t>
            </a:r>
          </a:p>
          <a:p>
            <a:pPr lvl="2"/>
            <a:r>
              <a:rPr lang="en-US" dirty="0" smtClean="0"/>
              <a:t>Action: </a:t>
            </a:r>
            <a:r>
              <a:rPr lang="en-US" b="1" dirty="0" smtClean="0"/>
              <a:t>Evict immediately</a:t>
            </a:r>
            <a:endParaRPr lang="en-US" dirty="0" smtClean="0"/>
          </a:p>
          <a:p>
            <a:pPr lvl="1"/>
            <a:r>
              <a:rPr lang="en-US" b="1" dirty="0" smtClean="0"/>
              <a:t>If P3 is not available (already evicted)</a:t>
            </a:r>
          </a:p>
          <a:p>
            <a:pPr lvl="1"/>
            <a:r>
              <a:rPr lang="en-US" dirty="0" smtClean="0"/>
              <a:t>Next candidate:</a:t>
            </a:r>
          </a:p>
          <a:p>
            <a:pPr lvl="2"/>
            <a:r>
              <a:rPr lang="en-US" b="1" dirty="0" smtClean="0"/>
              <a:t>P2</a:t>
            </a:r>
            <a:r>
              <a:rPr lang="en-US" dirty="0" smtClean="0"/>
              <a:t> (Not referenced + dirty)</a:t>
            </a:r>
          </a:p>
          <a:p>
            <a:pPr lvl="2"/>
            <a:r>
              <a:rPr lang="en-US" b="1" dirty="0" smtClean="0"/>
              <a:t>Action for P2:</a:t>
            </a:r>
          </a:p>
          <a:p>
            <a:pPr lvl="2"/>
            <a:r>
              <a:rPr lang="en-US" b="1" dirty="0" smtClean="0"/>
              <a:t>Write back</a:t>
            </a:r>
            <a:r>
              <a:rPr lang="en-US" dirty="0" smtClean="0"/>
              <a:t> page P2 to disk</a:t>
            </a:r>
          </a:p>
          <a:p>
            <a:pPr lvl="2"/>
            <a:r>
              <a:rPr lang="en-US" b="1" dirty="0" smtClean="0"/>
              <a:t>Evict</a:t>
            </a:r>
            <a:r>
              <a:rPr lang="en-US" dirty="0" smtClean="0"/>
              <a:t> P2 from memory</a:t>
            </a:r>
          </a:p>
          <a:p>
            <a:pPr lvl="2"/>
            <a:r>
              <a:rPr lang="en-US" dirty="0" smtClean="0"/>
              <a:t>This is </a:t>
            </a:r>
            <a:r>
              <a:rPr lang="en-US" b="1" dirty="0" smtClean="0"/>
              <a:t>“write back then evict”</a:t>
            </a:r>
            <a:endParaRPr lang="en-US" dirty="0" smtClean="0"/>
          </a:p>
          <a:p>
            <a:endParaRPr lang="en-US"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VIRTUALIZATION</a:t>
            </a:r>
            <a:endParaRPr lang="en-US" b="1" dirty="0"/>
          </a:p>
        </p:txBody>
      </p:sp>
      <p:sp>
        <p:nvSpPr>
          <p:cNvPr id="3" name="Content Placeholder 2"/>
          <p:cNvSpPr>
            <a:spLocks noGrp="1"/>
          </p:cNvSpPr>
          <p:nvPr>
            <p:ph idx="1"/>
          </p:nvPr>
        </p:nvSpPr>
        <p:spPr/>
        <p:txBody>
          <a:bodyPr>
            <a:normAutofit lnSpcReduction="10000"/>
          </a:bodyPr>
          <a:lstStyle/>
          <a:p>
            <a:r>
              <a:rPr lang="en-US" dirty="0" smtClean="0"/>
              <a:t>Virtualization is a foundational technology in modern computing that enables multiple operating systems and applications to run concurrently on a single physical machine.</a:t>
            </a:r>
          </a:p>
          <a:p>
            <a:r>
              <a:rPr lang="en-US" dirty="0" smtClean="0"/>
              <a:t> By abstracting physical resources such as CPU, memory, storage, and I/O devices, virtualization improves hardware utilization, scalability, isolation, and manageability.</a:t>
            </a:r>
          </a:p>
          <a:p>
            <a:r>
              <a:rPr lang="en-US" dirty="0" smtClean="0"/>
              <a:t>Historically, virtualization originated in mainframe systems to allow time-sharing of expensive hardware. </a:t>
            </a:r>
          </a:p>
          <a:p>
            <a:r>
              <a:rPr lang="en-US" dirty="0" smtClean="0"/>
              <a:t>With the advent of cloud computing, data centers, and multi-core processors, virtualization has become essential for infrastructure efficiency and security.</a:t>
            </a:r>
          </a:p>
          <a:p>
            <a:endParaRPr lang="en-US"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Principles for Virtualization</a:t>
            </a:r>
            <a:endParaRPr lang="en-US" b="1" dirty="0"/>
          </a:p>
        </p:txBody>
      </p:sp>
      <p:sp>
        <p:nvSpPr>
          <p:cNvPr id="3" name="Content Placeholder 2"/>
          <p:cNvSpPr>
            <a:spLocks noGrp="1"/>
          </p:cNvSpPr>
          <p:nvPr>
            <p:ph idx="1"/>
          </p:nvPr>
        </p:nvSpPr>
        <p:spPr/>
        <p:txBody>
          <a:bodyPr>
            <a:normAutofit fontScale="77500" lnSpcReduction="20000"/>
          </a:bodyPr>
          <a:lstStyle/>
          <a:p>
            <a:r>
              <a:rPr lang="en-US" b="1" dirty="0" smtClean="0"/>
              <a:t>Abstraction</a:t>
            </a:r>
          </a:p>
          <a:p>
            <a:pPr lvl="1"/>
            <a:r>
              <a:rPr lang="en-US" dirty="0" smtClean="0"/>
              <a:t>Abstraction hides the complexity of physical hardware by presenting standardized virtual hardware interfaces to guest operating systems. Each virtual machine (VM) believes it owns dedicated hardware, even though resources are shared.</a:t>
            </a:r>
          </a:p>
          <a:p>
            <a:r>
              <a:rPr lang="en-US" b="1" dirty="0" smtClean="0"/>
              <a:t>Isolation</a:t>
            </a:r>
          </a:p>
          <a:p>
            <a:pPr lvl="1"/>
            <a:r>
              <a:rPr lang="en-US" dirty="0" smtClean="0"/>
              <a:t>Isolation ensures that one VM cannot interfere with others. Faults, crashes, or security breaches inside a VM remain contained. This principle is critical for multi-tenant cloud environments.</a:t>
            </a:r>
          </a:p>
          <a:p>
            <a:r>
              <a:rPr lang="en-US" b="1" dirty="0" smtClean="0"/>
              <a:t>Resource Sharing</a:t>
            </a:r>
          </a:p>
          <a:p>
            <a:pPr lvl="1"/>
            <a:r>
              <a:rPr lang="en-US" dirty="0" smtClean="0"/>
              <a:t>Physical resources are multiplexed among VMs. The hypervisor schedules CPU time, allocates memory, and manages I/O bandwidth efficiently.</a:t>
            </a:r>
          </a:p>
          <a:p>
            <a:r>
              <a:rPr lang="en-US" b="1" dirty="0" smtClean="0"/>
              <a:t>Equivalence (Fidelity)</a:t>
            </a:r>
          </a:p>
          <a:p>
            <a:pPr lvl="1"/>
            <a:r>
              <a:rPr lang="en-US" dirty="0" smtClean="0"/>
              <a:t>A program running inside a VM should behave identically to how it would run on physical hardware, except for performance differences.</a:t>
            </a:r>
          </a:p>
          <a:p>
            <a:r>
              <a:rPr lang="en-US" b="1" dirty="0" smtClean="0"/>
              <a:t>Performance Efficiency</a:t>
            </a:r>
          </a:p>
          <a:p>
            <a:pPr lvl="1"/>
            <a:r>
              <a:rPr lang="en-US" dirty="0" smtClean="0"/>
              <a:t>Most instructions should execute directly on the hardware without hypervisor intervention. Hardware-assisted virtualization plays a key role here.</a:t>
            </a:r>
          </a:p>
          <a:p>
            <a:endParaRPr lang="en-US"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Hypervisor Architectures</a:t>
            </a:r>
            <a:endParaRPr lang="en-US" b="1" dirty="0"/>
          </a:p>
        </p:txBody>
      </p:sp>
      <p:sp>
        <p:nvSpPr>
          <p:cNvPr id="3" name="Content Placeholder 2"/>
          <p:cNvSpPr>
            <a:spLocks noGrp="1"/>
          </p:cNvSpPr>
          <p:nvPr>
            <p:ph idx="1"/>
          </p:nvPr>
        </p:nvSpPr>
        <p:spPr/>
        <p:txBody>
          <a:bodyPr/>
          <a:lstStyle/>
          <a:p>
            <a:r>
              <a:rPr lang="en-US" dirty="0" smtClean="0"/>
              <a:t>A hypervisor (or Virtual Machine Monitor, VMM) is software that lets multiple operating systems run on a single physical machine. </a:t>
            </a:r>
          </a:p>
          <a:p>
            <a:r>
              <a:rPr lang="en-US" dirty="0" smtClean="0"/>
              <a:t>It manages hardware resources (CPU, memory, storage) and allocates them to virtual machines (VMs) without interference. </a:t>
            </a:r>
          </a:p>
          <a:p>
            <a:r>
              <a:rPr lang="en-US" dirty="0" smtClean="0"/>
              <a:t>This improves hardware utilization, reduces costs, and provides flexibility in cloud and server environments.</a:t>
            </a:r>
            <a:endParaRPr lang="en-US"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Hypervisor Architectures</a:t>
            </a:r>
            <a:endParaRPr lang="en-US" dirty="0"/>
          </a:p>
        </p:txBody>
      </p:sp>
      <p:pic>
        <p:nvPicPr>
          <p:cNvPr id="2050" name="Picture 2"/>
          <p:cNvPicPr>
            <a:picLocks noGrp="1" noChangeAspect="1" noChangeArrowheads="1"/>
          </p:cNvPicPr>
          <p:nvPr>
            <p:ph idx="1"/>
          </p:nvPr>
        </p:nvPicPr>
        <p:blipFill>
          <a:blip r:embed="rId2"/>
          <a:srcRect/>
          <a:stretch>
            <a:fillRect/>
          </a:stretch>
        </p:blipFill>
        <p:spPr bwMode="auto">
          <a:xfrm>
            <a:off x="7023694" y="3980676"/>
            <a:ext cx="5168306" cy="2689065"/>
          </a:xfrm>
          <a:prstGeom prst="rect">
            <a:avLst/>
          </a:prstGeom>
          <a:noFill/>
          <a:ln w="9525">
            <a:noFill/>
            <a:miter lim="800000"/>
            <a:headEnd/>
            <a:tailEnd/>
          </a:ln>
          <a:effectLst/>
        </p:spPr>
      </p:pic>
      <p:sp>
        <p:nvSpPr>
          <p:cNvPr id="5" name="Rectangle 4"/>
          <p:cNvSpPr/>
          <p:nvPr/>
        </p:nvSpPr>
        <p:spPr>
          <a:xfrm>
            <a:off x="878542" y="1891552"/>
            <a:ext cx="8426824" cy="2031325"/>
          </a:xfrm>
          <a:prstGeom prst="rect">
            <a:avLst/>
          </a:prstGeom>
        </p:spPr>
        <p:txBody>
          <a:bodyPr wrap="square">
            <a:spAutoFit/>
          </a:bodyPr>
          <a:lstStyle/>
          <a:p>
            <a:r>
              <a:rPr lang="en-US" dirty="0" smtClean="0"/>
              <a:t>A hypervisor runs on hardware or a host OS to create and manage virtual machines (VMs), </a:t>
            </a:r>
          </a:p>
          <a:p>
            <a:endParaRPr lang="en-US" dirty="0" smtClean="0"/>
          </a:p>
          <a:p>
            <a:r>
              <a:rPr lang="en-US" dirty="0" smtClean="0"/>
              <a:t>each with its own virtual CPU, memory, storage, and network. </a:t>
            </a:r>
          </a:p>
          <a:p>
            <a:endParaRPr lang="en-US" dirty="0" smtClean="0"/>
          </a:p>
          <a:p>
            <a:r>
              <a:rPr lang="en-US" dirty="0" smtClean="0"/>
              <a:t>It intercepts guest OS requests and translates them to physical hardware, ensuring isolation, security, and stability.</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Hypervisor Architectures</a:t>
            </a:r>
            <a:endParaRPr lang="en-US" dirty="0"/>
          </a:p>
        </p:txBody>
      </p:sp>
      <p:sp>
        <p:nvSpPr>
          <p:cNvPr id="3" name="Content Placeholder 2"/>
          <p:cNvSpPr>
            <a:spLocks noGrp="1"/>
          </p:cNvSpPr>
          <p:nvPr>
            <p:ph idx="1"/>
          </p:nvPr>
        </p:nvSpPr>
        <p:spPr/>
        <p:txBody>
          <a:bodyPr/>
          <a:lstStyle/>
          <a:p>
            <a:r>
              <a:rPr lang="en-US" b="1" dirty="0" smtClean="0"/>
              <a:t>Type 1 Hypervisors (Bare-Metal)</a:t>
            </a:r>
          </a:p>
          <a:p>
            <a:pPr lvl="1"/>
            <a:r>
              <a:rPr lang="en-US" dirty="0" smtClean="0"/>
              <a:t>Type 1 hypervisors run directly on hardware without a host operating system. They offer high performance, security, and are commonly used in servers and clouds.</a:t>
            </a:r>
          </a:p>
          <a:p>
            <a:r>
              <a:rPr lang="en-US" dirty="0" smtClean="0"/>
              <a:t>Characteristics:</a:t>
            </a:r>
          </a:p>
          <a:p>
            <a:pPr lvl="1"/>
            <a:r>
              <a:rPr lang="en-US" dirty="0" smtClean="0"/>
              <a:t>Direct hardware access</a:t>
            </a:r>
          </a:p>
          <a:p>
            <a:pPr lvl="1"/>
            <a:r>
              <a:rPr lang="en-US" dirty="0" smtClean="0"/>
              <a:t>Minimal attack surface</a:t>
            </a:r>
          </a:p>
          <a:p>
            <a:pPr lvl="1"/>
            <a:r>
              <a:rPr lang="en-US" dirty="0" smtClean="0"/>
              <a:t>Better performance and scalability</a:t>
            </a:r>
          </a:p>
          <a:p>
            <a:endParaRPr lang="en-US"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Hypervisor Architectures</a:t>
            </a:r>
            <a:endParaRPr lang="en-US" dirty="0"/>
          </a:p>
        </p:txBody>
      </p:sp>
      <p:sp>
        <p:nvSpPr>
          <p:cNvPr id="3" name="Content Placeholder 2"/>
          <p:cNvSpPr>
            <a:spLocks noGrp="1"/>
          </p:cNvSpPr>
          <p:nvPr>
            <p:ph idx="1"/>
          </p:nvPr>
        </p:nvSpPr>
        <p:spPr/>
        <p:txBody>
          <a:bodyPr/>
          <a:lstStyle/>
          <a:p>
            <a:r>
              <a:rPr lang="en-US" b="1" dirty="0" smtClean="0"/>
              <a:t>Type 2 Hypervisors (Hosted)</a:t>
            </a:r>
          </a:p>
          <a:p>
            <a:pPr lvl="1"/>
            <a:r>
              <a:rPr lang="en-US" dirty="0" smtClean="0"/>
              <a:t>Type 2 hypervisors run on top of a conventional host operating system. They are simpler to install but have higher overhead.</a:t>
            </a:r>
          </a:p>
          <a:p>
            <a:r>
              <a:rPr lang="en-US" dirty="0" smtClean="0"/>
              <a:t>Characteristics:</a:t>
            </a:r>
          </a:p>
          <a:p>
            <a:pPr lvl="1"/>
            <a:r>
              <a:rPr lang="en-US" dirty="0" smtClean="0"/>
              <a:t>Relies on host OS drivers</a:t>
            </a:r>
          </a:p>
          <a:p>
            <a:pPr lvl="1"/>
            <a:r>
              <a:rPr lang="en-US" dirty="0" smtClean="0"/>
              <a:t>Suitable for desktops and testing</a:t>
            </a:r>
          </a:p>
          <a:p>
            <a:pPr lvl="1"/>
            <a:r>
              <a:rPr lang="en-US" dirty="0" smtClean="0"/>
              <a:t>Lower performance compared to Type 1</a:t>
            </a:r>
          </a:p>
          <a:p>
            <a:endParaRPr lang="en-US"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Hypervisor Architectures</a:t>
            </a:r>
            <a:endParaRPr lang="en-US" dirty="0"/>
          </a:p>
        </p:txBody>
      </p:sp>
      <p:pic>
        <p:nvPicPr>
          <p:cNvPr id="3075" name="Picture 3"/>
          <p:cNvPicPr>
            <a:picLocks noGrp="1" noChangeAspect="1" noChangeArrowheads="1"/>
          </p:cNvPicPr>
          <p:nvPr>
            <p:ph idx="1"/>
          </p:nvPr>
        </p:nvPicPr>
        <p:blipFill>
          <a:blip r:embed="rId2"/>
          <a:srcRect/>
          <a:stretch>
            <a:fillRect/>
          </a:stretch>
        </p:blipFill>
        <p:spPr bwMode="auto">
          <a:xfrm>
            <a:off x="1792940" y="2025522"/>
            <a:ext cx="9372781" cy="4303559"/>
          </a:xfrm>
          <a:prstGeom prst="rect">
            <a:avLst/>
          </a:prstGeom>
          <a:noFill/>
          <a:ln w="9525">
            <a:noFill/>
            <a:miter lim="800000"/>
            <a:headEnd/>
            <a:tailEnd/>
          </a:ln>
          <a:effectLst/>
        </p:spPr>
      </p:pic>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Hypervisor Architectures</a:t>
            </a:r>
            <a:endParaRPr lang="en-US" dirty="0"/>
          </a:p>
        </p:txBody>
      </p:sp>
      <p:sp>
        <p:nvSpPr>
          <p:cNvPr id="3" name="Content Placeholder 2"/>
          <p:cNvSpPr>
            <a:spLocks noGrp="1"/>
          </p:cNvSpPr>
          <p:nvPr>
            <p:ph idx="1"/>
          </p:nvPr>
        </p:nvSpPr>
        <p:spPr/>
        <p:txBody>
          <a:bodyPr>
            <a:normAutofit fontScale="85000" lnSpcReduction="20000"/>
          </a:bodyPr>
          <a:lstStyle/>
          <a:p>
            <a:r>
              <a:rPr lang="en-US" b="1" dirty="0" smtClean="0"/>
              <a:t>Monolithic Hypervisors</a:t>
            </a:r>
          </a:p>
          <a:p>
            <a:pPr lvl="1"/>
            <a:r>
              <a:rPr lang="en-US" dirty="0" smtClean="0"/>
              <a:t>In a </a:t>
            </a:r>
            <a:r>
              <a:rPr lang="en-US" b="1" dirty="0" smtClean="0"/>
              <a:t>monolithic hypervisor</a:t>
            </a:r>
            <a:r>
              <a:rPr lang="en-US" dirty="0" smtClean="0"/>
              <a:t>, </a:t>
            </a:r>
            <a:r>
              <a:rPr lang="en-US" b="1" dirty="0" smtClean="0"/>
              <a:t>most system services run inside the hypervisor kernel itself</a:t>
            </a:r>
            <a:r>
              <a:rPr lang="en-US" dirty="0" smtClean="0"/>
              <a:t>, including:</a:t>
            </a:r>
          </a:p>
          <a:p>
            <a:pPr lvl="1"/>
            <a:r>
              <a:rPr lang="en-US" dirty="0" smtClean="0"/>
              <a:t>Device drivers</a:t>
            </a:r>
          </a:p>
          <a:p>
            <a:pPr lvl="1"/>
            <a:r>
              <a:rPr lang="en-US" dirty="0" smtClean="0"/>
              <a:t>Memory manager</a:t>
            </a:r>
          </a:p>
          <a:p>
            <a:pPr lvl="1"/>
            <a:r>
              <a:rPr lang="en-US" dirty="0" smtClean="0"/>
              <a:t>CPU scheduler</a:t>
            </a:r>
          </a:p>
          <a:p>
            <a:pPr lvl="1"/>
            <a:r>
              <a:rPr lang="en-US" dirty="0" smtClean="0"/>
              <a:t>I/O stack</a:t>
            </a:r>
          </a:p>
          <a:p>
            <a:pPr lvl="1"/>
            <a:r>
              <a:rPr lang="en-US" dirty="0" smtClean="0"/>
              <a:t>The hypervisor acts almost like a </a:t>
            </a:r>
            <a:r>
              <a:rPr lang="en-US" b="1" dirty="0" smtClean="0"/>
              <a:t>mini operating system</a:t>
            </a:r>
            <a:r>
              <a:rPr lang="en-US" dirty="0" smtClean="0"/>
              <a:t>.</a:t>
            </a:r>
          </a:p>
          <a:p>
            <a:pPr lvl="1"/>
            <a:r>
              <a:rPr lang="en-US" dirty="0" smtClean="0"/>
              <a:t>VMware </a:t>
            </a:r>
            <a:r>
              <a:rPr lang="en-US" dirty="0" err="1" smtClean="0"/>
              <a:t>ESXi</a:t>
            </a:r>
            <a:r>
              <a:rPr lang="en-US" dirty="0" smtClean="0"/>
              <a:t> and </a:t>
            </a:r>
            <a:r>
              <a:rPr lang="en-US" dirty="0" err="1" smtClean="0"/>
              <a:t>Xen</a:t>
            </a:r>
            <a:r>
              <a:rPr lang="en-US" dirty="0" smtClean="0"/>
              <a:t> (early versions) are classic examples.</a:t>
            </a:r>
          </a:p>
          <a:p>
            <a:r>
              <a:rPr lang="en-US" b="1" dirty="0" smtClean="0"/>
              <a:t>Key Architectural Characteristics</a:t>
            </a:r>
          </a:p>
          <a:p>
            <a:r>
              <a:rPr lang="en-US" dirty="0" smtClean="0"/>
              <a:t>Drivers execute in </a:t>
            </a:r>
            <a:r>
              <a:rPr lang="en-US" b="1" dirty="0" smtClean="0"/>
              <a:t>kernel mode</a:t>
            </a:r>
            <a:endParaRPr lang="en-US" dirty="0" smtClean="0"/>
          </a:p>
          <a:p>
            <a:r>
              <a:rPr lang="en-US" dirty="0" smtClean="0"/>
              <a:t>Fewer context switches</a:t>
            </a:r>
          </a:p>
          <a:p>
            <a:r>
              <a:rPr lang="en-US" dirty="0" smtClean="0"/>
              <a:t>Tight coupling of components</a:t>
            </a:r>
          </a:p>
          <a:p>
            <a:endParaRPr lang="en-US"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Hypervisor Architectures</a:t>
            </a:r>
            <a:endParaRPr lang="en-US" dirty="0"/>
          </a:p>
        </p:txBody>
      </p:sp>
      <p:sp>
        <p:nvSpPr>
          <p:cNvPr id="3" name="Content Placeholder 2"/>
          <p:cNvSpPr>
            <a:spLocks noGrp="1"/>
          </p:cNvSpPr>
          <p:nvPr>
            <p:ph idx="1"/>
          </p:nvPr>
        </p:nvSpPr>
        <p:spPr/>
        <p:txBody>
          <a:bodyPr/>
          <a:lstStyle/>
          <a:p>
            <a:r>
              <a:rPr lang="en-US" b="1" dirty="0" smtClean="0"/>
              <a:t>Advantages</a:t>
            </a:r>
          </a:p>
          <a:p>
            <a:r>
              <a:rPr lang="en-US" dirty="0" smtClean="0"/>
              <a:t>High performance (direct driver access)</a:t>
            </a:r>
          </a:p>
          <a:p>
            <a:r>
              <a:rPr lang="en-US" dirty="0" smtClean="0"/>
              <a:t>Low I/O latency</a:t>
            </a:r>
          </a:p>
          <a:p>
            <a:r>
              <a:rPr lang="en-US" dirty="0" smtClean="0"/>
              <a:t>Efficient for enterprise servers</a:t>
            </a:r>
          </a:p>
          <a:p>
            <a:r>
              <a:rPr lang="en-US" b="1" dirty="0" smtClean="0"/>
              <a:t>Disadvantages</a:t>
            </a:r>
          </a:p>
          <a:p>
            <a:r>
              <a:rPr lang="en-US" dirty="0" smtClean="0"/>
              <a:t>Large trusted computing base (TCB)</a:t>
            </a:r>
          </a:p>
          <a:p>
            <a:r>
              <a:rPr lang="en-US" dirty="0" smtClean="0"/>
              <a:t>Driver bugs can crash the entire system</a:t>
            </a:r>
          </a:p>
          <a:p>
            <a:r>
              <a:rPr lang="en-US" dirty="0" smtClean="0"/>
              <a:t>Larger attack surface</a:t>
            </a:r>
          </a:p>
          <a:p>
            <a:endParaRPr lang="en-US"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Hypervisor Architectures</a:t>
            </a:r>
            <a:endParaRPr lang="en-US" dirty="0"/>
          </a:p>
        </p:txBody>
      </p:sp>
      <p:sp>
        <p:nvSpPr>
          <p:cNvPr id="3" name="Content Placeholder 2"/>
          <p:cNvSpPr>
            <a:spLocks noGrp="1"/>
          </p:cNvSpPr>
          <p:nvPr>
            <p:ph idx="1"/>
          </p:nvPr>
        </p:nvSpPr>
        <p:spPr/>
        <p:txBody>
          <a:bodyPr>
            <a:normAutofit fontScale="92500" lnSpcReduction="10000"/>
          </a:bodyPr>
          <a:lstStyle/>
          <a:p>
            <a:r>
              <a:rPr lang="en-US" b="1" dirty="0" smtClean="0"/>
              <a:t>Microkernel Hypervisor Architecture</a:t>
            </a:r>
          </a:p>
          <a:p>
            <a:pPr lvl="1"/>
            <a:r>
              <a:rPr lang="en-US" dirty="0" smtClean="0"/>
              <a:t>A </a:t>
            </a:r>
            <a:r>
              <a:rPr lang="en-US" b="1" dirty="0" smtClean="0"/>
              <a:t>microkernel hypervisor</a:t>
            </a:r>
            <a:r>
              <a:rPr lang="en-US" dirty="0" smtClean="0"/>
              <a:t> keeps only </a:t>
            </a:r>
            <a:r>
              <a:rPr lang="en-US" b="1" dirty="0" smtClean="0"/>
              <a:t>essential functionality</a:t>
            </a:r>
            <a:r>
              <a:rPr lang="en-US" dirty="0" smtClean="0"/>
              <a:t> inside the hypervisor:</a:t>
            </a:r>
          </a:p>
          <a:p>
            <a:pPr lvl="2"/>
            <a:r>
              <a:rPr lang="en-US" dirty="0" smtClean="0"/>
              <a:t>CPU scheduling</a:t>
            </a:r>
          </a:p>
          <a:p>
            <a:pPr lvl="2"/>
            <a:r>
              <a:rPr lang="en-US" dirty="0" smtClean="0"/>
              <a:t>Memory isolation</a:t>
            </a:r>
          </a:p>
          <a:p>
            <a:pPr lvl="2"/>
            <a:r>
              <a:rPr lang="en-US" dirty="0" smtClean="0"/>
              <a:t>Interrupt handling</a:t>
            </a:r>
          </a:p>
          <a:p>
            <a:r>
              <a:rPr lang="en-US" dirty="0" smtClean="0"/>
              <a:t>All </a:t>
            </a:r>
            <a:r>
              <a:rPr lang="en-US" b="1" dirty="0" smtClean="0"/>
              <a:t>non-critical services</a:t>
            </a:r>
            <a:r>
              <a:rPr lang="en-US" dirty="0" smtClean="0"/>
              <a:t>, especially </a:t>
            </a:r>
            <a:r>
              <a:rPr lang="en-US" b="1" dirty="0" smtClean="0"/>
              <a:t>device drivers</a:t>
            </a:r>
            <a:r>
              <a:rPr lang="en-US" dirty="0" smtClean="0"/>
              <a:t>, run in </a:t>
            </a:r>
            <a:r>
              <a:rPr lang="en-US" b="1" dirty="0" smtClean="0"/>
              <a:t>user space</a:t>
            </a:r>
            <a:r>
              <a:rPr lang="en-US" dirty="0" smtClean="0"/>
              <a:t> or </a:t>
            </a:r>
            <a:r>
              <a:rPr lang="en-US" b="1" dirty="0" smtClean="0"/>
              <a:t>separate service VMs</a:t>
            </a:r>
            <a:r>
              <a:rPr lang="en-US" dirty="0" smtClean="0"/>
              <a:t>.</a:t>
            </a:r>
          </a:p>
          <a:p>
            <a:r>
              <a:rPr lang="en-US" dirty="0" smtClean="0"/>
              <a:t>Modern </a:t>
            </a:r>
            <a:r>
              <a:rPr lang="en-US" dirty="0" err="1" smtClean="0"/>
              <a:t>Xen</a:t>
            </a:r>
            <a:r>
              <a:rPr lang="en-US" dirty="0" smtClean="0"/>
              <a:t> follows this approach.</a:t>
            </a:r>
          </a:p>
          <a:p>
            <a:r>
              <a:rPr lang="en-US" b="1" dirty="0" smtClean="0"/>
              <a:t>Key Architectural Characteristics</a:t>
            </a:r>
          </a:p>
          <a:p>
            <a:pPr lvl="1"/>
            <a:r>
              <a:rPr lang="en-US" dirty="0" smtClean="0"/>
              <a:t>Drivers outside the hypervisor</a:t>
            </a:r>
          </a:p>
          <a:p>
            <a:pPr lvl="1"/>
            <a:r>
              <a:rPr lang="en-US" dirty="0" smtClean="0"/>
              <a:t>Strong fault isolation</a:t>
            </a:r>
          </a:p>
          <a:p>
            <a:pPr lvl="1"/>
            <a:r>
              <a:rPr lang="en-US" dirty="0" smtClean="0"/>
              <a:t>Message-passing based design</a:t>
            </a:r>
          </a:p>
          <a:p>
            <a:endParaRPr lang="en-US"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Advantages</a:t>
            </a:r>
          </a:p>
          <a:p>
            <a:r>
              <a:rPr lang="en-US" dirty="0" smtClean="0"/>
              <a:t>High security</a:t>
            </a:r>
          </a:p>
          <a:p>
            <a:r>
              <a:rPr lang="en-US" dirty="0" smtClean="0"/>
              <a:t>Fault isolation (driver crash ≠ system crash)</a:t>
            </a:r>
          </a:p>
          <a:p>
            <a:r>
              <a:rPr lang="en-US" dirty="0" smtClean="0"/>
              <a:t>Smaller attack surface</a:t>
            </a:r>
          </a:p>
          <a:p>
            <a:r>
              <a:rPr lang="en-US" b="1" dirty="0" smtClean="0"/>
              <a:t>Disadvantages</a:t>
            </a:r>
          </a:p>
          <a:p>
            <a:r>
              <a:rPr lang="en-US" dirty="0" smtClean="0"/>
              <a:t>More context switches</a:t>
            </a:r>
          </a:p>
          <a:p>
            <a:r>
              <a:rPr lang="en-US" dirty="0" smtClean="0"/>
              <a:t>Slightly higher latency</a:t>
            </a:r>
          </a:p>
          <a:p>
            <a:r>
              <a:rPr lang="en-US" dirty="0" smtClean="0"/>
              <a:t>Complex design</a:t>
            </a:r>
          </a:p>
          <a:p>
            <a:endParaRPr lang="en-US"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Hypervisor Architectures</a:t>
            </a:r>
            <a:endParaRPr lang="en-US" dirty="0"/>
          </a:p>
        </p:txBody>
      </p:sp>
      <p:pic>
        <p:nvPicPr>
          <p:cNvPr id="4098" name="Picture 2"/>
          <p:cNvPicPr>
            <a:picLocks noGrp="1" noChangeAspect="1" noChangeArrowheads="1"/>
          </p:cNvPicPr>
          <p:nvPr>
            <p:ph idx="1"/>
          </p:nvPr>
        </p:nvPicPr>
        <p:blipFill>
          <a:blip r:embed="rId2"/>
          <a:srcRect/>
          <a:stretch>
            <a:fillRect/>
          </a:stretch>
        </p:blipFill>
        <p:spPr bwMode="auto">
          <a:xfrm>
            <a:off x="2347389" y="1853106"/>
            <a:ext cx="7497222" cy="4296375"/>
          </a:xfrm>
          <a:prstGeom prst="rect">
            <a:avLst/>
          </a:prstGeom>
          <a:noFill/>
          <a:ln w="9525">
            <a:noFill/>
            <a:miter lim="800000"/>
            <a:headEnd/>
            <a:tailEnd/>
          </a:ln>
          <a:effectLst/>
        </p:spPr>
      </p:pic>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Hypervisor Architectures</a:t>
            </a:r>
            <a:endParaRPr lang="en-US" dirty="0"/>
          </a:p>
        </p:txBody>
      </p:sp>
      <p:sp>
        <p:nvSpPr>
          <p:cNvPr id="3" name="Content Placeholder 2"/>
          <p:cNvSpPr>
            <a:spLocks noGrp="1"/>
          </p:cNvSpPr>
          <p:nvPr>
            <p:ph idx="1"/>
          </p:nvPr>
        </p:nvSpPr>
        <p:spPr/>
        <p:txBody>
          <a:bodyPr>
            <a:normAutofit fontScale="70000" lnSpcReduction="20000"/>
          </a:bodyPr>
          <a:lstStyle/>
          <a:p>
            <a:r>
              <a:rPr lang="en-US" b="1" dirty="0" smtClean="0"/>
              <a:t>Hosted Hypervisor Architecture (Type-2 as Architecture)</a:t>
            </a:r>
          </a:p>
          <a:p>
            <a:pPr>
              <a:buNone/>
            </a:pPr>
            <a:r>
              <a:rPr lang="en-US" b="1" dirty="0" smtClean="0"/>
              <a:t>		Type-2 </a:t>
            </a:r>
            <a:r>
              <a:rPr lang="en-US" b="1" i="1" dirty="0" smtClean="0"/>
              <a:t>can</a:t>
            </a:r>
            <a:r>
              <a:rPr lang="en-US" b="1" dirty="0" smtClean="0"/>
              <a:t> be treated architecturally</a:t>
            </a:r>
            <a:r>
              <a:rPr lang="en-US" dirty="0" smtClean="0"/>
              <a:t>.</a:t>
            </a:r>
          </a:p>
          <a:p>
            <a:r>
              <a:rPr lang="en-US" dirty="0" smtClean="0"/>
              <a:t>In hosted architecture, the hypervisor runs as an </a:t>
            </a:r>
            <a:r>
              <a:rPr lang="en-US" b="1" dirty="0" smtClean="0"/>
              <a:t>application on top of a host OS</a:t>
            </a:r>
            <a:r>
              <a:rPr lang="en-US" dirty="0" smtClean="0"/>
              <a:t> and relies entirely on the host for:</a:t>
            </a:r>
          </a:p>
          <a:p>
            <a:pPr lvl="1"/>
            <a:r>
              <a:rPr lang="en-US" dirty="0" smtClean="0"/>
              <a:t>Device drivers</a:t>
            </a:r>
          </a:p>
          <a:p>
            <a:pPr lvl="1"/>
            <a:r>
              <a:rPr lang="en-US" dirty="0" smtClean="0"/>
              <a:t>Memory management</a:t>
            </a:r>
          </a:p>
          <a:p>
            <a:pPr lvl="1"/>
            <a:r>
              <a:rPr lang="en-US" dirty="0" smtClean="0"/>
              <a:t>Scheduling support</a:t>
            </a:r>
          </a:p>
          <a:p>
            <a:r>
              <a:rPr lang="en-US" dirty="0" smtClean="0"/>
              <a:t>Example: VMware Workstation</a:t>
            </a:r>
          </a:p>
          <a:p>
            <a:r>
              <a:rPr lang="en-US" b="1" dirty="0" smtClean="0"/>
              <a:t>Architectural Characteristics</a:t>
            </a:r>
          </a:p>
          <a:p>
            <a:pPr lvl="1"/>
            <a:r>
              <a:rPr lang="en-US" dirty="0" smtClean="0"/>
              <a:t>Hypervisor in user space</a:t>
            </a:r>
          </a:p>
          <a:p>
            <a:pPr lvl="1"/>
            <a:r>
              <a:rPr lang="en-US" dirty="0" smtClean="0"/>
              <a:t>Heavy reliance on host OS</a:t>
            </a:r>
          </a:p>
          <a:p>
            <a:pPr lvl="1"/>
            <a:r>
              <a:rPr lang="en-US" dirty="0" smtClean="0"/>
              <a:t>Hardware access is indirect</a:t>
            </a:r>
          </a:p>
          <a:p>
            <a:r>
              <a:rPr lang="en-US" b="1" dirty="0" smtClean="0"/>
              <a:t>Architectural Implication</a:t>
            </a:r>
          </a:p>
          <a:p>
            <a:pPr lvl="1"/>
            <a:r>
              <a:rPr lang="en-US" dirty="0" smtClean="0"/>
              <a:t>Not suitable for production servers</a:t>
            </a:r>
          </a:p>
          <a:p>
            <a:pPr lvl="1"/>
            <a:r>
              <a:rPr lang="en-US" dirty="0" smtClean="0"/>
              <a:t>Useful for development and testing</a:t>
            </a:r>
          </a:p>
          <a:p>
            <a:endParaRPr lang="en-US"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Hypervisor Architectures</a:t>
            </a:r>
            <a:endParaRPr lang="en-US" dirty="0"/>
          </a:p>
        </p:txBody>
      </p:sp>
      <p:sp>
        <p:nvSpPr>
          <p:cNvPr id="3" name="Content Placeholder 2"/>
          <p:cNvSpPr>
            <a:spLocks noGrp="1"/>
          </p:cNvSpPr>
          <p:nvPr>
            <p:ph idx="1"/>
          </p:nvPr>
        </p:nvSpPr>
        <p:spPr/>
        <p:txBody>
          <a:bodyPr>
            <a:normAutofit fontScale="92500" lnSpcReduction="20000"/>
          </a:bodyPr>
          <a:lstStyle/>
          <a:p>
            <a:r>
              <a:rPr lang="en-US" b="1" dirty="0" smtClean="0"/>
              <a:t>Hybrid Hypervisor </a:t>
            </a:r>
            <a:r>
              <a:rPr lang="en-US" b="1" dirty="0" smtClean="0"/>
              <a:t>Architecture</a:t>
            </a:r>
            <a:endParaRPr lang="en-US" b="1" dirty="0" smtClean="0"/>
          </a:p>
          <a:p>
            <a:r>
              <a:rPr lang="en-US" b="1" dirty="0" smtClean="0"/>
              <a:t>Concept</a:t>
            </a:r>
          </a:p>
          <a:p>
            <a:r>
              <a:rPr lang="en-US" dirty="0" smtClean="0"/>
              <a:t>A </a:t>
            </a:r>
            <a:r>
              <a:rPr lang="en-US" b="1" dirty="0" smtClean="0"/>
              <a:t>hybrid architecture</a:t>
            </a:r>
            <a:r>
              <a:rPr lang="en-US" dirty="0" smtClean="0"/>
              <a:t> combines:</a:t>
            </a:r>
          </a:p>
          <a:p>
            <a:r>
              <a:rPr lang="en-US" dirty="0" smtClean="0"/>
              <a:t>Type-1 execution (runs on hardware)</a:t>
            </a:r>
          </a:p>
          <a:p>
            <a:r>
              <a:rPr lang="en-US" dirty="0" smtClean="0"/>
              <a:t>Host OS components for driver reuse</a:t>
            </a:r>
          </a:p>
          <a:p>
            <a:r>
              <a:rPr lang="en-US" dirty="0" smtClean="0"/>
              <a:t>Best example: KVM</a:t>
            </a:r>
          </a:p>
          <a:p>
            <a:r>
              <a:rPr lang="en-US" b="1" dirty="0" smtClean="0"/>
              <a:t>Why this matters</a:t>
            </a:r>
          </a:p>
          <a:p>
            <a:r>
              <a:rPr lang="en-US" dirty="0" smtClean="0"/>
              <a:t>Reuses mature Linux drivers</a:t>
            </a:r>
          </a:p>
          <a:p>
            <a:r>
              <a:rPr lang="en-US" dirty="0" smtClean="0"/>
              <a:t>Maintains near bare-metal performance</a:t>
            </a:r>
          </a:p>
          <a:p>
            <a:r>
              <a:rPr lang="en-US" dirty="0" smtClean="0"/>
              <a:t>Extremely popular in cloud platforms</a:t>
            </a:r>
          </a:p>
          <a:p>
            <a:endParaRPr lang="en-US"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Virtualization of Memory in Multi-Core Systems</a:t>
            </a:r>
            <a:endParaRPr lang="en-US" b="1" dirty="0"/>
          </a:p>
        </p:txBody>
      </p:sp>
      <p:sp>
        <p:nvSpPr>
          <p:cNvPr id="3" name="Content Placeholder 2"/>
          <p:cNvSpPr>
            <a:spLocks noGrp="1"/>
          </p:cNvSpPr>
          <p:nvPr>
            <p:ph idx="1"/>
          </p:nvPr>
        </p:nvSpPr>
        <p:spPr/>
        <p:txBody>
          <a:bodyPr/>
          <a:lstStyle/>
          <a:p>
            <a:r>
              <a:rPr lang="en-US" dirty="0" smtClean="0"/>
              <a:t>Memory virtualization must provide each VM with the illusion of contiguous physical memory while efficiently sharing limited RAM.</a:t>
            </a:r>
          </a:p>
          <a:p>
            <a:r>
              <a:rPr lang="en-US" dirty="0" smtClean="0"/>
              <a:t>Challenges include:</a:t>
            </a:r>
          </a:p>
          <a:p>
            <a:pPr lvl="1"/>
            <a:r>
              <a:rPr lang="en-US" dirty="0" smtClean="0"/>
              <a:t>Address translation overhead</a:t>
            </a:r>
          </a:p>
          <a:p>
            <a:pPr lvl="1"/>
            <a:r>
              <a:rPr lang="en-US" dirty="0" smtClean="0"/>
              <a:t>Memory isolation</a:t>
            </a:r>
          </a:p>
          <a:p>
            <a:pPr lvl="1"/>
            <a:r>
              <a:rPr lang="en-US" dirty="0" smtClean="0"/>
              <a:t>NUMA awareness in multi-core systems</a:t>
            </a:r>
          </a:p>
          <a:p>
            <a:r>
              <a:rPr lang="en-US" b="1" dirty="0" smtClean="0"/>
              <a:t>Address Translation</a:t>
            </a:r>
          </a:p>
          <a:p>
            <a:pPr lvl="1"/>
            <a:r>
              <a:rPr lang="en-US" dirty="0" smtClean="0"/>
              <a:t>Guest OS uses virtual addresses that are mapped to guest physical addresses. The hypervisor then maps these to machine physical addresses.</a:t>
            </a:r>
          </a:p>
          <a:p>
            <a:endParaRPr lang="en-US"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Virtualization of Memory in Multi-Core Systems</a:t>
            </a:r>
            <a:endParaRPr lang="en-US" dirty="0"/>
          </a:p>
        </p:txBody>
      </p:sp>
      <p:sp>
        <p:nvSpPr>
          <p:cNvPr id="3" name="Content Placeholder 2"/>
          <p:cNvSpPr>
            <a:spLocks noGrp="1"/>
          </p:cNvSpPr>
          <p:nvPr>
            <p:ph idx="1"/>
          </p:nvPr>
        </p:nvSpPr>
        <p:spPr/>
        <p:txBody>
          <a:bodyPr>
            <a:normAutofit fontScale="92500" lnSpcReduction="20000"/>
          </a:bodyPr>
          <a:lstStyle/>
          <a:p>
            <a:r>
              <a:rPr lang="en-US" b="1" dirty="0" smtClean="0"/>
              <a:t>Shadow Page Tables</a:t>
            </a:r>
          </a:p>
          <a:p>
            <a:pPr lvl="1"/>
            <a:r>
              <a:rPr lang="en-US" dirty="0" smtClean="0"/>
              <a:t>Early virtualization systems used shadow page tables maintained by the hypervisor to translate addresses. This approach introduced high overhead due to frequent synchronization.</a:t>
            </a:r>
          </a:p>
          <a:p>
            <a:r>
              <a:rPr lang="en-US" b="1" dirty="0" smtClean="0"/>
              <a:t>Hardware-Assisted Paging</a:t>
            </a:r>
          </a:p>
          <a:p>
            <a:pPr lvl="1"/>
            <a:r>
              <a:rPr lang="en-US" dirty="0" smtClean="0"/>
              <a:t>Modern CPUs support nested paging (e.g., Extended Page Tables or Rapid Virtualization Indexing). This allows hardware to handle two-level translation efficiently.</a:t>
            </a:r>
          </a:p>
          <a:p>
            <a:r>
              <a:rPr lang="en-US" b="1" dirty="0" smtClean="0"/>
              <a:t>Memory </a:t>
            </a:r>
            <a:r>
              <a:rPr lang="en-US" b="1" dirty="0" err="1" smtClean="0"/>
              <a:t>Overcommitment</a:t>
            </a:r>
            <a:endParaRPr lang="en-US" b="1" dirty="0" smtClean="0"/>
          </a:p>
          <a:p>
            <a:pPr lvl="1"/>
            <a:r>
              <a:rPr lang="en-US" dirty="0" smtClean="0"/>
              <a:t>Hypervisors may allocate more virtual memory than physically available RAM, relying on techniques such as:</a:t>
            </a:r>
          </a:p>
          <a:p>
            <a:pPr lvl="2"/>
            <a:r>
              <a:rPr lang="en-US" dirty="0" smtClean="0"/>
              <a:t>Ballooning</a:t>
            </a:r>
          </a:p>
          <a:p>
            <a:pPr lvl="2"/>
            <a:r>
              <a:rPr lang="en-US" dirty="0" smtClean="0"/>
              <a:t>Page sharing (</a:t>
            </a:r>
            <a:r>
              <a:rPr lang="en-US" dirty="0" err="1" smtClean="0"/>
              <a:t>deduplication</a:t>
            </a:r>
            <a:r>
              <a:rPr lang="en-US" dirty="0" smtClean="0"/>
              <a:t>)</a:t>
            </a:r>
          </a:p>
          <a:p>
            <a:pPr lvl="2"/>
            <a:r>
              <a:rPr lang="en-US" dirty="0" smtClean="0"/>
              <a:t>Swapping</a:t>
            </a:r>
          </a:p>
          <a:p>
            <a:endParaRPr lang="en-US"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Virtualization of I/O in Multi-Core Systems</a:t>
            </a:r>
            <a:endParaRPr lang="en-US" b="1" dirty="0"/>
          </a:p>
        </p:txBody>
      </p:sp>
      <p:sp>
        <p:nvSpPr>
          <p:cNvPr id="3" name="Content Placeholder 2"/>
          <p:cNvSpPr>
            <a:spLocks noGrp="1"/>
          </p:cNvSpPr>
          <p:nvPr>
            <p:ph idx="1"/>
          </p:nvPr>
        </p:nvSpPr>
        <p:spPr/>
        <p:txBody>
          <a:bodyPr>
            <a:normAutofit fontScale="92500" lnSpcReduction="10000"/>
          </a:bodyPr>
          <a:lstStyle/>
          <a:p>
            <a:r>
              <a:rPr lang="en-US" b="1" dirty="0" smtClean="0"/>
              <a:t>I/O Virtualization Challenges</a:t>
            </a:r>
          </a:p>
          <a:p>
            <a:pPr lvl="1"/>
            <a:r>
              <a:rPr lang="en-US" dirty="0" smtClean="0"/>
              <a:t>I/O devices are </a:t>
            </a:r>
            <a:r>
              <a:rPr lang="en-US" dirty="0" err="1" smtClean="0"/>
              <a:t>stateful</a:t>
            </a:r>
            <a:r>
              <a:rPr lang="en-US" dirty="0" smtClean="0"/>
              <a:t> and slow compared to CPUs. Efficient sharing while maintaining isolation is difficult.</a:t>
            </a:r>
          </a:p>
          <a:p>
            <a:r>
              <a:rPr lang="en-US" b="1" dirty="0" smtClean="0"/>
              <a:t>Device Emulation</a:t>
            </a:r>
          </a:p>
          <a:p>
            <a:pPr lvl="1"/>
            <a:r>
              <a:rPr lang="en-US" dirty="0" smtClean="0"/>
              <a:t>The hypervisor emulates standard hardware devices. This ensures compatibility but increases overhead due to context switches.</a:t>
            </a:r>
          </a:p>
          <a:p>
            <a:r>
              <a:rPr lang="en-US" b="1" dirty="0" err="1" smtClean="0"/>
              <a:t>Paravirtualized</a:t>
            </a:r>
            <a:r>
              <a:rPr lang="en-US" b="1" dirty="0" smtClean="0"/>
              <a:t> I/O</a:t>
            </a:r>
          </a:p>
          <a:p>
            <a:pPr lvl="1"/>
            <a:r>
              <a:rPr lang="en-US" dirty="0" smtClean="0"/>
              <a:t>Guest OS uses special drivers to communicate efficiently with the hypervisor, reducing overhead.</a:t>
            </a:r>
          </a:p>
          <a:p>
            <a:r>
              <a:rPr lang="en-US" b="1" dirty="0" smtClean="0"/>
              <a:t>Direct Device Assignment</a:t>
            </a:r>
          </a:p>
          <a:p>
            <a:pPr lvl="1"/>
            <a:r>
              <a:rPr lang="en-US" dirty="0" smtClean="0"/>
              <a:t>Technologies like IOMMU allow safe direct access to physical devices by a VM, improving performance while preserving isolation.</a:t>
            </a:r>
          </a:p>
          <a:p>
            <a:endParaRPr lang="en-US"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Memory Isolation and Protection in Virtualized Environments</a:t>
            </a:r>
            <a:endParaRPr lang="en-US" b="1" dirty="0"/>
          </a:p>
        </p:txBody>
      </p:sp>
      <p:sp>
        <p:nvSpPr>
          <p:cNvPr id="3" name="Content Placeholder 2"/>
          <p:cNvSpPr>
            <a:spLocks noGrp="1"/>
          </p:cNvSpPr>
          <p:nvPr>
            <p:ph idx="1"/>
          </p:nvPr>
        </p:nvSpPr>
        <p:spPr/>
        <p:txBody>
          <a:bodyPr>
            <a:normAutofit fontScale="92500" lnSpcReduction="20000"/>
          </a:bodyPr>
          <a:lstStyle/>
          <a:p>
            <a:r>
              <a:rPr lang="en-US" b="1" dirty="0" smtClean="0"/>
              <a:t>Importance of Memory Isolation</a:t>
            </a:r>
          </a:p>
          <a:p>
            <a:pPr lvl="1"/>
            <a:r>
              <a:rPr lang="en-US" dirty="0" smtClean="0"/>
              <a:t>Memory isolation prevents unauthorized access between VMs and protects the hypervisor from malicious guests.</a:t>
            </a:r>
          </a:p>
          <a:p>
            <a:r>
              <a:rPr lang="en-US" b="1" dirty="0" smtClean="0"/>
              <a:t>Hardware Support</a:t>
            </a:r>
          </a:p>
          <a:p>
            <a:pPr lvl="1"/>
            <a:r>
              <a:rPr lang="en-US" dirty="0" smtClean="0"/>
              <a:t>CPU features enforce memory access permissions at multiple levels. Unauthorized memory access triggers traps handled by the hypervisor.</a:t>
            </a:r>
          </a:p>
          <a:p>
            <a:r>
              <a:rPr lang="en-US" b="1" dirty="0" smtClean="0"/>
              <a:t>Protection Mechanisms</a:t>
            </a:r>
          </a:p>
          <a:p>
            <a:pPr lvl="1"/>
            <a:r>
              <a:rPr lang="en-US" dirty="0" smtClean="0"/>
              <a:t>Page-level access control</a:t>
            </a:r>
          </a:p>
          <a:p>
            <a:pPr lvl="1"/>
            <a:r>
              <a:rPr lang="en-US" dirty="0" smtClean="0"/>
              <a:t>Address space separation</a:t>
            </a:r>
          </a:p>
          <a:p>
            <a:pPr lvl="1"/>
            <a:r>
              <a:rPr lang="en-US" dirty="0" smtClean="0"/>
              <a:t>IOMMU for DMA protection</a:t>
            </a:r>
          </a:p>
          <a:p>
            <a:r>
              <a:rPr lang="en-US" b="1" dirty="0" smtClean="0"/>
              <a:t>Security Implications</a:t>
            </a:r>
          </a:p>
          <a:p>
            <a:pPr lvl="1"/>
            <a:r>
              <a:rPr lang="en-US" dirty="0" smtClean="0"/>
              <a:t>Weak isolation can lead to VM escape attacks. Strong memory protection is fundamental to secure virtualization.</a:t>
            </a:r>
          </a:p>
          <a:p>
            <a:endParaRPr lang="en-US"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Case Study – Memory Management in Linux</a:t>
            </a:r>
            <a:endParaRPr lang="en-US" b="1" dirty="0"/>
          </a:p>
        </p:txBody>
      </p:sp>
      <p:sp>
        <p:nvSpPr>
          <p:cNvPr id="3" name="Content Placeholder 2"/>
          <p:cNvSpPr>
            <a:spLocks noGrp="1"/>
          </p:cNvSpPr>
          <p:nvPr>
            <p:ph idx="1"/>
          </p:nvPr>
        </p:nvSpPr>
        <p:spPr/>
        <p:txBody>
          <a:bodyPr/>
          <a:lstStyle/>
          <a:p>
            <a:r>
              <a:rPr lang="en-US" b="1" dirty="0" smtClean="0"/>
              <a:t>Linux Memory Architecture</a:t>
            </a:r>
          </a:p>
          <a:p>
            <a:pPr lvl="1"/>
            <a:r>
              <a:rPr lang="en-US" dirty="0" smtClean="0"/>
              <a:t>Linux uses virtual memory with demand paging. Each process has its own address space protected by the kernel.</a:t>
            </a:r>
          </a:p>
          <a:p>
            <a:r>
              <a:rPr lang="en-US" b="1" dirty="0" smtClean="0"/>
              <a:t>Paging and Swapping</a:t>
            </a:r>
          </a:p>
          <a:p>
            <a:pPr lvl="1"/>
            <a:r>
              <a:rPr lang="en-US" dirty="0" smtClean="0"/>
              <a:t>Linux manages RAM using page replacement algorithms and can swap pages to disk under memory pressure.</a:t>
            </a:r>
          </a:p>
          <a:p>
            <a:r>
              <a:rPr lang="en-US" b="1" dirty="0" smtClean="0"/>
              <a:t>Linux as a Guest OS</a:t>
            </a:r>
          </a:p>
          <a:p>
            <a:pPr lvl="1"/>
            <a:r>
              <a:rPr lang="en-US" dirty="0" smtClean="0"/>
              <a:t>When running inside a VM, Linux cooperates with the hypervisor through </a:t>
            </a:r>
            <a:r>
              <a:rPr lang="en-US" dirty="0" err="1" smtClean="0"/>
              <a:t>paravirtualized</a:t>
            </a:r>
            <a:r>
              <a:rPr lang="en-US" dirty="0" smtClean="0"/>
              <a:t> drivers for memory and I/O efficiency.</a:t>
            </a:r>
          </a:p>
          <a:p>
            <a:endParaRPr lang="en-US"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Case Studies – Virtualization Technologies</a:t>
            </a:r>
            <a:endParaRPr lang="en-US" b="1" dirty="0"/>
          </a:p>
        </p:txBody>
      </p:sp>
      <p:sp>
        <p:nvSpPr>
          <p:cNvPr id="3" name="Content Placeholder 2"/>
          <p:cNvSpPr>
            <a:spLocks noGrp="1"/>
          </p:cNvSpPr>
          <p:nvPr>
            <p:ph idx="1"/>
          </p:nvPr>
        </p:nvSpPr>
        <p:spPr/>
        <p:txBody>
          <a:bodyPr>
            <a:normAutofit lnSpcReduction="10000"/>
          </a:bodyPr>
          <a:lstStyle/>
          <a:p>
            <a:r>
              <a:rPr lang="en-US" b="1" dirty="0" err="1" smtClean="0"/>
              <a:t>Xen</a:t>
            </a:r>
            <a:endParaRPr lang="en-US" b="1" dirty="0" smtClean="0"/>
          </a:p>
          <a:p>
            <a:pPr lvl="1"/>
            <a:r>
              <a:rPr lang="en-US" dirty="0" err="1" smtClean="0"/>
              <a:t>Xen</a:t>
            </a:r>
            <a:r>
              <a:rPr lang="en-US" dirty="0" smtClean="0"/>
              <a:t> introduced </a:t>
            </a:r>
            <a:r>
              <a:rPr lang="en-US" dirty="0" err="1" smtClean="0"/>
              <a:t>paravirtualization</a:t>
            </a:r>
            <a:r>
              <a:rPr lang="en-US" dirty="0" smtClean="0"/>
              <a:t>, where guest </a:t>
            </a:r>
            <a:r>
              <a:rPr lang="en-US" dirty="0" err="1" smtClean="0"/>
              <a:t>OSes</a:t>
            </a:r>
            <a:r>
              <a:rPr lang="en-US" dirty="0" smtClean="0"/>
              <a:t> are modified to interact efficiently with the hypervisor. Modern </a:t>
            </a:r>
            <a:r>
              <a:rPr lang="en-US" dirty="0" err="1" smtClean="0"/>
              <a:t>Xen</a:t>
            </a:r>
            <a:r>
              <a:rPr lang="en-US" dirty="0" smtClean="0"/>
              <a:t> also supports hardware-assisted virtualization.</a:t>
            </a:r>
          </a:p>
          <a:p>
            <a:r>
              <a:rPr lang="en-US" b="1" dirty="0" smtClean="0"/>
              <a:t>VMware</a:t>
            </a:r>
          </a:p>
          <a:p>
            <a:pPr lvl="1"/>
            <a:r>
              <a:rPr lang="en-US" dirty="0" smtClean="0"/>
              <a:t>VMware popularized full virtualization using binary translation and later adopted hardware-assisted virtualization. Its memory management techniques such as transparent page sharing are widely studied.</a:t>
            </a:r>
          </a:p>
          <a:p>
            <a:r>
              <a:rPr lang="en-US" b="1" dirty="0" smtClean="0"/>
              <a:t>AMD-V</a:t>
            </a:r>
          </a:p>
          <a:p>
            <a:pPr lvl="1"/>
            <a:r>
              <a:rPr lang="en-US" dirty="0" smtClean="0"/>
              <a:t>AMD-V provides hardware extensions for CPU and memory virtualization, including nested page tables. These features significantly reduce hypervisor overhead and improve performance.</a:t>
            </a:r>
          </a:p>
          <a:p>
            <a:endParaRPr lang="en-US"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Thank You</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3528</TotalTime>
  <Words>7651</Words>
  <Application>Microsoft Office PowerPoint</Application>
  <PresentationFormat>Custom</PresentationFormat>
  <Paragraphs>875</Paragraphs>
  <Slides>144</Slides>
  <Notes>2</Notes>
  <HiddenSlides>0</HiddenSlides>
  <MMClips>0</MMClips>
  <ScaleCrop>false</ScaleCrop>
  <HeadingPairs>
    <vt:vector size="4" baseType="variant">
      <vt:variant>
        <vt:lpstr>Theme</vt:lpstr>
      </vt:variant>
      <vt:variant>
        <vt:i4>1</vt:i4>
      </vt:variant>
      <vt:variant>
        <vt:lpstr>Slide Titles</vt:lpstr>
      </vt:variant>
      <vt:variant>
        <vt:i4>144</vt:i4>
      </vt:variant>
    </vt:vector>
  </HeadingPairs>
  <TitlesOfParts>
    <vt:vector size="145" baseType="lpstr">
      <vt:lpstr>Office Theme</vt:lpstr>
      <vt:lpstr>Unit 3 Memory Management and Virtualization</vt:lpstr>
      <vt:lpstr>Introduction to Memory Management</vt:lpstr>
      <vt:lpstr>Introduction to Memory Management</vt:lpstr>
      <vt:lpstr>Logical and Physical Address </vt:lpstr>
      <vt:lpstr>Logical and Physical Address </vt:lpstr>
      <vt:lpstr>Logical and Physical Address </vt:lpstr>
      <vt:lpstr>Physical and Logical Address Space</vt:lpstr>
      <vt:lpstr>Memory Allocation Techniques</vt:lpstr>
      <vt:lpstr>Contiguous Memory Allocation</vt:lpstr>
      <vt:lpstr>Contiguous Memory Allocation</vt:lpstr>
      <vt:lpstr>Contiguous Memory Allocation-Fixed Partition Allocation</vt:lpstr>
      <vt:lpstr>Contiguous Memory Allocation-Fixed Partition Allocation</vt:lpstr>
      <vt:lpstr>Contiguous Memory Allocation-Fixed Partition Allocation</vt:lpstr>
      <vt:lpstr>Contiguous Memory Allocation-Fixed Partition Allocation</vt:lpstr>
      <vt:lpstr>Contiguous Memory Allocation-Fixed Partition Allocation</vt:lpstr>
      <vt:lpstr>Contiguous Memory Allocation-Dynamic Partition</vt:lpstr>
      <vt:lpstr>Contiguous Memory Allocation-Dynamic Partition</vt:lpstr>
      <vt:lpstr>Contiguous Memory Allocation-Dynamic Partition</vt:lpstr>
      <vt:lpstr>Fixed vs Variable Partitioning</vt:lpstr>
      <vt:lpstr>External Fragmentation</vt:lpstr>
      <vt:lpstr>Memory Allocation Policies</vt:lpstr>
      <vt:lpstr>Memory Allocation Policies</vt:lpstr>
      <vt:lpstr>Memory Allocation Policies</vt:lpstr>
      <vt:lpstr>Memory Allocation Policies : Problem</vt:lpstr>
      <vt:lpstr>Memory Allocation Policies : Solution</vt:lpstr>
      <vt:lpstr>Memory Allocation Policies : Solution</vt:lpstr>
      <vt:lpstr>Memory Allocation Policies : Solution</vt:lpstr>
      <vt:lpstr>Memory Allocation Policies : Problem</vt:lpstr>
      <vt:lpstr>Memory Allocation Policies : Solution</vt:lpstr>
      <vt:lpstr>Memory Protection: Base and Limit Registers</vt:lpstr>
      <vt:lpstr>Memory Protection: Base and Limit Registers</vt:lpstr>
      <vt:lpstr>Memory Protection: Base and Limit Registers</vt:lpstr>
      <vt:lpstr>Memory Fragmentation</vt:lpstr>
      <vt:lpstr>Memory Fragmentation-Internal Fragmentation</vt:lpstr>
      <vt:lpstr>Memory Fragmentation-Internal Fragmentation</vt:lpstr>
      <vt:lpstr>Memory Fragmentation-Internal Fragmentation</vt:lpstr>
      <vt:lpstr>Memory Fragmentation-External Fragmentation</vt:lpstr>
      <vt:lpstr>Memory Fragmentation-External Fragmentation</vt:lpstr>
      <vt:lpstr>Dealing With Fragmentation</vt:lpstr>
      <vt:lpstr>Coalescing </vt:lpstr>
      <vt:lpstr>Compaction</vt:lpstr>
      <vt:lpstr>Non-Contiguous Memory Allocation</vt:lpstr>
      <vt:lpstr>How to deal with insufficient Memory?</vt:lpstr>
      <vt:lpstr>Virtual Memory</vt:lpstr>
      <vt:lpstr>Paging</vt:lpstr>
      <vt:lpstr>Paging</vt:lpstr>
      <vt:lpstr>Paging-Example</vt:lpstr>
      <vt:lpstr>Paging-Example</vt:lpstr>
      <vt:lpstr>Paging</vt:lpstr>
      <vt:lpstr>Page Table</vt:lpstr>
      <vt:lpstr>Page Table Entry(PTE)</vt:lpstr>
      <vt:lpstr>Page Table Entry(PTE)</vt:lpstr>
      <vt:lpstr>Characteristics of the Page Table</vt:lpstr>
      <vt:lpstr>Address Translation</vt:lpstr>
      <vt:lpstr>Address Translation-Example</vt:lpstr>
      <vt:lpstr>Address Translation-Example</vt:lpstr>
      <vt:lpstr>Address Translation</vt:lpstr>
      <vt:lpstr>Address Translation</vt:lpstr>
      <vt:lpstr>Address Translation</vt:lpstr>
      <vt:lpstr>Address Translation</vt:lpstr>
      <vt:lpstr>Page Fault</vt:lpstr>
      <vt:lpstr>Issues with Paging</vt:lpstr>
      <vt:lpstr>Issues with Paging</vt:lpstr>
      <vt:lpstr>Translation Lookaside Buffer (TLB)</vt:lpstr>
      <vt:lpstr>Translation Lookaside Buffer (TLB)</vt:lpstr>
      <vt:lpstr>Translation Lookaside Buffer (TLB)</vt:lpstr>
      <vt:lpstr>Slide 67</vt:lpstr>
      <vt:lpstr>Direct vs Associative Mapping</vt:lpstr>
      <vt:lpstr>Demand Paging</vt:lpstr>
      <vt:lpstr>Demand Paging</vt:lpstr>
      <vt:lpstr>Frame Allocation Algorithm</vt:lpstr>
      <vt:lpstr>Frame Allocation Algorithm</vt:lpstr>
      <vt:lpstr>Frame Allocation Algorithm</vt:lpstr>
      <vt:lpstr>Thrashing</vt:lpstr>
      <vt:lpstr>Page Replacement</vt:lpstr>
      <vt:lpstr>Page Replacement Procedure</vt:lpstr>
      <vt:lpstr>Page Replacement Algorithm</vt:lpstr>
      <vt:lpstr> Page Replacement Algorithm-The Optimal Page Replacement (OPR) algorithm </vt:lpstr>
      <vt:lpstr> Page Replacement Algorithm-The Optimal Page Replacement (OPR) algorithm </vt:lpstr>
      <vt:lpstr> Page Replacement Algorithm-The Optimal Page Replacement (OPR) algorithm-Example </vt:lpstr>
      <vt:lpstr> Page Replacement Algorithm-The Optimal Page Replacement (OPR) algorithm-Example </vt:lpstr>
      <vt:lpstr> Page Replacement Algorithm- First In First Out(FIFO) Page Replacement Algorithm </vt:lpstr>
      <vt:lpstr> Page Replacement Algorithm-First In First Out(FIFO) Page Replacement Algorithm </vt:lpstr>
      <vt:lpstr> Page Replacement Algorithm-Least Recently Used(LRU) Page Replacement Algorithm </vt:lpstr>
      <vt:lpstr> Page Replacement Algorithm-Least Recently Used(LRU) Page Replacement Algorithm-Example </vt:lpstr>
      <vt:lpstr> Page Replacement Algorithm-Second Chance Page (SCP) Replacement Algorithm </vt:lpstr>
      <vt:lpstr>Page Replacement Algorithm-Second Chance Page (SCP) Replacement Algorithm</vt:lpstr>
      <vt:lpstr>Page Replacement Algorithm-Second Chance Page (SCP) Replacement Algorithm</vt:lpstr>
      <vt:lpstr>Page Replacement Algorithm-Second Chance Page (SCP) Replacement Algorithm</vt:lpstr>
      <vt:lpstr> Page Replacement Algorithm-Second Chance Page (SCP) Replacement Algorithm-Example </vt:lpstr>
      <vt:lpstr>Clock Page Replacement Algorithm</vt:lpstr>
      <vt:lpstr>Clock Page Replacement Algorithm</vt:lpstr>
      <vt:lpstr>Segmentation</vt:lpstr>
      <vt:lpstr>Segmentation</vt:lpstr>
      <vt:lpstr>Segmentation</vt:lpstr>
      <vt:lpstr>Segmentation</vt:lpstr>
      <vt:lpstr>Advantages of Segmentation</vt:lpstr>
      <vt:lpstr>Address Translation in Segmentation</vt:lpstr>
      <vt:lpstr>Segmentation Example</vt:lpstr>
      <vt:lpstr>Combining paging and Segmentation: Paged Segmentation</vt:lpstr>
      <vt:lpstr>Paged Segmentation</vt:lpstr>
      <vt:lpstr>Advanced Virtual Memory: Huge Pages &amp; Transparent Huge Pages (THP)</vt:lpstr>
      <vt:lpstr>Huge pages</vt:lpstr>
      <vt:lpstr>Huge pages</vt:lpstr>
      <vt:lpstr>Mechanism of Huge Pages</vt:lpstr>
      <vt:lpstr>Types of Huge Pages in Linux </vt:lpstr>
      <vt:lpstr>How Paging Works with Huge Pages </vt:lpstr>
      <vt:lpstr>Example how TLB hit increases</vt:lpstr>
      <vt:lpstr>Transparent Huge Pages (THP)</vt:lpstr>
      <vt:lpstr>Linux Commands</vt:lpstr>
      <vt:lpstr>Transparent Huge Pages (THP)</vt:lpstr>
      <vt:lpstr>Clock-Pro Algorithm</vt:lpstr>
      <vt:lpstr>Clock-Pro – Example Explained</vt:lpstr>
      <vt:lpstr>Clock-Pro Solution</vt:lpstr>
      <vt:lpstr>WSClock Algorithm</vt:lpstr>
      <vt:lpstr>WSClock Algorithm</vt:lpstr>
      <vt:lpstr>WSClock Algorithm Page States </vt:lpstr>
      <vt:lpstr>Slide 118</vt:lpstr>
      <vt:lpstr>WSClock Algorithm</vt:lpstr>
      <vt:lpstr>Slide 120</vt:lpstr>
      <vt:lpstr>Slide 121</vt:lpstr>
      <vt:lpstr>Slide 122</vt:lpstr>
      <vt:lpstr>Slide 123</vt:lpstr>
      <vt:lpstr>VIRTUALIZATION</vt:lpstr>
      <vt:lpstr>Principles for Virtualization</vt:lpstr>
      <vt:lpstr>Hypervisor Architectures</vt:lpstr>
      <vt:lpstr>Hypervisor Architectures</vt:lpstr>
      <vt:lpstr>Hypervisor Architectures</vt:lpstr>
      <vt:lpstr>Hypervisor Architectures</vt:lpstr>
      <vt:lpstr>Hypervisor Architectures</vt:lpstr>
      <vt:lpstr>Hypervisor Architectures</vt:lpstr>
      <vt:lpstr>Hypervisor Architectures</vt:lpstr>
      <vt:lpstr>Hypervisor Architectures</vt:lpstr>
      <vt:lpstr>Slide 134</vt:lpstr>
      <vt:lpstr>Hypervisor Architectures</vt:lpstr>
      <vt:lpstr>Hypervisor Architectures</vt:lpstr>
      <vt:lpstr>Hypervisor Architectures</vt:lpstr>
      <vt:lpstr>Virtualization of Memory in Multi-Core Systems</vt:lpstr>
      <vt:lpstr>Virtualization of Memory in Multi-Core Systems</vt:lpstr>
      <vt:lpstr>Virtualization of I/O in Multi-Core Systems</vt:lpstr>
      <vt:lpstr>Memory Isolation and Protection in Virtualized Environments</vt:lpstr>
      <vt:lpstr>Case Study – Memory Management in Linux</vt:lpstr>
      <vt:lpstr>Case Studies – Virtualization Technologies</vt:lpstr>
      <vt:lpstr>Slide 144</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4 Deadlocks</dc:title>
  <dc:creator>User</dc:creator>
  <cp:lastModifiedBy>Bishwadeep Mainaly</cp:lastModifiedBy>
  <cp:revision>210</cp:revision>
  <dcterms:created xsi:type="dcterms:W3CDTF">2022-01-24T14:05:04Z</dcterms:created>
  <dcterms:modified xsi:type="dcterms:W3CDTF">2026-06-23T06:42:44Z</dcterms:modified>
</cp:coreProperties>
</file>