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9.xml" ContentType="application/vnd.openxmlformats-officedocument.presentationml.notesSlide+xml"/>
  <Override PartName="/ppt/slides/slide79.xml" ContentType="application/vnd.openxmlformats-officedocument.presentationml.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09" r:id="rId16"/>
    <p:sldId id="271" r:id="rId17"/>
    <p:sldId id="270" r:id="rId18"/>
    <p:sldId id="311" r:id="rId19"/>
    <p:sldId id="310" r:id="rId20"/>
    <p:sldId id="312" r:id="rId21"/>
    <p:sldId id="313" r:id="rId22"/>
    <p:sldId id="314" r:id="rId23"/>
    <p:sldId id="316" r:id="rId24"/>
    <p:sldId id="317" r:id="rId25"/>
    <p:sldId id="318" r:id="rId26"/>
    <p:sldId id="319" r:id="rId27"/>
    <p:sldId id="320" r:id="rId28"/>
    <p:sldId id="321" r:id="rId29"/>
    <p:sldId id="322" r:id="rId30"/>
    <p:sldId id="323" r:id="rId31"/>
    <p:sldId id="324" r:id="rId32"/>
    <p:sldId id="315" r:id="rId33"/>
    <p:sldId id="325" r:id="rId34"/>
    <p:sldId id="326" r:id="rId35"/>
    <p:sldId id="327" r:id="rId36"/>
    <p:sldId id="328" r:id="rId37"/>
    <p:sldId id="329" r:id="rId38"/>
    <p:sldId id="330" r:id="rId39"/>
    <p:sldId id="331" r:id="rId40"/>
    <p:sldId id="332" r:id="rId41"/>
    <p:sldId id="333" r:id="rId42"/>
    <p:sldId id="334" r:id="rId43"/>
    <p:sldId id="335" r:id="rId44"/>
    <p:sldId id="336" r:id="rId45"/>
    <p:sldId id="337" r:id="rId46"/>
    <p:sldId id="338" r:id="rId47"/>
    <p:sldId id="339" r:id="rId48"/>
    <p:sldId id="340" r:id="rId49"/>
    <p:sldId id="341" r:id="rId50"/>
    <p:sldId id="342" r:id="rId51"/>
    <p:sldId id="343" r:id="rId52"/>
    <p:sldId id="344" r:id="rId53"/>
    <p:sldId id="349" r:id="rId54"/>
    <p:sldId id="350" r:id="rId55"/>
    <p:sldId id="352" r:id="rId56"/>
    <p:sldId id="353" r:id="rId57"/>
    <p:sldId id="351" r:id="rId58"/>
    <p:sldId id="354" r:id="rId59"/>
    <p:sldId id="348" r:id="rId60"/>
    <p:sldId id="345" r:id="rId61"/>
    <p:sldId id="356" r:id="rId62"/>
    <p:sldId id="357" r:id="rId63"/>
    <p:sldId id="358" r:id="rId64"/>
    <p:sldId id="359" r:id="rId65"/>
    <p:sldId id="360" r:id="rId66"/>
    <p:sldId id="361" r:id="rId67"/>
    <p:sldId id="362" r:id="rId68"/>
    <p:sldId id="355" r:id="rId69"/>
    <p:sldId id="346" r:id="rId70"/>
    <p:sldId id="364" r:id="rId71"/>
    <p:sldId id="365" r:id="rId72"/>
    <p:sldId id="366" r:id="rId73"/>
    <p:sldId id="367" r:id="rId74"/>
    <p:sldId id="363" r:id="rId75"/>
    <p:sldId id="347" r:id="rId76"/>
    <p:sldId id="369" r:id="rId77"/>
    <p:sldId id="370" r:id="rId78"/>
    <p:sldId id="372" r:id="rId79"/>
    <p:sldId id="373" r:id="rId80"/>
    <p:sldId id="374" r:id="rId81"/>
    <p:sldId id="368" r:id="rId82"/>
    <p:sldId id="375" r:id="rId83"/>
    <p:sldId id="376" r:id="rId84"/>
    <p:sldId id="377" r:id="rId85"/>
    <p:sldId id="378" r:id="rId86"/>
    <p:sldId id="379" r:id="rId87"/>
    <p:sldId id="380" r:id="rId88"/>
    <p:sldId id="381"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3750" autoAdjust="0"/>
    <p:restoredTop sz="94624" autoAdjust="0"/>
  </p:normalViewPr>
  <p:slideViewPr>
    <p:cSldViewPr snapToGrid="0">
      <p:cViewPr varScale="1">
        <p:scale>
          <a:sx n="67" d="100"/>
          <a:sy n="67" d="100"/>
        </p:scale>
        <p:origin x="-688" y="-7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E6D2EB-AF7E-4B5D-8B48-9C7CC579E8B6}" type="datetimeFigureOut">
              <a:rPr lang="en-US" smtClean="0"/>
              <a:pPr/>
              <a:t>2/4/2026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723C4-3D4A-44C6-AB41-1E562017B26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 xmlns:a16="http://schemas.microsoft.com/office/drawing/2014/main" id="{3D3D95D8-77BD-0C26-4CDB-A30A654ABA49}"/>
              </a:ext>
            </a:extLst>
          </p:cNvPr>
          <p:cNvSpPr>
            <a:spLocks noGrp="1" noRot="1" noChangeAspect="1" noChangeArrowheads="1" noTextEdit="1"/>
          </p:cNvSpPr>
          <p:nvPr>
            <p:ph type="sldImg"/>
          </p:nvPr>
        </p:nvSpPr>
        <p:spPr>
          <a:ln/>
        </p:spPr>
      </p:sp>
      <p:sp>
        <p:nvSpPr>
          <p:cNvPr id="26627" name="Notes Placeholder 2">
            <a:extLst>
              <a:ext uri="{FF2B5EF4-FFF2-40B4-BE49-F238E27FC236}">
                <a16:creationId xmlns="" xmlns:a16="http://schemas.microsoft.com/office/drawing/2014/main" id="{560729CF-95AE-31B5-3405-352B3D142345}"/>
              </a:ext>
            </a:extLst>
          </p:cNvPr>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nl-BE" altLang="nl-BE">
              <a:latin typeface="Arial" panose="020B0604020202020204" pitchFamily="34" charset="0"/>
            </a:endParaRPr>
          </a:p>
        </p:txBody>
      </p:sp>
      <p:sp>
        <p:nvSpPr>
          <p:cNvPr id="26628" name="Slide Number Placeholder 3">
            <a:extLst>
              <a:ext uri="{FF2B5EF4-FFF2-40B4-BE49-F238E27FC236}">
                <a16:creationId xmlns="" xmlns:a16="http://schemas.microsoft.com/office/drawing/2014/main" id="{3B153C60-9813-AB0C-13C6-6C61A07DE37B}"/>
              </a:ext>
            </a:extLst>
          </p:cNvPr>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Arial" panose="020B0604020202020204" pitchFamily="34" charset="0"/>
              </a:defRPr>
            </a:lvl1pPr>
            <a:lvl2pPr marL="742950" indent="-285750" defTabSz="954088">
              <a:defRPr>
                <a:solidFill>
                  <a:schemeClr val="tx1"/>
                </a:solidFill>
                <a:latin typeface="Arial" panose="020B0604020202020204" pitchFamily="34" charset="0"/>
              </a:defRPr>
            </a:lvl2pPr>
            <a:lvl3pPr marL="1143000" indent="-228600" defTabSz="954088">
              <a:defRPr>
                <a:solidFill>
                  <a:schemeClr val="tx1"/>
                </a:solidFill>
                <a:latin typeface="Arial" panose="020B0604020202020204" pitchFamily="34" charset="0"/>
              </a:defRPr>
            </a:lvl3pPr>
            <a:lvl4pPr marL="1600200" indent="-228600" defTabSz="954088">
              <a:defRPr>
                <a:solidFill>
                  <a:schemeClr val="tx1"/>
                </a:solidFill>
                <a:latin typeface="Arial" panose="020B0604020202020204" pitchFamily="34" charset="0"/>
              </a:defRPr>
            </a:lvl4pPr>
            <a:lvl5pPr marL="2057400" indent="-228600" defTabSz="954088">
              <a:defRPr>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a:solidFill>
                  <a:schemeClr val="tx1"/>
                </a:solidFill>
                <a:latin typeface="Arial" panose="020B0604020202020204" pitchFamily="34" charset="0"/>
              </a:defRPr>
            </a:lvl9pPr>
          </a:lstStyle>
          <a:p>
            <a:fld id="{93534227-D97F-41E1-B19D-05780EF82AE9}" type="slidenum">
              <a:rPr lang="en-GB" altLang="nl-BE" smtClean="0"/>
              <a:pPr/>
              <a:t>23</a:t>
            </a:fld>
            <a:endParaRPr lang="en-GB" altLang="nl-B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 xmlns:a16="http://schemas.microsoft.com/office/drawing/2014/main" id="{FCC10C43-0DC7-D90E-531D-719929B48807}"/>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 xmlns:a16="http://schemas.microsoft.com/office/drawing/2014/main" id="{804E1259-616D-595F-AC73-7F1081C3D3BA}"/>
              </a:ext>
            </a:extLst>
          </p:cNvPr>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nl-BE" altLang="nl-BE">
              <a:latin typeface="Arial" panose="020B0604020202020204" pitchFamily="34" charset="0"/>
            </a:endParaRPr>
          </a:p>
        </p:txBody>
      </p:sp>
      <p:sp>
        <p:nvSpPr>
          <p:cNvPr id="28676" name="Slide Number Placeholder 3">
            <a:extLst>
              <a:ext uri="{FF2B5EF4-FFF2-40B4-BE49-F238E27FC236}">
                <a16:creationId xmlns="" xmlns:a16="http://schemas.microsoft.com/office/drawing/2014/main" id="{14E593E6-BC20-C148-2EE2-C03622BAD379}"/>
              </a:ext>
            </a:extLst>
          </p:cNvPr>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Arial" panose="020B0604020202020204" pitchFamily="34" charset="0"/>
              </a:defRPr>
            </a:lvl1pPr>
            <a:lvl2pPr marL="742950" indent="-285750" defTabSz="954088">
              <a:defRPr>
                <a:solidFill>
                  <a:schemeClr val="tx1"/>
                </a:solidFill>
                <a:latin typeface="Arial" panose="020B0604020202020204" pitchFamily="34" charset="0"/>
              </a:defRPr>
            </a:lvl2pPr>
            <a:lvl3pPr marL="1143000" indent="-228600" defTabSz="954088">
              <a:defRPr>
                <a:solidFill>
                  <a:schemeClr val="tx1"/>
                </a:solidFill>
                <a:latin typeface="Arial" panose="020B0604020202020204" pitchFamily="34" charset="0"/>
              </a:defRPr>
            </a:lvl3pPr>
            <a:lvl4pPr marL="1600200" indent="-228600" defTabSz="954088">
              <a:defRPr>
                <a:solidFill>
                  <a:schemeClr val="tx1"/>
                </a:solidFill>
                <a:latin typeface="Arial" panose="020B0604020202020204" pitchFamily="34" charset="0"/>
              </a:defRPr>
            </a:lvl4pPr>
            <a:lvl5pPr marL="2057400" indent="-228600" defTabSz="954088">
              <a:defRPr>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a:solidFill>
                  <a:schemeClr val="tx1"/>
                </a:solidFill>
                <a:latin typeface="Arial" panose="020B0604020202020204" pitchFamily="34" charset="0"/>
              </a:defRPr>
            </a:lvl9pPr>
          </a:lstStyle>
          <a:p>
            <a:fld id="{480CE445-3FB6-44ED-BA5F-BD3A3F6B1A68}" type="slidenum">
              <a:rPr lang="en-GB" altLang="nl-BE" smtClean="0"/>
              <a:pPr/>
              <a:t>24</a:t>
            </a:fld>
            <a:endParaRPr lang="en-GB" altLang="nl-B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 xmlns:a16="http://schemas.microsoft.com/office/drawing/2014/main" id="{F8FAF26D-093C-EB91-B3E1-63A065A31359}"/>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 xmlns:a16="http://schemas.microsoft.com/office/drawing/2014/main" id="{573C3614-D58B-ED60-5117-3826E06F46F2}"/>
              </a:ext>
            </a:extLst>
          </p:cNvPr>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nl-BE" altLang="nl-BE">
              <a:latin typeface="Arial" panose="020B0604020202020204" pitchFamily="34" charset="0"/>
            </a:endParaRPr>
          </a:p>
        </p:txBody>
      </p:sp>
      <p:sp>
        <p:nvSpPr>
          <p:cNvPr id="30724" name="Slide Number Placeholder 3">
            <a:extLst>
              <a:ext uri="{FF2B5EF4-FFF2-40B4-BE49-F238E27FC236}">
                <a16:creationId xmlns="" xmlns:a16="http://schemas.microsoft.com/office/drawing/2014/main" id="{C9400189-4A2F-801D-3CF4-2E8E051AB0F2}"/>
              </a:ext>
            </a:extLst>
          </p:cNvPr>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Arial" panose="020B0604020202020204" pitchFamily="34" charset="0"/>
              </a:defRPr>
            </a:lvl1pPr>
            <a:lvl2pPr marL="742950" indent="-285750" defTabSz="954088">
              <a:defRPr>
                <a:solidFill>
                  <a:schemeClr val="tx1"/>
                </a:solidFill>
                <a:latin typeface="Arial" panose="020B0604020202020204" pitchFamily="34" charset="0"/>
              </a:defRPr>
            </a:lvl2pPr>
            <a:lvl3pPr marL="1143000" indent="-228600" defTabSz="954088">
              <a:defRPr>
                <a:solidFill>
                  <a:schemeClr val="tx1"/>
                </a:solidFill>
                <a:latin typeface="Arial" panose="020B0604020202020204" pitchFamily="34" charset="0"/>
              </a:defRPr>
            </a:lvl3pPr>
            <a:lvl4pPr marL="1600200" indent="-228600" defTabSz="954088">
              <a:defRPr>
                <a:solidFill>
                  <a:schemeClr val="tx1"/>
                </a:solidFill>
                <a:latin typeface="Arial" panose="020B0604020202020204" pitchFamily="34" charset="0"/>
              </a:defRPr>
            </a:lvl4pPr>
            <a:lvl5pPr marL="2057400" indent="-228600" defTabSz="954088">
              <a:defRPr>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a:solidFill>
                  <a:schemeClr val="tx1"/>
                </a:solidFill>
                <a:latin typeface="Arial" panose="020B0604020202020204" pitchFamily="34" charset="0"/>
              </a:defRPr>
            </a:lvl9pPr>
          </a:lstStyle>
          <a:p>
            <a:fld id="{370E846F-F308-4BCC-811F-2998F28DD957}" type="slidenum">
              <a:rPr lang="en-GB" altLang="nl-BE" smtClean="0"/>
              <a:pPr/>
              <a:t>25</a:t>
            </a:fld>
            <a:endParaRPr lang="en-GB" altLang="nl-B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 xmlns:a16="http://schemas.microsoft.com/office/drawing/2014/main" id="{3EFE27C9-833F-6346-AD34-716ABDF465E1}"/>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 xmlns:a16="http://schemas.microsoft.com/office/drawing/2014/main" id="{B7BE07A0-2124-8CC3-8A40-4A034B3119A0}"/>
              </a:ext>
            </a:extLst>
          </p:cNvPr>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nl-BE" altLang="nl-BE">
              <a:latin typeface="Arial" panose="020B0604020202020204" pitchFamily="34" charset="0"/>
            </a:endParaRPr>
          </a:p>
        </p:txBody>
      </p:sp>
      <p:sp>
        <p:nvSpPr>
          <p:cNvPr id="32772" name="Slide Number Placeholder 3">
            <a:extLst>
              <a:ext uri="{FF2B5EF4-FFF2-40B4-BE49-F238E27FC236}">
                <a16:creationId xmlns="" xmlns:a16="http://schemas.microsoft.com/office/drawing/2014/main" id="{F233959C-23C1-335D-F119-C518AFE1FDDB}"/>
              </a:ext>
            </a:extLst>
          </p:cNvPr>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Arial" panose="020B0604020202020204" pitchFamily="34" charset="0"/>
              </a:defRPr>
            </a:lvl1pPr>
            <a:lvl2pPr marL="742950" indent="-285750" defTabSz="954088">
              <a:defRPr>
                <a:solidFill>
                  <a:schemeClr val="tx1"/>
                </a:solidFill>
                <a:latin typeface="Arial" panose="020B0604020202020204" pitchFamily="34" charset="0"/>
              </a:defRPr>
            </a:lvl2pPr>
            <a:lvl3pPr marL="1143000" indent="-228600" defTabSz="954088">
              <a:defRPr>
                <a:solidFill>
                  <a:schemeClr val="tx1"/>
                </a:solidFill>
                <a:latin typeface="Arial" panose="020B0604020202020204" pitchFamily="34" charset="0"/>
              </a:defRPr>
            </a:lvl3pPr>
            <a:lvl4pPr marL="1600200" indent="-228600" defTabSz="954088">
              <a:defRPr>
                <a:solidFill>
                  <a:schemeClr val="tx1"/>
                </a:solidFill>
                <a:latin typeface="Arial" panose="020B0604020202020204" pitchFamily="34" charset="0"/>
              </a:defRPr>
            </a:lvl4pPr>
            <a:lvl5pPr marL="2057400" indent="-228600" defTabSz="954088">
              <a:defRPr>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a:solidFill>
                  <a:schemeClr val="tx1"/>
                </a:solidFill>
                <a:latin typeface="Arial" panose="020B0604020202020204" pitchFamily="34" charset="0"/>
              </a:defRPr>
            </a:lvl9pPr>
          </a:lstStyle>
          <a:p>
            <a:fld id="{64744C4D-52B9-4C3B-ABAF-4CF4BDFD7A85}" type="slidenum">
              <a:rPr lang="en-GB" altLang="nl-BE" smtClean="0"/>
              <a:pPr/>
              <a:t>26</a:t>
            </a:fld>
            <a:endParaRPr lang="en-GB" altLang="nl-B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 xmlns:a16="http://schemas.microsoft.com/office/drawing/2014/main" id="{0A0C3C42-10F8-E1FE-F752-BF5FA0484B3C}"/>
              </a:ext>
            </a:extLst>
          </p:cNvPr>
          <p:cNvSpPr>
            <a:spLocks noGrp="1" noRot="1" noChangeAspect="1" noChangeArrowheads="1" noTextEdit="1"/>
          </p:cNvSpPr>
          <p:nvPr>
            <p:ph type="sldImg"/>
          </p:nvPr>
        </p:nvSpPr>
        <p:spPr>
          <a:ln/>
        </p:spPr>
      </p:sp>
      <p:sp>
        <p:nvSpPr>
          <p:cNvPr id="34819" name="Notes Placeholder 2">
            <a:extLst>
              <a:ext uri="{FF2B5EF4-FFF2-40B4-BE49-F238E27FC236}">
                <a16:creationId xmlns="" xmlns:a16="http://schemas.microsoft.com/office/drawing/2014/main" id="{DC52EDB7-3199-E691-12EF-B5565BAC265A}"/>
              </a:ext>
            </a:extLst>
          </p:cNvPr>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nl-BE" altLang="nl-BE">
              <a:latin typeface="Arial" panose="020B0604020202020204" pitchFamily="34" charset="0"/>
            </a:endParaRPr>
          </a:p>
        </p:txBody>
      </p:sp>
      <p:sp>
        <p:nvSpPr>
          <p:cNvPr id="34820" name="Slide Number Placeholder 3">
            <a:extLst>
              <a:ext uri="{FF2B5EF4-FFF2-40B4-BE49-F238E27FC236}">
                <a16:creationId xmlns="" xmlns:a16="http://schemas.microsoft.com/office/drawing/2014/main" id="{3748B187-7C7C-2007-9203-6F8524B00A36}"/>
              </a:ext>
            </a:extLst>
          </p:cNvPr>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Arial" panose="020B0604020202020204" pitchFamily="34" charset="0"/>
              </a:defRPr>
            </a:lvl1pPr>
            <a:lvl2pPr marL="742950" indent="-285750" defTabSz="954088">
              <a:defRPr>
                <a:solidFill>
                  <a:schemeClr val="tx1"/>
                </a:solidFill>
                <a:latin typeface="Arial" panose="020B0604020202020204" pitchFamily="34" charset="0"/>
              </a:defRPr>
            </a:lvl2pPr>
            <a:lvl3pPr marL="1143000" indent="-228600" defTabSz="954088">
              <a:defRPr>
                <a:solidFill>
                  <a:schemeClr val="tx1"/>
                </a:solidFill>
                <a:latin typeface="Arial" panose="020B0604020202020204" pitchFamily="34" charset="0"/>
              </a:defRPr>
            </a:lvl3pPr>
            <a:lvl4pPr marL="1600200" indent="-228600" defTabSz="954088">
              <a:defRPr>
                <a:solidFill>
                  <a:schemeClr val="tx1"/>
                </a:solidFill>
                <a:latin typeface="Arial" panose="020B0604020202020204" pitchFamily="34" charset="0"/>
              </a:defRPr>
            </a:lvl4pPr>
            <a:lvl5pPr marL="2057400" indent="-228600" defTabSz="954088">
              <a:defRPr>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a:solidFill>
                  <a:schemeClr val="tx1"/>
                </a:solidFill>
                <a:latin typeface="Arial" panose="020B0604020202020204" pitchFamily="34" charset="0"/>
              </a:defRPr>
            </a:lvl9pPr>
          </a:lstStyle>
          <a:p>
            <a:fld id="{3D7029BC-777D-433B-854E-D321B3E07FE7}" type="slidenum">
              <a:rPr lang="en-GB" altLang="nl-BE" smtClean="0"/>
              <a:pPr/>
              <a:t>27</a:t>
            </a:fld>
            <a:endParaRPr lang="en-GB" altLang="nl-B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 xmlns:a16="http://schemas.microsoft.com/office/drawing/2014/main" id="{535199F2-DAD0-3A31-95C6-44445CB35A0E}"/>
              </a:ext>
            </a:extLst>
          </p:cNvPr>
          <p:cNvSpPr>
            <a:spLocks noGrp="1" noRot="1" noChangeAspect="1" noChangeArrowheads="1" noTextEdit="1"/>
          </p:cNvSpPr>
          <p:nvPr>
            <p:ph type="sldImg"/>
          </p:nvPr>
        </p:nvSpPr>
        <p:spPr>
          <a:ln/>
        </p:spPr>
      </p:sp>
      <p:sp>
        <p:nvSpPr>
          <p:cNvPr id="36867" name="Notes Placeholder 2">
            <a:extLst>
              <a:ext uri="{FF2B5EF4-FFF2-40B4-BE49-F238E27FC236}">
                <a16:creationId xmlns="" xmlns:a16="http://schemas.microsoft.com/office/drawing/2014/main" id="{C0C051C0-B18B-2446-8B3F-81FE4314F8BF}"/>
              </a:ext>
            </a:extLst>
          </p:cNvPr>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nl-BE" altLang="nl-BE">
              <a:latin typeface="Arial" panose="020B0604020202020204" pitchFamily="34" charset="0"/>
            </a:endParaRPr>
          </a:p>
        </p:txBody>
      </p:sp>
      <p:sp>
        <p:nvSpPr>
          <p:cNvPr id="36868" name="Slide Number Placeholder 3">
            <a:extLst>
              <a:ext uri="{FF2B5EF4-FFF2-40B4-BE49-F238E27FC236}">
                <a16:creationId xmlns="" xmlns:a16="http://schemas.microsoft.com/office/drawing/2014/main" id="{01F08A75-6221-CD7F-A113-A548A34C3BD3}"/>
              </a:ext>
            </a:extLst>
          </p:cNvPr>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Arial" panose="020B0604020202020204" pitchFamily="34" charset="0"/>
              </a:defRPr>
            </a:lvl1pPr>
            <a:lvl2pPr marL="742950" indent="-285750" defTabSz="954088">
              <a:defRPr>
                <a:solidFill>
                  <a:schemeClr val="tx1"/>
                </a:solidFill>
                <a:latin typeface="Arial" panose="020B0604020202020204" pitchFamily="34" charset="0"/>
              </a:defRPr>
            </a:lvl2pPr>
            <a:lvl3pPr marL="1143000" indent="-228600" defTabSz="954088">
              <a:defRPr>
                <a:solidFill>
                  <a:schemeClr val="tx1"/>
                </a:solidFill>
                <a:latin typeface="Arial" panose="020B0604020202020204" pitchFamily="34" charset="0"/>
              </a:defRPr>
            </a:lvl3pPr>
            <a:lvl4pPr marL="1600200" indent="-228600" defTabSz="954088">
              <a:defRPr>
                <a:solidFill>
                  <a:schemeClr val="tx1"/>
                </a:solidFill>
                <a:latin typeface="Arial" panose="020B0604020202020204" pitchFamily="34" charset="0"/>
              </a:defRPr>
            </a:lvl4pPr>
            <a:lvl5pPr marL="2057400" indent="-228600" defTabSz="954088">
              <a:defRPr>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a:solidFill>
                  <a:schemeClr val="tx1"/>
                </a:solidFill>
                <a:latin typeface="Arial" panose="020B0604020202020204" pitchFamily="34" charset="0"/>
              </a:defRPr>
            </a:lvl9pPr>
          </a:lstStyle>
          <a:p>
            <a:fld id="{BF495CA4-2D2D-41B6-9A17-F101CC77CB87}" type="slidenum">
              <a:rPr lang="en-GB" altLang="nl-BE" smtClean="0"/>
              <a:pPr/>
              <a:t>28</a:t>
            </a:fld>
            <a:endParaRPr lang="en-GB" altLang="nl-B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 xmlns:a16="http://schemas.microsoft.com/office/drawing/2014/main" id="{DF04033A-13EA-8B22-DB69-541E1633C3CE}"/>
              </a:ext>
            </a:extLst>
          </p:cNvPr>
          <p:cNvSpPr>
            <a:spLocks noGrp="1" noRot="1" noChangeAspect="1" noChangeArrowheads="1" noTextEdit="1"/>
          </p:cNvSpPr>
          <p:nvPr>
            <p:ph type="sldImg"/>
          </p:nvPr>
        </p:nvSpPr>
        <p:spPr>
          <a:ln/>
        </p:spPr>
      </p:sp>
      <p:sp>
        <p:nvSpPr>
          <p:cNvPr id="38915" name="Notes Placeholder 2">
            <a:extLst>
              <a:ext uri="{FF2B5EF4-FFF2-40B4-BE49-F238E27FC236}">
                <a16:creationId xmlns="" xmlns:a16="http://schemas.microsoft.com/office/drawing/2014/main" id="{8FED127B-93D5-6ECA-30CD-77646F775346}"/>
              </a:ext>
            </a:extLst>
          </p:cNvPr>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nl-BE" altLang="nl-BE">
              <a:latin typeface="Arial" panose="020B0604020202020204" pitchFamily="34" charset="0"/>
            </a:endParaRPr>
          </a:p>
        </p:txBody>
      </p:sp>
      <p:sp>
        <p:nvSpPr>
          <p:cNvPr id="38916" name="Slide Number Placeholder 3">
            <a:extLst>
              <a:ext uri="{FF2B5EF4-FFF2-40B4-BE49-F238E27FC236}">
                <a16:creationId xmlns="" xmlns:a16="http://schemas.microsoft.com/office/drawing/2014/main" id="{79331531-9A2B-3DC5-093D-F32A61D42823}"/>
              </a:ext>
            </a:extLst>
          </p:cNvPr>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Arial" panose="020B0604020202020204" pitchFamily="34" charset="0"/>
              </a:defRPr>
            </a:lvl1pPr>
            <a:lvl2pPr marL="742950" indent="-285750" defTabSz="954088">
              <a:defRPr>
                <a:solidFill>
                  <a:schemeClr val="tx1"/>
                </a:solidFill>
                <a:latin typeface="Arial" panose="020B0604020202020204" pitchFamily="34" charset="0"/>
              </a:defRPr>
            </a:lvl2pPr>
            <a:lvl3pPr marL="1143000" indent="-228600" defTabSz="954088">
              <a:defRPr>
                <a:solidFill>
                  <a:schemeClr val="tx1"/>
                </a:solidFill>
                <a:latin typeface="Arial" panose="020B0604020202020204" pitchFamily="34" charset="0"/>
              </a:defRPr>
            </a:lvl3pPr>
            <a:lvl4pPr marL="1600200" indent="-228600" defTabSz="954088">
              <a:defRPr>
                <a:solidFill>
                  <a:schemeClr val="tx1"/>
                </a:solidFill>
                <a:latin typeface="Arial" panose="020B0604020202020204" pitchFamily="34" charset="0"/>
              </a:defRPr>
            </a:lvl4pPr>
            <a:lvl5pPr marL="2057400" indent="-228600" defTabSz="954088">
              <a:defRPr>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a:solidFill>
                  <a:schemeClr val="tx1"/>
                </a:solidFill>
                <a:latin typeface="Arial" panose="020B0604020202020204" pitchFamily="34" charset="0"/>
              </a:defRPr>
            </a:lvl9pPr>
          </a:lstStyle>
          <a:p>
            <a:fld id="{3C399E0B-4D0F-4B1E-A8B7-592D2B5D573F}" type="slidenum">
              <a:rPr lang="en-GB" altLang="nl-BE" smtClean="0"/>
              <a:pPr/>
              <a:t>29</a:t>
            </a:fld>
            <a:endParaRPr lang="en-GB" altLang="nl-B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 xmlns:a16="http://schemas.microsoft.com/office/drawing/2014/main" id="{AA806E5F-8FD7-8E62-6F24-621D298B83DF}"/>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 xmlns:a16="http://schemas.microsoft.com/office/drawing/2014/main" id="{F3858153-CF67-1AE6-4678-61019183EEBB}"/>
              </a:ext>
            </a:extLst>
          </p:cNvPr>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nl-BE" altLang="nl-BE">
              <a:latin typeface="Arial" panose="020B0604020202020204" pitchFamily="34" charset="0"/>
            </a:endParaRPr>
          </a:p>
        </p:txBody>
      </p:sp>
      <p:sp>
        <p:nvSpPr>
          <p:cNvPr id="40964" name="Slide Number Placeholder 3">
            <a:extLst>
              <a:ext uri="{FF2B5EF4-FFF2-40B4-BE49-F238E27FC236}">
                <a16:creationId xmlns="" xmlns:a16="http://schemas.microsoft.com/office/drawing/2014/main" id="{02BD9FEC-4CF3-C2F6-056B-304086923CFC}"/>
              </a:ext>
            </a:extLst>
          </p:cNvPr>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Arial" panose="020B0604020202020204" pitchFamily="34" charset="0"/>
              </a:defRPr>
            </a:lvl1pPr>
            <a:lvl2pPr marL="742950" indent="-285750" defTabSz="954088">
              <a:defRPr>
                <a:solidFill>
                  <a:schemeClr val="tx1"/>
                </a:solidFill>
                <a:latin typeface="Arial" panose="020B0604020202020204" pitchFamily="34" charset="0"/>
              </a:defRPr>
            </a:lvl2pPr>
            <a:lvl3pPr marL="1143000" indent="-228600" defTabSz="954088">
              <a:defRPr>
                <a:solidFill>
                  <a:schemeClr val="tx1"/>
                </a:solidFill>
                <a:latin typeface="Arial" panose="020B0604020202020204" pitchFamily="34" charset="0"/>
              </a:defRPr>
            </a:lvl3pPr>
            <a:lvl4pPr marL="1600200" indent="-228600" defTabSz="954088">
              <a:defRPr>
                <a:solidFill>
                  <a:schemeClr val="tx1"/>
                </a:solidFill>
                <a:latin typeface="Arial" panose="020B0604020202020204" pitchFamily="34" charset="0"/>
              </a:defRPr>
            </a:lvl4pPr>
            <a:lvl5pPr marL="2057400" indent="-228600" defTabSz="954088">
              <a:defRPr>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a:solidFill>
                  <a:schemeClr val="tx1"/>
                </a:solidFill>
                <a:latin typeface="Arial" panose="020B0604020202020204" pitchFamily="34" charset="0"/>
              </a:defRPr>
            </a:lvl9pPr>
          </a:lstStyle>
          <a:p>
            <a:fld id="{9E888A5B-E0BA-4176-82A3-2D1D7D8EAB18}" type="slidenum">
              <a:rPr lang="en-GB" altLang="nl-BE" smtClean="0"/>
              <a:pPr/>
              <a:t>30</a:t>
            </a:fld>
            <a:endParaRPr lang="en-GB" altLang="nl-B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 xmlns:a16="http://schemas.microsoft.com/office/drawing/2014/main" id="{D3166E03-8929-5A79-8DE8-4F0500D4D9D6}"/>
              </a:ext>
            </a:extLst>
          </p:cNvPr>
          <p:cNvSpPr>
            <a:spLocks noGrp="1" noRot="1" noChangeAspect="1" noChangeArrowheads="1" noTextEdit="1"/>
          </p:cNvSpPr>
          <p:nvPr>
            <p:ph type="sldImg"/>
          </p:nvPr>
        </p:nvSpPr>
        <p:spPr>
          <a:ln/>
        </p:spPr>
      </p:sp>
      <p:sp>
        <p:nvSpPr>
          <p:cNvPr id="43011" name="Notes Placeholder 2">
            <a:extLst>
              <a:ext uri="{FF2B5EF4-FFF2-40B4-BE49-F238E27FC236}">
                <a16:creationId xmlns="" xmlns:a16="http://schemas.microsoft.com/office/drawing/2014/main" id="{F97DC828-D99C-8888-DF17-E16626D77E74}"/>
              </a:ext>
            </a:extLst>
          </p:cNvPr>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nl-BE" altLang="nl-BE">
              <a:latin typeface="Arial" panose="020B0604020202020204" pitchFamily="34" charset="0"/>
            </a:endParaRPr>
          </a:p>
        </p:txBody>
      </p:sp>
      <p:sp>
        <p:nvSpPr>
          <p:cNvPr id="43012" name="Slide Number Placeholder 3">
            <a:extLst>
              <a:ext uri="{FF2B5EF4-FFF2-40B4-BE49-F238E27FC236}">
                <a16:creationId xmlns="" xmlns:a16="http://schemas.microsoft.com/office/drawing/2014/main" id="{40BD9C3D-2F04-440A-EC3E-9F9047B0F1FE}"/>
              </a:ext>
            </a:extLst>
          </p:cNvPr>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Arial" panose="020B0604020202020204" pitchFamily="34" charset="0"/>
              </a:defRPr>
            </a:lvl1pPr>
            <a:lvl2pPr marL="742950" indent="-285750" defTabSz="954088">
              <a:defRPr>
                <a:solidFill>
                  <a:schemeClr val="tx1"/>
                </a:solidFill>
                <a:latin typeface="Arial" panose="020B0604020202020204" pitchFamily="34" charset="0"/>
              </a:defRPr>
            </a:lvl2pPr>
            <a:lvl3pPr marL="1143000" indent="-228600" defTabSz="954088">
              <a:defRPr>
                <a:solidFill>
                  <a:schemeClr val="tx1"/>
                </a:solidFill>
                <a:latin typeface="Arial" panose="020B0604020202020204" pitchFamily="34" charset="0"/>
              </a:defRPr>
            </a:lvl3pPr>
            <a:lvl4pPr marL="1600200" indent="-228600" defTabSz="954088">
              <a:defRPr>
                <a:solidFill>
                  <a:schemeClr val="tx1"/>
                </a:solidFill>
                <a:latin typeface="Arial" panose="020B0604020202020204" pitchFamily="34" charset="0"/>
              </a:defRPr>
            </a:lvl4pPr>
            <a:lvl5pPr marL="2057400" indent="-228600" defTabSz="954088">
              <a:defRPr>
                <a:solidFill>
                  <a:schemeClr val="tx1"/>
                </a:solidFill>
                <a:latin typeface="Arial" panose="020B0604020202020204" pitchFamily="34" charset="0"/>
              </a:defRPr>
            </a:lvl5pPr>
            <a:lvl6pPr marL="2514600" indent="-228600" defTabSz="954088" eaLnBrk="0" fontAlgn="base" hangingPunct="0">
              <a:spcBef>
                <a:spcPct val="0"/>
              </a:spcBef>
              <a:spcAft>
                <a:spcPct val="0"/>
              </a:spcAft>
              <a:defRPr>
                <a:solidFill>
                  <a:schemeClr val="tx1"/>
                </a:solidFill>
                <a:latin typeface="Arial" panose="020B0604020202020204" pitchFamily="34" charset="0"/>
              </a:defRPr>
            </a:lvl6pPr>
            <a:lvl7pPr marL="2971800" indent="-228600" defTabSz="954088" eaLnBrk="0" fontAlgn="base" hangingPunct="0">
              <a:spcBef>
                <a:spcPct val="0"/>
              </a:spcBef>
              <a:spcAft>
                <a:spcPct val="0"/>
              </a:spcAft>
              <a:defRPr>
                <a:solidFill>
                  <a:schemeClr val="tx1"/>
                </a:solidFill>
                <a:latin typeface="Arial" panose="020B0604020202020204" pitchFamily="34" charset="0"/>
              </a:defRPr>
            </a:lvl7pPr>
            <a:lvl8pPr marL="3429000" indent="-228600" defTabSz="954088" eaLnBrk="0" fontAlgn="base" hangingPunct="0">
              <a:spcBef>
                <a:spcPct val="0"/>
              </a:spcBef>
              <a:spcAft>
                <a:spcPct val="0"/>
              </a:spcAft>
              <a:defRPr>
                <a:solidFill>
                  <a:schemeClr val="tx1"/>
                </a:solidFill>
                <a:latin typeface="Arial" panose="020B0604020202020204" pitchFamily="34" charset="0"/>
              </a:defRPr>
            </a:lvl8pPr>
            <a:lvl9pPr marL="3886200" indent="-228600" defTabSz="954088" eaLnBrk="0" fontAlgn="base" hangingPunct="0">
              <a:spcBef>
                <a:spcPct val="0"/>
              </a:spcBef>
              <a:spcAft>
                <a:spcPct val="0"/>
              </a:spcAft>
              <a:defRPr>
                <a:solidFill>
                  <a:schemeClr val="tx1"/>
                </a:solidFill>
                <a:latin typeface="Arial" panose="020B0604020202020204" pitchFamily="34" charset="0"/>
              </a:defRPr>
            </a:lvl9pPr>
          </a:lstStyle>
          <a:p>
            <a:fld id="{D42E3B4F-4EAC-464B-BCA5-77946079A24B}" type="slidenum">
              <a:rPr lang="en-GB" altLang="nl-BE" smtClean="0"/>
              <a:pPr/>
              <a:t>31</a:t>
            </a:fld>
            <a:endParaRPr lang="en-GB" altLang="nl-B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723C4-3D4A-44C6-AB41-1E562017B26C}" type="slidenum">
              <a:rPr lang="en-US" smtClean="0"/>
              <a:pPr/>
              <a:t>60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EAC5048-271C-4645-A976-E8BC25B8C31B}"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3413215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EAC5048-271C-4645-A976-E8BC25B8C31B}"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24442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EAC5048-271C-4645-A976-E8BC25B8C31B}"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3984666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EAC5048-271C-4645-A976-E8BC25B8C31B}"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711108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EAC5048-271C-4645-A976-E8BC25B8C31B}" type="datetimeFigureOut">
              <a:rPr lang="en-US" smtClean="0"/>
              <a:pPr/>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1029523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EAC5048-271C-4645-A976-E8BC25B8C31B}" type="datetimeFigureOut">
              <a:rPr lang="en-US" smtClean="0"/>
              <a:pPr/>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2767474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AC5048-271C-4645-A976-E8BC25B8C31B}"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3540811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EAC5048-271C-4645-A976-E8BC25B8C31B}"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3365428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EAC5048-271C-4645-A976-E8BC25B8C31B}"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3212089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EAC5048-271C-4645-A976-E8BC25B8C31B}"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40636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EAC5048-271C-4645-A976-E8BC25B8C31B}"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1364561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AC5048-271C-4645-A976-E8BC25B8C31B}" type="datetimeFigureOut">
              <a:rPr lang="en-US" smtClean="0"/>
              <a:pPr/>
              <a:t>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8533C2-00AB-4DBE-9551-D6AD096326ED}" type="slidenum">
              <a:rPr lang="en-US" smtClean="0"/>
              <a:pPr/>
              <a:t>‹#›</a:t>
            </a:fld>
            <a:endParaRPr lang="en-US"/>
          </a:p>
        </p:txBody>
      </p:sp>
    </p:spTree>
    <p:extLst>
      <p:ext uri="{BB962C8B-B14F-4D97-AF65-F5344CB8AC3E}">
        <p14:creationId xmlns="" xmlns:p14="http://schemas.microsoft.com/office/powerpoint/2010/main" val="352087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7505" y="235257"/>
            <a:ext cx="11914495" cy="3558819"/>
          </a:xfrm>
        </p:spPr>
        <p:txBody>
          <a:bodyPr>
            <a:noAutofit/>
          </a:bodyPr>
          <a:lstStyle/>
          <a:p>
            <a:r>
              <a:rPr lang="en-US" b="1" dirty="0" smtClean="0">
                <a:latin typeface="Times New Roman" panose="02020603050405020304" pitchFamily="18" charset="0"/>
                <a:cs typeface="Times New Roman" panose="02020603050405020304" pitchFamily="18" charset="0"/>
              </a:rPr>
              <a:t>Unit 4</a:t>
            </a:r>
            <a:br>
              <a:rPr lang="en-US" b="1" dirty="0" smtClean="0">
                <a:latin typeface="Times New Roman" panose="02020603050405020304" pitchFamily="18" charset="0"/>
                <a:cs typeface="Times New Roman" panose="02020603050405020304" pitchFamily="18" charset="0"/>
              </a:rPr>
            </a:br>
            <a:r>
              <a:rPr lang="en-US" b="1" dirty="0" smtClean="0"/>
              <a:t>File System and Storage Management  </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896276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5962"/>
            <a:ext cx="10515600" cy="826366"/>
          </a:xfrm>
        </p:spPr>
        <p:txBody>
          <a:bodyPr>
            <a:normAutofit/>
          </a:bodyPr>
          <a:lstStyle/>
          <a:p>
            <a:r>
              <a:rPr lang="en-US" sz="2800" b="1" dirty="0" smtClean="0">
                <a:latin typeface="Times New Roman" pitchFamily="18" charset="0"/>
                <a:cs typeface="Times New Roman" pitchFamily="18" charset="0"/>
              </a:rPr>
              <a:t>Introduction to File System</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24346" y="1357746"/>
            <a:ext cx="10515600" cy="5056909"/>
          </a:xfrm>
        </p:spPr>
        <p:txBody>
          <a:bodyPr>
            <a:normAutofit fontScale="92500"/>
          </a:bodyPr>
          <a:lstStyle/>
          <a:p>
            <a:pPr>
              <a:buFont typeface="Wingdings" pitchFamily="2" charset="2"/>
              <a:buChar char="v"/>
            </a:pPr>
            <a:r>
              <a:rPr lang="en-US" dirty="0" smtClean="0">
                <a:latin typeface="Times New Roman" pitchFamily="18" charset="0"/>
                <a:cs typeface="Times New Roman" pitchFamily="18" charset="0"/>
              </a:rPr>
              <a:t>We usually require to store information for a long term. </a:t>
            </a:r>
          </a:p>
          <a:p>
            <a:pPr>
              <a:buFont typeface="Wingdings" pitchFamily="2" charset="2"/>
              <a:buChar char="v"/>
            </a:pPr>
            <a:r>
              <a:rPr lang="en-US" dirty="0" smtClean="0">
                <a:latin typeface="Times New Roman" pitchFamily="18" charset="0"/>
                <a:cs typeface="Times New Roman" pitchFamily="18" charset="0"/>
              </a:rPr>
              <a:t>Essential Requirements for long term information storage </a:t>
            </a:r>
          </a:p>
          <a:p>
            <a:pPr>
              <a:buNone/>
            </a:pPr>
            <a:r>
              <a:rPr lang="en-US" dirty="0" smtClean="0">
                <a:latin typeface="Times New Roman" pitchFamily="18" charset="0"/>
                <a:cs typeface="Times New Roman" pitchFamily="18" charset="0"/>
              </a:rPr>
              <a:t>	1. Persistence : data stays around between jobs, power cycles, crashes</a:t>
            </a:r>
          </a:p>
          <a:p>
            <a:pPr>
              <a:buNone/>
            </a:pPr>
            <a:r>
              <a:rPr lang="en-US" dirty="0" smtClean="0">
                <a:latin typeface="Times New Roman" pitchFamily="18" charset="0"/>
                <a:cs typeface="Times New Roman" pitchFamily="18" charset="0"/>
              </a:rPr>
              <a:t>	2. Speed : can get to data quickly </a:t>
            </a:r>
          </a:p>
          <a:p>
            <a:pPr>
              <a:buNone/>
            </a:pPr>
            <a:r>
              <a:rPr lang="en-US" dirty="0" smtClean="0">
                <a:latin typeface="Times New Roman" pitchFamily="18" charset="0"/>
                <a:cs typeface="Times New Roman" pitchFamily="18" charset="0"/>
              </a:rPr>
              <a:t>	3. Size : can store lots of data </a:t>
            </a:r>
          </a:p>
          <a:p>
            <a:pPr>
              <a:buNone/>
            </a:pPr>
            <a:r>
              <a:rPr lang="en-US" dirty="0" smtClean="0">
                <a:latin typeface="Times New Roman" pitchFamily="18" charset="0"/>
                <a:cs typeface="Times New Roman" pitchFamily="18" charset="0"/>
              </a:rPr>
              <a:t>	4. Sharing/Protection : users can share data where appropriate or keep it private when appropriate </a:t>
            </a:r>
          </a:p>
          <a:p>
            <a:pPr>
              <a:buNone/>
            </a:pPr>
            <a:r>
              <a:rPr lang="en-US" dirty="0" smtClean="0">
                <a:latin typeface="Times New Roman" pitchFamily="18" charset="0"/>
                <a:cs typeface="Times New Roman" pitchFamily="18" charset="0"/>
              </a:rPr>
              <a:t>	5. Ease of use : user can easily find, examine, modify, etc. data </a:t>
            </a:r>
          </a:p>
          <a:p>
            <a:pPr>
              <a:buNone/>
            </a:pPr>
            <a:r>
              <a:rPr lang="en-US" dirty="0" smtClean="0">
                <a:latin typeface="Times New Roman" pitchFamily="18" charset="0"/>
                <a:cs typeface="Times New Roman" pitchFamily="18" charset="0"/>
              </a:rPr>
              <a:t>❖Solutions of above mentioned requirements is File System </a:t>
            </a:r>
          </a:p>
          <a:p>
            <a:pPr>
              <a:buNone/>
            </a:pPr>
            <a:r>
              <a:rPr lang="en-US" dirty="0" smtClean="0">
                <a:latin typeface="Times New Roman" pitchFamily="18" charset="0"/>
                <a:cs typeface="Times New Roman" pitchFamily="18" charset="0"/>
              </a:rPr>
              <a:t>❖System that provides the persistent storage of information arranged in some units (files) within the secondary memory is termed as File systems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726"/>
            <a:ext cx="10515600" cy="826366"/>
          </a:xfrm>
        </p:spPr>
        <p:txBody>
          <a:bodyPr>
            <a:normAutofit/>
          </a:bodyPr>
          <a:lstStyle/>
          <a:p>
            <a:r>
              <a:rPr lang="en-US" sz="2800" b="1" dirty="0" smtClean="0">
                <a:latin typeface="Times New Roman" pitchFamily="18" charset="0"/>
                <a:cs typeface="Times New Roman" pitchFamily="18" charset="0"/>
              </a:rPr>
              <a:t>Introduction to File System</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24346" y="1080655"/>
            <a:ext cx="10515600" cy="5583381"/>
          </a:xfrm>
        </p:spPr>
        <p:txBody>
          <a:bodyPr>
            <a:normAutofit/>
          </a:bodyPr>
          <a:lstStyle/>
          <a:p>
            <a:pPr>
              <a:buFont typeface="Wingdings" pitchFamily="2" charset="2"/>
              <a:buChar char="v"/>
            </a:pPr>
            <a:r>
              <a:rPr lang="en-US" sz="2400" dirty="0" smtClean="0">
                <a:latin typeface="Times New Roman" pitchFamily="18" charset="0"/>
                <a:cs typeface="Times New Roman" pitchFamily="18" charset="0"/>
              </a:rPr>
              <a:t>Hardware Provides: </a:t>
            </a:r>
          </a:p>
          <a:p>
            <a:pPr lvl="1"/>
            <a:r>
              <a:rPr lang="en-US" dirty="0" smtClean="0">
                <a:latin typeface="Times New Roman" pitchFamily="18" charset="0"/>
                <a:cs typeface="Times New Roman" pitchFamily="18" charset="0"/>
              </a:rPr>
              <a:t>Persistence: Disks provide non-volatile memory </a:t>
            </a:r>
          </a:p>
          <a:p>
            <a:pPr lvl="1"/>
            <a:r>
              <a:rPr lang="en-US" dirty="0" smtClean="0">
                <a:latin typeface="Times New Roman" pitchFamily="18" charset="0"/>
                <a:cs typeface="Times New Roman" pitchFamily="18" charset="0"/>
              </a:rPr>
              <a:t>Speed: Speed gained through random access </a:t>
            </a:r>
          </a:p>
          <a:p>
            <a:pPr lvl="1"/>
            <a:r>
              <a:rPr lang="en-US" dirty="0" smtClean="0">
                <a:latin typeface="Times New Roman" pitchFamily="18" charset="0"/>
                <a:cs typeface="Times New Roman" pitchFamily="18" charset="0"/>
              </a:rPr>
              <a:t>Size: Disks keep getting bigger (typical disk on a Personal Computer = 500GB - 1TB) </a:t>
            </a:r>
          </a:p>
          <a:p>
            <a:pPr>
              <a:buNone/>
            </a:pPr>
            <a:r>
              <a:rPr lang="en-US" sz="2400" dirty="0" smtClean="0">
                <a:latin typeface="Times New Roman" pitchFamily="18" charset="0"/>
                <a:cs typeface="Times New Roman" pitchFamily="18" charset="0"/>
              </a:rPr>
              <a:t>❖OS provides: </a:t>
            </a:r>
          </a:p>
          <a:p>
            <a:pPr lvl="1"/>
            <a:r>
              <a:rPr lang="en-US" dirty="0" smtClean="0">
                <a:latin typeface="Times New Roman" pitchFamily="18" charset="0"/>
                <a:cs typeface="Times New Roman" pitchFamily="18" charset="0"/>
              </a:rPr>
              <a:t>Persistence: redundancy allows recovery from some additional failures</a:t>
            </a:r>
          </a:p>
          <a:p>
            <a:pPr lvl="1"/>
            <a:r>
              <a:rPr lang="en-US" dirty="0" smtClean="0">
                <a:latin typeface="Times New Roman" pitchFamily="18" charset="0"/>
                <a:cs typeface="Times New Roman" pitchFamily="18" charset="0"/>
              </a:rPr>
              <a:t>Sharing/Protection: Unix provides read, write, execute privileges for files </a:t>
            </a:r>
          </a:p>
          <a:p>
            <a:pPr lvl="1"/>
            <a:r>
              <a:rPr lang="en-US" dirty="0" smtClean="0">
                <a:latin typeface="Times New Roman" pitchFamily="18" charset="0"/>
                <a:cs typeface="Times New Roman" pitchFamily="18" charset="0"/>
              </a:rPr>
              <a:t>Ease of Use : </a:t>
            </a:r>
          </a:p>
          <a:p>
            <a:pPr lvl="2">
              <a:buFont typeface="Wingdings" pitchFamily="2" charset="2"/>
              <a:buChar char="Ø"/>
            </a:pPr>
            <a:r>
              <a:rPr lang="en-US" sz="2400" dirty="0" smtClean="0">
                <a:latin typeface="Times New Roman" pitchFamily="18" charset="0"/>
                <a:cs typeface="Times New Roman" pitchFamily="18" charset="0"/>
              </a:rPr>
              <a:t>Associating names with chunks of data (files) and Organize large collections of files into directories </a:t>
            </a:r>
          </a:p>
          <a:p>
            <a:pPr lvl="2">
              <a:buFont typeface="Wingdings" pitchFamily="2" charset="2"/>
              <a:buChar char="Ø"/>
            </a:pPr>
            <a:r>
              <a:rPr lang="en-US" sz="2400" dirty="0" smtClean="0">
                <a:latin typeface="Times New Roman" pitchFamily="18" charset="0"/>
                <a:cs typeface="Times New Roman" pitchFamily="18" charset="0"/>
              </a:rPr>
              <a:t>Transparent mapping of the user's concept of files and directories onto locations on disks</a:t>
            </a:r>
          </a:p>
          <a:p>
            <a:pPr lvl="2">
              <a:buFont typeface="Wingdings" pitchFamily="2" charset="2"/>
              <a:buChar char="Ø"/>
            </a:pPr>
            <a:r>
              <a:rPr lang="en-US" sz="2400" dirty="0" smtClean="0">
                <a:latin typeface="Times New Roman" pitchFamily="18" charset="0"/>
                <a:cs typeface="Times New Roman" pitchFamily="18" charset="0"/>
              </a:rPr>
              <a:t>Search facility in file systems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2511"/>
          </a:xfrm>
        </p:spPr>
        <p:txBody>
          <a:bodyPr>
            <a:normAutofit/>
          </a:bodyPr>
          <a:lstStyle/>
          <a:p>
            <a:r>
              <a:rPr lang="en-US" sz="2800" b="1" dirty="0" smtClean="0">
                <a:latin typeface="Times New Roman" pitchFamily="18" charset="0"/>
                <a:cs typeface="Times New Roman" pitchFamily="18" charset="0"/>
              </a:rPr>
              <a:t>Files </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02327"/>
            <a:ext cx="10515600" cy="4874636"/>
          </a:xfrm>
        </p:spPr>
        <p:txBody>
          <a:bodyPr/>
          <a:lstStyle/>
          <a:p>
            <a:pPr>
              <a:buFont typeface="Wingdings" pitchFamily="2" charset="2"/>
              <a:buChar char="v"/>
            </a:pPr>
            <a:r>
              <a:rPr lang="en-US" dirty="0" smtClean="0">
                <a:latin typeface="Times New Roman" pitchFamily="18" charset="0"/>
                <a:cs typeface="Times New Roman" pitchFamily="18" charset="0"/>
              </a:rPr>
              <a:t>File is a named collection of related information recorded on secondary storage </a:t>
            </a:r>
          </a:p>
          <a:p>
            <a:pPr>
              <a:buFont typeface="Wingdings" pitchFamily="2" charset="2"/>
              <a:buChar char="v"/>
            </a:pPr>
            <a:r>
              <a:rPr lang="en-US" dirty="0" smtClean="0">
                <a:latin typeface="Times New Roman" pitchFamily="18" charset="0"/>
                <a:cs typeface="Times New Roman" pitchFamily="18" charset="0"/>
              </a:rPr>
              <a:t>Files can contain programs (source, binary) or data </a:t>
            </a:r>
          </a:p>
          <a:p>
            <a:pPr>
              <a:buFont typeface="Wingdings" pitchFamily="2" charset="2"/>
              <a:buChar char="v"/>
            </a:pPr>
            <a:r>
              <a:rPr lang="en-US" dirty="0" smtClean="0">
                <a:latin typeface="Times New Roman" pitchFamily="18" charset="0"/>
                <a:cs typeface="Times New Roman" pitchFamily="18" charset="0"/>
              </a:rPr>
              <a:t>Files are an abstraction mechanism. They provide a way to store information on the disk and read it back later </a:t>
            </a:r>
          </a:p>
          <a:p>
            <a:pPr>
              <a:buFont typeface="Wingdings" pitchFamily="2" charset="2"/>
              <a:buChar char="v"/>
            </a:pPr>
            <a:r>
              <a:rPr lang="en-US" dirty="0" smtClean="0">
                <a:latin typeface="Times New Roman" pitchFamily="18" charset="0"/>
                <a:cs typeface="Times New Roman" pitchFamily="18" charset="0"/>
              </a:rPr>
              <a:t>File system shield the users from the details of how and where the information is stored, and how the disks actually work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0839"/>
          </a:xfrm>
        </p:spPr>
        <p:txBody>
          <a:bodyPr>
            <a:normAutofit/>
          </a:bodyPr>
          <a:lstStyle/>
          <a:p>
            <a:r>
              <a:rPr lang="en-US" sz="2800" b="1" dirty="0" smtClean="0">
                <a:latin typeface="Times New Roman" pitchFamily="18" charset="0"/>
                <a:cs typeface="Times New Roman" pitchFamily="18" charset="0"/>
              </a:rPr>
              <a:t>File Attributes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288473"/>
            <a:ext cx="10515600" cy="4888490"/>
          </a:xfrm>
        </p:spPr>
        <p:txBody>
          <a:bodyPr/>
          <a:lstStyle/>
          <a:p>
            <a:pPr>
              <a:buFont typeface="Wingdings" pitchFamily="2" charset="2"/>
              <a:buChar char="v"/>
            </a:pPr>
            <a:r>
              <a:rPr lang="en-US" dirty="0" smtClean="0">
                <a:latin typeface="Times New Roman" pitchFamily="18" charset="0"/>
                <a:cs typeface="Times New Roman" pitchFamily="18" charset="0"/>
              </a:rPr>
              <a:t>Name – only information kept in human-readable form </a:t>
            </a:r>
          </a:p>
          <a:p>
            <a:pPr>
              <a:buFont typeface="Wingdings" pitchFamily="2" charset="2"/>
              <a:buChar char="v"/>
            </a:pPr>
            <a:r>
              <a:rPr lang="en-US" dirty="0" smtClean="0">
                <a:latin typeface="Times New Roman" pitchFamily="18" charset="0"/>
                <a:cs typeface="Times New Roman" pitchFamily="18" charset="0"/>
              </a:rPr>
              <a:t>Identifier – unique tag (number) identifies file within file system</a:t>
            </a:r>
          </a:p>
          <a:p>
            <a:pPr>
              <a:buFont typeface="Wingdings" pitchFamily="2" charset="2"/>
              <a:buChar char="v"/>
            </a:pPr>
            <a:r>
              <a:rPr lang="en-US" dirty="0" smtClean="0">
                <a:latin typeface="Times New Roman" pitchFamily="18" charset="0"/>
                <a:cs typeface="Times New Roman" pitchFamily="18" charset="0"/>
              </a:rPr>
              <a:t>Type – needed for systems that support different types </a:t>
            </a:r>
          </a:p>
          <a:p>
            <a:pPr>
              <a:buFont typeface="Wingdings" pitchFamily="2" charset="2"/>
              <a:buChar char="v"/>
            </a:pPr>
            <a:r>
              <a:rPr lang="en-US" dirty="0" smtClean="0">
                <a:latin typeface="Times New Roman" pitchFamily="18" charset="0"/>
                <a:cs typeface="Times New Roman" pitchFamily="18" charset="0"/>
              </a:rPr>
              <a:t>Location – This information is a pointer to a device and to the location of the file on that device </a:t>
            </a:r>
          </a:p>
          <a:p>
            <a:pPr>
              <a:buFont typeface="Wingdings" pitchFamily="2" charset="2"/>
              <a:buChar char="v"/>
            </a:pPr>
            <a:r>
              <a:rPr lang="en-US" dirty="0" smtClean="0">
                <a:latin typeface="Times New Roman" pitchFamily="18" charset="0"/>
                <a:cs typeface="Times New Roman" pitchFamily="18" charset="0"/>
              </a:rPr>
              <a:t>Size – current file size and possibly the maximum allowed size</a:t>
            </a:r>
          </a:p>
          <a:p>
            <a:pPr>
              <a:buFont typeface="Wingdings" pitchFamily="2" charset="2"/>
              <a:buChar char="v"/>
            </a:pPr>
            <a:r>
              <a:rPr lang="en-US" dirty="0" smtClean="0">
                <a:latin typeface="Times New Roman" pitchFamily="18" charset="0"/>
                <a:cs typeface="Times New Roman" pitchFamily="18" charset="0"/>
              </a:rPr>
              <a:t>Protection – Access-control information determines who can do reading, writing, executing </a:t>
            </a:r>
          </a:p>
          <a:p>
            <a:pPr>
              <a:buFont typeface="Wingdings" pitchFamily="2" charset="2"/>
              <a:buChar char="v"/>
            </a:pPr>
            <a:r>
              <a:rPr lang="en-US" dirty="0" smtClean="0">
                <a:latin typeface="Times New Roman" pitchFamily="18" charset="0"/>
                <a:cs typeface="Times New Roman" pitchFamily="18" charset="0"/>
              </a:rPr>
              <a:t>Time, date, and user identification – data for protection, security, and usage monitoring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0839"/>
          </a:xfrm>
        </p:spPr>
        <p:txBody>
          <a:bodyPr>
            <a:normAutofit/>
          </a:bodyPr>
          <a:lstStyle/>
          <a:p>
            <a:r>
              <a:rPr lang="en-US" sz="2800" b="1" dirty="0" smtClean="0">
                <a:latin typeface="Times New Roman" pitchFamily="18" charset="0"/>
                <a:cs typeface="Times New Roman" pitchFamily="18" charset="0"/>
              </a:rPr>
              <a:t>File Attributes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288473"/>
            <a:ext cx="10515600" cy="4888490"/>
          </a:xfrm>
        </p:spPr>
        <p:txBody>
          <a:bodyPr/>
          <a:lstStyle/>
          <a:p>
            <a:pPr>
              <a:buFont typeface="Wingdings" pitchFamily="2" charset="2"/>
              <a:buChar char="v"/>
            </a:pPr>
            <a:r>
              <a:rPr lang="en-US" dirty="0" smtClean="0">
                <a:latin typeface="Times New Roman" pitchFamily="18" charset="0"/>
                <a:cs typeface="Times New Roman" pitchFamily="18" charset="0"/>
              </a:rPr>
              <a:t>The information about all files is kept in the directory structure, which also resides on secondary storage</a:t>
            </a:r>
          </a:p>
          <a:p>
            <a:pPr>
              <a:buFont typeface="Wingdings" pitchFamily="2" charset="2"/>
              <a:buChar char="v"/>
            </a:pPr>
            <a:r>
              <a:rPr lang="en-US" dirty="0" smtClean="0">
                <a:latin typeface="Times New Roman" pitchFamily="18" charset="0"/>
                <a:cs typeface="Times New Roman" pitchFamily="18" charset="0"/>
              </a:rPr>
              <a:t>Typically a directory entry consists of the file’s name and a unique identifier </a:t>
            </a:r>
          </a:p>
          <a:p>
            <a:pPr>
              <a:buFont typeface="Wingdings" pitchFamily="2" charset="2"/>
              <a:buChar char="v"/>
            </a:pPr>
            <a:r>
              <a:rPr lang="en-US" dirty="0" smtClean="0">
                <a:latin typeface="Times New Roman" pitchFamily="18" charset="0"/>
                <a:cs typeface="Times New Roman" pitchFamily="18" charset="0"/>
              </a:rPr>
              <a:t>The identifier in turn locates other file attributes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3239"/>
          </a:xfrm>
        </p:spPr>
        <p:txBody>
          <a:bodyPr>
            <a:normAutofit/>
          </a:bodyPr>
          <a:lstStyle/>
          <a:p>
            <a:r>
              <a:rPr lang="en-US" sz="2800" b="1" dirty="0" smtClean="0">
                <a:latin typeface="Times New Roman" pitchFamily="18" charset="0"/>
                <a:cs typeface="Times New Roman" pitchFamily="18" charset="0"/>
              </a:rPr>
              <a:t>File Naming</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16182"/>
            <a:ext cx="10515600" cy="4860781"/>
          </a:xfrm>
        </p:spPr>
        <p:txBody>
          <a:bodyPr/>
          <a:lstStyle/>
          <a:p>
            <a:pPr>
              <a:buFont typeface="Wingdings" pitchFamily="2" charset="2"/>
              <a:buChar char="v"/>
            </a:pPr>
            <a:r>
              <a:rPr lang="en-US" dirty="0" smtClean="0">
                <a:latin typeface="Times New Roman" pitchFamily="18" charset="0"/>
                <a:cs typeface="Times New Roman" pitchFamily="18" charset="0"/>
              </a:rPr>
              <a:t>When a process creates a file, it gives the file a name </a:t>
            </a:r>
          </a:p>
          <a:p>
            <a:pPr>
              <a:buFont typeface="Wingdings" pitchFamily="2" charset="2"/>
              <a:buChar char="v"/>
            </a:pPr>
            <a:r>
              <a:rPr lang="en-US" dirty="0" smtClean="0">
                <a:latin typeface="Times New Roman" pitchFamily="18" charset="0"/>
                <a:cs typeface="Times New Roman" pitchFamily="18" charset="0"/>
              </a:rPr>
              <a:t>When the process terminates, the file continues to exist and can be accessed by other processes using its name</a:t>
            </a:r>
          </a:p>
          <a:p>
            <a:pPr>
              <a:buFont typeface="Wingdings" pitchFamily="2" charset="2"/>
              <a:buChar char="v"/>
            </a:pPr>
            <a:r>
              <a:rPr lang="en-US" dirty="0" smtClean="0">
                <a:latin typeface="Times New Roman" pitchFamily="18" charset="0"/>
                <a:cs typeface="Times New Roman" pitchFamily="18" charset="0"/>
              </a:rPr>
              <a:t>Rules for naming a file varies from system to system</a:t>
            </a:r>
          </a:p>
          <a:p>
            <a:pPr>
              <a:buFont typeface="Wingdings" pitchFamily="2" charset="2"/>
              <a:buChar char="v"/>
            </a:pPr>
            <a:r>
              <a:rPr lang="en-US" dirty="0" smtClean="0">
                <a:latin typeface="Times New Roman" pitchFamily="18" charset="0"/>
                <a:cs typeface="Times New Roman" pitchFamily="18" charset="0"/>
              </a:rPr>
              <a:t>Normally strings of 1 to 8 characters are legal file names (digits &amp; special characters also permitted). Many file systems support name as long as 255 characters </a:t>
            </a:r>
          </a:p>
          <a:p>
            <a:pPr>
              <a:buFont typeface="Wingdings" pitchFamily="2" charset="2"/>
              <a:buChar char="v"/>
            </a:pPr>
            <a:r>
              <a:rPr lang="en-US" dirty="0" smtClean="0">
                <a:latin typeface="Times New Roman" pitchFamily="18" charset="0"/>
                <a:cs typeface="Times New Roman" pitchFamily="18" charset="0"/>
              </a:rPr>
              <a:t>Some file systems distinguish between uppercase and lowercase letters (like UNIX) where as others don’t (like DOS)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910" y="378980"/>
            <a:ext cx="10515600" cy="770948"/>
          </a:xfrm>
        </p:spPr>
        <p:txBody>
          <a:bodyPr>
            <a:normAutofit/>
          </a:bodyPr>
          <a:lstStyle/>
          <a:p>
            <a:r>
              <a:rPr lang="en-US" sz="2800" b="1" dirty="0" smtClean="0">
                <a:latin typeface="Times New Roman" pitchFamily="18" charset="0"/>
                <a:cs typeface="Times New Roman" pitchFamily="18" charset="0"/>
              </a:rPr>
              <a:t>File Naming : extension</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57746"/>
            <a:ext cx="10785764" cy="5140036"/>
          </a:xfrm>
        </p:spPr>
        <p:txBody>
          <a:bodyPr>
            <a:normAutofit lnSpcReduction="10000"/>
          </a:bodyPr>
          <a:lstStyle/>
          <a:p>
            <a:pPr>
              <a:buFont typeface="Wingdings" pitchFamily="2" charset="2"/>
              <a:buChar char="v"/>
            </a:pPr>
            <a:r>
              <a:rPr lang="en-US" dirty="0" smtClean="0">
                <a:latin typeface="Times New Roman" pitchFamily="18" charset="0"/>
                <a:cs typeface="Times New Roman" pitchFamily="18" charset="0"/>
              </a:rPr>
              <a:t>A file is just a set of 1’s and 0’s </a:t>
            </a:r>
          </a:p>
          <a:p>
            <a:pPr>
              <a:buFont typeface="Wingdings" pitchFamily="2" charset="2"/>
              <a:buChar char="v"/>
            </a:pPr>
            <a:r>
              <a:rPr lang="en-US" dirty="0" smtClean="0">
                <a:latin typeface="Times New Roman" pitchFamily="18" charset="0"/>
                <a:cs typeface="Times New Roman" pitchFamily="18" charset="0"/>
              </a:rPr>
              <a:t>A “file type” is simply information associated with a file that tells the operating system and programs how to interpret these 1’s and 0’s</a:t>
            </a:r>
          </a:p>
          <a:p>
            <a:pPr>
              <a:buFont typeface="Wingdings" pitchFamily="2" charset="2"/>
              <a:buChar char="v"/>
            </a:pPr>
            <a:r>
              <a:rPr lang="en-US" dirty="0" smtClean="0">
                <a:latin typeface="Times New Roman" pitchFamily="18" charset="0"/>
                <a:cs typeface="Times New Roman" pitchFamily="18" charset="0"/>
              </a:rPr>
              <a:t>Many operating systems supports two-part file names; the part following the period is called the file extension and usually indicates something about the file </a:t>
            </a:r>
          </a:p>
          <a:p>
            <a:pPr>
              <a:buFont typeface="Wingdings" pitchFamily="2" charset="2"/>
              <a:buChar char="v"/>
            </a:pPr>
            <a:r>
              <a:rPr lang="en-US" dirty="0" smtClean="0">
                <a:latin typeface="Times New Roman" pitchFamily="18" charset="0"/>
                <a:cs typeface="Times New Roman" pitchFamily="18" charset="0"/>
              </a:rPr>
              <a:t>In UNIX, it is also possible to have two or more extension. For example homepage.html.zip where .html indicates a web page in HTML and .zip indicates that the file homepage.html has been compressed using a zip program </a:t>
            </a:r>
          </a:p>
          <a:p>
            <a:pPr>
              <a:buFont typeface="Wingdings" pitchFamily="2" charset="2"/>
              <a:buChar char="v"/>
            </a:pPr>
            <a:r>
              <a:rPr lang="en-US" dirty="0" smtClean="0">
                <a:latin typeface="Times New Roman" pitchFamily="18" charset="0"/>
                <a:cs typeface="Times New Roman" pitchFamily="18" charset="0"/>
              </a:rPr>
              <a:t>Some of the common file extensions include .bak, .c, .jpg, mp3, .zip, .txt etc</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910" y="378980"/>
            <a:ext cx="10515600" cy="770948"/>
          </a:xfrm>
        </p:spPr>
        <p:txBody>
          <a:bodyPr>
            <a:normAutofit/>
          </a:bodyPr>
          <a:lstStyle/>
          <a:p>
            <a:r>
              <a:rPr lang="en-US" sz="2800" b="1" dirty="0" smtClean="0">
                <a:latin typeface="Times New Roman" pitchFamily="18" charset="0"/>
                <a:cs typeface="Times New Roman" pitchFamily="18" charset="0"/>
              </a:rPr>
              <a:t>File Naming : extension</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57746"/>
            <a:ext cx="10785764" cy="5140036"/>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In Linux, usually, file extensions are just conventions and are not enforced in anyway by the OS </a:t>
            </a:r>
          </a:p>
          <a:p>
            <a:pPr>
              <a:buFont typeface="Wingdings" pitchFamily="2" charset="2"/>
              <a:buChar char="v"/>
            </a:pPr>
            <a:r>
              <a:rPr lang="en-US" dirty="0" smtClean="0">
                <a:latin typeface="Times New Roman" pitchFamily="18" charset="0"/>
                <a:cs typeface="Times New Roman" pitchFamily="18" charset="0"/>
              </a:rPr>
              <a:t>Linux does not always use extensions to identify file types </a:t>
            </a:r>
          </a:p>
          <a:p>
            <a:pPr>
              <a:buFont typeface="Wingdings" pitchFamily="2" charset="2"/>
              <a:buChar char="v"/>
            </a:pPr>
            <a:r>
              <a:rPr lang="en-US" dirty="0" smtClean="0">
                <a:latin typeface="Times New Roman" pitchFamily="18" charset="0"/>
                <a:cs typeface="Times New Roman" pitchFamily="18" charset="0"/>
              </a:rPr>
              <a:t>The operating system knows what files are without relying on the file extension </a:t>
            </a:r>
          </a:p>
          <a:p>
            <a:pPr>
              <a:buFont typeface="Wingdings" pitchFamily="2" charset="2"/>
              <a:buChar char="v"/>
            </a:pPr>
            <a:r>
              <a:rPr lang="en-US" dirty="0" smtClean="0">
                <a:latin typeface="Times New Roman" pitchFamily="18" charset="0"/>
                <a:cs typeface="Times New Roman" pitchFamily="18" charset="0"/>
              </a:rPr>
              <a:t>It does this using MIME (Multipurpose Internet Mail Extensions) types</a:t>
            </a:r>
          </a:p>
          <a:p>
            <a:pPr>
              <a:buFont typeface="Wingdings" pitchFamily="2" charset="2"/>
              <a:buChar char="v"/>
            </a:pPr>
            <a:r>
              <a:rPr lang="en-US" dirty="0" smtClean="0">
                <a:latin typeface="Times New Roman" pitchFamily="18" charset="0"/>
                <a:cs typeface="Times New Roman" pitchFamily="18" charset="0"/>
              </a:rPr>
              <a:t>Rather than relying on the file extension at the end of a file’s name, information about the file’s content — the file’s MIME type — is embedded into the beginning of the file itself </a:t>
            </a:r>
          </a:p>
          <a:p>
            <a:pPr>
              <a:buFont typeface="Wingdings" pitchFamily="2" charset="2"/>
              <a:buChar char="v"/>
            </a:pPr>
            <a:r>
              <a:rPr lang="en-US" dirty="0" smtClean="0">
                <a:latin typeface="Times New Roman" pitchFamily="18" charset="0"/>
                <a:cs typeface="Times New Roman" pitchFamily="18" charset="0"/>
              </a:rPr>
              <a:t>So, when you open a file with no file extension, Linux and Mac OS X will look at the file’s MIME type to determine what type of file it is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8657"/>
          </a:xfrm>
        </p:spPr>
        <p:txBody>
          <a:bodyPr>
            <a:normAutofit/>
          </a:bodyPr>
          <a:lstStyle/>
          <a:p>
            <a:r>
              <a:rPr lang="en-US" sz="2800" b="1" dirty="0" smtClean="0">
                <a:latin typeface="Times New Roman" pitchFamily="18" charset="0"/>
                <a:cs typeface="Times New Roman" pitchFamily="18" charset="0"/>
              </a:rPr>
              <a:t>Some File extension and meaning in Windows</a:t>
            </a:r>
            <a:endParaRPr lang="en-US" sz="2800" b="1" dirty="0">
              <a:latin typeface="Times New Roman" pitchFamily="18" charset="0"/>
              <a:cs typeface="Times New Roman" pitchFamily="18" charset="0"/>
            </a:endParaRPr>
          </a:p>
        </p:txBody>
      </p:sp>
      <p:pic>
        <p:nvPicPr>
          <p:cNvPr id="4" name="Content Placeholder 3" descr="ext.png"/>
          <p:cNvPicPr>
            <a:picLocks noGrp="1" noChangeAspect="1"/>
          </p:cNvPicPr>
          <p:nvPr>
            <p:ph idx="1"/>
          </p:nvPr>
        </p:nvPicPr>
        <p:blipFill>
          <a:blip r:embed="rId2"/>
          <a:stretch>
            <a:fillRect/>
          </a:stretch>
        </p:blipFill>
        <p:spPr>
          <a:xfrm>
            <a:off x="2624420" y="1289050"/>
            <a:ext cx="6943160" cy="4887913"/>
          </a:xfr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6984"/>
          </a:xfrm>
        </p:spPr>
        <p:txBody>
          <a:bodyPr>
            <a:normAutofit/>
          </a:bodyPr>
          <a:lstStyle/>
          <a:p>
            <a:r>
              <a:rPr lang="en-US" sz="2800" b="1" dirty="0" smtClean="0">
                <a:latin typeface="Times New Roman" pitchFamily="18" charset="0"/>
                <a:cs typeface="Times New Roman" pitchFamily="18" charset="0"/>
              </a:rPr>
              <a:t>File Operations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91491"/>
            <a:ext cx="10515600" cy="4985472"/>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create (name)</a:t>
            </a:r>
          </a:p>
          <a:p>
            <a:pPr lvl="1"/>
            <a:r>
              <a:rPr lang="en-US" sz="2800" dirty="0" smtClean="0">
                <a:latin typeface="Times New Roman" pitchFamily="18" charset="0"/>
                <a:cs typeface="Times New Roman" pitchFamily="18" charset="0"/>
              </a:rPr>
              <a:t>Allocate disk space (check disk quotas, permissions, etc.) </a:t>
            </a:r>
          </a:p>
          <a:p>
            <a:pPr lvl="1"/>
            <a:r>
              <a:rPr lang="en-US" sz="2800" dirty="0" smtClean="0">
                <a:latin typeface="Times New Roman" pitchFamily="18" charset="0"/>
                <a:cs typeface="Times New Roman" pitchFamily="18" charset="0"/>
              </a:rPr>
              <a:t>Create a file descriptor for the file including name, location on disk, and all file attributes. </a:t>
            </a:r>
          </a:p>
          <a:p>
            <a:pPr lvl="1"/>
            <a:r>
              <a:rPr lang="en-US" sz="2800" dirty="0" smtClean="0">
                <a:latin typeface="Times New Roman" pitchFamily="18" charset="0"/>
                <a:cs typeface="Times New Roman" pitchFamily="18" charset="0"/>
              </a:rPr>
              <a:t>Add the file descriptor to the directory that contains the file. </a:t>
            </a:r>
          </a:p>
          <a:p>
            <a:pPr>
              <a:buFont typeface="Wingdings" pitchFamily="2" charset="2"/>
              <a:buChar char="v"/>
            </a:pPr>
            <a:r>
              <a:rPr lang="en-US" dirty="0" smtClean="0">
                <a:latin typeface="Times New Roman" pitchFamily="18" charset="0"/>
                <a:cs typeface="Times New Roman" pitchFamily="18" charset="0"/>
              </a:rPr>
              <a:t>delete(name) </a:t>
            </a:r>
          </a:p>
          <a:p>
            <a:pPr lvl="1"/>
            <a:r>
              <a:rPr lang="en-US" sz="2800" dirty="0" smtClean="0">
                <a:latin typeface="Times New Roman" pitchFamily="18" charset="0"/>
                <a:cs typeface="Times New Roman" pitchFamily="18" charset="0"/>
              </a:rPr>
              <a:t>Find the directory containing the file. </a:t>
            </a:r>
          </a:p>
          <a:p>
            <a:pPr lvl="1"/>
            <a:r>
              <a:rPr lang="en-US" sz="2800" dirty="0" smtClean="0">
                <a:latin typeface="Times New Roman" pitchFamily="18" charset="0"/>
                <a:cs typeface="Times New Roman" pitchFamily="18" charset="0"/>
              </a:rPr>
              <a:t>Free the disk blocks used by the file. </a:t>
            </a:r>
          </a:p>
          <a:p>
            <a:pPr lvl="1"/>
            <a:r>
              <a:rPr lang="en-US" sz="2800" dirty="0" smtClean="0">
                <a:latin typeface="Times New Roman" pitchFamily="18" charset="0"/>
                <a:cs typeface="Times New Roman" pitchFamily="18" charset="0"/>
              </a:rPr>
              <a:t>Remove the file descriptor from the directory.</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6984"/>
          </a:xfrm>
        </p:spPr>
        <p:txBody>
          <a:bodyPr>
            <a:normAutofit/>
          </a:bodyPr>
          <a:lstStyle/>
          <a:p>
            <a:r>
              <a:rPr lang="en-US" sz="2800" b="1" dirty="0" smtClean="0">
                <a:latin typeface="Times New Roman" pitchFamily="18" charset="0"/>
                <a:cs typeface="Times New Roman" pitchFamily="18" charset="0"/>
              </a:rPr>
              <a:t>File Operations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91491"/>
            <a:ext cx="10515600" cy="4985472"/>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close (file_ptr) </a:t>
            </a:r>
          </a:p>
          <a:p>
            <a:pPr lvl="1"/>
            <a:r>
              <a:rPr lang="en-US" sz="2800" dirty="0" smtClean="0">
                <a:latin typeface="Times New Roman" pitchFamily="18" charset="0"/>
                <a:cs typeface="Times New Roman" pitchFamily="18" charset="0"/>
              </a:rPr>
              <a:t>Remove the entry for the file in the process's file table </a:t>
            </a:r>
          </a:p>
          <a:p>
            <a:pPr lvl="1"/>
            <a:r>
              <a:rPr lang="en-US" sz="2800" dirty="0" smtClean="0">
                <a:latin typeface="Times New Roman" pitchFamily="18" charset="0"/>
                <a:cs typeface="Times New Roman" pitchFamily="18" charset="0"/>
              </a:rPr>
              <a:t>Decrement the open count in the system-wide file table </a:t>
            </a:r>
          </a:p>
          <a:p>
            <a:pPr lvl="1"/>
            <a:r>
              <a:rPr lang="en-US" sz="2800" dirty="0" smtClean="0">
                <a:latin typeface="Times New Roman" pitchFamily="18" charset="0"/>
                <a:cs typeface="Times New Roman" pitchFamily="18" charset="0"/>
              </a:rPr>
              <a:t>If the open count == 0, remove the entry in the system-wide file table </a:t>
            </a:r>
          </a:p>
          <a:p>
            <a:pPr>
              <a:buFont typeface="Wingdings" pitchFamily="2" charset="2"/>
              <a:buChar char="v"/>
            </a:pPr>
            <a:r>
              <a:rPr lang="en-US" dirty="0" smtClean="0">
                <a:latin typeface="Times New Roman" pitchFamily="18" charset="0"/>
                <a:cs typeface="Times New Roman" pitchFamily="18" charset="0"/>
              </a:rPr>
              <a:t>read (file_ptr, from, size, bufAddress) - random access </a:t>
            </a:r>
          </a:p>
          <a:p>
            <a:pPr lvl="1"/>
            <a:r>
              <a:rPr lang="en-US" sz="2800" dirty="0" smtClean="0">
                <a:latin typeface="Times New Roman" pitchFamily="18" charset="0"/>
                <a:cs typeface="Times New Roman" pitchFamily="18" charset="0"/>
              </a:rPr>
              <a:t>OS reads “size” bytes from file position “from” into “bufAddress”</a:t>
            </a:r>
          </a:p>
          <a:p>
            <a:pPr>
              <a:buFont typeface="Wingdings" pitchFamily="2" charset="2"/>
              <a:buChar char="v"/>
            </a:pPr>
            <a:r>
              <a:rPr lang="en-US" dirty="0" smtClean="0">
                <a:latin typeface="Times New Roman" pitchFamily="18" charset="0"/>
                <a:cs typeface="Times New Roman" pitchFamily="18" charset="0"/>
              </a:rPr>
              <a:t>read(file_ptr, size, bufAddress) - sequential access </a:t>
            </a:r>
          </a:p>
          <a:p>
            <a:pPr lvl="1"/>
            <a:r>
              <a:rPr lang="en-US" sz="2800" dirty="0" smtClean="0">
                <a:latin typeface="Times New Roman" pitchFamily="18" charset="0"/>
                <a:cs typeface="Times New Roman" pitchFamily="18" charset="0"/>
              </a:rPr>
              <a:t>OS reads “size” bytes from current file position of file pointer, into “bufAddress” and increments current file position by size</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6984"/>
          </a:xfrm>
        </p:spPr>
        <p:txBody>
          <a:bodyPr>
            <a:normAutofit/>
          </a:bodyPr>
          <a:lstStyle/>
          <a:p>
            <a:r>
              <a:rPr lang="en-US" sz="2800" b="1" dirty="0" smtClean="0">
                <a:latin typeface="Times New Roman" pitchFamily="18" charset="0"/>
                <a:cs typeface="Times New Roman" pitchFamily="18" charset="0"/>
              </a:rPr>
              <a:t>File Operations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91491"/>
            <a:ext cx="10515600" cy="4985472"/>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write() : name of the file </a:t>
            </a:r>
          </a:p>
          <a:p>
            <a:pPr>
              <a:buFont typeface="Wingdings" pitchFamily="2" charset="2"/>
              <a:buChar char="v"/>
            </a:pPr>
            <a:r>
              <a:rPr lang="en-US" dirty="0" smtClean="0">
                <a:latin typeface="Times New Roman" pitchFamily="18" charset="0"/>
                <a:cs typeface="Times New Roman" pitchFamily="18" charset="0"/>
              </a:rPr>
              <a:t>write is similar to read except it copies from buffer to file </a:t>
            </a:r>
          </a:p>
          <a:p>
            <a:pPr>
              <a:buFont typeface="Wingdings" pitchFamily="2" charset="2"/>
              <a:buChar char="v"/>
            </a:pPr>
            <a:r>
              <a:rPr lang="en-US" dirty="0" smtClean="0">
                <a:latin typeface="Times New Roman" pitchFamily="18" charset="0"/>
                <a:cs typeface="Times New Roman" pitchFamily="18" charset="0"/>
              </a:rPr>
              <a:t>seek() : just updates file pointer (</a:t>
            </a:r>
            <a:r>
              <a:rPr lang="en-US" dirty="0" err="1" smtClean="0">
                <a:latin typeface="Times New Roman" pitchFamily="18" charset="0"/>
                <a:cs typeface="Times New Roman" pitchFamily="18" charset="0"/>
              </a:rPr>
              <a:t>fp</a:t>
            </a:r>
            <a:r>
              <a:rPr lang="en-US" dirty="0" smtClean="0">
                <a:latin typeface="Times New Roman" pitchFamily="18" charset="0"/>
                <a:cs typeface="Times New Roman" pitchFamily="18" charset="0"/>
              </a:rPr>
              <a:t>) </a:t>
            </a:r>
          </a:p>
          <a:p>
            <a:pPr>
              <a:buFont typeface="Wingdings" pitchFamily="2" charset="2"/>
              <a:buChar char="v"/>
            </a:pPr>
            <a:r>
              <a:rPr lang="en-US" dirty="0" smtClean="0">
                <a:latin typeface="Times New Roman" pitchFamily="18" charset="0"/>
                <a:cs typeface="Times New Roman" pitchFamily="18" charset="0"/>
              </a:rPr>
              <a:t>append() : write only at the end of file </a:t>
            </a:r>
          </a:p>
          <a:p>
            <a:pPr>
              <a:buFont typeface="Wingdings" pitchFamily="2" charset="2"/>
              <a:buChar char="v"/>
            </a:pPr>
            <a:r>
              <a:rPr lang="en-US" dirty="0" smtClean="0">
                <a:latin typeface="Times New Roman" pitchFamily="18" charset="0"/>
                <a:cs typeface="Times New Roman" pitchFamily="18" charset="0"/>
              </a:rPr>
              <a:t>getAttributes() : Get information about the file </a:t>
            </a:r>
          </a:p>
          <a:p>
            <a:pPr>
              <a:buFont typeface="Wingdings" pitchFamily="2" charset="2"/>
              <a:buChar char="v"/>
            </a:pPr>
            <a:r>
              <a:rPr lang="en-US" dirty="0" smtClean="0">
                <a:latin typeface="Times New Roman" pitchFamily="18" charset="0"/>
                <a:cs typeface="Times New Roman" pitchFamily="18" charset="0"/>
              </a:rPr>
              <a:t>setAttributes() : Set the attributes of a file (</a:t>
            </a:r>
            <a:r>
              <a:rPr lang="en-US" dirty="0" err="1" smtClean="0">
                <a:latin typeface="Times New Roman" pitchFamily="18" charset="0"/>
                <a:cs typeface="Times New Roman" pitchFamily="18" charset="0"/>
              </a:rPr>
              <a:t>eg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chmod</a:t>
            </a:r>
            <a:r>
              <a:rPr lang="en-US" dirty="0" smtClean="0">
                <a:latin typeface="Times New Roman" pitchFamily="18" charset="0"/>
                <a:cs typeface="Times New Roman" pitchFamily="18" charset="0"/>
              </a:rPr>
              <a:t> in UNIX)</a:t>
            </a:r>
          </a:p>
          <a:p>
            <a:pPr>
              <a:buFont typeface="Wingdings" pitchFamily="2" charset="2"/>
              <a:buChar char="v"/>
            </a:pPr>
            <a:r>
              <a:rPr lang="en-US" dirty="0" smtClean="0">
                <a:latin typeface="Times New Roman" pitchFamily="18" charset="0"/>
                <a:cs typeface="Times New Roman" pitchFamily="18" charset="0"/>
              </a:rPr>
              <a:t>rename() : change the name of file </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345" y="254290"/>
            <a:ext cx="10515600" cy="673966"/>
          </a:xfrm>
        </p:spPr>
        <p:txBody>
          <a:bodyPr>
            <a:normAutofit/>
          </a:bodyPr>
          <a:lstStyle/>
          <a:p>
            <a:r>
              <a:rPr lang="en-US" sz="2800" b="1" dirty="0" smtClean="0">
                <a:latin typeface="Times New Roman" pitchFamily="18" charset="0"/>
                <a:cs typeface="Times New Roman" pitchFamily="18" charset="0"/>
              </a:rPr>
              <a:t>File Access Methods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93618" y="1011383"/>
            <a:ext cx="10647218" cy="5680362"/>
          </a:xfrm>
        </p:spPr>
        <p:txBody>
          <a:bodyPr>
            <a:normAutofit lnSpcReduction="10000"/>
          </a:bodyPr>
          <a:lstStyle/>
          <a:p>
            <a:pPr>
              <a:buFont typeface="Wingdings" pitchFamily="2" charset="2"/>
              <a:buChar char="v"/>
            </a:pPr>
            <a:r>
              <a:rPr lang="en-US" sz="2600" dirty="0" smtClean="0">
                <a:latin typeface="Times New Roman" pitchFamily="18" charset="0"/>
                <a:cs typeface="Times New Roman" pitchFamily="18" charset="0"/>
              </a:rPr>
              <a:t>Sequential Access Method</a:t>
            </a:r>
          </a:p>
          <a:p>
            <a:pPr lvl="1"/>
            <a:r>
              <a:rPr lang="en-US" sz="2600" dirty="0" smtClean="0">
                <a:latin typeface="Times New Roman" pitchFamily="18" charset="0"/>
                <a:cs typeface="Times New Roman" pitchFamily="18" charset="0"/>
              </a:rPr>
              <a:t>It is the simplest access method. </a:t>
            </a:r>
          </a:p>
          <a:p>
            <a:pPr lvl="1"/>
            <a:r>
              <a:rPr lang="en-US" sz="2600" dirty="0" smtClean="0">
                <a:latin typeface="Times New Roman" pitchFamily="18" charset="0"/>
                <a:cs typeface="Times New Roman" pitchFamily="18" charset="0"/>
              </a:rPr>
              <a:t>Information in the file is accessed in order, one record after another</a:t>
            </a:r>
          </a:p>
          <a:p>
            <a:pPr lvl="1"/>
            <a:r>
              <a:rPr lang="en-US" sz="2600" dirty="0" smtClean="0">
                <a:latin typeface="Times New Roman" pitchFamily="18" charset="0"/>
                <a:cs typeface="Times New Roman" pitchFamily="18" charset="0"/>
              </a:rPr>
              <a:t>In sequential access, the OS read the file word by word.  </a:t>
            </a:r>
          </a:p>
          <a:p>
            <a:pPr lvl="1"/>
            <a:r>
              <a:rPr lang="en-US" sz="2600" dirty="0" smtClean="0">
                <a:latin typeface="Times New Roman" pitchFamily="18" charset="0"/>
                <a:cs typeface="Times New Roman" pitchFamily="18" charset="0"/>
              </a:rPr>
              <a:t>The file pointer is maintained which is updated after every read or write operation </a:t>
            </a:r>
          </a:p>
          <a:p>
            <a:pPr lvl="1"/>
            <a:r>
              <a:rPr lang="en-US" sz="2600" dirty="0" smtClean="0">
                <a:latin typeface="Times New Roman" pitchFamily="18" charset="0"/>
                <a:cs typeface="Times New Roman" pitchFamily="18" charset="0"/>
              </a:rPr>
              <a:t>Sequential Access Method is reasonable for tape.</a:t>
            </a:r>
          </a:p>
          <a:p>
            <a:pPr lvl="1"/>
            <a:r>
              <a:rPr lang="en-US" sz="2600" dirty="0" smtClean="0">
                <a:latin typeface="Times New Roman" pitchFamily="18" charset="0"/>
                <a:cs typeface="Times New Roman" pitchFamily="18" charset="0"/>
              </a:rPr>
              <a:t>In the sequential access method, if we use read command, then the pointer is moved ahead by 1.</a:t>
            </a:r>
          </a:p>
          <a:p>
            <a:pPr lvl="1"/>
            <a:r>
              <a:rPr lang="en-US" sz="2600" dirty="0" smtClean="0">
                <a:latin typeface="Times New Roman" pitchFamily="18" charset="0"/>
                <a:cs typeface="Times New Roman" pitchFamily="18" charset="0"/>
              </a:rPr>
              <a:t>If the write command is used, then the memory will be allocated, and at the end of the file, a pointer will be moved.</a:t>
            </a:r>
          </a:p>
          <a:p>
            <a:pPr lvl="1"/>
            <a:r>
              <a:rPr lang="en-US" sz="2600" b="1" dirty="0" smtClean="0">
                <a:latin typeface="Times New Roman" pitchFamily="18" charset="0"/>
                <a:cs typeface="Times New Roman" pitchFamily="18" charset="0"/>
              </a:rPr>
              <a:t>Advantage</a:t>
            </a:r>
            <a:r>
              <a:rPr lang="en-US" sz="2600" dirty="0" smtClean="0">
                <a:latin typeface="Times New Roman" pitchFamily="18" charset="0"/>
                <a:cs typeface="Times New Roman" pitchFamily="18" charset="0"/>
              </a:rPr>
              <a:t> – The sequential access method is an easy implementation method for the software and hardware. </a:t>
            </a:r>
          </a:p>
          <a:p>
            <a:pPr lvl="1"/>
            <a:r>
              <a:rPr lang="en-US" sz="2600" b="1" dirty="0" smtClean="0">
                <a:latin typeface="Times New Roman" pitchFamily="18" charset="0"/>
                <a:cs typeface="Times New Roman" pitchFamily="18" charset="0"/>
              </a:rPr>
              <a:t>Disadvantage</a:t>
            </a:r>
            <a:r>
              <a:rPr lang="en-US" sz="2600" dirty="0" smtClean="0">
                <a:latin typeface="Times New Roman" pitchFamily="18" charset="0"/>
                <a:cs typeface="Times New Roman" pitchFamily="18" charset="0"/>
              </a:rPr>
              <a:t> – The sequential access takes a lot of time for performing the read-write operation.</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3239"/>
          </a:xfrm>
        </p:spPr>
        <p:txBody>
          <a:bodyPr>
            <a:normAutofit/>
          </a:bodyPr>
          <a:lstStyle/>
          <a:p>
            <a:r>
              <a:rPr lang="en-US" sz="2800" b="1" dirty="0" smtClean="0">
                <a:latin typeface="Times New Roman" pitchFamily="18" charset="0"/>
                <a:cs typeface="Times New Roman" pitchFamily="18" charset="0"/>
              </a:rPr>
              <a:t>File Access Methods</a:t>
            </a:r>
            <a:endParaRPr lang="en-US" sz="2800" b="1" dirty="0">
              <a:latin typeface="Times New Roman" pitchFamily="18" charset="0"/>
              <a:cs typeface="Times New Roman" pitchFamily="18" charset="0"/>
            </a:endParaRPr>
          </a:p>
        </p:txBody>
      </p:sp>
      <p:sp>
        <p:nvSpPr>
          <p:cNvPr id="3" name="Content Placeholder 2"/>
          <p:cNvSpPr>
            <a:spLocks noGrp="1"/>
          </p:cNvSpPr>
          <p:nvPr>
            <p:ph sz="half" idx="1"/>
          </p:nvPr>
        </p:nvSpPr>
        <p:spPr>
          <a:xfrm>
            <a:off x="498764" y="1454727"/>
            <a:ext cx="5943600" cy="4722236"/>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Direct or Random Access Methods</a:t>
            </a:r>
          </a:p>
          <a:p>
            <a:pPr lvl="1"/>
            <a:r>
              <a:rPr lang="en-US" dirty="0" smtClean="0">
                <a:latin typeface="Times New Roman" pitchFamily="18" charset="0"/>
                <a:cs typeface="Times New Roman" pitchFamily="18" charset="0"/>
              </a:rPr>
              <a:t>Allows access to any block in the file at any time</a:t>
            </a:r>
          </a:p>
          <a:p>
            <a:pPr lvl="1"/>
            <a:r>
              <a:rPr lang="en-US" dirty="0" smtClean="0">
                <a:latin typeface="Times New Roman" pitchFamily="18" charset="0"/>
                <a:cs typeface="Times New Roman" pitchFamily="18" charset="0"/>
              </a:rPr>
              <a:t>Sometimes it is not necessary to process every record in a file. It is not necessary to process all the records in the order in which they are present in the memory.</a:t>
            </a:r>
          </a:p>
          <a:p>
            <a:pPr lvl="1"/>
            <a:r>
              <a:rPr lang="en-US" dirty="0" smtClean="0">
                <a:latin typeface="Times New Roman" pitchFamily="18" charset="0"/>
                <a:cs typeface="Times New Roman" pitchFamily="18" charset="0"/>
              </a:rPr>
              <a:t>The direct access of a sequential file is not possible but Sequential access to a direct access file is possible.</a:t>
            </a:r>
          </a:p>
          <a:p>
            <a:pPr lvl="1"/>
            <a:r>
              <a:rPr lang="en-US" dirty="0" smtClean="0">
                <a:latin typeface="Times New Roman" pitchFamily="18" charset="0"/>
                <a:cs typeface="Times New Roman" pitchFamily="18" charset="0"/>
              </a:rPr>
              <a:t>The Direct Access is mostly required in the case of database systems.</a:t>
            </a:r>
          </a:p>
        </p:txBody>
      </p:sp>
      <p:pic>
        <p:nvPicPr>
          <p:cNvPr id="7" name="Picture 6" descr="Question.png"/>
          <p:cNvPicPr>
            <a:picLocks noChangeAspect="1"/>
          </p:cNvPicPr>
          <p:nvPr/>
        </p:nvPicPr>
        <p:blipFill>
          <a:blip r:embed="rId2"/>
          <a:stretch>
            <a:fillRect/>
          </a:stretch>
        </p:blipFill>
        <p:spPr>
          <a:xfrm>
            <a:off x="6345381" y="2478934"/>
            <a:ext cx="5638800" cy="1788267"/>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3966"/>
          </a:xfrm>
        </p:spPr>
        <p:txBody>
          <a:bodyPr>
            <a:normAutofit/>
          </a:bodyPr>
          <a:lstStyle/>
          <a:p>
            <a:r>
              <a:rPr lang="en-US" sz="2800" b="1" dirty="0" smtClean="0">
                <a:latin typeface="Times New Roman" pitchFamily="18" charset="0"/>
                <a:cs typeface="Times New Roman" pitchFamily="18" charset="0"/>
              </a:rPr>
              <a:t>File Access Methods</a:t>
            </a:r>
            <a:endParaRPr lang="en-US" sz="2800" b="1" dirty="0">
              <a:latin typeface="Times New Roman" pitchFamily="18" charset="0"/>
              <a:cs typeface="Times New Roman" pitchFamily="18" charset="0"/>
            </a:endParaRPr>
          </a:p>
        </p:txBody>
      </p:sp>
      <p:pic>
        <p:nvPicPr>
          <p:cNvPr id="4" name="Content Placeholder 3" descr="seqvsran.png"/>
          <p:cNvPicPr>
            <a:picLocks noGrp="1" noChangeAspect="1"/>
          </p:cNvPicPr>
          <p:nvPr>
            <p:ph idx="1"/>
          </p:nvPr>
        </p:nvPicPr>
        <p:blipFill>
          <a:blip r:embed="rId2"/>
          <a:stretch>
            <a:fillRect/>
          </a:stretch>
        </p:blipFill>
        <p:spPr>
          <a:xfrm>
            <a:off x="2017468" y="1259139"/>
            <a:ext cx="7630590" cy="4658375"/>
          </a:xfr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3966"/>
          </a:xfrm>
        </p:spPr>
        <p:txBody>
          <a:bodyPr>
            <a:normAutofit/>
          </a:bodyPr>
          <a:lstStyle/>
          <a:p>
            <a:r>
              <a:rPr lang="en-US" sz="2800" b="1" dirty="0" smtClean="0">
                <a:latin typeface="Times New Roman" pitchFamily="18" charset="0"/>
                <a:cs typeface="Times New Roman" pitchFamily="18" charset="0"/>
              </a:rPr>
              <a:t>File Access Methods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02327"/>
            <a:ext cx="10515600" cy="5320146"/>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Indexed Access Method </a:t>
            </a:r>
          </a:p>
          <a:p>
            <a:pPr lvl="1"/>
            <a:r>
              <a:rPr lang="en-US" sz="2800" dirty="0" smtClean="0">
                <a:latin typeface="Times New Roman" pitchFamily="18" charset="0"/>
                <a:cs typeface="Times New Roman" pitchFamily="18" charset="0"/>
              </a:rPr>
              <a:t>The Index Access method is an improvised version of the direct access method. </a:t>
            </a:r>
          </a:p>
          <a:p>
            <a:pPr lvl="1"/>
            <a:r>
              <a:rPr lang="en-US" sz="2800" dirty="0" smtClean="0">
                <a:latin typeface="Times New Roman" pitchFamily="18" charset="0"/>
                <a:cs typeface="Times New Roman" pitchFamily="18" charset="0"/>
              </a:rPr>
              <a:t>In this method, an index is maintained which contains the address (or pointers) of the file blocks. </a:t>
            </a:r>
          </a:p>
          <a:p>
            <a:pPr lvl="1"/>
            <a:r>
              <a:rPr lang="en-US" sz="2800" dirty="0" smtClean="0">
                <a:latin typeface="Times New Roman" pitchFamily="18" charset="0"/>
                <a:cs typeface="Times New Roman" pitchFamily="18" charset="0"/>
              </a:rPr>
              <a:t>So, to access any particular record of the file the operating system will first search its address in the index and the index will then point to the actual address of the particular block of the file that has the desired information.</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3966"/>
          </a:xfrm>
        </p:spPr>
        <p:txBody>
          <a:bodyPr>
            <a:normAutofit/>
          </a:bodyPr>
          <a:lstStyle/>
          <a:p>
            <a:r>
              <a:rPr lang="en-US" sz="2800" b="1" dirty="0" smtClean="0">
                <a:latin typeface="Times New Roman" pitchFamily="18" charset="0"/>
                <a:cs typeface="Times New Roman" pitchFamily="18" charset="0"/>
              </a:rPr>
              <a:t>File Access Methods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02327"/>
            <a:ext cx="10515600" cy="5320146"/>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Indexed Access Method </a:t>
            </a:r>
          </a:p>
          <a:p>
            <a:pPr>
              <a:buNone/>
            </a:pPr>
            <a:endParaRPr lang="en-US" dirty="0" smtClean="0">
              <a:latin typeface="Times New Roman" pitchFamily="18" charset="0"/>
              <a:cs typeface="Times New Roman" pitchFamily="18" charset="0"/>
            </a:endParaRPr>
          </a:p>
        </p:txBody>
      </p:sp>
      <p:pic>
        <p:nvPicPr>
          <p:cNvPr id="4" name="Picture 3" descr="Question.png"/>
          <p:cNvPicPr>
            <a:picLocks noChangeAspect="1"/>
          </p:cNvPicPr>
          <p:nvPr/>
        </p:nvPicPr>
        <p:blipFill>
          <a:blip r:embed="rId2"/>
          <a:stretch>
            <a:fillRect/>
          </a:stretch>
        </p:blipFill>
        <p:spPr>
          <a:xfrm>
            <a:off x="2602532" y="1898073"/>
            <a:ext cx="7538995" cy="4627418"/>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3966"/>
          </a:xfrm>
        </p:spPr>
        <p:txBody>
          <a:bodyPr>
            <a:normAutofit/>
          </a:bodyPr>
          <a:lstStyle/>
          <a:p>
            <a:r>
              <a:rPr lang="en-US" sz="2800" b="1" dirty="0" smtClean="0">
                <a:latin typeface="Times New Roman" pitchFamily="18" charset="0"/>
                <a:cs typeface="Times New Roman" pitchFamily="18" charset="0"/>
              </a:rPr>
              <a:t>File Access Methods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302327"/>
            <a:ext cx="10515600" cy="5320146"/>
          </a:xfrm>
        </p:spPr>
        <p:txBody>
          <a:bodyPr>
            <a:normAutofit/>
          </a:bodyPr>
          <a:lstStyle/>
          <a:p>
            <a:pPr>
              <a:buFont typeface="Wingdings" pitchFamily="2" charset="2"/>
              <a:buChar char="v"/>
            </a:pPr>
            <a:r>
              <a:rPr lang="en-US" dirty="0" smtClean="0">
                <a:latin typeface="Times New Roman" pitchFamily="18" charset="0"/>
                <a:cs typeface="Times New Roman" pitchFamily="18" charset="0"/>
              </a:rPr>
              <a:t>Indexed Sequential Mode</a:t>
            </a:r>
          </a:p>
          <a:p>
            <a:pPr lvl="1"/>
            <a:r>
              <a:rPr lang="en-US" sz="2800" dirty="0" smtClean="0">
                <a:latin typeface="Times New Roman" pitchFamily="18" charset="0"/>
                <a:cs typeface="Times New Roman" pitchFamily="18" charset="0"/>
              </a:rPr>
              <a:t>It is the other method of accessing a file that is built on the top of the sequential access method. </a:t>
            </a:r>
          </a:p>
          <a:p>
            <a:pPr lvl="1"/>
            <a:r>
              <a:rPr lang="en-US" sz="2800" dirty="0" smtClean="0">
                <a:latin typeface="Times New Roman" pitchFamily="18" charset="0"/>
                <a:cs typeface="Times New Roman" pitchFamily="18" charset="0"/>
              </a:rPr>
              <a:t>These methods construct an index for the file. </a:t>
            </a:r>
          </a:p>
          <a:p>
            <a:pPr lvl="1"/>
            <a:r>
              <a:rPr lang="en-US" sz="2800" dirty="0" smtClean="0">
                <a:latin typeface="Times New Roman" pitchFamily="18" charset="0"/>
                <a:cs typeface="Times New Roman" pitchFamily="18" charset="0"/>
              </a:rPr>
              <a:t>The index, like an index in the back of a book, contains the pointer to the various blocks. </a:t>
            </a:r>
          </a:p>
          <a:p>
            <a:pPr lvl="1"/>
            <a:r>
              <a:rPr lang="en-US" sz="2800" dirty="0" smtClean="0">
                <a:latin typeface="Times New Roman" pitchFamily="18" charset="0"/>
                <a:cs typeface="Times New Roman" pitchFamily="18" charset="0"/>
              </a:rPr>
              <a:t>To find a record in the file, we first search the index, and then by the help of pointer we access the file directly.</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Distributed File Systems (DFS)</a:t>
            </a:r>
            <a:br>
              <a:rPr lang="en-US" b="1" dirty="0" smtClean="0"/>
            </a:br>
            <a:endParaRPr lang="en-US" dirty="0"/>
          </a:p>
        </p:txBody>
      </p:sp>
      <p:sp>
        <p:nvSpPr>
          <p:cNvPr id="3" name="Content Placeholder 2"/>
          <p:cNvSpPr>
            <a:spLocks noGrp="1"/>
          </p:cNvSpPr>
          <p:nvPr>
            <p:ph idx="1"/>
          </p:nvPr>
        </p:nvSpPr>
        <p:spPr/>
        <p:txBody>
          <a:bodyPr/>
          <a:lstStyle/>
          <a:p>
            <a:r>
              <a:rPr lang="en-US" dirty="0" smtClean="0"/>
              <a:t>A </a:t>
            </a:r>
            <a:r>
              <a:rPr lang="en-US" b="1" dirty="0" smtClean="0"/>
              <a:t>Distributed File System</a:t>
            </a:r>
            <a:r>
              <a:rPr lang="en-US" dirty="0" smtClean="0"/>
              <a:t> stores data across </a:t>
            </a:r>
            <a:r>
              <a:rPr lang="en-US" b="1" dirty="0" smtClean="0"/>
              <a:t>multiple machines</a:t>
            </a:r>
            <a:r>
              <a:rPr lang="en-US" dirty="0" smtClean="0"/>
              <a:t> but exposes it as a </a:t>
            </a:r>
            <a:r>
              <a:rPr lang="en-US" b="1" dirty="0" smtClean="0"/>
              <a:t>single logical file system</a:t>
            </a:r>
            <a:r>
              <a:rPr lang="en-US" dirty="0" smtClean="0"/>
              <a:t>. </a:t>
            </a:r>
          </a:p>
          <a:p>
            <a:r>
              <a:rPr lang="en-US" dirty="0" smtClean="0"/>
              <a:t>The goals are:</a:t>
            </a:r>
          </a:p>
          <a:p>
            <a:endParaRPr lang="en-US" dirty="0" smtClean="0"/>
          </a:p>
          <a:p>
            <a:pPr lvl="1"/>
            <a:r>
              <a:rPr lang="en-US" b="1" dirty="0" smtClean="0"/>
              <a:t>Transparency</a:t>
            </a:r>
            <a:r>
              <a:rPr lang="en-US" dirty="0" smtClean="0"/>
              <a:t> – Location, access, and replication are hidden from users</a:t>
            </a:r>
          </a:p>
          <a:p>
            <a:pPr lvl="1"/>
            <a:r>
              <a:rPr lang="en-US" b="1" dirty="0" smtClean="0"/>
              <a:t>Scalability</a:t>
            </a:r>
            <a:r>
              <a:rPr lang="en-US" dirty="0" smtClean="0"/>
              <a:t> – Handle growth in data and users</a:t>
            </a:r>
          </a:p>
          <a:p>
            <a:pPr lvl="1"/>
            <a:r>
              <a:rPr lang="en-US" b="1" dirty="0" smtClean="0"/>
              <a:t>Fault Tolerance</a:t>
            </a:r>
            <a:r>
              <a:rPr lang="en-US" dirty="0" smtClean="0"/>
              <a:t> – System survives node failures</a:t>
            </a:r>
          </a:p>
          <a:p>
            <a:pPr lvl="1"/>
            <a:r>
              <a:rPr lang="en-US" b="1" dirty="0" smtClean="0"/>
              <a:t>High Availability</a:t>
            </a:r>
            <a:r>
              <a:rPr lang="en-US" dirty="0" smtClean="0"/>
              <a:t> – Data accessible even during failures</a:t>
            </a:r>
          </a:p>
          <a:p>
            <a:pPr lvl="1"/>
            <a:r>
              <a:rPr lang="en-US" b="1" dirty="0" smtClean="0"/>
              <a:t>Performance</a:t>
            </a:r>
            <a:r>
              <a:rPr lang="en-US" dirty="0" smtClean="0"/>
              <a:t> – Parallel access and data locality</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DFS DESIGN CHALLENGES</a:t>
            </a:r>
            <a:endParaRPr lang="en-US" b="1" dirty="0"/>
          </a:p>
        </p:txBody>
      </p:sp>
      <p:sp>
        <p:nvSpPr>
          <p:cNvPr id="3" name="Content Placeholder 2"/>
          <p:cNvSpPr>
            <a:spLocks noGrp="1"/>
          </p:cNvSpPr>
          <p:nvPr>
            <p:ph idx="1"/>
          </p:nvPr>
        </p:nvSpPr>
        <p:spPr/>
        <p:txBody>
          <a:bodyPr numCol="2">
            <a:normAutofit lnSpcReduction="10000"/>
          </a:bodyPr>
          <a:lstStyle/>
          <a:p>
            <a:r>
              <a:rPr lang="en-US" b="1" dirty="0" smtClean="0"/>
              <a:t>Transparency</a:t>
            </a:r>
          </a:p>
          <a:p>
            <a:pPr lvl="1"/>
            <a:r>
              <a:rPr lang="en-US" dirty="0" smtClean="0"/>
              <a:t>Location transparency</a:t>
            </a:r>
          </a:p>
          <a:p>
            <a:pPr lvl="1"/>
            <a:r>
              <a:rPr lang="en-US" dirty="0" smtClean="0"/>
              <a:t>Replication transparency</a:t>
            </a:r>
          </a:p>
          <a:p>
            <a:pPr lvl="1"/>
            <a:r>
              <a:rPr lang="en-US" dirty="0" smtClean="0"/>
              <a:t>Failure transparency</a:t>
            </a:r>
          </a:p>
          <a:p>
            <a:r>
              <a:rPr lang="en-US" b="1" dirty="0" smtClean="0"/>
              <a:t>Naming and Metadata Management</a:t>
            </a:r>
          </a:p>
          <a:p>
            <a:pPr lvl="1"/>
            <a:r>
              <a:rPr lang="en-US" dirty="0" smtClean="0"/>
              <a:t>Centralized </a:t>
            </a:r>
            <a:r>
              <a:rPr lang="en-US" dirty="0" err="1" smtClean="0"/>
              <a:t>vs</a:t>
            </a:r>
            <a:r>
              <a:rPr lang="en-US" dirty="0" smtClean="0"/>
              <a:t> distributed metadata</a:t>
            </a:r>
          </a:p>
          <a:p>
            <a:pPr lvl="1"/>
            <a:r>
              <a:rPr lang="en-US" dirty="0" smtClean="0"/>
              <a:t>Namespace consistency</a:t>
            </a:r>
          </a:p>
          <a:p>
            <a:r>
              <a:rPr lang="en-US" b="1" dirty="0" smtClean="0"/>
              <a:t>Consistency Models</a:t>
            </a:r>
          </a:p>
          <a:p>
            <a:pPr lvl="1"/>
            <a:r>
              <a:rPr lang="en-US" dirty="0" smtClean="0"/>
              <a:t>Strong consistency</a:t>
            </a:r>
          </a:p>
          <a:p>
            <a:pPr lvl="1"/>
            <a:r>
              <a:rPr lang="en-US" dirty="0" smtClean="0"/>
              <a:t>Eventual consistency</a:t>
            </a:r>
          </a:p>
          <a:p>
            <a:pPr lvl="1"/>
            <a:r>
              <a:rPr lang="en-US" dirty="0" smtClean="0"/>
              <a:t>Relaxed consistency</a:t>
            </a:r>
          </a:p>
          <a:p>
            <a:r>
              <a:rPr lang="en-US" b="1" dirty="0" smtClean="0"/>
              <a:t>Fault Handling</a:t>
            </a:r>
          </a:p>
          <a:p>
            <a:pPr lvl="1"/>
            <a:r>
              <a:rPr lang="en-US" dirty="0" smtClean="0"/>
              <a:t>Disk failures</a:t>
            </a:r>
          </a:p>
          <a:p>
            <a:pPr lvl="1"/>
            <a:r>
              <a:rPr lang="en-US" dirty="0" smtClean="0"/>
              <a:t>Network partitions</a:t>
            </a:r>
          </a:p>
          <a:p>
            <a:pPr lvl="1"/>
            <a:r>
              <a:rPr lang="en-US" dirty="0" smtClean="0"/>
              <a:t>Node crashes</a:t>
            </a:r>
          </a:p>
          <a:p>
            <a:r>
              <a:rPr lang="en-US" b="1" dirty="0" smtClean="0"/>
              <a:t>Security</a:t>
            </a:r>
          </a:p>
          <a:p>
            <a:pPr lvl="1"/>
            <a:r>
              <a:rPr lang="en-US" dirty="0" smtClean="0"/>
              <a:t>Authentication</a:t>
            </a:r>
          </a:p>
          <a:p>
            <a:pPr lvl="1"/>
            <a:r>
              <a:rPr lang="en-US" dirty="0" smtClean="0"/>
              <a:t>Authorization</a:t>
            </a:r>
          </a:p>
          <a:p>
            <a:pPr lvl="1"/>
            <a:r>
              <a:rPr lang="en-US" dirty="0" smtClean="0"/>
              <a:t>Encryption (data at rest and in transit)</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DFS Architecture Models</a:t>
            </a:r>
            <a:endParaRPr lang="en-US" b="1" dirty="0"/>
          </a:p>
        </p:txBody>
      </p:sp>
      <p:sp>
        <p:nvSpPr>
          <p:cNvPr id="3" name="Content Placeholder 2"/>
          <p:cNvSpPr>
            <a:spLocks noGrp="1"/>
          </p:cNvSpPr>
          <p:nvPr>
            <p:ph idx="1"/>
          </p:nvPr>
        </p:nvSpPr>
        <p:spPr/>
        <p:txBody>
          <a:bodyPr numCol="2">
            <a:normAutofit/>
          </a:bodyPr>
          <a:lstStyle/>
          <a:p>
            <a:r>
              <a:rPr lang="en-US" b="1" dirty="0" smtClean="0"/>
              <a:t>Centralized Metadata Architecture</a:t>
            </a:r>
          </a:p>
          <a:p>
            <a:pPr lvl="1"/>
            <a:r>
              <a:rPr lang="en-US" dirty="0" smtClean="0"/>
              <a:t>Single metadata server</a:t>
            </a:r>
          </a:p>
          <a:p>
            <a:pPr lvl="1"/>
            <a:r>
              <a:rPr lang="en-US" dirty="0" smtClean="0"/>
              <a:t>Simpler design</a:t>
            </a:r>
          </a:p>
          <a:p>
            <a:pPr lvl="1"/>
            <a:r>
              <a:rPr lang="en-US" dirty="0" smtClean="0"/>
              <a:t>Potential bottleneck</a:t>
            </a:r>
          </a:p>
          <a:p>
            <a:pPr lvl="1"/>
            <a:r>
              <a:rPr lang="en-US" dirty="0" smtClean="0"/>
              <a:t>Examples:</a:t>
            </a:r>
          </a:p>
          <a:p>
            <a:pPr lvl="2"/>
            <a:r>
              <a:rPr lang="en-US" b="1" dirty="0" smtClean="0"/>
              <a:t>HDFS</a:t>
            </a:r>
            <a:endParaRPr lang="en-US" dirty="0" smtClean="0"/>
          </a:p>
          <a:p>
            <a:pPr lvl="2"/>
            <a:r>
              <a:rPr lang="en-US" b="1" dirty="0" smtClean="0"/>
              <a:t>Google File System</a:t>
            </a:r>
            <a:endParaRPr lang="en-US" dirty="0" smtClean="0"/>
          </a:p>
          <a:p>
            <a:endParaRPr lang="en-US" b="1" dirty="0" smtClean="0"/>
          </a:p>
          <a:p>
            <a:endParaRPr lang="en-US" b="1" dirty="0" smtClean="0"/>
          </a:p>
          <a:p>
            <a:r>
              <a:rPr lang="en-US" b="1" dirty="0" smtClean="0"/>
              <a:t>Distributed Metadata Architecture</a:t>
            </a:r>
          </a:p>
          <a:p>
            <a:pPr lvl="1"/>
            <a:r>
              <a:rPr lang="en-US" dirty="0" smtClean="0"/>
              <a:t>Metadata spread across nodes</a:t>
            </a:r>
          </a:p>
          <a:p>
            <a:pPr lvl="1"/>
            <a:r>
              <a:rPr lang="en-US" dirty="0" smtClean="0"/>
              <a:t>High availability</a:t>
            </a:r>
          </a:p>
          <a:p>
            <a:pPr lvl="1"/>
            <a:r>
              <a:rPr lang="en-US" dirty="0" smtClean="0"/>
              <a:t>Complex synchronization</a:t>
            </a:r>
          </a:p>
          <a:p>
            <a:pPr lvl="1"/>
            <a:r>
              <a:rPr lang="en-US" dirty="0" smtClean="0"/>
              <a:t>Example:</a:t>
            </a:r>
          </a:p>
          <a:p>
            <a:pPr lvl="2"/>
            <a:r>
              <a:rPr lang="en-US" b="1" dirty="0" err="1" smtClean="0"/>
              <a:t>CephFS</a:t>
            </a:r>
            <a:endParaRPr lang="en-US" dirty="0" smtClean="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 xmlns:a16="http://schemas.microsoft.com/office/drawing/2014/main" id="{D3A47743-BD05-4D6B-BC48-102E5199BC45}"/>
              </a:ext>
            </a:extLst>
          </p:cNvPr>
          <p:cNvSpPr>
            <a:spLocks noGrp="1"/>
          </p:cNvSpPr>
          <p:nvPr>
            <p:ph type="title"/>
          </p:nvPr>
        </p:nvSpPr>
        <p:spPr>
          <a:xfrm>
            <a:off x="1638300" y="274638"/>
            <a:ext cx="9169400" cy="1143000"/>
          </a:xfrm>
        </p:spPr>
        <p:txBody>
          <a:bodyPr/>
          <a:lstStyle/>
          <a:p>
            <a:r>
              <a:rPr lang="en-US" altLang="nl-BE"/>
              <a:t>Hadoop Distributed File System (HDFS)</a:t>
            </a:r>
            <a:endParaRPr lang="nl-BE" altLang="nl-BE"/>
          </a:p>
        </p:txBody>
      </p:sp>
      <p:sp>
        <p:nvSpPr>
          <p:cNvPr id="25603" name="Content Placeholder 2">
            <a:extLst>
              <a:ext uri="{FF2B5EF4-FFF2-40B4-BE49-F238E27FC236}">
                <a16:creationId xmlns="" xmlns:a16="http://schemas.microsoft.com/office/drawing/2014/main" id="{A007D225-D824-670A-7043-99584FBB157B}"/>
              </a:ext>
            </a:extLst>
          </p:cNvPr>
          <p:cNvSpPr>
            <a:spLocks noGrp="1"/>
          </p:cNvSpPr>
          <p:nvPr>
            <p:ph idx="1"/>
          </p:nvPr>
        </p:nvSpPr>
        <p:spPr/>
        <p:txBody>
          <a:bodyPr/>
          <a:lstStyle/>
          <a:p>
            <a:r>
              <a:rPr lang="en-US" altLang="nl-BE"/>
              <a:t>Distributed file system to store data across a cluster of commodity machines</a:t>
            </a:r>
          </a:p>
          <a:p>
            <a:r>
              <a:rPr lang="en-US" altLang="nl-BE"/>
              <a:t>High emphasis on fault-tolerance</a:t>
            </a:r>
          </a:p>
          <a:p>
            <a:r>
              <a:rPr lang="en-US" altLang="nl-BE"/>
              <a:t>HDFS cluster is composed of a NameNode and various DataNodes</a:t>
            </a:r>
          </a:p>
        </p:txBody>
      </p:sp>
      <p:sp>
        <p:nvSpPr>
          <p:cNvPr id="25604" name="Slide Number Placeholder 3">
            <a:extLst>
              <a:ext uri="{FF2B5EF4-FFF2-40B4-BE49-F238E27FC236}">
                <a16:creationId xmlns="" xmlns:a16="http://schemas.microsoft.com/office/drawing/2014/main" id="{E1DB3187-2C54-C483-260E-810AC3578BCA}"/>
              </a:ext>
            </a:extLst>
          </p:cNvPr>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3FD90C1-23C7-4CB4-9299-BB8050F0D64A}" type="slidenum">
              <a:rPr lang="nl-NL" altLang="nl-BE" sz="1200">
                <a:solidFill>
                  <a:srgbClr val="898989"/>
                </a:solidFill>
                <a:latin typeface="Arial" panose="020B0604020202020204" pitchFamily="34" charset="0"/>
              </a:rPr>
              <a:pPr>
                <a:spcBef>
                  <a:spcPct val="0"/>
                </a:spcBef>
                <a:buFontTx/>
                <a:buNone/>
              </a:pPr>
              <a:t>23</a:t>
            </a:fld>
            <a:endParaRPr lang="nl-NL" altLang="nl-BE" sz="1200">
              <a:solidFill>
                <a:srgbClr val="898989"/>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 xmlns:a16="http://schemas.microsoft.com/office/drawing/2014/main" id="{6EF1A9BF-E509-F731-3F0D-D1C17F8FA10D}"/>
              </a:ext>
            </a:extLst>
          </p:cNvPr>
          <p:cNvSpPr>
            <a:spLocks noGrp="1"/>
          </p:cNvSpPr>
          <p:nvPr>
            <p:ph type="title"/>
          </p:nvPr>
        </p:nvSpPr>
        <p:spPr>
          <a:xfrm>
            <a:off x="1638300" y="342900"/>
            <a:ext cx="9410700" cy="1143000"/>
          </a:xfrm>
        </p:spPr>
        <p:txBody>
          <a:bodyPr/>
          <a:lstStyle/>
          <a:p>
            <a:r>
              <a:rPr lang="en-US" altLang="nl-BE"/>
              <a:t>Hadoop Distributed File System (HDFS)</a:t>
            </a:r>
            <a:endParaRPr lang="nl-BE" altLang="nl-BE"/>
          </a:p>
        </p:txBody>
      </p:sp>
      <p:sp>
        <p:nvSpPr>
          <p:cNvPr id="27651" name="Content Placeholder 2">
            <a:extLst>
              <a:ext uri="{FF2B5EF4-FFF2-40B4-BE49-F238E27FC236}">
                <a16:creationId xmlns="" xmlns:a16="http://schemas.microsoft.com/office/drawing/2014/main" id="{327E8D79-8BB5-EBD5-FC38-BD36AF32D7AC}"/>
              </a:ext>
            </a:extLst>
          </p:cNvPr>
          <p:cNvSpPr>
            <a:spLocks noGrp="1"/>
          </p:cNvSpPr>
          <p:nvPr>
            <p:ph idx="1"/>
          </p:nvPr>
        </p:nvSpPr>
        <p:spPr>
          <a:xfrm>
            <a:off x="1638300" y="1485901"/>
            <a:ext cx="8915400" cy="4525963"/>
          </a:xfrm>
        </p:spPr>
        <p:txBody>
          <a:bodyPr/>
          <a:lstStyle/>
          <a:p>
            <a:r>
              <a:rPr lang="en-US" altLang="nl-BE"/>
              <a:t>NameNode</a:t>
            </a:r>
          </a:p>
          <a:p>
            <a:pPr lvl="1"/>
            <a:r>
              <a:rPr lang="en-US" altLang="nl-BE"/>
              <a:t>a server which holds all the metadata regarding the stored files</a:t>
            </a:r>
          </a:p>
          <a:p>
            <a:pPr lvl="1"/>
            <a:r>
              <a:rPr lang="en-US" altLang="nl-BE"/>
              <a:t>manages incoming file system operations</a:t>
            </a:r>
          </a:p>
          <a:p>
            <a:pPr lvl="1"/>
            <a:r>
              <a:rPr lang="en-US" altLang="nl-BE"/>
              <a:t>maps data blocks (parts of files) to DataNodes</a:t>
            </a:r>
          </a:p>
          <a:p>
            <a:r>
              <a:rPr lang="en-US" altLang="nl-BE"/>
              <a:t>DataNode</a:t>
            </a:r>
          </a:p>
          <a:p>
            <a:pPr lvl="1"/>
            <a:r>
              <a:rPr lang="en-US" altLang="nl-BE"/>
              <a:t>handles file read and write requests</a:t>
            </a:r>
          </a:p>
          <a:p>
            <a:pPr lvl="1"/>
            <a:r>
              <a:rPr lang="en-US" altLang="nl-BE"/>
              <a:t>create, delete and replicate data blocks amongst their disk drives </a:t>
            </a:r>
          </a:p>
          <a:p>
            <a:pPr lvl="1"/>
            <a:r>
              <a:rPr lang="en-US" altLang="nl-BE"/>
              <a:t>continuously loop, asking the NameNode for instructions.</a:t>
            </a:r>
          </a:p>
          <a:p>
            <a:r>
              <a:rPr lang="en-US" altLang="nl-BE"/>
              <a:t>Note: size of 1 data block is typically 64 megabytes </a:t>
            </a:r>
            <a:endParaRPr lang="nl-BE" altLang="nl-BE"/>
          </a:p>
          <a:p>
            <a:endParaRPr lang="nl-BE" altLang="nl-BE"/>
          </a:p>
          <a:p>
            <a:pPr lvl="1"/>
            <a:endParaRPr lang="nl-BE" altLang="nl-BE"/>
          </a:p>
        </p:txBody>
      </p:sp>
      <p:sp>
        <p:nvSpPr>
          <p:cNvPr id="27652" name="Slide Number Placeholder 3">
            <a:extLst>
              <a:ext uri="{FF2B5EF4-FFF2-40B4-BE49-F238E27FC236}">
                <a16:creationId xmlns="" xmlns:a16="http://schemas.microsoft.com/office/drawing/2014/main" id="{9366F350-E823-E5C9-3F15-4954665F2786}"/>
              </a:ext>
            </a:extLst>
          </p:cNvPr>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9B9A443-6C3D-417A-B7F3-5E823DD89255}" type="slidenum">
              <a:rPr lang="nl-NL" altLang="nl-BE" sz="1200">
                <a:solidFill>
                  <a:srgbClr val="898989"/>
                </a:solidFill>
                <a:latin typeface="Arial" panose="020B0604020202020204" pitchFamily="34" charset="0"/>
              </a:rPr>
              <a:pPr>
                <a:spcBef>
                  <a:spcPct val="0"/>
                </a:spcBef>
                <a:buFontTx/>
                <a:buNone/>
              </a:pPr>
              <a:t>24</a:t>
            </a:fld>
            <a:endParaRPr lang="nl-NL" altLang="nl-BE" sz="1200">
              <a:solidFill>
                <a:srgbClr val="898989"/>
              </a:solidFill>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 xmlns:a16="http://schemas.microsoft.com/office/drawing/2014/main" id="{7E646F59-92CC-0C94-9FA2-60CAE95E671B}"/>
              </a:ext>
            </a:extLst>
          </p:cNvPr>
          <p:cNvSpPr>
            <a:spLocks noGrp="1"/>
          </p:cNvSpPr>
          <p:nvPr>
            <p:ph type="title"/>
          </p:nvPr>
        </p:nvSpPr>
        <p:spPr>
          <a:xfrm>
            <a:off x="1447800" y="342900"/>
            <a:ext cx="9296400" cy="1143000"/>
          </a:xfrm>
        </p:spPr>
        <p:txBody>
          <a:bodyPr/>
          <a:lstStyle/>
          <a:p>
            <a:r>
              <a:rPr lang="en-US" altLang="nl-BE"/>
              <a:t>Hadoop Distributed File System (HDFS)</a:t>
            </a:r>
            <a:endParaRPr lang="nl-BE" altLang="nl-BE"/>
          </a:p>
        </p:txBody>
      </p:sp>
      <p:sp>
        <p:nvSpPr>
          <p:cNvPr id="29699" name="Slide Number Placeholder 3">
            <a:extLst>
              <a:ext uri="{FF2B5EF4-FFF2-40B4-BE49-F238E27FC236}">
                <a16:creationId xmlns="" xmlns:a16="http://schemas.microsoft.com/office/drawing/2014/main" id="{7E5F0C41-14CF-384D-BC38-945536081550}"/>
              </a:ext>
            </a:extLst>
          </p:cNvPr>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D5936D1-6992-4F38-BD05-D5BBB85F6F3E}" type="slidenum">
              <a:rPr lang="nl-NL" altLang="nl-BE" sz="1200">
                <a:solidFill>
                  <a:srgbClr val="898989"/>
                </a:solidFill>
                <a:latin typeface="Arial" panose="020B0604020202020204" pitchFamily="34" charset="0"/>
              </a:rPr>
              <a:pPr>
                <a:spcBef>
                  <a:spcPct val="0"/>
                </a:spcBef>
                <a:buFontTx/>
                <a:buNone/>
              </a:pPr>
              <a:t>25</a:t>
            </a:fld>
            <a:endParaRPr lang="nl-NL" altLang="nl-BE" sz="1200">
              <a:solidFill>
                <a:srgbClr val="898989"/>
              </a:solidFill>
              <a:latin typeface="Arial" panose="020B0604020202020204" pitchFamily="34" charset="0"/>
            </a:endParaRPr>
          </a:p>
        </p:txBody>
      </p:sp>
      <p:pic>
        <p:nvPicPr>
          <p:cNvPr id="29700" name="Picture 5">
            <a:extLst>
              <a:ext uri="{FF2B5EF4-FFF2-40B4-BE49-F238E27FC236}">
                <a16:creationId xmlns="" xmlns:a16="http://schemas.microsoft.com/office/drawing/2014/main" id="{AB12B562-8FA4-376C-9A5F-E8B8FCA11076}"/>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462088" y="1689100"/>
            <a:ext cx="9282112" cy="42941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 xmlns:a16="http://schemas.microsoft.com/office/drawing/2014/main" id="{AFA3592C-56FD-CCBF-10E1-4DF1F6E5DB56}"/>
              </a:ext>
            </a:extLst>
          </p:cNvPr>
          <p:cNvSpPr>
            <a:spLocks noGrp="1"/>
          </p:cNvSpPr>
          <p:nvPr>
            <p:ph type="title"/>
          </p:nvPr>
        </p:nvSpPr>
        <p:spPr>
          <a:xfrm>
            <a:off x="1454150" y="342900"/>
            <a:ext cx="9283700" cy="1143000"/>
          </a:xfrm>
        </p:spPr>
        <p:txBody>
          <a:bodyPr/>
          <a:lstStyle/>
          <a:p>
            <a:r>
              <a:rPr lang="en-US" altLang="nl-BE"/>
              <a:t>Hadoop Distributed File System (HDFS)</a:t>
            </a:r>
            <a:endParaRPr lang="nl-BE" altLang="nl-BE"/>
          </a:p>
        </p:txBody>
      </p:sp>
      <p:sp>
        <p:nvSpPr>
          <p:cNvPr id="31747" name="Slide Number Placeholder 3">
            <a:extLst>
              <a:ext uri="{FF2B5EF4-FFF2-40B4-BE49-F238E27FC236}">
                <a16:creationId xmlns="" xmlns:a16="http://schemas.microsoft.com/office/drawing/2014/main" id="{6083C704-4E12-CF24-726A-E2412B2571C7}"/>
              </a:ext>
            </a:extLst>
          </p:cNvPr>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3C3DFC3-17D9-4137-9F73-B50BD48AB247}" type="slidenum">
              <a:rPr lang="nl-NL" altLang="nl-BE" sz="1200">
                <a:solidFill>
                  <a:srgbClr val="898989"/>
                </a:solidFill>
                <a:latin typeface="Arial" panose="020B0604020202020204" pitchFamily="34" charset="0"/>
              </a:rPr>
              <a:pPr>
                <a:spcBef>
                  <a:spcPct val="0"/>
                </a:spcBef>
                <a:buFontTx/>
                <a:buNone/>
              </a:pPr>
              <a:t>26</a:t>
            </a:fld>
            <a:endParaRPr lang="nl-NL" altLang="nl-BE" sz="1200">
              <a:solidFill>
                <a:srgbClr val="898989"/>
              </a:solidFill>
              <a:latin typeface="Arial" panose="020B0604020202020204" pitchFamily="34" charset="0"/>
            </a:endParaRPr>
          </a:p>
        </p:txBody>
      </p:sp>
      <p:pic>
        <p:nvPicPr>
          <p:cNvPr id="31748" name="Picture 5">
            <a:extLst>
              <a:ext uri="{FF2B5EF4-FFF2-40B4-BE49-F238E27FC236}">
                <a16:creationId xmlns="" xmlns:a16="http://schemas.microsoft.com/office/drawing/2014/main" id="{F409F1B6-0467-1C8A-6B81-E541F6FB868B}"/>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447800" y="1922464"/>
            <a:ext cx="9296400" cy="3997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 xmlns:a16="http://schemas.microsoft.com/office/drawing/2014/main" id="{306ADE2B-D3D4-D846-FD53-C9B89BF0F412}"/>
              </a:ext>
            </a:extLst>
          </p:cNvPr>
          <p:cNvSpPr>
            <a:spLocks noGrp="1"/>
          </p:cNvSpPr>
          <p:nvPr>
            <p:ph type="title"/>
          </p:nvPr>
        </p:nvSpPr>
        <p:spPr>
          <a:xfrm>
            <a:off x="1346200" y="342900"/>
            <a:ext cx="9499600" cy="1143000"/>
          </a:xfrm>
        </p:spPr>
        <p:txBody>
          <a:bodyPr/>
          <a:lstStyle/>
          <a:p>
            <a:r>
              <a:rPr lang="en-US" altLang="nl-BE"/>
              <a:t>Hadoop Distributed File System (HDFS)</a:t>
            </a:r>
            <a:endParaRPr lang="nl-BE" altLang="nl-BE"/>
          </a:p>
        </p:txBody>
      </p:sp>
      <p:sp>
        <p:nvSpPr>
          <p:cNvPr id="33795" name="Slide Number Placeholder 3">
            <a:extLst>
              <a:ext uri="{FF2B5EF4-FFF2-40B4-BE49-F238E27FC236}">
                <a16:creationId xmlns="" xmlns:a16="http://schemas.microsoft.com/office/drawing/2014/main" id="{C9FDF5EE-522B-D3AE-2C29-18FDDC4BA3F7}"/>
              </a:ext>
            </a:extLst>
          </p:cNvPr>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791BD15-2301-4ACC-8297-405C7C990CCB}" type="slidenum">
              <a:rPr lang="nl-NL" altLang="nl-BE" sz="1200">
                <a:solidFill>
                  <a:srgbClr val="898989"/>
                </a:solidFill>
                <a:latin typeface="Arial" panose="020B0604020202020204" pitchFamily="34" charset="0"/>
              </a:rPr>
              <a:pPr>
                <a:spcBef>
                  <a:spcPct val="0"/>
                </a:spcBef>
                <a:buFontTx/>
                <a:buNone/>
              </a:pPr>
              <a:t>27</a:t>
            </a:fld>
            <a:endParaRPr lang="nl-NL" altLang="nl-BE" sz="1200">
              <a:solidFill>
                <a:srgbClr val="898989"/>
              </a:solidFill>
              <a:latin typeface="Arial" panose="020B0604020202020204" pitchFamily="34" charset="0"/>
            </a:endParaRPr>
          </a:p>
        </p:txBody>
      </p:sp>
      <p:pic>
        <p:nvPicPr>
          <p:cNvPr id="33796" name="Picture 2">
            <a:extLst>
              <a:ext uri="{FF2B5EF4-FFF2-40B4-BE49-F238E27FC236}">
                <a16:creationId xmlns="" xmlns:a16="http://schemas.microsoft.com/office/drawing/2014/main" id="{D48DCD54-95B0-AD67-5BE7-447D4D4BBDA9}"/>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452564" y="1966914"/>
            <a:ext cx="9286875" cy="39084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 xmlns:a16="http://schemas.microsoft.com/office/drawing/2014/main" id="{4F6D9539-B2CB-32BC-6780-5355591CAE3A}"/>
              </a:ext>
            </a:extLst>
          </p:cNvPr>
          <p:cNvSpPr>
            <a:spLocks noGrp="1"/>
          </p:cNvSpPr>
          <p:nvPr>
            <p:ph type="title"/>
          </p:nvPr>
        </p:nvSpPr>
        <p:spPr>
          <a:xfrm>
            <a:off x="1289050" y="227013"/>
            <a:ext cx="9613900" cy="1143000"/>
          </a:xfrm>
        </p:spPr>
        <p:txBody>
          <a:bodyPr/>
          <a:lstStyle/>
          <a:p>
            <a:r>
              <a:rPr lang="en-US" altLang="nl-BE"/>
              <a:t>Hadoop Distributed File System (HDFS)</a:t>
            </a:r>
            <a:endParaRPr lang="nl-BE" altLang="nl-BE"/>
          </a:p>
        </p:txBody>
      </p:sp>
      <p:sp>
        <p:nvSpPr>
          <p:cNvPr id="35843" name="Slide Number Placeholder 3">
            <a:extLst>
              <a:ext uri="{FF2B5EF4-FFF2-40B4-BE49-F238E27FC236}">
                <a16:creationId xmlns="" xmlns:a16="http://schemas.microsoft.com/office/drawing/2014/main" id="{9C1F46FB-A85C-FC9C-B55A-707B0B40E1C9}"/>
              </a:ext>
            </a:extLst>
          </p:cNvPr>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48E105B-437D-4D2F-B0E6-295C2FFEA9BF}" type="slidenum">
              <a:rPr lang="nl-NL" altLang="nl-BE" sz="1200">
                <a:solidFill>
                  <a:srgbClr val="898989"/>
                </a:solidFill>
                <a:latin typeface="Arial" panose="020B0604020202020204" pitchFamily="34" charset="0"/>
              </a:rPr>
              <a:pPr>
                <a:spcBef>
                  <a:spcPct val="0"/>
                </a:spcBef>
                <a:buFontTx/>
                <a:buNone/>
              </a:pPr>
              <a:t>28</a:t>
            </a:fld>
            <a:endParaRPr lang="nl-NL" altLang="nl-BE" sz="1200">
              <a:solidFill>
                <a:srgbClr val="898989"/>
              </a:solidFill>
              <a:latin typeface="Arial" panose="020B0604020202020204" pitchFamily="34" charset="0"/>
            </a:endParaRPr>
          </a:p>
        </p:txBody>
      </p:sp>
      <p:pic>
        <p:nvPicPr>
          <p:cNvPr id="35844" name="Picture 4">
            <a:extLst>
              <a:ext uri="{FF2B5EF4-FFF2-40B4-BE49-F238E27FC236}">
                <a16:creationId xmlns="" xmlns:a16="http://schemas.microsoft.com/office/drawing/2014/main" id="{CA984A88-665A-6E68-3AA7-6470424CB988}"/>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417638" y="1930400"/>
            <a:ext cx="9021762" cy="4108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 xmlns:a16="http://schemas.microsoft.com/office/drawing/2014/main" id="{A79F17E0-E3CC-A6C1-FE1E-726CE840E69B}"/>
              </a:ext>
            </a:extLst>
          </p:cNvPr>
          <p:cNvSpPr>
            <a:spLocks noGrp="1"/>
          </p:cNvSpPr>
          <p:nvPr>
            <p:ph type="title"/>
          </p:nvPr>
        </p:nvSpPr>
        <p:spPr>
          <a:xfrm>
            <a:off x="1289050" y="227013"/>
            <a:ext cx="9613900" cy="1143000"/>
          </a:xfrm>
        </p:spPr>
        <p:txBody>
          <a:bodyPr/>
          <a:lstStyle/>
          <a:p>
            <a:r>
              <a:rPr lang="en-US" altLang="nl-BE"/>
              <a:t>Hadoop Distributed File System (HDFS)</a:t>
            </a:r>
            <a:endParaRPr lang="nl-BE" altLang="nl-BE"/>
          </a:p>
        </p:txBody>
      </p:sp>
      <p:sp>
        <p:nvSpPr>
          <p:cNvPr id="3" name="Content Placeholder 2">
            <a:extLst>
              <a:ext uri="{FF2B5EF4-FFF2-40B4-BE49-F238E27FC236}">
                <a16:creationId xmlns="" xmlns:a16="http://schemas.microsoft.com/office/drawing/2014/main" id="{5FCFC984-A3F8-3ACD-A769-9E0D499A9145}"/>
              </a:ext>
            </a:extLst>
          </p:cNvPr>
          <p:cNvSpPr>
            <a:spLocks noGrp="1"/>
          </p:cNvSpPr>
          <p:nvPr>
            <p:ph idx="1"/>
          </p:nvPr>
        </p:nvSpPr>
        <p:spPr>
          <a:xfrm>
            <a:off x="1530350" y="1471613"/>
            <a:ext cx="9131300" cy="4525962"/>
          </a:xfrm>
        </p:spPr>
        <p:txBody>
          <a:bodyPr>
            <a:normAutofit/>
          </a:bodyPr>
          <a:lstStyle/>
          <a:p>
            <a:pPr>
              <a:defRPr/>
            </a:pPr>
            <a:r>
              <a:rPr lang="en-US" dirty="0"/>
              <a:t>HDFS provides a native Java API to allow for writing Java programs that can interface with HDFS</a:t>
            </a:r>
            <a:br>
              <a:rPr lang="en-US" dirty="0"/>
            </a:br>
            <a:r>
              <a:rPr lang="en-US" dirty="0"/>
              <a:t/>
            </a:r>
            <a:br>
              <a:rPr lang="en-US" dirty="0"/>
            </a:br>
            <a:r>
              <a:rPr lang="en-US" sz="2000" dirty="0">
                <a:latin typeface="Consolas" panose="020B0609020204030204" pitchFamily="49" charset="0"/>
              </a:rPr>
              <a:t>String </a:t>
            </a:r>
            <a:r>
              <a:rPr lang="en-US" sz="2000" dirty="0" err="1">
                <a:latin typeface="Consolas" panose="020B0609020204030204" pitchFamily="49" charset="0"/>
              </a:rPr>
              <a:t>filePath</a:t>
            </a:r>
            <a:r>
              <a:rPr lang="en-US" sz="2000" dirty="0">
                <a:latin typeface="Consolas" panose="020B0609020204030204" pitchFamily="49" charset="0"/>
              </a:rPr>
              <a:t> = “/data/all_my_customers.csv”;</a:t>
            </a:r>
            <a:br>
              <a:rPr lang="en-US" sz="2000" dirty="0">
                <a:latin typeface="Consolas" panose="020B0609020204030204" pitchFamily="49" charset="0"/>
              </a:rPr>
            </a:br>
            <a:r>
              <a:rPr lang="en-US" sz="2000" dirty="0">
                <a:latin typeface="Consolas" panose="020B0609020204030204" pitchFamily="49" charset="0"/>
              </a:rPr>
              <a:t>Configuration </a:t>
            </a:r>
            <a:r>
              <a:rPr lang="en-US" sz="2000" dirty="0" err="1">
                <a:latin typeface="Consolas" panose="020B0609020204030204" pitchFamily="49" charset="0"/>
              </a:rPr>
              <a:t>config</a:t>
            </a:r>
            <a:r>
              <a:rPr lang="en-US" sz="2000" dirty="0">
                <a:latin typeface="Consolas" panose="020B0609020204030204" pitchFamily="49" charset="0"/>
              </a:rPr>
              <a:t> = new Configuration();</a:t>
            </a:r>
            <a:br>
              <a:rPr lang="en-US" sz="2000" dirty="0">
                <a:latin typeface="Consolas" panose="020B0609020204030204" pitchFamily="49" charset="0"/>
              </a:rPr>
            </a:br>
            <a:r>
              <a:rPr lang="en-US" sz="2000" dirty="0" err="1">
                <a:latin typeface="Consolas" panose="020B0609020204030204" pitchFamily="49" charset="0"/>
              </a:rPr>
              <a:t>org.apache.hadoop.fs.FileSystem</a:t>
            </a:r>
            <a:r>
              <a:rPr lang="en-US" sz="2000" dirty="0">
                <a:latin typeface="Consolas" panose="020B0609020204030204" pitchFamily="49" charset="0"/>
              </a:rPr>
              <a:t> </a:t>
            </a:r>
            <a:r>
              <a:rPr lang="en-US" sz="2000" dirty="0" err="1">
                <a:latin typeface="Consolas" panose="020B0609020204030204" pitchFamily="49" charset="0"/>
              </a:rPr>
              <a:t>hdfs</a:t>
            </a:r>
            <a:r>
              <a:rPr lang="en-US" sz="2000" dirty="0">
                <a:latin typeface="Consolas" panose="020B0609020204030204" pitchFamily="49" charset="0"/>
              </a:rPr>
              <a:t> = </a:t>
            </a:r>
            <a:r>
              <a:rPr lang="en-US" sz="2000" dirty="0" err="1">
                <a:latin typeface="Consolas" panose="020B0609020204030204" pitchFamily="49" charset="0"/>
              </a:rPr>
              <a:t>org.apache.hadoop.fs.FileSystem.get</a:t>
            </a:r>
            <a:r>
              <a:rPr lang="en-US" sz="2000" dirty="0">
                <a:latin typeface="Consolas" panose="020B0609020204030204" pitchFamily="49" charset="0"/>
              </a:rPr>
              <a:t>(</a:t>
            </a:r>
            <a:r>
              <a:rPr lang="en-US" sz="2000" dirty="0" err="1">
                <a:latin typeface="Consolas" panose="020B0609020204030204" pitchFamily="49" charset="0"/>
              </a:rPr>
              <a:t>config</a:t>
            </a:r>
            <a:r>
              <a:rPr lang="en-US" sz="2000" dirty="0">
                <a:latin typeface="Consolas" panose="020B0609020204030204" pitchFamily="49" charset="0"/>
              </a:rPr>
              <a:t>);</a:t>
            </a:r>
            <a:br>
              <a:rPr lang="en-US" sz="2000" dirty="0">
                <a:latin typeface="Consolas" panose="020B0609020204030204" pitchFamily="49" charset="0"/>
              </a:rPr>
            </a:br>
            <a:r>
              <a:rPr lang="en-US" sz="2000" dirty="0" err="1">
                <a:latin typeface="Consolas" panose="020B0609020204030204" pitchFamily="49" charset="0"/>
              </a:rPr>
              <a:t>org.apache.hadoop.fs.Path</a:t>
            </a:r>
            <a:r>
              <a:rPr lang="en-US" sz="2000" dirty="0">
                <a:latin typeface="Consolas" panose="020B0609020204030204" pitchFamily="49" charset="0"/>
              </a:rPr>
              <a:t> path = new </a:t>
            </a:r>
            <a:r>
              <a:rPr lang="en-US" sz="2000" dirty="0" err="1">
                <a:latin typeface="Consolas" panose="020B0609020204030204" pitchFamily="49" charset="0"/>
              </a:rPr>
              <a:t>org.apache.hadoop.fs.Path</a:t>
            </a:r>
            <a:r>
              <a:rPr lang="en-US" sz="2000" dirty="0">
                <a:latin typeface="Consolas" panose="020B0609020204030204" pitchFamily="49" charset="0"/>
              </a:rPr>
              <a:t>(</a:t>
            </a:r>
            <a:r>
              <a:rPr lang="en-US" sz="2000" dirty="0" err="1">
                <a:latin typeface="Consolas" panose="020B0609020204030204" pitchFamily="49" charset="0"/>
              </a:rPr>
              <a:t>filePath</a:t>
            </a:r>
            <a:r>
              <a:rPr lang="en-US" sz="2000" dirty="0">
                <a:latin typeface="Consolas" panose="020B0609020204030204" pitchFamily="49" charset="0"/>
              </a:rPr>
              <a:t>);</a:t>
            </a:r>
            <a:br>
              <a:rPr lang="en-US" sz="2000" dirty="0">
                <a:latin typeface="Consolas" panose="020B0609020204030204" pitchFamily="49" charset="0"/>
              </a:rPr>
            </a:br>
            <a:r>
              <a:rPr lang="en-US" sz="2000" dirty="0" err="1">
                <a:latin typeface="Consolas" panose="020B0609020204030204" pitchFamily="49" charset="0"/>
              </a:rPr>
              <a:t>org.apache.hadoop.fs.FSDataInputStream</a:t>
            </a:r>
            <a:r>
              <a:rPr lang="en-US" sz="2000" dirty="0">
                <a:latin typeface="Consolas" panose="020B0609020204030204" pitchFamily="49" charset="0"/>
              </a:rPr>
              <a:t> </a:t>
            </a:r>
            <a:r>
              <a:rPr lang="en-US" sz="2000" dirty="0" err="1">
                <a:latin typeface="Consolas" panose="020B0609020204030204" pitchFamily="49" charset="0"/>
              </a:rPr>
              <a:t>inputStream</a:t>
            </a:r>
            <a:r>
              <a:rPr lang="en-US" sz="2000" dirty="0">
                <a:latin typeface="Consolas" panose="020B0609020204030204" pitchFamily="49" charset="0"/>
              </a:rPr>
              <a:t> = </a:t>
            </a:r>
            <a:r>
              <a:rPr lang="en-US" sz="2000" dirty="0" err="1">
                <a:latin typeface="Consolas" panose="020B0609020204030204" pitchFamily="49" charset="0"/>
              </a:rPr>
              <a:t>hdfs.open</a:t>
            </a:r>
            <a:r>
              <a:rPr lang="en-US" sz="2000" dirty="0">
                <a:latin typeface="Consolas" panose="020B0609020204030204" pitchFamily="49" charset="0"/>
              </a:rPr>
              <a:t>(path);</a:t>
            </a:r>
            <a:br>
              <a:rPr lang="en-US" sz="2000" dirty="0">
                <a:latin typeface="Consolas" panose="020B0609020204030204" pitchFamily="49" charset="0"/>
              </a:rPr>
            </a:br>
            <a:r>
              <a:rPr lang="en-US" sz="2000" dirty="0">
                <a:latin typeface="Consolas" panose="020B0609020204030204" pitchFamily="49" charset="0"/>
              </a:rPr>
              <a:t>byte[] received = new byte[</a:t>
            </a:r>
            <a:r>
              <a:rPr lang="en-US" sz="2000" dirty="0" err="1">
                <a:latin typeface="Consolas" panose="020B0609020204030204" pitchFamily="49" charset="0"/>
              </a:rPr>
              <a:t>inputStream.available</a:t>
            </a:r>
            <a:r>
              <a:rPr lang="en-US" sz="2000" dirty="0">
                <a:latin typeface="Consolas" panose="020B0609020204030204" pitchFamily="49" charset="0"/>
              </a:rPr>
              <a:t>()]; </a:t>
            </a:r>
            <a:br>
              <a:rPr lang="en-US" sz="2000" dirty="0">
                <a:latin typeface="Consolas" panose="020B0609020204030204" pitchFamily="49" charset="0"/>
              </a:rPr>
            </a:br>
            <a:r>
              <a:rPr lang="en-US" sz="2000" dirty="0" err="1">
                <a:latin typeface="Consolas" panose="020B0609020204030204" pitchFamily="49" charset="0"/>
              </a:rPr>
              <a:t>inputStream.readFully</a:t>
            </a:r>
            <a:r>
              <a:rPr lang="en-US" sz="2000" dirty="0">
                <a:latin typeface="Consolas" panose="020B0609020204030204" pitchFamily="49" charset="0"/>
              </a:rPr>
              <a:t>(received);</a:t>
            </a:r>
            <a:endParaRPr lang="nl-BE" sz="2000" dirty="0">
              <a:latin typeface="Consolas" panose="020B0609020204030204" pitchFamily="49" charset="0"/>
            </a:endParaRPr>
          </a:p>
          <a:p>
            <a:pPr marL="0" indent="0">
              <a:buNone/>
              <a:defRPr/>
            </a:pPr>
            <a:r>
              <a:rPr lang="en-US" dirty="0"/>
              <a:t> </a:t>
            </a:r>
            <a:endParaRPr lang="nl-BE" dirty="0"/>
          </a:p>
        </p:txBody>
      </p:sp>
      <p:sp>
        <p:nvSpPr>
          <p:cNvPr id="37892" name="Slide Number Placeholder 3">
            <a:extLst>
              <a:ext uri="{FF2B5EF4-FFF2-40B4-BE49-F238E27FC236}">
                <a16:creationId xmlns="" xmlns:a16="http://schemas.microsoft.com/office/drawing/2014/main" id="{E5E025D6-F6F3-6EC9-0713-1A9E8640678F}"/>
              </a:ext>
            </a:extLst>
          </p:cNvPr>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222666-F711-4A08-8B65-A2B7A207FD05}" type="slidenum">
              <a:rPr lang="nl-NL" altLang="nl-BE" sz="1200">
                <a:solidFill>
                  <a:srgbClr val="898989"/>
                </a:solidFill>
                <a:latin typeface="Arial" panose="020B0604020202020204" pitchFamily="34" charset="0"/>
              </a:rPr>
              <a:pPr>
                <a:spcBef>
                  <a:spcPct val="0"/>
                </a:spcBef>
                <a:buFontTx/>
                <a:buNone/>
              </a:pPr>
              <a:t>29</a:t>
            </a:fld>
            <a:endParaRPr lang="nl-NL" altLang="nl-BE" sz="1200">
              <a:solidFill>
                <a:srgbClr val="898989"/>
              </a:solidFill>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 xmlns:a16="http://schemas.microsoft.com/office/drawing/2014/main" id="{8F904AED-8711-97D0-AD98-2468B0105F87}"/>
              </a:ext>
            </a:extLst>
          </p:cNvPr>
          <p:cNvSpPr>
            <a:spLocks noGrp="1"/>
          </p:cNvSpPr>
          <p:nvPr>
            <p:ph type="title"/>
          </p:nvPr>
        </p:nvSpPr>
        <p:spPr>
          <a:xfrm>
            <a:off x="1289050" y="227013"/>
            <a:ext cx="9613900" cy="1143000"/>
          </a:xfrm>
        </p:spPr>
        <p:txBody>
          <a:bodyPr/>
          <a:lstStyle/>
          <a:p>
            <a:r>
              <a:rPr lang="en-US" altLang="nl-BE"/>
              <a:t>Hadoop Distributed File System (HDFS)</a:t>
            </a:r>
            <a:endParaRPr lang="nl-BE" altLang="nl-BE"/>
          </a:p>
        </p:txBody>
      </p:sp>
      <p:sp>
        <p:nvSpPr>
          <p:cNvPr id="3" name="Content Placeholder 2">
            <a:extLst>
              <a:ext uri="{FF2B5EF4-FFF2-40B4-BE49-F238E27FC236}">
                <a16:creationId xmlns="" xmlns:a16="http://schemas.microsoft.com/office/drawing/2014/main" id="{53AF5E34-B2F6-2E84-18E2-C2D2CFBCC27F}"/>
              </a:ext>
            </a:extLst>
          </p:cNvPr>
          <p:cNvSpPr>
            <a:spLocks noGrp="1"/>
          </p:cNvSpPr>
          <p:nvPr>
            <p:ph idx="1"/>
          </p:nvPr>
        </p:nvSpPr>
        <p:spPr>
          <a:xfrm>
            <a:off x="1739900" y="1905000"/>
            <a:ext cx="8915400" cy="2794000"/>
          </a:xfrm>
        </p:spPr>
        <p:txBody>
          <a:bodyPr/>
          <a:lstStyle/>
          <a:p>
            <a:pPr marL="0" indent="0">
              <a:buNone/>
              <a:defRPr/>
            </a:pPr>
            <a:r>
              <a:rPr lang="en-US" sz="1800" dirty="0">
                <a:latin typeface="Consolas" panose="020B0609020204030204" pitchFamily="49" charset="0"/>
              </a:rPr>
              <a:t>// ...</a:t>
            </a:r>
            <a:br>
              <a:rPr lang="en-US" sz="1800" dirty="0">
                <a:latin typeface="Consolas" panose="020B0609020204030204" pitchFamily="49" charset="0"/>
              </a:rPr>
            </a:br>
            <a:r>
              <a:rPr lang="en-US" sz="1800" dirty="0" err="1">
                <a:latin typeface="Consolas" panose="020B0609020204030204" pitchFamily="49" charset="0"/>
              </a:rPr>
              <a:t>org.apache.hadoop.fs.FSDataInputStream</a:t>
            </a:r>
            <a:r>
              <a:rPr lang="en-US" sz="1800" dirty="0">
                <a:latin typeface="Consolas" panose="020B0609020204030204" pitchFamily="49" charset="0"/>
              </a:rPr>
              <a:t> </a:t>
            </a:r>
            <a:r>
              <a:rPr lang="en-US" sz="1800" dirty="0" err="1">
                <a:latin typeface="Consolas" panose="020B0609020204030204" pitchFamily="49" charset="0"/>
              </a:rPr>
              <a:t>inputStream</a:t>
            </a:r>
            <a:r>
              <a:rPr lang="en-US" sz="1800" dirty="0">
                <a:latin typeface="Consolas" panose="020B0609020204030204" pitchFamily="49" charset="0"/>
              </a:rPr>
              <a:t> = </a:t>
            </a:r>
            <a:r>
              <a:rPr lang="en-US" sz="1800" dirty="0" err="1">
                <a:latin typeface="Consolas" panose="020B0609020204030204" pitchFamily="49" charset="0"/>
              </a:rPr>
              <a:t>hdfs.open</a:t>
            </a:r>
            <a:r>
              <a:rPr lang="en-US" sz="1800" dirty="0">
                <a:latin typeface="Consolas" panose="020B0609020204030204" pitchFamily="49" charset="0"/>
              </a:rPr>
              <a:t>(path);</a:t>
            </a:r>
            <a:br>
              <a:rPr lang="en-US" sz="1800" dirty="0">
                <a:latin typeface="Consolas" panose="020B0609020204030204" pitchFamily="49" charset="0"/>
              </a:rPr>
            </a:br>
            <a:r>
              <a:rPr lang="en-US" sz="1800" dirty="0">
                <a:latin typeface="Consolas" panose="020B0609020204030204" pitchFamily="49" charset="0"/>
              </a:rPr>
              <a:t>byte[] buffer=new byte[1024]; // Only handle 1KB at once</a:t>
            </a:r>
            <a:br>
              <a:rPr lang="en-US" sz="1800" dirty="0">
                <a:latin typeface="Consolas" panose="020B0609020204030204" pitchFamily="49" charset="0"/>
              </a:rPr>
            </a:br>
            <a:r>
              <a:rPr lang="en-US" sz="1800" dirty="0" err="1">
                <a:latin typeface="Consolas" panose="020B0609020204030204" pitchFamily="49" charset="0"/>
              </a:rPr>
              <a:t>int</a:t>
            </a:r>
            <a:r>
              <a:rPr lang="en-US" sz="1800" dirty="0">
                <a:latin typeface="Consolas" panose="020B0609020204030204" pitchFamily="49" charset="0"/>
              </a:rPr>
              <a:t> </a:t>
            </a:r>
            <a:r>
              <a:rPr lang="en-US" sz="1800" dirty="0" err="1">
                <a:latin typeface="Consolas" panose="020B0609020204030204" pitchFamily="49" charset="0"/>
              </a:rPr>
              <a:t>bytesRead</a:t>
            </a:r>
            <a:r>
              <a:rPr lang="en-US" sz="1800" dirty="0">
                <a:latin typeface="Consolas" panose="020B0609020204030204" pitchFamily="49" charset="0"/>
              </a:rPr>
              <a:t>;</a:t>
            </a:r>
            <a:br>
              <a:rPr lang="en-US" sz="1800" dirty="0">
                <a:latin typeface="Consolas" panose="020B0609020204030204" pitchFamily="49" charset="0"/>
              </a:rPr>
            </a:br>
            <a:r>
              <a:rPr lang="en-US" sz="1800" dirty="0">
                <a:latin typeface="Consolas" panose="020B0609020204030204" pitchFamily="49" charset="0"/>
              </a:rPr>
              <a:t>while ((</a:t>
            </a:r>
            <a:r>
              <a:rPr lang="en-US" sz="1800" dirty="0" err="1">
                <a:latin typeface="Consolas" panose="020B0609020204030204" pitchFamily="49" charset="0"/>
              </a:rPr>
              <a:t>bytesRead</a:t>
            </a:r>
            <a:r>
              <a:rPr lang="en-US" sz="1800" dirty="0">
                <a:latin typeface="Consolas" panose="020B0609020204030204" pitchFamily="49" charset="0"/>
              </a:rPr>
              <a:t> = </a:t>
            </a:r>
            <a:r>
              <a:rPr lang="en-US" sz="1800" dirty="0" err="1">
                <a:latin typeface="Consolas" panose="020B0609020204030204" pitchFamily="49" charset="0"/>
              </a:rPr>
              <a:t>in.read</a:t>
            </a:r>
            <a:r>
              <a:rPr lang="en-US" sz="1800" dirty="0">
                <a:latin typeface="Consolas" panose="020B0609020204030204" pitchFamily="49" charset="0"/>
              </a:rPr>
              <a:t>(buffer)) &gt; 0) {</a:t>
            </a:r>
            <a:br>
              <a:rPr lang="en-US" sz="1800" dirty="0">
                <a:latin typeface="Consolas" panose="020B0609020204030204" pitchFamily="49" charset="0"/>
              </a:rPr>
            </a:br>
            <a:r>
              <a:rPr lang="en-US" sz="1800" dirty="0">
                <a:latin typeface="Consolas" panose="020B0609020204030204" pitchFamily="49" charset="0"/>
              </a:rPr>
              <a:t>    // Do something with the buffered block here</a:t>
            </a:r>
            <a:br>
              <a:rPr lang="en-US" sz="1800" dirty="0">
                <a:latin typeface="Consolas" panose="020B0609020204030204" pitchFamily="49" charset="0"/>
              </a:rPr>
            </a:br>
            <a:r>
              <a:rPr lang="en-US" sz="1800" dirty="0">
                <a:latin typeface="Consolas" panose="020B0609020204030204" pitchFamily="49" charset="0"/>
              </a:rPr>
              <a:t>}</a:t>
            </a:r>
            <a:endParaRPr lang="nl-BE" sz="1800" dirty="0">
              <a:latin typeface="Consolas" panose="020B0609020204030204" pitchFamily="49" charset="0"/>
            </a:endParaRPr>
          </a:p>
          <a:p>
            <a:pPr>
              <a:defRPr/>
            </a:pPr>
            <a:endParaRPr lang="nl-BE" dirty="0"/>
          </a:p>
        </p:txBody>
      </p:sp>
      <p:sp>
        <p:nvSpPr>
          <p:cNvPr id="39940" name="Slide Number Placeholder 3">
            <a:extLst>
              <a:ext uri="{FF2B5EF4-FFF2-40B4-BE49-F238E27FC236}">
                <a16:creationId xmlns="" xmlns:a16="http://schemas.microsoft.com/office/drawing/2014/main" id="{B1B518DD-4284-37AD-B2F8-89FBB9F8CE8A}"/>
              </a:ext>
            </a:extLst>
          </p:cNvPr>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BE38ABA-6D5F-4570-BF6D-A91344824155}" type="slidenum">
              <a:rPr lang="nl-NL" altLang="nl-BE" sz="1200">
                <a:solidFill>
                  <a:srgbClr val="898989"/>
                </a:solidFill>
                <a:latin typeface="Arial" panose="020B0604020202020204" pitchFamily="34" charset="0"/>
              </a:rPr>
              <a:pPr>
                <a:spcBef>
                  <a:spcPct val="0"/>
                </a:spcBef>
                <a:buFontTx/>
                <a:buNone/>
              </a:pPr>
              <a:t>30</a:t>
            </a:fld>
            <a:endParaRPr lang="nl-NL" altLang="nl-BE" sz="1200">
              <a:solidFill>
                <a:srgbClr val="898989"/>
              </a:solidFill>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 xmlns:a16="http://schemas.microsoft.com/office/drawing/2014/main" id="{3B94B6FA-1806-D9F3-1BAC-0385C5E04DB4}"/>
              </a:ext>
            </a:extLst>
          </p:cNvPr>
          <p:cNvSpPr>
            <a:spLocks noGrp="1"/>
          </p:cNvSpPr>
          <p:nvPr>
            <p:ph type="title"/>
          </p:nvPr>
        </p:nvSpPr>
        <p:spPr>
          <a:xfrm>
            <a:off x="1289050" y="227013"/>
            <a:ext cx="9613900" cy="1143000"/>
          </a:xfrm>
        </p:spPr>
        <p:txBody>
          <a:bodyPr/>
          <a:lstStyle/>
          <a:p>
            <a:r>
              <a:rPr lang="en-US" altLang="nl-BE"/>
              <a:t>Hadoop Distributed File System (HDFS)</a:t>
            </a:r>
            <a:endParaRPr lang="nl-BE" altLang="nl-BE"/>
          </a:p>
        </p:txBody>
      </p:sp>
      <p:sp>
        <p:nvSpPr>
          <p:cNvPr id="41987" name="Slide Number Placeholder 3">
            <a:extLst>
              <a:ext uri="{FF2B5EF4-FFF2-40B4-BE49-F238E27FC236}">
                <a16:creationId xmlns="" xmlns:a16="http://schemas.microsoft.com/office/drawing/2014/main" id="{FF202F10-8950-8BC0-7F10-CEF80E820711}"/>
              </a:ext>
            </a:extLst>
          </p:cNvPr>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8BCAB4E-2DAE-4A08-A330-377E7B046120}" type="slidenum">
              <a:rPr lang="nl-NL" altLang="nl-BE" sz="1200">
                <a:solidFill>
                  <a:srgbClr val="898989"/>
                </a:solidFill>
                <a:latin typeface="Arial" panose="020B0604020202020204" pitchFamily="34" charset="0"/>
              </a:rPr>
              <a:pPr>
                <a:spcBef>
                  <a:spcPct val="0"/>
                </a:spcBef>
                <a:buFontTx/>
                <a:buNone/>
              </a:pPr>
              <a:t>31</a:t>
            </a:fld>
            <a:endParaRPr lang="nl-NL" altLang="nl-BE" sz="1200">
              <a:solidFill>
                <a:srgbClr val="898989"/>
              </a:solidFill>
              <a:latin typeface="Arial" panose="020B0604020202020204" pitchFamily="34" charset="0"/>
            </a:endParaRPr>
          </a:p>
        </p:txBody>
      </p:sp>
      <p:graphicFrame>
        <p:nvGraphicFramePr>
          <p:cNvPr id="7" name="Table 6">
            <a:extLst>
              <a:ext uri="{FF2B5EF4-FFF2-40B4-BE49-F238E27FC236}">
                <a16:creationId xmlns="" xmlns:a16="http://schemas.microsoft.com/office/drawing/2014/main" id="{94F280E7-897C-030A-A179-A8FF8DAD5292}"/>
              </a:ext>
            </a:extLst>
          </p:cNvPr>
          <p:cNvGraphicFramePr>
            <a:graphicFrameLocks noGrp="1"/>
          </p:cNvGraphicFramePr>
          <p:nvPr/>
        </p:nvGraphicFramePr>
        <p:xfrm>
          <a:off x="1460500" y="1601788"/>
          <a:ext cx="9271000" cy="4754880"/>
        </p:xfrm>
        <a:graphic>
          <a:graphicData uri="http://schemas.openxmlformats.org/drawingml/2006/table">
            <a:tbl>
              <a:tblPr firstRow="1" firstCol="1" bandRow="1">
                <a:tableStyleId>{D7AC3CCA-C797-4891-BE02-D94E43425B78}</a:tableStyleId>
              </a:tblPr>
              <a:tblGrid>
                <a:gridCol w="3693312">
                  <a:extLst>
                    <a:ext uri="{9D8B030D-6E8A-4147-A177-3AD203B41FA5}">
                      <a16:colId xmlns="" xmlns:a16="http://schemas.microsoft.com/office/drawing/2014/main" val="20000"/>
                    </a:ext>
                  </a:extLst>
                </a:gridCol>
                <a:gridCol w="5577688">
                  <a:extLst>
                    <a:ext uri="{9D8B030D-6E8A-4147-A177-3AD203B41FA5}">
                      <a16:colId xmlns="" xmlns:a16="http://schemas.microsoft.com/office/drawing/2014/main" val="20001"/>
                    </a:ext>
                  </a:extLst>
                </a:gridCol>
              </a:tblGrid>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a:t>
                      </a:r>
                      <a:r>
                        <a:rPr lang="en-US" sz="1600" b="0" dirty="0" err="1">
                          <a:effectLst/>
                          <a:latin typeface="Consolas" panose="020B0609020204030204" pitchFamily="49" charset="0"/>
                        </a:rPr>
                        <a:t>mkdir</a:t>
                      </a:r>
                      <a:r>
                        <a:rPr lang="en-US" sz="1600" b="0" dirty="0">
                          <a:effectLst/>
                          <a:latin typeface="Consolas" panose="020B0609020204030204" pitchFamily="49" charset="0"/>
                        </a:rPr>
                        <a:t> </a:t>
                      </a:r>
                      <a:r>
                        <a:rPr lang="en-US" sz="1600" b="0" dirty="0" err="1">
                          <a:effectLst/>
                          <a:latin typeface="Consolas" panose="020B0609020204030204" pitchFamily="49" charset="0"/>
                        </a:rPr>
                        <a:t>mydir</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dirty="0">
                          <a:effectLst/>
                        </a:rPr>
                        <a:t>Create a directory on HDFS</a:t>
                      </a:r>
                      <a:endParaRPr lang="nl-B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00"/>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-ls</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a:effectLst/>
                        </a:rPr>
                        <a:t>List files and directories on HDFS</a:t>
                      </a:r>
                      <a:endParaRPr lang="nl-B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01"/>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-cat </a:t>
                      </a:r>
                      <a:r>
                        <a:rPr lang="en-US" sz="1600" b="0" dirty="0" err="1">
                          <a:effectLst/>
                          <a:latin typeface="Consolas" panose="020B0609020204030204" pitchFamily="49" charset="0"/>
                        </a:rPr>
                        <a:t>myfile</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a:effectLst/>
                        </a:rPr>
                        <a:t>View a file’s content</a:t>
                      </a:r>
                      <a:endParaRPr lang="nl-BE" sz="1600" b="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02"/>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-du </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dirty="0">
                          <a:effectLst/>
                        </a:rPr>
                        <a:t>Check disk space usage on HDFS</a:t>
                      </a:r>
                      <a:endParaRPr lang="nl-B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03"/>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-expunge </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dirty="0">
                          <a:effectLst/>
                        </a:rPr>
                        <a:t>Empty trash on HDFS</a:t>
                      </a:r>
                      <a:endParaRPr lang="nl-B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04"/>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a:t>
                      </a:r>
                      <a:r>
                        <a:rPr lang="en-US" sz="1600" b="0" dirty="0" err="1">
                          <a:effectLst/>
                          <a:latin typeface="Consolas" panose="020B0609020204030204" pitchFamily="49" charset="0"/>
                        </a:rPr>
                        <a:t>chgrp</a:t>
                      </a:r>
                      <a:r>
                        <a:rPr lang="en-US" sz="1600" b="0" dirty="0">
                          <a:effectLst/>
                          <a:latin typeface="Consolas" panose="020B0609020204030204" pitchFamily="49" charset="0"/>
                        </a:rPr>
                        <a:t> </a:t>
                      </a:r>
                      <a:r>
                        <a:rPr lang="en-US" sz="1600" b="0" dirty="0" err="1">
                          <a:effectLst/>
                          <a:latin typeface="Consolas" panose="020B0609020204030204" pitchFamily="49" charset="0"/>
                        </a:rPr>
                        <a:t>mygroup</a:t>
                      </a:r>
                      <a:r>
                        <a:rPr lang="en-US" sz="1600" b="0" dirty="0">
                          <a:effectLst/>
                          <a:latin typeface="Consolas" panose="020B0609020204030204" pitchFamily="49" charset="0"/>
                        </a:rPr>
                        <a:t> </a:t>
                      </a:r>
                      <a:r>
                        <a:rPr lang="en-US" sz="1600" b="0" dirty="0" err="1">
                          <a:effectLst/>
                          <a:latin typeface="Consolas" panose="020B0609020204030204" pitchFamily="49" charset="0"/>
                        </a:rPr>
                        <a:t>myfile</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dirty="0">
                          <a:effectLst/>
                        </a:rPr>
                        <a:t>Change group membership of a file on HDFS</a:t>
                      </a:r>
                      <a:endParaRPr lang="nl-B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05"/>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a:t>
                      </a:r>
                      <a:r>
                        <a:rPr lang="en-US" sz="1600" b="0" dirty="0" err="1">
                          <a:effectLst/>
                          <a:latin typeface="Consolas" panose="020B0609020204030204" pitchFamily="49" charset="0"/>
                        </a:rPr>
                        <a:t>chown</a:t>
                      </a:r>
                      <a:r>
                        <a:rPr lang="en-US" sz="1600" b="0" dirty="0">
                          <a:effectLst/>
                          <a:latin typeface="Consolas" panose="020B0609020204030204" pitchFamily="49" charset="0"/>
                        </a:rPr>
                        <a:t> </a:t>
                      </a:r>
                      <a:r>
                        <a:rPr lang="en-US" sz="1600" b="0" dirty="0" err="1">
                          <a:effectLst/>
                          <a:latin typeface="Consolas" panose="020B0609020204030204" pitchFamily="49" charset="0"/>
                        </a:rPr>
                        <a:t>myuser</a:t>
                      </a:r>
                      <a:r>
                        <a:rPr lang="en-US" sz="1600" b="0" dirty="0">
                          <a:effectLst/>
                          <a:latin typeface="Consolas" panose="020B0609020204030204" pitchFamily="49" charset="0"/>
                        </a:rPr>
                        <a:t> </a:t>
                      </a:r>
                      <a:r>
                        <a:rPr lang="en-US" sz="1600" b="0" dirty="0" err="1">
                          <a:effectLst/>
                          <a:latin typeface="Consolas" panose="020B0609020204030204" pitchFamily="49" charset="0"/>
                        </a:rPr>
                        <a:t>myfile</a:t>
                      </a:r>
                      <a:r>
                        <a:rPr lang="en-US" sz="1600" b="0" dirty="0">
                          <a:effectLst/>
                          <a:latin typeface="Consolas" panose="020B0609020204030204" pitchFamily="49" charset="0"/>
                        </a:rPr>
                        <a:t> </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dirty="0">
                          <a:effectLst/>
                        </a:rPr>
                        <a:t>Change file ownership of a file on HDFS</a:t>
                      </a:r>
                      <a:endParaRPr lang="nl-B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06"/>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a:t>
                      </a:r>
                      <a:r>
                        <a:rPr lang="en-US" sz="1600" b="0" dirty="0" err="1">
                          <a:effectLst/>
                          <a:latin typeface="Consolas" panose="020B0609020204030204" pitchFamily="49" charset="0"/>
                        </a:rPr>
                        <a:t>rm</a:t>
                      </a:r>
                      <a:r>
                        <a:rPr lang="en-US" sz="1600" b="0" dirty="0">
                          <a:effectLst/>
                          <a:latin typeface="Consolas" panose="020B0609020204030204" pitchFamily="49" charset="0"/>
                        </a:rPr>
                        <a:t> </a:t>
                      </a:r>
                      <a:r>
                        <a:rPr lang="en-US" sz="1600" b="0" dirty="0" err="1">
                          <a:effectLst/>
                          <a:latin typeface="Consolas" panose="020B0609020204030204" pitchFamily="49" charset="0"/>
                        </a:rPr>
                        <a:t>myfile</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dirty="0">
                          <a:effectLst/>
                        </a:rPr>
                        <a:t>Delete a file on HDFS</a:t>
                      </a:r>
                      <a:endParaRPr lang="nl-B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07"/>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a:t>
                      </a:r>
                      <a:r>
                        <a:rPr lang="en-US" sz="1600" b="0" dirty="0" err="1">
                          <a:effectLst/>
                          <a:latin typeface="Consolas" panose="020B0609020204030204" pitchFamily="49" charset="0"/>
                        </a:rPr>
                        <a:t>touchz</a:t>
                      </a:r>
                      <a:r>
                        <a:rPr lang="en-US" sz="1600" b="0" dirty="0">
                          <a:effectLst/>
                          <a:latin typeface="Consolas" panose="020B0609020204030204" pitchFamily="49" charset="0"/>
                        </a:rPr>
                        <a:t> </a:t>
                      </a:r>
                      <a:r>
                        <a:rPr lang="en-US" sz="1600" b="0" dirty="0" err="1">
                          <a:effectLst/>
                          <a:latin typeface="Consolas" panose="020B0609020204030204" pitchFamily="49" charset="0"/>
                        </a:rPr>
                        <a:t>myfile</a:t>
                      </a:r>
                      <a:r>
                        <a:rPr lang="en-US" sz="1600" b="0" dirty="0">
                          <a:effectLst/>
                          <a:latin typeface="Consolas" panose="020B0609020204030204" pitchFamily="49" charset="0"/>
                        </a:rPr>
                        <a:t> </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dirty="0">
                          <a:effectLst/>
                        </a:rPr>
                        <a:t>Create an empty file on HDFS</a:t>
                      </a:r>
                      <a:endParaRPr lang="nl-B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08"/>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-stat </a:t>
                      </a:r>
                      <a:r>
                        <a:rPr lang="en-US" sz="1600" b="0" dirty="0" err="1">
                          <a:effectLst/>
                          <a:latin typeface="Consolas" panose="020B0609020204030204" pitchFamily="49" charset="0"/>
                        </a:rPr>
                        <a:t>myfile</a:t>
                      </a:r>
                      <a:r>
                        <a:rPr lang="en-US" sz="1600" b="0" dirty="0">
                          <a:effectLst/>
                          <a:latin typeface="Consolas" panose="020B0609020204030204" pitchFamily="49" charset="0"/>
                        </a:rPr>
                        <a:t> </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dirty="0">
                          <a:effectLst/>
                        </a:rPr>
                        <a:t>Check the status of a file (file size, owner, …)</a:t>
                      </a:r>
                      <a:endParaRPr lang="nl-B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09"/>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-test -e </a:t>
                      </a:r>
                      <a:r>
                        <a:rPr lang="en-US" sz="1600" b="0" dirty="0" err="1">
                          <a:effectLst/>
                          <a:latin typeface="Consolas" panose="020B0609020204030204" pitchFamily="49" charset="0"/>
                        </a:rPr>
                        <a:t>myfile</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dirty="0">
                          <a:effectLst/>
                        </a:rPr>
                        <a:t>Check if file exists on HDFS</a:t>
                      </a:r>
                      <a:endParaRPr lang="nl-B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10"/>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-test -z </a:t>
                      </a:r>
                      <a:r>
                        <a:rPr lang="en-US" sz="1600" b="0" dirty="0" err="1">
                          <a:effectLst/>
                          <a:latin typeface="Consolas" panose="020B0609020204030204" pitchFamily="49" charset="0"/>
                        </a:rPr>
                        <a:t>myfile</a:t>
                      </a:r>
                      <a:r>
                        <a:rPr lang="en-US" sz="1600" b="0" dirty="0">
                          <a:effectLst/>
                          <a:latin typeface="Consolas" panose="020B0609020204030204" pitchFamily="49" charset="0"/>
                        </a:rPr>
                        <a:t> </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dirty="0">
                          <a:effectLst/>
                        </a:rPr>
                        <a:t>Check if file is empty on HDFS</a:t>
                      </a:r>
                      <a:endParaRPr lang="nl-B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11"/>
                  </a:ext>
                </a:extLst>
              </a:tr>
              <a:tr h="365736">
                <a:tc>
                  <a:txBody>
                    <a:bodyPr/>
                    <a:lstStyle/>
                    <a:p>
                      <a:pPr algn="just">
                        <a:lnSpc>
                          <a:spcPct val="150000"/>
                        </a:lnSpc>
                        <a:spcAft>
                          <a:spcPts val="0"/>
                        </a:spcAft>
                      </a:pPr>
                      <a:r>
                        <a:rPr lang="en-US" sz="1600" b="0" dirty="0" err="1">
                          <a:effectLst/>
                          <a:latin typeface="Consolas" panose="020B0609020204030204" pitchFamily="49" charset="0"/>
                        </a:rPr>
                        <a:t>hadoop</a:t>
                      </a:r>
                      <a:r>
                        <a:rPr lang="en-US" sz="1600" b="0" dirty="0">
                          <a:effectLst/>
                          <a:latin typeface="Consolas" panose="020B0609020204030204" pitchFamily="49" charset="0"/>
                        </a:rPr>
                        <a:t> fs -test -d </a:t>
                      </a:r>
                      <a:r>
                        <a:rPr lang="en-US" sz="1600" b="0" dirty="0" err="1">
                          <a:effectLst/>
                          <a:latin typeface="Consolas" panose="020B0609020204030204" pitchFamily="49" charset="0"/>
                        </a:rPr>
                        <a:t>myfile</a:t>
                      </a:r>
                      <a:endParaRPr lang="nl-BE" sz="1600" b="0" dirty="0">
                        <a:effectLst/>
                        <a:latin typeface="Consolas" panose="020B0609020204030204" pitchFamily="49" charset="0"/>
                        <a:ea typeface="Calibri" panose="020F0502020204030204" pitchFamily="34" charset="0"/>
                        <a:cs typeface="Times New Roman" panose="02020603050405020304" pitchFamily="18" charset="0"/>
                      </a:endParaRPr>
                    </a:p>
                  </a:txBody>
                  <a:tcPr marL="68583" marR="68583" marT="0" marB="0"/>
                </a:tc>
                <a:tc>
                  <a:txBody>
                    <a:bodyPr/>
                    <a:lstStyle/>
                    <a:p>
                      <a:pPr algn="just">
                        <a:lnSpc>
                          <a:spcPct val="150000"/>
                        </a:lnSpc>
                        <a:spcAft>
                          <a:spcPts val="0"/>
                        </a:spcAft>
                      </a:pPr>
                      <a:r>
                        <a:rPr lang="en-US" sz="1600" b="0" dirty="0">
                          <a:effectLst/>
                        </a:rPr>
                        <a:t>Check if </a:t>
                      </a:r>
                      <a:r>
                        <a:rPr lang="en-US" sz="1600" b="0" dirty="0" err="1">
                          <a:effectLst/>
                        </a:rPr>
                        <a:t>myfile</a:t>
                      </a:r>
                      <a:r>
                        <a:rPr lang="en-US" sz="1600" b="0" dirty="0">
                          <a:effectLst/>
                        </a:rPr>
                        <a:t> is a directory on HDFS</a:t>
                      </a:r>
                      <a:endParaRPr lang="nl-BE" sz="16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3" marR="68583" marT="0" marB="0"/>
                </a:tc>
                <a:extLst>
                  <a:ext uri="{0D108BD9-81ED-4DB2-BD59-A6C34878D82A}">
                    <a16:rowId xmlns="" xmlns:a16="http://schemas.microsoft.com/office/drawing/2014/main" val="10012"/>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FILE SYSTEM </a:t>
            </a:r>
            <a:br>
              <a:rPr lang="en-US" b="1" dirty="0" smtClean="0"/>
            </a:br>
            <a:r>
              <a:rPr lang="en-US" b="1" dirty="0" smtClean="0"/>
              <a:t>(GFS)</a:t>
            </a:r>
            <a:endParaRPr lang="en-US" b="1" dirty="0"/>
          </a:p>
        </p:txBody>
      </p:sp>
      <p:pic>
        <p:nvPicPr>
          <p:cNvPr id="1026" name="Picture 2"/>
          <p:cNvPicPr>
            <a:picLocks noGrp="1" noChangeAspect="1" noChangeArrowheads="1"/>
          </p:cNvPicPr>
          <p:nvPr>
            <p:ph idx="1"/>
          </p:nvPr>
        </p:nvPicPr>
        <p:blipFill>
          <a:blip r:embed="rId2"/>
          <a:srcRect/>
          <a:stretch>
            <a:fillRect/>
          </a:stretch>
        </p:blipFill>
        <p:spPr bwMode="auto">
          <a:xfrm>
            <a:off x="2257425" y="1825625"/>
            <a:ext cx="7486650" cy="4868684"/>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FILE SYSTEM </a:t>
            </a:r>
            <a:br>
              <a:rPr lang="en-US" b="1" dirty="0" smtClean="0"/>
            </a:br>
            <a:r>
              <a:rPr lang="en-US" b="1" dirty="0" smtClean="0"/>
              <a:t>(GFS)</a:t>
            </a:r>
            <a:endParaRPr lang="en-US" dirty="0"/>
          </a:p>
        </p:txBody>
      </p:sp>
      <p:sp>
        <p:nvSpPr>
          <p:cNvPr id="3" name="Content Placeholder 2"/>
          <p:cNvSpPr>
            <a:spLocks noGrp="1"/>
          </p:cNvSpPr>
          <p:nvPr>
            <p:ph idx="1"/>
          </p:nvPr>
        </p:nvSpPr>
        <p:spPr/>
        <p:txBody>
          <a:bodyPr/>
          <a:lstStyle/>
          <a:p>
            <a:r>
              <a:rPr lang="en-US" b="1" dirty="0" smtClean="0"/>
              <a:t>Overview</a:t>
            </a:r>
          </a:p>
          <a:p>
            <a:pPr lvl="1"/>
            <a:r>
              <a:rPr lang="en-US" dirty="0" smtClean="0"/>
              <a:t>GFS was designed to handle </a:t>
            </a:r>
            <a:r>
              <a:rPr lang="en-US" b="1" dirty="0" smtClean="0"/>
              <a:t>Google-scale workloads</a:t>
            </a:r>
            <a:r>
              <a:rPr lang="en-US" dirty="0" smtClean="0"/>
              <a:t>, assuming:</a:t>
            </a:r>
          </a:p>
          <a:p>
            <a:pPr lvl="1"/>
            <a:r>
              <a:rPr lang="en-US" dirty="0" smtClean="0"/>
              <a:t>Frequent hardware failures</a:t>
            </a:r>
          </a:p>
          <a:p>
            <a:pPr lvl="1"/>
            <a:r>
              <a:rPr lang="en-US" dirty="0" smtClean="0"/>
              <a:t>Append-heavy operations</a:t>
            </a:r>
          </a:p>
          <a:p>
            <a:pPr lvl="1"/>
            <a:r>
              <a:rPr lang="en-US" dirty="0" smtClean="0"/>
              <a:t>Massive datasets</a:t>
            </a:r>
          </a:p>
          <a:p>
            <a:r>
              <a:rPr lang="en-US" b="1" dirty="0" smtClean="0"/>
              <a:t>Consistency Model</a:t>
            </a:r>
          </a:p>
          <a:p>
            <a:pPr lvl="1"/>
            <a:r>
              <a:rPr lang="en-US" dirty="0" smtClean="0"/>
              <a:t>Relaxed consistency</a:t>
            </a:r>
          </a:p>
          <a:p>
            <a:pPr lvl="1"/>
            <a:r>
              <a:rPr lang="en-US" dirty="0" smtClean="0"/>
              <a:t>Atomic append operations</a:t>
            </a:r>
          </a:p>
          <a:p>
            <a:pPr lvl="1"/>
            <a:r>
              <a:rPr lang="en-US" dirty="0" smtClean="0"/>
              <a:t>Prioritizes availability over strict consistency</a:t>
            </a:r>
          </a:p>
          <a:p>
            <a:pPr lvl="1">
              <a:buNone/>
            </a:pPr>
            <a:endParaRPr lang="en-US" dirty="0" smtClean="0"/>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FILE SYSTEM </a:t>
            </a:r>
            <a:br>
              <a:rPr lang="en-US" b="1" dirty="0" smtClean="0"/>
            </a:br>
            <a:r>
              <a:rPr lang="en-US" b="1" dirty="0" smtClean="0"/>
              <a:t>(GFS)</a:t>
            </a:r>
            <a:endParaRPr lang="en-US" dirty="0"/>
          </a:p>
        </p:txBody>
      </p:sp>
      <p:sp>
        <p:nvSpPr>
          <p:cNvPr id="3" name="Content Placeholder 2"/>
          <p:cNvSpPr>
            <a:spLocks noGrp="1"/>
          </p:cNvSpPr>
          <p:nvPr>
            <p:ph idx="1"/>
          </p:nvPr>
        </p:nvSpPr>
        <p:spPr/>
        <p:txBody>
          <a:bodyPr>
            <a:normAutofit/>
          </a:bodyPr>
          <a:lstStyle/>
          <a:p>
            <a:r>
              <a:rPr lang="en-US" b="1" dirty="0" smtClean="0"/>
              <a:t>Architecture Components</a:t>
            </a:r>
          </a:p>
          <a:p>
            <a:pPr lvl="1"/>
            <a:r>
              <a:rPr lang="en-US" b="1" dirty="0" smtClean="0"/>
              <a:t>Master</a:t>
            </a:r>
          </a:p>
          <a:p>
            <a:pPr lvl="2"/>
            <a:r>
              <a:rPr lang="en-US" dirty="0" smtClean="0"/>
              <a:t>Maintains metadata</a:t>
            </a:r>
          </a:p>
          <a:p>
            <a:pPr lvl="2"/>
            <a:r>
              <a:rPr lang="en-US" dirty="0" smtClean="0"/>
              <a:t>Manages chunk leases</a:t>
            </a:r>
          </a:p>
          <a:p>
            <a:pPr lvl="2"/>
            <a:r>
              <a:rPr lang="en-US" dirty="0" smtClean="0"/>
              <a:t>Controls replication</a:t>
            </a:r>
          </a:p>
          <a:p>
            <a:pPr lvl="1"/>
            <a:r>
              <a:rPr lang="en-US" b="1" dirty="0" err="1" smtClean="0"/>
              <a:t>Chunkservers</a:t>
            </a:r>
            <a:endParaRPr lang="en-US" b="1" dirty="0" smtClean="0"/>
          </a:p>
          <a:p>
            <a:pPr lvl="2"/>
            <a:r>
              <a:rPr lang="en-US" dirty="0" smtClean="0"/>
              <a:t>Store data chunks (64 MB)</a:t>
            </a:r>
          </a:p>
          <a:p>
            <a:pPr lvl="2"/>
            <a:r>
              <a:rPr lang="en-US" dirty="0" smtClean="0"/>
              <a:t>Replicate chunks across nodes</a:t>
            </a:r>
          </a:p>
          <a:p>
            <a:pPr lvl="1"/>
            <a:r>
              <a:rPr lang="en-US" b="1" dirty="0" smtClean="0"/>
              <a:t>Clients</a:t>
            </a:r>
          </a:p>
          <a:p>
            <a:pPr lvl="2"/>
            <a:r>
              <a:rPr lang="en-US" dirty="0" smtClean="0"/>
              <a:t>Request metadata from Master</a:t>
            </a:r>
          </a:p>
          <a:p>
            <a:pPr lvl="2"/>
            <a:r>
              <a:rPr lang="en-US" dirty="0" smtClean="0"/>
              <a:t>Communicate directly with </a:t>
            </a:r>
            <a:r>
              <a:rPr lang="en-US" dirty="0" err="1" smtClean="0"/>
              <a:t>chunkservers</a:t>
            </a:r>
            <a:endParaRPr lang="en-US" dirty="0" smtClean="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FILE SYSTEM </a:t>
            </a:r>
            <a:br>
              <a:rPr lang="en-US" b="1" dirty="0" smtClean="0"/>
            </a:br>
            <a:r>
              <a:rPr lang="en-US" b="1" dirty="0" smtClean="0"/>
              <a:t>(GFS)</a:t>
            </a:r>
            <a:endParaRPr lang="en-US" dirty="0"/>
          </a:p>
        </p:txBody>
      </p:sp>
      <p:sp>
        <p:nvSpPr>
          <p:cNvPr id="3" name="Content Placeholder 2"/>
          <p:cNvSpPr>
            <a:spLocks noGrp="1"/>
          </p:cNvSpPr>
          <p:nvPr>
            <p:ph idx="1"/>
          </p:nvPr>
        </p:nvSpPr>
        <p:spPr/>
        <p:txBody>
          <a:bodyPr/>
          <a:lstStyle/>
          <a:p>
            <a:r>
              <a:rPr lang="en-US" b="1" dirty="0" smtClean="0"/>
              <a:t>Design Assumptions</a:t>
            </a:r>
          </a:p>
          <a:p>
            <a:pPr lvl="1"/>
            <a:r>
              <a:rPr lang="en-US" dirty="0" smtClean="0"/>
              <a:t>Failures are common</a:t>
            </a:r>
          </a:p>
          <a:p>
            <a:pPr lvl="1"/>
            <a:r>
              <a:rPr lang="en-US" dirty="0" smtClean="0"/>
              <a:t>High bandwidth over low latency</a:t>
            </a:r>
          </a:p>
          <a:p>
            <a:pPr lvl="1"/>
            <a:r>
              <a:rPr lang="en-US" dirty="0" smtClean="0"/>
              <a:t>Large sequential reads/writes</a:t>
            </a:r>
          </a:p>
          <a:p>
            <a:r>
              <a:rPr lang="en-US" b="1" dirty="0" smtClean="0"/>
              <a:t>Impact</a:t>
            </a:r>
          </a:p>
          <a:p>
            <a:pPr lvl="1"/>
            <a:r>
              <a:rPr lang="en-US" dirty="0" smtClean="0"/>
              <a:t>Inspired HDFS</a:t>
            </a:r>
          </a:p>
          <a:p>
            <a:pPr lvl="1"/>
            <a:r>
              <a:rPr lang="en-US" dirty="0" smtClean="0"/>
              <a:t>Influenced </a:t>
            </a:r>
            <a:r>
              <a:rPr lang="en-US" dirty="0" err="1" smtClean="0"/>
              <a:t>BigTable</a:t>
            </a:r>
            <a:r>
              <a:rPr lang="en-US" dirty="0" smtClean="0"/>
              <a:t> and </a:t>
            </a:r>
            <a:r>
              <a:rPr lang="en-US" dirty="0" err="1" smtClean="0"/>
              <a:t>MapReduce</a:t>
            </a:r>
            <a:endParaRPr lang="en-US" dirty="0" smtClean="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Ceph</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err="1" smtClean="0"/>
              <a:t>Ceph</a:t>
            </a:r>
            <a:r>
              <a:rPr lang="en-US" dirty="0" smtClean="0"/>
              <a:t> is a </a:t>
            </a:r>
            <a:r>
              <a:rPr lang="en-US" b="1" dirty="0" smtClean="0"/>
              <a:t>distributed storage system</a:t>
            </a:r>
            <a:r>
              <a:rPr lang="en-US" dirty="0" smtClean="0"/>
              <a:t> designed to store </a:t>
            </a:r>
            <a:r>
              <a:rPr lang="en-US" b="1" dirty="0" smtClean="0"/>
              <a:t>huge amounts of data</a:t>
            </a:r>
            <a:r>
              <a:rPr lang="en-US" dirty="0" smtClean="0"/>
              <a:t> safely and reliably by spreading it across many machines.</a:t>
            </a:r>
          </a:p>
          <a:p>
            <a:r>
              <a:rPr lang="en-US" dirty="0" smtClean="0"/>
              <a:t>Think of </a:t>
            </a:r>
            <a:r>
              <a:rPr lang="en-US" dirty="0" err="1" smtClean="0"/>
              <a:t>Ceph</a:t>
            </a:r>
            <a:r>
              <a:rPr lang="en-US" dirty="0" smtClean="0"/>
              <a:t> as </a:t>
            </a:r>
            <a:r>
              <a:rPr lang="en-US" b="1" dirty="0" smtClean="0"/>
              <a:t>Google Drive for data centers</a:t>
            </a:r>
            <a:r>
              <a:rPr lang="en-US" dirty="0" smtClean="0"/>
              <a:t>, but:</a:t>
            </a:r>
          </a:p>
          <a:p>
            <a:pPr lvl="1"/>
            <a:r>
              <a:rPr lang="en-US" dirty="0" smtClean="0"/>
              <a:t>Self-managed</a:t>
            </a:r>
          </a:p>
          <a:p>
            <a:pPr lvl="1"/>
            <a:r>
              <a:rPr lang="en-US" dirty="0" smtClean="0"/>
              <a:t>Fault-tolerant</a:t>
            </a:r>
          </a:p>
          <a:p>
            <a:pPr lvl="1"/>
            <a:r>
              <a:rPr lang="en-US" dirty="0" smtClean="0"/>
              <a:t>Highly scalable</a:t>
            </a:r>
          </a:p>
          <a:p>
            <a:r>
              <a:rPr lang="en-US" dirty="0" err="1" smtClean="0"/>
              <a:t>Ceph</a:t>
            </a:r>
            <a:r>
              <a:rPr lang="en-US" dirty="0" smtClean="0"/>
              <a:t> can provide:</a:t>
            </a:r>
          </a:p>
          <a:p>
            <a:pPr lvl="1"/>
            <a:r>
              <a:rPr lang="en-US" b="1" dirty="0" smtClean="0"/>
              <a:t>Object Storage</a:t>
            </a:r>
            <a:endParaRPr lang="en-US" dirty="0" smtClean="0"/>
          </a:p>
          <a:p>
            <a:pPr lvl="1"/>
            <a:r>
              <a:rPr lang="en-US" b="1" dirty="0" smtClean="0"/>
              <a:t>Block Storage</a:t>
            </a:r>
            <a:endParaRPr lang="en-US" dirty="0" smtClean="0"/>
          </a:p>
          <a:p>
            <a:pPr lvl="1"/>
            <a:r>
              <a:rPr lang="en-US" b="1" dirty="0" smtClean="0"/>
              <a:t>File System</a:t>
            </a:r>
            <a:endParaRPr lang="en-US" dirty="0" smtClean="0"/>
          </a:p>
          <a:p>
            <a:r>
              <a:rPr lang="en-US" dirty="0" smtClean="0"/>
              <a:t>All from </a:t>
            </a:r>
            <a:r>
              <a:rPr lang="en-US" b="1" dirty="0" smtClean="0"/>
              <a:t>one single storage backend</a:t>
            </a:r>
            <a:r>
              <a:rPr lang="en-US" dirty="0" smtClean="0"/>
              <a:t>.</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Ceph</a:t>
            </a:r>
            <a:endParaRPr lang="en-US" dirty="0"/>
          </a:p>
        </p:txBody>
      </p:sp>
      <p:sp>
        <p:nvSpPr>
          <p:cNvPr id="3" name="Content Placeholder 2"/>
          <p:cNvSpPr>
            <a:spLocks noGrp="1"/>
          </p:cNvSpPr>
          <p:nvPr>
            <p:ph idx="1"/>
          </p:nvPr>
        </p:nvSpPr>
        <p:spPr/>
        <p:txBody>
          <a:bodyPr>
            <a:normAutofit/>
          </a:bodyPr>
          <a:lstStyle/>
          <a:p>
            <a:r>
              <a:rPr lang="en-US" b="1" dirty="0" smtClean="0"/>
              <a:t>Why </a:t>
            </a:r>
            <a:r>
              <a:rPr lang="en-US" b="1" dirty="0" err="1" smtClean="0"/>
              <a:t>Ceph</a:t>
            </a:r>
            <a:r>
              <a:rPr lang="en-US" b="1" dirty="0" smtClean="0"/>
              <a:t> Exists</a:t>
            </a:r>
          </a:p>
          <a:p>
            <a:pPr lvl="1"/>
            <a:r>
              <a:rPr lang="en-US" dirty="0" smtClean="0"/>
              <a:t>Traditional storage systems:</a:t>
            </a:r>
          </a:p>
          <a:p>
            <a:pPr lvl="2"/>
            <a:r>
              <a:rPr lang="en-US" dirty="0" smtClean="0"/>
              <a:t>Fail if one server fails</a:t>
            </a:r>
          </a:p>
          <a:p>
            <a:pPr lvl="2"/>
            <a:r>
              <a:rPr lang="en-US" dirty="0" smtClean="0"/>
              <a:t>Don’t scale well</a:t>
            </a:r>
          </a:p>
          <a:p>
            <a:pPr lvl="2"/>
            <a:r>
              <a:rPr lang="en-US" dirty="0" smtClean="0"/>
              <a:t>Are expensive and rigid</a:t>
            </a:r>
          </a:p>
          <a:p>
            <a:r>
              <a:rPr lang="en-US" dirty="0" err="1" smtClean="0"/>
              <a:t>Ceph</a:t>
            </a:r>
            <a:r>
              <a:rPr lang="en-US" dirty="0" smtClean="0"/>
              <a:t> assumes:</a:t>
            </a:r>
          </a:p>
          <a:p>
            <a:pPr lvl="1"/>
            <a:r>
              <a:rPr lang="en-US" b="1" dirty="0" smtClean="0"/>
              <a:t>Hardware WILL fail</a:t>
            </a:r>
            <a:endParaRPr lang="en-US" dirty="0" smtClean="0"/>
          </a:p>
          <a:p>
            <a:pPr lvl="1"/>
            <a:r>
              <a:rPr lang="en-US" b="1" dirty="0" smtClean="0"/>
              <a:t>Disks WILL die</a:t>
            </a:r>
            <a:endParaRPr lang="en-US" dirty="0" smtClean="0"/>
          </a:p>
          <a:p>
            <a:pPr lvl="1"/>
            <a:r>
              <a:rPr lang="en-US" b="1" dirty="0" smtClean="0"/>
              <a:t>Networks WILL break</a:t>
            </a:r>
            <a:endParaRPr lang="en-US" dirty="0" smtClean="0"/>
          </a:p>
          <a:p>
            <a:r>
              <a:rPr lang="en-US" dirty="0" smtClean="0"/>
              <a:t>So instead of avoiding failure, </a:t>
            </a:r>
            <a:r>
              <a:rPr lang="en-US" b="1" dirty="0" err="1" smtClean="0"/>
              <a:t>Ceph</a:t>
            </a:r>
            <a:r>
              <a:rPr lang="en-US" b="1" dirty="0" smtClean="0"/>
              <a:t> handles it automatically</a:t>
            </a:r>
            <a:r>
              <a:rPr lang="en-US" dirty="0" smtClean="0"/>
              <a:t>.</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Ceph</a:t>
            </a:r>
            <a:endParaRPr lang="en-US" dirty="0"/>
          </a:p>
        </p:txBody>
      </p:sp>
      <p:sp>
        <p:nvSpPr>
          <p:cNvPr id="3" name="Content Placeholder 2"/>
          <p:cNvSpPr>
            <a:spLocks noGrp="1"/>
          </p:cNvSpPr>
          <p:nvPr>
            <p:ph idx="1"/>
          </p:nvPr>
        </p:nvSpPr>
        <p:spPr/>
        <p:txBody>
          <a:bodyPr/>
          <a:lstStyle/>
          <a:p>
            <a:r>
              <a:rPr lang="en-US" b="1" dirty="0" smtClean="0"/>
              <a:t>Core Idea of </a:t>
            </a:r>
            <a:r>
              <a:rPr lang="en-US" b="1" dirty="0" err="1" smtClean="0"/>
              <a:t>Ceph</a:t>
            </a:r>
            <a:endParaRPr lang="en-US" b="1" dirty="0" smtClean="0"/>
          </a:p>
          <a:p>
            <a:endParaRPr lang="en-US" dirty="0" smtClean="0"/>
          </a:p>
          <a:p>
            <a:endParaRPr lang="en-US" dirty="0" smtClean="0"/>
          </a:p>
          <a:p>
            <a:pPr lvl="1"/>
            <a:r>
              <a:rPr lang="en-US" dirty="0" smtClean="0"/>
              <a:t>“Store data as objects and distribute them intelligently so no single machine is critical.”</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Ceph</a:t>
            </a:r>
            <a:endParaRPr lang="en-US" dirty="0"/>
          </a:p>
        </p:txBody>
      </p:sp>
      <p:pic>
        <p:nvPicPr>
          <p:cNvPr id="4" name="Content Placeholder 3" descr="ceph-overview.jpg"/>
          <p:cNvPicPr>
            <a:picLocks noGrp="1" noChangeAspect="1"/>
          </p:cNvPicPr>
          <p:nvPr>
            <p:ph idx="1"/>
          </p:nvPr>
        </p:nvPicPr>
        <p:blipFill>
          <a:blip r:embed="rId2"/>
          <a:stretch>
            <a:fillRect/>
          </a:stretch>
        </p:blipFill>
        <p:spPr>
          <a:xfrm>
            <a:off x="1895475" y="1791360"/>
            <a:ext cx="7991475" cy="4496770"/>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Ceph</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2590800" y="1825624"/>
            <a:ext cx="6160847" cy="5047343"/>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Ceph</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MON – Monitor</a:t>
            </a:r>
          </a:p>
          <a:p>
            <a:pPr lvl="1"/>
            <a:r>
              <a:rPr lang="en-US" dirty="0" smtClean="0"/>
              <a:t>Keeps track of </a:t>
            </a:r>
            <a:r>
              <a:rPr lang="en-US" b="1" dirty="0" smtClean="0"/>
              <a:t>who is alive</a:t>
            </a:r>
            <a:endParaRPr lang="en-US" dirty="0" smtClean="0"/>
          </a:p>
          <a:p>
            <a:pPr lvl="1"/>
            <a:r>
              <a:rPr lang="en-US" dirty="0" smtClean="0"/>
              <a:t>Maintains </a:t>
            </a:r>
            <a:r>
              <a:rPr lang="en-US" b="1" dirty="0" smtClean="0"/>
              <a:t>cluster state</a:t>
            </a:r>
            <a:endParaRPr lang="en-US" dirty="0" smtClean="0"/>
          </a:p>
          <a:p>
            <a:pPr lvl="1"/>
            <a:r>
              <a:rPr lang="en-US" dirty="0" smtClean="0"/>
              <a:t>Uses consensus (agreement between monitors)</a:t>
            </a:r>
          </a:p>
          <a:p>
            <a:pPr lvl="1"/>
            <a:r>
              <a:rPr lang="en-US" dirty="0" smtClean="0"/>
              <a:t>Without MONs, </a:t>
            </a:r>
            <a:r>
              <a:rPr lang="en-US" dirty="0" err="1" smtClean="0"/>
              <a:t>Ceph</a:t>
            </a:r>
            <a:r>
              <a:rPr lang="en-US" dirty="0" smtClean="0"/>
              <a:t> doesn’t know who to trust.</a:t>
            </a:r>
          </a:p>
          <a:p>
            <a:r>
              <a:rPr lang="en-US" b="1" dirty="0" smtClean="0"/>
              <a:t>OSD – Object Storage Daemon (MOST IMPORTANT)</a:t>
            </a:r>
          </a:p>
          <a:p>
            <a:pPr lvl="1"/>
            <a:r>
              <a:rPr lang="en-US" dirty="0" smtClean="0"/>
              <a:t>Stores actual </a:t>
            </a:r>
            <a:r>
              <a:rPr lang="en-US" b="1" dirty="0" smtClean="0"/>
              <a:t>data</a:t>
            </a:r>
            <a:endParaRPr lang="en-US" dirty="0" smtClean="0"/>
          </a:p>
          <a:p>
            <a:pPr lvl="1"/>
            <a:r>
              <a:rPr lang="en-US" dirty="0" smtClean="0"/>
              <a:t>Each disk usually runs one OSD</a:t>
            </a:r>
          </a:p>
          <a:p>
            <a:pPr lvl="1"/>
            <a:r>
              <a:rPr lang="en-US" dirty="0" smtClean="0"/>
              <a:t>Handles:</a:t>
            </a:r>
          </a:p>
          <a:p>
            <a:pPr lvl="2"/>
            <a:r>
              <a:rPr lang="en-US" dirty="0" smtClean="0"/>
              <a:t>Replication</a:t>
            </a:r>
          </a:p>
          <a:p>
            <a:pPr lvl="2"/>
            <a:r>
              <a:rPr lang="en-US" dirty="0" smtClean="0"/>
              <a:t>Recovery</a:t>
            </a:r>
          </a:p>
          <a:p>
            <a:pPr lvl="2"/>
            <a:r>
              <a:rPr lang="en-US" dirty="0" smtClean="0"/>
              <a:t>Rebalancing</a:t>
            </a:r>
          </a:p>
          <a:p>
            <a:r>
              <a:rPr lang="en-US" dirty="0" smtClean="0"/>
              <a:t>If one disk fails → OSDs automatically copy data elsewhere.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Ceph</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MDS – Metadata Server (Only for </a:t>
            </a:r>
            <a:r>
              <a:rPr lang="en-US" b="1" dirty="0" err="1" smtClean="0"/>
              <a:t>CephFS</a:t>
            </a:r>
            <a:r>
              <a:rPr lang="en-US" b="1" dirty="0" smtClean="0"/>
              <a:t>)</a:t>
            </a:r>
          </a:p>
          <a:p>
            <a:pPr lvl="1"/>
            <a:r>
              <a:rPr lang="en-US" dirty="0" smtClean="0"/>
              <a:t>Handles:</a:t>
            </a:r>
          </a:p>
          <a:p>
            <a:pPr lvl="2"/>
            <a:r>
              <a:rPr lang="en-US" dirty="0" smtClean="0"/>
              <a:t>File names</a:t>
            </a:r>
          </a:p>
          <a:p>
            <a:pPr lvl="2"/>
            <a:r>
              <a:rPr lang="en-US" dirty="0" smtClean="0"/>
              <a:t>Directories</a:t>
            </a:r>
          </a:p>
          <a:p>
            <a:pPr lvl="2"/>
            <a:r>
              <a:rPr lang="en-US" dirty="0" smtClean="0"/>
              <a:t>Permissions</a:t>
            </a:r>
          </a:p>
          <a:p>
            <a:pPr lvl="1"/>
            <a:r>
              <a:rPr lang="en-US" dirty="0" smtClean="0"/>
              <a:t>Does </a:t>
            </a:r>
            <a:r>
              <a:rPr lang="en-US" b="1" dirty="0" smtClean="0"/>
              <a:t>NOT</a:t>
            </a:r>
            <a:r>
              <a:rPr lang="en-US" dirty="0" smtClean="0"/>
              <a:t> store actual data</a:t>
            </a:r>
          </a:p>
          <a:p>
            <a:pPr lvl="1"/>
            <a:r>
              <a:rPr lang="en-US" dirty="0" smtClean="0"/>
              <a:t>Needed </a:t>
            </a:r>
            <a:r>
              <a:rPr lang="en-US" b="1" dirty="0" smtClean="0"/>
              <a:t>only</a:t>
            </a:r>
            <a:r>
              <a:rPr lang="en-US" dirty="0" smtClean="0"/>
              <a:t> when using </a:t>
            </a:r>
            <a:r>
              <a:rPr lang="en-US" dirty="0" err="1" smtClean="0"/>
              <a:t>Ceph</a:t>
            </a:r>
            <a:r>
              <a:rPr lang="en-US" dirty="0" smtClean="0"/>
              <a:t> as a file system.</a:t>
            </a:r>
          </a:p>
          <a:p>
            <a:r>
              <a:rPr lang="en-US" b="1" dirty="0" smtClean="0"/>
              <a:t>How </a:t>
            </a:r>
            <a:r>
              <a:rPr lang="en-US" b="1" dirty="0" err="1" smtClean="0"/>
              <a:t>Ceph</a:t>
            </a:r>
            <a:r>
              <a:rPr lang="en-US" b="1" dirty="0" smtClean="0"/>
              <a:t> Stores Data</a:t>
            </a:r>
          </a:p>
          <a:p>
            <a:pPr lvl="1"/>
            <a:r>
              <a:rPr lang="en-US" dirty="0" err="1" smtClean="0"/>
              <a:t>Ceph</a:t>
            </a:r>
            <a:r>
              <a:rPr lang="en-US" dirty="0" smtClean="0"/>
              <a:t> uses an algorithm called </a:t>
            </a:r>
            <a:r>
              <a:rPr lang="en-US" b="1" dirty="0" smtClean="0"/>
              <a:t>CRUSH</a:t>
            </a:r>
            <a:r>
              <a:rPr lang="en-US" dirty="0" smtClean="0"/>
              <a:t>.</a:t>
            </a:r>
          </a:p>
          <a:p>
            <a:r>
              <a:rPr lang="en-US" b="1" dirty="0" smtClean="0"/>
              <a:t>What CRUSH Does:</a:t>
            </a:r>
          </a:p>
          <a:p>
            <a:r>
              <a:rPr lang="en-US" dirty="0" smtClean="0"/>
              <a:t>Decides </a:t>
            </a:r>
            <a:r>
              <a:rPr lang="en-US" b="1" dirty="0" smtClean="0"/>
              <a:t>where data should go</a:t>
            </a:r>
            <a:endParaRPr lang="en-US" dirty="0" smtClean="0"/>
          </a:p>
          <a:p>
            <a:r>
              <a:rPr lang="en-US" dirty="0" smtClean="0"/>
              <a:t>No central lookup table</a:t>
            </a:r>
          </a:p>
          <a:p>
            <a:r>
              <a:rPr lang="en-US" dirty="0" smtClean="0"/>
              <a:t>Clients calculate data location themselves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Ceph</a:t>
            </a:r>
            <a:endParaRPr lang="en-US" dirty="0"/>
          </a:p>
        </p:txBody>
      </p:sp>
      <p:sp>
        <p:nvSpPr>
          <p:cNvPr id="3" name="Content Placeholder 2"/>
          <p:cNvSpPr>
            <a:spLocks noGrp="1"/>
          </p:cNvSpPr>
          <p:nvPr>
            <p:ph idx="1"/>
          </p:nvPr>
        </p:nvSpPr>
        <p:spPr/>
        <p:txBody>
          <a:bodyPr numCol="2">
            <a:normAutofit fontScale="92500" lnSpcReduction="20000"/>
          </a:bodyPr>
          <a:lstStyle/>
          <a:p>
            <a:r>
              <a:rPr lang="en-US" b="1" dirty="0" smtClean="0"/>
              <a:t>Data Replication in </a:t>
            </a:r>
            <a:r>
              <a:rPr lang="en-US" b="1" dirty="0" err="1" smtClean="0"/>
              <a:t>Ceph</a:t>
            </a:r>
            <a:endParaRPr lang="en-US" b="1" dirty="0" smtClean="0"/>
          </a:p>
          <a:p>
            <a:pPr lvl="1"/>
            <a:r>
              <a:rPr lang="en-US" dirty="0" smtClean="0"/>
              <a:t>Default replication = </a:t>
            </a:r>
            <a:r>
              <a:rPr lang="en-US" b="1" dirty="0" smtClean="0"/>
              <a:t>3 copies</a:t>
            </a:r>
            <a:endParaRPr lang="en-US" dirty="0" smtClean="0"/>
          </a:p>
          <a:p>
            <a:pPr lvl="1"/>
            <a:r>
              <a:rPr lang="en-US" dirty="0" smtClean="0"/>
              <a:t>Copies stored on </a:t>
            </a:r>
            <a:r>
              <a:rPr lang="en-US" b="1" dirty="0" smtClean="0"/>
              <a:t>different disks and machines</a:t>
            </a:r>
            <a:endParaRPr lang="en-US" dirty="0" smtClean="0"/>
          </a:p>
          <a:p>
            <a:pPr lvl="1"/>
            <a:r>
              <a:rPr lang="en-US" dirty="0" smtClean="0"/>
              <a:t>If one copy is lost → </a:t>
            </a:r>
            <a:r>
              <a:rPr lang="en-US" dirty="0" err="1" smtClean="0"/>
              <a:t>Ceph</a:t>
            </a:r>
            <a:r>
              <a:rPr lang="en-US" dirty="0" smtClean="0"/>
              <a:t> recreates it</a:t>
            </a:r>
          </a:p>
          <a:p>
            <a:pPr lvl="1"/>
            <a:r>
              <a:rPr lang="en-US" dirty="0" smtClean="0"/>
              <a:t>This gives:</a:t>
            </a:r>
          </a:p>
          <a:p>
            <a:pPr lvl="2"/>
            <a:r>
              <a:rPr lang="en-US" dirty="0" smtClean="0"/>
              <a:t>High availability</a:t>
            </a:r>
          </a:p>
          <a:p>
            <a:pPr lvl="2"/>
            <a:r>
              <a:rPr lang="en-US" dirty="0" smtClean="0"/>
              <a:t>Strong data safety</a:t>
            </a:r>
          </a:p>
          <a:p>
            <a:endParaRPr lang="en-US" b="1" dirty="0" smtClean="0"/>
          </a:p>
          <a:p>
            <a:endParaRPr lang="en-US" b="1" dirty="0" smtClean="0"/>
          </a:p>
          <a:p>
            <a:endParaRPr lang="en-US" b="1" dirty="0" smtClean="0"/>
          </a:p>
          <a:p>
            <a:endParaRPr lang="en-US" b="1" dirty="0" smtClean="0"/>
          </a:p>
          <a:p>
            <a:endParaRPr lang="en-US" b="1" dirty="0" smtClean="0"/>
          </a:p>
          <a:p>
            <a:r>
              <a:rPr lang="en-US" b="1" dirty="0" smtClean="0"/>
              <a:t>Consistency in </a:t>
            </a:r>
            <a:r>
              <a:rPr lang="en-US" b="1" dirty="0" err="1" smtClean="0"/>
              <a:t>Ceph</a:t>
            </a:r>
            <a:endParaRPr lang="en-US" b="1" dirty="0" smtClean="0"/>
          </a:p>
          <a:p>
            <a:pPr lvl="1"/>
            <a:r>
              <a:rPr lang="en-US" dirty="0" err="1" smtClean="0"/>
              <a:t>Ceph</a:t>
            </a:r>
            <a:r>
              <a:rPr lang="en-US" dirty="0" smtClean="0"/>
              <a:t> provides </a:t>
            </a:r>
            <a:r>
              <a:rPr lang="en-US" b="1" dirty="0" smtClean="0"/>
              <a:t>strong consistency</a:t>
            </a:r>
            <a:r>
              <a:rPr lang="en-US" dirty="0" smtClean="0"/>
              <a:t>:</a:t>
            </a:r>
          </a:p>
          <a:p>
            <a:pPr lvl="1"/>
            <a:r>
              <a:rPr lang="en-US" dirty="0" smtClean="0"/>
              <a:t>When data is written, all clients see the updated data</a:t>
            </a:r>
          </a:p>
          <a:p>
            <a:pPr lvl="1"/>
            <a:r>
              <a:rPr lang="en-US" dirty="0" smtClean="0"/>
              <a:t>No stale reads (unlike some cloud storage systems)</a:t>
            </a:r>
          </a:p>
          <a:p>
            <a:pPr lvl="1"/>
            <a:r>
              <a:rPr lang="en-US" dirty="0" smtClean="0"/>
              <a:t>This is why </a:t>
            </a:r>
            <a:r>
              <a:rPr lang="en-US" dirty="0" err="1" smtClean="0"/>
              <a:t>Ceph</a:t>
            </a:r>
            <a:r>
              <a:rPr lang="en-US" dirty="0" smtClean="0"/>
              <a:t> is trusted for:</a:t>
            </a:r>
          </a:p>
          <a:p>
            <a:pPr lvl="2"/>
            <a:r>
              <a:rPr lang="en-US" dirty="0" smtClean="0"/>
              <a:t>Databases</a:t>
            </a:r>
          </a:p>
          <a:p>
            <a:pPr lvl="2"/>
            <a:r>
              <a:rPr lang="en-US" dirty="0" smtClean="0"/>
              <a:t>VM disks</a:t>
            </a:r>
          </a:p>
          <a:p>
            <a:pPr lvl="2"/>
            <a:r>
              <a:rPr lang="en-US" dirty="0" smtClean="0"/>
              <a:t>Critical workloads</a:t>
            </a:r>
          </a:p>
          <a:p>
            <a:endParaRPr lang="en-US" dirty="0" smtClean="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Ceph</a:t>
            </a:r>
            <a:endParaRPr lang="en-US" dirty="0"/>
          </a:p>
        </p:txBody>
      </p:sp>
      <p:sp>
        <p:nvSpPr>
          <p:cNvPr id="3" name="Content Placeholder 2"/>
          <p:cNvSpPr>
            <a:spLocks noGrp="1"/>
          </p:cNvSpPr>
          <p:nvPr>
            <p:ph idx="1"/>
          </p:nvPr>
        </p:nvSpPr>
        <p:spPr/>
        <p:txBody>
          <a:bodyPr>
            <a:normAutofit/>
          </a:bodyPr>
          <a:lstStyle/>
          <a:p>
            <a:r>
              <a:rPr lang="en-US" b="1" dirty="0" err="1" smtClean="0"/>
              <a:t>CephFS</a:t>
            </a:r>
            <a:r>
              <a:rPr lang="en-US" b="1" dirty="0" smtClean="0"/>
              <a:t> (</a:t>
            </a:r>
            <a:r>
              <a:rPr lang="en-US" b="1" dirty="0" err="1" smtClean="0"/>
              <a:t>Ceph</a:t>
            </a:r>
            <a:r>
              <a:rPr lang="en-US" b="1" dirty="0" smtClean="0"/>
              <a:t> as a File System)</a:t>
            </a:r>
          </a:p>
          <a:p>
            <a:pPr lvl="1"/>
            <a:r>
              <a:rPr lang="en-US" b="1" dirty="0" smtClean="0"/>
              <a:t>Features:</a:t>
            </a:r>
          </a:p>
          <a:p>
            <a:pPr lvl="1"/>
            <a:r>
              <a:rPr lang="en-US" dirty="0" smtClean="0"/>
              <a:t>POSIX compliant (works like Linux FS)</a:t>
            </a:r>
          </a:p>
          <a:p>
            <a:pPr lvl="1"/>
            <a:r>
              <a:rPr lang="en-US" dirty="0" smtClean="0"/>
              <a:t>Supports directories and permissions</a:t>
            </a:r>
          </a:p>
          <a:p>
            <a:pPr lvl="1"/>
            <a:r>
              <a:rPr lang="en-US" dirty="0" smtClean="0"/>
              <a:t>Multiple clients can access simultaneously</a:t>
            </a:r>
          </a:p>
          <a:p>
            <a:r>
              <a:rPr lang="en-US" b="1" dirty="0" smtClean="0"/>
              <a:t>How It Works:</a:t>
            </a:r>
          </a:p>
          <a:p>
            <a:pPr lvl="1"/>
            <a:r>
              <a:rPr lang="en-US" dirty="0" smtClean="0"/>
              <a:t>Client contacts MDS for metadata</a:t>
            </a:r>
          </a:p>
          <a:p>
            <a:pPr lvl="1"/>
            <a:r>
              <a:rPr lang="en-US" dirty="0" smtClean="0"/>
              <a:t>Client reads/writes data directly to OSDs</a:t>
            </a:r>
          </a:p>
          <a:p>
            <a:pPr lvl="1"/>
            <a:r>
              <a:rPr lang="en-US" dirty="0" smtClean="0"/>
              <a:t>Metadata and data paths are </a:t>
            </a:r>
            <a:r>
              <a:rPr lang="en-US" b="1" dirty="0" smtClean="0"/>
              <a:t>separate</a:t>
            </a:r>
            <a:r>
              <a:rPr lang="en-US" dirty="0" smtClean="0"/>
              <a:t>, improving performance.</a:t>
            </a:r>
          </a:p>
          <a:p>
            <a:endParaRPr lang="en-US" dirty="0" smtClean="0"/>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Ceph</a:t>
            </a:r>
            <a:endParaRPr lang="en-US" dirty="0"/>
          </a:p>
        </p:txBody>
      </p:sp>
      <p:sp>
        <p:nvSpPr>
          <p:cNvPr id="3" name="Content Placeholder 2"/>
          <p:cNvSpPr>
            <a:spLocks noGrp="1"/>
          </p:cNvSpPr>
          <p:nvPr>
            <p:ph idx="1"/>
          </p:nvPr>
        </p:nvSpPr>
        <p:spPr/>
        <p:txBody>
          <a:bodyPr>
            <a:normAutofit lnSpcReduction="10000"/>
          </a:bodyPr>
          <a:lstStyle/>
          <a:p>
            <a:r>
              <a:rPr lang="en-US" b="1" dirty="0" smtClean="0"/>
              <a:t> Advantages of </a:t>
            </a:r>
            <a:r>
              <a:rPr lang="en-US" b="1" dirty="0" err="1" smtClean="0"/>
              <a:t>Ceph</a:t>
            </a:r>
            <a:endParaRPr lang="en-US" b="1" dirty="0" smtClean="0"/>
          </a:p>
          <a:p>
            <a:pPr lvl="1"/>
            <a:r>
              <a:rPr lang="en-US" dirty="0" smtClean="0"/>
              <a:t>No single point of failure</a:t>
            </a:r>
          </a:p>
          <a:p>
            <a:pPr lvl="1"/>
            <a:r>
              <a:rPr lang="en-US" dirty="0" smtClean="0"/>
              <a:t>Highly scalable</a:t>
            </a:r>
          </a:p>
          <a:p>
            <a:pPr lvl="1"/>
            <a:r>
              <a:rPr lang="en-US" dirty="0" smtClean="0"/>
              <a:t>Self-healing</a:t>
            </a:r>
          </a:p>
          <a:p>
            <a:pPr lvl="1"/>
            <a:r>
              <a:rPr lang="en-US" dirty="0" smtClean="0"/>
              <a:t>Supports block, object, and file storage</a:t>
            </a:r>
          </a:p>
          <a:p>
            <a:pPr lvl="1"/>
            <a:r>
              <a:rPr lang="en-US" dirty="0" smtClean="0"/>
              <a:t>Open source</a:t>
            </a:r>
          </a:p>
          <a:p>
            <a:r>
              <a:rPr lang="en-US" b="1" dirty="0" smtClean="0"/>
              <a:t> Disadvantages of </a:t>
            </a:r>
            <a:r>
              <a:rPr lang="en-US" b="1" dirty="0" err="1" smtClean="0"/>
              <a:t>Ceph</a:t>
            </a:r>
            <a:endParaRPr lang="en-US" b="1" dirty="0" smtClean="0"/>
          </a:p>
          <a:p>
            <a:pPr lvl="1"/>
            <a:r>
              <a:rPr lang="en-US" dirty="0" smtClean="0"/>
              <a:t>Complex to set up</a:t>
            </a:r>
          </a:p>
          <a:p>
            <a:pPr lvl="1"/>
            <a:r>
              <a:rPr lang="en-US" dirty="0" smtClean="0"/>
              <a:t>Needs skilled administrators</a:t>
            </a:r>
          </a:p>
          <a:p>
            <a:pPr lvl="1"/>
            <a:r>
              <a:rPr lang="en-US" dirty="0" smtClean="0"/>
              <a:t>Higher resource usage</a:t>
            </a:r>
          </a:p>
          <a:p>
            <a:pPr lvl="1"/>
            <a:r>
              <a:rPr lang="en-US" dirty="0" smtClean="0"/>
              <a:t>Monitoring is critical</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SSDs (Solid State Drives)</a:t>
            </a:r>
            <a:endParaRPr lang="en-US" dirty="0"/>
          </a:p>
        </p:txBody>
      </p:sp>
      <p:sp>
        <p:nvSpPr>
          <p:cNvPr id="3" name="Content Placeholder 2"/>
          <p:cNvSpPr>
            <a:spLocks noGrp="1"/>
          </p:cNvSpPr>
          <p:nvPr>
            <p:ph idx="1"/>
          </p:nvPr>
        </p:nvSpPr>
        <p:spPr/>
        <p:txBody>
          <a:bodyPr/>
          <a:lstStyle/>
          <a:p>
            <a:r>
              <a:rPr lang="en-US" dirty="0" smtClean="0"/>
              <a:t>An </a:t>
            </a:r>
            <a:r>
              <a:rPr lang="en-US" b="1" dirty="0" smtClean="0"/>
              <a:t>SSD</a:t>
            </a:r>
            <a:r>
              <a:rPr lang="en-US" dirty="0" smtClean="0"/>
              <a:t> is a </a:t>
            </a:r>
            <a:r>
              <a:rPr lang="en-US" b="1" dirty="0" smtClean="0"/>
              <a:t>storage device</a:t>
            </a:r>
            <a:r>
              <a:rPr lang="en-US" dirty="0" smtClean="0"/>
              <a:t> that uses </a:t>
            </a:r>
            <a:r>
              <a:rPr lang="en-US" b="1" dirty="0" smtClean="0"/>
              <a:t>flash memory</a:t>
            </a:r>
            <a:r>
              <a:rPr lang="en-US" dirty="0" smtClean="0"/>
              <a:t> instead of spinning disks.</a:t>
            </a:r>
          </a:p>
          <a:p>
            <a:pPr lvl="1"/>
            <a:r>
              <a:rPr lang="en-US" dirty="0" smtClean="0"/>
              <a:t>No moving parts	</a:t>
            </a:r>
          </a:p>
          <a:p>
            <a:pPr lvl="1"/>
            <a:r>
              <a:rPr lang="en-US" dirty="0" smtClean="0"/>
              <a:t>Much faster than HDD</a:t>
            </a:r>
          </a:p>
          <a:p>
            <a:pPr lvl="1"/>
            <a:r>
              <a:rPr lang="en-US" dirty="0" smtClean="0"/>
              <a:t>Non-volatile (data survives power loss)</a:t>
            </a:r>
          </a:p>
          <a:p>
            <a:r>
              <a:rPr lang="en-US" b="1" dirty="0" smtClean="0"/>
              <a:t>Types of SSDs</a:t>
            </a:r>
          </a:p>
          <a:p>
            <a:pPr>
              <a:buNone/>
            </a:pPr>
            <a:r>
              <a:rPr lang="en-US" dirty="0" smtClean="0"/>
              <a:t>Type			Interface</a:t>
            </a:r>
          </a:p>
          <a:p>
            <a:pPr>
              <a:buNone/>
            </a:pPr>
            <a:r>
              <a:rPr lang="en-US" dirty="0" smtClean="0"/>
              <a:t>SATA SSD 		SATA</a:t>
            </a:r>
          </a:p>
          <a:p>
            <a:pPr>
              <a:buNone/>
            </a:pPr>
            <a:r>
              <a:rPr lang="en-US" dirty="0" err="1" smtClean="0"/>
              <a:t>NVMe</a:t>
            </a:r>
            <a:r>
              <a:rPr lang="en-US" dirty="0" smtClean="0"/>
              <a:t> SSD		</a:t>
            </a:r>
            <a:r>
              <a:rPr lang="en-US" dirty="0" err="1" smtClean="0"/>
              <a:t>PCIe</a:t>
            </a:r>
            <a:endParaRPr lang="en-US" dirty="0" smtClean="0"/>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SSDs (Solid State Drives)</a:t>
            </a:r>
            <a:endParaRPr lang="en-US" dirty="0"/>
          </a:p>
        </p:txBody>
      </p:sp>
      <p:sp>
        <p:nvSpPr>
          <p:cNvPr id="3" name="Content Placeholder 2"/>
          <p:cNvSpPr>
            <a:spLocks noGrp="1"/>
          </p:cNvSpPr>
          <p:nvPr>
            <p:ph idx="1"/>
          </p:nvPr>
        </p:nvSpPr>
        <p:spPr/>
        <p:txBody>
          <a:bodyPr/>
          <a:lstStyle/>
          <a:p>
            <a:r>
              <a:rPr lang="en-US" b="1" dirty="0" smtClean="0"/>
              <a:t>Where SSDs Sit</a:t>
            </a:r>
          </a:p>
          <a:p>
            <a:pPr lvl="1"/>
            <a:r>
              <a:rPr lang="en-US" dirty="0" smtClean="0"/>
              <a:t>Used as </a:t>
            </a:r>
            <a:r>
              <a:rPr lang="en-US" b="1" dirty="0" smtClean="0"/>
              <a:t>secondary storage</a:t>
            </a:r>
            <a:endParaRPr lang="en-US" dirty="0" smtClean="0"/>
          </a:p>
          <a:p>
            <a:pPr lvl="1"/>
            <a:r>
              <a:rPr lang="en-US" dirty="0" smtClean="0"/>
              <a:t>Block device (/dev/nvme0n1)</a:t>
            </a:r>
          </a:p>
          <a:p>
            <a:pPr lvl="1"/>
            <a:r>
              <a:rPr lang="en-US" dirty="0" smtClean="0"/>
              <a:t>OS sees it like a fast disk</a:t>
            </a:r>
          </a:p>
          <a:p>
            <a:r>
              <a:rPr lang="en-US" b="1" dirty="0" smtClean="0"/>
              <a:t>Latency</a:t>
            </a:r>
          </a:p>
          <a:p>
            <a:pPr>
              <a:buNone/>
            </a:pPr>
            <a:r>
              <a:rPr lang="en-US" dirty="0" smtClean="0"/>
              <a:t>	~100 microseconds</a:t>
            </a:r>
            <a:br>
              <a:rPr lang="en-US" dirty="0" smtClean="0"/>
            </a:b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Non Volatile Memory</a:t>
            </a:r>
            <a:endParaRPr lang="en-US" b="1" dirty="0"/>
          </a:p>
        </p:txBody>
      </p:sp>
      <p:sp>
        <p:nvSpPr>
          <p:cNvPr id="3" name="Content Placeholder 2"/>
          <p:cNvSpPr>
            <a:spLocks noGrp="1"/>
          </p:cNvSpPr>
          <p:nvPr>
            <p:ph idx="1"/>
          </p:nvPr>
        </p:nvSpPr>
        <p:spPr/>
        <p:txBody>
          <a:bodyPr>
            <a:normAutofit lnSpcReduction="10000"/>
          </a:bodyPr>
          <a:lstStyle/>
          <a:p>
            <a:r>
              <a:rPr lang="en-US" b="1" dirty="0" smtClean="0"/>
              <a:t>NVM</a:t>
            </a:r>
            <a:r>
              <a:rPr lang="en-US" dirty="0" smtClean="0"/>
              <a:t> is a </a:t>
            </a:r>
            <a:r>
              <a:rPr lang="en-US" b="1" dirty="0" smtClean="0"/>
              <a:t>class of memory</a:t>
            </a:r>
            <a:r>
              <a:rPr lang="en-US" dirty="0" smtClean="0"/>
              <a:t> that:</a:t>
            </a:r>
          </a:p>
          <a:p>
            <a:pPr lvl="1"/>
            <a:r>
              <a:rPr lang="en-US" dirty="0" smtClean="0"/>
              <a:t>Is </a:t>
            </a:r>
            <a:r>
              <a:rPr lang="en-US" b="1" dirty="0" smtClean="0"/>
              <a:t>byte-addressable</a:t>
            </a:r>
            <a:r>
              <a:rPr lang="en-US" dirty="0" smtClean="0"/>
              <a:t> like RAM</a:t>
            </a:r>
          </a:p>
          <a:p>
            <a:pPr lvl="1"/>
            <a:r>
              <a:rPr lang="en-US" dirty="0" smtClean="0"/>
              <a:t>Is </a:t>
            </a:r>
            <a:r>
              <a:rPr lang="en-US" b="1" dirty="0" smtClean="0"/>
              <a:t>non-volatile</a:t>
            </a:r>
            <a:r>
              <a:rPr lang="en-US" dirty="0" smtClean="0"/>
              <a:t> like storage</a:t>
            </a:r>
          </a:p>
          <a:p>
            <a:r>
              <a:rPr lang="en-US" dirty="0" smtClean="0"/>
              <a:t>This is where storage and memory </a:t>
            </a:r>
            <a:r>
              <a:rPr lang="en-US" b="1" dirty="0" smtClean="0"/>
              <a:t>start to merge</a:t>
            </a:r>
            <a:r>
              <a:rPr lang="en-US" dirty="0" smtClean="0"/>
              <a:t>.</a:t>
            </a:r>
          </a:p>
          <a:p>
            <a:r>
              <a:rPr lang="en-US" b="1" dirty="0" smtClean="0"/>
              <a:t>Examples of NVM Technologies</a:t>
            </a:r>
          </a:p>
          <a:p>
            <a:pPr lvl="1"/>
            <a:r>
              <a:rPr lang="en-US" dirty="0" smtClean="0"/>
              <a:t>PCM (Phase Change Memory)</a:t>
            </a:r>
          </a:p>
          <a:p>
            <a:pPr lvl="1"/>
            <a:r>
              <a:rPr lang="en-US" dirty="0" err="1" smtClean="0"/>
              <a:t>ReRAM</a:t>
            </a:r>
            <a:endParaRPr lang="en-US" dirty="0" smtClean="0"/>
          </a:p>
          <a:p>
            <a:pPr lvl="1"/>
            <a:r>
              <a:rPr lang="en-US" dirty="0" smtClean="0"/>
              <a:t>MRAM</a:t>
            </a:r>
          </a:p>
          <a:p>
            <a:pPr lvl="1"/>
            <a:r>
              <a:rPr lang="en-US" dirty="0" smtClean="0"/>
              <a:t>3D </a:t>
            </a:r>
            <a:r>
              <a:rPr lang="en-US" dirty="0" err="1" smtClean="0"/>
              <a:t>XPoint</a:t>
            </a:r>
            <a:r>
              <a:rPr lang="en-US" dirty="0" smtClean="0"/>
              <a:t> (used in </a:t>
            </a:r>
            <a:r>
              <a:rPr lang="en-US" dirty="0" err="1" smtClean="0"/>
              <a:t>Optane</a:t>
            </a:r>
            <a:r>
              <a:rPr lang="en-US" dirty="0" smtClean="0"/>
              <a:t>)</a:t>
            </a:r>
          </a:p>
          <a:p>
            <a:r>
              <a:rPr lang="en-US" dirty="0" smtClean="0"/>
              <a:t>You don’t buy “NVM” as a product — it’s a </a:t>
            </a:r>
            <a:r>
              <a:rPr lang="en-US" b="1" dirty="0" smtClean="0"/>
              <a:t>technology category</a:t>
            </a:r>
            <a:r>
              <a:rPr lang="en-US" dirty="0" smtClean="0"/>
              <a:t>.</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Persistent Memory</a:t>
            </a:r>
            <a:endParaRPr lang="en-US" b="1" dirty="0"/>
          </a:p>
        </p:txBody>
      </p:sp>
      <p:sp>
        <p:nvSpPr>
          <p:cNvPr id="3" name="Content Placeholder 2"/>
          <p:cNvSpPr>
            <a:spLocks noGrp="1"/>
          </p:cNvSpPr>
          <p:nvPr>
            <p:ph idx="1"/>
          </p:nvPr>
        </p:nvSpPr>
        <p:spPr/>
        <p:txBody>
          <a:bodyPr/>
          <a:lstStyle/>
          <a:p>
            <a:r>
              <a:rPr lang="en-US" b="1" dirty="0" smtClean="0"/>
              <a:t>What is Persistent Memory?</a:t>
            </a:r>
          </a:p>
          <a:p>
            <a:r>
              <a:rPr lang="en-US" dirty="0" smtClean="0"/>
              <a:t>Persistent Memory is </a:t>
            </a:r>
            <a:r>
              <a:rPr lang="en-US" b="1" dirty="0" smtClean="0"/>
              <a:t>NVM exposed directly on the memory bus</a:t>
            </a:r>
            <a:r>
              <a:rPr lang="en-US" dirty="0" smtClean="0"/>
              <a:t> (DDR).</a:t>
            </a:r>
          </a:p>
          <a:p>
            <a:r>
              <a:rPr lang="en-US" dirty="0" smtClean="0"/>
              <a:t>The OS sees it as:</a:t>
            </a:r>
          </a:p>
          <a:p>
            <a:pPr lvl="1"/>
            <a:r>
              <a:rPr lang="en-US" dirty="0" smtClean="0"/>
              <a:t>RAM-like</a:t>
            </a:r>
          </a:p>
          <a:p>
            <a:pPr lvl="1"/>
            <a:r>
              <a:rPr lang="en-US" dirty="0" smtClean="0"/>
              <a:t>But data </a:t>
            </a:r>
            <a:r>
              <a:rPr lang="en-US" b="1" dirty="0" smtClean="0"/>
              <a:t>does not disappear on reboot</a:t>
            </a:r>
            <a:endParaRPr lang="en-US" dirty="0" smtClean="0"/>
          </a:p>
          <a:p>
            <a:r>
              <a:rPr lang="en-US" dirty="0" smtClean="0"/>
              <a:t>Classic example:</a:t>
            </a:r>
          </a:p>
          <a:p>
            <a:pPr lvl="1"/>
            <a:r>
              <a:rPr lang="en-US" b="1" dirty="0" smtClean="0"/>
              <a:t>Intel </a:t>
            </a:r>
            <a:r>
              <a:rPr lang="en-US" b="1" dirty="0" err="1" smtClean="0"/>
              <a:t>Optane</a:t>
            </a:r>
            <a:r>
              <a:rPr lang="en-US" b="1" dirty="0" smtClean="0"/>
              <a:t> Persistent Memory</a:t>
            </a:r>
            <a:endParaRPr lang="en-US" dirty="0" smtClean="0"/>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Persistent Memory</a:t>
            </a:r>
            <a:endParaRPr lang="en-US" dirty="0"/>
          </a:p>
        </p:txBody>
      </p:sp>
      <p:sp>
        <p:nvSpPr>
          <p:cNvPr id="3" name="Content Placeholder 2"/>
          <p:cNvSpPr>
            <a:spLocks noGrp="1"/>
          </p:cNvSpPr>
          <p:nvPr>
            <p:ph idx="1"/>
          </p:nvPr>
        </p:nvSpPr>
        <p:spPr/>
        <p:txBody>
          <a:bodyPr/>
          <a:lstStyle/>
          <a:p>
            <a:r>
              <a:rPr lang="en-US" b="1" dirty="0" smtClean="0"/>
              <a:t>Two Operating Modes</a:t>
            </a:r>
          </a:p>
          <a:p>
            <a:r>
              <a:rPr lang="en-US" b="1" dirty="0" smtClean="0"/>
              <a:t>Memory Mode</a:t>
            </a:r>
          </a:p>
          <a:p>
            <a:pPr lvl="1"/>
            <a:r>
              <a:rPr lang="en-US" dirty="0" err="1" smtClean="0"/>
              <a:t>PMem</a:t>
            </a:r>
            <a:r>
              <a:rPr lang="en-US" dirty="0" smtClean="0"/>
              <a:t> acts as </a:t>
            </a:r>
            <a:r>
              <a:rPr lang="en-US" b="1" dirty="0" smtClean="0"/>
              <a:t>large RAM</a:t>
            </a:r>
            <a:endParaRPr lang="en-US" dirty="0" smtClean="0"/>
          </a:p>
          <a:p>
            <a:pPr lvl="1"/>
            <a:r>
              <a:rPr lang="en-US" dirty="0" smtClean="0"/>
              <a:t>DRAM becomes cache</a:t>
            </a:r>
          </a:p>
          <a:p>
            <a:pPr lvl="1"/>
            <a:r>
              <a:rPr lang="en-US" dirty="0" smtClean="0"/>
              <a:t>Apps don’t see persistence</a:t>
            </a:r>
          </a:p>
          <a:p>
            <a:r>
              <a:rPr lang="en-US" b="1" dirty="0" smtClean="0"/>
              <a:t>App Direct Mode</a:t>
            </a:r>
          </a:p>
          <a:p>
            <a:pPr lvl="1"/>
            <a:r>
              <a:rPr lang="en-US" dirty="0" smtClean="0"/>
              <a:t>Apps explicitly load/store persistent data</a:t>
            </a:r>
          </a:p>
          <a:p>
            <a:pPr lvl="1"/>
            <a:r>
              <a:rPr lang="en-US" dirty="0" smtClean="0"/>
              <a:t>Requires programming changes</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	Persistent memory in Modern Systems</a:t>
            </a:r>
            <a:endParaRPr lang="en-US" b="1" dirty="0"/>
          </a:p>
        </p:txBody>
      </p:sp>
      <p:sp>
        <p:nvSpPr>
          <p:cNvPr id="3" name="Content Placeholder 2"/>
          <p:cNvSpPr>
            <a:spLocks noGrp="1"/>
          </p:cNvSpPr>
          <p:nvPr>
            <p:ph idx="1"/>
          </p:nvPr>
        </p:nvSpPr>
        <p:spPr/>
        <p:txBody>
          <a:bodyPr>
            <a:normAutofit lnSpcReduction="10000"/>
          </a:bodyPr>
          <a:lstStyle/>
          <a:p>
            <a:r>
              <a:rPr lang="en-US" dirty="0" smtClean="0"/>
              <a:t>CPU</a:t>
            </a:r>
          </a:p>
          <a:p>
            <a:r>
              <a:rPr lang="en-US" dirty="0" smtClean="0"/>
              <a:t> ├── DRAM (volatile, fastest)</a:t>
            </a:r>
          </a:p>
          <a:p>
            <a:r>
              <a:rPr lang="en-US" dirty="0" smtClean="0"/>
              <a:t> ├── Persistent Memory (</a:t>
            </a:r>
            <a:r>
              <a:rPr lang="en-US" dirty="0" err="1" smtClean="0"/>
              <a:t>PMem</a:t>
            </a:r>
            <a:r>
              <a:rPr lang="en-US" dirty="0" smtClean="0"/>
              <a:t>)</a:t>
            </a:r>
          </a:p>
          <a:p>
            <a:r>
              <a:rPr lang="en-US" dirty="0" smtClean="0"/>
              <a:t> ├── </a:t>
            </a:r>
            <a:r>
              <a:rPr lang="en-US" dirty="0" err="1" smtClean="0"/>
              <a:t>NVMe</a:t>
            </a:r>
            <a:r>
              <a:rPr lang="en-US" dirty="0" smtClean="0"/>
              <a:t> SSD</a:t>
            </a:r>
          </a:p>
          <a:p>
            <a:r>
              <a:rPr lang="en-US" dirty="0" smtClean="0"/>
              <a:t> └── HDD</a:t>
            </a:r>
          </a:p>
          <a:p>
            <a:r>
              <a:rPr lang="en-US" dirty="0" smtClean="0"/>
              <a:t>This </a:t>
            </a:r>
            <a:r>
              <a:rPr lang="en-US" b="1" dirty="0" smtClean="0"/>
              <a:t>new memory hierarchy</a:t>
            </a:r>
            <a:r>
              <a:rPr lang="en-US" dirty="0" smtClean="0"/>
              <a:t> is reshaping:</a:t>
            </a:r>
          </a:p>
          <a:p>
            <a:pPr lvl="1"/>
            <a:r>
              <a:rPr lang="en-US" dirty="0" smtClean="0"/>
              <a:t>Databases</a:t>
            </a:r>
          </a:p>
          <a:p>
            <a:pPr lvl="1"/>
            <a:r>
              <a:rPr lang="en-US" dirty="0" smtClean="0"/>
              <a:t>Distributed file systems</a:t>
            </a:r>
          </a:p>
          <a:p>
            <a:pPr lvl="1"/>
            <a:r>
              <a:rPr lang="en-US" dirty="0" smtClean="0"/>
              <a:t>Virtualization</a:t>
            </a:r>
          </a:p>
          <a:p>
            <a:pPr lvl="1"/>
            <a:r>
              <a:rPr lang="en-US" dirty="0" smtClean="0"/>
              <a:t>AI pipelines</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ZFS (</a:t>
            </a:r>
            <a:r>
              <a:rPr lang="en-US" b="1" dirty="0" err="1" smtClean="0"/>
              <a:t>Zettabyte</a:t>
            </a:r>
            <a:r>
              <a:rPr lang="en-US" b="1" dirty="0" smtClean="0"/>
              <a:t> File System)</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b="1" dirty="0" smtClean="0"/>
              <a:t>Developed by:</a:t>
            </a:r>
            <a:r>
              <a:rPr lang="en-US" dirty="0" smtClean="0"/>
              <a:t> Sun Microsystems (now Oracle)</a:t>
            </a:r>
            <a:br>
              <a:rPr lang="en-US" dirty="0" smtClean="0"/>
            </a:br>
            <a:r>
              <a:rPr lang="en-US" b="1" dirty="0" smtClean="0"/>
              <a:t>Used in:</a:t>
            </a:r>
            <a:r>
              <a:rPr lang="en-US" dirty="0" smtClean="0"/>
              <a:t> FreeBSD, Solaris, </a:t>
            </a:r>
            <a:r>
              <a:rPr lang="en-US" dirty="0" err="1" smtClean="0"/>
              <a:t>TrueNAS</a:t>
            </a:r>
            <a:r>
              <a:rPr lang="en-US" dirty="0" smtClean="0"/>
              <a:t>, Linux (</a:t>
            </a:r>
            <a:r>
              <a:rPr lang="en-US" dirty="0" err="1" smtClean="0"/>
              <a:t>OpenZFS</a:t>
            </a:r>
            <a:r>
              <a:rPr lang="en-US" dirty="0" smtClean="0"/>
              <a:t>)</a:t>
            </a:r>
          </a:p>
          <a:p>
            <a:r>
              <a:rPr lang="en-US" b="1" dirty="0" smtClean="0"/>
              <a:t>Key Features:</a:t>
            </a:r>
          </a:p>
          <a:p>
            <a:r>
              <a:rPr lang="en-US" dirty="0" smtClean="0"/>
              <a:t>Copy-on-Write (</a:t>
            </a:r>
            <a:r>
              <a:rPr lang="en-US" dirty="0" err="1" smtClean="0"/>
              <a:t>CoW</a:t>
            </a:r>
            <a:r>
              <a:rPr lang="en-US" dirty="0" smtClean="0"/>
              <a:t>)</a:t>
            </a:r>
          </a:p>
          <a:p>
            <a:r>
              <a:rPr lang="en-US" dirty="0" smtClean="0"/>
              <a:t>Built-in RAID (RAID-Z)</a:t>
            </a:r>
          </a:p>
          <a:p>
            <a:r>
              <a:rPr lang="en-US" dirty="0" smtClean="0"/>
              <a:t>End-to-end </a:t>
            </a:r>
            <a:r>
              <a:rPr lang="en-US" dirty="0" err="1" smtClean="0"/>
              <a:t>checksumming</a:t>
            </a:r>
            <a:r>
              <a:rPr lang="en-US" dirty="0" smtClean="0"/>
              <a:t> (detects corruption)</a:t>
            </a:r>
          </a:p>
          <a:p>
            <a:r>
              <a:rPr lang="en-US" dirty="0" smtClean="0"/>
              <a:t>Snapshots &amp; cloning</a:t>
            </a:r>
          </a:p>
          <a:p>
            <a:r>
              <a:rPr lang="en-US" dirty="0" smtClean="0"/>
              <a:t>Data compression &amp; </a:t>
            </a:r>
            <a:r>
              <a:rPr lang="en-US" dirty="0" err="1" smtClean="0"/>
              <a:t>deduplication</a:t>
            </a:r>
            <a:endParaRPr lang="en-US" dirty="0" smtClean="0"/>
          </a:p>
          <a:p>
            <a:r>
              <a:rPr lang="en-US" dirty="0" smtClean="0"/>
              <a:t>Self-healing storage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ZFS (</a:t>
            </a:r>
            <a:r>
              <a:rPr lang="en-US" b="1" dirty="0" err="1" smtClean="0"/>
              <a:t>Zettabyte</a:t>
            </a:r>
            <a:r>
              <a:rPr lang="en-US" b="1" dirty="0" smtClean="0"/>
              <a:t> File System)</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b="1" dirty="0" smtClean="0"/>
              <a:t>Copy-on-Write (</a:t>
            </a:r>
            <a:r>
              <a:rPr lang="en-US" b="1" dirty="0" err="1" smtClean="0"/>
              <a:t>CoW</a:t>
            </a:r>
            <a:r>
              <a:rPr lang="en-US" b="1" dirty="0" smtClean="0"/>
              <a:t>)</a:t>
            </a:r>
          </a:p>
          <a:p>
            <a:r>
              <a:rPr lang="en-US" dirty="0" smtClean="0"/>
              <a:t>Traditional file systems overwrite data in place.</a:t>
            </a:r>
            <a:br>
              <a:rPr lang="en-US" dirty="0" smtClean="0"/>
            </a:br>
            <a:r>
              <a:rPr lang="en-US" dirty="0" smtClean="0"/>
              <a:t>ZFS </a:t>
            </a:r>
            <a:r>
              <a:rPr lang="en-US" b="1" dirty="0" smtClean="0"/>
              <a:t>never overwrites existing data blocks</a:t>
            </a:r>
            <a:r>
              <a:rPr lang="en-US" dirty="0" smtClean="0"/>
              <a:t>.</a:t>
            </a:r>
          </a:p>
          <a:p>
            <a:r>
              <a:rPr lang="en-US" dirty="0" smtClean="0"/>
              <a:t>Instead:</a:t>
            </a:r>
          </a:p>
          <a:p>
            <a:r>
              <a:rPr lang="en-US" dirty="0" smtClean="0"/>
              <a:t>When data is modified</a:t>
            </a:r>
          </a:p>
          <a:p>
            <a:r>
              <a:rPr lang="en-US" dirty="0" smtClean="0"/>
              <a:t>ZFS writes the modified data to a </a:t>
            </a:r>
            <a:r>
              <a:rPr lang="en-US" b="1" dirty="0" smtClean="0"/>
              <a:t>new block</a:t>
            </a:r>
            <a:endParaRPr lang="en-US" dirty="0" smtClean="0"/>
          </a:p>
          <a:p>
            <a:r>
              <a:rPr lang="en-US" dirty="0" smtClean="0"/>
              <a:t>Updates metadata to point to the new block</a:t>
            </a:r>
          </a:p>
          <a:p>
            <a:r>
              <a:rPr lang="en-US" dirty="0" smtClean="0"/>
              <a:t>Only after everything is safely written → metadata pointer is switched</a:t>
            </a:r>
          </a:p>
          <a:p>
            <a:r>
              <a:rPr lang="en-US" dirty="0" smtClean="0"/>
              <a:t>So the old data remains untouched until the new write is complete.</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ZFS (</a:t>
            </a:r>
            <a:r>
              <a:rPr lang="en-US" b="1" dirty="0" err="1" smtClean="0"/>
              <a:t>Zettabyte</a:t>
            </a:r>
            <a:r>
              <a:rPr lang="en-US" b="1" dirty="0" smtClean="0"/>
              <a:t> File System)</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Built-in RAID (RAID-Z)</a:t>
            </a:r>
          </a:p>
          <a:p>
            <a:r>
              <a:rPr lang="en-US" dirty="0" smtClean="0"/>
              <a:t>ZFS doesn’t rely on hardware RAID.</a:t>
            </a:r>
            <a:br>
              <a:rPr lang="en-US" dirty="0" smtClean="0"/>
            </a:br>
            <a:r>
              <a:rPr lang="en-US" dirty="0" smtClean="0"/>
              <a:t>It manages RAID at the file system level.</a:t>
            </a:r>
          </a:p>
          <a:p>
            <a:r>
              <a:rPr lang="en-US" dirty="0" smtClean="0"/>
              <a:t>In RAID-Z:</a:t>
            </a:r>
          </a:p>
          <a:p>
            <a:r>
              <a:rPr lang="en-US" dirty="0" smtClean="0"/>
              <a:t>Data is split into blocks</a:t>
            </a:r>
          </a:p>
          <a:p>
            <a:r>
              <a:rPr lang="en-US" dirty="0" smtClean="0"/>
              <a:t>Parity information is calculated</a:t>
            </a:r>
          </a:p>
          <a:p>
            <a:r>
              <a:rPr lang="en-US" dirty="0" smtClean="0"/>
              <a:t>Parity is distributed across disks</a:t>
            </a:r>
          </a:p>
          <a:p>
            <a:r>
              <a:rPr lang="en-US" dirty="0" smtClean="0"/>
              <a:t>If one disk fails → data is reconstructed using parity</a:t>
            </a:r>
          </a:p>
          <a:p>
            <a:r>
              <a:rPr lang="en-US" dirty="0" smtClean="0"/>
              <a:t>Unlike traditional RAID 5:</a:t>
            </a:r>
          </a:p>
          <a:p>
            <a:r>
              <a:rPr lang="en-US" dirty="0" smtClean="0"/>
              <a:t>ZFS avoids the </a:t>
            </a:r>
            <a:r>
              <a:rPr lang="en-US" b="1" dirty="0" smtClean="0"/>
              <a:t>write hole problem</a:t>
            </a:r>
            <a:r>
              <a:rPr lang="en-US" dirty="0" smtClean="0"/>
              <a:t> because:</a:t>
            </a:r>
          </a:p>
          <a:p>
            <a:r>
              <a:rPr lang="en-US" dirty="0" smtClean="0"/>
              <a:t>It uses Copy-on-Write</a:t>
            </a:r>
          </a:p>
          <a:p>
            <a:r>
              <a:rPr lang="en-US" dirty="0" smtClean="0"/>
              <a:t>Parity and data are written atomically</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ZFS (</a:t>
            </a:r>
            <a:r>
              <a:rPr lang="en-US" b="1" dirty="0" err="1" smtClean="0"/>
              <a:t>Zettabyte</a:t>
            </a:r>
            <a:r>
              <a:rPr lang="en-US" b="1" dirty="0" smtClean="0"/>
              <a:t> File System)</a:t>
            </a:r>
            <a:br>
              <a:rPr lang="en-US" b="1" dirty="0" smtClean="0"/>
            </a:br>
            <a:endParaRPr lang="en-US" dirty="0"/>
          </a:p>
        </p:txBody>
      </p:sp>
      <p:sp>
        <p:nvSpPr>
          <p:cNvPr id="3" name="Content Placeholder 2"/>
          <p:cNvSpPr>
            <a:spLocks noGrp="1"/>
          </p:cNvSpPr>
          <p:nvPr>
            <p:ph idx="1"/>
          </p:nvPr>
        </p:nvSpPr>
        <p:spPr/>
        <p:txBody>
          <a:bodyPr>
            <a:normAutofit/>
          </a:bodyPr>
          <a:lstStyle/>
          <a:p>
            <a:r>
              <a:rPr lang="en-US" b="1" dirty="0" smtClean="0"/>
              <a:t>End-to-End </a:t>
            </a:r>
            <a:r>
              <a:rPr lang="en-US" b="1" dirty="0" err="1" smtClean="0"/>
              <a:t>Checksumming</a:t>
            </a:r>
            <a:endParaRPr lang="en-US" b="1" dirty="0" smtClean="0"/>
          </a:p>
          <a:p>
            <a:r>
              <a:rPr lang="en-US" dirty="0" smtClean="0"/>
              <a:t>When a block is written:</a:t>
            </a:r>
          </a:p>
          <a:p>
            <a:r>
              <a:rPr lang="en-US" dirty="0" smtClean="0"/>
              <a:t>ZFS computes a checksum (hash)</a:t>
            </a:r>
          </a:p>
          <a:p>
            <a:r>
              <a:rPr lang="en-US" dirty="0" smtClean="0"/>
              <a:t>That checksum is stored in the parent block (not in the same block)</a:t>
            </a:r>
          </a:p>
          <a:p>
            <a:r>
              <a:rPr lang="en-US" dirty="0" smtClean="0"/>
              <a:t>Later, when reading:</a:t>
            </a:r>
          </a:p>
          <a:p>
            <a:r>
              <a:rPr lang="en-US" dirty="0" smtClean="0"/>
              <a:t>ZFS recalculates checksum</a:t>
            </a:r>
          </a:p>
          <a:p>
            <a:r>
              <a:rPr lang="en-US" dirty="0" smtClean="0"/>
              <a:t>Compares it with stored checksum</a:t>
            </a:r>
          </a:p>
          <a:p>
            <a:r>
              <a:rPr lang="en-US" dirty="0" smtClean="0"/>
              <a:t>If mismatch → corruption detected</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ZFS (</a:t>
            </a:r>
            <a:r>
              <a:rPr lang="en-US" b="1" dirty="0" err="1" smtClean="0"/>
              <a:t>Zettabyte</a:t>
            </a:r>
            <a:r>
              <a:rPr lang="en-US" b="1" dirty="0" smtClean="0"/>
              <a:t> File System)</a:t>
            </a:r>
            <a:br>
              <a:rPr lang="en-US" b="1" dirty="0" smtClean="0"/>
            </a:br>
            <a:endParaRPr lang="en-US" dirty="0"/>
          </a:p>
        </p:txBody>
      </p:sp>
      <p:sp>
        <p:nvSpPr>
          <p:cNvPr id="3" name="Content Placeholder 2"/>
          <p:cNvSpPr>
            <a:spLocks noGrp="1"/>
          </p:cNvSpPr>
          <p:nvPr>
            <p:ph idx="1"/>
          </p:nvPr>
        </p:nvSpPr>
        <p:spPr/>
        <p:txBody>
          <a:bodyPr>
            <a:normAutofit/>
          </a:bodyPr>
          <a:lstStyle/>
          <a:p>
            <a:r>
              <a:rPr lang="en-US" b="1" dirty="0" smtClean="0"/>
              <a:t>Snapshots &amp; Cloning</a:t>
            </a:r>
          </a:p>
          <a:p>
            <a:r>
              <a:rPr lang="en-US" dirty="0" smtClean="0"/>
              <a:t>Because of Copy-on-Write:</a:t>
            </a:r>
          </a:p>
          <a:p>
            <a:r>
              <a:rPr lang="en-US" dirty="0" smtClean="0"/>
              <a:t>Snapshot is just a </a:t>
            </a:r>
            <a:r>
              <a:rPr lang="en-US" b="1" dirty="0" smtClean="0"/>
              <a:t>metadata pointer freeze</a:t>
            </a:r>
            <a:endParaRPr lang="en-US" dirty="0" smtClean="0"/>
          </a:p>
          <a:p>
            <a:r>
              <a:rPr lang="en-US" dirty="0" smtClean="0"/>
              <a:t>No data is copied initially</a:t>
            </a:r>
          </a:p>
          <a:p>
            <a:r>
              <a:rPr lang="en-US" dirty="0" smtClean="0"/>
              <a:t>Snapshot points to current blocks</a:t>
            </a:r>
          </a:p>
          <a:p>
            <a:r>
              <a:rPr lang="en-US" dirty="0" smtClean="0"/>
              <a:t>When data changes:</a:t>
            </a:r>
          </a:p>
          <a:p>
            <a:r>
              <a:rPr lang="en-US" dirty="0" smtClean="0"/>
              <a:t>New blocks are written</a:t>
            </a:r>
          </a:p>
          <a:p>
            <a:r>
              <a:rPr lang="en-US" dirty="0" smtClean="0"/>
              <a:t>Snapshot still points to old block</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ZFS (</a:t>
            </a:r>
            <a:r>
              <a:rPr lang="en-US" b="1" dirty="0" err="1" smtClean="0"/>
              <a:t>Zettabyte</a:t>
            </a:r>
            <a:r>
              <a:rPr lang="en-US" b="1" dirty="0" smtClean="0"/>
              <a:t> File System)</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Data Compression &amp; </a:t>
            </a:r>
            <a:r>
              <a:rPr lang="en-US" b="1" dirty="0" err="1" smtClean="0"/>
              <a:t>Deduplication</a:t>
            </a:r>
            <a:endParaRPr lang="en-US" b="1" dirty="0" smtClean="0"/>
          </a:p>
          <a:p>
            <a:r>
              <a:rPr lang="en-US" b="1" dirty="0" smtClean="0"/>
              <a:t>Before writing data:</a:t>
            </a:r>
          </a:p>
          <a:p>
            <a:r>
              <a:rPr lang="en-US" dirty="0" smtClean="0"/>
              <a:t>ZFS compresses blocks (LZ4, </a:t>
            </a:r>
            <a:r>
              <a:rPr lang="en-US" dirty="0" err="1" smtClean="0"/>
              <a:t>gzip</a:t>
            </a:r>
            <a:r>
              <a:rPr lang="en-US" dirty="0" smtClean="0"/>
              <a:t> etc.)</a:t>
            </a:r>
          </a:p>
          <a:p>
            <a:r>
              <a:rPr lang="en-US" dirty="0" smtClean="0"/>
              <a:t>Stores compressed version</a:t>
            </a:r>
          </a:p>
          <a:p>
            <a:r>
              <a:rPr lang="en-US" dirty="0" smtClean="0"/>
              <a:t>Transparent to user</a:t>
            </a:r>
          </a:p>
          <a:p>
            <a:r>
              <a:rPr lang="en-US" b="1" dirty="0" smtClean="0"/>
              <a:t>When writing data</a:t>
            </a:r>
            <a:r>
              <a:rPr lang="en-US" dirty="0" smtClean="0"/>
              <a:t>:</a:t>
            </a:r>
          </a:p>
          <a:p>
            <a:r>
              <a:rPr lang="en-US" dirty="0" smtClean="0"/>
              <a:t>ZFS calculates hash of block</a:t>
            </a:r>
          </a:p>
          <a:p>
            <a:r>
              <a:rPr lang="en-US" dirty="0" smtClean="0"/>
              <a:t>Checks if identical block already exists</a:t>
            </a:r>
          </a:p>
          <a:p>
            <a:r>
              <a:rPr lang="en-US" dirty="0" smtClean="0"/>
              <a:t>If yes → just increases reference count</a:t>
            </a:r>
          </a:p>
          <a:p>
            <a:r>
              <a:rPr lang="en-US" dirty="0" smtClean="0"/>
              <a:t>Does NOT store duplicate data</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ZFS (</a:t>
            </a:r>
            <a:r>
              <a:rPr lang="en-US" b="1" dirty="0" err="1" smtClean="0"/>
              <a:t>Zettabyte</a:t>
            </a:r>
            <a:r>
              <a:rPr lang="en-US" b="1" dirty="0" smtClean="0"/>
              <a:t> File System)</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b="1" dirty="0" smtClean="0"/>
              <a:t>Self-Healing Storage</a:t>
            </a:r>
          </a:p>
          <a:p>
            <a:r>
              <a:rPr lang="en-US" dirty="0" smtClean="0"/>
              <a:t>This works because of:</a:t>
            </a:r>
          </a:p>
          <a:p>
            <a:r>
              <a:rPr lang="en-US" dirty="0" smtClean="0"/>
              <a:t>RAID-Z or Mirror</a:t>
            </a:r>
          </a:p>
          <a:p>
            <a:r>
              <a:rPr lang="en-US" dirty="0" err="1" smtClean="0"/>
              <a:t>Checksumming</a:t>
            </a:r>
            <a:endParaRPr lang="en-US" dirty="0" smtClean="0"/>
          </a:p>
          <a:p>
            <a:r>
              <a:rPr lang="en-US" b="1" dirty="0" smtClean="0"/>
              <a:t>When corrupted block is detected:</a:t>
            </a:r>
          </a:p>
          <a:p>
            <a:r>
              <a:rPr lang="en-US" dirty="0" smtClean="0"/>
              <a:t>ZFS detects checksum mismatch</a:t>
            </a:r>
          </a:p>
          <a:p>
            <a:r>
              <a:rPr lang="en-US" dirty="0" smtClean="0"/>
              <a:t>Reads same block from mirror/parity</a:t>
            </a:r>
          </a:p>
          <a:p>
            <a:r>
              <a:rPr lang="en-US" dirty="0" smtClean="0"/>
              <a:t>Finds correct version</a:t>
            </a:r>
          </a:p>
          <a:p>
            <a:r>
              <a:rPr lang="en-US" dirty="0" smtClean="0"/>
              <a:t>Rewrites corrupted block automatically</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ZFS (</a:t>
            </a:r>
            <a:r>
              <a:rPr lang="en-US" b="1" dirty="0" err="1" smtClean="0"/>
              <a:t>Zettabyte</a:t>
            </a:r>
            <a:r>
              <a:rPr lang="en-US" b="1" dirty="0" smtClean="0"/>
              <a:t> File System)</a:t>
            </a:r>
            <a:br>
              <a:rPr lang="en-US" b="1" dirty="0" smtClean="0"/>
            </a:br>
            <a:endParaRPr lang="en-US" dirty="0"/>
          </a:p>
        </p:txBody>
      </p:sp>
      <p:sp>
        <p:nvSpPr>
          <p:cNvPr id="3" name="Content Placeholder 2"/>
          <p:cNvSpPr>
            <a:spLocks noGrp="1"/>
          </p:cNvSpPr>
          <p:nvPr>
            <p:ph idx="1"/>
          </p:nvPr>
        </p:nvSpPr>
        <p:spPr/>
        <p:txBody>
          <a:bodyPr/>
          <a:lstStyle/>
          <a:p>
            <a:r>
              <a:rPr lang="en-US" b="1" dirty="0" smtClean="0"/>
              <a:t>Why it’s powerful:</a:t>
            </a:r>
          </a:p>
          <a:p>
            <a:r>
              <a:rPr lang="en-US" dirty="0" smtClean="0"/>
              <a:t>ZFS treats storage like a </a:t>
            </a:r>
            <a:r>
              <a:rPr lang="en-US" b="1" dirty="0" smtClean="0"/>
              <a:t>storage pool</a:t>
            </a:r>
            <a:r>
              <a:rPr lang="en-US" dirty="0" smtClean="0"/>
              <a:t>, not separate partitions.</a:t>
            </a:r>
            <a:br>
              <a:rPr lang="en-US" dirty="0" smtClean="0"/>
            </a:br>
            <a:r>
              <a:rPr lang="en-US" dirty="0" smtClean="0"/>
              <a:t>If a block gets corrupted → ZFS detects it using checksum → auto-repairs from mirror.</a:t>
            </a:r>
          </a:p>
          <a:p>
            <a:r>
              <a:rPr lang="en-US" b="1" dirty="0" smtClean="0"/>
              <a:t>Downsides:</a:t>
            </a:r>
          </a:p>
          <a:p>
            <a:r>
              <a:rPr lang="en-US" dirty="0" smtClean="0"/>
              <a:t>Heavy RAM usage (needs good memory)</a:t>
            </a:r>
          </a:p>
          <a:p>
            <a:r>
              <a:rPr lang="en-US" dirty="0" smtClean="0"/>
              <a:t>Not native on Linux kernel (licensing issue)</a:t>
            </a:r>
          </a:p>
          <a:p>
            <a:r>
              <a:rPr lang="en-US" dirty="0" smtClean="0"/>
              <a:t>Slightly complex</a:t>
            </a:r>
          </a:p>
          <a:p>
            <a:r>
              <a:rPr lang="en-US" dirty="0" smtClean="0"/>
              <a:t>Best for: Enterprise storage, NAS, backups, critical data.</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Btrfs</a:t>
            </a:r>
            <a:r>
              <a:rPr lang="en-US" b="1" dirty="0" smtClean="0"/>
              <a:t> (B-tree File System)</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b="1" dirty="0" smtClean="0"/>
              <a:t>Developed by:</a:t>
            </a:r>
            <a:r>
              <a:rPr lang="en-US" dirty="0" smtClean="0"/>
              <a:t> Oracle</a:t>
            </a:r>
            <a:br>
              <a:rPr lang="en-US" dirty="0" smtClean="0"/>
            </a:br>
            <a:r>
              <a:rPr lang="en-US" b="1" dirty="0" smtClean="0"/>
              <a:t>Used in:</a:t>
            </a:r>
            <a:r>
              <a:rPr lang="en-US" dirty="0" smtClean="0"/>
              <a:t> Linux (default in </a:t>
            </a:r>
            <a:r>
              <a:rPr lang="en-US" dirty="0" err="1" smtClean="0"/>
              <a:t>openSUSE</a:t>
            </a:r>
            <a:r>
              <a:rPr lang="en-US" dirty="0" smtClean="0"/>
              <a:t>, Fedora option)</a:t>
            </a:r>
          </a:p>
          <a:p>
            <a:r>
              <a:rPr lang="en-US" b="1" dirty="0" smtClean="0"/>
              <a:t>Key Features:</a:t>
            </a:r>
          </a:p>
          <a:p>
            <a:r>
              <a:rPr lang="en-US" dirty="0" smtClean="0"/>
              <a:t>Copy-on-Write</a:t>
            </a:r>
          </a:p>
          <a:p>
            <a:r>
              <a:rPr lang="en-US" dirty="0" smtClean="0"/>
              <a:t>Snapshots</a:t>
            </a:r>
          </a:p>
          <a:p>
            <a:r>
              <a:rPr lang="en-US" dirty="0" err="1" smtClean="0"/>
              <a:t>Subvolumes</a:t>
            </a:r>
            <a:endParaRPr lang="en-US" dirty="0" smtClean="0"/>
          </a:p>
          <a:p>
            <a:r>
              <a:rPr lang="en-US" dirty="0" smtClean="0"/>
              <a:t>Built-in RAID</a:t>
            </a:r>
          </a:p>
          <a:p>
            <a:r>
              <a:rPr lang="en-US" dirty="0" smtClean="0"/>
              <a:t>Compression</a:t>
            </a:r>
          </a:p>
          <a:p>
            <a:r>
              <a:rPr lang="en-US" dirty="0" err="1" smtClean="0"/>
              <a:t>Checksumming</a:t>
            </a:r>
            <a:endParaRPr lang="en-US" dirty="0" smtClean="0"/>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Btrfs</a:t>
            </a:r>
            <a:r>
              <a:rPr lang="en-US" b="1" dirty="0" smtClean="0"/>
              <a:t> (B-tree File System)</a:t>
            </a:r>
            <a:br>
              <a:rPr lang="en-US" b="1" dirty="0" smtClean="0"/>
            </a:br>
            <a:endParaRPr lang="en-US" dirty="0"/>
          </a:p>
        </p:txBody>
      </p:sp>
      <p:sp>
        <p:nvSpPr>
          <p:cNvPr id="3" name="Content Placeholder 2"/>
          <p:cNvSpPr>
            <a:spLocks noGrp="1"/>
          </p:cNvSpPr>
          <p:nvPr>
            <p:ph idx="1"/>
          </p:nvPr>
        </p:nvSpPr>
        <p:spPr/>
        <p:txBody>
          <a:bodyPr>
            <a:normAutofit/>
          </a:bodyPr>
          <a:lstStyle/>
          <a:p>
            <a:r>
              <a:rPr lang="en-US" b="1" dirty="0" smtClean="0"/>
              <a:t>Copy-on-Write (</a:t>
            </a:r>
            <a:r>
              <a:rPr lang="en-US" b="1" dirty="0" err="1" smtClean="0"/>
              <a:t>CoW</a:t>
            </a:r>
            <a:r>
              <a:rPr lang="en-US" b="1" dirty="0" smtClean="0"/>
              <a:t>)</a:t>
            </a:r>
          </a:p>
          <a:p>
            <a:r>
              <a:rPr lang="en-US" dirty="0" smtClean="0"/>
              <a:t>Like ZFS, </a:t>
            </a:r>
            <a:r>
              <a:rPr lang="en-US" dirty="0" err="1" smtClean="0"/>
              <a:t>Btrfs</a:t>
            </a:r>
            <a:r>
              <a:rPr lang="en-US" dirty="0" smtClean="0"/>
              <a:t> never overwrites existing data.</a:t>
            </a:r>
          </a:p>
          <a:p>
            <a:r>
              <a:rPr lang="en-US" dirty="0" smtClean="0"/>
              <a:t>When a file is modified:</a:t>
            </a:r>
          </a:p>
          <a:p>
            <a:r>
              <a:rPr lang="en-US" dirty="0" smtClean="0"/>
              <a:t>The modified data is written to a new block</a:t>
            </a:r>
          </a:p>
          <a:p>
            <a:r>
              <a:rPr lang="en-US" dirty="0" smtClean="0"/>
              <a:t>Metadata (stored in B-trees) is updated to point to the new block</a:t>
            </a:r>
          </a:p>
          <a:p>
            <a:r>
              <a:rPr lang="en-US" dirty="0" smtClean="0"/>
              <a:t>Old block remains untouched</a:t>
            </a:r>
          </a:p>
          <a:p>
            <a:r>
              <a:rPr lang="en-US" dirty="0" smtClean="0"/>
              <a:t>So writes are </a:t>
            </a:r>
            <a:r>
              <a:rPr lang="en-US" b="1" dirty="0" smtClean="0"/>
              <a:t>atomic</a:t>
            </a:r>
            <a:r>
              <a:rPr lang="en-US" dirty="0" smtClean="0"/>
              <a:t> — either fully completed or not applied at all.</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Btrfs</a:t>
            </a:r>
            <a:r>
              <a:rPr lang="en-US" b="1" dirty="0" smtClean="0"/>
              <a:t> (B-tree File System)</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Snapshots</a:t>
            </a:r>
          </a:p>
          <a:p>
            <a:r>
              <a:rPr lang="en-US" dirty="0" smtClean="0"/>
              <a:t>Because of </a:t>
            </a:r>
            <a:r>
              <a:rPr lang="en-US" dirty="0" err="1" smtClean="0"/>
              <a:t>CoW</a:t>
            </a:r>
            <a:r>
              <a:rPr lang="en-US" dirty="0" smtClean="0"/>
              <a:t>:</a:t>
            </a:r>
          </a:p>
          <a:p>
            <a:r>
              <a:rPr lang="en-US" dirty="0" smtClean="0"/>
              <a:t>A snapshot is just a </a:t>
            </a:r>
            <a:r>
              <a:rPr lang="en-US" b="1" dirty="0" smtClean="0"/>
              <a:t>new reference to existing metadata tree</a:t>
            </a:r>
            <a:endParaRPr lang="en-US" dirty="0" smtClean="0"/>
          </a:p>
          <a:p>
            <a:r>
              <a:rPr lang="en-US" dirty="0" smtClean="0"/>
              <a:t>No data is copied initially</a:t>
            </a:r>
          </a:p>
          <a:p>
            <a:r>
              <a:rPr lang="en-US" dirty="0" smtClean="0"/>
              <a:t>It takes almost zero time</a:t>
            </a:r>
          </a:p>
          <a:p>
            <a:r>
              <a:rPr lang="en-US" dirty="0" smtClean="0"/>
              <a:t>When changes happen:</a:t>
            </a:r>
          </a:p>
          <a:p>
            <a:r>
              <a:rPr lang="en-US" dirty="0" smtClean="0"/>
              <a:t>New blocks are created</a:t>
            </a:r>
          </a:p>
          <a:p>
            <a:r>
              <a:rPr lang="en-US" dirty="0" smtClean="0"/>
              <a:t>Snapshot still points to old blocks</a:t>
            </a:r>
          </a:p>
          <a:p>
            <a:r>
              <a:rPr lang="en-US" dirty="0" smtClean="0"/>
              <a:t>So snapshot = </a:t>
            </a:r>
            <a:r>
              <a:rPr lang="en-US" b="1" dirty="0" smtClean="0"/>
              <a:t>cheap and instant backup</a:t>
            </a:r>
            <a:endParaRPr lang="en-US" dirty="0" smtClean="0"/>
          </a:p>
          <a:p>
            <a:r>
              <a:rPr lang="en-US" b="1" dirty="0" smtClean="0"/>
              <a:t>Example:</a:t>
            </a:r>
          </a:p>
          <a:p>
            <a:r>
              <a:rPr lang="en-US" dirty="0" smtClean="0"/>
              <a:t>Take snapshot before system update → if update fails → roll back.</a:t>
            </a:r>
          </a:p>
          <a:p>
            <a:endParaRPr lang="en-US" dirty="0" smtClean="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Btrfs</a:t>
            </a:r>
            <a:r>
              <a:rPr lang="en-US" b="1" dirty="0" smtClean="0"/>
              <a:t> (B-tree File System)</a:t>
            </a:r>
            <a:br>
              <a:rPr lang="en-US" b="1" dirty="0" smtClean="0"/>
            </a:br>
            <a:endParaRPr lang="en-US" dirty="0"/>
          </a:p>
        </p:txBody>
      </p:sp>
      <p:sp>
        <p:nvSpPr>
          <p:cNvPr id="3" name="Content Placeholder 2"/>
          <p:cNvSpPr>
            <a:spLocks noGrp="1"/>
          </p:cNvSpPr>
          <p:nvPr>
            <p:ph idx="1"/>
          </p:nvPr>
        </p:nvSpPr>
        <p:spPr/>
        <p:txBody>
          <a:bodyPr>
            <a:normAutofit fontScale="55000" lnSpcReduction="20000"/>
          </a:bodyPr>
          <a:lstStyle/>
          <a:p>
            <a:r>
              <a:rPr lang="en-US" b="1" dirty="0" err="1" smtClean="0"/>
              <a:t>Subvolumes</a:t>
            </a:r>
            <a:endParaRPr lang="en-US" b="1" dirty="0" smtClean="0"/>
          </a:p>
          <a:p>
            <a:r>
              <a:rPr lang="en-US" dirty="0" smtClean="0"/>
              <a:t>This is a feature unique and very powerful in </a:t>
            </a:r>
            <a:r>
              <a:rPr lang="en-US" dirty="0" err="1" smtClean="0"/>
              <a:t>Btrfs</a:t>
            </a:r>
            <a:r>
              <a:rPr lang="en-US" dirty="0" smtClean="0"/>
              <a:t>.</a:t>
            </a:r>
          </a:p>
          <a:p>
            <a:r>
              <a:rPr lang="en-US" b="1" dirty="0" smtClean="0"/>
              <a:t>What is a </a:t>
            </a:r>
            <a:r>
              <a:rPr lang="en-US" b="1" dirty="0" err="1" smtClean="0"/>
              <a:t>subvolume</a:t>
            </a:r>
            <a:r>
              <a:rPr lang="en-US" b="1" dirty="0" smtClean="0"/>
              <a:t>?</a:t>
            </a:r>
          </a:p>
          <a:p>
            <a:r>
              <a:rPr lang="en-US" dirty="0" smtClean="0"/>
              <a:t>It’s like:</a:t>
            </a:r>
          </a:p>
          <a:p>
            <a:r>
              <a:rPr lang="en-US" dirty="0" smtClean="0"/>
              <a:t>A separate logical </a:t>
            </a:r>
            <a:r>
              <a:rPr lang="en-US" dirty="0" err="1" smtClean="0"/>
              <a:t>filesystem</a:t>
            </a:r>
            <a:endParaRPr lang="en-US" dirty="0" smtClean="0"/>
          </a:p>
          <a:p>
            <a:r>
              <a:rPr lang="en-US" dirty="0" smtClean="0"/>
              <a:t>Inside the same partition</a:t>
            </a:r>
          </a:p>
          <a:p>
            <a:r>
              <a:rPr lang="en-US" dirty="0" smtClean="0"/>
              <a:t>Each </a:t>
            </a:r>
            <a:r>
              <a:rPr lang="en-US" dirty="0" err="1" smtClean="0"/>
              <a:t>subvolume</a:t>
            </a:r>
            <a:r>
              <a:rPr lang="en-US" dirty="0" smtClean="0"/>
              <a:t>:</a:t>
            </a:r>
          </a:p>
          <a:p>
            <a:r>
              <a:rPr lang="en-US" dirty="0" smtClean="0"/>
              <a:t>Has its own root</a:t>
            </a:r>
          </a:p>
          <a:p>
            <a:r>
              <a:rPr lang="en-US" dirty="0" smtClean="0"/>
              <a:t>Can have its own snapshot</a:t>
            </a:r>
          </a:p>
          <a:p>
            <a:r>
              <a:rPr lang="en-US" dirty="0" smtClean="0"/>
              <a:t>Can be mounted separately</a:t>
            </a:r>
          </a:p>
          <a:p>
            <a:r>
              <a:rPr lang="en-US" b="1" dirty="0" smtClean="0"/>
              <a:t>How it works:</a:t>
            </a:r>
          </a:p>
          <a:p>
            <a:r>
              <a:rPr lang="en-US" dirty="0" err="1" smtClean="0"/>
              <a:t>Btrfs</a:t>
            </a:r>
            <a:r>
              <a:rPr lang="en-US" dirty="0" smtClean="0"/>
              <a:t> organizes everything using </a:t>
            </a:r>
            <a:r>
              <a:rPr lang="en-US" b="1" dirty="0" smtClean="0"/>
              <a:t>B-trees</a:t>
            </a:r>
            <a:r>
              <a:rPr lang="en-US" dirty="0" smtClean="0"/>
              <a:t>.</a:t>
            </a:r>
            <a:br>
              <a:rPr lang="en-US" dirty="0" smtClean="0"/>
            </a:br>
            <a:r>
              <a:rPr lang="en-US" dirty="0" smtClean="0"/>
              <a:t>A </a:t>
            </a:r>
            <a:r>
              <a:rPr lang="en-US" dirty="0" err="1" smtClean="0"/>
              <a:t>subvolume</a:t>
            </a:r>
            <a:r>
              <a:rPr lang="en-US" dirty="0" smtClean="0"/>
              <a:t> is basically a new tree root within the same </a:t>
            </a:r>
            <a:r>
              <a:rPr lang="en-US" dirty="0" err="1" smtClean="0"/>
              <a:t>filesystem</a:t>
            </a:r>
            <a:r>
              <a:rPr lang="en-US" dirty="0" smtClean="0"/>
              <a:t>.</a:t>
            </a:r>
          </a:p>
          <a:p>
            <a:r>
              <a:rPr lang="en-US" dirty="0" smtClean="0"/>
              <a:t>So instead of partitioning disk:</a:t>
            </a:r>
            <a:br>
              <a:rPr lang="en-US" dirty="0" smtClean="0"/>
            </a:br>
            <a:r>
              <a:rPr lang="en-US" dirty="0" smtClean="0"/>
              <a:t>You create logical containers.</a:t>
            </a:r>
          </a:p>
          <a:p>
            <a:r>
              <a:rPr lang="en-US" dirty="0" smtClean="0"/>
              <a:t>Very flexible.</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Btrfs</a:t>
            </a:r>
            <a:r>
              <a:rPr lang="en-US" b="1" dirty="0" smtClean="0"/>
              <a:t> (B-tree File System)</a:t>
            </a:r>
            <a:br>
              <a:rPr lang="en-US" b="1" dirty="0" smtClean="0"/>
            </a:b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Built-in RAID</a:t>
            </a:r>
          </a:p>
          <a:p>
            <a:r>
              <a:rPr lang="en-US" dirty="0" err="1" smtClean="0"/>
              <a:t>Btrfs</a:t>
            </a:r>
            <a:r>
              <a:rPr lang="en-US" dirty="0" smtClean="0"/>
              <a:t> can manage multiple disks itself.</a:t>
            </a:r>
          </a:p>
          <a:p>
            <a:r>
              <a:rPr lang="en-US" dirty="0" smtClean="0"/>
              <a:t>Supported RAID types:</a:t>
            </a:r>
          </a:p>
          <a:p>
            <a:r>
              <a:rPr lang="en-US" dirty="0" smtClean="0"/>
              <a:t>RAID 0</a:t>
            </a:r>
          </a:p>
          <a:p>
            <a:r>
              <a:rPr lang="en-US" dirty="0" smtClean="0"/>
              <a:t>RAID 1</a:t>
            </a:r>
          </a:p>
          <a:p>
            <a:r>
              <a:rPr lang="en-US" dirty="0" smtClean="0"/>
              <a:t>RAID 10</a:t>
            </a:r>
          </a:p>
          <a:p>
            <a:r>
              <a:rPr lang="en-US" dirty="0" smtClean="0"/>
              <a:t>RAID 5/6 (still risky)</a:t>
            </a:r>
          </a:p>
          <a:p>
            <a:r>
              <a:rPr lang="en-US" b="1" dirty="0" smtClean="0"/>
              <a:t>How it works:</a:t>
            </a:r>
          </a:p>
          <a:p>
            <a:r>
              <a:rPr lang="en-US" dirty="0" smtClean="0"/>
              <a:t>Data and metadata are distributed across disks.</a:t>
            </a:r>
            <a:br>
              <a:rPr lang="en-US" dirty="0" smtClean="0"/>
            </a:br>
            <a:r>
              <a:rPr lang="en-US" dirty="0" smtClean="0"/>
              <a:t>Parity or mirroring is handled at </a:t>
            </a:r>
            <a:r>
              <a:rPr lang="en-US" dirty="0" err="1" smtClean="0"/>
              <a:t>filesystem</a:t>
            </a:r>
            <a:r>
              <a:rPr lang="en-US" dirty="0" smtClean="0"/>
              <a:t> level.</a:t>
            </a:r>
          </a:p>
          <a:p>
            <a:r>
              <a:rPr lang="en-US" dirty="0" smtClean="0"/>
              <a:t>Difference from hardware RAID:</a:t>
            </a:r>
          </a:p>
          <a:p>
            <a:r>
              <a:rPr lang="en-US" dirty="0" smtClean="0"/>
              <a:t>Managed directly by Linux kernel</a:t>
            </a:r>
          </a:p>
          <a:p>
            <a:r>
              <a:rPr lang="en-US" dirty="0" smtClean="0"/>
              <a:t>Can add/remove disks dynamically</a:t>
            </a:r>
          </a:p>
          <a:p>
            <a:r>
              <a:rPr lang="en-US" dirty="0" smtClean="0"/>
              <a:t>RAID 5/6 still not considered fully stable.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Btrfs</a:t>
            </a:r>
            <a:r>
              <a:rPr lang="en-US" b="1" dirty="0" smtClean="0"/>
              <a:t> (B-tree File System)</a:t>
            </a:r>
            <a:br>
              <a:rPr lang="en-US" b="1" dirty="0" smtClean="0"/>
            </a:br>
            <a:endParaRPr lang="en-US" dirty="0"/>
          </a:p>
        </p:txBody>
      </p:sp>
      <p:sp>
        <p:nvSpPr>
          <p:cNvPr id="3" name="Content Placeholder 2"/>
          <p:cNvSpPr>
            <a:spLocks noGrp="1"/>
          </p:cNvSpPr>
          <p:nvPr>
            <p:ph idx="1"/>
          </p:nvPr>
        </p:nvSpPr>
        <p:spPr/>
        <p:txBody>
          <a:bodyPr>
            <a:normAutofit/>
          </a:bodyPr>
          <a:lstStyle/>
          <a:p>
            <a:r>
              <a:rPr lang="en-US" b="1" dirty="0" smtClean="0"/>
              <a:t>Compression</a:t>
            </a:r>
          </a:p>
          <a:p>
            <a:r>
              <a:rPr lang="en-US" dirty="0" smtClean="0"/>
              <a:t>Before writing data:</a:t>
            </a:r>
          </a:p>
          <a:p>
            <a:r>
              <a:rPr lang="en-US" dirty="0" err="1" smtClean="0"/>
              <a:t>Btrfs</a:t>
            </a:r>
            <a:r>
              <a:rPr lang="en-US" dirty="0" smtClean="0"/>
              <a:t> compresses blocks (</a:t>
            </a:r>
            <a:r>
              <a:rPr lang="en-US" dirty="0" err="1" smtClean="0"/>
              <a:t>zlib</a:t>
            </a:r>
            <a:r>
              <a:rPr lang="en-US" dirty="0" smtClean="0"/>
              <a:t>, </a:t>
            </a:r>
            <a:r>
              <a:rPr lang="en-US" dirty="0" err="1" smtClean="0"/>
              <a:t>lzo</a:t>
            </a:r>
            <a:r>
              <a:rPr lang="en-US" dirty="0" smtClean="0"/>
              <a:t>, </a:t>
            </a:r>
            <a:r>
              <a:rPr lang="en-US" dirty="0" err="1" smtClean="0"/>
              <a:t>zstd</a:t>
            </a:r>
            <a:r>
              <a:rPr lang="en-US" dirty="0" smtClean="0"/>
              <a:t>)</a:t>
            </a:r>
          </a:p>
          <a:p>
            <a:r>
              <a:rPr lang="en-US" dirty="0" smtClean="0"/>
              <a:t>Stores compressed version</a:t>
            </a:r>
          </a:p>
          <a:p>
            <a:r>
              <a:rPr lang="en-US" dirty="0" smtClean="0"/>
              <a:t>Benefits:</a:t>
            </a:r>
          </a:p>
          <a:p>
            <a:r>
              <a:rPr lang="en-US" dirty="0" smtClean="0"/>
              <a:t>Saves space</a:t>
            </a:r>
          </a:p>
          <a:p>
            <a:r>
              <a:rPr lang="en-US" dirty="0" smtClean="0"/>
              <a:t>Improves read/write performance (less disk I/O)</a:t>
            </a:r>
          </a:p>
          <a:p>
            <a:r>
              <a:rPr lang="en-US" dirty="0" smtClean="0"/>
              <a:t>Compression is transparent — user doesn’t notice.</a:t>
            </a:r>
          </a:p>
          <a:p>
            <a:endParaRPr lang="en-US" dirty="0" smtClean="0"/>
          </a:p>
          <a:p>
            <a:endParaRPr lang="en-US" dirty="0" smtClean="0"/>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Btrfs</a:t>
            </a:r>
            <a:r>
              <a:rPr lang="en-US" b="1" dirty="0" smtClean="0"/>
              <a:t> (B-tree File System)</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dirty="0" err="1" smtClean="0"/>
              <a:t>Checksumming</a:t>
            </a:r>
            <a:endParaRPr lang="en-US" b="1" dirty="0" smtClean="0"/>
          </a:p>
          <a:p>
            <a:r>
              <a:rPr lang="en-US" dirty="0" smtClean="0"/>
              <a:t>Every data and metadata block:</a:t>
            </a:r>
          </a:p>
          <a:p>
            <a:r>
              <a:rPr lang="en-US" dirty="0" smtClean="0"/>
              <a:t>Gets a checksum calculated</a:t>
            </a:r>
          </a:p>
          <a:p>
            <a:r>
              <a:rPr lang="en-US" dirty="0" smtClean="0"/>
              <a:t>Stored separately in metadata tree</a:t>
            </a:r>
          </a:p>
          <a:p>
            <a:r>
              <a:rPr lang="en-US" dirty="0" smtClean="0"/>
              <a:t>During read:</a:t>
            </a:r>
          </a:p>
          <a:p>
            <a:r>
              <a:rPr lang="en-US" dirty="0" smtClean="0"/>
              <a:t>Checksum is recalculated</a:t>
            </a:r>
          </a:p>
          <a:p>
            <a:r>
              <a:rPr lang="en-US" dirty="0" smtClean="0"/>
              <a:t>Compared with stored checksum</a:t>
            </a:r>
          </a:p>
          <a:p>
            <a:r>
              <a:rPr lang="en-US" dirty="0" smtClean="0"/>
              <a:t>If mismatch → corruption detected</a:t>
            </a:r>
          </a:p>
          <a:p>
            <a:r>
              <a:rPr lang="en-US" dirty="0" smtClean="0"/>
              <a:t>If redundancy (RAID/mirror) exists:</a:t>
            </a:r>
          </a:p>
          <a:p>
            <a:r>
              <a:rPr lang="en-US" dirty="0" smtClean="0"/>
              <a:t>It fetches correct copy</a:t>
            </a:r>
          </a:p>
          <a:p>
            <a:r>
              <a:rPr lang="en-US" dirty="0" smtClean="0"/>
              <a:t>Repairs bad block</a:t>
            </a:r>
          </a:p>
          <a:p>
            <a:r>
              <a:rPr lang="en-US" dirty="0" smtClean="0"/>
              <a:t>This protects against silent corruption.</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Btrfs</a:t>
            </a:r>
            <a:r>
              <a:rPr lang="en-US" b="1" dirty="0" smtClean="0"/>
              <a:t> (B-tree File System)</a:t>
            </a:r>
            <a:br>
              <a:rPr lang="en-US" b="1" dirty="0" smtClean="0"/>
            </a:br>
            <a:endParaRPr lang="en-US" dirty="0"/>
          </a:p>
        </p:txBody>
      </p:sp>
      <p:sp>
        <p:nvSpPr>
          <p:cNvPr id="3" name="Content Placeholder 2"/>
          <p:cNvSpPr>
            <a:spLocks noGrp="1"/>
          </p:cNvSpPr>
          <p:nvPr>
            <p:ph idx="1"/>
          </p:nvPr>
        </p:nvSpPr>
        <p:spPr/>
        <p:txBody>
          <a:bodyPr/>
          <a:lstStyle/>
          <a:p>
            <a:r>
              <a:rPr lang="en-US" b="1" dirty="0" smtClean="0"/>
              <a:t>Quick Conceptual View</a:t>
            </a:r>
          </a:p>
          <a:p>
            <a:pPr lvl="1"/>
            <a:r>
              <a:rPr lang="en-US" dirty="0" err="1" smtClean="0"/>
              <a:t>Btrfs</a:t>
            </a:r>
            <a:r>
              <a:rPr lang="en-US" dirty="0" smtClean="0"/>
              <a:t> internally uses:</a:t>
            </a:r>
            <a:br>
              <a:rPr lang="en-US" dirty="0" smtClean="0"/>
            </a:br>
            <a:r>
              <a:rPr lang="en-US" dirty="0" smtClean="0"/>
              <a:t>B-tree structures</a:t>
            </a:r>
            <a:br>
              <a:rPr lang="en-US" dirty="0" smtClean="0"/>
            </a:br>
            <a:r>
              <a:rPr lang="en-US" dirty="0" smtClean="0"/>
              <a:t>Copy-on-Write everywhere</a:t>
            </a:r>
            <a:br>
              <a:rPr lang="en-US" dirty="0" smtClean="0"/>
            </a:br>
            <a:r>
              <a:rPr lang="en-US" dirty="0" smtClean="0"/>
              <a:t>Logical volume management built-in</a:t>
            </a:r>
          </a:p>
          <a:p>
            <a:endParaRPr lang="en-US" dirty="0" smtClean="0"/>
          </a:p>
          <a:p>
            <a:pPr lvl="1"/>
            <a:r>
              <a:rPr lang="en-US" dirty="0" smtClean="0"/>
              <a:t>So it combines:</a:t>
            </a:r>
            <a:br>
              <a:rPr lang="en-US" dirty="0" smtClean="0"/>
            </a:br>
            <a:r>
              <a:rPr lang="en-US" dirty="0" smtClean="0"/>
              <a:t>File system + Volume manager in one.</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err="1" smtClean="0"/>
              <a:t>Btrfs</a:t>
            </a:r>
            <a:r>
              <a:rPr lang="en-US" b="1" dirty="0" smtClean="0"/>
              <a:t> (B-tree File System)</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Difference from ZFS:</a:t>
            </a:r>
          </a:p>
          <a:p>
            <a:r>
              <a:rPr lang="en-US" dirty="0" smtClean="0"/>
              <a:t>Think of </a:t>
            </a:r>
            <a:r>
              <a:rPr lang="en-US" dirty="0" err="1" smtClean="0"/>
              <a:t>Btrfs</a:t>
            </a:r>
            <a:r>
              <a:rPr lang="en-US" dirty="0" smtClean="0"/>
              <a:t> as </a:t>
            </a:r>
            <a:r>
              <a:rPr lang="en-US" dirty="0" err="1" smtClean="0"/>
              <a:t>Linux’s</a:t>
            </a:r>
            <a:r>
              <a:rPr lang="en-US" dirty="0" smtClean="0"/>
              <a:t> answer to ZFS — but lighter.</a:t>
            </a:r>
          </a:p>
          <a:p>
            <a:r>
              <a:rPr lang="en-US" b="1" dirty="0" smtClean="0"/>
              <a:t>Pros:</a:t>
            </a:r>
          </a:p>
          <a:p>
            <a:r>
              <a:rPr lang="en-US" dirty="0" smtClean="0"/>
              <a:t>Integrated into Linux kernel</a:t>
            </a:r>
          </a:p>
          <a:p>
            <a:r>
              <a:rPr lang="en-US" dirty="0" smtClean="0"/>
              <a:t>Easier to manage</a:t>
            </a:r>
          </a:p>
          <a:p>
            <a:r>
              <a:rPr lang="en-US" dirty="0" smtClean="0"/>
              <a:t>Good for desktops and servers</a:t>
            </a:r>
          </a:p>
          <a:p>
            <a:r>
              <a:rPr lang="en-US" b="1" dirty="0" smtClean="0"/>
              <a:t>Cons:</a:t>
            </a:r>
          </a:p>
          <a:p>
            <a:r>
              <a:rPr lang="en-US" dirty="0" smtClean="0"/>
              <a:t>RAID 5/6 still considered unstable in some cases</a:t>
            </a:r>
          </a:p>
          <a:p>
            <a:r>
              <a:rPr lang="en-US" dirty="0" smtClean="0"/>
              <a:t>Not as mature as ZFS in enterprise use</a:t>
            </a:r>
          </a:p>
          <a:p>
            <a:r>
              <a:rPr lang="en-US" dirty="0" smtClean="0"/>
              <a:t>Best for: Linux desktops, dev machines, snapshot-based systems.</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EXT4</a:t>
            </a:r>
          </a:p>
        </p:txBody>
      </p:sp>
      <p:sp>
        <p:nvSpPr>
          <p:cNvPr id="3" name="Content Placeholder 2"/>
          <p:cNvSpPr>
            <a:spLocks noGrp="1"/>
          </p:cNvSpPr>
          <p:nvPr>
            <p:ph idx="1"/>
          </p:nvPr>
        </p:nvSpPr>
        <p:spPr/>
        <p:txBody>
          <a:bodyPr>
            <a:normAutofit/>
          </a:bodyPr>
          <a:lstStyle/>
          <a:p>
            <a:r>
              <a:rPr lang="en-US" b="1" dirty="0" smtClean="0"/>
              <a:t>Developed </a:t>
            </a:r>
            <a:r>
              <a:rPr lang="en-US" b="1" dirty="0" smtClean="0"/>
              <a:t>for:</a:t>
            </a:r>
            <a:r>
              <a:rPr lang="en-US" dirty="0" smtClean="0"/>
              <a:t> Linux</a:t>
            </a:r>
            <a:br>
              <a:rPr lang="en-US" dirty="0" smtClean="0"/>
            </a:br>
            <a:r>
              <a:rPr lang="en-US" b="1" dirty="0" smtClean="0"/>
              <a:t>Most widely used Linux file system</a:t>
            </a:r>
            <a:endParaRPr lang="en-US" dirty="0" smtClean="0"/>
          </a:p>
          <a:p>
            <a:r>
              <a:rPr lang="en-US" b="1" dirty="0" smtClean="0"/>
              <a:t>Key Features:</a:t>
            </a:r>
          </a:p>
          <a:p>
            <a:r>
              <a:rPr lang="en-US" dirty="0" smtClean="0"/>
              <a:t>Journaling</a:t>
            </a:r>
          </a:p>
          <a:p>
            <a:r>
              <a:rPr lang="en-US" dirty="0" smtClean="0"/>
              <a:t>Large file &amp; volume support</a:t>
            </a:r>
          </a:p>
          <a:p>
            <a:r>
              <a:rPr lang="en-US" dirty="0" smtClean="0"/>
              <a:t>Stable &amp; mature</a:t>
            </a:r>
          </a:p>
          <a:p>
            <a:r>
              <a:rPr lang="en-US" dirty="0" smtClean="0"/>
              <a:t>Low overhead</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EXT4</a:t>
            </a:r>
          </a:p>
        </p:txBody>
      </p:sp>
      <p:sp>
        <p:nvSpPr>
          <p:cNvPr id="3" name="Content Placeholder 2"/>
          <p:cNvSpPr>
            <a:spLocks noGrp="1"/>
          </p:cNvSpPr>
          <p:nvPr>
            <p:ph idx="1"/>
          </p:nvPr>
        </p:nvSpPr>
        <p:spPr/>
        <p:txBody>
          <a:bodyPr>
            <a:normAutofit fontScale="92500" lnSpcReduction="20000"/>
          </a:bodyPr>
          <a:lstStyle/>
          <a:p>
            <a:r>
              <a:rPr lang="en-US" b="1" dirty="0" smtClean="0"/>
              <a:t>Journaling</a:t>
            </a:r>
          </a:p>
          <a:p>
            <a:r>
              <a:rPr lang="en-US" dirty="0" smtClean="0"/>
              <a:t>Before modifying actual data on disk:</a:t>
            </a:r>
          </a:p>
          <a:p>
            <a:r>
              <a:rPr lang="en-US" dirty="0" smtClean="0"/>
              <a:t>EXT4 writes the change information into a </a:t>
            </a:r>
            <a:r>
              <a:rPr lang="en-US" b="1" dirty="0" smtClean="0"/>
              <a:t>journal (log area)</a:t>
            </a:r>
            <a:endParaRPr lang="en-US" dirty="0" smtClean="0"/>
          </a:p>
          <a:p>
            <a:r>
              <a:rPr lang="en-US" dirty="0" smtClean="0"/>
              <a:t>Once journal write is successful</a:t>
            </a:r>
          </a:p>
          <a:p>
            <a:r>
              <a:rPr lang="en-US" dirty="0" smtClean="0"/>
              <a:t>It performs the actual change to the </a:t>
            </a:r>
            <a:r>
              <a:rPr lang="en-US" dirty="0" err="1" smtClean="0"/>
              <a:t>filesystem</a:t>
            </a:r>
            <a:endParaRPr lang="en-US" dirty="0" smtClean="0"/>
          </a:p>
          <a:p>
            <a:r>
              <a:rPr lang="en-US" dirty="0" smtClean="0"/>
              <a:t>Marks journal entry as complete</a:t>
            </a:r>
          </a:p>
          <a:p>
            <a:r>
              <a:rPr lang="en-US" dirty="0" smtClean="0"/>
              <a:t>If system crashes:</a:t>
            </a:r>
          </a:p>
          <a:p>
            <a:r>
              <a:rPr lang="en-US" dirty="0" smtClean="0"/>
              <a:t>On reboot, EXT4 checks journal</a:t>
            </a:r>
          </a:p>
          <a:p>
            <a:r>
              <a:rPr lang="en-US" dirty="0" smtClean="0"/>
              <a:t>Replays unfinished operations</a:t>
            </a:r>
          </a:p>
          <a:p>
            <a:r>
              <a:rPr lang="en-US" dirty="0" smtClean="0"/>
              <a:t>Restores consistency</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EXT4</a:t>
            </a:r>
          </a:p>
        </p:txBody>
      </p:sp>
      <p:sp>
        <p:nvSpPr>
          <p:cNvPr id="3" name="Content Placeholder 2"/>
          <p:cNvSpPr>
            <a:spLocks noGrp="1"/>
          </p:cNvSpPr>
          <p:nvPr>
            <p:ph idx="1"/>
          </p:nvPr>
        </p:nvSpPr>
        <p:spPr/>
        <p:txBody>
          <a:bodyPr numCol="2">
            <a:normAutofit fontScale="85000" lnSpcReduction="20000"/>
          </a:bodyPr>
          <a:lstStyle/>
          <a:p>
            <a:r>
              <a:rPr lang="en-US" b="1" dirty="0" smtClean="0"/>
              <a:t>Large File &amp; Volume Support</a:t>
            </a:r>
          </a:p>
          <a:p>
            <a:r>
              <a:rPr lang="en-US" dirty="0" smtClean="0"/>
              <a:t>EXT4 improved limits of EXT3.</a:t>
            </a:r>
          </a:p>
          <a:p>
            <a:r>
              <a:rPr lang="en-US" b="1" dirty="0" smtClean="0"/>
              <a:t>Technical improvements:</a:t>
            </a:r>
          </a:p>
          <a:p>
            <a:r>
              <a:rPr lang="en-US" dirty="0" smtClean="0"/>
              <a:t>Uses </a:t>
            </a:r>
            <a:r>
              <a:rPr lang="en-US" b="1" dirty="0" smtClean="0"/>
              <a:t>64-bit block numbers</a:t>
            </a:r>
            <a:endParaRPr lang="en-US" dirty="0" smtClean="0"/>
          </a:p>
          <a:p>
            <a:r>
              <a:rPr lang="en-US" dirty="0" smtClean="0"/>
              <a:t>Supports:</a:t>
            </a:r>
          </a:p>
          <a:p>
            <a:pPr lvl="1"/>
            <a:r>
              <a:rPr lang="en-US" dirty="0" smtClean="0"/>
              <a:t>Up to 1 EB </a:t>
            </a:r>
            <a:r>
              <a:rPr lang="en-US" dirty="0" err="1" smtClean="0"/>
              <a:t>filesystem</a:t>
            </a:r>
            <a:r>
              <a:rPr lang="en-US" dirty="0" smtClean="0"/>
              <a:t> (theoretical)</a:t>
            </a:r>
          </a:p>
          <a:p>
            <a:pPr lvl="1"/>
            <a:r>
              <a:rPr lang="en-US" dirty="0" smtClean="0"/>
              <a:t>Very large individual files (up to 16 TB typical depending on block size)</a:t>
            </a:r>
          </a:p>
          <a:p>
            <a:endParaRPr lang="en-US" b="1" dirty="0" smtClean="0"/>
          </a:p>
          <a:p>
            <a:endParaRPr lang="en-US" b="1" dirty="0" smtClean="0"/>
          </a:p>
          <a:p>
            <a:endParaRPr lang="en-US" b="1" dirty="0" smtClean="0"/>
          </a:p>
          <a:p>
            <a:endParaRPr lang="en-US" b="1" dirty="0" smtClean="0"/>
          </a:p>
          <a:p>
            <a:r>
              <a:rPr lang="en-US" b="1" dirty="0" smtClean="0"/>
              <a:t>How?</a:t>
            </a:r>
          </a:p>
          <a:p>
            <a:r>
              <a:rPr lang="en-US" dirty="0" smtClean="0"/>
              <a:t>EXT4 uses:</a:t>
            </a:r>
          </a:p>
          <a:p>
            <a:r>
              <a:rPr lang="en-US" b="1" dirty="0" smtClean="0"/>
              <a:t>Extents</a:t>
            </a:r>
            <a:r>
              <a:rPr lang="en-US" dirty="0" smtClean="0"/>
              <a:t> instead of block mapping</a:t>
            </a:r>
          </a:p>
          <a:p>
            <a:r>
              <a:rPr lang="en-US" dirty="0" smtClean="0"/>
              <a:t>Old EXT3:</a:t>
            </a:r>
          </a:p>
          <a:p>
            <a:r>
              <a:rPr lang="en-US" dirty="0" smtClean="0"/>
              <a:t>Stored list of individual blocks (inefficient for large files)</a:t>
            </a:r>
          </a:p>
          <a:p>
            <a:r>
              <a:rPr lang="en-US" dirty="0" smtClean="0"/>
              <a:t>EXT4:</a:t>
            </a:r>
          </a:p>
          <a:p>
            <a:r>
              <a:rPr lang="en-US" dirty="0" smtClean="0"/>
              <a:t>Stores a range of contiguous blocks as one extent</a:t>
            </a:r>
            <a:br>
              <a:rPr lang="en-US" dirty="0" smtClean="0"/>
            </a:br>
            <a:r>
              <a:rPr lang="en-US" dirty="0" smtClean="0"/>
              <a:t>Example:</a:t>
            </a:r>
            <a:br>
              <a:rPr lang="en-US" dirty="0" smtClean="0"/>
            </a:br>
            <a:r>
              <a:rPr lang="en-US" dirty="0" smtClean="0"/>
              <a:t>Instead of storing 1000 block entries → store 1 extent entry.</a:t>
            </a:r>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EXT4</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Stable &amp; Mature</a:t>
            </a:r>
          </a:p>
          <a:p>
            <a:r>
              <a:rPr lang="en-US" dirty="0" smtClean="0"/>
              <a:t>This isn’t marketing — it’s architectural simplicity.</a:t>
            </a:r>
          </a:p>
          <a:p>
            <a:r>
              <a:rPr lang="en-US" dirty="0" smtClean="0"/>
              <a:t>EXT4:</a:t>
            </a:r>
          </a:p>
          <a:p>
            <a:r>
              <a:rPr lang="en-US" dirty="0" smtClean="0"/>
              <a:t>Has been tested for years</a:t>
            </a:r>
          </a:p>
          <a:p>
            <a:r>
              <a:rPr lang="en-US" dirty="0" smtClean="0"/>
              <a:t>Used in almost every Linux </a:t>
            </a:r>
            <a:r>
              <a:rPr lang="en-US" dirty="0" err="1" smtClean="0"/>
              <a:t>distro</a:t>
            </a:r>
            <a:endParaRPr lang="en-US" dirty="0" smtClean="0"/>
          </a:p>
          <a:p>
            <a:r>
              <a:rPr lang="en-US" dirty="0" smtClean="0"/>
              <a:t>Minimal experimental features</a:t>
            </a:r>
          </a:p>
          <a:p>
            <a:r>
              <a:rPr lang="en-US" dirty="0" smtClean="0"/>
              <a:t>Why stable?</a:t>
            </a:r>
          </a:p>
          <a:p>
            <a:r>
              <a:rPr lang="en-US" dirty="0" smtClean="0"/>
              <a:t>Because:</a:t>
            </a:r>
          </a:p>
          <a:p>
            <a:r>
              <a:rPr lang="en-US" dirty="0" smtClean="0"/>
              <a:t>No aggressive </a:t>
            </a:r>
            <a:r>
              <a:rPr lang="en-US" dirty="0" err="1" smtClean="0"/>
              <a:t>CoW</a:t>
            </a:r>
            <a:r>
              <a:rPr lang="en-US" dirty="0" smtClean="0"/>
              <a:t> everywhere</a:t>
            </a:r>
          </a:p>
          <a:p>
            <a:r>
              <a:rPr lang="en-US" dirty="0" smtClean="0"/>
              <a:t>No complex volume management</a:t>
            </a:r>
          </a:p>
          <a:p>
            <a:r>
              <a:rPr lang="en-US" dirty="0" smtClean="0"/>
              <a:t>Traditional in-place updates</a:t>
            </a:r>
          </a:p>
          <a:p>
            <a:r>
              <a:rPr lang="en-US" dirty="0" smtClean="0"/>
              <a:t>Well-tested journaling system</a:t>
            </a:r>
          </a:p>
          <a:p>
            <a:r>
              <a:rPr lang="en-US" dirty="0" smtClean="0"/>
              <a:t>It prioritizes reliability over innovation.</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EXT4</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Low Overhead</a:t>
            </a:r>
          </a:p>
          <a:p>
            <a:r>
              <a:rPr lang="en-US" dirty="0" smtClean="0"/>
              <a:t>Compared to ZFS/</a:t>
            </a:r>
            <a:r>
              <a:rPr lang="en-US" dirty="0" err="1" smtClean="0"/>
              <a:t>Btrfs</a:t>
            </a:r>
            <a:r>
              <a:rPr lang="en-US" dirty="0" smtClean="0"/>
              <a:t>:</a:t>
            </a:r>
          </a:p>
          <a:p>
            <a:r>
              <a:rPr lang="en-US" dirty="0" smtClean="0"/>
              <a:t>No </a:t>
            </a:r>
            <a:r>
              <a:rPr lang="en-US" dirty="0" err="1" smtClean="0"/>
              <a:t>checksumming</a:t>
            </a:r>
            <a:r>
              <a:rPr lang="en-US" dirty="0" smtClean="0"/>
              <a:t> for every block</a:t>
            </a:r>
          </a:p>
          <a:p>
            <a:r>
              <a:rPr lang="en-US" dirty="0" smtClean="0"/>
              <a:t>No built-in RAID calculations</a:t>
            </a:r>
          </a:p>
          <a:p>
            <a:r>
              <a:rPr lang="en-US" dirty="0" smtClean="0"/>
              <a:t>No </a:t>
            </a:r>
            <a:r>
              <a:rPr lang="en-US" dirty="0" err="1" smtClean="0"/>
              <a:t>dedup</a:t>
            </a:r>
            <a:r>
              <a:rPr lang="en-US" dirty="0" smtClean="0"/>
              <a:t> hash tables</a:t>
            </a:r>
          </a:p>
          <a:p>
            <a:r>
              <a:rPr lang="en-US" dirty="0" smtClean="0"/>
              <a:t>No constant tree rewriting (like </a:t>
            </a:r>
            <a:r>
              <a:rPr lang="en-US" dirty="0" err="1" smtClean="0"/>
              <a:t>CoW</a:t>
            </a:r>
            <a:r>
              <a:rPr lang="en-US" dirty="0" smtClean="0"/>
              <a:t> systems)</a:t>
            </a:r>
          </a:p>
          <a:p>
            <a:r>
              <a:rPr lang="en-US" dirty="0" smtClean="0"/>
              <a:t>So:</a:t>
            </a:r>
          </a:p>
          <a:p>
            <a:r>
              <a:rPr lang="en-US" dirty="0" smtClean="0"/>
              <a:t>Lower CPU usage</a:t>
            </a:r>
          </a:p>
          <a:p>
            <a:r>
              <a:rPr lang="en-US" dirty="0" smtClean="0"/>
              <a:t>Lower RAM usage</a:t>
            </a:r>
          </a:p>
          <a:p>
            <a:r>
              <a:rPr lang="en-US" dirty="0" smtClean="0"/>
              <a:t>Less fragmentation</a:t>
            </a:r>
          </a:p>
          <a:p>
            <a:r>
              <a:rPr lang="en-US" dirty="0" smtClean="0"/>
              <a:t>Good for small systems</a:t>
            </a:r>
          </a:p>
          <a:p>
            <a:r>
              <a:rPr lang="en-US" dirty="0" smtClean="0"/>
              <a:t>That’s why EXT4 runs beautifully even on low-resource machines.</a:t>
            </a:r>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EXT4</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Why it’s popular:</a:t>
            </a:r>
          </a:p>
          <a:p>
            <a:r>
              <a:rPr lang="en-US" dirty="0" smtClean="0"/>
              <a:t>Because it’s:</a:t>
            </a:r>
          </a:p>
          <a:p>
            <a:r>
              <a:rPr lang="en-US" dirty="0" smtClean="0"/>
              <a:t>Fast</a:t>
            </a:r>
          </a:p>
          <a:p>
            <a:r>
              <a:rPr lang="en-US" dirty="0" smtClean="0"/>
              <a:t>Stable</a:t>
            </a:r>
          </a:p>
          <a:p>
            <a:r>
              <a:rPr lang="en-US" dirty="0" smtClean="0"/>
              <a:t>Simple</a:t>
            </a:r>
          </a:p>
          <a:p>
            <a:r>
              <a:rPr lang="en-US" dirty="0" smtClean="0"/>
              <a:t>Very well-tested</a:t>
            </a:r>
          </a:p>
          <a:p>
            <a:r>
              <a:rPr lang="en-US" b="1" dirty="0" smtClean="0"/>
              <a:t>Limitations:</a:t>
            </a:r>
          </a:p>
          <a:p>
            <a:r>
              <a:rPr lang="en-US" dirty="0" smtClean="0"/>
              <a:t>No built-in snapshots</a:t>
            </a:r>
          </a:p>
          <a:p>
            <a:r>
              <a:rPr lang="en-US" dirty="0" smtClean="0"/>
              <a:t>No native </a:t>
            </a:r>
            <a:r>
              <a:rPr lang="en-US" dirty="0" err="1" smtClean="0"/>
              <a:t>checksumming</a:t>
            </a:r>
            <a:r>
              <a:rPr lang="en-US" dirty="0" smtClean="0"/>
              <a:t> like ZFS</a:t>
            </a:r>
          </a:p>
          <a:p>
            <a:r>
              <a:rPr lang="en-US" dirty="0" smtClean="0"/>
              <a:t>No built-in RAID</a:t>
            </a:r>
          </a:p>
          <a:p>
            <a:r>
              <a:rPr lang="en-US" dirty="0" smtClean="0"/>
              <a:t>Best for: General-purpose Linux systems.</a:t>
            </a:r>
          </a:p>
          <a:p>
            <a:r>
              <a:rPr lang="en-US" dirty="0" smtClean="0"/>
              <a:t>If you want reliability without complexity → EXT4.</a:t>
            </a: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APFS (Apple File System)</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Developed by:</a:t>
            </a:r>
            <a:r>
              <a:rPr lang="en-US" dirty="0" smtClean="0"/>
              <a:t> Apple</a:t>
            </a:r>
            <a:br>
              <a:rPr lang="en-US" dirty="0" smtClean="0"/>
            </a:br>
            <a:r>
              <a:rPr lang="en-US" b="1" dirty="0" smtClean="0"/>
              <a:t>Used in:</a:t>
            </a:r>
            <a:r>
              <a:rPr lang="en-US" dirty="0" smtClean="0"/>
              <a:t> </a:t>
            </a:r>
            <a:r>
              <a:rPr lang="en-US" dirty="0" err="1" smtClean="0"/>
              <a:t>macOS</a:t>
            </a:r>
            <a:r>
              <a:rPr lang="en-US" dirty="0" smtClean="0"/>
              <a:t>, </a:t>
            </a:r>
            <a:r>
              <a:rPr lang="en-US" dirty="0" err="1" smtClean="0"/>
              <a:t>iOS</a:t>
            </a:r>
            <a:r>
              <a:rPr lang="en-US" dirty="0" smtClean="0"/>
              <a:t>, </a:t>
            </a:r>
            <a:r>
              <a:rPr lang="en-US" dirty="0" err="1" smtClean="0"/>
              <a:t>iPadOS</a:t>
            </a:r>
            <a:endParaRPr lang="en-US" dirty="0" smtClean="0"/>
          </a:p>
          <a:p>
            <a:r>
              <a:rPr lang="en-US" b="1" dirty="0" smtClean="0"/>
              <a:t>Key Features:</a:t>
            </a:r>
          </a:p>
          <a:p>
            <a:r>
              <a:rPr lang="en-US" dirty="0" smtClean="0"/>
              <a:t>Copy-on-Write</a:t>
            </a:r>
          </a:p>
          <a:p>
            <a:r>
              <a:rPr lang="en-US" dirty="0" smtClean="0"/>
              <a:t>Snapshots</a:t>
            </a:r>
          </a:p>
          <a:p>
            <a:r>
              <a:rPr lang="en-US" dirty="0" smtClean="0"/>
              <a:t>Strong encryption (multi-key encryption)</a:t>
            </a:r>
          </a:p>
          <a:p>
            <a:r>
              <a:rPr lang="en-US" dirty="0" smtClean="0"/>
              <a:t>Optimized for SSD</a:t>
            </a:r>
          </a:p>
          <a:p>
            <a:r>
              <a:rPr lang="en-US" dirty="0" smtClean="0"/>
              <a:t>Space sharing between volumes</a:t>
            </a:r>
          </a:p>
          <a:p>
            <a:r>
              <a:rPr lang="en-US" b="1" dirty="0" smtClean="0"/>
              <a:t>Special Focus:</a:t>
            </a:r>
          </a:p>
          <a:p>
            <a:r>
              <a:rPr lang="en-US" dirty="0" smtClean="0"/>
              <a:t>Designed mainly for SSDs and flash storage.</a:t>
            </a:r>
          </a:p>
          <a:p>
            <a:endParaRPr lang="en-US" dirty="0" smtClean="0"/>
          </a:p>
          <a:p>
            <a:endParaRPr lang="en-US" dirty="0" smtClean="0"/>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APFS (Apple File System)</a:t>
            </a:r>
            <a:br>
              <a:rPr lang="en-US" b="1" dirty="0" smtClean="0"/>
            </a:b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Copy-on-Write (</a:t>
            </a:r>
            <a:r>
              <a:rPr lang="en-US" b="1" dirty="0" err="1" smtClean="0"/>
              <a:t>CoW</a:t>
            </a:r>
            <a:r>
              <a:rPr lang="en-US" b="1" dirty="0" smtClean="0"/>
              <a:t>)</a:t>
            </a:r>
          </a:p>
          <a:p>
            <a:r>
              <a:rPr lang="en-US" dirty="0" smtClean="0"/>
              <a:t>APFS never overwrites metadata directly.</a:t>
            </a:r>
          </a:p>
          <a:p>
            <a:r>
              <a:rPr lang="en-US" dirty="0" smtClean="0"/>
              <a:t>When metadata changes:</a:t>
            </a:r>
          </a:p>
          <a:p>
            <a:r>
              <a:rPr lang="en-US" dirty="0" smtClean="0"/>
              <a:t>It writes the modified metadata to a new block</a:t>
            </a:r>
          </a:p>
          <a:p>
            <a:r>
              <a:rPr lang="en-US" dirty="0" smtClean="0"/>
              <a:t>Updates pointers</a:t>
            </a:r>
          </a:p>
          <a:p>
            <a:r>
              <a:rPr lang="en-US" dirty="0" smtClean="0"/>
              <a:t>Switches to new structure atomically</a:t>
            </a:r>
          </a:p>
          <a:p>
            <a:r>
              <a:rPr lang="en-US" dirty="0" smtClean="0"/>
              <a:t>Old blocks remain untouched until new write completes.</a:t>
            </a:r>
          </a:p>
          <a:p>
            <a:r>
              <a:rPr lang="en-US" b="1" dirty="0" smtClean="0"/>
              <a:t>Why Apple uses this:</a:t>
            </a:r>
          </a:p>
          <a:p>
            <a:r>
              <a:rPr lang="en-US" dirty="0" smtClean="0"/>
              <a:t>Prevents corruption during crashes</a:t>
            </a:r>
          </a:p>
          <a:p>
            <a:r>
              <a:rPr lang="en-US" dirty="0" smtClean="0"/>
              <a:t>Enables instant snapshots</a:t>
            </a:r>
          </a:p>
          <a:p>
            <a:r>
              <a:rPr lang="en-US" dirty="0" smtClean="0"/>
              <a:t>Makes </a:t>
            </a:r>
            <a:r>
              <a:rPr lang="en-US" dirty="0" err="1" smtClean="0"/>
              <a:t>filesystem</a:t>
            </a:r>
            <a:r>
              <a:rPr lang="en-US" dirty="0" smtClean="0"/>
              <a:t> consistent without </a:t>
            </a:r>
            <a:r>
              <a:rPr lang="en-US" dirty="0" err="1" smtClean="0"/>
              <a:t>fsck</a:t>
            </a:r>
            <a:endParaRPr lang="en-US" dirty="0" smtClean="0"/>
          </a:p>
          <a:p>
            <a:r>
              <a:rPr lang="en-US" dirty="0" smtClean="0"/>
              <a:t>Important:</a:t>
            </a:r>
            <a:br>
              <a:rPr lang="en-US" dirty="0" smtClean="0"/>
            </a:br>
            <a:r>
              <a:rPr lang="en-US" dirty="0" smtClean="0"/>
              <a:t>APFS mainly applies </a:t>
            </a:r>
            <a:r>
              <a:rPr lang="en-US" dirty="0" err="1" smtClean="0"/>
              <a:t>CoW</a:t>
            </a:r>
            <a:r>
              <a:rPr lang="en-US" dirty="0" smtClean="0"/>
              <a:t> to </a:t>
            </a:r>
            <a:r>
              <a:rPr lang="en-US" b="1" dirty="0" smtClean="0"/>
              <a:t>metadata</a:t>
            </a:r>
            <a:r>
              <a:rPr lang="en-US" dirty="0" smtClean="0"/>
              <a:t>, not aggressively to all file data like ZFS.</a:t>
            </a:r>
          </a:p>
          <a:p>
            <a:r>
              <a:rPr lang="en-US" dirty="0" smtClean="0"/>
              <a:t>That reduces fragmentation.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APFS (Apple File System)</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Snapshots</a:t>
            </a:r>
          </a:p>
          <a:p>
            <a:r>
              <a:rPr lang="en-US" dirty="0" smtClean="0"/>
              <a:t>Because of </a:t>
            </a:r>
            <a:r>
              <a:rPr lang="en-US" dirty="0" err="1" smtClean="0"/>
              <a:t>CoW</a:t>
            </a:r>
            <a:r>
              <a:rPr lang="en-US" dirty="0" smtClean="0"/>
              <a:t>:</a:t>
            </a:r>
          </a:p>
          <a:p>
            <a:r>
              <a:rPr lang="en-US" dirty="0" smtClean="0"/>
              <a:t>Snapshot = frozen reference to current </a:t>
            </a:r>
            <a:r>
              <a:rPr lang="en-US" dirty="0" err="1" smtClean="0"/>
              <a:t>filesystem</a:t>
            </a:r>
            <a:r>
              <a:rPr lang="en-US" dirty="0" smtClean="0"/>
              <a:t> state</a:t>
            </a:r>
          </a:p>
          <a:p>
            <a:r>
              <a:rPr lang="en-US" dirty="0" smtClean="0"/>
              <a:t>No full copy is made</a:t>
            </a:r>
          </a:p>
          <a:p>
            <a:r>
              <a:rPr lang="en-US" dirty="0" smtClean="0"/>
              <a:t>Takes almost zero time</a:t>
            </a:r>
          </a:p>
          <a:p>
            <a:r>
              <a:rPr lang="en-US" dirty="0" smtClean="0"/>
              <a:t>When changes happen:</a:t>
            </a:r>
          </a:p>
          <a:p>
            <a:r>
              <a:rPr lang="en-US" dirty="0" smtClean="0"/>
              <a:t>New blocks are written</a:t>
            </a:r>
          </a:p>
          <a:p>
            <a:r>
              <a:rPr lang="en-US" dirty="0" smtClean="0"/>
              <a:t>Snapshot still points to original blocks</a:t>
            </a:r>
          </a:p>
          <a:p>
            <a:r>
              <a:rPr lang="en-US" dirty="0" err="1" smtClean="0"/>
              <a:t>macOS</a:t>
            </a:r>
            <a:r>
              <a:rPr lang="en-US" dirty="0" smtClean="0"/>
              <a:t> uses this for:</a:t>
            </a:r>
          </a:p>
          <a:p>
            <a:r>
              <a:rPr lang="en-US" dirty="0" smtClean="0"/>
              <a:t>Time Machine backups</a:t>
            </a:r>
          </a:p>
          <a:p>
            <a:r>
              <a:rPr lang="en-US" dirty="0" smtClean="0"/>
              <a:t>System updates rollback</a:t>
            </a:r>
          </a:p>
          <a:p>
            <a:r>
              <a:rPr lang="en-US" dirty="0" smtClean="0"/>
              <a:t>Very efficient and space-saving.</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APFS (Apple File System)</a:t>
            </a:r>
            <a:br>
              <a:rPr lang="en-US" b="1" dirty="0" smtClean="0"/>
            </a:br>
            <a:endParaRPr lang="en-US" dirty="0"/>
          </a:p>
        </p:txBody>
      </p:sp>
      <p:sp>
        <p:nvSpPr>
          <p:cNvPr id="3" name="Content Placeholder 2"/>
          <p:cNvSpPr>
            <a:spLocks noGrp="1"/>
          </p:cNvSpPr>
          <p:nvPr>
            <p:ph idx="1"/>
          </p:nvPr>
        </p:nvSpPr>
        <p:spPr/>
        <p:txBody>
          <a:bodyPr>
            <a:normAutofit fontScale="55000" lnSpcReduction="20000"/>
          </a:bodyPr>
          <a:lstStyle/>
          <a:p>
            <a:r>
              <a:rPr lang="en-US" b="1" dirty="0" smtClean="0"/>
              <a:t>Strong Encryption (Multi-Key Encryption)</a:t>
            </a:r>
          </a:p>
          <a:p>
            <a:r>
              <a:rPr lang="en-US" dirty="0" smtClean="0"/>
              <a:t>This is where APFS shines.</a:t>
            </a:r>
          </a:p>
          <a:p>
            <a:r>
              <a:rPr lang="en-US" dirty="0" smtClean="0"/>
              <a:t>APFS supports:</a:t>
            </a:r>
          </a:p>
          <a:p>
            <a:r>
              <a:rPr lang="en-US" dirty="0" smtClean="0"/>
              <a:t>Per-volume encryption</a:t>
            </a:r>
          </a:p>
          <a:p>
            <a:r>
              <a:rPr lang="en-US" dirty="0" smtClean="0"/>
              <a:t>Per-file encryption</a:t>
            </a:r>
          </a:p>
          <a:p>
            <a:r>
              <a:rPr lang="en-US" dirty="0" smtClean="0"/>
              <a:t>Multiple encryption keys</a:t>
            </a:r>
          </a:p>
          <a:p>
            <a:r>
              <a:rPr lang="en-US" dirty="0" smtClean="0"/>
              <a:t>There are typically:</a:t>
            </a:r>
          </a:p>
          <a:p>
            <a:r>
              <a:rPr lang="en-US" dirty="0" smtClean="0"/>
              <a:t>One key for metadata</a:t>
            </a:r>
          </a:p>
          <a:p>
            <a:r>
              <a:rPr lang="en-US" dirty="0" smtClean="0"/>
              <a:t>One key per file</a:t>
            </a:r>
          </a:p>
          <a:p>
            <a:r>
              <a:rPr lang="en-US" dirty="0" smtClean="0"/>
              <a:t>So if one file key is compromised:</a:t>
            </a:r>
            <a:br>
              <a:rPr lang="en-US" dirty="0" smtClean="0"/>
            </a:br>
            <a:r>
              <a:rPr lang="en-US" dirty="0" smtClean="0"/>
              <a:t>→ Entire disk is not compromised.</a:t>
            </a:r>
          </a:p>
          <a:p>
            <a:r>
              <a:rPr lang="en-US" dirty="0" smtClean="0"/>
              <a:t>Encryption uses:</a:t>
            </a:r>
          </a:p>
          <a:p>
            <a:r>
              <a:rPr lang="en-US" dirty="0" smtClean="0"/>
              <a:t>AES-XTS</a:t>
            </a:r>
          </a:p>
          <a:p>
            <a:r>
              <a:rPr lang="en-US" dirty="0" smtClean="0"/>
              <a:t>Hardware acceleration (Apple Silicon)</a:t>
            </a:r>
          </a:p>
          <a:p>
            <a:r>
              <a:rPr lang="en-US" dirty="0" smtClean="0"/>
              <a:t>This makes </a:t>
            </a:r>
            <a:r>
              <a:rPr lang="en-US" dirty="0" err="1" smtClean="0"/>
              <a:t>iPhones</a:t>
            </a:r>
            <a:r>
              <a:rPr lang="en-US" dirty="0" smtClean="0"/>
              <a:t> and Macs extremely secure by default.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APFS (Apple File System)</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Optimized for SSD</a:t>
            </a:r>
          </a:p>
          <a:p>
            <a:r>
              <a:rPr lang="en-US" dirty="0" smtClean="0"/>
              <a:t>APFS was built specifically for flash storage.</a:t>
            </a:r>
          </a:p>
          <a:p>
            <a:r>
              <a:rPr lang="en-US" b="1" dirty="0" smtClean="0"/>
              <a:t>How?</a:t>
            </a:r>
          </a:p>
          <a:p>
            <a:r>
              <a:rPr lang="en-US" dirty="0" smtClean="0"/>
              <a:t>No traditional block rewriting pattern</a:t>
            </a:r>
          </a:p>
          <a:p>
            <a:r>
              <a:rPr lang="en-US" dirty="0" smtClean="0"/>
              <a:t>Minimizes write amplification</a:t>
            </a:r>
          </a:p>
          <a:p>
            <a:r>
              <a:rPr lang="en-US" dirty="0" smtClean="0"/>
              <a:t>Uses TRIM support</a:t>
            </a:r>
          </a:p>
          <a:p>
            <a:r>
              <a:rPr lang="en-US" dirty="0" smtClean="0"/>
              <a:t>Fast directory sizing</a:t>
            </a:r>
          </a:p>
          <a:p>
            <a:r>
              <a:rPr lang="en-US" dirty="0" smtClean="0"/>
              <a:t>Efficient space allocation</a:t>
            </a:r>
          </a:p>
          <a:p>
            <a:r>
              <a:rPr lang="en-US" dirty="0" smtClean="0"/>
              <a:t>Unlike older HFS+, which was HDD-focused.</a:t>
            </a:r>
          </a:p>
          <a:p>
            <a:r>
              <a:rPr lang="en-US" dirty="0" smtClean="0"/>
              <a:t>APFS avoids unnecessary disk seeks (important for SSD longevity).</a:t>
            </a:r>
          </a:p>
          <a:p>
            <a:endParaRPr lang="en-US" dirty="0" smtClean="0"/>
          </a:p>
          <a:p>
            <a:endParaRPr lang="en-US" dirty="0" smtClean="0"/>
          </a:p>
          <a:p>
            <a:endParaRPr lang="en-US" dirty="0" smtClean="0"/>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APFS (Apple File System)</a:t>
            </a:r>
            <a:br>
              <a:rPr lang="en-US" b="1" dirty="0" smtClean="0"/>
            </a:br>
            <a:endParaRPr lang="en-US" dirty="0"/>
          </a:p>
        </p:txBody>
      </p:sp>
      <p:sp>
        <p:nvSpPr>
          <p:cNvPr id="3" name="Content Placeholder 2"/>
          <p:cNvSpPr>
            <a:spLocks noGrp="1"/>
          </p:cNvSpPr>
          <p:nvPr>
            <p:ph idx="1"/>
          </p:nvPr>
        </p:nvSpPr>
        <p:spPr/>
        <p:txBody>
          <a:bodyPr>
            <a:normAutofit fontScale="47500" lnSpcReduction="20000"/>
          </a:bodyPr>
          <a:lstStyle/>
          <a:p>
            <a:r>
              <a:rPr lang="en-US" b="1" dirty="0" smtClean="0"/>
              <a:t>Space Sharing Between Volumes</a:t>
            </a:r>
          </a:p>
          <a:p>
            <a:r>
              <a:rPr lang="en-US" dirty="0" smtClean="0"/>
              <a:t>This is very clever.</a:t>
            </a:r>
          </a:p>
          <a:p>
            <a:r>
              <a:rPr lang="en-US" dirty="0" smtClean="0"/>
              <a:t>Traditional systems:</a:t>
            </a:r>
          </a:p>
          <a:p>
            <a:r>
              <a:rPr lang="en-US" dirty="0" smtClean="0"/>
              <a:t>You divide disk into fixed partitions</a:t>
            </a:r>
          </a:p>
          <a:p>
            <a:r>
              <a:rPr lang="en-US" dirty="0" smtClean="0"/>
              <a:t>Each partition has fixed size</a:t>
            </a:r>
          </a:p>
          <a:p>
            <a:r>
              <a:rPr lang="en-US" dirty="0" smtClean="0"/>
              <a:t>APFS:</a:t>
            </a:r>
          </a:p>
          <a:p>
            <a:r>
              <a:rPr lang="en-US" dirty="0" smtClean="0"/>
              <a:t>Creates a container</a:t>
            </a:r>
          </a:p>
          <a:p>
            <a:r>
              <a:rPr lang="en-US" dirty="0" smtClean="0"/>
              <a:t>Inside container → multiple volumes</a:t>
            </a:r>
          </a:p>
          <a:p>
            <a:r>
              <a:rPr lang="en-US" dirty="0" smtClean="0"/>
              <a:t>All volumes share same free space dynamically</a:t>
            </a:r>
          </a:p>
          <a:p>
            <a:r>
              <a:rPr lang="en-US" dirty="0" smtClean="0"/>
              <a:t>Example:</a:t>
            </a:r>
            <a:br>
              <a:rPr lang="en-US" dirty="0" smtClean="0"/>
            </a:br>
            <a:r>
              <a:rPr lang="en-US" dirty="0" smtClean="0"/>
              <a:t>You create:</a:t>
            </a:r>
          </a:p>
          <a:p>
            <a:r>
              <a:rPr lang="en-US" dirty="0" err="1" smtClean="0"/>
              <a:t>macOS</a:t>
            </a:r>
            <a:r>
              <a:rPr lang="en-US" dirty="0" smtClean="0"/>
              <a:t> volume</a:t>
            </a:r>
          </a:p>
          <a:p>
            <a:r>
              <a:rPr lang="en-US" dirty="0" smtClean="0"/>
              <a:t>Data volume</a:t>
            </a:r>
          </a:p>
          <a:p>
            <a:r>
              <a:rPr lang="en-US" dirty="0" smtClean="0"/>
              <a:t>Backup volume</a:t>
            </a:r>
          </a:p>
          <a:p>
            <a:r>
              <a:rPr lang="en-US" dirty="0" smtClean="0"/>
              <a:t>You don’t assign fixed sizes.</a:t>
            </a:r>
            <a:br>
              <a:rPr lang="en-US" dirty="0" smtClean="0"/>
            </a:br>
            <a:r>
              <a:rPr lang="en-US" dirty="0" smtClean="0"/>
              <a:t>They grow and shrink automatically based on usage.</a:t>
            </a:r>
          </a:p>
          <a:p>
            <a:r>
              <a:rPr lang="en-US" dirty="0" smtClean="0"/>
              <a:t>This avoids wasted space.</a:t>
            </a:r>
          </a:p>
          <a:p>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APFS (Apple File System)</a:t>
            </a:r>
            <a:br>
              <a:rPr lang="en-US" b="1" dirty="0" smtClean="0"/>
            </a:br>
            <a:endParaRPr lang="en-US" dirty="0"/>
          </a:p>
        </p:txBody>
      </p:sp>
      <p:sp>
        <p:nvSpPr>
          <p:cNvPr id="3" name="Content Placeholder 2"/>
          <p:cNvSpPr>
            <a:spLocks noGrp="1"/>
          </p:cNvSpPr>
          <p:nvPr>
            <p:ph idx="1"/>
          </p:nvPr>
        </p:nvSpPr>
        <p:spPr/>
        <p:txBody>
          <a:bodyPr/>
          <a:lstStyle/>
          <a:p>
            <a:r>
              <a:rPr lang="en-US" b="1" dirty="0" smtClean="0"/>
              <a:t>Pros:</a:t>
            </a:r>
          </a:p>
          <a:p>
            <a:r>
              <a:rPr lang="en-US" dirty="0" smtClean="0"/>
              <a:t>Fast metadata operations</a:t>
            </a:r>
          </a:p>
          <a:p>
            <a:r>
              <a:rPr lang="en-US" dirty="0" smtClean="0"/>
              <a:t>Strong encryption</a:t>
            </a:r>
          </a:p>
          <a:p>
            <a:r>
              <a:rPr lang="en-US" dirty="0" smtClean="0"/>
              <a:t>Native </a:t>
            </a:r>
            <a:r>
              <a:rPr lang="en-US" dirty="0" err="1" smtClean="0"/>
              <a:t>macOS</a:t>
            </a:r>
            <a:r>
              <a:rPr lang="en-US" dirty="0" smtClean="0"/>
              <a:t> integration</a:t>
            </a:r>
          </a:p>
          <a:p>
            <a:r>
              <a:rPr lang="en-US" b="1" dirty="0" smtClean="0"/>
              <a:t>Cons:</a:t>
            </a:r>
          </a:p>
          <a:p>
            <a:r>
              <a:rPr lang="en-US" dirty="0" smtClean="0"/>
              <a:t>Not open-source</a:t>
            </a:r>
          </a:p>
          <a:p>
            <a:r>
              <a:rPr lang="en-US" dirty="0" smtClean="0"/>
              <a:t>Limited cross-platform support</a:t>
            </a:r>
          </a:p>
          <a:p>
            <a:r>
              <a:rPr lang="en-US" dirty="0" smtClean="0"/>
              <a:t>Best for: Apple ecosystem devices.</a:t>
            </a:r>
          </a:p>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Scalability and Consistency Challenges in File and Storage Systems</a:t>
            </a:r>
            <a:endParaRPr lang="en-US" b="1" dirty="0"/>
          </a:p>
        </p:txBody>
      </p:sp>
      <p:sp>
        <p:nvSpPr>
          <p:cNvPr id="3" name="Content Placeholder 2"/>
          <p:cNvSpPr>
            <a:spLocks noGrp="1"/>
          </p:cNvSpPr>
          <p:nvPr>
            <p:ph idx="1"/>
          </p:nvPr>
        </p:nvSpPr>
        <p:spPr/>
        <p:txBody>
          <a:bodyPr numCol="2">
            <a:normAutofit fontScale="70000" lnSpcReduction="20000"/>
          </a:bodyPr>
          <a:lstStyle/>
          <a:p>
            <a:r>
              <a:rPr lang="en-US" dirty="0" smtClean="0"/>
              <a:t>Modern storage systems must handle massive data growth while ensuring reliability, performance, and consistency. However, achieving scalability and maintaining consistency simultaneously remains a significant challenge.</a:t>
            </a:r>
          </a:p>
          <a:p>
            <a:r>
              <a:rPr lang="en-US" b="1" dirty="0" smtClean="0"/>
              <a:t>1. Scalability Challenges</a:t>
            </a:r>
          </a:p>
          <a:p>
            <a:r>
              <a:rPr lang="en-US" dirty="0" smtClean="0"/>
              <a:t>Scalability refers to the system’s ability to handle increasing amounts of data, users, and workloads without performance degradation.</a:t>
            </a:r>
          </a:p>
          <a:p>
            <a:r>
              <a:rPr lang="en-US" b="1" dirty="0" smtClean="0"/>
              <a:t>a) Data Volume Explosion</a:t>
            </a:r>
          </a:p>
          <a:p>
            <a:r>
              <a:rPr lang="en-US" dirty="0" smtClean="0"/>
              <a:t>With cloud computing, </a:t>
            </a:r>
            <a:r>
              <a:rPr lang="en-US" dirty="0" err="1" smtClean="0"/>
              <a:t>IoT</a:t>
            </a:r>
            <a:r>
              <a:rPr lang="en-US" dirty="0" smtClean="0"/>
              <a:t>, AI, and big data applications, storage systems must manage </a:t>
            </a:r>
            <a:r>
              <a:rPr lang="en-US" dirty="0" err="1" smtClean="0"/>
              <a:t>petabytes</a:t>
            </a:r>
            <a:r>
              <a:rPr lang="en-US" dirty="0" smtClean="0"/>
              <a:t> to </a:t>
            </a:r>
            <a:r>
              <a:rPr lang="en-US" dirty="0" err="1" smtClean="0"/>
              <a:t>exabytes</a:t>
            </a:r>
            <a:r>
              <a:rPr lang="en-US" dirty="0" smtClean="0"/>
              <a:t> of data. Traditional centralized file systems struggle to scale efficiently.</a:t>
            </a:r>
          </a:p>
          <a:p>
            <a:r>
              <a:rPr lang="en-US" b="1" dirty="0" smtClean="0"/>
              <a:t>b) Distributed Storage Complexity</a:t>
            </a:r>
          </a:p>
          <a:p>
            <a:r>
              <a:rPr lang="en-US" dirty="0" smtClean="0"/>
              <a:t>Modern systems (e.g., HDFS, </a:t>
            </a:r>
            <a:r>
              <a:rPr lang="en-US" dirty="0" err="1" smtClean="0"/>
              <a:t>Ceph</a:t>
            </a:r>
            <a:r>
              <a:rPr lang="en-US" dirty="0" smtClean="0"/>
              <a:t>, Amazon S3) distribute data across multiple nodes. Challenges include:</a:t>
            </a:r>
          </a:p>
          <a:p>
            <a:r>
              <a:rPr lang="en-US" dirty="0" smtClean="0"/>
              <a:t>Data partitioning and replication management</a:t>
            </a:r>
          </a:p>
          <a:p>
            <a:r>
              <a:rPr lang="en-US" dirty="0" smtClean="0"/>
              <a:t>Network latency</a:t>
            </a:r>
          </a:p>
          <a:p>
            <a:r>
              <a:rPr lang="en-US" dirty="0" smtClean="0"/>
              <a:t>Node failures and fault tolerance</a:t>
            </a:r>
          </a:p>
          <a:p>
            <a:r>
              <a:rPr lang="en-US" b="1" dirty="0" smtClean="0"/>
              <a:t>c) Metadata Bottlenecks</a:t>
            </a:r>
          </a:p>
          <a:p>
            <a:r>
              <a:rPr lang="en-US" dirty="0" smtClean="0"/>
              <a:t>In distributed file systems, metadata servers can become bottlenecks when handling millions of file operations per second.</a:t>
            </a:r>
          </a:p>
          <a:p>
            <a:r>
              <a:rPr lang="en-US" b="1" dirty="0" smtClean="0"/>
              <a:t>d) Performance vs. Cost Trade-offs</a:t>
            </a:r>
          </a:p>
          <a:p>
            <a:r>
              <a:rPr lang="en-US" dirty="0" smtClean="0"/>
              <a:t>Scaling storage horizontally increases infrastructure cost, energy consumption, and management complexity.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Scalability and Consistency Challenges in File and Storage Systems</a:t>
            </a:r>
            <a:endParaRPr lang="en-US" dirty="0"/>
          </a:p>
        </p:txBody>
      </p:sp>
      <p:sp>
        <p:nvSpPr>
          <p:cNvPr id="3" name="Content Placeholder 2"/>
          <p:cNvSpPr>
            <a:spLocks noGrp="1"/>
          </p:cNvSpPr>
          <p:nvPr>
            <p:ph idx="1"/>
          </p:nvPr>
        </p:nvSpPr>
        <p:spPr/>
        <p:txBody>
          <a:bodyPr numCol="2">
            <a:normAutofit fontScale="62500" lnSpcReduction="20000"/>
          </a:bodyPr>
          <a:lstStyle/>
          <a:p>
            <a:r>
              <a:rPr lang="en-US" b="1" dirty="0" smtClean="0"/>
              <a:t>2. Consistency Challenges</a:t>
            </a:r>
          </a:p>
          <a:p>
            <a:r>
              <a:rPr lang="en-US" dirty="0" smtClean="0"/>
              <a:t>Consistency ensures that all users see the same version of data at the same time.</a:t>
            </a:r>
          </a:p>
          <a:p>
            <a:r>
              <a:rPr lang="en-US" b="1" dirty="0" smtClean="0"/>
              <a:t>a) CAP Theorem Limitation</a:t>
            </a:r>
          </a:p>
          <a:p>
            <a:r>
              <a:rPr lang="en-US" dirty="0" smtClean="0"/>
              <a:t>According to the CAP theorem, a distributed system can guarantee only two of the following:</a:t>
            </a:r>
          </a:p>
          <a:p>
            <a:r>
              <a:rPr lang="en-US" dirty="0" smtClean="0"/>
              <a:t>Consistency</a:t>
            </a:r>
          </a:p>
          <a:p>
            <a:r>
              <a:rPr lang="en-US" dirty="0" smtClean="0"/>
              <a:t>Availability</a:t>
            </a:r>
          </a:p>
          <a:p>
            <a:r>
              <a:rPr lang="en-US" dirty="0" smtClean="0"/>
              <a:t>Partition Tolerance</a:t>
            </a:r>
          </a:p>
          <a:p>
            <a:r>
              <a:rPr lang="en-US" dirty="0" smtClean="0"/>
              <a:t>Most large-scale systems prioritize availability and partition tolerance, sacrificing strong consistency (eventual consistency model).</a:t>
            </a:r>
          </a:p>
          <a:p>
            <a:r>
              <a:rPr lang="en-US" b="1" dirty="0" smtClean="0"/>
              <a:t>b) Replication Issues</a:t>
            </a:r>
          </a:p>
          <a:p>
            <a:r>
              <a:rPr lang="en-US" dirty="0" smtClean="0"/>
              <a:t>Data replication improves availability but creates synchronization challenges:</a:t>
            </a:r>
          </a:p>
          <a:p>
            <a:r>
              <a:rPr lang="en-US" dirty="0" smtClean="0"/>
              <a:t>Stale reads</a:t>
            </a:r>
          </a:p>
          <a:p>
            <a:r>
              <a:rPr lang="en-US" dirty="0" smtClean="0"/>
              <a:t>Write conflicts</a:t>
            </a:r>
          </a:p>
          <a:p>
            <a:r>
              <a:rPr lang="en-US" dirty="0" smtClean="0"/>
              <a:t>Replica divergence</a:t>
            </a:r>
          </a:p>
          <a:p>
            <a:r>
              <a:rPr lang="en-US" b="1" dirty="0" smtClean="0"/>
              <a:t>c) Concurrency Control</a:t>
            </a:r>
          </a:p>
          <a:p>
            <a:r>
              <a:rPr lang="en-US" dirty="0" smtClean="0"/>
              <a:t>Simultaneous read/write operations require mechanisms such as:</a:t>
            </a:r>
          </a:p>
          <a:p>
            <a:r>
              <a:rPr lang="en-US" dirty="0" smtClean="0"/>
              <a:t>Locking</a:t>
            </a:r>
          </a:p>
          <a:p>
            <a:r>
              <a:rPr lang="en-US" dirty="0" smtClean="0"/>
              <a:t>Versioning</a:t>
            </a:r>
          </a:p>
          <a:p>
            <a:r>
              <a:rPr lang="en-US" dirty="0" smtClean="0"/>
              <a:t>Consensus algorithms (e.g., </a:t>
            </a:r>
            <a:r>
              <a:rPr lang="en-US" dirty="0" err="1" smtClean="0"/>
              <a:t>Paxos</a:t>
            </a:r>
            <a:r>
              <a:rPr lang="en-US" dirty="0" smtClean="0"/>
              <a:t>, Raft)</a:t>
            </a:r>
          </a:p>
          <a:p>
            <a:r>
              <a:rPr lang="en-US" b="1" dirty="0" smtClean="0"/>
              <a:t>d) Latency Impact</a:t>
            </a:r>
          </a:p>
          <a:p>
            <a:r>
              <a:rPr lang="en-US" dirty="0" smtClean="0"/>
              <a:t>Stronger consistency models increase latency due to coordination between distributed nodes.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Scalability and Consistency Challenges in File and Storage Systems</a:t>
            </a:r>
            <a:endParaRPr lang="en-US" dirty="0"/>
          </a:p>
        </p:txBody>
      </p:sp>
      <p:sp>
        <p:nvSpPr>
          <p:cNvPr id="3" name="Content Placeholder 2"/>
          <p:cNvSpPr>
            <a:spLocks noGrp="1"/>
          </p:cNvSpPr>
          <p:nvPr>
            <p:ph idx="1"/>
          </p:nvPr>
        </p:nvSpPr>
        <p:spPr/>
        <p:txBody>
          <a:bodyPr/>
          <a:lstStyle/>
          <a:p>
            <a:r>
              <a:rPr lang="en-US" b="1" dirty="0" smtClean="0"/>
              <a:t>3. Balancing Scalability and Consistency</a:t>
            </a:r>
          </a:p>
          <a:p>
            <a:r>
              <a:rPr lang="en-US" dirty="0" smtClean="0"/>
              <a:t>Modern systems adopt hybrid approaches:</a:t>
            </a:r>
          </a:p>
          <a:p>
            <a:r>
              <a:rPr lang="en-US" dirty="0" smtClean="0"/>
              <a:t>Eventual consistency (e.g., </a:t>
            </a:r>
            <a:r>
              <a:rPr lang="en-US" dirty="0" err="1" smtClean="0"/>
              <a:t>NoSQL</a:t>
            </a:r>
            <a:r>
              <a:rPr lang="en-US" dirty="0" smtClean="0"/>
              <a:t> systems)</a:t>
            </a:r>
          </a:p>
          <a:p>
            <a:r>
              <a:rPr lang="en-US" dirty="0" smtClean="0"/>
              <a:t>Tunable consistency models</a:t>
            </a:r>
          </a:p>
          <a:p>
            <a:r>
              <a:rPr lang="en-US" dirty="0" smtClean="0"/>
              <a:t>Distributed consensus protocols</a:t>
            </a:r>
          </a:p>
          <a:p>
            <a:r>
              <a:rPr lang="en-US" dirty="0" err="1" smtClean="0"/>
              <a:t>Sharding</a:t>
            </a:r>
            <a:r>
              <a:rPr lang="en-US" dirty="0" smtClean="0"/>
              <a:t> with replication</a:t>
            </a:r>
          </a:p>
          <a:p>
            <a:r>
              <a:rPr lang="en-US" dirty="0" smtClean="0"/>
              <a:t>The challenge lies in designing systems that scale globally while maintaining acceptable levels of consistency and performance.</a:t>
            </a:r>
          </a:p>
          <a:p>
            <a:endParaRPr lang="en-US" dirty="0" smtClean="0"/>
          </a:p>
          <a:p>
            <a:endParaRPr lang="en-US" dirty="0" smtClean="0"/>
          </a:p>
          <a:p>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Case Studies: Emerging Storage Technologies</a:t>
            </a:r>
            <a:endParaRPr lang="en-US" b="1" dirty="0"/>
          </a:p>
        </p:txBody>
      </p:sp>
      <p:sp>
        <p:nvSpPr>
          <p:cNvPr id="3" name="Content Placeholder 2"/>
          <p:cNvSpPr>
            <a:spLocks noGrp="1"/>
          </p:cNvSpPr>
          <p:nvPr>
            <p:ph idx="1"/>
          </p:nvPr>
        </p:nvSpPr>
        <p:spPr/>
        <p:txBody>
          <a:bodyPr>
            <a:normAutofit fontScale="47500" lnSpcReduction="20000"/>
          </a:bodyPr>
          <a:lstStyle/>
          <a:p>
            <a:r>
              <a:rPr lang="en-US" b="1" dirty="0" smtClean="0"/>
              <a:t>1. DNA Storage</a:t>
            </a:r>
          </a:p>
          <a:p>
            <a:r>
              <a:rPr lang="en-US" b="1" dirty="0" smtClean="0"/>
              <a:t>Overview</a:t>
            </a:r>
          </a:p>
          <a:p>
            <a:r>
              <a:rPr lang="en-US" dirty="0" smtClean="0"/>
              <a:t>DNA storage encodes digital data into synthetic DNA sequences.</a:t>
            </a:r>
          </a:p>
          <a:p>
            <a:r>
              <a:rPr lang="en-US" b="1" dirty="0" smtClean="0"/>
              <a:t>How It Works</a:t>
            </a:r>
          </a:p>
          <a:p>
            <a:r>
              <a:rPr lang="en-US" dirty="0" smtClean="0"/>
              <a:t>Binary data → Converted into nucleotide sequences (A, T, C, G) → Synthesized into DNA strands → Stored → Sequenced to retrieve data.</a:t>
            </a:r>
          </a:p>
          <a:p>
            <a:r>
              <a:rPr lang="en-US" b="1" dirty="0" smtClean="0"/>
              <a:t>Advantages</a:t>
            </a:r>
          </a:p>
          <a:p>
            <a:r>
              <a:rPr lang="en-US" dirty="0" smtClean="0"/>
              <a:t>Extremely high storage density (1 gram can store ~215 </a:t>
            </a:r>
            <a:r>
              <a:rPr lang="en-US" dirty="0" err="1" smtClean="0"/>
              <a:t>petabytes</a:t>
            </a:r>
            <a:r>
              <a:rPr lang="en-US" dirty="0" smtClean="0"/>
              <a:t> theoretically)</a:t>
            </a:r>
          </a:p>
          <a:p>
            <a:r>
              <a:rPr lang="en-US" dirty="0" smtClean="0"/>
              <a:t>Long-term durability (thousands of years)</a:t>
            </a:r>
          </a:p>
          <a:p>
            <a:r>
              <a:rPr lang="en-US" dirty="0" smtClean="0"/>
              <a:t>Minimal physical space requirement</a:t>
            </a:r>
          </a:p>
          <a:p>
            <a:r>
              <a:rPr lang="en-US" b="1" dirty="0" smtClean="0"/>
              <a:t>Challenges</a:t>
            </a:r>
          </a:p>
          <a:p>
            <a:r>
              <a:rPr lang="en-US" dirty="0" smtClean="0"/>
              <a:t>Very high cost</a:t>
            </a:r>
          </a:p>
          <a:p>
            <a:r>
              <a:rPr lang="en-US" dirty="0" smtClean="0"/>
              <a:t>Slow read/write process</a:t>
            </a:r>
          </a:p>
          <a:p>
            <a:r>
              <a:rPr lang="en-US" dirty="0" smtClean="0"/>
              <a:t>Error correction complexity</a:t>
            </a:r>
          </a:p>
          <a:p>
            <a:r>
              <a:rPr lang="en-US" dirty="0" smtClean="0"/>
              <a:t>Not suitable for real-time access</a:t>
            </a:r>
          </a:p>
          <a:p>
            <a:r>
              <a:rPr lang="en-US" b="1" dirty="0" smtClean="0"/>
              <a:t>Use Case</a:t>
            </a:r>
          </a:p>
          <a:p>
            <a:r>
              <a:rPr lang="en-US" dirty="0" smtClean="0"/>
              <a:t>Archival storage for critical historical or scientific data.</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Case Studies: Emerging Storage Technologies</a:t>
            </a:r>
            <a:endParaRPr lang="en-US" b="1" dirty="0"/>
          </a:p>
        </p:txBody>
      </p:sp>
      <p:sp>
        <p:nvSpPr>
          <p:cNvPr id="3" name="Content Placeholder 2"/>
          <p:cNvSpPr>
            <a:spLocks noGrp="1"/>
          </p:cNvSpPr>
          <p:nvPr>
            <p:ph idx="1"/>
          </p:nvPr>
        </p:nvSpPr>
        <p:spPr/>
        <p:txBody>
          <a:bodyPr>
            <a:normAutofit fontScale="40000" lnSpcReduction="20000"/>
          </a:bodyPr>
          <a:lstStyle/>
          <a:p>
            <a:r>
              <a:rPr lang="en-US" b="1" dirty="0" smtClean="0"/>
              <a:t>2. Holographic Storage</a:t>
            </a:r>
          </a:p>
          <a:p>
            <a:r>
              <a:rPr lang="en-US" b="1" dirty="0" smtClean="0"/>
              <a:t>Overview</a:t>
            </a:r>
          </a:p>
          <a:p>
            <a:r>
              <a:rPr lang="en-US" dirty="0" smtClean="0"/>
              <a:t>Holographic storage uses laser beams to store data in 3D within a photosensitive medium.</a:t>
            </a:r>
          </a:p>
          <a:p>
            <a:r>
              <a:rPr lang="en-US" b="1" dirty="0" smtClean="0"/>
              <a:t>Key Features</a:t>
            </a:r>
          </a:p>
          <a:p>
            <a:r>
              <a:rPr lang="en-US" dirty="0" smtClean="0"/>
              <a:t>Data stored volumetrically (not just surface-level)</a:t>
            </a:r>
          </a:p>
          <a:p>
            <a:r>
              <a:rPr lang="en-US" dirty="0" smtClean="0"/>
              <a:t>High storage capacity</a:t>
            </a:r>
          </a:p>
          <a:p>
            <a:r>
              <a:rPr lang="en-US" dirty="0" smtClean="0"/>
              <a:t>Parallel data reading</a:t>
            </a:r>
          </a:p>
          <a:p>
            <a:r>
              <a:rPr lang="en-US" b="1" dirty="0" smtClean="0"/>
              <a:t>Advantages</a:t>
            </a:r>
          </a:p>
          <a:p>
            <a:r>
              <a:rPr lang="en-US" dirty="0" smtClean="0"/>
              <a:t>Faster data transfer rates</a:t>
            </a:r>
          </a:p>
          <a:p>
            <a:r>
              <a:rPr lang="en-US" dirty="0" smtClean="0"/>
              <a:t>Large capacity in compact size</a:t>
            </a:r>
          </a:p>
          <a:p>
            <a:r>
              <a:rPr lang="en-US" dirty="0" smtClean="0"/>
              <a:t>Potential for high durability</a:t>
            </a:r>
          </a:p>
          <a:p>
            <a:r>
              <a:rPr lang="en-US" b="1" dirty="0" smtClean="0"/>
              <a:t>Challenges</a:t>
            </a:r>
          </a:p>
          <a:p>
            <a:r>
              <a:rPr lang="en-US" dirty="0" smtClean="0"/>
              <a:t>Expensive hardware</a:t>
            </a:r>
          </a:p>
          <a:p>
            <a:r>
              <a:rPr lang="en-US" dirty="0" smtClean="0"/>
              <a:t>Sensitivity to environmental factors</a:t>
            </a:r>
          </a:p>
          <a:p>
            <a:r>
              <a:rPr lang="en-US" dirty="0" smtClean="0"/>
              <a:t>Commercial adoption is still limited</a:t>
            </a:r>
          </a:p>
          <a:p>
            <a:r>
              <a:rPr lang="en-US" b="1" dirty="0" smtClean="0"/>
              <a:t>Use Case</a:t>
            </a:r>
          </a:p>
          <a:p>
            <a:r>
              <a:rPr lang="en-US" dirty="0" smtClean="0"/>
              <a:t>Enterprise-level high-capacity storage.</a:t>
            </a:r>
          </a:p>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Case Studies: Emerging Storage Technologies</a:t>
            </a:r>
            <a:endParaRPr lang="en-US" b="1" dirty="0"/>
          </a:p>
        </p:txBody>
      </p:sp>
      <p:sp>
        <p:nvSpPr>
          <p:cNvPr id="3" name="Content Placeholder 2"/>
          <p:cNvSpPr>
            <a:spLocks noGrp="1"/>
          </p:cNvSpPr>
          <p:nvPr>
            <p:ph idx="1"/>
          </p:nvPr>
        </p:nvSpPr>
        <p:spPr/>
        <p:txBody>
          <a:bodyPr>
            <a:normAutofit fontScale="47500" lnSpcReduction="20000"/>
          </a:bodyPr>
          <a:lstStyle/>
          <a:p>
            <a:r>
              <a:rPr lang="en-US" b="1" dirty="0" smtClean="0"/>
              <a:t>3. Quantum Storage</a:t>
            </a:r>
          </a:p>
          <a:p>
            <a:r>
              <a:rPr lang="en-US" b="1" dirty="0" smtClean="0"/>
              <a:t>Overview</a:t>
            </a:r>
          </a:p>
          <a:p>
            <a:r>
              <a:rPr lang="en-US" dirty="0" smtClean="0"/>
              <a:t>Quantum storage stores data using quantum states (</a:t>
            </a:r>
            <a:r>
              <a:rPr lang="en-US" dirty="0" err="1" smtClean="0"/>
              <a:t>qubits</a:t>
            </a:r>
            <a:r>
              <a:rPr lang="en-US" dirty="0" smtClean="0"/>
              <a:t>).</a:t>
            </a:r>
          </a:p>
          <a:p>
            <a:r>
              <a:rPr lang="en-US" b="1" dirty="0" smtClean="0"/>
              <a:t>Key Concepts</a:t>
            </a:r>
          </a:p>
          <a:p>
            <a:r>
              <a:rPr lang="en-US" dirty="0" smtClean="0"/>
              <a:t>Superposition</a:t>
            </a:r>
          </a:p>
          <a:p>
            <a:r>
              <a:rPr lang="en-US" dirty="0" smtClean="0"/>
              <a:t>Entanglement</a:t>
            </a:r>
          </a:p>
          <a:p>
            <a:r>
              <a:rPr lang="en-US" dirty="0" smtClean="0"/>
              <a:t>Quantum memory</a:t>
            </a:r>
          </a:p>
          <a:p>
            <a:r>
              <a:rPr lang="en-US" b="1" dirty="0" smtClean="0"/>
              <a:t>Advantages</a:t>
            </a:r>
          </a:p>
          <a:p>
            <a:r>
              <a:rPr lang="en-US" dirty="0" smtClean="0"/>
              <a:t>Ultra-high computational integration</a:t>
            </a:r>
          </a:p>
          <a:p>
            <a:r>
              <a:rPr lang="en-US" dirty="0" smtClean="0"/>
              <a:t>Potential for revolutionary encryption and security</a:t>
            </a:r>
          </a:p>
          <a:p>
            <a:r>
              <a:rPr lang="en-US" b="1" dirty="0" smtClean="0"/>
              <a:t>Challenges</a:t>
            </a:r>
          </a:p>
          <a:p>
            <a:r>
              <a:rPr lang="en-US" dirty="0" smtClean="0"/>
              <a:t>Extremely unstable (</a:t>
            </a:r>
            <a:r>
              <a:rPr lang="en-US" dirty="0" err="1" smtClean="0"/>
              <a:t>decoherence</a:t>
            </a:r>
            <a:r>
              <a:rPr lang="en-US" dirty="0" smtClean="0"/>
              <a:t>)</a:t>
            </a:r>
          </a:p>
          <a:p>
            <a:r>
              <a:rPr lang="en-US" dirty="0" smtClean="0"/>
              <a:t>Requires near-zero temperature environments</a:t>
            </a:r>
          </a:p>
          <a:p>
            <a:r>
              <a:rPr lang="en-US" dirty="0" smtClean="0"/>
              <a:t>Very experimental and not commercially viable yet</a:t>
            </a:r>
          </a:p>
          <a:p>
            <a:r>
              <a:rPr lang="en-US" b="1" dirty="0" smtClean="0"/>
              <a:t>Use Case</a:t>
            </a:r>
          </a:p>
          <a:p>
            <a:r>
              <a:rPr lang="en-US" dirty="0" smtClean="0"/>
              <a:t>Future quantum computing systems.</a:t>
            </a:r>
          </a:p>
          <a:p>
            <a:endParaRPr lang="en-US" dirty="0" smtClean="0"/>
          </a:p>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Assignment</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smtClean="0"/>
              <a:t>Case Study Evaluation</a:t>
            </a:r>
          </a:p>
          <a:p>
            <a:r>
              <a:rPr lang="en-US" dirty="0" smtClean="0"/>
              <a:t>Students must analyze </a:t>
            </a:r>
            <a:r>
              <a:rPr lang="en-US" b="1" dirty="0" smtClean="0"/>
              <a:t>all three emerging storage technologies</a:t>
            </a:r>
            <a:r>
              <a:rPr lang="en-US" dirty="0" smtClean="0"/>
              <a:t>.</a:t>
            </a:r>
          </a:p>
          <a:p>
            <a:r>
              <a:rPr lang="en-US" dirty="0" smtClean="0"/>
              <a:t>For each technology (DNA, Holographic, Quantum Storage), discuss:</a:t>
            </a:r>
          </a:p>
          <a:p>
            <a:pPr lvl="1"/>
            <a:r>
              <a:rPr lang="en-US" dirty="0" smtClean="0"/>
              <a:t>Working Principle</a:t>
            </a:r>
          </a:p>
          <a:p>
            <a:pPr lvl="1"/>
            <a:r>
              <a:rPr lang="en-US" dirty="0" smtClean="0"/>
              <a:t>Technical Architecture (basic level)</a:t>
            </a:r>
          </a:p>
          <a:p>
            <a:pPr lvl="1"/>
            <a:r>
              <a:rPr lang="en-US" dirty="0" smtClean="0"/>
              <a:t>Storage Density &amp; Performance</a:t>
            </a:r>
          </a:p>
          <a:p>
            <a:pPr lvl="1"/>
            <a:r>
              <a:rPr lang="en-US" dirty="0" smtClean="0"/>
              <a:t>Practical Limitations</a:t>
            </a:r>
          </a:p>
          <a:p>
            <a:pPr lvl="1"/>
            <a:r>
              <a:rPr lang="en-US" dirty="0" smtClean="0"/>
              <a:t>Commercial Feasibility (Next 20 years?)</a:t>
            </a:r>
          </a:p>
          <a:p>
            <a:r>
              <a:rPr lang="en-US" dirty="0" smtClean="0"/>
              <a:t>Then answer:</a:t>
            </a:r>
          </a:p>
          <a:p>
            <a:pPr lvl="1"/>
            <a:r>
              <a:rPr lang="en-US" dirty="0" smtClean="0"/>
              <a:t>Which of these technologies is most likely to become commercially viable first? Justify with technical and economic reasoning.</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4326</TotalTime>
  <Words>4416</Words>
  <Application>Microsoft Office PowerPoint</Application>
  <PresentationFormat>Custom</PresentationFormat>
  <Paragraphs>867</Paragraphs>
  <Slides>88</Slides>
  <Notes>10</Notes>
  <HiddenSlides>0</HiddenSlides>
  <MMClips>0</MMClip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Office Theme</vt:lpstr>
      <vt:lpstr>Unit 4 File System and Storage Management  </vt:lpstr>
      <vt:lpstr>Introduction to File System</vt:lpstr>
      <vt:lpstr>Introduction to File System</vt:lpstr>
      <vt:lpstr>Files </vt:lpstr>
      <vt:lpstr>File Attributes</vt:lpstr>
      <vt:lpstr>File Attributes</vt:lpstr>
      <vt:lpstr>File Naming</vt:lpstr>
      <vt:lpstr>File Naming : extension</vt:lpstr>
      <vt:lpstr>File Naming : extension</vt:lpstr>
      <vt:lpstr>Some File extension and meaning in Windows</vt:lpstr>
      <vt:lpstr>File Operations</vt:lpstr>
      <vt:lpstr>File Operations</vt:lpstr>
      <vt:lpstr>File Operations</vt:lpstr>
      <vt:lpstr>File Access Methods</vt:lpstr>
      <vt:lpstr>File Access Methods</vt:lpstr>
      <vt:lpstr>File Access Methods</vt:lpstr>
      <vt:lpstr>File Access Methods</vt:lpstr>
      <vt:lpstr>File Access Methods</vt:lpstr>
      <vt:lpstr>File Access Methods</vt:lpstr>
      <vt:lpstr>Distributed File Systems (DFS) </vt:lpstr>
      <vt:lpstr>DFS DESIGN CHALLENGES</vt:lpstr>
      <vt:lpstr>DFS Architecture Models</vt:lpstr>
      <vt:lpstr>Hadoop Distributed File System (HDFS)</vt:lpstr>
      <vt:lpstr>Hadoop Distributed File System (HDFS)</vt:lpstr>
      <vt:lpstr>Hadoop Distributed File System (HDFS)</vt:lpstr>
      <vt:lpstr>Hadoop Distributed File System (HDFS)</vt:lpstr>
      <vt:lpstr>Hadoop Distributed File System (HDFS)</vt:lpstr>
      <vt:lpstr>Hadoop Distributed File System (HDFS)</vt:lpstr>
      <vt:lpstr>Hadoop Distributed File System (HDFS)</vt:lpstr>
      <vt:lpstr>Hadoop Distributed File System (HDFS)</vt:lpstr>
      <vt:lpstr>Hadoop Distributed File System (HDFS)</vt:lpstr>
      <vt:lpstr>GOOGLE FILE SYSTEM  (GFS)</vt:lpstr>
      <vt:lpstr>GOOGLE FILE SYSTEM  (GFS)</vt:lpstr>
      <vt:lpstr>GOOGLE FILE SYSTEM  (GFS)</vt:lpstr>
      <vt:lpstr>GOOGLE FILE SYSTEM  (GFS)</vt:lpstr>
      <vt:lpstr>Ceph</vt:lpstr>
      <vt:lpstr>Ceph</vt:lpstr>
      <vt:lpstr>Ceph</vt:lpstr>
      <vt:lpstr>Ceph</vt:lpstr>
      <vt:lpstr>Ceph</vt:lpstr>
      <vt:lpstr>Ceph</vt:lpstr>
      <vt:lpstr>Ceph</vt:lpstr>
      <vt:lpstr>Ceph</vt:lpstr>
      <vt:lpstr>Ceph</vt:lpstr>
      <vt:lpstr>Ceph</vt:lpstr>
      <vt:lpstr>SSDs (Solid State Drives)</vt:lpstr>
      <vt:lpstr>SSDs (Solid State Drives)</vt:lpstr>
      <vt:lpstr>Non Volatile Memory</vt:lpstr>
      <vt:lpstr>Persistent Memory</vt:lpstr>
      <vt:lpstr>Persistent Memory</vt:lpstr>
      <vt:lpstr> Persistent memory in Modern Systems</vt:lpstr>
      <vt:lpstr>ZFS (Zettabyte File System) </vt:lpstr>
      <vt:lpstr>ZFS (Zettabyte File System) </vt:lpstr>
      <vt:lpstr>ZFS (Zettabyte File System) </vt:lpstr>
      <vt:lpstr>ZFS (Zettabyte File System) </vt:lpstr>
      <vt:lpstr>ZFS (Zettabyte File System) </vt:lpstr>
      <vt:lpstr>ZFS (Zettabyte File System) </vt:lpstr>
      <vt:lpstr>ZFS (Zettabyte File System) </vt:lpstr>
      <vt:lpstr>ZFS (Zettabyte File System) </vt:lpstr>
      <vt:lpstr>Btrfs (B-tree File System) </vt:lpstr>
      <vt:lpstr>Btrfs (B-tree File System) </vt:lpstr>
      <vt:lpstr>Btrfs (B-tree File System) </vt:lpstr>
      <vt:lpstr>Btrfs (B-tree File System) </vt:lpstr>
      <vt:lpstr>Btrfs (B-tree File System) </vt:lpstr>
      <vt:lpstr>Btrfs (B-tree File System) </vt:lpstr>
      <vt:lpstr>Btrfs (B-tree File System) </vt:lpstr>
      <vt:lpstr>Btrfs (B-tree File System) </vt:lpstr>
      <vt:lpstr>Btrfs (B-tree File System) </vt:lpstr>
      <vt:lpstr>EXT4</vt:lpstr>
      <vt:lpstr>EXT4</vt:lpstr>
      <vt:lpstr>EXT4</vt:lpstr>
      <vt:lpstr>EXT4</vt:lpstr>
      <vt:lpstr>EXT4</vt:lpstr>
      <vt:lpstr>EXT4</vt:lpstr>
      <vt:lpstr>APFS (Apple File System) </vt:lpstr>
      <vt:lpstr>APFS (Apple File System) </vt:lpstr>
      <vt:lpstr>APFS (Apple File System) </vt:lpstr>
      <vt:lpstr>APFS (Apple File System) </vt:lpstr>
      <vt:lpstr>APFS (Apple File System) </vt:lpstr>
      <vt:lpstr>APFS (Apple File System) </vt:lpstr>
      <vt:lpstr>APFS (Apple File System) </vt:lpstr>
      <vt:lpstr>Scalability and Consistency Challenges in File and Storage Systems</vt:lpstr>
      <vt:lpstr>Scalability and Consistency Challenges in File and Storage Systems</vt:lpstr>
      <vt:lpstr>Scalability and Consistency Challenges in File and Storage Systems</vt:lpstr>
      <vt:lpstr>Case Studies: Emerging Storage Technologies</vt:lpstr>
      <vt:lpstr>Case Studies: Emerging Storage Technologies</vt:lpstr>
      <vt:lpstr>Case Studies: Emerging Storage Technologies</vt:lpstr>
      <vt:lpstr>Assignment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6 Input/Output Device Management</dc:title>
  <dc:creator>User</dc:creator>
  <cp:lastModifiedBy>Bishwadeep Mainaly</cp:lastModifiedBy>
  <cp:revision>377</cp:revision>
  <dcterms:created xsi:type="dcterms:W3CDTF">2022-02-17T03:06:27Z</dcterms:created>
  <dcterms:modified xsi:type="dcterms:W3CDTF">2026-02-04T04:15:16Z</dcterms:modified>
</cp:coreProperties>
</file>