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slides/slide79.xml" ContentType="application/vnd.openxmlformats-officedocument.presentationml.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sldIdLst>
    <p:sldId id="256" r:id="rId2"/>
    <p:sldId id="260" r:id="rId3"/>
    <p:sldId id="259" r:id="rId4"/>
    <p:sldId id="274" r:id="rId5"/>
    <p:sldId id="275" r:id="rId6"/>
    <p:sldId id="276" r:id="rId7"/>
    <p:sldId id="262" r:id="rId8"/>
    <p:sldId id="277" r:id="rId9"/>
    <p:sldId id="278" r:id="rId10"/>
    <p:sldId id="279" r:id="rId11"/>
    <p:sldId id="263" r:id="rId12"/>
    <p:sldId id="280" r:id="rId13"/>
    <p:sldId id="281" r:id="rId14"/>
    <p:sldId id="282" r:id="rId15"/>
    <p:sldId id="283" r:id="rId16"/>
    <p:sldId id="284" r:id="rId17"/>
    <p:sldId id="285" r:id="rId18"/>
    <p:sldId id="286" r:id="rId19"/>
    <p:sldId id="264" r:id="rId20"/>
    <p:sldId id="287" r:id="rId21"/>
    <p:sldId id="288" r:id="rId22"/>
    <p:sldId id="289" r:id="rId23"/>
    <p:sldId id="290" r:id="rId24"/>
    <p:sldId id="291" r:id="rId25"/>
    <p:sldId id="292" r:id="rId26"/>
    <p:sldId id="293" r:id="rId27"/>
    <p:sldId id="294" r:id="rId28"/>
    <p:sldId id="295" r:id="rId29"/>
    <p:sldId id="296" r:id="rId30"/>
    <p:sldId id="297" r:id="rId31"/>
    <p:sldId id="265" r:id="rId32"/>
    <p:sldId id="299" r:id="rId33"/>
    <p:sldId id="266" r:id="rId34"/>
    <p:sldId id="300" r:id="rId35"/>
    <p:sldId id="301" r:id="rId36"/>
    <p:sldId id="267" r:id="rId37"/>
    <p:sldId id="302" r:id="rId38"/>
    <p:sldId id="303" r:id="rId39"/>
    <p:sldId id="268" r:id="rId40"/>
    <p:sldId id="304" r:id="rId41"/>
    <p:sldId id="305" r:id="rId42"/>
    <p:sldId id="306" r:id="rId43"/>
    <p:sldId id="269" r:id="rId44"/>
    <p:sldId id="270" r:id="rId45"/>
    <p:sldId id="271" r:id="rId46"/>
    <p:sldId id="272" r:id="rId47"/>
    <p:sldId id="319" r:id="rId48"/>
    <p:sldId id="320" r:id="rId49"/>
    <p:sldId id="321" r:id="rId50"/>
    <p:sldId id="322"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25" r:id="rId64"/>
    <p:sldId id="32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p:scale>
          <a:sx n="50" d="100"/>
          <a:sy n="50" d="100"/>
        </p:scale>
        <p:origin x="-1736" y="-43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9AE3DE-6209-42AD-8A6E-8E57A0356BF2}" type="datetimeFigureOut">
              <a:rPr lang="en-US" smtClean="0"/>
              <a:pPr/>
              <a:t>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150BDF-7FD9-49BA-AEE8-68F31E71A0F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module, importance in modern multi-core and distributed systems.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challenges like cache sharing and load imbalance.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scheduling is critical for performance and fairness.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scheduling is critical for performance and fairness.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OS balances workload across cores.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OS balances workload across cores.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cache hierarchy and scheduling decisions.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NUMA architecture with an example.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user-level vs kernel-level threads.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user-level vs kernel-level threads.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importance in real-time systems.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wait() and signal() operations.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1"/>
            <a:r>
              <a:t>Explain producer-consumer example.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priority inversion problem.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adaptive methods improve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spinlock vs mutex.</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CAS and advantages.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F7578B9-5C8B-40E3-8793-514D243D3C17}" type="slidenum">
              <a:rPr lang="en-IN" smtClean="0"/>
              <a:pPr/>
              <a:t>65</a:t>
            </a:fld>
            <a:endParaRPr lang="en-IN"/>
          </a:p>
        </p:txBody>
      </p:sp>
    </p:spTree>
    <p:extLst>
      <p:ext uri="{BB962C8B-B14F-4D97-AF65-F5344CB8AC3E}">
        <p14:creationId xmlns:p14="http://schemas.microsoft.com/office/powerpoint/2010/main" xmlns="" val="2824533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www.cs.uic.edu/~ajayk/Chapter9.pdf"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cs.uic.edu/~ajayk/Chapter9.pdf"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www.geeksforgeeks.org/lamports-algorithm-for-mutual-exclusion-in-distributed-system" TargetMode="External"/><Relationship Id="rId2" Type="http://schemas.openxmlformats.org/officeDocument/2006/relationships/hyperlink" Target="https://www.cs.uic.edu/~ajayk/Chapter9.pdf" TargetMode="External"/><Relationship Id="rId1" Type="http://schemas.openxmlformats.org/officeDocument/2006/relationships/slideLayout" Target="../slideLayouts/slideLayout2.xml"/><Relationship Id="rId4" Type="http://schemas.openxmlformats.org/officeDocument/2006/relationships/hyperlink" Target="https://www.cs.fsu.edu/~xyuan/cop5611/lecture8.html"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Advanced Process Scheduling</a:t>
            </a:r>
            <a:endParaRPr/>
          </a:p>
        </p:txBody>
      </p:sp>
      <p:sp>
        <p:nvSpPr>
          <p:cNvPr id="3" name="Content Placeholder 2"/>
          <p:cNvSpPr>
            <a:spLocks noGrp="1"/>
          </p:cNvSpPr>
          <p:nvPr>
            <p:ph idx="1"/>
          </p:nvPr>
        </p:nvSpPr>
        <p:spPr/>
        <p:txBody>
          <a:bodyPr>
            <a:normAutofit fontScale="77500" lnSpcReduction="20000"/>
          </a:bodyPr>
          <a:lstStyle/>
          <a:p>
            <a:r>
              <a:rPr lang="en-US" dirty="0" smtClean="0"/>
              <a:t>Modern processors contain multiple CPU cores.</a:t>
            </a:r>
          </a:p>
          <a:p>
            <a:r>
              <a:rPr lang="en-US" dirty="0" smtClean="0"/>
              <a:t> The operating system scheduler must decide </a:t>
            </a:r>
            <a:r>
              <a:rPr lang="en-US" b="1" dirty="0" smtClean="0"/>
              <a:t>which process/thread runs on which core</a:t>
            </a:r>
            <a:r>
              <a:rPr lang="en-US" dirty="0" smtClean="0"/>
              <a:t>.</a:t>
            </a:r>
          </a:p>
          <a:p>
            <a:r>
              <a:rPr lang="en-US" b="1" dirty="0" smtClean="0"/>
              <a:t>Goals:</a:t>
            </a:r>
            <a:endParaRPr lang="en-US" dirty="0" smtClean="0"/>
          </a:p>
          <a:p>
            <a:pPr lvl="1"/>
            <a:r>
              <a:rPr lang="en-US" dirty="0" smtClean="0"/>
              <a:t>Maximize CPU utilization</a:t>
            </a:r>
          </a:p>
          <a:p>
            <a:pPr lvl="1"/>
            <a:r>
              <a:rPr lang="en-US" dirty="0" smtClean="0"/>
              <a:t>Reduce response time</a:t>
            </a:r>
          </a:p>
          <a:p>
            <a:pPr lvl="1"/>
            <a:r>
              <a:rPr lang="en-US" dirty="0" smtClean="0"/>
              <a:t>Improve throughput</a:t>
            </a:r>
          </a:p>
          <a:p>
            <a:pPr lvl="1"/>
            <a:r>
              <a:rPr lang="en-US" dirty="0" smtClean="0"/>
              <a:t>Maintain fairness</a:t>
            </a:r>
          </a:p>
          <a:p>
            <a:r>
              <a:rPr lang="en-US" b="1" dirty="0" smtClean="0"/>
              <a:t>Challenges:</a:t>
            </a:r>
            <a:endParaRPr lang="en-US" dirty="0" smtClean="0"/>
          </a:p>
          <a:p>
            <a:pPr lvl="1"/>
            <a:r>
              <a:rPr lang="en-US" dirty="0" smtClean="0"/>
              <a:t>Load imbalance</a:t>
            </a:r>
          </a:p>
          <a:p>
            <a:pPr lvl="1"/>
            <a:r>
              <a:rPr lang="en-US" dirty="0" smtClean="0"/>
              <a:t>Cache coherence overhead</a:t>
            </a:r>
          </a:p>
          <a:p>
            <a:pPr lvl="1"/>
            <a:r>
              <a:rPr lang="en-US" dirty="0" smtClean="0"/>
              <a:t>Memory access latency</a:t>
            </a:r>
          </a:p>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Multi-core Scheduling</a:t>
            </a:r>
          </a:p>
        </p:txBody>
      </p:sp>
      <p:sp>
        <p:nvSpPr>
          <p:cNvPr id="3" name="Content Placeholder 2"/>
          <p:cNvSpPr>
            <a:spLocks noGrp="1"/>
          </p:cNvSpPr>
          <p:nvPr>
            <p:ph idx="1"/>
          </p:nvPr>
        </p:nvSpPr>
        <p:spPr/>
        <p:txBody>
          <a:bodyPr/>
          <a:lstStyle/>
          <a:p>
            <a:r>
              <a:rPr lang="en-US" dirty="0" smtClean="0"/>
              <a:t>Multiple CPU cores available</a:t>
            </a:r>
          </a:p>
          <a:p>
            <a:r>
              <a:rPr lang="en-US" dirty="0" smtClean="0"/>
              <a:t>Challenges:</a:t>
            </a:r>
          </a:p>
          <a:p>
            <a:pPr lvl="1"/>
            <a:r>
              <a:rPr lang="en-US" dirty="0" smtClean="0"/>
              <a:t>Load imbalance</a:t>
            </a:r>
          </a:p>
          <a:p>
            <a:pPr lvl="1"/>
            <a:r>
              <a:rPr lang="en-US" dirty="0" smtClean="0"/>
              <a:t>Cache coherence</a:t>
            </a:r>
          </a:p>
          <a:p>
            <a:pPr lvl="1"/>
            <a:r>
              <a:rPr lang="en-US" dirty="0" smtClean="0"/>
              <a:t>Memory access latency</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Processor Affinity-Based Scheduling</a:t>
            </a:r>
            <a:endParaRPr/>
          </a:p>
        </p:txBody>
      </p:sp>
      <p:sp>
        <p:nvSpPr>
          <p:cNvPr id="3" name="Content Placeholder 2"/>
          <p:cNvSpPr>
            <a:spLocks noGrp="1"/>
          </p:cNvSpPr>
          <p:nvPr>
            <p:ph idx="1"/>
          </p:nvPr>
        </p:nvSpPr>
        <p:spPr/>
        <p:txBody>
          <a:bodyPr>
            <a:normAutofit fontScale="85000" lnSpcReduction="20000"/>
          </a:bodyPr>
          <a:lstStyle/>
          <a:p>
            <a:r>
              <a:rPr lang="en-US" b="1" dirty="0" smtClean="0"/>
              <a:t>Processor affinity</a:t>
            </a:r>
            <a:r>
              <a:rPr lang="en-US" dirty="0" smtClean="0"/>
              <a:t> means binding a process to a specific CPU core.</a:t>
            </a:r>
          </a:p>
          <a:p>
            <a:r>
              <a:rPr lang="en-US" b="1" dirty="0" smtClean="0"/>
              <a:t>Types:</a:t>
            </a:r>
            <a:endParaRPr lang="en-US" dirty="0" smtClean="0"/>
          </a:p>
          <a:p>
            <a:pPr lvl="1"/>
            <a:r>
              <a:rPr lang="en-US" b="1" dirty="0" smtClean="0"/>
              <a:t>Soft Affinity:</a:t>
            </a:r>
            <a:r>
              <a:rPr lang="en-US" dirty="0" smtClean="0"/>
              <a:t> OS tries to keep process on same core</a:t>
            </a:r>
          </a:p>
          <a:p>
            <a:pPr lvl="1"/>
            <a:r>
              <a:rPr lang="en-US" b="1" dirty="0" smtClean="0"/>
              <a:t>Hard Affinity:</a:t>
            </a:r>
            <a:r>
              <a:rPr lang="en-US" dirty="0" smtClean="0"/>
              <a:t> Process is forced to run on a fixed core</a:t>
            </a:r>
          </a:p>
          <a:p>
            <a:r>
              <a:rPr lang="en-US" b="1" dirty="0" smtClean="0"/>
              <a:t>Advantages:</a:t>
            </a:r>
            <a:endParaRPr lang="en-US" dirty="0" smtClean="0"/>
          </a:p>
          <a:p>
            <a:pPr lvl="1"/>
            <a:r>
              <a:rPr lang="en-US" dirty="0" smtClean="0"/>
              <a:t>Better cache locality</a:t>
            </a:r>
          </a:p>
          <a:p>
            <a:pPr lvl="1"/>
            <a:r>
              <a:rPr lang="en-US" dirty="0" smtClean="0"/>
              <a:t>Reduced cache misses</a:t>
            </a:r>
          </a:p>
          <a:p>
            <a:pPr lvl="1"/>
            <a:r>
              <a:rPr lang="en-US" dirty="0" smtClean="0"/>
              <a:t>Improved performance</a:t>
            </a:r>
          </a:p>
          <a:p>
            <a:r>
              <a:rPr lang="en-US" b="1" dirty="0" smtClean="0"/>
              <a:t>Example:</a:t>
            </a:r>
            <a:r>
              <a:rPr lang="en-US" dirty="0" smtClean="0"/>
              <a:t> If Process P runs on Core 1 repeatedly, its data remains in cache → faster execution.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Processor Affinity-Based Scheduling</a:t>
            </a:r>
            <a:endParaRPr/>
          </a:p>
        </p:txBody>
      </p:sp>
      <p:sp>
        <p:nvSpPr>
          <p:cNvPr id="3" name="Content Placeholder 2"/>
          <p:cNvSpPr>
            <a:spLocks noGrp="1"/>
          </p:cNvSpPr>
          <p:nvPr>
            <p:ph idx="1"/>
          </p:nvPr>
        </p:nvSpPr>
        <p:spPr/>
        <p:txBody>
          <a:bodyPr>
            <a:normAutofit/>
          </a:bodyPr>
          <a:lstStyle/>
          <a:p>
            <a:r>
              <a:rPr lang="en-US" b="1" dirty="0" smtClean="0"/>
              <a:t>Problems without affinity</a:t>
            </a:r>
          </a:p>
          <a:p>
            <a:pPr lvl="1"/>
            <a:r>
              <a:rPr lang="en-US" dirty="0" smtClean="0"/>
              <a:t>Threads migrate between cores</a:t>
            </a:r>
          </a:p>
          <a:p>
            <a:pPr lvl="1"/>
            <a:r>
              <a:rPr lang="en-US" dirty="0" smtClean="0"/>
              <a:t>Cache contents are lost → </a:t>
            </a:r>
            <a:r>
              <a:rPr lang="en-US" b="1" dirty="0" smtClean="0"/>
              <a:t>cache misses</a:t>
            </a:r>
            <a:endParaRPr lang="en-US" dirty="0" smtClean="0"/>
          </a:p>
          <a:p>
            <a:pPr lvl="1"/>
            <a:r>
              <a:rPr lang="en-US" dirty="0" smtClean="0"/>
              <a:t>NUMA systems may cause </a:t>
            </a:r>
            <a:r>
              <a:rPr lang="en-US" b="1" dirty="0" smtClean="0"/>
              <a:t>remote memory access</a:t>
            </a:r>
            <a:endParaRPr lang="en-US" dirty="0" smtClean="0"/>
          </a:p>
          <a:p>
            <a:r>
              <a:rPr lang="en-US" dirty="0" smtClean="0"/>
              <a:t>Real Time System Usage</a:t>
            </a:r>
          </a:p>
          <a:p>
            <a:pPr lvl="1"/>
            <a:r>
              <a:rPr lang="en-US" dirty="0" smtClean="0"/>
              <a:t>Linux: </a:t>
            </a:r>
            <a:r>
              <a:rPr lang="en-US" dirty="0" err="1" smtClean="0"/>
              <a:t>taskset</a:t>
            </a:r>
            <a:r>
              <a:rPr lang="en-US" dirty="0" smtClean="0"/>
              <a:t> -c 2 </a:t>
            </a:r>
            <a:r>
              <a:rPr lang="en-US" dirty="0" err="1" smtClean="0"/>
              <a:t>myprogram</a:t>
            </a:r>
            <a:endParaRPr lang="en-US" dirty="0" smtClean="0"/>
          </a:p>
          <a:p>
            <a:pPr lvl="1"/>
            <a:r>
              <a:rPr lang="en-US" dirty="0" smtClean="0"/>
              <a:t>Windows: </a:t>
            </a:r>
            <a:r>
              <a:rPr lang="en-US" dirty="0" err="1" smtClean="0"/>
              <a:t>SetProcessAffinityMask</a:t>
            </a:r>
            <a:r>
              <a:rPr lang="en-US" dirty="0" smtClean="0"/>
              <a: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When Processor Affinity Should Be Used</a:t>
            </a:r>
            <a:endParaRPr lang="en-US" dirty="0"/>
          </a:p>
        </p:txBody>
      </p:sp>
      <p:sp>
        <p:nvSpPr>
          <p:cNvPr id="3" name="Content Placeholder 2"/>
          <p:cNvSpPr>
            <a:spLocks noGrp="1"/>
          </p:cNvSpPr>
          <p:nvPr>
            <p:ph idx="1"/>
          </p:nvPr>
        </p:nvSpPr>
        <p:spPr/>
        <p:txBody>
          <a:bodyPr/>
          <a:lstStyle/>
          <a:p>
            <a:r>
              <a:rPr lang="en-US" dirty="0" smtClean="0"/>
              <a:t>Real-time applications</a:t>
            </a:r>
          </a:p>
          <a:p>
            <a:r>
              <a:rPr lang="en-US" dirty="0" smtClean="0"/>
              <a:t>High-performance computing</a:t>
            </a:r>
          </a:p>
          <a:p>
            <a:r>
              <a:rPr lang="en-US" dirty="0" smtClean="0"/>
              <a:t>Database servers</a:t>
            </a:r>
          </a:p>
          <a:p>
            <a:r>
              <a:rPr lang="en-US" dirty="0" smtClean="0"/>
              <a:t>Multimedia processing</a:t>
            </a:r>
          </a:p>
          <a:p>
            <a:r>
              <a:rPr lang="en-US" dirty="0" smtClean="0"/>
              <a:t>NUMA systems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When process Affinity not to be used</a:t>
            </a:r>
            <a:endParaRPr lang="en-US" dirty="0"/>
          </a:p>
        </p:txBody>
      </p:sp>
      <p:sp>
        <p:nvSpPr>
          <p:cNvPr id="3" name="Content Placeholder 2"/>
          <p:cNvSpPr>
            <a:spLocks noGrp="1"/>
          </p:cNvSpPr>
          <p:nvPr>
            <p:ph idx="1"/>
          </p:nvPr>
        </p:nvSpPr>
        <p:spPr/>
        <p:txBody>
          <a:bodyPr/>
          <a:lstStyle/>
          <a:p>
            <a:r>
              <a:rPr lang="en-US" dirty="0" smtClean="0"/>
              <a:t>General-purpose workloads</a:t>
            </a:r>
          </a:p>
          <a:p>
            <a:r>
              <a:rPr lang="en-US" dirty="0" smtClean="0"/>
              <a:t>Systems with uneven load</a:t>
            </a:r>
          </a:p>
          <a:p>
            <a:r>
              <a:rPr lang="en-US" dirty="0" smtClean="0"/>
              <a:t>When flexibility is needed for load balancing</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Load Balancing</a:t>
            </a:r>
          </a:p>
        </p:txBody>
      </p:sp>
      <p:sp>
        <p:nvSpPr>
          <p:cNvPr id="3" name="Content Placeholder 2"/>
          <p:cNvSpPr>
            <a:spLocks noGrp="1"/>
          </p:cNvSpPr>
          <p:nvPr>
            <p:ph idx="1"/>
          </p:nvPr>
        </p:nvSpPr>
        <p:spPr/>
        <p:txBody>
          <a:bodyPr/>
          <a:lstStyle/>
          <a:p>
            <a:r>
              <a:rPr lang="en-US" dirty="0" smtClean="0"/>
              <a:t>Distributes workload evenly across cores</a:t>
            </a:r>
          </a:p>
          <a:p>
            <a:r>
              <a:rPr lang="en-US" dirty="0" smtClean="0"/>
              <a:t>Types:</a:t>
            </a:r>
          </a:p>
          <a:p>
            <a:pPr lvl="1"/>
            <a:r>
              <a:rPr lang="en-US" dirty="0" smtClean="0"/>
              <a:t>Static load balancing</a:t>
            </a:r>
          </a:p>
          <a:p>
            <a:pPr lvl="1"/>
            <a:r>
              <a:rPr lang="en-US" dirty="0" smtClean="0"/>
              <a:t>Dynamic load balancing</a:t>
            </a:r>
          </a:p>
          <a:p>
            <a:r>
              <a:rPr lang="en-US" dirty="0" smtClean="0"/>
              <a:t>Goal: </a:t>
            </a:r>
          </a:p>
          <a:p>
            <a:pPr lvl="1"/>
            <a:r>
              <a:rPr lang="en-US" dirty="0" smtClean="0"/>
              <a:t>Avoid idle CPUs while others are overloaded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a:t>
            </a:r>
            <a:r>
              <a:rPr smtClean="0"/>
              <a:t>Load </a:t>
            </a:r>
            <a:r>
              <a:t>Balancing</a:t>
            </a:r>
          </a:p>
        </p:txBody>
      </p:sp>
      <p:sp>
        <p:nvSpPr>
          <p:cNvPr id="3" name="Content Placeholder 2"/>
          <p:cNvSpPr>
            <a:spLocks noGrp="1"/>
          </p:cNvSpPr>
          <p:nvPr>
            <p:ph idx="1"/>
          </p:nvPr>
        </p:nvSpPr>
        <p:spPr/>
        <p:txBody>
          <a:bodyPr>
            <a:normAutofit fontScale="70000" lnSpcReduction="20000"/>
          </a:bodyPr>
          <a:lstStyle/>
          <a:p>
            <a:pPr>
              <a:buNone/>
            </a:pPr>
            <a:r>
              <a:rPr lang="en-US" b="1" dirty="0" smtClean="0"/>
              <a:t>Description</a:t>
            </a:r>
          </a:p>
          <a:p>
            <a:r>
              <a:rPr lang="en-US" dirty="0" smtClean="0"/>
              <a:t>Decisions made </a:t>
            </a:r>
            <a:r>
              <a:rPr lang="en-US" b="1" dirty="0" smtClean="0"/>
              <a:t>before execution</a:t>
            </a:r>
            <a:endParaRPr lang="en-US" dirty="0" smtClean="0"/>
          </a:p>
          <a:p>
            <a:r>
              <a:rPr lang="en-US" dirty="0" smtClean="0"/>
              <a:t>No runtime migration</a:t>
            </a:r>
          </a:p>
          <a:p>
            <a:pPr>
              <a:buNone/>
            </a:pPr>
            <a:r>
              <a:rPr lang="en-US" b="1" dirty="0" smtClean="0"/>
              <a:t>Techniques</a:t>
            </a:r>
          </a:p>
          <a:p>
            <a:r>
              <a:rPr lang="en-US" b="1" dirty="0" smtClean="0"/>
              <a:t>Round Robin Assignment</a:t>
            </a:r>
            <a:endParaRPr lang="en-US" dirty="0" smtClean="0"/>
          </a:p>
          <a:p>
            <a:r>
              <a:rPr lang="en-US" b="1" dirty="0" smtClean="0"/>
              <a:t>Compile-time partitioning</a:t>
            </a:r>
            <a:endParaRPr lang="en-US" dirty="0" smtClean="0"/>
          </a:p>
          <a:p>
            <a:pPr>
              <a:buNone/>
            </a:pPr>
            <a:r>
              <a:rPr lang="en-US" b="1" dirty="0" smtClean="0"/>
              <a:t>Example</a:t>
            </a:r>
          </a:p>
          <a:p>
            <a:r>
              <a:rPr lang="en-US" dirty="0" smtClean="0"/>
              <a:t>4 cores, 8 tasks</a:t>
            </a:r>
          </a:p>
          <a:p>
            <a:r>
              <a:rPr lang="en-US" dirty="0" smtClean="0"/>
              <a:t>Each core gets 2 tasks permanently</a:t>
            </a:r>
          </a:p>
          <a:p>
            <a:pPr>
              <a:buNone/>
            </a:pPr>
            <a:r>
              <a:rPr lang="en-US" b="1" dirty="0" smtClean="0"/>
              <a:t>Pros </a:t>
            </a:r>
          </a:p>
          <a:p>
            <a:r>
              <a:rPr lang="en-US" dirty="0" smtClean="0"/>
              <a:t>Low overhead</a:t>
            </a:r>
          </a:p>
          <a:p>
            <a:pPr>
              <a:buNone/>
            </a:pPr>
            <a:r>
              <a:rPr lang="en-US" b="1" dirty="0" smtClean="0"/>
              <a:t>Cons</a:t>
            </a:r>
          </a:p>
          <a:p>
            <a:r>
              <a:rPr lang="en-US" dirty="0" smtClean="0"/>
              <a:t>Cannot adapt to workload changes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Load balancing</a:t>
            </a:r>
            <a:endParaRPr lang="en-US" dirty="0"/>
          </a:p>
        </p:txBody>
      </p:sp>
      <p:sp>
        <p:nvSpPr>
          <p:cNvPr id="3" name="Content Placeholder 2"/>
          <p:cNvSpPr>
            <a:spLocks noGrp="1"/>
          </p:cNvSpPr>
          <p:nvPr>
            <p:ph idx="1"/>
          </p:nvPr>
        </p:nvSpPr>
        <p:spPr/>
        <p:txBody>
          <a:bodyPr>
            <a:normAutofit/>
          </a:bodyPr>
          <a:lstStyle/>
          <a:p>
            <a:pPr>
              <a:buNone/>
            </a:pPr>
            <a:r>
              <a:rPr lang="en-US" b="1" dirty="0" smtClean="0"/>
              <a:t>Description</a:t>
            </a:r>
          </a:p>
          <a:p>
            <a:r>
              <a:rPr lang="en-US" dirty="0" smtClean="0"/>
              <a:t>Tasks are redistributed </a:t>
            </a:r>
            <a:r>
              <a:rPr lang="en-US" b="1" dirty="0" smtClean="0"/>
              <a:t>at runtime</a:t>
            </a:r>
            <a:endParaRPr lang="en-US" dirty="0" smtClean="0"/>
          </a:p>
          <a:p>
            <a:r>
              <a:rPr lang="en-US" dirty="0" smtClean="0"/>
              <a:t>Uses task migration</a:t>
            </a:r>
          </a:p>
          <a:p>
            <a:endParaRPr lang="en-US" dirty="0" smtClean="0"/>
          </a:p>
          <a:p>
            <a:r>
              <a:rPr lang="en-US" dirty="0" smtClean="0"/>
              <a:t>Load balancing techniques distribute workload across processors to maximize utilization while minimizing migration and memory access cost.</a:t>
            </a:r>
          </a:p>
          <a:p>
            <a:endParaRPr lang="en-US" dirty="0" smtClean="0"/>
          </a:p>
          <a:p>
            <a:endParaRPr lang="en-US" dirty="0" smtClean="0"/>
          </a:p>
          <a:p>
            <a:endParaRPr lang="en-US" dirty="0" smtClean="0"/>
          </a:p>
          <a:p>
            <a:endParaRPr lang="en-US" dirty="0" smtClean="0"/>
          </a:p>
          <a:p>
            <a:endParaRPr lang="en-US" dirty="0" smtClean="0"/>
          </a:p>
          <a:p>
            <a:pPr>
              <a:buNone/>
            </a:pPr>
            <a:endParaRPr lang="en-US" dirty="0" smtClean="0"/>
          </a:p>
          <a:p>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Load balancing</a:t>
            </a:r>
            <a:endParaRPr lang="en-US" dirty="0"/>
          </a:p>
        </p:txBody>
      </p:sp>
      <p:sp>
        <p:nvSpPr>
          <p:cNvPr id="3" name="Content Placeholder 2"/>
          <p:cNvSpPr>
            <a:spLocks noGrp="1"/>
          </p:cNvSpPr>
          <p:nvPr>
            <p:ph idx="1"/>
          </p:nvPr>
        </p:nvSpPr>
        <p:spPr/>
        <p:txBody>
          <a:bodyPr>
            <a:normAutofit fontScale="62500" lnSpcReduction="20000"/>
          </a:bodyPr>
          <a:lstStyle/>
          <a:p>
            <a:pPr>
              <a:buNone/>
            </a:pPr>
            <a:endParaRPr lang="en-US" dirty="0" smtClean="0"/>
          </a:p>
          <a:p>
            <a:endParaRPr lang="en-US" dirty="0" smtClean="0"/>
          </a:p>
          <a:p>
            <a:endParaRPr lang="en-US" dirty="0" smtClean="0"/>
          </a:p>
          <a:p>
            <a:endParaRPr lang="en-US" dirty="0" smtClean="0"/>
          </a:p>
          <a:p>
            <a:endParaRPr lang="en-US" dirty="0" smtClean="0"/>
          </a:p>
          <a:p>
            <a:r>
              <a:rPr lang="en-US" b="1" dirty="0" smtClean="0"/>
              <a:t>Push Migration</a:t>
            </a:r>
            <a:r>
              <a:rPr lang="en-US" dirty="0" smtClean="0"/>
              <a:t>: Scheduler moves tasks from C0 → C2</a:t>
            </a:r>
          </a:p>
          <a:p>
            <a:r>
              <a:rPr lang="en-US" b="1" dirty="0" smtClean="0"/>
              <a:t>Pull Migration</a:t>
            </a:r>
            <a:r>
              <a:rPr lang="en-US" dirty="0" smtClean="0"/>
              <a:t>: Core C3 is </a:t>
            </a:r>
            <a:r>
              <a:rPr lang="en-US" dirty="0" err="1" smtClean="0"/>
              <a:t>idle.It</a:t>
            </a:r>
            <a:r>
              <a:rPr lang="en-US" dirty="0" smtClean="0"/>
              <a:t> steals a task from C1</a:t>
            </a:r>
          </a:p>
          <a:p>
            <a:r>
              <a:rPr lang="en-US" b="1" dirty="0" smtClean="0"/>
              <a:t>Centralized Load Balancing</a:t>
            </a:r>
            <a:r>
              <a:rPr lang="en-US" dirty="0" smtClean="0"/>
              <a:t>: One global scheduler decides task placement</a:t>
            </a:r>
          </a:p>
          <a:p>
            <a:r>
              <a:rPr lang="en-US" b="1" dirty="0" smtClean="0"/>
              <a:t>Distributed Load Balancing</a:t>
            </a:r>
            <a:r>
              <a:rPr lang="en-US" dirty="0" smtClean="0"/>
              <a:t>: Each CPU has its own run </a:t>
            </a:r>
            <a:r>
              <a:rPr lang="en-US" dirty="0" err="1" smtClean="0"/>
              <a:t>queue,Periodic</a:t>
            </a:r>
            <a:r>
              <a:rPr lang="en-US" dirty="0" smtClean="0"/>
              <a:t> balancing</a:t>
            </a:r>
          </a:p>
          <a:p>
            <a:r>
              <a:rPr lang="en-US" b="1" dirty="0" smtClean="0"/>
              <a:t>NUMA-Aware Load Balancing</a:t>
            </a:r>
            <a:r>
              <a:rPr lang="en-US" dirty="0" smtClean="0"/>
              <a:t>: Balances load </a:t>
            </a:r>
            <a:r>
              <a:rPr lang="en-US" b="1" dirty="0" smtClean="0"/>
              <a:t>within NUMA node first, </a:t>
            </a:r>
            <a:r>
              <a:rPr lang="en-US" dirty="0" smtClean="0"/>
              <a:t>Avoids remote memory access</a:t>
            </a:r>
          </a:p>
          <a:p>
            <a:r>
              <a:rPr lang="en-US" b="1" dirty="0" smtClean="0"/>
              <a:t>Energy-Aware Load Balancing</a:t>
            </a:r>
            <a:r>
              <a:rPr lang="en-US" dirty="0" smtClean="0"/>
              <a:t>: Balances performance </a:t>
            </a:r>
            <a:r>
              <a:rPr lang="en-US" dirty="0" err="1" smtClean="0"/>
              <a:t>vs</a:t>
            </a:r>
            <a:r>
              <a:rPr lang="en-US" dirty="0" smtClean="0"/>
              <a:t> power consumption</a:t>
            </a:r>
          </a:p>
          <a:p>
            <a:r>
              <a:rPr lang="en-US" b="1" dirty="0" smtClean="0"/>
              <a:t>Real-Time Load Balancing</a:t>
            </a:r>
            <a:r>
              <a:rPr lang="en-US" dirty="0" smtClean="0"/>
              <a:t>: Ensures deadlines are met</a:t>
            </a:r>
          </a:p>
          <a:p>
            <a:endParaRPr lang="en-US" dirty="0" smtClean="0"/>
          </a:p>
          <a:p>
            <a:endParaRPr lang="en-US" dirty="0" smtClean="0"/>
          </a:p>
          <a:p>
            <a:endParaRPr lang="en-US" dirty="0" smtClean="0"/>
          </a:p>
          <a:p>
            <a:endParaRPr lang="en-US" dirty="0" smtClean="0"/>
          </a:p>
          <a:p>
            <a:pPr>
              <a:buNone/>
            </a:pPr>
            <a:endParaRPr lang="en-US" dirty="0" smtClean="0"/>
          </a:p>
          <a:p>
            <a:endParaRPr lang="en-US" dirty="0" smtClean="0"/>
          </a:p>
          <a:p>
            <a:endParaRPr lang="en-US" dirty="0"/>
          </a:p>
        </p:txBody>
      </p:sp>
      <p:graphicFrame>
        <p:nvGraphicFramePr>
          <p:cNvPr id="4" name="Table 3"/>
          <p:cNvGraphicFramePr>
            <a:graphicFrameLocks noGrp="1"/>
          </p:cNvGraphicFramePr>
          <p:nvPr/>
        </p:nvGraphicFramePr>
        <p:xfrm>
          <a:off x="1885950" y="1200150"/>
          <a:ext cx="4924426" cy="1885950"/>
        </p:xfrm>
        <a:graphic>
          <a:graphicData uri="http://schemas.openxmlformats.org/drawingml/2006/table">
            <a:tbl>
              <a:tblPr firstRow="1" bandRow="1">
                <a:tableStyleId>{5C22544A-7EE6-4342-B048-85BDC9FD1C3A}</a:tableStyleId>
              </a:tblPr>
              <a:tblGrid>
                <a:gridCol w="2462213"/>
                <a:gridCol w="2462213"/>
              </a:tblGrid>
              <a:tr h="422910">
                <a:tc>
                  <a:txBody>
                    <a:bodyPr/>
                    <a:lstStyle/>
                    <a:p>
                      <a:r>
                        <a:rPr lang="en-US" dirty="0" smtClean="0"/>
                        <a:t>Core</a:t>
                      </a:r>
                      <a:endParaRPr lang="en-US" dirty="0"/>
                    </a:p>
                  </a:txBody>
                  <a:tcPr/>
                </a:tc>
                <a:tc>
                  <a:txBody>
                    <a:bodyPr/>
                    <a:lstStyle/>
                    <a:p>
                      <a:r>
                        <a:rPr lang="en-US" dirty="0" smtClean="0"/>
                        <a:t>Load</a:t>
                      </a:r>
                      <a:endParaRPr lang="en-US" dirty="0"/>
                    </a:p>
                  </a:txBody>
                  <a:tcPr/>
                </a:tc>
              </a:tr>
              <a:tr h="329248">
                <a:tc>
                  <a:txBody>
                    <a:bodyPr/>
                    <a:lstStyle/>
                    <a:p>
                      <a:r>
                        <a:rPr lang="en-US" dirty="0" smtClean="0"/>
                        <a:t>C0</a:t>
                      </a:r>
                      <a:endParaRPr lang="en-US" dirty="0"/>
                    </a:p>
                  </a:txBody>
                  <a:tcPr/>
                </a:tc>
                <a:tc>
                  <a:txBody>
                    <a:bodyPr/>
                    <a:lstStyle/>
                    <a:p>
                      <a:r>
                        <a:rPr lang="en-US" dirty="0" smtClean="0"/>
                        <a:t>90%</a:t>
                      </a:r>
                      <a:endParaRPr lang="en-US" dirty="0"/>
                    </a:p>
                  </a:txBody>
                  <a:tcPr/>
                </a:tc>
              </a:tr>
              <a:tr h="329248">
                <a:tc>
                  <a:txBody>
                    <a:bodyPr/>
                    <a:lstStyle/>
                    <a:p>
                      <a:r>
                        <a:rPr lang="en-US" dirty="0" smtClean="0"/>
                        <a:t>C1</a:t>
                      </a:r>
                      <a:endParaRPr lang="en-US" dirty="0"/>
                    </a:p>
                  </a:txBody>
                  <a:tcPr/>
                </a:tc>
                <a:tc>
                  <a:txBody>
                    <a:bodyPr/>
                    <a:lstStyle/>
                    <a:p>
                      <a:r>
                        <a:rPr lang="en-US" dirty="0" smtClean="0"/>
                        <a:t>85%</a:t>
                      </a:r>
                      <a:endParaRPr lang="en-US" dirty="0"/>
                    </a:p>
                  </a:txBody>
                  <a:tcPr/>
                </a:tc>
              </a:tr>
              <a:tr h="329248">
                <a:tc>
                  <a:txBody>
                    <a:bodyPr/>
                    <a:lstStyle/>
                    <a:p>
                      <a:r>
                        <a:rPr lang="en-US" dirty="0" smtClean="0"/>
                        <a:t>C2</a:t>
                      </a:r>
                      <a:endParaRPr lang="en-US" dirty="0"/>
                    </a:p>
                  </a:txBody>
                  <a:tcPr/>
                </a:tc>
                <a:tc>
                  <a:txBody>
                    <a:bodyPr/>
                    <a:lstStyle/>
                    <a:p>
                      <a:r>
                        <a:rPr lang="en-US" dirty="0" smtClean="0"/>
                        <a:t>20%</a:t>
                      </a:r>
                      <a:endParaRPr lang="en-US" dirty="0"/>
                    </a:p>
                  </a:txBody>
                  <a:tcPr/>
                </a:tc>
              </a:tr>
              <a:tr h="329248">
                <a:tc>
                  <a:txBody>
                    <a:bodyPr/>
                    <a:lstStyle/>
                    <a:p>
                      <a:r>
                        <a:rPr lang="en-US" dirty="0" smtClean="0"/>
                        <a:t>C3</a:t>
                      </a:r>
                      <a:endParaRPr lang="en-US" dirty="0"/>
                    </a:p>
                  </a:txBody>
                  <a:tcPr/>
                </a:tc>
                <a:tc>
                  <a:txBody>
                    <a:bodyPr/>
                    <a:lstStyle/>
                    <a:p>
                      <a:r>
                        <a:rPr lang="en-US" dirty="0" smtClean="0"/>
                        <a:t>15%</a:t>
                      </a:r>
                      <a:endParaRPr lang="en-US" dirty="0"/>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Cache &amp; Memory Optimization</a:t>
            </a:r>
          </a:p>
        </p:txBody>
      </p:sp>
      <p:sp>
        <p:nvSpPr>
          <p:cNvPr id="3" name="Content Placeholder 2"/>
          <p:cNvSpPr>
            <a:spLocks noGrp="1"/>
          </p:cNvSpPr>
          <p:nvPr>
            <p:ph idx="1"/>
          </p:nvPr>
        </p:nvSpPr>
        <p:spPr/>
        <p:txBody>
          <a:bodyPr>
            <a:normAutofit lnSpcReduction="10000"/>
          </a:bodyPr>
          <a:lstStyle/>
          <a:p>
            <a:r>
              <a:rPr lang="en-US" dirty="0" smtClean="0"/>
              <a:t>Cache locality improves performance</a:t>
            </a:r>
          </a:p>
          <a:p>
            <a:pPr>
              <a:buNone/>
            </a:pPr>
            <a:r>
              <a:rPr lang="en-US" b="1" dirty="0" smtClean="0"/>
              <a:t>	Cache locality</a:t>
            </a:r>
            <a:r>
              <a:rPr lang="en-US" dirty="0" smtClean="0"/>
              <a:t> refers to the principle that programs tend to access the </a:t>
            </a:r>
            <a:r>
              <a:rPr lang="en-US" b="1" dirty="0" smtClean="0"/>
              <a:t>same data or nearby data repeatedly</a:t>
            </a:r>
            <a:r>
              <a:rPr lang="en-US" dirty="0" smtClean="0"/>
              <a:t> over a short period of time</a:t>
            </a:r>
          </a:p>
          <a:p>
            <a:r>
              <a:rPr lang="en-US" dirty="0" smtClean="0"/>
              <a:t>Scheduling considers:</a:t>
            </a:r>
          </a:p>
          <a:p>
            <a:pPr lvl="1"/>
            <a:r>
              <a:rPr lang="en-US" dirty="0" smtClean="0"/>
              <a:t>L1/L2/L3 cache usage</a:t>
            </a:r>
          </a:p>
          <a:p>
            <a:pPr lvl="1"/>
            <a:r>
              <a:rPr lang="en-US" dirty="0" smtClean="0"/>
              <a:t>Memory hierarchy</a:t>
            </a:r>
          </a:p>
          <a:p>
            <a:r>
              <a:rPr lang="en-US" dirty="0" smtClean="0"/>
              <a:t>Reduces cache misses and memory latency</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Cache Locality</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Temporal Locality</a:t>
            </a:r>
          </a:p>
          <a:p>
            <a:pPr>
              <a:buNone/>
            </a:pPr>
            <a:r>
              <a:rPr lang="en-US" dirty="0" smtClean="0"/>
              <a:t>If a data item is accessed once, it is </a:t>
            </a:r>
            <a:r>
              <a:rPr lang="en-US" b="1" dirty="0" smtClean="0"/>
              <a:t>likely to be accessed again soon</a:t>
            </a:r>
            <a:r>
              <a:rPr lang="en-US" dirty="0" smtClean="0"/>
              <a:t>.</a:t>
            </a:r>
          </a:p>
          <a:p>
            <a:pPr>
              <a:buNone/>
            </a:pPr>
            <a:r>
              <a:rPr lang="en-US" dirty="0" smtClean="0"/>
              <a:t>Example:</a:t>
            </a:r>
          </a:p>
          <a:p>
            <a:pPr>
              <a:buNone/>
            </a:pPr>
            <a:r>
              <a:rPr lang="en-US" dirty="0" smtClean="0"/>
              <a:t>for(</a:t>
            </a:r>
            <a:r>
              <a:rPr lang="en-US" dirty="0" err="1" smtClean="0"/>
              <a:t>i</a:t>
            </a:r>
            <a:r>
              <a:rPr lang="en-US" dirty="0" smtClean="0"/>
              <a:t>=0;i&lt;100;i++)</a:t>
            </a:r>
          </a:p>
          <a:p>
            <a:pPr>
              <a:buNone/>
            </a:pPr>
            <a:r>
              <a:rPr lang="en-US" dirty="0" smtClean="0"/>
              <a:t>    sum += a;   // variable 'a' accessed repeatedly</a:t>
            </a:r>
          </a:p>
          <a:p>
            <a:endParaRPr lang="en-US" b="1" dirty="0" smtClean="0"/>
          </a:p>
          <a:p>
            <a:r>
              <a:rPr lang="en-US" b="1" dirty="0" smtClean="0"/>
              <a:t>Spatial Locality</a:t>
            </a:r>
          </a:p>
          <a:p>
            <a:pPr>
              <a:buNone/>
            </a:pPr>
            <a:r>
              <a:rPr lang="en-US" dirty="0" smtClean="0"/>
              <a:t>If a memory location is accessed, </a:t>
            </a:r>
            <a:r>
              <a:rPr lang="en-US" b="1" dirty="0" smtClean="0"/>
              <a:t>nearby memory locations </a:t>
            </a:r>
            <a:r>
              <a:rPr lang="en-US" dirty="0" smtClean="0"/>
              <a:t>are likely to be accessed next.</a:t>
            </a:r>
          </a:p>
          <a:p>
            <a:pPr>
              <a:buNone/>
            </a:pPr>
            <a:r>
              <a:rPr lang="en-US" dirty="0" smtClean="0"/>
              <a:t>Example:</a:t>
            </a:r>
          </a:p>
          <a:p>
            <a:pPr>
              <a:buNone/>
            </a:pPr>
            <a:r>
              <a:rPr lang="en-US" dirty="0" err="1" smtClean="0"/>
              <a:t>int</a:t>
            </a:r>
            <a:r>
              <a:rPr lang="en-US" dirty="0" smtClean="0"/>
              <a:t> </a:t>
            </a:r>
            <a:r>
              <a:rPr lang="en-US" dirty="0" err="1" smtClean="0"/>
              <a:t>arr</a:t>
            </a:r>
            <a:r>
              <a:rPr lang="en-US" dirty="0" smtClean="0"/>
              <a:t>[100]; </a:t>
            </a:r>
          </a:p>
          <a:p>
            <a:pPr>
              <a:buNone/>
            </a:pPr>
            <a:r>
              <a:rPr lang="en-US" dirty="0" smtClean="0"/>
              <a:t>for(</a:t>
            </a:r>
            <a:r>
              <a:rPr lang="en-US" dirty="0" err="1" smtClean="0"/>
              <a:t>i</a:t>
            </a:r>
            <a:r>
              <a:rPr lang="en-US" dirty="0" smtClean="0"/>
              <a:t>=0;i&lt;100;i++)</a:t>
            </a:r>
          </a:p>
          <a:p>
            <a:pPr>
              <a:buNone/>
            </a:pPr>
            <a:r>
              <a:rPr lang="en-US" dirty="0" smtClean="0"/>
              <a:t>	</a:t>
            </a:r>
            <a:r>
              <a:rPr lang="en-US" dirty="0" err="1" smtClean="0"/>
              <a:t>arr</a:t>
            </a:r>
            <a:r>
              <a:rPr lang="en-US" dirty="0" smtClean="0"/>
              <a:t>[</a:t>
            </a:r>
            <a:r>
              <a:rPr lang="en-US" dirty="0" err="1" smtClean="0"/>
              <a:t>i</a:t>
            </a:r>
            <a:r>
              <a:rPr lang="en-US" dirty="0" smtClean="0"/>
              <a:t>] = </a:t>
            </a:r>
            <a:r>
              <a:rPr lang="en-US" dirty="0" err="1" smtClean="0"/>
              <a:t>i</a:t>
            </a:r>
            <a:r>
              <a:rPr lang="en-US" dirty="0" smtClean="0"/>
              <a:t>; // contiguous memory access</a:t>
            </a:r>
          </a:p>
          <a:p>
            <a:pPr>
              <a:buNone/>
            </a:pPr>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Cache </a:t>
            </a:r>
            <a:r>
              <a:rPr lang="fr-FR" dirty="0" err="1" smtClean="0"/>
              <a:t>Levels</a:t>
            </a:r>
            <a:r>
              <a:rPr lang="fr-FR" dirty="0" smtClean="0"/>
              <a:t>: L1, L2, L3</a:t>
            </a:r>
            <a:endParaRPr lang="en-US" dirty="0"/>
          </a:p>
        </p:txBody>
      </p:sp>
      <p:graphicFrame>
        <p:nvGraphicFramePr>
          <p:cNvPr id="4" name="Content Placeholder 3"/>
          <p:cNvGraphicFramePr>
            <a:graphicFrameLocks noGrp="1"/>
          </p:cNvGraphicFramePr>
          <p:nvPr>
            <p:ph idx="1"/>
          </p:nvPr>
        </p:nvGraphicFramePr>
        <p:xfrm>
          <a:off x="457200" y="1600200"/>
          <a:ext cx="8229600" cy="1483360"/>
        </p:xfrm>
        <a:graphic>
          <a:graphicData uri="http://schemas.openxmlformats.org/drawingml/2006/table">
            <a:tbl>
              <a:tblPr firstRow="1" bandRow="1">
                <a:tableStyleId>{5C22544A-7EE6-4342-B048-85BDC9FD1C3A}</a:tableStyleId>
              </a:tblPr>
              <a:tblGrid>
                <a:gridCol w="1304925"/>
                <a:gridCol w="2124075"/>
                <a:gridCol w="1666875"/>
                <a:gridCol w="1487805"/>
                <a:gridCol w="1645920"/>
              </a:tblGrid>
              <a:tr h="370840">
                <a:tc>
                  <a:txBody>
                    <a:bodyPr/>
                    <a:lstStyle/>
                    <a:p>
                      <a:r>
                        <a:rPr lang="en-US" dirty="0" smtClean="0"/>
                        <a:t>Cache Level</a:t>
                      </a:r>
                      <a:endParaRPr lang="en-US" dirty="0"/>
                    </a:p>
                  </a:txBody>
                  <a:tcPr/>
                </a:tc>
                <a:tc>
                  <a:txBody>
                    <a:bodyPr/>
                    <a:lstStyle/>
                    <a:p>
                      <a:r>
                        <a:rPr lang="en-US" dirty="0" smtClean="0"/>
                        <a:t>Location</a:t>
                      </a:r>
                      <a:endParaRPr lang="en-US" dirty="0"/>
                    </a:p>
                  </a:txBody>
                  <a:tcPr/>
                </a:tc>
                <a:tc>
                  <a:txBody>
                    <a:bodyPr/>
                    <a:lstStyle/>
                    <a:p>
                      <a:r>
                        <a:rPr lang="en-US" dirty="0" smtClean="0"/>
                        <a:t>Speed</a:t>
                      </a:r>
                      <a:endParaRPr lang="en-US" dirty="0"/>
                    </a:p>
                  </a:txBody>
                  <a:tcPr/>
                </a:tc>
                <a:tc>
                  <a:txBody>
                    <a:bodyPr/>
                    <a:lstStyle/>
                    <a:p>
                      <a:r>
                        <a:rPr lang="en-US" dirty="0" smtClean="0"/>
                        <a:t>Size</a:t>
                      </a:r>
                      <a:endParaRPr lang="en-US" dirty="0"/>
                    </a:p>
                  </a:txBody>
                  <a:tcPr/>
                </a:tc>
                <a:tc>
                  <a:txBody>
                    <a:bodyPr/>
                    <a:lstStyle/>
                    <a:p>
                      <a:r>
                        <a:rPr lang="en-US" dirty="0" smtClean="0"/>
                        <a:t>Used By</a:t>
                      </a:r>
                      <a:endParaRPr lang="en-US" dirty="0"/>
                    </a:p>
                  </a:txBody>
                  <a:tcPr/>
                </a:tc>
              </a:tr>
              <a:tr h="370840">
                <a:tc>
                  <a:txBody>
                    <a:bodyPr/>
                    <a:lstStyle/>
                    <a:p>
                      <a:r>
                        <a:rPr lang="en-US" dirty="0" smtClean="0"/>
                        <a:t>L1</a:t>
                      </a:r>
                      <a:endParaRPr lang="en-US" dirty="0"/>
                    </a:p>
                  </a:txBody>
                  <a:tcPr/>
                </a:tc>
                <a:tc>
                  <a:txBody>
                    <a:bodyPr/>
                    <a:lstStyle/>
                    <a:p>
                      <a:r>
                        <a:rPr lang="en-US" dirty="0" smtClean="0"/>
                        <a:t>Inside</a:t>
                      </a:r>
                      <a:r>
                        <a:rPr lang="en-US" baseline="0" dirty="0" smtClean="0"/>
                        <a:t> each core</a:t>
                      </a:r>
                      <a:endParaRPr lang="en-US" dirty="0"/>
                    </a:p>
                  </a:txBody>
                  <a:tcPr/>
                </a:tc>
                <a:tc>
                  <a:txBody>
                    <a:bodyPr/>
                    <a:lstStyle/>
                    <a:p>
                      <a:r>
                        <a:rPr lang="en-US" dirty="0" smtClean="0"/>
                        <a:t>Fastest</a:t>
                      </a:r>
                      <a:endParaRPr lang="en-US" dirty="0"/>
                    </a:p>
                  </a:txBody>
                  <a:tcPr/>
                </a:tc>
                <a:tc>
                  <a:txBody>
                    <a:bodyPr/>
                    <a:lstStyle/>
                    <a:p>
                      <a:r>
                        <a:rPr lang="en-US" dirty="0" smtClean="0"/>
                        <a:t>Small</a:t>
                      </a:r>
                      <a:endParaRPr lang="en-US" dirty="0"/>
                    </a:p>
                  </a:txBody>
                  <a:tcPr/>
                </a:tc>
                <a:tc>
                  <a:txBody>
                    <a:bodyPr/>
                    <a:lstStyle/>
                    <a:p>
                      <a:r>
                        <a:rPr lang="en-US" dirty="0" smtClean="0"/>
                        <a:t>One core</a:t>
                      </a:r>
                      <a:endParaRPr lang="en-US" dirty="0"/>
                    </a:p>
                  </a:txBody>
                  <a:tcPr/>
                </a:tc>
              </a:tr>
              <a:tr h="370840">
                <a:tc>
                  <a:txBody>
                    <a:bodyPr/>
                    <a:lstStyle/>
                    <a:p>
                      <a:r>
                        <a:rPr lang="en-US" dirty="0" smtClean="0"/>
                        <a:t>L2</a:t>
                      </a:r>
                      <a:endParaRPr lang="en-US" dirty="0"/>
                    </a:p>
                  </a:txBody>
                  <a:tcPr/>
                </a:tc>
                <a:tc>
                  <a:txBody>
                    <a:bodyPr/>
                    <a:lstStyle/>
                    <a:p>
                      <a:r>
                        <a:rPr lang="en-US" dirty="0" smtClean="0"/>
                        <a:t>Per core or shared</a:t>
                      </a:r>
                      <a:endParaRPr lang="en-US" dirty="0"/>
                    </a:p>
                  </a:txBody>
                  <a:tcPr/>
                </a:tc>
                <a:tc>
                  <a:txBody>
                    <a:bodyPr/>
                    <a:lstStyle/>
                    <a:p>
                      <a:r>
                        <a:rPr lang="en-US" dirty="0" smtClean="0"/>
                        <a:t>Fast</a:t>
                      </a:r>
                      <a:endParaRPr lang="en-US" dirty="0"/>
                    </a:p>
                  </a:txBody>
                  <a:tcPr/>
                </a:tc>
                <a:tc>
                  <a:txBody>
                    <a:bodyPr/>
                    <a:lstStyle/>
                    <a:p>
                      <a:r>
                        <a:rPr lang="en-US" dirty="0" smtClean="0"/>
                        <a:t>Medium</a:t>
                      </a:r>
                      <a:endParaRPr lang="en-US" dirty="0"/>
                    </a:p>
                  </a:txBody>
                  <a:tcPr/>
                </a:tc>
                <a:tc>
                  <a:txBody>
                    <a:bodyPr/>
                    <a:lstStyle/>
                    <a:p>
                      <a:r>
                        <a:rPr lang="en-US" dirty="0" smtClean="0"/>
                        <a:t>One/few core</a:t>
                      </a:r>
                      <a:endParaRPr lang="en-US" dirty="0"/>
                    </a:p>
                  </a:txBody>
                  <a:tcPr/>
                </a:tc>
              </a:tr>
              <a:tr h="370840">
                <a:tc>
                  <a:txBody>
                    <a:bodyPr/>
                    <a:lstStyle/>
                    <a:p>
                      <a:r>
                        <a:rPr lang="en-US" dirty="0" smtClean="0"/>
                        <a:t>L3</a:t>
                      </a:r>
                      <a:endParaRPr lang="en-US" dirty="0"/>
                    </a:p>
                  </a:txBody>
                  <a:tcPr/>
                </a:tc>
                <a:tc>
                  <a:txBody>
                    <a:bodyPr/>
                    <a:lstStyle/>
                    <a:p>
                      <a:r>
                        <a:rPr lang="en-US" dirty="0" smtClean="0"/>
                        <a:t>Shared among cores</a:t>
                      </a:r>
                      <a:endParaRPr lang="en-US" dirty="0"/>
                    </a:p>
                  </a:txBody>
                  <a:tcPr/>
                </a:tc>
                <a:tc>
                  <a:txBody>
                    <a:bodyPr/>
                    <a:lstStyle/>
                    <a:p>
                      <a:r>
                        <a:rPr lang="en-US" dirty="0" smtClean="0"/>
                        <a:t>Slower</a:t>
                      </a:r>
                      <a:r>
                        <a:rPr lang="en-US" baseline="0" dirty="0" smtClean="0"/>
                        <a:t> than l2</a:t>
                      </a:r>
                      <a:endParaRPr lang="en-US" dirty="0"/>
                    </a:p>
                  </a:txBody>
                  <a:tcPr/>
                </a:tc>
                <a:tc>
                  <a:txBody>
                    <a:bodyPr/>
                    <a:lstStyle/>
                    <a:p>
                      <a:r>
                        <a:rPr lang="en-US" dirty="0" smtClean="0"/>
                        <a:t>Large</a:t>
                      </a:r>
                      <a:endParaRPr lang="en-US" dirty="0"/>
                    </a:p>
                  </a:txBody>
                  <a:tcPr/>
                </a:tc>
                <a:tc>
                  <a:txBody>
                    <a:bodyPr/>
                    <a:lstStyle/>
                    <a:p>
                      <a:r>
                        <a:rPr lang="en-US" dirty="0" smtClean="0"/>
                        <a:t>All Cores</a:t>
                      </a:r>
                      <a:endParaRPr lang="en-US" dirty="0"/>
                    </a:p>
                  </a:txBody>
                  <a:tcPr/>
                </a:tc>
              </a:tr>
            </a:tbl>
          </a:graphicData>
        </a:graphic>
      </p:graphicFrame>
      <p:pic>
        <p:nvPicPr>
          <p:cNvPr id="1026" name="Picture 2"/>
          <p:cNvPicPr>
            <a:picLocks noChangeAspect="1" noChangeArrowheads="1"/>
          </p:cNvPicPr>
          <p:nvPr/>
        </p:nvPicPr>
        <p:blipFill>
          <a:blip r:embed="rId2"/>
          <a:srcRect/>
          <a:stretch>
            <a:fillRect/>
          </a:stretch>
        </p:blipFill>
        <p:spPr bwMode="auto">
          <a:xfrm>
            <a:off x="1597025" y="3702050"/>
            <a:ext cx="5949950" cy="1682750"/>
          </a:xfrm>
          <a:prstGeom prst="rect">
            <a:avLst/>
          </a:prstGeom>
          <a:noFill/>
          <a:ln w="9525">
            <a:noFill/>
            <a:miter lim="800000"/>
            <a:headEnd/>
            <a:tailEnd/>
          </a:ln>
          <a:effectLst/>
        </p:spPr>
      </p:pic>
      <p:sp>
        <p:nvSpPr>
          <p:cNvPr id="6" name="Rectangle 5"/>
          <p:cNvSpPr/>
          <p:nvPr/>
        </p:nvSpPr>
        <p:spPr>
          <a:xfrm>
            <a:off x="628650" y="5563969"/>
            <a:ext cx="7277100" cy="646331"/>
          </a:xfrm>
          <a:prstGeom prst="rect">
            <a:avLst/>
          </a:prstGeom>
        </p:spPr>
        <p:txBody>
          <a:bodyPr wrap="square">
            <a:spAutoFit/>
          </a:bodyPr>
          <a:lstStyle/>
          <a:p>
            <a:r>
              <a:rPr lang="en-US" b="1" dirty="0" smtClean="0"/>
              <a:t>Scheduler must consider which cache levels will be reused</a:t>
            </a:r>
            <a:r>
              <a:rPr lang="en-US" dirty="0" smtClean="0"/>
              <a:t> when scheduling processes/threads.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Cache Locality Improves Performance</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Without Cache Awareness:</a:t>
            </a:r>
          </a:p>
          <a:p>
            <a:r>
              <a:rPr lang="en-US" dirty="0" smtClean="0"/>
              <a:t>Process A runs → cache filled with A’s data</a:t>
            </a:r>
          </a:p>
          <a:p>
            <a:r>
              <a:rPr lang="en-US" dirty="0" smtClean="0"/>
              <a:t>Process B runs → cache flushed → new data loaded</a:t>
            </a:r>
          </a:p>
          <a:p>
            <a:r>
              <a:rPr lang="en-US" dirty="0" smtClean="0"/>
              <a:t>Process A runs again → cache miss → slow memory access</a:t>
            </a:r>
          </a:p>
          <a:p>
            <a:r>
              <a:rPr lang="en-US" b="1" dirty="0" smtClean="0"/>
              <a:t>With Cache Awareness:</a:t>
            </a:r>
          </a:p>
          <a:p>
            <a:r>
              <a:rPr lang="en-US" dirty="0" smtClean="0"/>
              <a:t>Process A continues running</a:t>
            </a:r>
          </a:p>
          <a:p>
            <a:r>
              <a:rPr lang="en-US" dirty="0" smtClean="0"/>
              <a:t>Cache already contains required data</a:t>
            </a:r>
          </a:p>
          <a:p>
            <a:r>
              <a:rPr lang="en-US" b="1" dirty="0" smtClean="0"/>
              <a:t>Fewer cache misses</a:t>
            </a:r>
            <a:endParaRPr lang="en-US" dirty="0" smtClean="0"/>
          </a:p>
          <a:p>
            <a:r>
              <a:rPr lang="en-US" b="1" dirty="0" smtClean="0"/>
              <a:t>Lower memory latency</a:t>
            </a:r>
            <a:endParaRPr lang="en-US" dirty="0" smtClean="0"/>
          </a:p>
          <a:p>
            <a:r>
              <a:rPr lang="en-US" b="1" dirty="0" smtClean="0"/>
              <a:t>Higher CPU utilization</a:t>
            </a:r>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Miss and Memory Latency</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Cache Miss</a:t>
            </a:r>
          </a:p>
          <a:p>
            <a:pPr>
              <a:buNone/>
            </a:pPr>
            <a:r>
              <a:rPr lang="en-US" dirty="0" smtClean="0"/>
              <a:t>Occurs when required data is </a:t>
            </a:r>
            <a:r>
              <a:rPr lang="en-US" b="1" dirty="0" smtClean="0"/>
              <a:t>not found in cache</a:t>
            </a:r>
            <a:r>
              <a:rPr lang="en-US" dirty="0" smtClean="0"/>
              <a:t>, so CPU must fetch it from:</a:t>
            </a:r>
          </a:p>
          <a:p>
            <a:pPr>
              <a:buNone/>
            </a:pPr>
            <a:r>
              <a:rPr lang="en-US" dirty="0" smtClean="0"/>
              <a:t>L2 → L3 → RAM (slow)</a:t>
            </a:r>
          </a:p>
          <a:p>
            <a:r>
              <a:rPr lang="en-US" b="1" dirty="0" smtClean="0"/>
              <a:t>Memory Latency</a:t>
            </a:r>
          </a:p>
          <a:p>
            <a:pPr>
              <a:buNone/>
            </a:pPr>
            <a:r>
              <a:rPr lang="en-US" dirty="0" smtClean="0"/>
              <a:t>Time taken to access data from memory</a:t>
            </a:r>
          </a:p>
          <a:p>
            <a:pPr>
              <a:buNone/>
            </a:pPr>
            <a:r>
              <a:rPr lang="en-US" dirty="0" smtClean="0"/>
              <a:t>Cache miss ⇒ </a:t>
            </a:r>
            <a:r>
              <a:rPr lang="en-US" b="1" dirty="0" smtClean="0"/>
              <a:t>high latency</a:t>
            </a:r>
            <a:r>
              <a:rPr lang="en-US" dirty="0" smtClean="0"/>
              <a:t> ⇒ CPU stalls</a:t>
            </a:r>
          </a:p>
          <a:p>
            <a:r>
              <a:rPr lang="en-US" dirty="0" smtClean="0"/>
              <a:t>Goal of scheduling:</a:t>
            </a:r>
          </a:p>
          <a:p>
            <a:pPr>
              <a:buNone/>
            </a:pPr>
            <a:r>
              <a:rPr lang="en-US" b="1" dirty="0" smtClean="0"/>
              <a:t>Minimize cache misses and memory access latency</a:t>
            </a:r>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Role of CPU Scheduling in Cache Locality</a:t>
            </a:r>
            <a:endParaRPr lang="en-US" dirty="0"/>
          </a:p>
        </p:txBody>
      </p:sp>
      <p:sp>
        <p:nvSpPr>
          <p:cNvPr id="3" name="Content Placeholder 2"/>
          <p:cNvSpPr>
            <a:spLocks noGrp="1"/>
          </p:cNvSpPr>
          <p:nvPr>
            <p:ph idx="1"/>
          </p:nvPr>
        </p:nvSpPr>
        <p:spPr/>
        <p:txBody>
          <a:bodyPr/>
          <a:lstStyle/>
          <a:p>
            <a:r>
              <a:rPr lang="en-US" dirty="0" smtClean="0"/>
              <a:t>Modern schedulers are </a:t>
            </a:r>
            <a:r>
              <a:rPr lang="en-US" b="1" dirty="0" smtClean="0"/>
              <a:t>cache-aware</a:t>
            </a:r>
            <a:r>
              <a:rPr lang="en-US" dirty="0" smtClean="0"/>
              <a:t>, not just time-sharing.</a:t>
            </a:r>
          </a:p>
          <a:p>
            <a:r>
              <a:rPr lang="en-US" b="1" dirty="0" smtClean="0"/>
              <a:t>Scheduling Considers:</a:t>
            </a:r>
          </a:p>
          <a:p>
            <a:r>
              <a:rPr lang="en-US" dirty="0" smtClean="0"/>
              <a:t>Which process was running previously</a:t>
            </a:r>
          </a:p>
          <a:p>
            <a:r>
              <a:rPr lang="en-US" dirty="0" smtClean="0"/>
              <a:t>Which core’s cache contains relevant data</a:t>
            </a:r>
          </a:p>
          <a:p>
            <a:r>
              <a:rPr lang="en-US" dirty="0" smtClean="0"/>
              <a:t>Avoids unnecessary cache invalidation</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Scheduling Techniques That Improve Cache Locality</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Processor Affinity (CPU Affinity)</a:t>
            </a:r>
          </a:p>
          <a:p>
            <a:pPr>
              <a:buNone/>
            </a:pPr>
            <a:r>
              <a:rPr lang="en-US" dirty="0" smtClean="0"/>
              <a:t>A process is scheduled on the </a:t>
            </a:r>
            <a:r>
              <a:rPr lang="en-US" b="1" dirty="0" smtClean="0"/>
              <a:t>same CPU core repeatedly</a:t>
            </a:r>
            <a:endParaRPr lang="en-US" dirty="0" smtClean="0"/>
          </a:p>
          <a:p>
            <a:pPr>
              <a:buNone/>
            </a:pPr>
            <a:r>
              <a:rPr lang="en-US" dirty="0" smtClean="0"/>
              <a:t>Increases reuse of </a:t>
            </a:r>
            <a:r>
              <a:rPr lang="en-US" b="1" dirty="0" smtClean="0"/>
              <a:t>L1 and L2 cache</a:t>
            </a:r>
            <a:endParaRPr lang="en-US" dirty="0" smtClean="0"/>
          </a:p>
          <a:p>
            <a:r>
              <a:rPr lang="en-US" b="1" dirty="0" smtClean="0"/>
              <a:t>Cache-Aware Load Balancing</a:t>
            </a:r>
          </a:p>
          <a:p>
            <a:pPr>
              <a:buNone/>
            </a:pPr>
            <a:r>
              <a:rPr lang="en-US" dirty="0" smtClean="0"/>
              <a:t>Scheduler avoids moving processes across cores unnecessarily</a:t>
            </a:r>
          </a:p>
          <a:p>
            <a:pPr>
              <a:buNone/>
            </a:pPr>
            <a:r>
              <a:rPr lang="en-US" dirty="0" smtClean="0"/>
              <a:t>Moving a process → cache warm-up cost</a:t>
            </a:r>
          </a:p>
          <a:p>
            <a:r>
              <a:rPr lang="en-US" b="1" dirty="0" smtClean="0"/>
              <a:t>Thread Scheduling</a:t>
            </a:r>
          </a:p>
          <a:p>
            <a:pPr>
              <a:buNone/>
            </a:pPr>
            <a:r>
              <a:rPr lang="en-US" dirty="0" smtClean="0"/>
              <a:t>Threads of the same process share Code and Data</a:t>
            </a:r>
          </a:p>
          <a:p>
            <a:pPr>
              <a:buNone/>
            </a:pPr>
            <a:r>
              <a:rPr lang="en-US" dirty="0" smtClean="0"/>
              <a:t>Scheduling them close in time improves </a:t>
            </a:r>
            <a:r>
              <a:rPr lang="en-US" b="1" dirty="0" smtClean="0"/>
              <a:t>L3 cache usage</a:t>
            </a:r>
            <a:endParaRPr lang="en-US" dirty="0" smtClean="0"/>
          </a:p>
          <a:p>
            <a:r>
              <a:rPr lang="en-US" b="1" dirty="0" smtClean="0"/>
              <a:t>Memory Hierarchy Awareness</a:t>
            </a:r>
          </a:p>
          <a:p>
            <a:pPr>
              <a:buNone/>
            </a:pPr>
            <a:r>
              <a:rPr lang="en-US" dirty="0" smtClean="0"/>
              <a:t>Schedulers consider the full </a:t>
            </a:r>
            <a:r>
              <a:rPr lang="en-US" b="1" dirty="0" smtClean="0"/>
              <a:t>memory hierarchy</a:t>
            </a:r>
            <a:r>
              <a:rPr lang="en-US" dirty="0" smtClean="0"/>
              <a:t>:</a:t>
            </a:r>
          </a:p>
          <a:p>
            <a:pPr>
              <a:buNone/>
            </a:pPr>
            <a:r>
              <a:rPr lang="en-US" dirty="0" smtClean="0"/>
              <a:t>Registers ↓ L1 Cache ↓ L2 Cache ↓ L3 Cache ↓ Main Memory (RAM) ↓ Disk </a:t>
            </a:r>
          </a:p>
          <a:p>
            <a:pPr>
              <a:buNone/>
            </a:pPr>
            <a:r>
              <a:rPr lang="en-US" dirty="0" smtClean="0"/>
              <a:t>Access time increases as we go down the hierarchy.</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Benefits of Cache-Aware Scheduling</a:t>
            </a:r>
            <a:endParaRPr lang="en-US" dirty="0"/>
          </a:p>
        </p:txBody>
      </p:sp>
      <p:sp>
        <p:nvSpPr>
          <p:cNvPr id="3" name="Content Placeholder 2"/>
          <p:cNvSpPr>
            <a:spLocks noGrp="1"/>
          </p:cNvSpPr>
          <p:nvPr>
            <p:ph idx="1"/>
          </p:nvPr>
        </p:nvSpPr>
        <p:spPr/>
        <p:txBody>
          <a:bodyPr/>
          <a:lstStyle/>
          <a:p>
            <a:r>
              <a:rPr lang="en-US" dirty="0" smtClean="0"/>
              <a:t>Reduced cache misses</a:t>
            </a:r>
          </a:p>
          <a:p>
            <a:r>
              <a:rPr lang="en-US" dirty="0" smtClean="0"/>
              <a:t>Lower memory latency</a:t>
            </a:r>
          </a:p>
          <a:p>
            <a:r>
              <a:rPr lang="en-US" dirty="0" smtClean="0"/>
              <a:t>Faster program execution</a:t>
            </a:r>
          </a:p>
          <a:p>
            <a:r>
              <a:rPr lang="en-US" dirty="0" smtClean="0"/>
              <a:t>Better CPU throughput</a:t>
            </a:r>
          </a:p>
          <a:p>
            <a:r>
              <a:rPr lang="en-US" dirty="0" smtClean="0"/>
              <a:t>Improved system responsiveness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NUMA-aware Scheduling</a:t>
            </a:r>
          </a:p>
        </p:txBody>
      </p:sp>
      <p:sp>
        <p:nvSpPr>
          <p:cNvPr id="3" name="Content Placeholder 2"/>
          <p:cNvSpPr>
            <a:spLocks noGrp="1"/>
          </p:cNvSpPr>
          <p:nvPr>
            <p:ph idx="1"/>
          </p:nvPr>
        </p:nvSpPr>
        <p:spPr/>
        <p:txBody>
          <a:bodyPr/>
          <a:lstStyle/>
          <a:p>
            <a:r>
              <a:rPr lang="en-US" b="1" dirty="0" smtClean="0"/>
              <a:t>NUMA (Non-Uniform Memory Access)</a:t>
            </a:r>
            <a:r>
              <a:rPr lang="en-US" dirty="0" smtClean="0"/>
              <a:t> systems</a:t>
            </a:r>
          </a:p>
          <a:p>
            <a:r>
              <a:rPr lang="en-US" dirty="0" smtClean="0"/>
              <a:t>Memory access time depends on memory location</a:t>
            </a:r>
          </a:p>
          <a:p>
            <a:r>
              <a:rPr lang="en-US" dirty="0" smtClean="0"/>
              <a:t>NUMA-aware scheduler:</a:t>
            </a:r>
          </a:p>
          <a:p>
            <a:pPr lvl="1"/>
            <a:r>
              <a:rPr lang="en-US" dirty="0" smtClean="0"/>
              <a:t>Schedules process near its memory</a:t>
            </a:r>
          </a:p>
          <a:p>
            <a:pPr lvl="1"/>
            <a:r>
              <a:rPr lang="en-US" dirty="0" smtClean="0"/>
              <a:t>Improves performance and scalability</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NUMA</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NUMA (Non-Uniform Memory Access)</a:t>
            </a:r>
            <a:r>
              <a:rPr lang="en-US" dirty="0" smtClean="0"/>
              <a:t> is a memory architecture used in </a:t>
            </a:r>
            <a:r>
              <a:rPr lang="en-US" b="1" dirty="0" smtClean="0"/>
              <a:t>multi-processor / multi-core systems</a:t>
            </a:r>
            <a:r>
              <a:rPr lang="en-US" dirty="0" smtClean="0"/>
              <a:t> where:</a:t>
            </a:r>
          </a:p>
          <a:p>
            <a:pPr lvl="1"/>
            <a:r>
              <a:rPr lang="en-US" dirty="0" smtClean="0"/>
              <a:t>Each CPU (or group of cores) has its </a:t>
            </a:r>
            <a:r>
              <a:rPr lang="en-US" b="1" dirty="0" smtClean="0"/>
              <a:t>own local memory</a:t>
            </a:r>
            <a:endParaRPr lang="en-US" dirty="0" smtClean="0"/>
          </a:p>
          <a:p>
            <a:pPr lvl="1"/>
            <a:r>
              <a:rPr lang="en-US" dirty="0" smtClean="0"/>
              <a:t>Access time to </a:t>
            </a:r>
            <a:r>
              <a:rPr lang="en-US" b="1" dirty="0" smtClean="0"/>
              <a:t>local memory is fast</a:t>
            </a:r>
            <a:endParaRPr lang="en-US" dirty="0" smtClean="0"/>
          </a:p>
          <a:p>
            <a:pPr lvl="1"/>
            <a:r>
              <a:rPr lang="en-US" dirty="0" smtClean="0"/>
              <a:t>Access time to </a:t>
            </a:r>
            <a:r>
              <a:rPr lang="en-US" b="1" dirty="0" smtClean="0"/>
              <a:t>remote memory (other CPU’s memory) is slower</a:t>
            </a:r>
            <a:endParaRPr lang="en-US" dirty="0" smtClean="0"/>
          </a:p>
          <a:p>
            <a:r>
              <a:rPr lang="en-US" dirty="0" smtClean="0"/>
              <a:t>Memory access time is </a:t>
            </a:r>
            <a:r>
              <a:rPr lang="en-US" b="1" dirty="0" smtClean="0"/>
              <a:t>non-uniform</a:t>
            </a:r>
            <a:r>
              <a:rPr lang="en-US" dirty="0" smtClean="0"/>
              <a:t>, hence the name </a:t>
            </a:r>
            <a:r>
              <a:rPr lang="en-US" b="1" dirty="0" smtClean="0"/>
              <a:t>NUMA</a:t>
            </a:r>
            <a:r>
              <a:rPr lang="en-US" dirty="0" smtClean="0"/>
              <a:t>.</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NUMA </a:t>
            </a:r>
            <a:r>
              <a:rPr lang="en-US" dirty="0" err="1" smtClean="0"/>
              <a:t>vs</a:t>
            </a:r>
            <a:r>
              <a:rPr lang="en-US" dirty="0" smtClean="0"/>
              <a:t> UMA</a:t>
            </a:r>
            <a:endParaRPr lang="en-US" dirty="0"/>
          </a:p>
        </p:txBody>
      </p:sp>
      <p:graphicFrame>
        <p:nvGraphicFramePr>
          <p:cNvPr id="4" name="Content Placeholder 3"/>
          <p:cNvGraphicFramePr>
            <a:graphicFrameLocks noGrp="1"/>
          </p:cNvGraphicFramePr>
          <p:nvPr>
            <p:ph idx="1"/>
          </p:nvPr>
        </p:nvGraphicFramePr>
        <p:xfrm>
          <a:off x="457200" y="1600200"/>
          <a:ext cx="8229600" cy="1854200"/>
        </p:xfrm>
        <a:graphic>
          <a:graphicData uri="http://schemas.openxmlformats.org/drawingml/2006/table">
            <a:tbl>
              <a:tblPr firstRow="1" bandRow="1">
                <a:tableStyleId>{5C22544A-7EE6-4342-B048-85BDC9FD1C3A}</a:tableStyleId>
              </a:tblPr>
              <a:tblGrid>
                <a:gridCol w="2162175"/>
                <a:gridCol w="2990850"/>
                <a:gridCol w="3076575"/>
              </a:tblGrid>
              <a:tr h="370840">
                <a:tc>
                  <a:txBody>
                    <a:bodyPr/>
                    <a:lstStyle/>
                    <a:p>
                      <a:r>
                        <a:rPr lang="en-US"/>
                        <a:t>Feature</a:t>
                      </a:r>
                    </a:p>
                  </a:txBody>
                  <a:tcPr anchor="ctr"/>
                </a:tc>
                <a:tc>
                  <a:txBody>
                    <a:bodyPr/>
                    <a:lstStyle/>
                    <a:p>
                      <a:r>
                        <a:rPr lang="en-US"/>
                        <a:t>UMA</a:t>
                      </a:r>
                    </a:p>
                  </a:txBody>
                  <a:tcPr anchor="ctr"/>
                </a:tc>
                <a:tc>
                  <a:txBody>
                    <a:bodyPr/>
                    <a:lstStyle/>
                    <a:p>
                      <a:r>
                        <a:rPr lang="en-US"/>
                        <a:t>NUMA</a:t>
                      </a:r>
                    </a:p>
                  </a:txBody>
                  <a:tcPr anchor="ctr"/>
                </a:tc>
              </a:tr>
              <a:tr h="370840">
                <a:tc>
                  <a:txBody>
                    <a:bodyPr/>
                    <a:lstStyle/>
                    <a:p>
                      <a:r>
                        <a:rPr lang="en-US"/>
                        <a:t>Memory access time</a:t>
                      </a:r>
                    </a:p>
                  </a:txBody>
                  <a:tcPr anchor="ctr"/>
                </a:tc>
                <a:tc>
                  <a:txBody>
                    <a:bodyPr/>
                    <a:lstStyle/>
                    <a:p>
                      <a:r>
                        <a:rPr lang="en-US"/>
                        <a:t>Uniform</a:t>
                      </a:r>
                    </a:p>
                  </a:txBody>
                  <a:tcPr anchor="ctr"/>
                </a:tc>
                <a:tc>
                  <a:txBody>
                    <a:bodyPr/>
                    <a:lstStyle/>
                    <a:p>
                      <a:r>
                        <a:rPr lang="en-US"/>
                        <a:t>Non-uniform</a:t>
                      </a:r>
                    </a:p>
                  </a:txBody>
                  <a:tcPr anchor="ctr"/>
                </a:tc>
              </a:tr>
              <a:tr h="370840">
                <a:tc>
                  <a:txBody>
                    <a:bodyPr/>
                    <a:lstStyle/>
                    <a:p>
                      <a:r>
                        <a:rPr lang="en-US"/>
                        <a:t>Memory location</a:t>
                      </a:r>
                    </a:p>
                  </a:txBody>
                  <a:tcPr anchor="ctr"/>
                </a:tc>
                <a:tc>
                  <a:txBody>
                    <a:bodyPr/>
                    <a:lstStyle/>
                    <a:p>
                      <a:r>
                        <a:rPr lang="en-US"/>
                        <a:t>Single shared memory</a:t>
                      </a:r>
                    </a:p>
                  </a:txBody>
                  <a:tcPr anchor="ctr"/>
                </a:tc>
                <a:tc>
                  <a:txBody>
                    <a:bodyPr/>
                    <a:lstStyle/>
                    <a:p>
                      <a:r>
                        <a:rPr lang="en-US"/>
                        <a:t>Distributed memory nodes</a:t>
                      </a:r>
                    </a:p>
                  </a:txBody>
                  <a:tcPr anchor="ctr"/>
                </a:tc>
              </a:tr>
              <a:tr h="370840">
                <a:tc>
                  <a:txBody>
                    <a:bodyPr/>
                    <a:lstStyle/>
                    <a:p>
                      <a:r>
                        <a:rPr lang="en-US"/>
                        <a:t>Scalability</a:t>
                      </a:r>
                    </a:p>
                  </a:txBody>
                  <a:tcPr anchor="ctr"/>
                </a:tc>
                <a:tc>
                  <a:txBody>
                    <a:bodyPr/>
                    <a:lstStyle/>
                    <a:p>
                      <a:r>
                        <a:rPr lang="en-US"/>
                        <a:t>Limited</a:t>
                      </a:r>
                    </a:p>
                  </a:txBody>
                  <a:tcPr anchor="ctr"/>
                </a:tc>
                <a:tc>
                  <a:txBody>
                    <a:bodyPr/>
                    <a:lstStyle/>
                    <a:p>
                      <a:r>
                        <a:rPr lang="en-US"/>
                        <a:t>Highly scalable</a:t>
                      </a:r>
                    </a:p>
                  </a:txBody>
                  <a:tcPr anchor="ctr"/>
                </a:tc>
              </a:tr>
              <a:tr h="370840">
                <a:tc>
                  <a:txBody>
                    <a:bodyPr/>
                    <a:lstStyle/>
                    <a:p>
                      <a:r>
                        <a:rPr lang="en-US"/>
                        <a:t>Example systems</a:t>
                      </a:r>
                    </a:p>
                  </a:txBody>
                  <a:tcPr anchor="ctr"/>
                </a:tc>
                <a:tc>
                  <a:txBody>
                    <a:bodyPr/>
                    <a:lstStyle/>
                    <a:p>
                      <a:r>
                        <a:rPr lang="en-US"/>
                        <a:t>Small SMP systems</a:t>
                      </a:r>
                    </a:p>
                  </a:txBody>
                  <a:tcPr anchor="ctr"/>
                </a:tc>
                <a:tc>
                  <a:txBody>
                    <a:bodyPr/>
                    <a:lstStyle/>
                    <a:p>
                      <a:r>
                        <a:rPr lang="en-US" dirty="0"/>
                        <a:t>Modern servers, data centers</a:t>
                      </a:r>
                    </a:p>
                  </a:txBody>
                  <a:tcPr anchor="ct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NUMA ARCHITECTURE</a:t>
            </a:r>
            <a:endParaRPr lang="en-US" dirty="0"/>
          </a:p>
        </p:txBody>
      </p:sp>
      <p:pic>
        <p:nvPicPr>
          <p:cNvPr id="4" name="Picture 2"/>
          <p:cNvPicPr>
            <a:picLocks noGrp="1" noChangeAspect="1" noChangeArrowheads="1"/>
          </p:cNvPicPr>
          <p:nvPr>
            <p:ph idx="1"/>
          </p:nvPr>
        </p:nvPicPr>
        <p:blipFill>
          <a:blip r:embed="rId2"/>
          <a:srcRect/>
          <a:stretch>
            <a:fillRect/>
          </a:stretch>
        </p:blipFill>
        <p:spPr bwMode="auto">
          <a:xfrm>
            <a:off x="457200" y="2541492"/>
            <a:ext cx="8229600" cy="2643378"/>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NUMA-Aware Scheduling?</a:t>
            </a:r>
            <a:endParaRPr lang="en-US" dirty="0"/>
          </a:p>
        </p:txBody>
      </p:sp>
      <p:sp>
        <p:nvSpPr>
          <p:cNvPr id="3" name="Content Placeholder 2"/>
          <p:cNvSpPr>
            <a:spLocks noGrp="1"/>
          </p:cNvSpPr>
          <p:nvPr>
            <p:ph idx="1"/>
          </p:nvPr>
        </p:nvSpPr>
        <p:spPr/>
        <p:txBody>
          <a:bodyPr/>
          <a:lstStyle/>
          <a:p>
            <a:r>
              <a:rPr lang="en-US" b="1" dirty="0" smtClean="0"/>
              <a:t>NUMA-aware scheduling</a:t>
            </a:r>
            <a:r>
              <a:rPr lang="en-US" dirty="0" smtClean="0"/>
              <a:t> means the OS scheduler schedules a process on the CPU </a:t>
            </a:r>
            <a:r>
              <a:rPr lang="en-US" b="1" dirty="0" smtClean="0"/>
              <a:t>closest to the memory it uses most</a:t>
            </a:r>
            <a:endParaRPr lang="en-US" dirty="0" smtClean="0"/>
          </a:p>
          <a:p>
            <a:r>
              <a:rPr lang="en-US" dirty="0" smtClean="0"/>
              <a:t>Goal:</a:t>
            </a:r>
          </a:p>
          <a:p>
            <a:pPr lvl="1"/>
            <a:r>
              <a:rPr lang="en-US" dirty="0" smtClean="0"/>
              <a:t>Minimize </a:t>
            </a:r>
            <a:r>
              <a:rPr lang="en-US" b="1" dirty="0" smtClean="0"/>
              <a:t>remote memory access</a:t>
            </a:r>
            <a:endParaRPr lang="en-US" dirty="0" smtClean="0"/>
          </a:p>
          <a:p>
            <a:pPr lvl="1"/>
            <a:r>
              <a:rPr lang="en-US" dirty="0" smtClean="0"/>
              <a:t>Maximize </a:t>
            </a:r>
            <a:r>
              <a:rPr lang="en-US" b="1" dirty="0" smtClean="0"/>
              <a:t>local memory access</a:t>
            </a:r>
            <a:endParaRPr lang="en-US" dirty="0" smtClean="0"/>
          </a:p>
          <a:p>
            <a:pPr lvl="1"/>
            <a:r>
              <a:rPr lang="en-US" dirty="0" smtClean="0"/>
              <a:t>Improve performance and scalability</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NUMA-Aware Scheduling is Needed</a:t>
            </a:r>
            <a:endParaRPr lang="en-US" dirty="0"/>
          </a:p>
        </p:txBody>
      </p:sp>
      <p:sp>
        <p:nvSpPr>
          <p:cNvPr id="3" name="Content Placeholder 2"/>
          <p:cNvSpPr>
            <a:spLocks noGrp="1"/>
          </p:cNvSpPr>
          <p:nvPr>
            <p:ph idx="1"/>
          </p:nvPr>
        </p:nvSpPr>
        <p:spPr/>
        <p:txBody>
          <a:bodyPr>
            <a:normAutofit lnSpcReduction="10000"/>
          </a:bodyPr>
          <a:lstStyle/>
          <a:p>
            <a:r>
              <a:rPr lang="en-US" b="1" dirty="0" smtClean="0"/>
              <a:t>Without NUMA Awareness:</a:t>
            </a:r>
          </a:p>
          <a:p>
            <a:pPr lvl="1"/>
            <a:r>
              <a:rPr lang="en-US" dirty="0" smtClean="0"/>
              <a:t>Process runs on CPU 0</a:t>
            </a:r>
          </a:p>
          <a:p>
            <a:pPr lvl="1"/>
            <a:r>
              <a:rPr lang="en-US" dirty="0" smtClean="0"/>
              <a:t>Data stored in Memory 1</a:t>
            </a:r>
          </a:p>
          <a:p>
            <a:pPr lvl="1"/>
            <a:r>
              <a:rPr lang="en-US" dirty="0" smtClean="0"/>
              <a:t>Every memory access crosses interconnect</a:t>
            </a:r>
          </a:p>
          <a:p>
            <a:pPr lvl="1"/>
            <a:r>
              <a:rPr lang="en-US" dirty="0" smtClean="0"/>
              <a:t>High latency + low throughput</a:t>
            </a:r>
          </a:p>
          <a:p>
            <a:r>
              <a:rPr lang="en-US" b="1" dirty="0" smtClean="0"/>
              <a:t>With NUMA Awareness:</a:t>
            </a:r>
          </a:p>
          <a:p>
            <a:pPr lvl="1"/>
            <a:r>
              <a:rPr lang="en-US" dirty="0" smtClean="0"/>
              <a:t>Process runs on CPU 1</a:t>
            </a:r>
          </a:p>
          <a:p>
            <a:pPr lvl="1"/>
            <a:r>
              <a:rPr lang="en-US" dirty="0" smtClean="0"/>
              <a:t>Data in Memory 1</a:t>
            </a:r>
          </a:p>
          <a:p>
            <a:pPr lvl="1"/>
            <a:r>
              <a:rPr lang="en-US" dirty="0" smtClean="0"/>
              <a:t>Local access → fast execution</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Concepts in NUMA-Aware Scheduling</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a) NUMA Nodes</a:t>
            </a:r>
          </a:p>
          <a:p>
            <a:pPr lvl="1"/>
            <a:r>
              <a:rPr lang="en-US" dirty="0" smtClean="0"/>
              <a:t>A </a:t>
            </a:r>
            <a:r>
              <a:rPr lang="en-US" b="1" dirty="0" smtClean="0"/>
              <a:t>NUMA node</a:t>
            </a:r>
            <a:r>
              <a:rPr lang="en-US" dirty="0" smtClean="0"/>
              <a:t> = CPU(s) + local memory</a:t>
            </a:r>
          </a:p>
          <a:p>
            <a:pPr lvl="1"/>
            <a:r>
              <a:rPr lang="en-US" dirty="0" smtClean="0"/>
              <a:t>System is divided into multiple nodes</a:t>
            </a:r>
          </a:p>
          <a:p>
            <a:r>
              <a:rPr lang="en-US" b="1" dirty="0" smtClean="0"/>
              <a:t>b) Memory Affinity</a:t>
            </a:r>
          </a:p>
          <a:p>
            <a:pPr lvl="1"/>
            <a:r>
              <a:rPr lang="en-US" dirty="0" smtClean="0"/>
              <a:t>Relationship between a process and its memory location</a:t>
            </a:r>
          </a:p>
          <a:p>
            <a:pPr lvl="1"/>
            <a:r>
              <a:rPr lang="en-US" dirty="0" smtClean="0"/>
              <a:t>Process performs best near its memory</a:t>
            </a:r>
          </a:p>
          <a:p>
            <a:r>
              <a:rPr lang="en-US" b="1" dirty="0" smtClean="0"/>
              <a:t>c) CPU Affinity </a:t>
            </a:r>
            <a:r>
              <a:rPr lang="en-US" b="1" dirty="0" err="1" smtClean="0"/>
              <a:t>vs</a:t>
            </a:r>
            <a:r>
              <a:rPr lang="en-US" b="1" dirty="0" smtClean="0"/>
              <a:t> NUMA Affinity</a:t>
            </a:r>
          </a:p>
          <a:p>
            <a:pPr lvl="1"/>
            <a:r>
              <a:rPr lang="en-US" dirty="0" err="1" smtClean="0"/>
              <a:t>TypeMeaningCPU</a:t>
            </a:r>
            <a:r>
              <a:rPr lang="en-US" dirty="0" smtClean="0"/>
              <a:t> </a:t>
            </a:r>
            <a:r>
              <a:rPr lang="en-US" dirty="0" err="1" smtClean="0"/>
              <a:t>affinityBind</a:t>
            </a:r>
            <a:r>
              <a:rPr lang="en-US" dirty="0" smtClean="0"/>
              <a:t> process to CPU/</a:t>
            </a:r>
            <a:r>
              <a:rPr lang="en-US" dirty="0" err="1" smtClean="0"/>
              <a:t>coreNUMA</a:t>
            </a:r>
            <a:r>
              <a:rPr lang="en-US" dirty="0" smtClean="0"/>
              <a:t> </a:t>
            </a:r>
            <a:r>
              <a:rPr lang="en-US" dirty="0" err="1" smtClean="0"/>
              <a:t>affinityBind</a:t>
            </a:r>
            <a:r>
              <a:rPr lang="en-US" dirty="0" smtClean="0"/>
              <a:t> process to NUMA node</a:t>
            </a:r>
          </a:p>
          <a:p>
            <a:pPr lvl="1"/>
            <a:r>
              <a:rPr lang="en-US" dirty="0" smtClean="0"/>
              <a:t>NUMA affinity is </a:t>
            </a:r>
            <a:r>
              <a:rPr lang="en-US" b="1" dirty="0" smtClean="0"/>
              <a:t>higher level and more important</a:t>
            </a:r>
            <a:r>
              <a:rPr lang="en-US" dirty="0" smtClean="0"/>
              <a:t> in large systems.</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OS Scheduler Becomes NUMA-Aware</a:t>
            </a:r>
            <a:endParaRPr lang="en-US" dirty="0"/>
          </a:p>
        </p:txBody>
      </p:sp>
      <p:sp>
        <p:nvSpPr>
          <p:cNvPr id="3" name="Content Placeholder 2"/>
          <p:cNvSpPr>
            <a:spLocks noGrp="1"/>
          </p:cNvSpPr>
          <p:nvPr>
            <p:ph idx="1"/>
          </p:nvPr>
        </p:nvSpPr>
        <p:spPr/>
        <p:txBody>
          <a:bodyPr/>
          <a:lstStyle/>
          <a:p>
            <a:r>
              <a:rPr lang="en-US" b="1" dirty="0" smtClean="0"/>
              <a:t>Step-by-Step:</a:t>
            </a:r>
          </a:p>
          <a:p>
            <a:r>
              <a:rPr lang="en-US" dirty="0" smtClean="0"/>
              <a:t>OS tracks:</a:t>
            </a:r>
          </a:p>
          <a:p>
            <a:pPr lvl="1"/>
            <a:r>
              <a:rPr lang="en-US" dirty="0" smtClean="0"/>
              <a:t>Where process memory pages are allocated</a:t>
            </a:r>
          </a:p>
          <a:p>
            <a:r>
              <a:rPr lang="en-US" dirty="0" smtClean="0"/>
              <a:t>Scheduler detects:</a:t>
            </a:r>
          </a:p>
          <a:p>
            <a:pPr lvl="1"/>
            <a:r>
              <a:rPr lang="en-US" dirty="0" smtClean="0"/>
              <a:t>Which NUMA node the process mostly accesses</a:t>
            </a:r>
          </a:p>
          <a:p>
            <a:r>
              <a:rPr lang="en-US" dirty="0" smtClean="0"/>
              <a:t>Process scheduled on:</a:t>
            </a:r>
          </a:p>
          <a:p>
            <a:pPr lvl="1"/>
            <a:r>
              <a:rPr lang="en-US" dirty="0" smtClean="0"/>
              <a:t>CPU cores within the </a:t>
            </a:r>
            <a:r>
              <a:rPr lang="en-US" b="1" dirty="0" smtClean="0"/>
              <a:t>same NUMA node</a:t>
            </a:r>
            <a:endParaRPr lang="en-US" dirty="0" smtClean="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Placement Policies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a) First-Touch Policy</a:t>
            </a:r>
          </a:p>
          <a:p>
            <a:pPr lvl="1"/>
            <a:r>
              <a:rPr lang="en-US" dirty="0" smtClean="0"/>
              <a:t>Memory page allocated on </a:t>
            </a:r>
            <a:r>
              <a:rPr lang="en-US" b="1" dirty="0" smtClean="0"/>
              <a:t>NUMA node of CPU that first accesses it</a:t>
            </a:r>
            <a:endParaRPr lang="en-US" dirty="0" smtClean="0"/>
          </a:p>
          <a:p>
            <a:pPr lvl="1"/>
            <a:r>
              <a:rPr lang="en-US" dirty="0" smtClean="0"/>
              <a:t>Common in Linux</a:t>
            </a:r>
          </a:p>
          <a:p>
            <a:pPr lvl="1"/>
            <a:r>
              <a:rPr lang="en-US" dirty="0" smtClean="0"/>
              <a:t>Example:</a:t>
            </a:r>
          </a:p>
          <a:p>
            <a:pPr lvl="1"/>
            <a:r>
              <a:rPr lang="en-US" dirty="0" smtClean="0"/>
              <a:t>Thread runs on Node 0</a:t>
            </a:r>
          </a:p>
          <a:p>
            <a:pPr lvl="1"/>
            <a:r>
              <a:rPr lang="en-US" dirty="0" smtClean="0"/>
              <a:t>First writes to memory</a:t>
            </a:r>
          </a:p>
          <a:p>
            <a:pPr lvl="1"/>
            <a:r>
              <a:rPr lang="en-US" dirty="0" smtClean="0"/>
              <a:t>Memory placed on Node 0</a:t>
            </a:r>
          </a:p>
          <a:p>
            <a:r>
              <a:rPr lang="en-US" b="1" dirty="0" smtClean="0"/>
              <a:t>b) Interleaving</a:t>
            </a:r>
          </a:p>
          <a:p>
            <a:pPr lvl="1"/>
            <a:r>
              <a:rPr lang="en-US" dirty="0" smtClean="0"/>
              <a:t>Memory pages distributed across NUMA nodes</a:t>
            </a:r>
          </a:p>
          <a:p>
            <a:pPr lvl="1"/>
            <a:r>
              <a:rPr lang="en-US" dirty="0" smtClean="0"/>
              <a:t>Used for bandwidth-heavy workloads</a:t>
            </a:r>
          </a:p>
          <a:p>
            <a:r>
              <a:rPr lang="en-US" b="1" dirty="0" smtClean="0"/>
              <a:t>c) Preferred Node</a:t>
            </a:r>
          </a:p>
          <a:p>
            <a:pPr lvl="1"/>
            <a:r>
              <a:rPr lang="en-US" dirty="0" smtClean="0"/>
              <a:t>Application prefers one NUMA node</a:t>
            </a:r>
          </a:p>
          <a:p>
            <a:pPr lvl="1"/>
            <a:r>
              <a:rPr lang="en-US" dirty="0" smtClean="0"/>
              <a:t>OS tries to allocate memory there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v-SE" dirty="0" smtClean="0"/>
              <a:t>Process Migration in NUMA Systems</a:t>
            </a:r>
            <a:endParaRPr lang="en-US" dirty="0"/>
          </a:p>
        </p:txBody>
      </p:sp>
      <p:sp>
        <p:nvSpPr>
          <p:cNvPr id="3" name="Content Placeholder 2"/>
          <p:cNvSpPr>
            <a:spLocks noGrp="1"/>
          </p:cNvSpPr>
          <p:nvPr>
            <p:ph idx="1"/>
          </p:nvPr>
        </p:nvSpPr>
        <p:spPr/>
        <p:txBody>
          <a:bodyPr>
            <a:normAutofit/>
          </a:bodyPr>
          <a:lstStyle/>
          <a:p>
            <a:r>
              <a:rPr lang="en-US" b="1" dirty="0" smtClean="0"/>
              <a:t>Bad Migration:</a:t>
            </a:r>
          </a:p>
          <a:p>
            <a:pPr lvl="1"/>
            <a:r>
              <a:rPr lang="en-US" dirty="0" smtClean="0"/>
              <a:t>Process moved to another NUMA node</a:t>
            </a:r>
          </a:p>
          <a:p>
            <a:pPr lvl="1"/>
            <a:r>
              <a:rPr lang="en-US" dirty="0" smtClean="0"/>
              <a:t>Memory stays in original node</a:t>
            </a:r>
          </a:p>
          <a:p>
            <a:pPr lvl="1"/>
            <a:r>
              <a:rPr lang="en-US" dirty="0" smtClean="0"/>
              <a:t>Causes </a:t>
            </a:r>
            <a:r>
              <a:rPr lang="en-US" b="1" dirty="0" smtClean="0"/>
              <a:t>remote memory access</a:t>
            </a:r>
            <a:endParaRPr lang="en-US" dirty="0" smtClean="0"/>
          </a:p>
          <a:p>
            <a:r>
              <a:rPr lang="en-US" b="1" dirty="0" smtClean="0"/>
              <a:t>NUMA-Aware Migration:</a:t>
            </a:r>
          </a:p>
          <a:p>
            <a:r>
              <a:rPr lang="en-US" dirty="0" smtClean="0"/>
              <a:t>Either:</a:t>
            </a:r>
          </a:p>
          <a:p>
            <a:pPr lvl="1"/>
            <a:r>
              <a:rPr lang="en-US" dirty="0" smtClean="0"/>
              <a:t>Avoid migration</a:t>
            </a:r>
          </a:p>
          <a:p>
            <a:pPr lvl="1"/>
            <a:r>
              <a:rPr lang="en-US" dirty="0" smtClean="0"/>
              <a:t>Or migrate memory pages along with process</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NUMA-Aware Scheduling</a:t>
            </a:r>
            <a:endParaRPr lang="en-US" dirty="0"/>
          </a:p>
        </p:txBody>
      </p:sp>
      <p:sp>
        <p:nvSpPr>
          <p:cNvPr id="3" name="Content Placeholder 2"/>
          <p:cNvSpPr>
            <a:spLocks noGrp="1"/>
          </p:cNvSpPr>
          <p:nvPr>
            <p:ph idx="1"/>
          </p:nvPr>
        </p:nvSpPr>
        <p:spPr/>
        <p:txBody>
          <a:bodyPr/>
          <a:lstStyle/>
          <a:p>
            <a:r>
              <a:rPr lang="en-US" dirty="0" smtClean="0"/>
              <a:t>Reduced remote memory access</a:t>
            </a:r>
          </a:p>
          <a:p>
            <a:r>
              <a:rPr lang="en-US" dirty="0" smtClean="0"/>
              <a:t>Lower memory latency</a:t>
            </a:r>
          </a:p>
          <a:p>
            <a:r>
              <a:rPr lang="en-US" dirty="0" smtClean="0"/>
              <a:t>Better cache utilization</a:t>
            </a:r>
          </a:p>
          <a:p>
            <a:r>
              <a:rPr lang="en-US" dirty="0" smtClean="0"/>
              <a:t>Higher throughput</a:t>
            </a:r>
          </a:p>
          <a:p>
            <a:r>
              <a:rPr lang="en-US" dirty="0" smtClean="0"/>
              <a:t>Improved scalability for servers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Real-World Use Cases</a:t>
            </a:r>
            <a:endParaRPr lang="en-US" dirty="0"/>
          </a:p>
        </p:txBody>
      </p:sp>
      <p:sp>
        <p:nvSpPr>
          <p:cNvPr id="3" name="Content Placeholder 2"/>
          <p:cNvSpPr>
            <a:spLocks noGrp="1"/>
          </p:cNvSpPr>
          <p:nvPr>
            <p:ph idx="1"/>
          </p:nvPr>
        </p:nvSpPr>
        <p:spPr/>
        <p:txBody>
          <a:bodyPr/>
          <a:lstStyle/>
          <a:p>
            <a:r>
              <a:rPr lang="en-US" dirty="0" smtClean="0"/>
              <a:t>Cloud computing</a:t>
            </a:r>
          </a:p>
          <a:p>
            <a:r>
              <a:rPr lang="en-US" dirty="0" smtClean="0"/>
              <a:t>Databases (Oracle, </a:t>
            </a:r>
            <a:r>
              <a:rPr lang="en-US" dirty="0" err="1" smtClean="0"/>
              <a:t>MySQL</a:t>
            </a:r>
            <a:r>
              <a:rPr lang="en-US" dirty="0" smtClean="0"/>
              <a:t>)</a:t>
            </a:r>
          </a:p>
          <a:p>
            <a:r>
              <a:rPr lang="en-US" dirty="0" smtClean="0"/>
              <a:t>Big data platforms (</a:t>
            </a:r>
            <a:r>
              <a:rPr lang="en-US" dirty="0" err="1" smtClean="0"/>
              <a:t>Hadoop</a:t>
            </a:r>
            <a:r>
              <a:rPr lang="en-US" dirty="0" smtClean="0"/>
              <a:t>, Spark)</a:t>
            </a:r>
          </a:p>
          <a:p>
            <a:r>
              <a:rPr lang="en-US" dirty="0" smtClean="0"/>
              <a:t>Virtual machines &amp; containers</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Thread Libraries</a:t>
            </a:r>
          </a:p>
        </p:txBody>
      </p:sp>
      <p:sp>
        <p:nvSpPr>
          <p:cNvPr id="3" name="Content Placeholder 2"/>
          <p:cNvSpPr>
            <a:spLocks noGrp="1"/>
          </p:cNvSpPr>
          <p:nvPr>
            <p:ph idx="1"/>
          </p:nvPr>
        </p:nvSpPr>
        <p:spPr/>
        <p:txBody>
          <a:bodyPr>
            <a:normAutofit fontScale="55000" lnSpcReduction="20000"/>
          </a:bodyPr>
          <a:lstStyle/>
          <a:p>
            <a:r>
              <a:rPr lang="en-US" dirty="0" smtClean="0"/>
              <a:t>A </a:t>
            </a:r>
            <a:r>
              <a:rPr lang="en-US" b="1" dirty="0" smtClean="0"/>
              <a:t>thread</a:t>
            </a:r>
            <a:r>
              <a:rPr lang="en-US" dirty="0" smtClean="0"/>
              <a:t> is the smallest unit of CPU execution within a process.</a:t>
            </a:r>
            <a:br>
              <a:rPr lang="en-US" dirty="0" smtClean="0"/>
            </a:br>
            <a:r>
              <a:rPr lang="en-US" dirty="0" smtClean="0"/>
              <a:t>A process can have </a:t>
            </a:r>
            <a:r>
              <a:rPr lang="en-US" b="1" dirty="0" smtClean="0"/>
              <a:t>multiple threads</a:t>
            </a:r>
            <a:r>
              <a:rPr lang="en-US" dirty="0" smtClean="0"/>
              <a:t> that share:</a:t>
            </a:r>
          </a:p>
          <a:p>
            <a:pPr lvl="1"/>
            <a:r>
              <a:rPr lang="en-US" dirty="0" smtClean="0"/>
              <a:t>Code</a:t>
            </a:r>
          </a:p>
          <a:p>
            <a:pPr lvl="1"/>
            <a:r>
              <a:rPr lang="en-US" dirty="0" smtClean="0"/>
              <a:t>Data</a:t>
            </a:r>
          </a:p>
          <a:p>
            <a:pPr lvl="1"/>
            <a:r>
              <a:rPr lang="en-US" dirty="0" smtClean="0"/>
              <a:t>Files</a:t>
            </a:r>
            <a:br>
              <a:rPr lang="en-US" dirty="0" smtClean="0"/>
            </a:br>
            <a:r>
              <a:rPr lang="en-US" dirty="0" smtClean="0"/>
              <a:t>but each thread has its </a:t>
            </a:r>
            <a:r>
              <a:rPr lang="en-US" b="1" dirty="0" smtClean="0"/>
              <a:t>own stack and registers</a:t>
            </a:r>
            <a:r>
              <a:rPr lang="en-US" dirty="0" smtClean="0"/>
              <a:t>.</a:t>
            </a:r>
          </a:p>
          <a:p>
            <a:r>
              <a:rPr lang="en-US" b="1" dirty="0" smtClean="0"/>
              <a:t>User-level threads</a:t>
            </a:r>
            <a:r>
              <a:rPr lang="en-US" dirty="0" smtClean="0"/>
              <a:t> are managed </a:t>
            </a:r>
            <a:r>
              <a:rPr lang="en-US" b="1" dirty="0" smtClean="0"/>
              <a:t>entirely by a user-level library</a:t>
            </a:r>
            <a:r>
              <a:rPr lang="en-US" dirty="0" smtClean="0"/>
              <a:t>, without the kernel’s awareness.</a:t>
            </a:r>
          </a:p>
          <a:p>
            <a:pPr lvl="1"/>
            <a:r>
              <a:rPr lang="en-US" dirty="0" smtClean="0"/>
              <a:t>The </a:t>
            </a:r>
            <a:r>
              <a:rPr lang="en-US" b="1" dirty="0" smtClean="0"/>
              <a:t>OS sees only one process</a:t>
            </a:r>
            <a:r>
              <a:rPr lang="en-US" dirty="0" smtClean="0"/>
              <a:t>, even if it contains many threads.</a:t>
            </a:r>
          </a:p>
          <a:p>
            <a:pPr lvl="1"/>
            <a:r>
              <a:rPr lang="en-US" dirty="0" smtClean="0"/>
              <a:t>Thread creation, scheduling, and management are done in </a:t>
            </a:r>
            <a:r>
              <a:rPr lang="en-US" b="1" dirty="0" smtClean="0"/>
              <a:t>user space</a:t>
            </a:r>
            <a:endParaRPr lang="en-US" dirty="0" smtClean="0"/>
          </a:p>
          <a:p>
            <a:pPr lvl="1"/>
            <a:r>
              <a:rPr lang="en-US" dirty="0" smtClean="0"/>
              <a:t>Kernel is </a:t>
            </a:r>
            <a:r>
              <a:rPr lang="en-US" b="1" dirty="0" smtClean="0"/>
              <a:t>not involved</a:t>
            </a:r>
            <a:r>
              <a:rPr lang="en-US" dirty="0" smtClean="0"/>
              <a:t> in thread operations</a:t>
            </a:r>
          </a:p>
          <a:p>
            <a:endParaRPr lang="en-US" dirty="0" smtClean="0"/>
          </a:p>
          <a:p>
            <a:r>
              <a:rPr lang="en-US" b="1" dirty="0" smtClean="0"/>
              <a:t>Kernel-level threads</a:t>
            </a:r>
            <a:r>
              <a:rPr lang="en-US" dirty="0" smtClean="0"/>
              <a:t> are managed </a:t>
            </a:r>
            <a:r>
              <a:rPr lang="en-US" b="1" dirty="0" smtClean="0"/>
              <a:t>directly by the operating system kernel</a:t>
            </a:r>
            <a:r>
              <a:rPr lang="en-US" dirty="0" smtClean="0"/>
              <a:t>.</a:t>
            </a:r>
          </a:p>
          <a:p>
            <a:r>
              <a:rPr lang="en-US" dirty="0" smtClean="0"/>
              <a:t>👉 The OS </a:t>
            </a:r>
            <a:r>
              <a:rPr lang="en-US" b="1" dirty="0" smtClean="0"/>
              <a:t>knows about each thread</a:t>
            </a:r>
            <a:r>
              <a:rPr lang="en-US" dirty="0" smtClean="0"/>
              <a:t> and schedules them individually.</a:t>
            </a:r>
          </a:p>
          <a:p>
            <a:r>
              <a:rPr lang="en-US" dirty="0" smtClean="0"/>
              <a:t>Kernel handles creation, scheduling, and synchronization</a:t>
            </a:r>
          </a:p>
          <a:p>
            <a:r>
              <a:rPr lang="en-US" dirty="0" smtClean="0"/>
              <a:t>Each thread can run on </a:t>
            </a:r>
            <a:r>
              <a:rPr lang="en-US" b="1" dirty="0" smtClean="0"/>
              <a:t>different CPU cores</a:t>
            </a:r>
            <a:endParaRPr lang="en-US"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Thread Libraries</a:t>
            </a:r>
          </a:p>
        </p:txBody>
      </p:sp>
      <p:sp>
        <p:nvSpPr>
          <p:cNvPr id="3" name="Content Placeholder 2"/>
          <p:cNvSpPr>
            <a:spLocks noGrp="1"/>
          </p:cNvSpPr>
          <p:nvPr>
            <p:ph idx="1"/>
          </p:nvPr>
        </p:nvSpPr>
        <p:spPr/>
        <p:txBody>
          <a:bodyPr>
            <a:normAutofit/>
          </a:bodyPr>
          <a:lstStyle/>
          <a:p>
            <a:r>
              <a:rPr lang="en-US" dirty="0" smtClean="0"/>
              <a:t>Thread libraries provide API for thread management</a:t>
            </a:r>
          </a:p>
          <a:p>
            <a:r>
              <a:rPr lang="en-US" dirty="0" smtClean="0"/>
              <a:t>Examples:</a:t>
            </a:r>
          </a:p>
          <a:p>
            <a:pPr lvl="1"/>
            <a:r>
              <a:rPr lang="en-US" dirty="0" smtClean="0"/>
              <a:t>POSIX Threads (</a:t>
            </a:r>
            <a:r>
              <a:rPr lang="en-US" dirty="0" err="1" smtClean="0"/>
              <a:t>Pthreads</a:t>
            </a:r>
            <a:r>
              <a:rPr lang="en-US" dirty="0" smtClean="0"/>
              <a:t>)</a:t>
            </a:r>
          </a:p>
          <a:p>
            <a:pPr lvl="1"/>
            <a:r>
              <a:rPr lang="en-US" dirty="0" smtClean="0"/>
              <a:t>Windows Threads</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Real-Time Synchronization</a:t>
            </a:r>
          </a:p>
        </p:txBody>
      </p:sp>
      <p:sp>
        <p:nvSpPr>
          <p:cNvPr id="3" name="Content Placeholder 2"/>
          <p:cNvSpPr>
            <a:spLocks noGrp="1"/>
          </p:cNvSpPr>
          <p:nvPr>
            <p:ph idx="1"/>
          </p:nvPr>
        </p:nvSpPr>
        <p:spPr/>
        <p:txBody>
          <a:bodyPr/>
          <a:lstStyle/>
          <a:p>
            <a:r>
              <a:rPr lang="en-US" dirty="0" smtClean="0"/>
              <a:t>Used in time-critical systems</a:t>
            </a:r>
          </a:p>
          <a:p>
            <a:r>
              <a:rPr lang="en-US" dirty="0" smtClean="0"/>
              <a:t>Ensures predictable execution</a:t>
            </a:r>
          </a:p>
          <a:p>
            <a:r>
              <a:rPr lang="en-US" dirty="0" smtClean="0"/>
              <a:t>Key mechanisms:</a:t>
            </a:r>
          </a:p>
          <a:p>
            <a:pPr lvl="1"/>
            <a:r>
              <a:rPr lang="en-US" dirty="0" smtClean="0"/>
              <a:t>Semaphores</a:t>
            </a:r>
          </a:p>
          <a:p>
            <a:pPr lvl="1"/>
            <a:r>
              <a:rPr lang="en-US" dirty="0" smtClean="0"/>
              <a:t>Condition variables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Synchronization</a:t>
            </a:r>
            <a:r>
              <a:rPr lang="en-US" dirty="0" smtClean="0"/>
              <a:t> is the mechanism that ensures:</a:t>
            </a:r>
          </a:p>
          <a:p>
            <a:pPr lvl="1"/>
            <a:r>
              <a:rPr lang="en-US" dirty="0" smtClean="0"/>
              <a:t>Correct ordering of execution</a:t>
            </a:r>
          </a:p>
          <a:p>
            <a:pPr lvl="1"/>
            <a:r>
              <a:rPr lang="en-US" dirty="0" smtClean="0"/>
              <a:t>Safe access to shared resources</a:t>
            </a:r>
          </a:p>
          <a:p>
            <a:pPr lvl="1"/>
            <a:r>
              <a:rPr lang="en-US" dirty="0" smtClean="0"/>
              <a:t>Predictable timing behavior</a:t>
            </a:r>
          </a:p>
          <a:p>
            <a:r>
              <a:rPr lang="en-US" dirty="0" smtClean="0"/>
              <a:t>In </a:t>
            </a:r>
            <a:r>
              <a:rPr lang="en-US" b="1" dirty="0" smtClean="0"/>
              <a:t>real-time systems</a:t>
            </a:r>
            <a:r>
              <a:rPr lang="en-US" dirty="0" smtClean="0"/>
              <a:t>, synchronization must satisfy:</a:t>
            </a:r>
          </a:p>
          <a:p>
            <a:pPr lvl="1"/>
            <a:r>
              <a:rPr lang="en-US" b="1" dirty="0" smtClean="0"/>
              <a:t>Correctness</a:t>
            </a:r>
            <a:endParaRPr lang="en-US" dirty="0" smtClean="0"/>
          </a:p>
          <a:p>
            <a:pPr lvl="1"/>
            <a:r>
              <a:rPr lang="en-US" b="1" dirty="0" smtClean="0"/>
              <a:t>Bounded blocking time</a:t>
            </a:r>
            <a:endParaRPr lang="en-US" dirty="0" smtClean="0"/>
          </a:p>
          <a:p>
            <a:pPr lvl="1"/>
            <a:r>
              <a:rPr lang="en-US" b="1" dirty="0" smtClean="0"/>
              <a:t>Predictability</a:t>
            </a:r>
            <a:endParaRPr lang="en-US" dirty="0" smtClean="0"/>
          </a:p>
          <a:p>
            <a:r>
              <a:rPr lang="en-US" dirty="0" smtClean="0"/>
              <a:t>Missing deadlines can cause </a:t>
            </a:r>
            <a:r>
              <a:rPr lang="en-US" b="1" dirty="0" smtClean="0"/>
              <a:t>system failure</a:t>
            </a:r>
            <a:r>
              <a:rPr lang="en-US" dirty="0" smtClean="0"/>
              <a:t>.</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Synchronization is Critical in Real-Time Systems</a:t>
            </a:r>
            <a:endParaRPr lang="en-US" dirty="0"/>
          </a:p>
        </p:txBody>
      </p:sp>
      <p:sp>
        <p:nvSpPr>
          <p:cNvPr id="3" name="Content Placeholder 2"/>
          <p:cNvSpPr>
            <a:spLocks noGrp="1"/>
          </p:cNvSpPr>
          <p:nvPr>
            <p:ph idx="1"/>
          </p:nvPr>
        </p:nvSpPr>
        <p:spPr/>
        <p:txBody>
          <a:bodyPr>
            <a:normAutofit lnSpcReduction="10000"/>
          </a:bodyPr>
          <a:lstStyle/>
          <a:p>
            <a:r>
              <a:rPr lang="en-US" dirty="0" smtClean="0"/>
              <a:t>Real-time tasks often:</a:t>
            </a:r>
          </a:p>
          <a:p>
            <a:pPr lvl="1"/>
            <a:r>
              <a:rPr lang="en-US" dirty="0" smtClean="0"/>
              <a:t>Share hardware resources (I/O devices, buffers)</a:t>
            </a:r>
          </a:p>
          <a:p>
            <a:pPr lvl="1"/>
            <a:r>
              <a:rPr lang="en-US" dirty="0" smtClean="0"/>
              <a:t>Share data structures</a:t>
            </a:r>
          </a:p>
          <a:p>
            <a:pPr lvl="1"/>
            <a:r>
              <a:rPr lang="en-US" dirty="0" smtClean="0"/>
              <a:t>Run with </a:t>
            </a:r>
            <a:r>
              <a:rPr lang="en-US" b="1" dirty="0" smtClean="0"/>
              <a:t>priorities</a:t>
            </a:r>
            <a:endParaRPr lang="en-US" dirty="0" smtClean="0"/>
          </a:p>
          <a:p>
            <a:r>
              <a:rPr lang="en-US" dirty="0" smtClean="0"/>
              <a:t>Problems without proper synchronization:</a:t>
            </a:r>
          </a:p>
          <a:p>
            <a:pPr lvl="1"/>
            <a:r>
              <a:rPr lang="en-US" dirty="0" smtClean="0"/>
              <a:t>Race conditions</a:t>
            </a:r>
          </a:p>
          <a:p>
            <a:pPr lvl="1"/>
            <a:r>
              <a:rPr lang="en-US" dirty="0" smtClean="0"/>
              <a:t>Deadlocks</a:t>
            </a:r>
          </a:p>
          <a:p>
            <a:pPr lvl="1"/>
            <a:r>
              <a:rPr lang="en-US" dirty="0" smtClean="0"/>
              <a:t>Priority inversion</a:t>
            </a:r>
          </a:p>
          <a:p>
            <a:pPr lvl="1"/>
            <a:r>
              <a:rPr lang="en-US" dirty="0" smtClean="0"/>
              <a:t>Missed deadlines</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Semaphores</a:t>
            </a:r>
          </a:p>
        </p:txBody>
      </p:sp>
      <p:sp>
        <p:nvSpPr>
          <p:cNvPr id="3" name="Content Placeholder 2"/>
          <p:cNvSpPr>
            <a:spLocks noGrp="1"/>
          </p:cNvSpPr>
          <p:nvPr>
            <p:ph idx="1"/>
          </p:nvPr>
        </p:nvSpPr>
        <p:spPr/>
        <p:txBody>
          <a:bodyPr>
            <a:normAutofit fontScale="85000" lnSpcReduction="20000"/>
          </a:bodyPr>
          <a:lstStyle/>
          <a:p>
            <a:r>
              <a:rPr lang="en-US" dirty="0" smtClean="0"/>
              <a:t>A </a:t>
            </a:r>
            <a:r>
              <a:rPr lang="en-US" b="1" dirty="0" smtClean="0"/>
              <a:t>semaphore</a:t>
            </a:r>
            <a:r>
              <a:rPr lang="en-US" dirty="0" smtClean="0"/>
              <a:t> is an integer variable used in mutual exclusive manner to control access to shared resources using two atomic operations:</a:t>
            </a:r>
          </a:p>
          <a:p>
            <a:r>
              <a:rPr lang="en-US" b="1" dirty="0" smtClean="0"/>
              <a:t>wait() / P() / down()</a:t>
            </a:r>
            <a:endParaRPr lang="en-US" dirty="0" smtClean="0"/>
          </a:p>
          <a:p>
            <a:r>
              <a:rPr lang="en-US" b="1" dirty="0" smtClean="0"/>
              <a:t>signal() / V() / up()</a:t>
            </a:r>
            <a:endParaRPr lang="en-US" dirty="0" smtClean="0"/>
          </a:p>
          <a:p>
            <a:r>
              <a:rPr lang="en-US" dirty="0" smtClean="0"/>
              <a:t>Types:</a:t>
            </a:r>
          </a:p>
          <a:p>
            <a:pPr lvl="1"/>
            <a:r>
              <a:rPr lang="en-US" dirty="0" smtClean="0"/>
              <a:t>Binary semaphore</a:t>
            </a:r>
          </a:p>
          <a:p>
            <a:pPr lvl="1"/>
            <a:r>
              <a:rPr lang="en-US" dirty="0" smtClean="0"/>
              <a:t>Counting semaphore</a:t>
            </a:r>
          </a:p>
          <a:p>
            <a:r>
              <a:rPr lang="en-US" dirty="0" smtClean="0"/>
              <a:t>Operations:</a:t>
            </a:r>
          </a:p>
          <a:p>
            <a:pPr lvl="1"/>
            <a:r>
              <a:rPr lang="en-US" dirty="0" smtClean="0"/>
              <a:t>wait()</a:t>
            </a:r>
          </a:p>
          <a:p>
            <a:pPr lvl="1"/>
            <a:r>
              <a:rPr lang="en-US" dirty="0" smtClean="0"/>
              <a:t>signal()</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 operations</a:t>
            </a:r>
            <a:endParaRPr lang="en-US" dirty="0"/>
          </a:p>
        </p:txBody>
      </p:sp>
      <p:sp>
        <p:nvSpPr>
          <p:cNvPr id="3" name="Content Placeholder 2"/>
          <p:cNvSpPr>
            <a:spLocks noGrp="1"/>
          </p:cNvSpPr>
          <p:nvPr>
            <p:ph idx="1"/>
          </p:nvPr>
        </p:nvSpPr>
        <p:spPr/>
        <p:txBody>
          <a:bodyPr/>
          <a:lstStyle/>
          <a:p>
            <a:pPr>
              <a:buNone/>
            </a:pPr>
            <a:r>
              <a:rPr lang="en-US" dirty="0" smtClean="0"/>
              <a:t>wait(S):</a:t>
            </a:r>
          </a:p>
          <a:p>
            <a:pPr>
              <a:buNone/>
            </a:pPr>
            <a:r>
              <a:rPr lang="en-US" dirty="0" smtClean="0"/>
              <a:t>	if S &gt; 0 → S = S − 1</a:t>
            </a:r>
          </a:p>
          <a:p>
            <a:pPr>
              <a:buNone/>
            </a:pPr>
            <a:r>
              <a:rPr lang="en-US" dirty="0" smtClean="0"/>
              <a:t>	else → block task</a:t>
            </a:r>
          </a:p>
          <a:p>
            <a:endParaRPr lang="en-US" dirty="0" smtClean="0"/>
          </a:p>
          <a:p>
            <a:pPr>
              <a:buNone/>
            </a:pPr>
            <a:r>
              <a:rPr lang="en-US" dirty="0" smtClean="0"/>
              <a:t>signal(S):</a:t>
            </a:r>
          </a:p>
          <a:p>
            <a:pPr>
              <a:buNone/>
            </a:pPr>
            <a:r>
              <a:rPr lang="en-US" dirty="0" smtClean="0"/>
              <a:t>	S = S + 1</a:t>
            </a:r>
          </a:p>
          <a:p>
            <a:pPr>
              <a:buNone/>
            </a:pPr>
            <a:r>
              <a:rPr lang="en-US" dirty="0" smtClean="0"/>
              <a:t>	if tasks blocked (s&lt;=0)→ wake one</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Semaphores</a:t>
            </a:r>
            <a:endParaRPr lang="en-US" dirty="0"/>
          </a:p>
        </p:txBody>
      </p:sp>
      <p:sp>
        <p:nvSpPr>
          <p:cNvPr id="3" name="Content Placeholder 2"/>
          <p:cNvSpPr>
            <a:spLocks noGrp="1"/>
          </p:cNvSpPr>
          <p:nvPr>
            <p:ph idx="1"/>
          </p:nvPr>
        </p:nvSpPr>
        <p:spPr/>
        <p:txBody>
          <a:bodyPr/>
          <a:lstStyle/>
          <a:p>
            <a:r>
              <a:rPr lang="en-US" b="1" dirty="0" smtClean="0"/>
              <a:t>Problems with Semaphores in Real-Time</a:t>
            </a:r>
          </a:p>
          <a:p>
            <a:pPr>
              <a:buNone/>
            </a:pPr>
            <a:r>
              <a:rPr lang="en-US" dirty="0" smtClean="0"/>
              <a:t>Unbounded blocking</a:t>
            </a:r>
          </a:p>
          <a:p>
            <a:pPr>
              <a:buNone/>
            </a:pPr>
            <a:r>
              <a:rPr lang="en-US" dirty="0" smtClean="0"/>
              <a:t>Priority inversion</a:t>
            </a:r>
          </a:p>
          <a:p>
            <a:pPr>
              <a:buNone/>
            </a:pPr>
            <a:r>
              <a:rPr lang="en-US" dirty="0" smtClean="0"/>
              <a:t>Deadlock possibility</a:t>
            </a:r>
          </a:p>
          <a:p>
            <a:pPr>
              <a:buNone/>
            </a:pPr>
            <a:r>
              <a:rPr lang="en-US" dirty="0" smtClean="0"/>
              <a:t>Hard to debug</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Condition Variables</a:t>
            </a:r>
          </a:p>
        </p:txBody>
      </p:sp>
      <p:sp>
        <p:nvSpPr>
          <p:cNvPr id="3" name="Content Placeholder 2"/>
          <p:cNvSpPr>
            <a:spLocks noGrp="1"/>
          </p:cNvSpPr>
          <p:nvPr>
            <p:ph idx="1"/>
          </p:nvPr>
        </p:nvSpPr>
        <p:spPr/>
        <p:txBody>
          <a:bodyPr>
            <a:normAutofit/>
          </a:bodyPr>
          <a:lstStyle/>
          <a:p>
            <a:r>
              <a:rPr lang="en-US" dirty="0" smtClean="0"/>
              <a:t>Used with </a:t>
            </a:r>
            <a:r>
              <a:rPr lang="en-US" dirty="0" err="1" smtClean="0"/>
              <a:t>mutex</a:t>
            </a:r>
            <a:r>
              <a:rPr lang="en-US" dirty="0" smtClean="0"/>
              <a:t> locks</a:t>
            </a:r>
          </a:p>
          <a:p>
            <a:r>
              <a:rPr lang="en-US" dirty="0" smtClean="0"/>
              <a:t>Allows threads to wait for conditions</a:t>
            </a:r>
          </a:p>
          <a:p>
            <a:endParaRPr lang="en-US" dirty="0" smtClean="0"/>
          </a:p>
          <a:p>
            <a:r>
              <a:rPr lang="en-US" dirty="0" smtClean="0"/>
              <a:t>Producer–Consumer Using Condition Variables</a:t>
            </a:r>
          </a:p>
          <a:p>
            <a:r>
              <a:rPr lang="en-US" b="1" dirty="0" smtClean="0"/>
              <a:t>Condition Variables Used</a:t>
            </a:r>
          </a:p>
          <a:p>
            <a:pPr lvl="1"/>
            <a:r>
              <a:rPr lang="en-US" dirty="0" err="1" smtClean="0"/>
              <a:t>not_full</a:t>
            </a:r>
            <a:endParaRPr lang="en-US" dirty="0" smtClean="0"/>
          </a:p>
          <a:p>
            <a:pPr lvl="1"/>
            <a:r>
              <a:rPr lang="en-US" dirty="0" err="1" smtClean="0"/>
              <a:t>not_empty</a:t>
            </a:r>
            <a:endParaRPr lang="en-US" dirty="0" smtClean="0"/>
          </a:p>
          <a:p>
            <a:pPr lvl="1"/>
            <a:r>
              <a:rPr lang="en-US" dirty="0" err="1" smtClean="0"/>
              <a:t>mutex</a:t>
            </a:r>
            <a:endParaRPr lang="en-US" dirty="0" smtClean="0"/>
          </a:p>
          <a:p>
            <a:endParaRPr lang="en-US"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smtClean="0"/>
              <a:t>Explanation:</a:t>
            </a:r>
            <a:endParaRPr lang="en-US" dirty="0" smtClean="0"/>
          </a:p>
          <a:p>
            <a:r>
              <a:rPr lang="en-US" dirty="0" err="1" smtClean="0"/>
              <a:t>mutex</a:t>
            </a:r>
            <a:r>
              <a:rPr lang="en-US" dirty="0" smtClean="0"/>
              <a:t> lock;</a:t>
            </a:r>
          </a:p>
          <a:p>
            <a:pPr lvl="1"/>
            <a:r>
              <a:rPr lang="en-US" dirty="0" smtClean="0"/>
              <a:t>A </a:t>
            </a:r>
            <a:r>
              <a:rPr lang="en-US" b="1" dirty="0" smtClean="0"/>
              <a:t>mutual exclusion lock</a:t>
            </a:r>
            <a:r>
              <a:rPr lang="en-US" dirty="0" smtClean="0"/>
              <a:t> to ensure </a:t>
            </a:r>
            <a:r>
              <a:rPr lang="en-US" b="1" dirty="0" smtClean="0"/>
              <a:t>only one thread accesses the buffer at a time</a:t>
            </a:r>
            <a:r>
              <a:rPr lang="en-US" dirty="0" smtClean="0"/>
              <a:t>.</a:t>
            </a:r>
          </a:p>
          <a:p>
            <a:r>
              <a:rPr lang="en-US" dirty="0" smtClean="0"/>
              <a:t>condition </a:t>
            </a:r>
            <a:r>
              <a:rPr lang="en-US" dirty="0" err="1" smtClean="0"/>
              <a:t>not_full</a:t>
            </a:r>
            <a:r>
              <a:rPr lang="en-US" dirty="0" smtClean="0"/>
              <a:t>;</a:t>
            </a:r>
          </a:p>
          <a:p>
            <a:pPr lvl="1"/>
            <a:r>
              <a:rPr lang="en-US" dirty="0" smtClean="0"/>
              <a:t>Condition variable that signals </a:t>
            </a:r>
            <a:r>
              <a:rPr lang="en-US" b="1" dirty="0" smtClean="0"/>
              <a:t>buffer is not full</a:t>
            </a:r>
            <a:r>
              <a:rPr lang="en-US" dirty="0" smtClean="0"/>
              <a:t>, allowing producer to insert.</a:t>
            </a:r>
          </a:p>
          <a:p>
            <a:r>
              <a:rPr lang="en-US" dirty="0" smtClean="0"/>
              <a:t>condition </a:t>
            </a:r>
            <a:r>
              <a:rPr lang="en-US" dirty="0" err="1" smtClean="0"/>
              <a:t>not_empty</a:t>
            </a:r>
            <a:r>
              <a:rPr lang="en-US" dirty="0" smtClean="0"/>
              <a:t>;</a:t>
            </a:r>
          </a:p>
          <a:p>
            <a:pPr lvl="1"/>
            <a:r>
              <a:rPr lang="en-US" dirty="0" smtClean="0"/>
              <a:t>Condition variable that signals </a:t>
            </a:r>
            <a:r>
              <a:rPr lang="en-US" b="1" dirty="0" smtClean="0"/>
              <a:t>buffer is not empty</a:t>
            </a:r>
            <a:r>
              <a:rPr lang="en-US" dirty="0" smtClean="0"/>
              <a:t>, allowing consumer to remove.</a:t>
            </a:r>
          </a:p>
          <a:p>
            <a:r>
              <a:rPr lang="en-US" dirty="0" smtClean="0"/>
              <a:t>buffer B;</a:t>
            </a:r>
          </a:p>
          <a:p>
            <a:pPr lvl="1"/>
            <a:r>
              <a:rPr lang="en-US" dirty="0" smtClean="0"/>
              <a:t>Shared data structure (like array or queue) used to store produced items.</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Producer code</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lock(</a:t>
            </a:r>
            <a:r>
              <a:rPr lang="en-US" dirty="0" err="1" smtClean="0"/>
              <a:t>mutex</a:t>
            </a:r>
            <a:r>
              <a:rPr lang="en-US" dirty="0" smtClean="0"/>
              <a:t>);//producer acquires the lock</a:t>
            </a:r>
          </a:p>
          <a:p>
            <a:pPr>
              <a:buNone/>
            </a:pPr>
            <a:r>
              <a:rPr lang="en-US" dirty="0" smtClean="0"/>
              <a:t>while(</a:t>
            </a:r>
            <a:r>
              <a:rPr lang="en-US" dirty="0" err="1" smtClean="0"/>
              <a:t>buffer_full</a:t>
            </a:r>
            <a:r>
              <a:rPr lang="en-US" dirty="0" smtClean="0"/>
              <a:t>)//check if buffer is full</a:t>
            </a:r>
          </a:p>
          <a:p>
            <a:pPr>
              <a:buNone/>
            </a:pPr>
            <a:r>
              <a:rPr lang="en-US" dirty="0" smtClean="0"/>
              <a:t>	wait(</a:t>
            </a:r>
            <a:r>
              <a:rPr lang="en-US" dirty="0" err="1" smtClean="0"/>
              <a:t>not_full</a:t>
            </a:r>
            <a:r>
              <a:rPr lang="en-US" dirty="0" smtClean="0"/>
              <a:t>, </a:t>
            </a:r>
            <a:r>
              <a:rPr lang="en-US" dirty="0" err="1" smtClean="0"/>
              <a:t>mutex</a:t>
            </a:r>
            <a:r>
              <a:rPr lang="en-US" dirty="0" smtClean="0"/>
              <a:t>);//release the </a:t>
            </a:r>
            <a:r>
              <a:rPr lang="en-US" dirty="0" err="1" smtClean="0"/>
              <a:t>mutex</a:t>
            </a:r>
            <a:r>
              <a:rPr lang="en-US" dirty="0" smtClean="0"/>
              <a:t> and block the producer until not full is </a:t>
            </a:r>
            <a:r>
              <a:rPr lang="en-US" dirty="0" err="1" smtClean="0"/>
              <a:t>signalled</a:t>
            </a:r>
            <a:endParaRPr lang="en-US" dirty="0" smtClean="0"/>
          </a:p>
          <a:p>
            <a:pPr>
              <a:buNone/>
            </a:pPr>
            <a:r>
              <a:rPr lang="en-US" dirty="0" err="1" smtClean="0"/>
              <a:t>add_to_buffer</a:t>
            </a:r>
            <a:r>
              <a:rPr lang="en-US" dirty="0" smtClean="0"/>
              <a:t>(item);//add the produced item to buffer</a:t>
            </a:r>
          </a:p>
          <a:p>
            <a:pPr>
              <a:buNone/>
            </a:pPr>
            <a:r>
              <a:rPr lang="en-US" dirty="0" smtClean="0"/>
              <a:t>signal(</a:t>
            </a:r>
            <a:r>
              <a:rPr lang="en-US" dirty="0" err="1" smtClean="0"/>
              <a:t>not_empty</a:t>
            </a:r>
            <a:r>
              <a:rPr lang="en-US" dirty="0" smtClean="0"/>
              <a:t>);//signals consumer that buffer is no longer empty</a:t>
            </a:r>
          </a:p>
          <a:p>
            <a:pPr>
              <a:buNone/>
            </a:pPr>
            <a:r>
              <a:rPr lang="en-US" dirty="0" smtClean="0"/>
              <a:t>unlock(</a:t>
            </a:r>
            <a:r>
              <a:rPr lang="en-US" dirty="0" err="1" smtClean="0"/>
              <a:t>mutex</a:t>
            </a:r>
            <a:r>
              <a:rPr lang="en-US" dirty="0" smtClean="0"/>
              <a:t>);//release the lock</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Consumer Code</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lock(</a:t>
            </a:r>
            <a:r>
              <a:rPr lang="en-US" dirty="0" err="1" smtClean="0"/>
              <a:t>mutex</a:t>
            </a:r>
            <a:r>
              <a:rPr lang="en-US" dirty="0" smtClean="0"/>
              <a:t>);//acquire lock</a:t>
            </a:r>
          </a:p>
          <a:p>
            <a:pPr>
              <a:buNone/>
            </a:pPr>
            <a:r>
              <a:rPr lang="en-US" dirty="0" smtClean="0"/>
              <a:t>while(</a:t>
            </a:r>
            <a:r>
              <a:rPr lang="en-US" dirty="0" err="1" smtClean="0"/>
              <a:t>buffer_empty</a:t>
            </a:r>
            <a:r>
              <a:rPr lang="en-US" dirty="0" smtClean="0"/>
              <a:t>)//check if buffer is empty</a:t>
            </a:r>
          </a:p>
          <a:p>
            <a:pPr>
              <a:buNone/>
            </a:pPr>
            <a:r>
              <a:rPr lang="en-US" dirty="0" smtClean="0"/>
              <a:t>	wait(</a:t>
            </a:r>
            <a:r>
              <a:rPr lang="en-US" dirty="0" err="1" smtClean="0"/>
              <a:t>not_empty</a:t>
            </a:r>
            <a:r>
              <a:rPr lang="en-US" dirty="0" smtClean="0"/>
              <a:t>, </a:t>
            </a:r>
            <a:r>
              <a:rPr lang="en-US" dirty="0" err="1" smtClean="0"/>
              <a:t>mutex</a:t>
            </a:r>
            <a:r>
              <a:rPr lang="en-US" dirty="0" smtClean="0"/>
              <a:t>);//Releases the </a:t>
            </a:r>
            <a:r>
              <a:rPr lang="en-US" dirty="0" err="1" smtClean="0"/>
              <a:t>mutex</a:t>
            </a:r>
            <a:r>
              <a:rPr lang="en-US" dirty="0" smtClean="0"/>
              <a:t> and blocks the consumer until </a:t>
            </a:r>
            <a:r>
              <a:rPr lang="en-US" dirty="0" err="1" smtClean="0"/>
              <a:t>not_empty</a:t>
            </a:r>
            <a:endParaRPr lang="en-US" dirty="0" smtClean="0"/>
          </a:p>
          <a:p>
            <a:endParaRPr lang="en-US" dirty="0" smtClean="0"/>
          </a:p>
          <a:p>
            <a:pPr>
              <a:buNone/>
            </a:pPr>
            <a:r>
              <a:rPr lang="en-US" dirty="0" smtClean="0"/>
              <a:t>item = </a:t>
            </a:r>
            <a:r>
              <a:rPr lang="en-US" dirty="0" err="1" smtClean="0"/>
              <a:t>remove_from_buffer</a:t>
            </a:r>
            <a:r>
              <a:rPr lang="en-US" dirty="0" smtClean="0"/>
              <a:t>();//remove item from critical section</a:t>
            </a:r>
          </a:p>
          <a:p>
            <a:endParaRPr lang="en-US" dirty="0" smtClean="0"/>
          </a:p>
          <a:p>
            <a:pPr>
              <a:buNone/>
            </a:pPr>
            <a:r>
              <a:rPr lang="en-US" dirty="0" smtClean="0"/>
              <a:t>signal(</a:t>
            </a:r>
            <a:r>
              <a:rPr lang="en-US" dirty="0" err="1" smtClean="0"/>
              <a:t>not_full</a:t>
            </a:r>
            <a:r>
              <a:rPr lang="en-US" dirty="0" smtClean="0"/>
              <a:t>);//Signals producer that the buffer is no longer full, allowing it to produce more items.</a:t>
            </a:r>
          </a:p>
          <a:p>
            <a:pPr>
              <a:buNone/>
            </a:pPr>
            <a:r>
              <a:rPr lang="en-US" dirty="0" smtClean="0"/>
              <a:t>unlock(</a:t>
            </a:r>
            <a:r>
              <a:rPr lang="en-US" dirty="0" err="1" smtClean="0"/>
              <a:t>mutex</a:t>
            </a:r>
            <a:r>
              <a:rPr lang="en-US" dirty="0" smtClean="0"/>
              <a:t>);//Consumer </a:t>
            </a:r>
            <a:r>
              <a:rPr lang="en-US" b="1" dirty="0" smtClean="0"/>
              <a:t>releases the lock</a:t>
            </a:r>
            <a:r>
              <a:rPr lang="en-US" dirty="0" smtClean="0"/>
              <a:t> so other threads can access the buffer.</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Synchronization Protocols</a:t>
            </a:r>
          </a:p>
        </p:txBody>
      </p:sp>
      <p:sp>
        <p:nvSpPr>
          <p:cNvPr id="3" name="Content Placeholder 2"/>
          <p:cNvSpPr>
            <a:spLocks noGrp="1"/>
          </p:cNvSpPr>
          <p:nvPr>
            <p:ph idx="1"/>
          </p:nvPr>
        </p:nvSpPr>
        <p:spPr/>
        <p:txBody>
          <a:bodyPr/>
          <a:lstStyle/>
          <a:p>
            <a:r>
              <a:rPr lang="en-US" dirty="0" smtClean="0"/>
              <a:t>Prevent priority inversion</a:t>
            </a:r>
          </a:p>
          <a:p>
            <a:r>
              <a:rPr lang="en-US" dirty="0" smtClean="0"/>
              <a:t>Examples:</a:t>
            </a:r>
          </a:p>
          <a:p>
            <a:pPr lvl="1"/>
            <a:r>
              <a:rPr lang="en-US" dirty="0" smtClean="0"/>
              <a:t>Priority inheritance protocol</a:t>
            </a:r>
          </a:p>
          <a:p>
            <a:pPr lvl="1"/>
            <a:r>
              <a:rPr lang="en-US" dirty="0" smtClean="0"/>
              <a:t>Priority ceiling protocol</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Adaptive Synchronization</a:t>
            </a:r>
          </a:p>
        </p:txBody>
      </p:sp>
      <p:sp>
        <p:nvSpPr>
          <p:cNvPr id="3" name="Content Placeholder 2"/>
          <p:cNvSpPr>
            <a:spLocks noGrp="1"/>
          </p:cNvSpPr>
          <p:nvPr>
            <p:ph idx="1"/>
          </p:nvPr>
        </p:nvSpPr>
        <p:spPr/>
        <p:txBody>
          <a:bodyPr/>
          <a:lstStyle/>
          <a:p>
            <a:r>
              <a:rPr lang="en-US" dirty="0" smtClean="0"/>
              <a:t>Adjusts synchronization strategy at runtime</a:t>
            </a:r>
          </a:p>
          <a:p>
            <a:r>
              <a:rPr lang="en-US" dirty="0" smtClean="0"/>
              <a:t>Depends on contention level and system state</a:t>
            </a:r>
          </a:p>
          <a:p>
            <a:pPr>
              <a:buNone/>
            </a:pPr>
            <a:r>
              <a:rPr lang="en-US" dirty="0" smtClean="0"/>
              <a:t>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Adaptive Locks</a:t>
            </a:r>
          </a:p>
        </p:txBody>
      </p:sp>
      <p:sp>
        <p:nvSpPr>
          <p:cNvPr id="3" name="Content Placeholder 2"/>
          <p:cNvSpPr>
            <a:spLocks noGrp="1"/>
          </p:cNvSpPr>
          <p:nvPr>
            <p:ph idx="1"/>
          </p:nvPr>
        </p:nvSpPr>
        <p:spPr/>
        <p:txBody>
          <a:bodyPr/>
          <a:lstStyle/>
          <a:p>
            <a:r>
              <a:rPr lang="en-US" dirty="0" smtClean="0"/>
              <a:t>Switch between spinning and blocking</a:t>
            </a:r>
          </a:p>
          <a:p>
            <a:r>
              <a:rPr lang="en-US" dirty="0" smtClean="0"/>
              <a:t>Benefits:</a:t>
            </a:r>
          </a:p>
          <a:p>
            <a:pPr lvl="1"/>
            <a:r>
              <a:rPr lang="en-US" dirty="0" smtClean="0"/>
              <a:t>Reduced overhead</a:t>
            </a:r>
          </a:p>
          <a:p>
            <a:pPr lvl="1"/>
            <a:r>
              <a:rPr lang="en-US" dirty="0" smtClean="0"/>
              <a:t>Better CPU utilization</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Lock-Free Data Structures</a:t>
            </a:r>
          </a:p>
        </p:txBody>
      </p:sp>
      <p:sp>
        <p:nvSpPr>
          <p:cNvPr id="3" name="Content Placeholder 2"/>
          <p:cNvSpPr>
            <a:spLocks noGrp="1"/>
          </p:cNvSpPr>
          <p:nvPr>
            <p:ph idx="1"/>
          </p:nvPr>
        </p:nvSpPr>
        <p:spPr/>
        <p:txBody>
          <a:bodyPr/>
          <a:lstStyle/>
          <a:p>
            <a:r>
              <a:rPr lang="en-US" dirty="0" smtClean="0"/>
              <a:t>Avoid traditional locks</a:t>
            </a:r>
          </a:p>
          <a:p>
            <a:r>
              <a:rPr lang="en-US" dirty="0" smtClean="0"/>
              <a:t>Use atomic operations (CAS) compare and swap</a:t>
            </a:r>
          </a:p>
          <a:p>
            <a:r>
              <a:rPr lang="en-US" dirty="0" smtClean="0"/>
              <a:t>Advantages:</a:t>
            </a:r>
          </a:p>
          <a:p>
            <a:pPr lvl="1"/>
            <a:r>
              <a:rPr lang="en-US" dirty="0" smtClean="0"/>
              <a:t>No deadlock</a:t>
            </a:r>
          </a:p>
          <a:p>
            <a:pPr lvl="1"/>
            <a:r>
              <a:rPr lang="en-US" dirty="0" smtClean="0"/>
              <a:t>High concurrency</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3" name="Content Placeholder 2"/>
          <p:cNvSpPr>
            <a:spLocks noGrp="1"/>
          </p:cNvSpPr>
          <p:nvPr>
            <p:ph idx="1"/>
          </p:nvPr>
        </p:nvSpPr>
        <p:spPr/>
        <p:txBody>
          <a:bodyPr/>
          <a:lstStyle/>
          <a:p>
            <a:r>
              <a:rPr lang="en-US" dirty="0" smtClean="0"/>
              <a:t>A </a:t>
            </a:r>
            <a:r>
              <a:rPr lang="en-US" b="1" dirty="0" smtClean="0"/>
              <a:t>deadlock</a:t>
            </a:r>
            <a:r>
              <a:rPr lang="en-US" dirty="0" smtClean="0"/>
              <a:t> is a situation in an operating system where </a:t>
            </a:r>
            <a:r>
              <a:rPr lang="en-US" b="1" dirty="0" smtClean="0"/>
              <a:t>two or more processes are permanently blocked</a:t>
            </a:r>
            <a:r>
              <a:rPr lang="en-US" dirty="0" smtClean="0"/>
              <a:t> because </a:t>
            </a:r>
            <a:r>
              <a:rPr lang="en-US" b="1" dirty="0" smtClean="0"/>
              <a:t>each is waiting for a resource held </a:t>
            </a:r>
            <a:r>
              <a:rPr lang="en-US" b="1" dirty="0" smtClean="0"/>
              <a:t>by </a:t>
            </a:r>
            <a:r>
              <a:rPr lang="en-US" b="1" dirty="0" smtClean="0"/>
              <a:t>another</a:t>
            </a:r>
            <a:r>
              <a:rPr lang="en-US" dirty="0" smtClean="0"/>
              <a:t>.</a:t>
            </a:r>
          </a:p>
          <a:p>
            <a:r>
              <a:rPr lang="en-US" dirty="0" smtClean="0"/>
              <a:t>Two people meet in a narrow bridge:</a:t>
            </a:r>
          </a:p>
          <a:p>
            <a:r>
              <a:rPr lang="en-US" dirty="0" smtClean="0"/>
              <a:t>Person A won’t move until B moves</a:t>
            </a:r>
          </a:p>
          <a:p>
            <a:r>
              <a:rPr lang="en-US" dirty="0" smtClean="0"/>
              <a:t>Person B won’t move until A moves</a:t>
            </a:r>
          </a:p>
          <a:p>
            <a:r>
              <a:rPr lang="en-US" dirty="0" smtClean="0"/>
              <a:t>Both </a:t>
            </a:r>
            <a:r>
              <a:rPr lang="en-US" dirty="0" smtClean="0"/>
              <a:t>wait forever → </a:t>
            </a:r>
            <a:r>
              <a:rPr lang="en-US" b="1" dirty="0" smtClean="0"/>
              <a:t>deadlock</a:t>
            </a:r>
            <a:endParaRPr lang="en-US" dirty="0" smtClean="0"/>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Classic OS example</a:t>
            </a:r>
          </a:p>
          <a:p>
            <a:r>
              <a:rPr lang="en-US" b="1" dirty="0" smtClean="0"/>
              <a:t>Resources:</a:t>
            </a:r>
          </a:p>
          <a:p>
            <a:r>
              <a:rPr lang="en-US" dirty="0" smtClean="0"/>
              <a:t>R1 (Printer)</a:t>
            </a:r>
          </a:p>
          <a:p>
            <a:r>
              <a:rPr lang="en-US" dirty="0" smtClean="0"/>
              <a:t>R2 (Scanner)</a:t>
            </a:r>
          </a:p>
          <a:p>
            <a:r>
              <a:rPr lang="en-US" b="1" dirty="0" smtClean="0"/>
              <a:t>Processes:</a:t>
            </a:r>
          </a:p>
          <a:p>
            <a:r>
              <a:rPr lang="en-US" b="1" dirty="0" smtClean="0"/>
              <a:t>P1</a:t>
            </a:r>
            <a:r>
              <a:rPr lang="en-US" dirty="0" smtClean="0"/>
              <a:t> holds R1 and requests R2</a:t>
            </a:r>
          </a:p>
          <a:p>
            <a:r>
              <a:rPr lang="en-US" b="1" dirty="0" smtClean="0"/>
              <a:t>P2</a:t>
            </a:r>
            <a:r>
              <a:rPr lang="en-US" dirty="0" smtClean="0"/>
              <a:t> holds R2 and requests </a:t>
            </a:r>
            <a:r>
              <a:rPr lang="en-US" dirty="0" smtClean="0"/>
              <a:t>R1</a:t>
            </a:r>
          </a:p>
          <a:p>
            <a:pPr lvl="1"/>
            <a:r>
              <a:rPr lang="pt-BR" dirty="0" smtClean="0"/>
              <a:t>P1 → R2 (wait)</a:t>
            </a:r>
          </a:p>
          <a:p>
            <a:pPr lvl="1"/>
            <a:r>
              <a:rPr lang="pt-BR" dirty="0" smtClean="0"/>
              <a:t>P2 → R1 (</a:t>
            </a:r>
            <a:r>
              <a:rPr lang="pt-BR" dirty="0" smtClean="0"/>
              <a:t>wait)</a:t>
            </a:r>
          </a:p>
          <a:p>
            <a:pPr lvl="1">
              <a:buNone/>
            </a:pPr>
            <a:r>
              <a:rPr lang="pt-BR" dirty="0" smtClean="0"/>
              <a:t>Neither process can continue</a:t>
            </a:r>
            <a:endParaRPr lang="pt-BR" dirty="0" smtClean="0"/>
          </a:p>
          <a:p>
            <a:endParaRPr lang="en-US" dirty="0" smtClean="0"/>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The 4 necessary conditions for </a:t>
            </a:r>
            <a:r>
              <a:rPr lang="en-US" b="1" dirty="0" smtClean="0"/>
              <a:t>deadlock</a:t>
            </a:r>
            <a:endParaRPr lang="en-US" b="1" dirty="0" smtClean="0"/>
          </a:p>
          <a:p>
            <a:r>
              <a:rPr lang="en-US" dirty="0" smtClean="0"/>
              <a:t>Deadlock occurs </a:t>
            </a:r>
            <a:r>
              <a:rPr lang="en-US" b="1" dirty="0" smtClean="0"/>
              <a:t>only if all four hold simultaneously</a:t>
            </a:r>
            <a:r>
              <a:rPr lang="en-US" dirty="0" smtClean="0"/>
              <a:t>:</a:t>
            </a:r>
          </a:p>
          <a:p>
            <a:pPr lvl="1"/>
            <a:r>
              <a:rPr lang="en-US" b="1" dirty="0" smtClean="0"/>
              <a:t>Mutual Exclusion: </a:t>
            </a:r>
            <a:r>
              <a:rPr lang="en-US" dirty="0" smtClean="0"/>
              <a:t>Resource </a:t>
            </a:r>
            <a:r>
              <a:rPr lang="en-US" dirty="0" smtClean="0"/>
              <a:t>can be used by </a:t>
            </a:r>
            <a:r>
              <a:rPr lang="en-US" b="1" dirty="0" smtClean="0"/>
              <a:t>only one process at a time</a:t>
            </a:r>
            <a:endParaRPr lang="en-US" dirty="0" smtClean="0"/>
          </a:p>
          <a:p>
            <a:pPr lvl="1"/>
            <a:r>
              <a:rPr lang="en-US" b="1" dirty="0" smtClean="0"/>
              <a:t>Hold </a:t>
            </a:r>
            <a:r>
              <a:rPr lang="en-US" b="1" dirty="0" smtClean="0"/>
              <a:t>and </a:t>
            </a:r>
            <a:r>
              <a:rPr lang="en-US" b="1" dirty="0" smtClean="0"/>
              <a:t>Wait: </a:t>
            </a:r>
            <a:r>
              <a:rPr lang="en-US" dirty="0" smtClean="0"/>
              <a:t>Process </a:t>
            </a:r>
            <a:r>
              <a:rPr lang="en-US" b="1" dirty="0" smtClean="0"/>
              <a:t>holds one resource</a:t>
            </a:r>
            <a:r>
              <a:rPr lang="en-US" dirty="0" smtClean="0"/>
              <a:t> while </a:t>
            </a:r>
            <a:r>
              <a:rPr lang="en-US" b="1" dirty="0" smtClean="0"/>
              <a:t>waiting for another</a:t>
            </a:r>
            <a:endParaRPr lang="en-US" dirty="0" smtClean="0"/>
          </a:p>
          <a:p>
            <a:pPr lvl="1"/>
            <a:r>
              <a:rPr lang="en-US" b="1" dirty="0" smtClean="0"/>
              <a:t>No Preemption: </a:t>
            </a:r>
            <a:r>
              <a:rPr lang="en-US" dirty="0" smtClean="0"/>
              <a:t>Resources </a:t>
            </a:r>
            <a:r>
              <a:rPr lang="en-US" b="1" dirty="0" smtClean="0"/>
              <a:t>cannot be forcibly taken</a:t>
            </a:r>
            <a:r>
              <a:rPr lang="en-US" dirty="0" smtClean="0"/>
              <a:t> away</a:t>
            </a:r>
          </a:p>
          <a:p>
            <a:pPr lvl="1"/>
            <a:r>
              <a:rPr lang="en-US" b="1" dirty="0" smtClean="0"/>
              <a:t>Circular Wait: </a:t>
            </a:r>
            <a:r>
              <a:rPr lang="en-US" dirty="0" smtClean="0"/>
              <a:t>Circular </a:t>
            </a:r>
            <a:r>
              <a:rPr lang="en-US" dirty="0" smtClean="0"/>
              <a:t>chain of processes waiting for resources</a:t>
            </a:r>
          </a:p>
          <a:p>
            <a:r>
              <a:rPr lang="en-US" dirty="0" smtClean="0"/>
              <a:t>Break </a:t>
            </a:r>
            <a:r>
              <a:rPr lang="en-US" b="1" dirty="0" smtClean="0"/>
              <a:t>any one</a:t>
            </a:r>
            <a:r>
              <a:rPr lang="en-US" dirty="0" smtClean="0"/>
              <a:t> → deadlock is prevented</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Methods to handle deadlock</a:t>
            </a:r>
          </a:p>
          <a:p>
            <a:r>
              <a:rPr lang="en-US" b="1" dirty="0" smtClean="0"/>
              <a:t>Deadlock </a:t>
            </a:r>
            <a:r>
              <a:rPr lang="en-US" b="1" dirty="0" smtClean="0"/>
              <a:t>Prevention</a:t>
            </a:r>
          </a:p>
          <a:p>
            <a:pPr lvl="1"/>
            <a:r>
              <a:rPr lang="en-US" dirty="0" smtClean="0"/>
              <a:t>Break one of the 4 conditions</a:t>
            </a:r>
            <a:br>
              <a:rPr lang="en-US" dirty="0" smtClean="0"/>
            </a:br>
            <a:r>
              <a:rPr lang="en-US" dirty="0" smtClean="0"/>
              <a:t>(e.g., avoid hold-and-wait)</a:t>
            </a:r>
          </a:p>
          <a:p>
            <a:r>
              <a:rPr lang="en-US" b="1" dirty="0" smtClean="0"/>
              <a:t>Deadlock </a:t>
            </a:r>
            <a:r>
              <a:rPr lang="en-US" b="1" dirty="0" smtClean="0"/>
              <a:t>Avoidance</a:t>
            </a:r>
          </a:p>
          <a:p>
            <a:pPr lvl="1"/>
            <a:r>
              <a:rPr lang="en-US" dirty="0" smtClean="0"/>
              <a:t>Use </a:t>
            </a:r>
            <a:r>
              <a:rPr lang="en-US" b="1" dirty="0" smtClean="0"/>
              <a:t>Banker’s Algorithm</a:t>
            </a:r>
            <a:endParaRPr lang="en-US" dirty="0" smtClean="0"/>
          </a:p>
          <a:p>
            <a:pPr lvl="1"/>
            <a:r>
              <a:rPr lang="en-US" dirty="0" smtClean="0"/>
              <a:t>Grant resources only if system stays in a </a:t>
            </a:r>
            <a:r>
              <a:rPr lang="en-US" b="1" dirty="0" smtClean="0"/>
              <a:t>safe state</a:t>
            </a:r>
            <a:endParaRPr lang="en-US" dirty="0" smtClean="0"/>
          </a:p>
          <a:p>
            <a:r>
              <a:rPr lang="en-US" b="1" dirty="0" smtClean="0"/>
              <a:t>Deadlock </a:t>
            </a:r>
            <a:r>
              <a:rPr lang="en-US" b="1" dirty="0" smtClean="0"/>
              <a:t>Detection &amp; Recovery</a:t>
            </a:r>
          </a:p>
          <a:p>
            <a:pPr lvl="1"/>
            <a:r>
              <a:rPr lang="en-US" dirty="0" smtClean="0"/>
              <a:t>Detect deadlock, then:</a:t>
            </a:r>
          </a:p>
          <a:p>
            <a:pPr lvl="1"/>
            <a:r>
              <a:rPr lang="en-US" dirty="0" smtClean="0"/>
              <a:t>Kill a process</a:t>
            </a:r>
          </a:p>
          <a:p>
            <a:pPr lvl="1"/>
            <a:r>
              <a:rPr lang="en-US" dirty="0" smtClean="0"/>
              <a:t>Preempt resources</a:t>
            </a:r>
          </a:p>
          <a:p>
            <a:r>
              <a:rPr lang="en-US" b="1" dirty="0" smtClean="0"/>
              <a:t>Ignore </a:t>
            </a:r>
            <a:r>
              <a:rPr lang="en-US" b="1" dirty="0" smtClean="0"/>
              <a:t>Deadlock</a:t>
            </a:r>
          </a:p>
          <a:p>
            <a:pPr lvl="1"/>
            <a:r>
              <a:rPr lang="en-US" dirty="0" smtClean="0"/>
              <a:t>Used by many OS (like Linux, Windows)</a:t>
            </a:r>
          </a:p>
          <a:p>
            <a:pPr lvl="1"/>
            <a:r>
              <a:rPr lang="en-US" dirty="0" smtClean="0"/>
              <a:t>“It rarely happens” approach</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Centralized Deadlock Detection Algorithm</a:t>
            </a:r>
            <a:endParaRPr lang="en-US" dirty="0"/>
          </a:p>
        </p:txBody>
      </p:sp>
      <p:sp>
        <p:nvSpPr>
          <p:cNvPr id="3" name="Content Placeholder 2"/>
          <p:cNvSpPr>
            <a:spLocks noGrp="1"/>
          </p:cNvSpPr>
          <p:nvPr>
            <p:ph idx="1"/>
          </p:nvPr>
        </p:nvSpPr>
        <p:spPr/>
        <p:txBody>
          <a:bodyPr>
            <a:normAutofit lnSpcReduction="10000"/>
          </a:bodyPr>
          <a:lstStyle/>
          <a:p>
            <a:r>
              <a:rPr lang="en-US" dirty="0" smtClean="0"/>
              <a:t>Some central nodes will coordinate activities between sites</a:t>
            </a:r>
          </a:p>
          <a:p>
            <a:r>
              <a:rPr lang="en-US" dirty="0" smtClean="0"/>
              <a:t>Co-</a:t>
            </a:r>
            <a:r>
              <a:rPr lang="en-US" dirty="0" err="1" smtClean="0"/>
              <a:t>ordinator</a:t>
            </a:r>
            <a:r>
              <a:rPr lang="en-US" dirty="0" smtClean="0"/>
              <a:t> nodes is the union of all the other sites</a:t>
            </a:r>
          </a:p>
          <a:p>
            <a:r>
              <a:rPr lang="en-US" dirty="0" smtClean="0"/>
              <a:t>If a cycle is found in the graph hence a deadlock</a:t>
            </a:r>
          </a:p>
          <a:p>
            <a:r>
              <a:rPr lang="en-US" dirty="0" smtClean="0"/>
              <a:t>The co-</a:t>
            </a:r>
            <a:r>
              <a:rPr lang="en-US" dirty="0" err="1" smtClean="0"/>
              <a:t>ordinator</a:t>
            </a:r>
            <a:r>
              <a:rPr lang="en-US" dirty="0" smtClean="0"/>
              <a:t> will have to make the decision on which machine to notify for killing the process</a:t>
            </a:r>
          </a:p>
          <a:p>
            <a:endParaRPr lang="en-US" dirty="0" smtClean="0"/>
          </a:p>
          <a:p>
            <a:endParaRPr lang="en-US" dirty="0" smtClean="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Centralized Deadlock Detection Algorithm</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609600" y="2769833"/>
            <a:ext cx="8229600" cy="2186696"/>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after delayed message</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0" y="1743075"/>
            <a:ext cx="9155680" cy="4419599"/>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Centralized Deadlock Detection Algorithm</a:t>
            </a:r>
            <a:endParaRPr lang="en-US" dirty="0"/>
          </a:p>
        </p:txBody>
      </p:sp>
      <p:sp>
        <p:nvSpPr>
          <p:cNvPr id="3" name="Content Placeholder 2"/>
          <p:cNvSpPr>
            <a:spLocks noGrp="1"/>
          </p:cNvSpPr>
          <p:nvPr>
            <p:ph idx="1"/>
          </p:nvPr>
        </p:nvSpPr>
        <p:spPr/>
        <p:txBody>
          <a:bodyPr/>
          <a:lstStyle/>
          <a:p>
            <a:r>
              <a:rPr lang="en-US" dirty="0" smtClean="0"/>
              <a:t>Demerits</a:t>
            </a:r>
          </a:p>
          <a:p>
            <a:pPr lvl="1"/>
            <a:r>
              <a:rPr lang="en-US" dirty="0" smtClean="0"/>
              <a:t>One, single point of failure</a:t>
            </a:r>
          </a:p>
          <a:p>
            <a:pPr lvl="1"/>
            <a:r>
              <a:rPr lang="en-US" dirty="0" smtClean="0"/>
              <a:t>Communication bottleneck around the sites</a:t>
            </a:r>
          </a:p>
          <a:p>
            <a:pPr lvl="1"/>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Chandy</a:t>
            </a:r>
            <a:r>
              <a:rPr lang="en-US" dirty="0" smtClean="0"/>
              <a:t> </a:t>
            </a:r>
            <a:r>
              <a:rPr lang="en-US" dirty="0" err="1" smtClean="0"/>
              <a:t>Misra</a:t>
            </a:r>
            <a:r>
              <a:rPr lang="en-US" dirty="0" smtClean="0"/>
              <a:t> Hass Distributed Deadlock Detection Algorithm</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750463" y="1790700"/>
            <a:ext cx="7622580" cy="4133849"/>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Chandy</a:t>
            </a:r>
            <a:r>
              <a:rPr lang="en-US" dirty="0" smtClean="0"/>
              <a:t> </a:t>
            </a:r>
            <a:r>
              <a:rPr lang="en-US" dirty="0" err="1" smtClean="0"/>
              <a:t>Misra</a:t>
            </a:r>
            <a:r>
              <a:rPr lang="en-US" dirty="0" smtClean="0"/>
              <a:t> Hass Distributed Deadlock Detection Algorithm</a:t>
            </a:r>
            <a:endParaRPr lang="en-US" dirty="0"/>
          </a:p>
        </p:txBody>
      </p:sp>
      <p:sp>
        <p:nvSpPr>
          <p:cNvPr id="4" name="Content Placeholder 3"/>
          <p:cNvSpPr>
            <a:spLocks noGrp="1"/>
          </p:cNvSpPr>
          <p:nvPr>
            <p:ph idx="1"/>
          </p:nvPr>
        </p:nvSpPr>
        <p:spPr/>
        <p:txBody>
          <a:bodyPr/>
          <a:lstStyle/>
          <a:p>
            <a:r>
              <a:rPr lang="en-US" dirty="0" smtClean="0"/>
              <a:t>If a process make a request for a resource which fails or timeout, the process generates a probe message </a:t>
            </a:r>
          </a:p>
          <a:p>
            <a:r>
              <a:rPr lang="en-US" dirty="0" smtClean="0"/>
              <a:t>Probe Message(</a:t>
            </a:r>
            <a:r>
              <a:rPr lang="en-US" dirty="0" smtClean="0">
                <a:solidFill>
                  <a:srgbClr val="00B050"/>
                </a:solidFill>
              </a:rPr>
              <a:t>#</a:t>
            </a:r>
            <a:r>
              <a:rPr lang="en-US" dirty="0" smtClean="0"/>
              <a:t>,</a:t>
            </a:r>
            <a:r>
              <a:rPr lang="en-US" dirty="0" smtClean="0">
                <a:solidFill>
                  <a:srgbClr val="FF0000"/>
                </a:solidFill>
              </a:rPr>
              <a:t>#</a:t>
            </a:r>
            <a:r>
              <a:rPr lang="en-US" dirty="0" smtClean="0"/>
              <a:t>,</a:t>
            </a:r>
            <a:r>
              <a:rPr lang="en-US" dirty="0" smtClean="0">
                <a:solidFill>
                  <a:srgbClr val="00B0F0"/>
                </a:solidFill>
              </a:rPr>
              <a:t>#</a:t>
            </a:r>
            <a:r>
              <a:rPr lang="en-US" dirty="0" smtClean="0"/>
              <a:t>)</a:t>
            </a:r>
          </a:p>
          <a:p>
            <a:r>
              <a:rPr lang="en-US" dirty="0" smtClean="0">
                <a:solidFill>
                  <a:srgbClr val="00B050"/>
                </a:solidFill>
              </a:rPr>
              <a:t>#- process id which initiated the probe message</a:t>
            </a:r>
          </a:p>
          <a:p>
            <a:r>
              <a:rPr lang="en-US" dirty="0" smtClean="0">
                <a:solidFill>
                  <a:srgbClr val="FF0000"/>
                </a:solidFill>
              </a:rPr>
              <a:t>#- Sender</a:t>
            </a:r>
          </a:p>
          <a:p>
            <a:r>
              <a:rPr lang="en-US" dirty="0" smtClean="0">
                <a:solidFill>
                  <a:srgbClr val="00B0F0"/>
                </a:solidFill>
              </a:rPr>
              <a:t>#-Receiver</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Chandy</a:t>
            </a:r>
            <a:r>
              <a:rPr lang="en-US" dirty="0" smtClean="0"/>
              <a:t> </a:t>
            </a:r>
            <a:r>
              <a:rPr lang="en-US" dirty="0" err="1" smtClean="0"/>
              <a:t>Misra</a:t>
            </a:r>
            <a:r>
              <a:rPr lang="en-US" dirty="0" smtClean="0"/>
              <a:t> Hass Distributed Deadlock Detection Algorithm</a:t>
            </a:r>
            <a:endParaRPr lang="en-US" dirty="0"/>
          </a:p>
        </p:txBody>
      </p:sp>
      <p:sp>
        <p:nvSpPr>
          <p:cNvPr id="8" name="Content Placeholder 7"/>
          <p:cNvSpPr>
            <a:spLocks noGrp="1"/>
          </p:cNvSpPr>
          <p:nvPr>
            <p:ph idx="1"/>
          </p:nvPr>
        </p:nvSpPr>
        <p:spPr/>
        <p:txBody>
          <a:bodyPr/>
          <a:lstStyle/>
          <a:p>
            <a:endParaRPr lang="en-US"/>
          </a:p>
        </p:txBody>
      </p:sp>
      <p:pic>
        <p:nvPicPr>
          <p:cNvPr id="6148" name="Picture 4"/>
          <p:cNvPicPr>
            <a:picLocks noChangeAspect="1" noChangeArrowheads="1"/>
          </p:cNvPicPr>
          <p:nvPr/>
        </p:nvPicPr>
        <p:blipFill>
          <a:blip r:embed="rId2"/>
          <a:srcRect/>
          <a:stretch>
            <a:fillRect/>
          </a:stretch>
        </p:blipFill>
        <p:spPr bwMode="auto">
          <a:xfrm>
            <a:off x="278368" y="1600200"/>
            <a:ext cx="8865632" cy="5257800"/>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Chandy</a:t>
            </a:r>
            <a:r>
              <a:rPr lang="en-US" dirty="0" smtClean="0"/>
              <a:t> </a:t>
            </a:r>
            <a:r>
              <a:rPr lang="en-US" dirty="0" err="1" smtClean="0"/>
              <a:t>Misra</a:t>
            </a:r>
            <a:r>
              <a:rPr lang="en-US" dirty="0" smtClean="0"/>
              <a:t> Hass Distributed Deadlock Detection Algorithm</a:t>
            </a:r>
            <a:endParaRPr lang="en-US" dirty="0"/>
          </a:p>
        </p:txBody>
      </p:sp>
      <p:sp>
        <p:nvSpPr>
          <p:cNvPr id="3" name="Content Placeholder 2"/>
          <p:cNvSpPr>
            <a:spLocks noGrp="1"/>
          </p:cNvSpPr>
          <p:nvPr>
            <p:ph idx="1"/>
          </p:nvPr>
        </p:nvSpPr>
        <p:spPr/>
        <p:txBody>
          <a:bodyPr/>
          <a:lstStyle/>
          <a:p>
            <a:pPr lvl="1"/>
            <a:r>
              <a:rPr lang="en-US" dirty="0" smtClean="0"/>
              <a:t>The process that initiated the probe message commit suicide</a:t>
            </a:r>
          </a:p>
          <a:p>
            <a:pPr lvl="1"/>
            <a:r>
              <a:rPr lang="en-US" dirty="0" smtClean="0"/>
              <a:t>This method has problem if several process invoke the algorithm simultaneously</a:t>
            </a:r>
          </a:p>
          <a:p>
            <a:pPr lvl="1"/>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Hierarchial</a:t>
            </a:r>
            <a:r>
              <a:rPr lang="en-US" dirty="0" smtClean="0"/>
              <a:t> Deadlock Detection Algorithm</a:t>
            </a:r>
            <a:endParaRPr lang="en-US" dirty="0"/>
          </a:p>
        </p:txBody>
      </p:sp>
      <p:sp>
        <p:nvSpPr>
          <p:cNvPr id="3" name="Content Placeholder 2"/>
          <p:cNvSpPr>
            <a:spLocks noGrp="1"/>
          </p:cNvSpPr>
          <p:nvPr>
            <p:ph idx="1"/>
          </p:nvPr>
        </p:nvSpPr>
        <p:spPr/>
        <p:txBody>
          <a:bodyPr/>
          <a:lstStyle/>
          <a:p>
            <a:r>
              <a:rPr lang="en-US" dirty="0" smtClean="0"/>
              <a:t>Combines centralized and distributed approaches</a:t>
            </a:r>
          </a:p>
          <a:p>
            <a:r>
              <a:rPr lang="en-US" dirty="0" smtClean="0"/>
              <a:t>System is divided into </a:t>
            </a:r>
            <a:r>
              <a:rPr lang="en-US" b="1" dirty="0" smtClean="0"/>
              <a:t>clusters</a:t>
            </a:r>
            <a:endParaRPr lang="en-US" dirty="0" smtClean="0"/>
          </a:p>
          <a:p>
            <a:r>
              <a:rPr lang="en-US" dirty="0" smtClean="0"/>
              <a:t>Each cluster has a </a:t>
            </a:r>
            <a:r>
              <a:rPr lang="en-US" b="1" dirty="0" smtClean="0"/>
              <a:t>local coordinator</a:t>
            </a:r>
            <a:endParaRPr lang="en-US" dirty="0" smtClean="0"/>
          </a:p>
          <a:p>
            <a:r>
              <a:rPr lang="en-US" dirty="0" smtClean="0"/>
              <a:t>Coordinators form a </a:t>
            </a:r>
            <a:r>
              <a:rPr lang="en-US" b="1" dirty="0" smtClean="0"/>
              <a:t>hierarchy (tree structure)</a:t>
            </a:r>
            <a:endParaRPr lang="en-US" dirty="0" smtClean="0"/>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Hierarchial</a:t>
            </a:r>
            <a:r>
              <a:rPr lang="en-US" dirty="0" smtClean="0"/>
              <a:t> Deadlock Detection Algorithm</a:t>
            </a:r>
            <a:endParaRPr lang="en-US" dirty="0"/>
          </a:p>
        </p:txBody>
      </p:sp>
      <p:sp>
        <p:nvSpPr>
          <p:cNvPr id="3" name="Content Placeholder 2"/>
          <p:cNvSpPr>
            <a:spLocks noGrp="1"/>
          </p:cNvSpPr>
          <p:nvPr>
            <p:ph idx="1"/>
          </p:nvPr>
        </p:nvSpPr>
        <p:spPr/>
        <p:txBody>
          <a:bodyPr/>
          <a:lstStyle/>
          <a:p>
            <a:r>
              <a:rPr lang="en-US" dirty="0" smtClean="0"/>
              <a:t>Algorithm Steps</a:t>
            </a:r>
          </a:p>
          <a:p>
            <a:pPr lvl="1"/>
            <a:r>
              <a:rPr lang="en-US" dirty="0" smtClean="0"/>
              <a:t>Each cluster coordinator detects </a:t>
            </a:r>
            <a:r>
              <a:rPr lang="en-US" b="1" dirty="0" smtClean="0"/>
              <a:t>local deadlocks</a:t>
            </a:r>
            <a:r>
              <a:rPr lang="en-US" dirty="0" smtClean="0"/>
              <a:t>.</a:t>
            </a:r>
          </a:p>
          <a:p>
            <a:pPr lvl="1"/>
            <a:r>
              <a:rPr lang="en-US" dirty="0" smtClean="0"/>
              <a:t>If no local deadlock, it sends summary info to higher-level coordinator.</a:t>
            </a:r>
          </a:p>
          <a:p>
            <a:pPr lvl="1"/>
            <a:r>
              <a:rPr lang="en-US" dirty="0" smtClean="0"/>
              <a:t>Higher-level coordinator checks for </a:t>
            </a:r>
            <a:r>
              <a:rPr lang="en-US" b="1" dirty="0" smtClean="0"/>
              <a:t>inter-cluster deadlocks</a:t>
            </a:r>
            <a:r>
              <a:rPr lang="en-US" dirty="0" smtClean="0"/>
              <a:t>.</a:t>
            </a:r>
          </a:p>
          <a:p>
            <a:pPr lvl="1"/>
            <a:r>
              <a:rPr lang="en-US" dirty="0" smtClean="0"/>
              <a:t>Detection continues upward in the hierarchy.</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Hierarchial</a:t>
            </a:r>
            <a:r>
              <a:rPr lang="en-US" dirty="0" smtClean="0"/>
              <a:t> Deadlock Detection Algorithm</a:t>
            </a:r>
            <a:endParaRPr lang="en-US" dirty="0"/>
          </a:p>
        </p:txBody>
      </p:sp>
      <p:sp>
        <p:nvSpPr>
          <p:cNvPr id="3" name="Content Placeholder 2"/>
          <p:cNvSpPr>
            <a:spLocks noGrp="1"/>
          </p:cNvSpPr>
          <p:nvPr>
            <p:ph idx="1"/>
          </p:nvPr>
        </p:nvSpPr>
        <p:spPr/>
        <p:txBody>
          <a:bodyPr/>
          <a:lstStyle/>
          <a:p>
            <a:r>
              <a:rPr lang="en-US" b="1" dirty="0" smtClean="0"/>
              <a:t>Advantages</a:t>
            </a:r>
          </a:p>
          <a:p>
            <a:pPr lvl="1"/>
            <a:r>
              <a:rPr lang="en-US" dirty="0" smtClean="0"/>
              <a:t>Reduced communication overhead</a:t>
            </a:r>
          </a:p>
          <a:p>
            <a:pPr lvl="1"/>
            <a:r>
              <a:rPr lang="en-US" dirty="0" smtClean="0"/>
              <a:t>Scalable</a:t>
            </a:r>
          </a:p>
          <a:p>
            <a:pPr lvl="1"/>
            <a:r>
              <a:rPr lang="en-US" dirty="0" smtClean="0"/>
              <a:t>No single global bottleneck</a:t>
            </a:r>
          </a:p>
          <a:p>
            <a:r>
              <a:rPr lang="en-US" b="1" dirty="0" smtClean="0"/>
              <a:t>Disadvantages</a:t>
            </a:r>
          </a:p>
          <a:p>
            <a:pPr lvl="1"/>
            <a:r>
              <a:rPr lang="en-US" dirty="0" smtClean="0"/>
              <a:t>Coordinator failure affects cluster</a:t>
            </a:r>
          </a:p>
          <a:p>
            <a:pPr lvl="1"/>
            <a:r>
              <a:rPr lang="en-US" dirty="0" smtClean="0"/>
              <a:t>More complex than centralized method</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Distributed Mutual Exclusion Algorithms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Mutual Exclusion in Distributed Systems cannot be solved using Semaphores as it requires shared memory</a:t>
            </a:r>
          </a:p>
          <a:p>
            <a:r>
              <a:rPr lang="en-US" dirty="0" smtClean="0"/>
              <a:t>An approach based on message passing is used to solve mutual exclusion problem</a:t>
            </a:r>
          </a:p>
          <a:p>
            <a:r>
              <a:rPr lang="en-US" dirty="0" smtClean="0"/>
              <a:t>3 types of messages are used</a:t>
            </a:r>
          </a:p>
          <a:p>
            <a:pPr lvl="1"/>
            <a:r>
              <a:rPr lang="en-US" dirty="0" smtClean="0"/>
              <a:t>Request: sends </a:t>
            </a:r>
            <a:r>
              <a:rPr lang="en-US" dirty="0" err="1" smtClean="0"/>
              <a:t>permisson</a:t>
            </a:r>
            <a:r>
              <a:rPr lang="en-US" dirty="0" smtClean="0"/>
              <a:t> to all other sites to enter critical section</a:t>
            </a:r>
          </a:p>
          <a:p>
            <a:pPr lvl="1"/>
            <a:r>
              <a:rPr lang="en-US" dirty="0" smtClean="0"/>
              <a:t>Reply: message sent to requesting site to grant permission</a:t>
            </a:r>
          </a:p>
          <a:p>
            <a:pPr lvl="1"/>
            <a:r>
              <a:rPr lang="en-US" dirty="0" smtClean="0"/>
              <a:t>Release: while exiting the critical section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7423"/>
            <a:ext cx="7886700" cy="679269"/>
          </a:xfrm>
        </p:spPr>
        <p:txBody>
          <a:bodyPr>
            <a:normAutofit fontScale="90000"/>
          </a:bodyPr>
          <a:lstStyle/>
          <a:p>
            <a:pPr algn="ctr"/>
            <a:r>
              <a:rPr lang="en-US" b="1" dirty="0">
                <a:solidFill>
                  <a:srgbClr val="FF0000"/>
                </a:solidFill>
                <a:latin typeface="Algerian" panose="04020705040A02060702" pitchFamily="82" charset="0"/>
              </a:rPr>
              <a:t>LAMPORT ALGORITHM</a:t>
            </a:r>
            <a:endParaRPr lang="en-IN" b="1" dirty="0"/>
          </a:p>
        </p:txBody>
      </p:sp>
      <p:sp>
        <p:nvSpPr>
          <p:cNvPr id="3" name="Content Placeholder 2"/>
          <p:cNvSpPr>
            <a:spLocks noGrp="1"/>
          </p:cNvSpPr>
          <p:nvPr>
            <p:ph idx="1"/>
          </p:nvPr>
        </p:nvSpPr>
        <p:spPr>
          <a:xfrm>
            <a:off x="628650" y="1084217"/>
            <a:ext cx="7886700" cy="5247310"/>
          </a:xfrm>
        </p:spPr>
        <p:txBody>
          <a:bodyPr>
            <a:normAutofit fontScale="85000" lnSpcReduction="20000"/>
          </a:bodyPr>
          <a:lstStyle/>
          <a:p>
            <a:r>
              <a:rPr lang="en-US" dirty="0" smtClean="0"/>
              <a:t>Permission based algorithm (and it is non token based algorithm).</a:t>
            </a:r>
          </a:p>
          <a:p>
            <a:r>
              <a:rPr lang="en-US" dirty="0"/>
              <a:t>T</a:t>
            </a:r>
            <a:r>
              <a:rPr lang="en-US" dirty="0" smtClean="0"/>
              <a:t>imestamp is used to order critical section requests and to resolve conflict between requests(Using Lamport Clock algorithm).</a:t>
            </a:r>
          </a:p>
          <a:p>
            <a:r>
              <a:rPr lang="en-US" dirty="0" smtClean="0"/>
              <a:t>Three Types of </a:t>
            </a:r>
            <a:r>
              <a:rPr lang="en-IN" dirty="0" smtClean="0"/>
              <a:t>messages </a:t>
            </a:r>
            <a:r>
              <a:rPr lang="en-US" dirty="0" smtClean="0"/>
              <a:t>: </a:t>
            </a:r>
          </a:p>
          <a:p>
            <a:pPr marL="0" indent="0">
              <a:buNone/>
            </a:pPr>
            <a:r>
              <a:rPr lang="en-IN" b="1" dirty="0" smtClean="0"/>
              <a:t>                   1. REQUEST</a:t>
            </a:r>
            <a:endParaRPr lang="en-IN" b="1" dirty="0"/>
          </a:p>
          <a:p>
            <a:pPr marL="0" indent="0">
              <a:buNone/>
            </a:pPr>
            <a:r>
              <a:rPr lang="en-IN" b="1" dirty="0" smtClean="0"/>
              <a:t>                   2. REPLY</a:t>
            </a:r>
            <a:r>
              <a:rPr lang="en-IN" b="1" dirty="0"/>
              <a:t> </a:t>
            </a:r>
          </a:p>
          <a:p>
            <a:pPr marL="0" indent="0">
              <a:buNone/>
            </a:pPr>
            <a:r>
              <a:rPr lang="en-IN" b="1" dirty="0" smtClean="0"/>
              <a:t>                   3. RELEASE</a:t>
            </a:r>
            <a:endParaRPr lang="en-US" b="1" dirty="0" smtClean="0"/>
          </a:p>
          <a:p>
            <a:r>
              <a:rPr lang="en-US" dirty="0" smtClean="0"/>
              <a:t>Every site (process) </a:t>
            </a:r>
            <a:r>
              <a:rPr lang="en-US" dirty="0"/>
              <a:t>keeps a </a:t>
            </a:r>
            <a:r>
              <a:rPr lang="en-US" dirty="0" smtClean="0"/>
              <a:t>queue (RQ) </a:t>
            </a:r>
            <a:r>
              <a:rPr lang="en-US" dirty="0"/>
              <a:t>to store critical section </a:t>
            </a:r>
            <a:r>
              <a:rPr lang="en-US" dirty="0" smtClean="0"/>
              <a:t>requests along with timestamp.</a:t>
            </a:r>
          </a:p>
          <a:p>
            <a:r>
              <a:rPr lang="en-US" dirty="0"/>
              <a:t>This algorithm requires communication channels to deliver messages </a:t>
            </a:r>
            <a:r>
              <a:rPr lang="en-US" dirty="0" smtClean="0"/>
              <a:t>the FIFO </a:t>
            </a:r>
            <a:r>
              <a:rPr lang="en-US" dirty="0"/>
              <a:t>order.</a:t>
            </a:r>
          </a:p>
          <a:p>
            <a:pPr marL="0" indent="0">
              <a:buNone/>
            </a:pPr>
            <a:endParaRPr lang="en-US" dirty="0" smtClean="0"/>
          </a:p>
          <a:p>
            <a:pPr marL="0" indent="0">
              <a:buNone/>
            </a:pPr>
            <a:endParaRPr lang="en-IN" dirty="0"/>
          </a:p>
        </p:txBody>
      </p:sp>
    </p:spTree>
    <p:extLst>
      <p:ext uri="{BB962C8B-B14F-4D97-AF65-F5344CB8AC3E}">
        <p14:creationId xmlns:p14="http://schemas.microsoft.com/office/powerpoint/2010/main" xmlns="" val="3796497132"/>
      </p:ext>
    </p:extLst>
  </p:cSld>
  <p:clrMapOvr>
    <a:masterClrMapping/>
  </p:clrMapOvr>
  <p:transition spd="slow">
    <p:push dir="u"/>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5018" y="401782"/>
            <a:ext cx="8032173" cy="707886"/>
          </a:xfrm>
          <a:prstGeom prst="rect">
            <a:avLst/>
          </a:prstGeom>
          <a:noFill/>
        </p:spPr>
        <p:txBody>
          <a:bodyPr wrap="square" rtlCol="0">
            <a:spAutoFit/>
          </a:bodyPr>
          <a:lstStyle/>
          <a:p>
            <a:pPr algn="ctr"/>
            <a:r>
              <a:rPr lang="en-US" sz="4000" b="1" dirty="0">
                <a:solidFill>
                  <a:srgbClr val="FF0000"/>
                </a:solidFill>
                <a:latin typeface="Algerian" panose="04020705040A02060702" pitchFamily="82" charset="0"/>
              </a:rPr>
              <a:t>LAMPORT ALGORITHM</a:t>
            </a:r>
            <a:endParaRPr lang="en-IN" sz="4000" b="1" dirty="0">
              <a:latin typeface="Algerian" panose="04020705040A02060702" pitchFamily="82" charset="0"/>
            </a:endParaRPr>
          </a:p>
        </p:txBody>
      </p:sp>
      <p:sp>
        <p:nvSpPr>
          <p:cNvPr id="6" name="TextBox 5"/>
          <p:cNvSpPr txBox="1"/>
          <p:nvPr/>
        </p:nvSpPr>
        <p:spPr>
          <a:xfrm>
            <a:off x="166254" y="1662544"/>
            <a:ext cx="768927" cy="523220"/>
          </a:xfrm>
          <a:prstGeom prst="rect">
            <a:avLst/>
          </a:prstGeom>
          <a:noFill/>
        </p:spPr>
        <p:txBody>
          <a:bodyPr wrap="square" rtlCol="0">
            <a:spAutoFit/>
          </a:bodyPr>
          <a:lstStyle/>
          <a:p>
            <a:r>
              <a:rPr lang="en-US" sz="2800" dirty="0"/>
              <a:t>S</a:t>
            </a:r>
            <a:r>
              <a:rPr lang="en-US" sz="2800" dirty="0" smtClean="0"/>
              <a:t>1</a:t>
            </a:r>
            <a:endParaRPr lang="en-IN" sz="2800" dirty="0"/>
          </a:p>
        </p:txBody>
      </p:sp>
      <p:sp>
        <p:nvSpPr>
          <p:cNvPr id="7" name="TextBox 6"/>
          <p:cNvSpPr txBox="1"/>
          <p:nvPr/>
        </p:nvSpPr>
        <p:spPr>
          <a:xfrm>
            <a:off x="166255" y="3338291"/>
            <a:ext cx="768926" cy="523220"/>
          </a:xfrm>
          <a:prstGeom prst="rect">
            <a:avLst/>
          </a:prstGeom>
          <a:noFill/>
        </p:spPr>
        <p:txBody>
          <a:bodyPr wrap="square" rtlCol="0">
            <a:spAutoFit/>
          </a:bodyPr>
          <a:lstStyle/>
          <a:p>
            <a:r>
              <a:rPr lang="en-US" sz="2800" dirty="0"/>
              <a:t>S</a:t>
            </a:r>
            <a:r>
              <a:rPr lang="en-US" sz="2800" dirty="0" smtClean="0"/>
              <a:t>2</a:t>
            </a:r>
            <a:endParaRPr lang="en-IN" sz="2800" dirty="0"/>
          </a:p>
        </p:txBody>
      </p:sp>
      <p:sp>
        <p:nvSpPr>
          <p:cNvPr id="8" name="TextBox 7"/>
          <p:cNvSpPr txBox="1"/>
          <p:nvPr/>
        </p:nvSpPr>
        <p:spPr>
          <a:xfrm>
            <a:off x="166255" y="5014038"/>
            <a:ext cx="581890" cy="523220"/>
          </a:xfrm>
          <a:prstGeom prst="rect">
            <a:avLst/>
          </a:prstGeom>
          <a:noFill/>
        </p:spPr>
        <p:txBody>
          <a:bodyPr wrap="square" rtlCol="0">
            <a:spAutoFit/>
          </a:bodyPr>
          <a:lstStyle/>
          <a:p>
            <a:r>
              <a:rPr lang="en-US" sz="2800" dirty="0"/>
              <a:t>S</a:t>
            </a:r>
            <a:r>
              <a:rPr lang="en-US" sz="2800" dirty="0" smtClean="0"/>
              <a:t>3</a:t>
            </a:r>
            <a:endParaRPr lang="en-IN" sz="2800" dirty="0"/>
          </a:p>
        </p:txBody>
      </p:sp>
      <p:cxnSp>
        <p:nvCxnSpPr>
          <p:cNvPr id="10" name="Straight Arrow Connector 9"/>
          <p:cNvCxnSpPr>
            <a:stCxn id="6" idx="3"/>
          </p:cNvCxnSpPr>
          <p:nvPr/>
        </p:nvCxnSpPr>
        <p:spPr>
          <a:xfrm flipV="1">
            <a:off x="935181" y="1911930"/>
            <a:ext cx="8042565" cy="1222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3"/>
          </p:cNvCxnSpPr>
          <p:nvPr/>
        </p:nvCxnSpPr>
        <p:spPr>
          <a:xfrm flipV="1">
            <a:off x="935181" y="3574473"/>
            <a:ext cx="8042564" cy="25428"/>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3"/>
          </p:cNvCxnSpPr>
          <p:nvPr/>
        </p:nvCxnSpPr>
        <p:spPr>
          <a:xfrm>
            <a:off x="748145" y="5275648"/>
            <a:ext cx="8229600" cy="293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1049482" y="1908996"/>
            <a:ext cx="1215737" cy="336665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049482" y="3599902"/>
            <a:ext cx="1350818" cy="167574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935182" y="5118602"/>
            <a:ext cx="228599" cy="26323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p:cNvSpPr txBox="1"/>
          <p:nvPr/>
        </p:nvSpPr>
        <p:spPr>
          <a:xfrm>
            <a:off x="1179368" y="2772371"/>
            <a:ext cx="1085851" cy="369332"/>
          </a:xfrm>
          <a:prstGeom prst="rect">
            <a:avLst/>
          </a:prstGeom>
          <a:noFill/>
        </p:spPr>
        <p:txBody>
          <a:bodyPr wrap="square" rtlCol="0">
            <a:spAutoFit/>
          </a:bodyPr>
          <a:lstStyle/>
          <a:p>
            <a:r>
              <a:rPr lang="en-US" dirty="0" smtClean="0"/>
              <a:t>Request</a:t>
            </a:r>
            <a:endParaRPr lang="en-IN" dirty="0"/>
          </a:p>
        </p:txBody>
      </p:sp>
      <p:sp>
        <p:nvSpPr>
          <p:cNvPr id="34" name="TextBox 33"/>
          <p:cNvSpPr txBox="1"/>
          <p:nvPr/>
        </p:nvSpPr>
        <p:spPr>
          <a:xfrm>
            <a:off x="1527464" y="3733951"/>
            <a:ext cx="1101436" cy="369332"/>
          </a:xfrm>
          <a:prstGeom prst="rect">
            <a:avLst/>
          </a:prstGeom>
          <a:noFill/>
        </p:spPr>
        <p:txBody>
          <a:bodyPr wrap="square" rtlCol="0">
            <a:spAutoFit/>
          </a:bodyPr>
          <a:lstStyle/>
          <a:p>
            <a:r>
              <a:rPr lang="en-US" dirty="0" smtClean="0"/>
              <a:t>Request</a:t>
            </a:r>
            <a:endParaRPr lang="en-IN" dirty="0"/>
          </a:p>
        </p:txBody>
      </p:sp>
      <p:sp>
        <p:nvSpPr>
          <p:cNvPr id="35" name="TextBox 34"/>
          <p:cNvSpPr txBox="1"/>
          <p:nvPr/>
        </p:nvSpPr>
        <p:spPr>
          <a:xfrm>
            <a:off x="581890" y="5537258"/>
            <a:ext cx="1683329" cy="369332"/>
          </a:xfrm>
          <a:prstGeom prst="rect">
            <a:avLst/>
          </a:prstGeom>
          <a:noFill/>
        </p:spPr>
        <p:txBody>
          <a:bodyPr wrap="square" rtlCol="0">
            <a:spAutoFit/>
          </a:bodyPr>
          <a:lstStyle/>
          <a:p>
            <a:r>
              <a:rPr lang="en-US" b="1" dirty="0" smtClean="0">
                <a:solidFill>
                  <a:srgbClr val="0070C0"/>
                </a:solidFill>
              </a:rPr>
              <a:t>RQ3={TS:1,P3}</a:t>
            </a:r>
            <a:endParaRPr lang="en-IN" b="1" dirty="0">
              <a:solidFill>
                <a:srgbClr val="0070C0"/>
              </a:solidFill>
            </a:endParaRPr>
          </a:p>
        </p:txBody>
      </p:sp>
      <p:sp>
        <p:nvSpPr>
          <p:cNvPr id="36" name="TextBox 35"/>
          <p:cNvSpPr txBox="1"/>
          <p:nvPr/>
        </p:nvSpPr>
        <p:spPr>
          <a:xfrm>
            <a:off x="1995054" y="3160110"/>
            <a:ext cx="1620983" cy="646331"/>
          </a:xfrm>
          <a:prstGeom prst="rect">
            <a:avLst/>
          </a:prstGeom>
          <a:noFill/>
        </p:spPr>
        <p:txBody>
          <a:bodyPr wrap="square" rtlCol="0">
            <a:spAutoFit/>
          </a:bodyPr>
          <a:lstStyle/>
          <a:p>
            <a:r>
              <a:rPr lang="en-US" b="1" dirty="0" smtClean="0">
                <a:solidFill>
                  <a:srgbClr val="0070C0"/>
                </a:solidFill>
              </a:rPr>
              <a:t>RQ2={</a:t>
            </a:r>
            <a:r>
              <a:rPr lang="en-US" b="1" dirty="0">
                <a:solidFill>
                  <a:srgbClr val="0070C0"/>
                </a:solidFill>
              </a:rPr>
              <a:t>TS:1,P3}</a:t>
            </a:r>
            <a:endParaRPr lang="en-IN" b="1" dirty="0">
              <a:solidFill>
                <a:srgbClr val="0070C0"/>
              </a:solidFill>
            </a:endParaRPr>
          </a:p>
          <a:p>
            <a:endParaRPr lang="en-IN" dirty="0"/>
          </a:p>
        </p:txBody>
      </p:sp>
      <p:sp>
        <p:nvSpPr>
          <p:cNvPr id="37" name="TextBox 36"/>
          <p:cNvSpPr txBox="1"/>
          <p:nvPr/>
        </p:nvSpPr>
        <p:spPr>
          <a:xfrm>
            <a:off x="1932709" y="1497326"/>
            <a:ext cx="1854779" cy="646331"/>
          </a:xfrm>
          <a:prstGeom prst="rect">
            <a:avLst/>
          </a:prstGeom>
          <a:noFill/>
        </p:spPr>
        <p:txBody>
          <a:bodyPr wrap="square" rtlCol="0">
            <a:spAutoFit/>
          </a:bodyPr>
          <a:lstStyle/>
          <a:p>
            <a:r>
              <a:rPr lang="en-US" b="1" dirty="0" smtClean="0">
                <a:solidFill>
                  <a:srgbClr val="0070C0"/>
                </a:solidFill>
              </a:rPr>
              <a:t>RQ1={</a:t>
            </a:r>
            <a:r>
              <a:rPr lang="en-US" b="1" dirty="0">
                <a:solidFill>
                  <a:srgbClr val="0070C0"/>
                </a:solidFill>
              </a:rPr>
              <a:t>TS:1,P3}</a:t>
            </a:r>
            <a:endParaRPr lang="en-IN" b="1" dirty="0">
              <a:solidFill>
                <a:srgbClr val="0070C0"/>
              </a:solidFill>
            </a:endParaRPr>
          </a:p>
          <a:p>
            <a:endParaRPr lang="en-IN" dirty="0"/>
          </a:p>
        </p:txBody>
      </p:sp>
      <p:cxnSp>
        <p:nvCxnSpPr>
          <p:cNvPr id="41" name="Straight Arrow Connector 40"/>
          <p:cNvCxnSpPr/>
          <p:nvPr/>
        </p:nvCxnSpPr>
        <p:spPr>
          <a:xfrm>
            <a:off x="2400300" y="3625330"/>
            <a:ext cx="1215737" cy="1675749"/>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2265219" y="1924154"/>
            <a:ext cx="2919845" cy="3351494"/>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3086100" y="2576945"/>
            <a:ext cx="701388" cy="369332"/>
          </a:xfrm>
          <a:prstGeom prst="rect">
            <a:avLst/>
          </a:prstGeom>
          <a:noFill/>
        </p:spPr>
        <p:txBody>
          <a:bodyPr wrap="square" rtlCol="0">
            <a:spAutoFit/>
          </a:bodyPr>
          <a:lstStyle/>
          <a:p>
            <a:r>
              <a:rPr lang="en-US" dirty="0" smtClean="0"/>
              <a:t>Reply</a:t>
            </a:r>
            <a:endParaRPr lang="en-IN" dirty="0"/>
          </a:p>
        </p:txBody>
      </p:sp>
      <p:sp>
        <p:nvSpPr>
          <p:cNvPr id="59" name="TextBox 58"/>
          <p:cNvSpPr txBox="1"/>
          <p:nvPr/>
        </p:nvSpPr>
        <p:spPr>
          <a:xfrm>
            <a:off x="2945824" y="4114471"/>
            <a:ext cx="841664" cy="369332"/>
          </a:xfrm>
          <a:prstGeom prst="rect">
            <a:avLst/>
          </a:prstGeom>
          <a:noFill/>
        </p:spPr>
        <p:txBody>
          <a:bodyPr wrap="square" rtlCol="0">
            <a:spAutoFit/>
          </a:bodyPr>
          <a:lstStyle/>
          <a:p>
            <a:r>
              <a:rPr lang="en-US" dirty="0" smtClean="0"/>
              <a:t>Reply</a:t>
            </a:r>
            <a:endParaRPr lang="en-IN" dirty="0"/>
          </a:p>
        </p:txBody>
      </p:sp>
      <p:sp>
        <p:nvSpPr>
          <p:cNvPr id="62" name="Rectangle 61"/>
          <p:cNvSpPr/>
          <p:nvPr/>
        </p:nvSpPr>
        <p:spPr>
          <a:xfrm>
            <a:off x="5185064" y="5014038"/>
            <a:ext cx="488373" cy="52322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CR</a:t>
            </a:r>
            <a:endParaRPr lang="en-IN" b="1" dirty="0">
              <a:solidFill>
                <a:schemeClr val="tx1"/>
              </a:solidFill>
            </a:endParaRPr>
          </a:p>
        </p:txBody>
      </p:sp>
      <p:cxnSp>
        <p:nvCxnSpPr>
          <p:cNvPr id="64" name="Straight Arrow Connector 63"/>
          <p:cNvCxnSpPr>
            <a:stCxn id="62" idx="3"/>
          </p:cNvCxnSpPr>
          <p:nvPr/>
        </p:nvCxnSpPr>
        <p:spPr>
          <a:xfrm flipV="1">
            <a:off x="5673436" y="3574474"/>
            <a:ext cx="1787237" cy="170117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62" idx="3"/>
          </p:cNvCxnSpPr>
          <p:nvPr/>
        </p:nvCxnSpPr>
        <p:spPr>
          <a:xfrm flipV="1">
            <a:off x="5673437" y="1908996"/>
            <a:ext cx="1194954" cy="336665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5818910" y="2635051"/>
            <a:ext cx="1049479" cy="369332"/>
          </a:xfrm>
          <a:prstGeom prst="rect">
            <a:avLst/>
          </a:prstGeom>
          <a:noFill/>
        </p:spPr>
        <p:txBody>
          <a:bodyPr wrap="square" rtlCol="0">
            <a:spAutoFit/>
          </a:bodyPr>
          <a:lstStyle/>
          <a:p>
            <a:r>
              <a:rPr lang="en-US" dirty="0" smtClean="0"/>
              <a:t>Release</a:t>
            </a:r>
            <a:endParaRPr lang="en-IN" dirty="0"/>
          </a:p>
        </p:txBody>
      </p:sp>
      <p:sp>
        <p:nvSpPr>
          <p:cNvPr id="71" name="TextBox 70"/>
          <p:cNvSpPr txBox="1"/>
          <p:nvPr/>
        </p:nvSpPr>
        <p:spPr>
          <a:xfrm>
            <a:off x="6956713" y="4135468"/>
            <a:ext cx="966355" cy="369332"/>
          </a:xfrm>
          <a:prstGeom prst="rect">
            <a:avLst/>
          </a:prstGeom>
          <a:noFill/>
        </p:spPr>
        <p:txBody>
          <a:bodyPr wrap="square" rtlCol="0">
            <a:spAutoFit/>
          </a:bodyPr>
          <a:lstStyle/>
          <a:p>
            <a:r>
              <a:rPr lang="en-US" dirty="0" smtClean="0"/>
              <a:t>Release</a:t>
            </a:r>
            <a:endParaRPr lang="en-IN" dirty="0"/>
          </a:p>
        </p:txBody>
      </p:sp>
      <p:sp>
        <p:nvSpPr>
          <p:cNvPr id="72" name="TextBox 71"/>
          <p:cNvSpPr txBox="1"/>
          <p:nvPr/>
        </p:nvSpPr>
        <p:spPr>
          <a:xfrm>
            <a:off x="6515100" y="1511184"/>
            <a:ext cx="1181099" cy="369332"/>
          </a:xfrm>
          <a:prstGeom prst="rect">
            <a:avLst/>
          </a:prstGeom>
          <a:noFill/>
        </p:spPr>
        <p:txBody>
          <a:bodyPr wrap="square" rtlCol="0">
            <a:spAutoFit/>
          </a:bodyPr>
          <a:lstStyle/>
          <a:p>
            <a:r>
              <a:rPr lang="en-US" b="1" dirty="0" smtClean="0">
                <a:solidFill>
                  <a:srgbClr val="0070C0"/>
                </a:solidFill>
              </a:rPr>
              <a:t>RQ1={}</a:t>
            </a:r>
            <a:endParaRPr lang="en-IN" b="1" dirty="0">
              <a:solidFill>
                <a:srgbClr val="0070C0"/>
              </a:solidFill>
            </a:endParaRPr>
          </a:p>
        </p:txBody>
      </p:sp>
      <p:sp>
        <p:nvSpPr>
          <p:cNvPr id="73" name="TextBox 72"/>
          <p:cNvSpPr txBox="1"/>
          <p:nvPr/>
        </p:nvSpPr>
        <p:spPr>
          <a:xfrm>
            <a:off x="7195706" y="3186483"/>
            <a:ext cx="1122794" cy="369332"/>
          </a:xfrm>
          <a:prstGeom prst="rect">
            <a:avLst/>
          </a:prstGeom>
          <a:noFill/>
        </p:spPr>
        <p:txBody>
          <a:bodyPr wrap="square" rtlCol="0">
            <a:spAutoFit/>
          </a:bodyPr>
          <a:lstStyle/>
          <a:p>
            <a:r>
              <a:rPr lang="en-US" b="1" dirty="0" smtClean="0">
                <a:solidFill>
                  <a:srgbClr val="0070C0"/>
                </a:solidFill>
              </a:rPr>
              <a:t>RQ2={}</a:t>
            </a:r>
            <a:endParaRPr lang="en-IN" b="1" dirty="0">
              <a:solidFill>
                <a:srgbClr val="0070C0"/>
              </a:solidFill>
            </a:endParaRPr>
          </a:p>
        </p:txBody>
      </p:sp>
      <p:sp>
        <p:nvSpPr>
          <p:cNvPr id="74" name="TextBox 73"/>
          <p:cNvSpPr txBox="1"/>
          <p:nvPr/>
        </p:nvSpPr>
        <p:spPr>
          <a:xfrm>
            <a:off x="5761755" y="5393733"/>
            <a:ext cx="1106635" cy="369332"/>
          </a:xfrm>
          <a:prstGeom prst="rect">
            <a:avLst/>
          </a:prstGeom>
          <a:noFill/>
        </p:spPr>
        <p:txBody>
          <a:bodyPr wrap="square" rtlCol="0">
            <a:spAutoFit/>
          </a:bodyPr>
          <a:lstStyle/>
          <a:p>
            <a:r>
              <a:rPr lang="en-US" b="1" dirty="0" smtClean="0">
                <a:solidFill>
                  <a:srgbClr val="0070C0"/>
                </a:solidFill>
              </a:rPr>
              <a:t>RQ3={}</a:t>
            </a:r>
            <a:endParaRPr lang="en-IN" b="1" dirty="0">
              <a:solidFill>
                <a:srgbClr val="0070C0"/>
              </a:solidFill>
            </a:endParaRPr>
          </a:p>
        </p:txBody>
      </p:sp>
      <p:sp>
        <p:nvSpPr>
          <p:cNvPr id="75" name="TextBox 74"/>
          <p:cNvSpPr txBox="1"/>
          <p:nvPr/>
        </p:nvSpPr>
        <p:spPr>
          <a:xfrm>
            <a:off x="748145" y="6179127"/>
            <a:ext cx="7803573" cy="369332"/>
          </a:xfrm>
          <a:prstGeom prst="rect">
            <a:avLst/>
          </a:prstGeom>
          <a:noFill/>
        </p:spPr>
        <p:txBody>
          <a:bodyPr wrap="square" rtlCol="0">
            <a:spAutoFit/>
          </a:bodyPr>
          <a:lstStyle/>
          <a:p>
            <a:pPr algn="ctr"/>
            <a:r>
              <a:rPr lang="en-US" b="1" dirty="0" smtClean="0"/>
              <a:t>Accessing Critical Region  </a:t>
            </a:r>
            <a:endParaRPr lang="en-IN" b="1" dirty="0"/>
          </a:p>
        </p:txBody>
      </p:sp>
    </p:spTree>
    <p:extLst>
      <p:ext uri="{BB962C8B-B14F-4D97-AF65-F5344CB8AC3E}">
        <p14:creationId xmlns:p14="http://schemas.microsoft.com/office/powerpoint/2010/main" xmlns="" val="37879574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5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p:cTn id="64" dur="500"/>
                                        <p:tgtEl>
                                          <p:spTgt spid="5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9"/>
                                        </p:tgtEl>
                                        <p:attrNameLst>
                                          <p:attrName>style.visibility</p:attrName>
                                        </p:attrNameLst>
                                      </p:cBhvr>
                                      <p:to>
                                        <p:strVal val="visible"/>
                                      </p:to>
                                    </p:set>
                                    <p:animEffect transition="in" filter="fade">
                                      <p:cBhvr>
                                        <p:cTn id="69" dur="500"/>
                                        <p:tgtEl>
                                          <p:spTgt spid="5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8"/>
                                        </p:tgtEl>
                                        <p:attrNameLst>
                                          <p:attrName>style.visibility</p:attrName>
                                        </p:attrNameLst>
                                      </p:cBhvr>
                                      <p:to>
                                        <p:strVal val="visible"/>
                                      </p:to>
                                    </p:set>
                                    <p:animEffect transition="in" filter="fade">
                                      <p:cBhvr>
                                        <p:cTn id="72" dur="500"/>
                                        <p:tgtEl>
                                          <p:spTgt spid="5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fade">
                                      <p:cBhvr>
                                        <p:cTn id="77" dur="500"/>
                                        <p:tgtEl>
                                          <p:spTgt spid="6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6"/>
                                        </p:tgtEl>
                                        <p:attrNameLst>
                                          <p:attrName>style.visibility</p:attrName>
                                        </p:attrNameLst>
                                      </p:cBhvr>
                                      <p:to>
                                        <p:strVal val="visible"/>
                                      </p:to>
                                    </p:set>
                                    <p:animEffect transition="in" filter="fade">
                                      <p:cBhvr>
                                        <p:cTn id="82" dur="500"/>
                                        <p:tgtEl>
                                          <p:spTgt spid="66"/>
                                        </p:tgtEl>
                                      </p:cBhvr>
                                    </p:animEffect>
                                  </p:childTnLst>
                                </p:cTn>
                              </p:par>
                              <p:par>
                                <p:cTn id="83" presetID="10" presetClass="entr" presetSubtype="0" fill="hold" nodeType="with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500"/>
                                        <p:tgtEl>
                                          <p:spTgt spid="6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70"/>
                                        </p:tgtEl>
                                        <p:attrNameLst>
                                          <p:attrName>style.visibility</p:attrName>
                                        </p:attrNameLst>
                                      </p:cBhvr>
                                      <p:to>
                                        <p:strVal val="visible"/>
                                      </p:to>
                                    </p:set>
                                    <p:animEffect transition="in" filter="fade">
                                      <p:cBhvr>
                                        <p:cTn id="90" dur="500"/>
                                        <p:tgtEl>
                                          <p:spTgt spid="7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71"/>
                                        </p:tgtEl>
                                        <p:attrNameLst>
                                          <p:attrName>style.visibility</p:attrName>
                                        </p:attrNameLst>
                                      </p:cBhvr>
                                      <p:to>
                                        <p:strVal val="visible"/>
                                      </p:to>
                                    </p:set>
                                    <p:animEffect transition="in" filter="fade">
                                      <p:cBhvr>
                                        <p:cTn id="93" dur="500"/>
                                        <p:tgtEl>
                                          <p:spTgt spid="71"/>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72"/>
                                        </p:tgtEl>
                                        <p:attrNameLst>
                                          <p:attrName>style.visibility</p:attrName>
                                        </p:attrNameLst>
                                      </p:cBhvr>
                                      <p:to>
                                        <p:strVal val="visible"/>
                                      </p:to>
                                    </p:set>
                                    <p:animEffect transition="in" filter="fade">
                                      <p:cBhvr>
                                        <p:cTn id="98" dur="500"/>
                                        <p:tgtEl>
                                          <p:spTgt spid="7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73"/>
                                        </p:tgtEl>
                                        <p:attrNameLst>
                                          <p:attrName>style.visibility</p:attrName>
                                        </p:attrNameLst>
                                      </p:cBhvr>
                                      <p:to>
                                        <p:strVal val="visible"/>
                                      </p:to>
                                    </p:set>
                                    <p:animEffect transition="in" filter="fade">
                                      <p:cBhvr>
                                        <p:cTn id="101" dur="500"/>
                                        <p:tgtEl>
                                          <p:spTgt spid="7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4"/>
                                        </p:tgtEl>
                                        <p:attrNameLst>
                                          <p:attrName>style.visibility</p:attrName>
                                        </p:attrNameLst>
                                      </p:cBhvr>
                                      <p:to>
                                        <p:strVal val="visible"/>
                                      </p:to>
                                    </p:set>
                                    <p:animEffect transition="in" filter="fade">
                                      <p:cBhvr>
                                        <p:cTn id="104"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2" grpId="0" animBg="1"/>
      <p:bldP spid="33" grpId="0"/>
      <p:bldP spid="34" grpId="0"/>
      <p:bldP spid="35" grpId="0"/>
      <p:bldP spid="36" grpId="0"/>
      <p:bldP spid="37" grpId="0"/>
      <p:bldP spid="58" grpId="0"/>
      <p:bldP spid="59" grpId="0"/>
      <p:bldP spid="62" grpId="0" animBg="1"/>
      <p:bldP spid="70" grpId="0"/>
      <p:bldP spid="71" grpId="0"/>
      <p:bldP spid="72" grpId="0"/>
      <p:bldP spid="73" grpId="0"/>
      <p:bldP spid="7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5018" y="401782"/>
            <a:ext cx="8032173" cy="707886"/>
          </a:xfrm>
          <a:prstGeom prst="rect">
            <a:avLst/>
          </a:prstGeom>
          <a:noFill/>
        </p:spPr>
        <p:txBody>
          <a:bodyPr wrap="square" rtlCol="0">
            <a:spAutoFit/>
          </a:bodyPr>
          <a:lstStyle/>
          <a:p>
            <a:pPr algn="ctr"/>
            <a:r>
              <a:rPr lang="en-US" sz="4000" b="1" dirty="0">
                <a:solidFill>
                  <a:srgbClr val="FF0000"/>
                </a:solidFill>
                <a:latin typeface="Algerian" panose="04020705040A02060702" pitchFamily="82" charset="0"/>
              </a:rPr>
              <a:t>Accessing Critical </a:t>
            </a:r>
            <a:r>
              <a:rPr lang="en-US" sz="4000" b="1" dirty="0" smtClean="0">
                <a:solidFill>
                  <a:srgbClr val="FF0000"/>
                </a:solidFill>
                <a:latin typeface="Algerian" panose="04020705040A02060702" pitchFamily="82" charset="0"/>
              </a:rPr>
              <a:t>Section  </a:t>
            </a:r>
            <a:endParaRPr lang="en-IN" sz="4000" b="1" dirty="0">
              <a:solidFill>
                <a:srgbClr val="FF0000"/>
              </a:solidFill>
              <a:latin typeface="Algerian" panose="04020705040A02060702" pitchFamily="82" charset="0"/>
            </a:endParaRPr>
          </a:p>
        </p:txBody>
      </p:sp>
      <p:sp>
        <p:nvSpPr>
          <p:cNvPr id="6" name="TextBox 5"/>
          <p:cNvSpPr txBox="1"/>
          <p:nvPr/>
        </p:nvSpPr>
        <p:spPr>
          <a:xfrm>
            <a:off x="166255" y="1662544"/>
            <a:ext cx="604978" cy="523220"/>
          </a:xfrm>
          <a:prstGeom prst="rect">
            <a:avLst/>
          </a:prstGeom>
          <a:noFill/>
        </p:spPr>
        <p:txBody>
          <a:bodyPr wrap="square" rtlCol="0">
            <a:spAutoFit/>
          </a:bodyPr>
          <a:lstStyle/>
          <a:p>
            <a:r>
              <a:rPr lang="en-US" sz="2800" dirty="0"/>
              <a:t>S</a:t>
            </a:r>
            <a:r>
              <a:rPr lang="en-US" sz="2800" dirty="0" smtClean="0"/>
              <a:t>1</a:t>
            </a:r>
            <a:endParaRPr lang="en-IN" sz="2800" dirty="0"/>
          </a:p>
        </p:txBody>
      </p:sp>
      <p:sp>
        <p:nvSpPr>
          <p:cNvPr id="7" name="TextBox 6"/>
          <p:cNvSpPr txBox="1"/>
          <p:nvPr/>
        </p:nvSpPr>
        <p:spPr>
          <a:xfrm>
            <a:off x="166254" y="3338291"/>
            <a:ext cx="675409" cy="523220"/>
          </a:xfrm>
          <a:prstGeom prst="rect">
            <a:avLst/>
          </a:prstGeom>
          <a:noFill/>
        </p:spPr>
        <p:txBody>
          <a:bodyPr wrap="square" rtlCol="0">
            <a:spAutoFit/>
          </a:bodyPr>
          <a:lstStyle/>
          <a:p>
            <a:r>
              <a:rPr lang="en-US" sz="2800" dirty="0" smtClean="0"/>
              <a:t>S2</a:t>
            </a:r>
            <a:endParaRPr lang="en-IN" sz="2800" dirty="0"/>
          </a:p>
        </p:txBody>
      </p:sp>
      <p:sp>
        <p:nvSpPr>
          <p:cNvPr id="8" name="TextBox 7"/>
          <p:cNvSpPr txBox="1"/>
          <p:nvPr/>
        </p:nvSpPr>
        <p:spPr>
          <a:xfrm>
            <a:off x="166255" y="5014038"/>
            <a:ext cx="571500" cy="523220"/>
          </a:xfrm>
          <a:prstGeom prst="rect">
            <a:avLst/>
          </a:prstGeom>
          <a:noFill/>
        </p:spPr>
        <p:txBody>
          <a:bodyPr wrap="square" rtlCol="0">
            <a:spAutoFit/>
          </a:bodyPr>
          <a:lstStyle/>
          <a:p>
            <a:r>
              <a:rPr lang="en-US" sz="2800" dirty="0" smtClean="0"/>
              <a:t>S3</a:t>
            </a:r>
            <a:endParaRPr lang="en-IN" sz="2800" dirty="0"/>
          </a:p>
        </p:txBody>
      </p:sp>
      <p:cxnSp>
        <p:nvCxnSpPr>
          <p:cNvPr id="10" name="Straight Arrow Connector 9"/>
          <p:cNvCxnSpPr>
            <a:stCxn id="6" idx="3"/>
          </p:cNvCxnSpPr>
          <p:nvPr/>
        </p:nvCxnSpPr>
        <p:spPr>
          <a:xfrm flipV="1">
            <a:off x="771233" y="1911930"/>
            <a:ext cx="8206513" cy="1222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3"/>
          </p:cNvCxnSpPr>
          <p:nvPr/>
        </p:nvCxnSpPr>
        <p:spPr>
          <a:xfrm flipV="1">
            <a:off x="841663" y="3574473"/>
            <a:ext cx="8136082" cy="25428"/>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3"/>
          </p:cNvCxnSpPr>
          <p:nvPr/>
        </p:nvCxnSpPr>
        <p:spPr>
          <a:xfrm>
            <a:off x="737755" y="5275648"/>
            <a:ext cx="8239990" cy="293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841664" y="1942812"/>
            <a:ext cx="1054677" cy="33043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32" idx="3"/>
          </p:cNvCxnSpPr>
          <p:nvPr/>
        </p:nvCxnSpPr>
        <p:spPr>
          <a:xfrm flipV="1">
            <a:off x="771233" y="3618559"/>
            <a:ext cx="1109522" cy="173923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737755" y="5133103"/>
            <a:ext cx="228599" cy="26323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p:cNvSpPr txBox="1"/>
          <p:nvPr/>
        </p:nvSpPr>
        <p:spPr>
          <a:xfrm rot="17850163">
            <a:off x="866006" y="2703147"/>
            <a:ext cx="1163782" cy="369332"/>
          </a:xfrm>
          <a:prstGeom prst="rect">
            <a:avLst/>
          </a:prstGeom>
          <a:noFill/>
        </p:spPr>
        <p:txBody>
          <a:bodyPr wrap="square" rtlCol="0">
            <a:spAutoFit/>
          </a:bodyPr>
          <a:lstStyle/>
          <a:p>
            <a:r>
              <a:rPr lang="en-US" dirty="0" smtClean="0"/>
              <a:t>Request</a:t>
            </a:r>
            <a:endParaRPr lang="en-IN" dirty="0"/>
          </a:p>
        </p:txBody>
      </p:sp>
      <p:sp>
        <p:nvSpPr>
          <p:cNvPr id="34" name="TextBox 33"/>
          <p:cNvSpPr txBox="1"/>
          <p:nvPr/>
        </p:nvSpPr>
        <p:spPr>
          <a:xfrm rot="18547403">
            <a:off x="1061701" y="4228001"/>
            <a:ext cx="983673" cy="369332"/>
          </a:xfrm>
          <a:prstGeom prst="rect">
            <a:avLst/>
          </a:prstGeom>
          <a:noFill/>
        </p:spPr>
        <p:txBody>
          <a:bodyPr wrap="square" rtlCol="0">
            <a:spAutoFit/>
          </a:bodyPr>
          <a:lstStyle/>
          <a:p>
            <a:r>
              <a:rPr lang="en-US" dirty="0" smtClean="0"/>
              <a:t>Request</a:t>
            </a:r>
            <a:endParaRPr lang="en-IN" dirty="0"/>
          </a:p>
        </p:txBody>
      </p:sp>
      <p:sp>
        <p:nvSpPr>
          <p:cNvPr id="35" name="TextBox 34"/>
          <p:cNvSpPr txBox="1"/>
          <p:nvPr/>
        </p:nvSpPr>
        <p:spPr>
          <a:xfrm>
            <a:off x="581890" y="5537258"/>
            <a:ext cx="1578030" cy="369332"/>
          </a:xfrm>
          <a:prstGeom prst="rect">
            <a:avLst/>
          </a:prstGeom>
          <a:noFill/>
        </p:spPr>
        <p:txBody>
          <a:bodyPr wrap="square" rtlCol="0">
            <a:spAutoFit/>
          </a:bodyPr>
          <a:lstStyle/>
          <a:p>
            <a:r>
              <a:rPr lang="en-US" b="1" dirty="0" smtClean="0">
                <a:solidFill>
                  <a:srgbClr val="0070C0"/>
                </a:solidFill>
              </a:rPr>
              <a:t>RQ3={TS:1,P3}</a:t>
            </a:r>
            <a:endParaRPr lang="en-IN" b="1" dirty="0">
              <a:solidFill>
                <a:srgbClr val="0070C0"/>
              </a:solidFill>
            </a:endParaRPr>
          </a:p>
        </p:txBody>
      </p:sp>
      <p:sp>
        <p:nvSpPr>
          <p:cNvPr id="36" name="TextBox 35"/>
          <p:cNvSpPr txBox="1"/>
          <p:nvPr/>
        </p:nvSpPr>
        <p:spPr>
          <a:xfrm>
            <a:off x="1226127" y="3309339"/>
            <a:ext cx="1759962" cy="646331"/>
          </a:xfrm>
          <a:prstGeom prst="rect">
            <a:avLst/>
          </a:prstGeom>
          <a:noFill/>
        </p:spPr>
        <p:txBody>
          <a:bodyPr wrap="square" rtlCol="0">
            <a:spAutoFit/>
          </a:bodyPr>
          <a:lstStyle/>
          <a:p>
            <a:r>
              <a:rPr lang="en-US" b="1" dirty="0" smtClean="0">
                <a:solidFill>
                  <a:srgbClr val="0070C0"/>
                </a:solidFill>
              </a:rPr>
              <a:t>RQ2={</a:t>
            </a:r>
            <a:r>
              <a:rPr lang="en-US" b="1" dirty="0">
                <a:solidFill>
                  <a:srgbClr val="0070C0"/>
                </a:solidFill>
              </a:rPr>
              <a:t>TS:1,P3}</a:t>
            </a:r>
            <a:endParaRPr lang="en-IN" b="1" dirty="0">
              <a:solidFill>
                <a:srgbClr val="0070C0"/>
              </a:solidFill>
            </a:endParaRPr>
          </a:p>
          <a:p>
            <a:endParaRPr lang="en-IN" dirty="0"/>
          </a:p>
        </p:txBody>
      </p:sp>
      <p:sp>
        <p:nvSpPr>
          <p:cNvPr id="37" name="TextBox 36"/>
          <p:cNvSpPr txBox="1"/>
          <p:nvPr/>
        </p:nvSpPr>
        <p:spPr>
          <a:xfrm>
            <a:off x="1948295" y="1358159"/>
            <a:ext cx="1683327" cy="923330"/>
          </a:xfrm>
          <a:prstGeom prst="rect">
            <a:avLst/>
          </a:prstGeom>
          <a:noFill/>
        </p:spPr>
        <p:txBody>
          <a:bodyPr wrap="square" rtlCol="0">
            <a:spAutoFit/>
          </a:bodyPr>
          <a:lstStyle/>
          <a:p>
            <a:r>
              <a:rPr lang="en-US" b="1" dirty="0" smtClean="0">
                <a:solidFill>
                  <a:srgbClr val="0070C0"/>
                </a:solidFill>
              </a:rPr>
              <a:t>RQ1={TS:1,P3;</a:t>
            </a:r>
          </a:p>
          <a:p>
            <a:r>
              <a:rPr lang="en-US" b="1" dirty="0">
                <a:solidFill>
                  <a:srgbClr val="0070C0"/>
                </a:solidFill>
              </a:rPr>
              <a:t> </a:t>
            </a:r>
            <a:r>
              <a:rPr lang="en-US" b="1" dirty="0" smtClean="0">
                <a:solidFill>
                  <a:srgbClr val="0070C0"/>
                </a:solidFill>
              </a:rPr>
              <a:t>          TS:2,P1}</a:t>
            </a:r>
            <a:endParaRPr lang="en-IN" b="1" dirty="0">
              <a:solidFill>
                <a:srgbClr val="0070C0"/>
              </a:solidFill>
            </a:endParaRPr>
          </a:p>
          <a:p>
            <a:endParaRPr lang="en-IN" dirty="0"/>
          </a:p>
        </p:txBody>
      </p:sp>
      <p:cxnSp>
        <p:nvCxnSpPr>
          <p:cNvPr id="41" name="Straight Arrow Connector 40"/>
          <p:cNvCxnSpPr/>
          <p:nvPr/>
        </p:nvCxnSpPr>
        <p:spPr>
          <a:xfrm>
            <a:off x="1880755" y="3655243"/>
            <a:ext cx="1226127" cy="1650714"/>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1896340" y="1955565"/>
            <a:ext cx="2696441" cy="337542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rot="2211139">
            <a:off x="2004450" y="2151475"/>
            <a:ext cx="873529" cy="369332"/>
          </a:xfrm>
          <a:prstGeom prst="rect">
            <a:avLst/>
          </a:prstGeom>
          <a:noFill/>
        </p:spPr>
        <p:txBody>
          <a:bodyPr wrap="square" rtlCol="0">
            <a:spAutoFit/>
          </a:bodyPr>
          <a:lstStyle/>
          <a:p>
            <a:r>
              <a:rPr lang="en-US" dirty="0" smtClean="0"/>
              <a:t>Reply</a:t>
            </a:r>
            <a:endParaRPr lang="en-IN" dirty="0"/>
          </a:p>
        </p:txBody>
      </p:sp>
      <p:sp>
        <p:nvSpPr>
          <p:cNvPr id="59" name="TextBox 58"/>
          <p:cNvSpPr txBox="1"/>
          <p:nvPr/>
        </p:nvSpPr>
        <p:spPr>
          <a:xfrm rot="2676281">
            <a:off x="2168382" y="4628565"/>
            <a:ext cx="841664" cy="369332"/>
          </a:xfrm>
          <a:prstGeom prst="rect">
            <a:avLst/>
          </a:prstGeom>
          <a:noFill/>
        </p:spPr>
        <p:txBody>
          <a:bodyPr wrap="square" rtlCol="0">
            <a:spAutoFit/>
          </a:bodyPr>
          <a:lstStyle/>
          <a:p>
            <a:r>
              <a:rPr lang="en-US" dirty="0" smtClean="0"/>
              <a:t>Reply</a:t>
            </a:r>
            <a:endParaRPr lang="en-IN" dirty="0"/>
          </a:p>
        </p:txBody>
      </p:sp>
      <p:sp>
        <p:nvSpPr>
          <p:cNvPr id="62" name="Rectangle 61"/>
          <p:cNvSpPr/>
          <p:nvPr/>
        </p:nvSpPr>
        <p:spPr>
          <a:xfrm>
            <a:off x="4579792" y="5065055"/>
            <a:ext cx="488373" cy="52322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CS</a:t>
            </a:r>
            <a:endParaRPr lang="en-IN" b="1" dirty="0">
              <a:solidFill>
                <a:schemeClr val="tx1"/>
              </a:solidFill>
            </a:endParaRPr>
          </a:p>
        </p:txBody>
      </p:sp>
      <p:cxnSp>
        <p:nvCxnSpPr>
          <p:cNvPr id="64" name="Straight Arrow Connector 63"/>
          <p:cNvCxnSpPr/>
          <p:nvPr/>
        </p:nvCxnSpPr>
        <p:spPr>
          <a:xfrm flipV="1">
            <a:off x="5114923" y="3594991"/>
            <a:ext cx="1066369" cy="171034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V="1">
            <a:off x="5104532" y="1908377"/>
            <a:ext cx="1194954" cy="336665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rot="17679357">
            <a:off x="5312874" y="2499052"/>
            <a:ext cx="1094509" cy="369332"/>
          </a:xfrm>
          <a:prstGeom prst="rect">
            <a:avLst/>
          </a:prstGeom>
          <a:noFill/>
        </p:spPr>
        <p:txBody>
          <a:bodyPr wrap="square" rtlCol="0">
            <a:spAutoFit/>
          </a:bodyPr>
          <a:lstStyle/>
          <a:p>
            <a:r>
              <a:rPr lang="en-US" dirty="0" smtClean="0"/>
              <a:t>Release</a:t>
            </a:r>
            <a:endParaRPr lang="en-IN" dirty="0"/>
          </a:p>
        </p:txBody>
      </p:sp>
      <p:sp>
        <p:nvSpPr>
          <p:cNvPr id="71" name="TextBox 70"/>
          <p:cNvSpPr txBox="1"/>
          <p:nvPr/>
        </p:nvSpPr>
        <p:spPr>
          <a:xfrm rot="18479681">
            <a:off x="5166838" y="3789363"/>
            <a:ext cx="1288473" cy="369332"/>
          </a:xfrm>
          <a:prstGeom prst="rect">
            <a:avLst/>
          </a:prstGeom>
          <a:noFill/>
        </p:spPr>
        <p:txBody>
          <a:bodyPr wrap="square" rtlCol="0">
            <a:spAutoFit/>
          </a:bodyPr>
          <a:lstStyle/>
          <a:p>
            <a:r>
              <a:rPr lang="en-US" dirty="0" smtClean="0"/>
              <a:t>Release</a:t>
            </a:r>
            <a:endParaRPr lang="en-IN" dirty="0"/>
          </a:p>
        </p:txBody>
      </p:sp>
      <p:sp>
        <p:nvSpPr>
          <p:cNvPr id="72" name="TextBox 71"/>
          <p:cNvSpPr txBox="1"/>
          <p:nvPr/>
        </p:nvSpPr>
        <p:spPr>
          <a:xfrm>
            <a:off x="5382100" y="1176886"/>
            <a:ext cx="1626232" cy="369332"/>
          </a:xfrm>
          <a:prstGeom prst="rect">
            <a:avLst/>
          </a:prstGeom>
          <a:noFill/>
        </p:spPr>
        <p:txBody>
          <a:bodyPr wrap="square" rtlCol="0">
            <a:spAutoFit/>
          </a:bodyPr>
          <a:lstStyle/>
          <a:p>
            <a:r>
              <a:rPr lang="en-US" b="1" dirty="0" smtClean="0">
                <a:solidFill>
                  <a:srgbClr val="0070C0"/>
                </a:solidFill>
              </a:rPr>
              <a:t>RQ1={TS:2,P1}</a:t>
            </a:r>
            <a:endParaRPr lang="en-IN" b="1" dirty="0">
              <a:solidFill>
                <a:srgbClr val="0070C0"/>
              </a:solidFill>
            </a:endParaRPr>
          </a:p>
        </p:txBody>
      </p:sp>
      <p:sp>
        <p:nvSpPr>
          <p:cNvPr id="73" name="TextBox 72"/>
          <p:cNvSpPr txBox="1"/>
          <p:nvPr/>
        </p:nvSpPr>
        <p:spPr>
          <a:xfrm>
            <a:off x="5962775" y="3214116"/>
            <a:ext cx="1746215" cy="369332"/>
          </a:xfrm>
          <a:prstGeom prst="rect">
            <a:avLst/>
          </a:prstGeom>
          <a:noFill/>
        </p:spPr>
        <p:txBody>
          <a:bodyPr wrap="square" rtlCol="0">
            <a:spAutoFit/>
          </a:bodyPr>
          <a:lstStyle/>
          <a:p>
            <a:r>
              <a:rPr lang="en-US" b="1" dirty="0" smtClean="0">
                <a:solidFill>
                  <a:srgbClr val="0070C0"/>
                </a:solidFill>
              </a:rPr>
              <a:t>RQ2={TS:2,P1}</a:t>
            </a:r>
            <a:endParaRPr lang="en-IN" b="1" dirty="0">
              <a:solidFill>
                <a:srgbClr val="0070C0"/>
              </a:solidFill>
            </a:endParaRPr>
          </a:p>
        </p:txBody>
      </p:sp>
      <p:sp>
        <p:nvSpPr>
          <p:cNvPr id="74" name="TextBox 73"/>
          <p:cNvSpPr txBox="1"/>
          <p:nvPr/>
        </p:nvSpPr>
        <p:spPr>
          <a:xfrm>
            <a:off x="3234170" y="5396528"/>
            <a:ext cx="1617230" cy="646331"/>
          </a:xfrm>
          <a:prstGeom prst="rect">
            <a:avLst/>
          </a:prstGeom>
          <a:noFill/>
        </p:spPr>
        <p:txBody>
          <a:bodyPr wrap="square" rtlCol="0">
            <a:spAutoFit/>
          </a:bodyPr>
          <a:lstStyle/>
          <a:p>
            <a:r>
              <a:rPr lang="en-US" b="1" dirty="0">
                <a:solidFill>
                  <a:srgbClr val="0070C0"/>
                </a:solidFill>
              </a:rPr>
              <a:t>RQ3={TS:1,P3;</a:t>
            </a:r>
          </a:p>
          <a:p>
            <a:r>
              <a:rPr lang="en-US" b="1" dirty="0">
                <a:solidFill>
                  <a:srgbClr val="0070C0"/>
                </a:solidFill>
              </a:rPr>
              <a:t>           TS:2,P1}</a:t>
            </a:r>
            <a:endParaRPr lang="en-IN" b="1" dirty="0">
              <a:solidFill>
                <a:srgbClr val="0070C0"/>
              </a:solidFill>
            </a:endParaRPr>
          </a:p>
        </p:txBody>
      </p:sp>
      <p:cxnSp>
        <p:nvCxnSpPr>
          <p:cNvPr id="17" name="Straight Arrow Connector 16"/>
          <p:cNvCxnSpPr/>
          <p:nvPr/>
        </p:nvCxnSpPr>
        <p:spPr>
          <a:xfrm>
            <a:off x="1200151" y="1908996"/>
            <a:ext cx="1785938" cy="169028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217033" y="1942583"/>
            <a:ext cx="2414589" cy="335527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1111828" y="1778036"/>
            <a:ext cx="228599" cy="2632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p:cNvSpPr txBox="1"/>
          <p:nvPr/>
        </p:nvSpPr>
        <p:spPr>
          <a:xfrm rot="1889748">
            <a:off x="1950723" y="2483580"/>
            <a:ext cx="737755" cy="646331"/>
          </a:xfrm>
          <a:prstGeom prst="rect">
            <a:avLst/>
          </a:prstGeom>
          <a:noFill/>
        </p:spPr>
        <p:txBody>
          <a:bodyPr wrap="square" rtlCol="0">
            <a:spAutoFit/>
          </a:bodyPr>
          <a:lstStyle/>
          <a:p>
            <a:r>
              <a:rPr lang="en-US" dirty="0" smtClean="0"/>
              <a:t>Request</a:t>
            </a:r>
            <a:endParaRPr lang="en-IN" dirty="0"/>
          </a:p>
        </p:txBody>
      </p:sp>
      <p:sp>
        <p:nvSpPr>
          <p:cNvPr id="46" name="TextBox 45"/>
          <p:cNvSpPr txBox="1"/>
          <p:nvPr/>
        </p:nvSpPr>
        <p:spPr>
          <a:xfrm rot="2769059">
            <a:off x="2701047" y="4257303"/>
            <a:ext cx="983673" cy="369332"/>
          </a:xfrm>
          <a:prstGeom prst="rect">
            <a:avLst/>
          </a:prstGeom>
          <a:noFill/>
        </p:spPr>
        <p:txBody>
          <a:bodyPr wrap="square" rtlCol="0">
            <a:spAutoFit/>
          </a:bodyPr>
          <a:lstStyle/>
          <a:p>
            <a:r>
              <a:rPr lang="en-US" dirty="0" smtClean="0"/>
              <a:t>Request</a:t>
            </a:r>
            <a:endParaRPr lang="en-IN" dirty="0"/>
          </a:p>
        </p:txBody>
      </p:sp>
      <p:cxnSp>
        <p:nvCxnSpPr>
          <p:cNvPr id="24" name="Straight Arrow Connector 23"/>
          <p:cNvCxnSpPr/>
          <p:nvPr/>
        </p:nvCxnSpPr>
        <p:spPr>
          <a:xfrm flipV="1">
            <a:off x="2986089" y="1908377"/>
            <a:ext cx="775421" cy="1678811"/>
          </a:xfrm>
          <a:prstGeom prst="straightConnector1">
            <a:avLst/>
          </a:prstGeom>
          <a:ln w="28575">
            <a:solidFill>
              <a:schemeClr val="accent4">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3631622" y="1895663"/>
            <a:ext cx="1540452" cy="3381453"/>
          </a:xfrm>
          <a:prstGeom prst="straightConnector1">
            <a:avLst/>
          </a:prstGeom>
          <a:ln w="28575">
            <a:solidFill>
              <a:schemeClr val="accent4">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139560" y="5418215"/>
            <a:ext cx="1613459" cy="369332"/>
          </a:xfrm>
          <a:prstGeom prst="rect">
            <a:avLst/>
          </a:prstGeom>
          <a:noFill/>
        </p:spPr>
        <p:txBody>
          <a:bodyPr wrap="square" rtlCol="0">
            <a:spAutoFit/>
          </a:bodyPr>
          <a:lstStyle/>
          <a:p>
            <a:r>
              <a:rPr lang="en-US" b="1" dirty="0" smtClean="0">
                <a:solidFill>
                  <a:srgbClr val="0070C0"/>
                </a:solidFill>
              </a:rPr>
              <a:t>RQ3={TS:2,P1</a:t>
            </a:r>
            <a:r>
              <a:rPr lang="en-US" dirty="0" smtClean="0"/>
              <a:t>}</a:t>
            </a:r>
            <a:endParaRPr lang="en-IN" dirty="0"/>
          </a:p>
        </p:txBody>
      </p:sp>
      <p:sp>
        <p:nvSpPr>
          <p:cNvPr id="39" name="Rectangle 38"/>
          <p:cNvSpPr/>
          <p:nvPr/>
        </p:nvSpPr>
        <p:spPr>
          <a:xfrm>
            <a:off x="6292612" y="1637975"/>
            <a:ext cx="397832" cy="49014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CS</a:t>
            </a:r>
            <a:endParaRPr lang="en-IN" b="1" dirty="0">
              <a:solidFill>
                <a:schemeClr val="tx1"/>
              </a:solidFill>
            </a:endParaRPr>
          </a:p>
        </p:txBody>
      </p:sp>
      <p:cxnSp>
        <p:nvCxnSpPr>
          <p:cNvPr id="42" name="Straight Arrow Connector 41"/>
          <p:cNvCxnSpPr>
            <a:stCxn id="39" idx="3"/>
          </p:cNvCxnSpPr>
          <p:nvPr/>
        </p:nvCxnSpPr>
        <p:spPr>
          <a:xfrm>
            <a:off x="6690444" y="1883045"/>
            <a:ext cx="1380980" cy="17355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9" idx="3"/>
          </p:cNvCxnSpPr>
          <p:nvPr/>
        </p:nvCxnSpPr>
        <p:spPr>
          <a:xfrm>
            <a:off x="6690444" y="1883046"/>
            <a:ext cx="1380980" cy="3395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rot="3592484">
            <a:off x="7421045" y="4437359"/>
            <a:ext cx="1094509" cy="369332"/>
          </a:xfrm>
          <a:prstGeom prst="rect">
            <a:avLst/>
          </a:prstGeom>
          <a:noFill/>
        </p:spPr>
        <p:txBody>
          <a:bodyPr wrap="square" rtlCol="0">
            <a:spAutoFit/>
          </a:bodyPr>
          <a:lstStyle/>
          <a:p>
            <a:r>
              <a:rPr lang="en-US" dirty="0" smtClean="0"/>
              <a:t>Release</a:t>
            </a:r>
            <a:endParaRPr lang="en-IN" dirty="0"/>
          </a:p>
        </p:txBody>
      </p:sp>
      <p:sp>
        <p:nvSpPr>
          <p:cNvPr id="68" name="TextBox 67"/>
          <p:cNvSpPr txBox="1"/>
          <p:nvPr/>
        </p:nvSpPr>
        <p:spPr>
          <a:xfrm rot="2463862">
            <a:off x="7119642" y="2333566"/>
            <a:ext cx="820882" cy="646331"/>
          </a:xfrm>
          <a:prstGeom prst="rect">
            <a:avLst/>
          </a:prstGeom>
          <a:noFill/>
        </p:spPr>
        <p:txBody>
          <a:bodyPr wrap="square" rtlCol="0">
            <a:spAutoFit/>
          </a:bodyPr>
          <a:lstStyle/>
          <a:p>
            <a:r>
              <a:rPr lang="en-US" dirty="0" smtClean="0"/>
              <a:t>Release</a:t>
            </a:r>
            <a:endParaRPr lang="en-IN" dirty="0"/>
          </a:p>
        </p:txBody>
      </p:sp>
      <p:sp>
        <p:nvSpPr>
          <p:cNvPr id="52" name="TextBox 51"/>
          <p:cNvSpPr txBox="1"/>
          <p:nvPr/>
        </p:nvSpPr>
        <p:spPr>
          <a:xfrm>
            <a:off x="6753019" y="1544813"/>
            <a:ext cx="1311398" cy="369332"/>
          </a:xfrm>
          <a:prstGeom prst="rect">
            <a:avLst/>
          </a:prstGeom>
          <a:noFill/>
        </p:spPr>
        <p:txBody>
          <a:bodyPr wrap="square" rtlCol="0">
            <a:spAutoFit/>
          </a:bodyPr>
          <a:lstStyle/>
          <a:p>
            <a:r>
              <a:rPr lang="en-US" b="1" dirty="0" smtClean="0">
                <a:solidFill>
                  <a:srgbClr val="0070C0"/>
                </a:solidFill>
              </a:rPr>
              <a:t>RQ1={}</a:t>
            </a:r>
            <a:endParaRPr lang="en-IN" b="1" dirty="0">
              <a:solidFill>
                <a:srgbClr val="0070C0"/>
              </a:solidFill>
            </a:endParaRPr>
          </a:p>
        </p:txBody>
      </p:sp>
      <p:sp>
        <p:nvSpPr>
          <p:cNvPr id="53" name="TextBox 52"/>
          <p:cNvSpPr txBox="1"/>
          <p:nvPr/>
        </p:nvSpPr>
        <p:spPr>
          <a:xfrm>
            <a:off x="8044232" y="3653496"/>
            <a:ext cx="1099767" cy="369332"/>
          </a:xfrm>
          <a:prstGeom prst="rect">
            <a:avLst/>
          </a:prstGeom>
          <a:noFill/>
        </p:spPr>
        <p:txBody>
          <a:bodyPr wrap="square" rtlCol="0">
            <a:spAutoFit/>
          </a:bodyPr>
          <a:lstStyle/>
          <a:p>
            <a:r>
              <a:rPr lang="en-US" b="1" dirty="0" smtClean="0">
                <a:solidFill>
                  <a:srgbClr val="0070C0"/>
                </a:solidFill>
              </a:rPr>
              <a:t>RQ2={}</a:t>
            </a:r>
            <a:endParaRPr lang="en-IN" b="1" dirty="0">
              <a:solidFill>
                <a:srgbClr val="0070C0"/>
              </a:solidFill>
            </a:endParaRPr>
          </a:p>
        </p:txBody>
      </p:sp>
      <p:sp>
        <p:nvSpPr>
          <p:cNvPr id="54" name="TextBox 53"/>
          <p:cNvSpPr txBox="1"/>
          <p:nvPr/>
        </p:nvSpPr>
        <p:spPr>
          <a:xfrm>
            <a:off x="7708990" y="5331275"/>
            <a:ext cx="1021636" cy="369332"/>
          </a:xfrm>
          <a:prstGeom prst="rect">
            <a:avLst/>
          </a:prstGeom>
          <a:noFill/>
        </p:spPr>
        <p:txBody>
          <a:bodyPr wrap="square" rtlCol="0">
            <a:spAutoFit/>
          </a:bodyPr>
          <a:lstStyle/>
          <a:p>
            <a:r>
              <a:rPr lang="en-US" b="1" dirty="0" smtClean="0">
                <a:solidFill>
                  <a:srgbClr val="0070C0"/>
                </a:solidFill>
              </a:rPr>
              <a:t>RQ3={}</a:t>
            </a:r>
            <a:endParaRPr lang="en-IN" b="1" dirty="0">
              <a:solidFill>
                <a:srgbClr val="0070C0"/>
              </a:solidFill>
            </a:endParaRPr>
          </a:p>
        </p:txBody>
      </p:sp>
      <p:sp>
        <p:nvSpPr>
          <p:cNvPr id="56" name="TextBox 55"/>
          <p:cNvSpPr txBox="1"/>
          <p:nvPr/>
        </p:nvSpPr>
        <p:spPr>
          <a:xfrm>
            <a:off x="515360" y="1240629"/>
            <a:ext cx="1644559" cy="369332"/>
          </a:xfrm>
          <a:prstGeom prst="rect">
            <a:avLst/>
          </a:prstGeom>
          <a:noFill/>
        </p:spPr>
        <p:txBody>
          <a:bodyPr wrap="square" rtlCol="0">
            <a:spAutoFit/>
          </a:bodyPr>
          <a:lstStyle/>
          <a:p>
            <a:r>
              <a:rPr lang="en-US" b="1" dirty="0" smtClean="0">
                <a:solidFill>
                  <a:srgbClr val="0070C0"/>
                </a:solidFill>
              </a:rPr>
              <a:t>RQ1={TS:2,P1}</a:t>
            </a:r>
            <a:endParaRPr lang="en-IN" b="1" dirty="0">
              <a:solidFill>
                <a:srgbClr val="0070C0"/>
              </a:solidFill>
            </a:endParaRPr>
          </a:p>
        </p:txBody>
      </p:sp>
      <p:sp>
        <p:nvSpPr>
          <p:cNvPr id="57" name="TextBox 56"/>
          <p:cNvSpPr txBox="1"/>
          <p:nvPr/>
        </p:nvSpPr>
        <p:spPr>
          <a:xfrm>
            <a:off x="3115301" y="3032901"/>
            <a:ext cx="1952863" cy="646331"/>
          </a:xfrm>
          <a:prstGeom prst="rect">
            <a:avLst/>
          </a:prstGeom>
          <a:noFill/>
        </p:spPr>
        <p:txBody>
          <a:bodyPr wrap="square" rtlCol="0">
            <a:spAutoFit/>
          </a:bodyPr>
          <a:lstStyle/>
          <a:p>
            <a:r>
              <a:rPr lang="en-US" b="1" dirty="0" smtClean="0">
                <a:solidFill>
                  <a:srgbClr val="0070C0"/>
                </a:solidFill>
              </a:rPr>
              <a:t>RQ2={</a:t>
            </a:r>
            <a:r>
              <a:rPr lang="en-US" b="1" dirty="0">
                <a:solidFill>
                  <a:srgbClr val="0070C0"/>
                </a:solidFill>
              </a:rPr>
              <a:t>TS:1,P3;</a:t>
            </a:r>
          </a:p>
          <a:p>
            <a:r>
              <a:rPr lang="en-US" b="1" dirty="0">
                <a:solidFill>
                  <a:srgbClr val="0070C0"/>
                </a:solidFill>
              </a:rPr>
              <a:t>           TS:2,P1}</a:t>
            </a:r>
            <a:endParaRPr lang="en-IN" b="1" dirty="0">
              <a:solidFill>
                <a:srgbClr val="0070C0"/>
              </a:solidFill>
            </a:endParaRPr>
          </a:p>
        </p:txBody>
      </p:sp>
      <p:sp>
        <p:nvSpPr>
          <p:cNvPr id="76" name="TextBox 75"/>
          <p:cNvSpPr txBox="1"/>
          <p:nvPr/>
        </p:nvSpPr>
        <p:spPr>
          <a:xfrm rot="18244606">
            <a:off x="2876148" y="2068087"/>
            <a:ext cx="1164705" cy="369332"/>
          </a:xfrm>
          <a:prstGeom prst="rect">
            <a:avLst/>
          </a:prstGeom>
          <a:noFill/>
        </p:spPr>
        <p:txBody>
          <a:bodyPr wrap="square" rtlCol="0">
            <a:spAutoFit/>
          </a:bodyPr>
          <a:lstStyle/>
          <a:p>
            <a:r>
              <a:rPr lang="en-US" dirty="0" smtClean="0"/>
              <a:t>Reply</a:t>
            </a:r>
            <a:endParaRPr lang="en-IN" dirty="0"/>
          </a:p>
        </p:txBody>
      </p:sp>
      <p:sp>
        <p:nvSpPr>
          <p:cNvPr id="77" name="TextBox 76"/>
          <p:cNvSpPr txBox="1"/>
          <p:nvPr/>
        </p:nvSpPr>
        <p:spPr>
          <a:xfrm rot="18315358">
            <a:off x="4239029" y="2177824"/>
            <a:ext cx="1164705" cy="369332"/>
          </a:xfrm>
          <a:prstGeom prst="rect">
            <a:avLst/>
          </a:prstGeom>
          <a:noFill/>
        </p:spPr>
        <p:txBody>
          <a:bodyPr wrap="square" rtlCol="0">
            <a:spAutoFit/>
          </a:bodyPr>
          <a:lstStyle/>
          <a:p>
            <a:r>
              <a:rPr lang="en-US" dirty="0" smtClean="0"/>
              <a:t>Reply</a:t>
            </a:r>
            <a:endParaRPr lang="en-IN" dirty="0"/>
          </a:p>
        </p:txBody>
      </p:sp>
    </p:spTree>
    <p:extLst>
      <p:ext uri="{BB962C8B-B14F-4D97-AF65-F5344CB8AC3E}">
        <p14:creationId xmlns:p14="http://schemas.microsoft.com/office/powerpoint/2010/main" xmlns="" val="24438552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500"/>
                                        <p:tgtEl>
                                          <p:spTgt spid="5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childTnLst>
                                </p:cTn>
                              </p:par>
                              <p:par>
                                <p:cTn id="69" presetID="10" presetClass="entr" presetSubtype="0"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5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500"/>
                                        <p:tgtEl>
                                          <p:spTgt spid="4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57"/>
                                        </p:tgtEl>
                                        <p:attrNameLst>
                                          <p:attrName>style.visibility</p:attrName>
                                        </p:attrNameLst>
                                      </p:cBhvr>
                                      <p:to>
                                        <p:strVal val="visible"/>
                                      </p:to>
                                    </p:set>
                                    <p:animEffect transition="in" filter="fade">
                                      <p:cBhvr>
                                        <p:cTn id="84" dur="500"/>
                                        <p:tgtEl>
                                          <p:spTgt spid="5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5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74"/>
                                        </p:tgtEl>
                                        <p:attrNameLst>
                                          <p:attrName>style.visibility</p:attrName>
                                        </p:attrNameLst>
                                      </p:cBhvr>
                                      <p:to>
                                        <p:strVal val="visible"/>
                                      </p:to>
                                    </p:set>
                                    <p:animEffect transition="in" filter="fade">
                                      <p:cBhvr>
                                        <p:cTn id="90" dur="500"/>
                                        <p:tgtEl>
                                          <p:spTgt spid="7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500"/>
                                        <p:tgtEl>
                                          <p:spTgt spid="41"/>
                                        </p:tgtEl>
                                      </p:cBhvr>
                                    </p:animEffect>
                                  </p:childTnLst>
                                </p:cTn>
                              </p:par>
                              <p:par>
                                <p:cTn id="96" presetID="10" presetClass="entr" presetSubtype="0" fill="hold" nodeType="withEffect">
                                  <p:stCondLst>
                                    <p:cond delay="0"/>
                                  </p:stCondLst>
                                  <p:childTnLst>
                                    <p:set>
                                      <p:cBhvr>
                                        <p:cTn id="97" dur="1" fill="hold">
                                          <p:stCondLst>
                                            <p:cond delay="0"/>
                                          </p:stCondLst>
                                        </p:cTn>
                                        <p:tgtEl>
                                          <p:spTgt spid="55"/>
                                        </p:tgtEl>
                                        <p:attrNameLst>
                                          <p:attrName>style.visibility</p:attrName>
                                        </p:attrNameLst>
                                      </p:cBhvr>
                                      <p:to>
                                        <p:strVal val="visible"/>
                                      </p:to>
                                    </p:set>
                                    <p:animEffect transition="in" filter="fade">
                                      <p:cBhvr>
                                        <p:cTn id="98" dur="500"/>
                                        <p:tgtEl>
                                          <p:spTgt spid="55"/>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8"/>
                                        </p:tgtEl>
                                        <p:attrNameLst>
                                          <p:attrName>style.visibility</p:attrName>
                                        </p:attrNameLst>
                                      </p:cBhvr>
                                      <p:to>
                                        <p:strVal val="visible"/>
                                      </p:to>
                                    </p:set>
                                    <p:animEffect transition="in" filter="fade">
                                      <p:cBhvr>
                                        <p:cTn id="103" dur="500"/>
                                        <p:tgtEl>
                                          <p:spTgt spid="5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9"/>
                                        </p:tgtEl>
                                        <p:attrNameLst>
                                          <p:attrName>style.visibility</p:attrName>
                                        </p:attrNameLst>
                                      </p:cBhvr>
                                      <p:to>
                                        <p:strVal val="visible"/>
                                      </p:to>
                                    </p:set>
                                    <p:animEffect transition="in" filter="fade">
                                      <p:cBhvr>
                                        <p:cTn id="106" dur="500"/>
                                        <p:tgtEl>
                                          <p:spTgt spid="59"/>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500"/>
                                        <p:tgtEl>
                                          <p:spTgt spid="24"/>
                                        </p:tgtEl>
                                      </p:cBhvr>
                                    </p:animEffect>
                                  </p:childTnLst>
                                </p:cTn>
                              </p:par>
                              <p:par>
                                <p:cTn id="112" presetID="10" presetClass="entr" presetSubtype="0" fill="hold" nodeType="with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500"/>
                                        <p:tgtEl>
                                          <p:spTgt spid="29"/>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76"/>
                                        </p:tgtEl>
                                        <p:attrNameLst>
                                          <p:attrName>style.visibility</p:attrName>
                                        </p:attrNameLst>
                                      </p:cBhvr>
                                      <p:to>
                                        <p:strVal val="visible"/>
                                      </p:to>
                                    </p:set>
                                    <p:animEffect transition="in" filter="fade">
                                      <p:cBhvr>
                                        <p:cTn id="119" dur="500"/>
                                        <p:tgtEl>
                                          <p:spTgt spid="7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fade">
                                      <p:cBhvr>
                                        <p:cTn id="122" dur="500"/>
                                        <p:tgtEl>
                                          <p:spTgt spid="77"/>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2"/>
                                        </p:tgtEl>
                                        <p:attrNameLst>
                                          <p:attrName>style.visibility</p:attrName>
                                        </p:attrNameLst>
                                      </p:cBhvr>
                                      <p:to>
                                        <p:strVal val="visible"/>
                                      </p:to>
                                    </p:set>
                                    <p:animEffect transition="in" filter="fade">
                                      <p:cBhvr>
                                        <p:cTn id="127" dur="500"/>
                                        <p:tgtEl>
                                          <p:spTgt spid="62"/>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38"/>
                                        </p:tgtEl>
                                        <p:attrNameLst>
                                          <p:attrName>style.visibility</p:attrName>
                                        </p:attrNameLst>
                                      </p:cBhvr>
                                      <p:to>
                                        <p:strVal val="visible"/>
                                      </p:to>
                                    </p:set>
                                    <p:animEffect transition="in" filter="fade">
                                      <p:cBhvr>
                                        <p:cTn id="132" dur="500"/>
                                        <p:tgtEl>
                                          <p:spTgt spid="38"/>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66"/>
                                        </p:tgtEl>
                                        <p:attrNameLst>
                                          <p:attrName>style.visibility</p:attrName>
                                        </p:attrNameLst>
                                      </p:cBhvr>
                                      <p:to>
                                        <p:strVal val="visible"/>
                                      </p:to>
                                    </p:set>
                                    <p:animEffect transition="in" filter="fade">
                                      <p:cBhvr>
                                        <p:cTn id="137" dur="500"/>
                                        <p:tgtEl>
                                          <p:spTgt spid="66"/>
                                        </p:tgtEl>
                                      </p:cBhvr>
                                    </p:animEffect>
                                  </p:childTnLst>
                                </p:cTn>
                              </p:par>
                              <p:par>
                                <p:cTn id="138" presetID="10" presetClass="entr" presetSubtype="0" fill="hold" nodeType="withEffect">
                                  <p:stCondLst>
                                    <p:cond delay="0"/>
                                  </p:stCondLst>
                                  <p:childTnLst>
                                    <p:set>
                                      <p:cBhvr>
                                        <p:cTn id="139" dur="1" fill="hold">
                                          <p:stCondLst>
                                            <p:cond delay="0"/>
                                          </p:stCondLst>
                                        </p:cTn>
                                        <p:tgtEl>
                                          <p:spTgt spid="64"/>
                                        </p:tgtEl>
                                        <p:attrNameLst>
                                          <p:attrName>style.visibility</p:attrName>
                                        </p:attrNameLst>
                                      </p:cBhvr>
                                      <p:to>
                                        <p:strVal val="visible"/>
                                      </p:to>
                                    </p:set>
                                    <p:animEffect transition="in" filter="fade">
                                      <p:cBhvr>
                                        <p:cTn id="140" dur="500"/>
                                        <p:tgtEl>
                                          <p:spTgt spid="64"/>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70"/>
                                        </p:tgtEl>
                                        <p:attrNameLst>
                                          <p:attrName>style.visibility</p:attrName>
                                        </p:attrNameLst>
                                      </p:cBhvr>
                                      <p:to>
                                        <p:strVal val="visible"/>
                                      </p:to>
                                    </p:set>
                                    <p:animEffect transition="in" filter="fade">
                                      <p:cBhvr>
                                        <p:cTn id="145" dur="500"/>
                                        <p:tgtEl>
                                          <p:spTgt spid="7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71"/>
                                        </p:tgtEl>
                                        <p:attrNameLst>
                                          <p:attrName>style.visibility</p:attrName>
                                        </p:attrNameLst>
                                      </p:cBhvr>
                                      <p:to>
                                        <p:strVal val="visible"/>
                                      </p:to>
                                    </p:set>
                                    <p:animEffect transition="in" filter="fade">
                                      <p:cBhvr>
                                        <p:cTn id="148" dur="500"/>
                                        <p:tgtEl>
                                          <p:spTgt spid="71"/>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72"/>
                                        </p:tgtEl>
                                        <p:attrNameLst>
                                          <p:attrName>style.visibility</p:attrName>
                                        </p:attrNameLst>
                                      </p:cBhvr>
                                      <p:to>
                                        <p:strVal val="visible"/>
                                      </p:to>
                                    </p:set>
                                    <p:animEffect transition="in" filter="fade">
                                      <p:cBhvr>
                                        <p:cTn id="153" dur="500"/>
                                        <p:tgtEl>
                                          <p:spTgt spid="72"/>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73"/>
                                        </p:tgtEl>
                                        <p:attrNameLst>
                                          <p:attrName>style.visibility</p:attrName>
                                        </p:attrNameLst>
                                      </p:cBhvr>
                                      <p:to>
                                        <p:strVal val="visible"/>
                                      </p:to>
                                    </p:set>
                                    <p:animEffect transition="in" filter="fade">
                                      <p:cBhvr>
                                        <p:cTn id="156" dur="500"/>
                                        <p:tgtEl>
                                          <p:spTgt spid="73"/>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39"/>
                                        </p:tgtEl>
                                        <p:attrNameLst>
                                          <p:attrName>style.visibility</p:attrName>
                                        </p:attrNameLst>
                                      </p:cBhvr>
                                      <p:to>
                                        <p:strVal val="visible"/>
                                      </p:to>
                                    </p:set>
                                    <p:animEffect transition="in" filter="fade">
                                      <p:cBhvr>
                                        <p:cTn id="161" dur="500"/>
                                        <p:tgtEl>
                                          <p:spTgt spid="39"/>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grpId="0" nodeType="clickEffect">
                                  <p:stCondLst>
                                    <p:cond delay="0"/>
                                  </p:stCondLst>
                                  <p:childTnLst>
                                    <p:set>
                                      <p:cBhvr>
                                        <p:cTn id="165" dur="1" fill="hold">
                                          <p:stCondLst>
                                            <p:cond delay="0"/>
                                          </p:stCondLst>
                                        </p:cTn>
                                        <p:tgtEl>
                                          <p:spTgt spid="52"/>
                                        </p:tgtEl>
                                        <p:attrNameLst>
                                          <p:attrName>style.visibility</p:attrName>
                                        </p:attrNameLst>
                                      </p:cBhvr>
                                      <p:to>
                                        <p:strVal val="visible"/>
                                      </p:to>
                                    </p:set>
                                    <p:animEffect transition="in" filter="fade">
                                      <p:cBhvr>
                                        <p:cTn id="166" dur="500"/>
                                        <p:tgtEl>
                                          <p:spTgt spid="52"/>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48"/>
                                        </p:tgtEl>
                                        <p:attrNameLst>
                                          <p:attrName>style.visibility</p:attrName>
                                        </p:attrNameLst>
                                      </p:cBhvr>
                                      <p:to>
                                        <p:strVal val="visible"/>
                                      </p:to>
                                    </p:set>
                                    <p:animEffect transition="in" filter="fade">
                                      <p:cBhvr>
                                        <p:cTn id="171" dur="500"/>
                                        <p:tgtEl>
                                          <p:spTgt spid="48"/>
                                        </p:tgtEl>
                                      </p:cBhvr>
                                    </p:animEffect>
                                  </p:childTnLst>
                                </p:cTn>
                              </p:par>
                              <p:par>
                                <p:cTn id="172" presetID="10" presetClass="entr" presetSubtype="0" fill="hold" nodeType="withEffect">
                                  <p:stCondLst>
                                    <p:cond delay="0"/>
                                  </p:stCondLst>
                                  <p:childTnLst>
                                    <p:set>
                                      <p:cBhvr>
                                        <p:cTn id="173" dur="1" fill="hold">
                                          <p:stCondLst>
                                            <p:cond delay="0"/>
                                          </p:stCondLst>
                                        </p:cTn>
                                        <p:tgtEl>
                                          <p:spTgt spid="42"/>
                                        </p:tgtEl>
                                        <p:attrNameLst>
                                          <p:attrName>style.visibility</p:attrName>
                                        </p:attrNameLst>
                                      </p:cBhvr>
                                      <p:to>
                                        <p:strVal val="visible"/>
                                      </p:to>
                                    </p:set>
                                    <p:animEffect transition="in" filter="fade">
                                      <p:cBhvr>
                                        <p:cTn id="174" dur="500"/>
                                        <p:tgtEl>
                                          <p:spTgt spid="42"/>
                                        </p:tgtEl>
                                      </p:cBhvr>
                                    </p:animEffect>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grpId="0" nodeType="clickEffect">
                                  <p:stCondLst>
                                    <p:cond delay="0"/>
                                  </p:stCondLst>
                                  <p:childTnLst>
                                    <p:set>
                                      <p:cBhvr>
                                        <p:cTn id="178" dur="1" fill="hold">
                                          <p:stCondLst>
                                            <p:cond delay="0"/>
                                          </p:stCondLst>
                                        </p:cTn>
                                        <p:tgtEl>
                                          <p:spTgt spid="68"/>
                                        </p:tgtEl>
                                        <p:attrNameLst>
                                          <p:attrName>style.visibility</p:attrName>
                                        </p:attrNameLst>
                                      </p:cBhvr>
                                      <p:to>
                                        <p:strVal val="visible"/>
                                      </p:to>
                                    </p:set>
                                    <p:animEffect transition="in" filter="fade">
                                      <p:cBhvr>
                                        <p:cTn id="179" dur="500"/>
                                        <p:tgtEl>
                                          <p:spTgt spid="68"/>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7"/>
                                        </p:tgtEl>
                                        <p:attrNameLst>
                                          <p:attrName>style.visibility</p:attrName>
                                        </p:attrNameLst>
                                      </p:cBhvr>
                                      <p:to>
                                        <p:strVal val="visible"/>
                                      </p:to>
                                    </p:set>
                                    <p:animEffect transition="in" filter="fade">
                                      <p:cBhvr>
                                        <p:cTn id="182" dur="500"/>
                                        <p:tgtEl>
                                          <p:spTgt spid="67"/>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ntr" presetSubtype="0" fill="hold" grpId="0" nodeType="clickEffect">
                                  <p:stCondLst>
                                    <p:cond delay="0"/>
                                  </p:stCondLst>
                                  <p:childTnLst>
                                    <p:set>
                                      <p:cBhvr>
                                        <p:cTn id="186" dur="1" fill="hold">
                                          <p:stCondLst>
                                            <p:cond delay="0"/>
                                          </p:stCondLst>
                                        </p:cTn>
                                        <p:tgtEl>
                                          <p:spTgt spid="53"/>
                                        </p:tgtEl>
                                        <p:attrNameLst>
                                          <p:attrName>style.visibility</p:attrName>
                                        </p:attrNameLst>
                                      </p:cBhvr>
                                      <p:to>
                                        <p:strVal val="visible"/>
                                      </p:to>
                                    </p:set>
                                    <p:animEffect transition="in" filter="fade">
                                      <p:cBhvr>
                                        <p:cTn id="187" dur="500"/>
                                        <p:tgtEl>
                                          <p:spTgt spid="53"/>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54"/>
                                        </p:tgtEl>
                                        <p:attrNameLst>
                                          <p:attrName>style.visibility</p:attrName>
                                        </p:attrNameLst>
                                      </p:cBhvr>
                                      <p:to>
                                        <p:strVal val="visible"/>
                                      </p:to>
                                    </p:set>
                                    <p:animEffect transition="in" filter="fade">
                                      <p:cBhvr>
                                        <p:cTn id="190"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2" grpId="0" animBg="1"/>
      <p:bldP spid="33" grpId="0"/>
      <p:bldP spid="34" grpId="0"/>
      <p:bldP spid="35" grpId="0"/>
      <p:bldP spid="36" grpId="0"/>
      <p:bldP spid="37" grpId="0"/>
      <p:bldP spid="58" grpId="0"/>
      <p:bldP spid="59" grpId="0"/>
      <p:bldP spid="62" grpId="0" animBg="1"/>
      <p:bldP spid="70" grpId="0"/>
      <p:bldP spid="71" grpId="0"/>
      <p:bldP spid="72" grpId="0"/>
      <p:bldP spid="73" grpId="0"/>
      <p:bldP spid="74" grpId="0"/>
      <p:bldP spid="44" grpId="0" animBg="1"/>
      <p:bldP spid="45" grpId="0"/>
      <p:bldP spid="46" grpId="0"/>
      <p:bldP spid="38" grpId="0"/>
      <p:bldP spid="39" grpId="0" animBg="1"/>
      <p:bldP spid="67" grpId="0"/>
      <p:bldP spid="68" grpId="0"/>
      <p:bldP spid="52" grpId="0"/>
      <p:bldP spid="53" grpId="0"/>
      <p:bldP spid="54" grpId="0"/>
      <p:bldP spid="56" grpId="0"/>
      <p:bldP spid="57" grpId="0"/>
      <p:bldP spid="76" grpId="0"/>
      <p:bldP spid="7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259" y="240435"/>
            <a:ext cx="7886700" cy="493857"/>
          </a:xfrm>
        </p:spPr>
        <p:txBody>
          <a:bodyPr>
            <a:normAutofit fontScale="90000"/>
          </a:bodyPr>
          <a:lstStyle/>
          <a:p>
            <a:pPr algn="ctr"/>
            <a:r>
              <a:rPr lang="en-US" b="1" dirty="0">
                <a:solidFill>
                  <a:srgbClr val="FF0000"/>
                </a:solidFill>
                <a:latin typeface="Algerian" panose="04020705040A02060702" pitchFamily="82" charset="0"/>
              </a:rPr>
              <a:t>LAMPORT ALGORITHM </a:t>
            </a:r>
            <a:endParaRPr lang="en-IN" b="1" dirty="0"/>
          </a:p>
        </p:txBody>
      </p:sp>
      <p:sp>
        <p:nvSpPr>
          <p:cNvPr id="3" name="Content Placeholder 2"/>
          <p:cNvSpPr>
            <a:spLocks noGrp="1"/>
          </p:cNvSpPr>
          <p:nvPr>
            <p:ph idx="1"/>
          </p:nvPr>
        </p:nvSpPr>
        <p:spPr>
          <a:xfrm>
            <a:off x="249382" y="734291"/>
            <a:ext cx="8842664" cy="5749636"/>
          </a:xfrm>
        </p:spPr>
        <p:txBody>
          <a:bodyPr>
            <a:normAutofit fontScale="85000" lnSpcReduction="20000"/>
          </a:bodyPr>
          <a:lstStyle/>
          <a:p>
            <a:pPr marL="0" indent="0">
              <a:buNone/>
            </a:pPr>
            <a:r>
              <a:rPr lang="en-US" b="1" dirty="0" smtClean="0"/>
              <a:t> </a:t>
            </a:r>
            <a:r>
              <a:rPr lang="en-US" sz="3200" b="1" dirty="0" smtClean="0"/>
              <a:t>Requesting </a:t>
            </a:r>
            <a:r>
              <a:rPr lang="en-US" sz="3200" b="1" dirty="0"/>
              <a:t>the critical </a:t>
            </a:r>
            <a:r>
              <a:rPr lang="en-US" sz="3200" b="1" dirty="0" smtClean="0"/>
              <a:t>section</a:t>
            </a:r>
            <a:endParaRPr lang="en-US" sz="3200" dirty="0" smtClean="0"/>
          </a:p>
          <a:p>
            <a:r>
              <a:rPr lang="en-US" dirty="0" smtClean="0"/>
              <a:t> </a:t>
            </a:r>
            <a:r>
              <a:rPr lang="en-US" dirty="0"/>
              <a:t>When a site Si wants to enter the </a:t>
            </a:r>
            <a:r>
              <a:rPr lang="en-US" b="1" dirty="0">
                <a:solidFill>
                  <a:schemeClr val="accent4"/>
                </a:solidFill>
              </a:rPr>
              <a:t>CS</a:t>
            </a:r>
            <a:r>
              <a:rPr lang="en-US" dirty="0"/>
              <a:t>, it broadcasts a </a:t>
            </a:r>
            <a:r>
              <a:rPr lang="en-US" b="1" dirty="0">
                <a:solidFill>
                  <a:srgbClr val="00B050"/>
                </a:solidFill>
              </a:rPr>
              <a:t>REQUEST(tsi , i) </a:t>
            </a:r>
            <a:r>
              <a:rPr lang="en-US" dirty="0"/>
              <a:t>message to all other sites and places the request </a:t>
            </a:r>
            <a:r>
              <a:rPr lang="en-US" dirty="0" smtClean="0"/>
              <a:t>on </a:t>
            </a:r>
            <a:r>
              <a:rPr lang="en-US" b="1" dirty="0" smtClean="0">
                <a:solidFill>
                  <a:srgbClr val="7030A0"/>
                </a:solidFill>
              </a:rPr>
              <a:t>RQi(tsi </a:t>
            </a:r>
            <a:r>
              <a:rPr lang="en-US" b="1" dirty="0">
                <a:solidFill>
                  <a:srgbClr val="7030A0"/>
                </a:solidFill>
              </a:rPr>
              <a:t>, i</a:t>
            </a:r>
            <a:r>
              <a:rPr lang="en-US" b="1" dirty="0" smtClean="0">
                <a:solidFill>
                  <a:srgbClr val="7030A0"/>
                </a:solidFill>
              </a:rPr>
              <a:t>).</a:t>
            </a:r>
          </a:p>
          <a:p>
            <a:r>
              <a:rPr lang="en-US" dirty="0" smtClean="0"/>
              <a:t>When </a:t>
            </a:r>
            <a:r>
              <a:rPr lang="en-US" dirty="0"/>
              <a:t>a site Sj receives the </a:t>
            </a:r>
            <a:r>
              <a:rPr lang="en-US" b="1" dirty="0">
                <a:solidFill>
                  <a:srgbClr val="00B050"/>
                </a:solidFill>
              </a:rPr>
              <a:t>REQUEST(tsi , i) </a:t>
            </a:r>
            <a:r>
              <a:rPr lang="en-US" dirty="0"/>
              <a:t>message from site Si ,places site </a:t>
            </a:r>
            <a:r>
              <a:rPr lang="en-US" dirty="0" smtClean="0"/>
              <a:t>Si </a:t>
            </a:r>
            <a:r>
              <a:rPr lang="en-US" dirty="0"/>
              <a:t>request on </a:t>
            </a:r>
            <a:r>
              <a:rPr lang="en-US" b="1" dirty="0" smtClean="0">
                <a:solidFill>
                  <a:srgbClr val="7030A0"/>
                </a:solidFill>
              </a:rPr>
              <a:t>RQj</a:t>
            </a:r>
            <a:r>
              <a:rPr lang="en-US" dirty="0" smtClean="0"/>
              <a:t> </a:t>
            </a:r>
            <a:r>
              <a:rPr lang="en-US" dirty="0"/>
              <a:t>and it returns a timestamped </a:t>
            </a:r>
            <a:r>
              <a:rPr lang="en-US" b="1" dirty="0">
                <a:solidFill>
                  <a:srgbClr val="00B050"/>
                </a:solidFill>
              </a:rPr>
              <a:t>REPLY</a:t>
            </a:r>
            <a:r>
              <a:rPr lang="en-US" dirty="0"/>
              <a:t> message to Si </a:t>
            </a:r>
            <a:r>
              <a:rPr lang="en-US" dirty="0" smtClean="0"/>
              <a:t>.</a:t>
            </a:r>
          </a:p>
          <a:p>
            <a:endParaRPr lang="en-US" dirty="0"/>
          </a:p>
          <a:p>
            <a:pPr marL="0" indent="0">
              <a:buNone/>
            </a:pPr>
            <a:r>
              <a:rPr lang="en-US" sz="3200" b="1" dirty="0"/>
              <a:t>Executing the critical </a:t>
            </a:r>
            <a:r>
              <a:rPr lang="en-US" sz="3200" b="1" dirty="0" smtClean="0"/>
              <a:t>section</a:t>
            </a:r>
          </a:p>
          <a:p>
            <a:r>
              <a:rPr lang="en-US" dirty="0" smtClean="0"/>
              <a:t>Site </a:t>
            </a:r>
            <a:r>
              <a:rPr lang="en-US" dirty="0"/>
              <a:t>Si enters the </a:t>
            </a:r>
            <a:r>
              <a:rPr lang="en-US" b="1" dirty="0">
                <a:solidFill>
                  <a:schemeClr val="accent4"/>
                </a:solidFill>
              </a:rPr>
              <a:t>CS</a:t>
            </a:r>
            <a:r>
              <a:rPr lang="en-US" dirty="0"/>
              <a:t> when the following two conditions hold</a:t>
            </a:r>
            <a:r>
              <a:rPr lang="en-US" dirty="0" smtClean="0"/>
              <a:t>:</a:t>
            </a:r>
          </a:p>
          <a:p>
            <a:r>
              <a:rPr lang="en-US" dirty="0" smtClean="0"/>
              <a:t> </a:t>
            </a:r>
            <a:r>
              <a:rPr lang="en-US" dirty="0"/>
              <a:t>L1: Si has received a message with timestamp larger than </a:t>
            </a:r>
            <a:r>
              <a:rPr lang="en-US" b="1" dirty="0">
                <a:solidFill>
                  <a:srgbClr val="00B050"/>
                </a:solidFill>
              </a:rPr>
              <a:t>(tsi , i) </a:t>
            </a:r>
            <a:r>
              <a:rPr lang="en-US" dirty="0"/>
              <a:t>from all other sites. </a:t>
            </a:r>
            <a:endParaRPr lang="en-US" dirty="0" smtClean="0"/>
          </a:p>
          <a:p>
            <a:r>
              <a:rPr lang="en-US" dirty="0" smtClean="0"/>
              <a:t>L2</a:t>
            </a:r>
            <a:r>
              <a:rPr lang="en-US" dirty="0"/>
              <a:t>: Si ’s request is at the top of request </a:t>
            </a:r>
            <a:r>
              <a:rPr lang="en-US" b="1" dirty="0" smtClean="0">
                <a:solidFill>
                  <a:srgbClr val="7030A0"/>
                </a:solidFill>
              </a:rPr>
              <a:t>RQi </a:t>
            </a:r>
            <a:r>
              <a:rPr lang="en-US" dirty="0" smtClean="0"/>
              <a:t>.</a:t>
            </a:r>
            <a:endParaRPr lang="en-IN" dirty="0"/>
          </a:p>
        </p:txBody>
      </p:sp>
    </p:spTree>
    <p:extLst>
      <p:ext uri="{BB962C8B-B14F-4D97-AF65-F5344CB8AC3E}">
        <p14:creationId xmlns:p14="http://schemas.microsoft.com/office/powerpoint/2010/main" xmlns="" val="39670714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38439"/>
          </a:xfrm>
        </p:spPr>
        <p:txBody>
          <a:bodyPr>
            <a:normAutofit fontScale="90000"/>
          </a:bodyPr>
          <a:lstStyle/>
          <a:p>
            <a:pPr algn="ctr"/>
            <a:r>
              <a:rPr lang="en-IN" b="1" dirty="0">
                <a:solidFill>
                  <a:srgbClr val="FF0000"/>
                </a:solidFill>
                <a:latin typeface="Algerian" panose="04020705040A02060702" pitchFamily="82" charset="0"/>
              </a:rPr>
              <a:t>LAMPORT </a:t>
            </a:r>
            <a:r>
              <a:rPr lang="en-IN" b="1" dirty="0" smtClean="0">
                <a:solidFill>
                  <a:srgbClr val="FF0000"/>
                </a:solidFill>
                <a:latin typeface="Algerian" panose="04020705040A02060702" pitchFamily="82" charset="0"/>
              </a:rPr>
              <a:t>ALGORITHM</a:t>
            </a:r>
            <a:endParaRPr lang="en-IN" b="1" dirty="0">
              <a:solidFill>
                <a:srgbClr val="FF0000"/>
              </a:solidFill>
              <a:latin typeface="Algerian" panose="04020705040A02060702" pitchFamily="82" charset="0"/>
            </a:endParaRPr>
          </a:p>
        </p:txBody>
      </p:sp>
      <p:sp>
        <p:nvSpPr>
          <p:cNvPr id="3" name="Content Placeholder 2"/>
          <p:cNvSpPr>
            <a:spLocks noGrp="1"/>
          </p:cNvSpPr>
          <p:nvPr>
            <p:ph idx="1"/>
          </p:nvPr>
        </p:nvSpPr>
        <p:spPr>
          <a:xfrm>
            <a:off x="628650" y="1094508"/>
            <a:ext cx="7886700" cy="5306291"/>
          </a:xfrm>
        </p:spPr>
        <p:txBody>
          <a:bodyPr/>
          <a:lstStyle/>
          <a:p>
            <a:r>
              <a:rPr lang="en-US" sz="3200" b="1" dirty="0"/>
              <a:t>Releasing the critical section:</a:t>
            </a:r>
          </a:p>
          <a:p>
            <a:r>
              <a:rPr lang="en-US" dirty="0"/>
              <a:t>Site </a:t>
            </a:r>
            <a:r>
              <a:rPr lang="en-US" dirty="0" smtClean="0"/>
              <a:t>Si, </a:t>
            </a:r>
            <a:r>
              <a:rPr lang="en-US" dirty="0"/>
              <a:t>upon exiting the </a:t>
            </a:r>
            <a:r>
              <a:rPr lang="en-US" b="1" dirty="0">
                <a:solidFill>
                  <a:schemeClr val="accent4"/>
                </a:solidFill>
              </a:rPr>
              <a:t>CS</a:t>
            </a:r>
            <a:r>
              <a:rPr lang="en-US" dirty="0"/>
              <a:t>, removes its request from the top of its </a:t>
            </a:r>
            <a:r>
              <a:rPr lang="en-US" b="1" dirty="0" smtClean="0">
                <a:solidFill>
                  <a:srgbClr val="7030A0"/>
                </a:solidFill>
              </a:rPr>
              <a:t>RQi</a:t>
            </a:r>
            <a:r>
              <a:rPr lang="en-US" dirty="0" smtClean="0"/>
              <a:t> </a:t>
            </a:r>
            <a:r>
              <a:rPr lang="en-US" dirty="0"/>
              <a:t>and broadcasts a timestamped </a:t>
            </a:r>
            <a:r>
              <a:rPr lang="en-US" b="1" dirty="0">
                <a:solidFill>
                  <a:srgbClr val="00B050"/>
                </a:solidFill>
              </a:rPr>
              <a:t>RELEASE</a:t>
            </a:r>
            <a:r>
              <a:rPr lang="en-US" dirty="0"/>
              <a:t> message to all other sites.</a:t>
            </a:r>
          </a:p>
          <a:p>
            <a:r>
              <a:rPr lang="en-US" dirty="0"/>
              <a:t>When a site Sj receives a </a:t>
            </a:r>
            <a:r>
              <a:rPr lang="en-US" b="1" dirty="0">
                <a:solidFill>
                  <a:srgbClr val="00B050"/>
                </a:solidFill>
              </a:rPr>
              <a:t>RELEASE</a:t>
            </a:r>
            <a:r>
              <a:rPr lang="en-US" dirty="0"/>
              <a:t> message from site </a:t>
            </a:r>
            <a:r>
              <a:rPr lang="en-US" dirty="0" smtClean="0"/>
              <a:t>Si , </a:t>
            </a:r>
            <a:r>
              <a:rPr lang="en-US" dirty="0"/>
              <a:t>it removes </a:t>
            </a:r>
            <a:r>
              <a:rPr lang="en-US" dirty="0" smtClean="0"/>
              <a:t>Si’s request </a:t>
            </a:r>
            <a:r>
              <a:rPr lang="en-US" dirty="0"/>
              <a:t>from its</a:t>
            </a:r>
            <a:r>
              <a:rPr lang="en-US" b="1" dirty="0">
                <a:solidFill>
                  <a:srgbClr val="7030A0"/>
                </a:solidFill>
              </a:rPr>
              <a:t> </a:t>
            </a:r>
            <a:r>
              <a:rPr lang="en-US" b="1" dirty="0" smtClean="0">
                <a:solidFill>
                  <a:srgbClr val="7030A0"/>
                </a:solidFill>
              </a:rPr>
              <a:t>RQj</a:t>
            </a:r>
            <a:r>
              <a:rPr lang="en-US" dirty="0" smtClean="0"/>
              <a:t>.</a:t>
            </a:r>
            <a:endParaRPr lang="en-US" dirty="0"/>
          </a:p>
          <a:p>
            <a:endParaRPr lang="en-IN" dirty="0"/>
          </a:p>
        </p:txBody>
      </p:sp>
    </p:spTree>
    <p:extLst>
      <p:ext uri="{BB962C8B-B14F-4D97-AF65-F5344CB8AC3E}">
        <p14:creationId xmlns:p14="http://schemas.microsoft.com/office/powerpoint/2010/main" xmlns="" val="234894089"/>
      </p:ext>
    </p:extLst>
  </p:cSld>
  <p:clrMapOvr>
    <a:masterClrMapping/>
  </p:clrMapOvr>
  <p:transition spd="slow">
    <p:push dir="u"/>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93965"/>
            <a:ext cx="7886700" cy="651163"/>
          </a:xfrm>
        </p:spPr>
        <p:txBody>
          <a:bodyPr>
            <a:normAutofit fontScale="90000"/>
          </a:bodyPr>
          <a:lstStyle/>
          <a:p>
            <a:pPr algn="ctr"/>
            <a:r>
              <a:rPr lang="en-IN" sz="4000" b="1" dirty="0">
                <a:solidFill>
                  <a:srgbClr val="FF0000"/>
                </a:solidFill>
                <a:latin typeface="Algerian" panose="04020705040A02060702" pitchFamily="82" charset="0"/>
              </a:rPr>
              <a:t>correctness arguments</a:t>
            </a:r>
          </a:p>
        </p:txBody>
      </p:sp>
      <p:sp>
        <p:nvSpPr>
          <p:cNvPr id="3" name="Content Placeholder 2"/>
          <p:cNvSpPr>
            <a:spLocks noGrp="1"/>
          </p:cNvSpPr>
          <p:nvPr>
            <p:ph idx="1"/>
          </p:nvPr>
        </p:nvSpPr>
        <p:spPr>
          <a:xfrm>
            <a:off x="436419" y="1039090"/>
            <a:ext cx="8385463" cy="5818909"/>
          </a:xfrm>
        </p:spPr>
        <p:txBody>
          <a:bodyPr>
            <a:normAutofit fontScale="92500" lnSpcReduction="10000"/>
          </a:bodyPr>
          <a:lstStyle/>
          <a:p>
            <a:pPr marL="0" indent="0">
              <a:buNone/>
            </a:pPr>
            <a:r>
              <a:rPr lang="en-IN" b="1" dirty="0"/>
              <a:t>Lamport’s algorithm achieves mutual </a:t>
            </a:r>
            <a:r>
              <a:rPr lang="en-IN" b="1" dirty="0" smtClean="0"/>
              <a:t>exclusion:</a:t>
            </a:r>
          </a:p>
          <a:p>
            <a:r>
              <a:rPr lang="en-US" sz="2400" dirty="0"/>
              <a:t>Proof is by contradiction. T</a:t>
            </a:r>
            <a:r>
              <a:rPr lang="en-US" sz="2400" dirty="0" smtClean="0"/>
              <a:t>wo </a:t>
            </a:r>
            <a:r>
              <a:rPr lang="en-US" sz="2400" dirty="0"/>
              <a:t>sites Si and Sj are executing the </a:t>
            </a:r>
            <a:r>
              <a:rPr lang="en-US" sz="2400" b="1" dirty="0" smtClean="0">
                <a:solidFill>
                  <a:schemeClr val="accent4"/>
                </a:solidFill>
              </a:rPr>
              <a:t>CS</a:t>
            </a:r>
            <a:r>
              <a:rPr lang="en-US" sz="2400" dirty="0" smtClean="0"/>
              <a:t> concurrently</a:t>
            </a:r>
            <a:r>
              <a:rPr lang="en-US" sz="2400" dirty="0"/>
              <a:t>. For this to happen conditions </a:t>
            </a:r>
            <a:r>
              <a:rPr lang="en-US" sz="2400" dirty="0" smtClean="0">
                <a:solidFill>
                  <a:srgbClr val="0070C0"/>
                </a:solidFill>
              </a:rPr>
              <a:t>L1 </a:t>
            </a:r>
            <a:r>
              <a:rPr lang="en-US" sz="2400" dirty="0" smtClean="0"/>
              <a:t>and </a:t>
            </a:r>
            <a:r>
              <a:rPr lang="en-US" sz="2400" dirty="0" smtClean="0">
                <a:solidFill>
                  <a:srgbClr val="00B050"/>
                </a:solidFill>
              </a:rPr>
              <a:t>L2 </a:t>
            </a:r>
            <a:r>
              <a:rPr lang="en-US" sz="2400" dirty="0"/>
              <a:t>must hold at both </a:t>
            </a:r>
            <a:r>
              <a:rPr lang="en-US" sz="2400" dirty="0" smtClean="0"/>
              <a:t>the sites </a:t>
            </a:r>
            <a:r>
              <a:rPr lang="en-US" sz="2400" dirty="0"/>
              <a:t>concurrently</a:t>
            </a:r>
            <a:r>
              <a:rPr lang="en-US" sz="2400" dirty="0" smtClean="0"/>
              <a:t>.</a:t>
            </a:r>
          </a:p>
          <a:p>
            <a:pPr marL="0" indent="0">
              <a:buNone/>
            </a:pPr>
            <a:endParaRPr lang="en-US" sz="2400" dirty="0"/>
          </a:p>
          <a:p>
            <a:r>
              <a:rPr lang="en-US" sz="2400" dirty="0"/>
              <a:t>A</a:t>
            </a:r>
            <a:r>
              <a:rPr lang="en-US" sz="2400" dirty="0" smtClean="0"/>
              <a:t>t </a:t>
            </a:r>
            <a:r>
              <a:rPr lang="en-US" sz="2400" dirty="0"/>
              <a:t>some instant in time</a:t>
            </a:r>
            <a:r>
              <a:rPr lang="en-US" sz="2400" dirty="0" smtClean="0"/>
              <a:t>, </a:t>
            </a:r>
            <a:r>
              <a:rPr lang="en-US" sz="2400" dirty="0"/>
              <a:t>both Si and Sj have </a:t>
            </a:r>
            <a:r>
              <a:rPr lang="en-US" sz="2400" dirty="0" smtClean="0"/>
              <a:t>their own </a:t>
            </a:r>
            <a:r>
              <a:rPr lang="en-US" sz="2400" dirty="0"/>
              <a:t>requests at the top of their </a:t>
            </a:r>
            <a:r>
              <a:rPr lang="en-US" sz="2400" dirty="0" smtClean="0"/>
              <a:t>RQs </a:t>
            </a:r>
            <a:r>
              <a:rPr lang="en-US" sz="2400" dirty="0"/>
              <a:t>and condition L1 holds </a:t>
            </a:r>
            <a:r>
              <a:rPr lang="en-US" sz="2400" dirty="0" smtClean="0"/>
              <a:t>at them</a:t>
            </a:r>
            <a:r>
              <a:rPr lang="en-US" sz="2400" dirty="0"/>
              <a:t>. </a:t>
            </a:r>
            <a:r>
              <a:rPr lang="en-US" sz="2400" dirty="0" smtClean="0"/>
              <a:t>(Si’s has smaller timestamp </a:t>
            </a:r>
            <a:r>
              <a:rPr lang="en-US" sz="2400" dirty="0"/>
              <a:t>than </a:t>
            </a:r>
            <a:r>
              <a:rPr lang="en-US" sz="2400" dirty="0" smtClean="0"/>
              <a:t>Sj)</a:t>
            </a:r>
            <a:endParaRPr lang="en-US" sz="2400" dirty="0"/>
          </a:p>
          <a:p>
            <a:endParaRPr lang="en-US" sz="2400" dirty="0" smtClean="0"/>
          </a:p>
          <a:p>
            <a:r>
              <a:rPr lang="en-US" sz="2400" dirty="0" smtClean="0"/>
              <a:t>From </a:t>
            </a:r>
            <a:r>
              <a:rPr lang="en-US" sz="2400" dirty="0"/>
              <a:t>condition L1 and FIFO property of the communication channels, it </a:t>
            </a:r>
            <a:r>
              <a:rPr lang="en-US" sz="2400" dirty="0" smtClean="0"/>
              <a:t>is clear </a:t>
            </a:r>
            <a:r>
              <a:rPr lang="en-US" sz="2400" dirty="0"/>
              <a:t>that at instant t the request of Si must be present in </a:t>
            </a:r>
            <a:r>
              <a:rPr lang="en-US" sz="2400" dirty="0" smtClean="0"/>
              <a:t>RQj when </a:t>
            </a:r>
            <a:r>
              <a:rPr lang="en-US" sz="2400" dirty="0"/>
              <a:t>Sj was executing its </a:t>
            </a:r>
            <a:r>
              <a:rPr lang="en-US" sz="2400" b="1" dirty="0">
                <a:solidFill>
                  <a:schemeClr val="accent4"/>
                </a:solidFill>
              </a:rPr>
              <a:t>CS</a:t>
            </a:r>
            <a:r>
              <a:rPr lang="en-US" sz="2400" dirty="0"/>
              <a:t>. This implies that </a:t>
            </a:r>
            <a:r>
              <a:rPr lang="en-US" sz="2400" dirty="0" err="1" smtClean="0"/>
              <a:t>Sj’s</a:t>
            </a:r>
            <a:r>
              <a:rPr lang="en-US" sz="2400" dirty="0" smtClean="0"/>
              <a:t> </a:t>
            </a:r>
            <a:r>
              <a:rPr lang="en-US" sz="2400" dirty="0"/>
              <a:t>own request is at the </a:t>
            </a:r>
            <a:r>
              <a:rPr lang="en-US" sz="2400" dirty="0" smtClean="0"/>
              <a:t>top of </a:t>
            </a:r>
            <a:r>
              <a:rPr lang="en-US" sz="2400" dirty="0"/>
              <a:t>its own </a:t>
            </a:r>
            <a:r>
              <a:rPr lang="en-US" sz="2400" dirty="0" smtClean="0"/>
              <a:t>RQ when </a:t>
            </a:r>
            <a:r>
              <a:rPr lang="en-US" sz="2400" dirty="0"/>
              <a:t>a smaller timestamp </a:t>
            </a:r>
            <a:r>
              <a:rPr lang="en-US" sz="2400" dirty="0" smtClean="0"/>
              <a:t>request</a:t>
            </a:r>
            <a:r>
              <a:rPr lang="en-US" sz="2400" dirty="0"/>
              <a:t>, </a:t>
            </a:r>
            <a:r>
              <a:rPr lang="en-US" sz="2400" dirty="0" smtClean="0"/>
              <a:t>Si’s </a:t>
            </a:r>
            <a:r>
              <a:rPr lang="en-US" sz="2400" dirty="0"/>
              <a:t>request, </a:t>
            </a:r>
            <a:r>
              <a:rPr lang="en-US" sz="2400" dirty="0" smtClean="0"/>
              <a:t>is present </a:t>
            </a:r>
            <a:r>
              <a:rPr lang="en-US" sz="2400" dirty="0"/>
              <a:t>in the </a:t>
            </a:r>
            <a:r>
              <a:rPr lang="en-US" sz="2400" dirty="0" smtClean="0"/>
              <a:t>RQi </a:t>
            </a:r>
            <a:r>
              <a:rPr lang="en-US" sz="2400" dirty="0"/>
              <a:t>– a contradiction</a:t>
            </a:r>
            <a:r>
              <a:rPr lang="en-US" sz="2400" dirty="0" smtClean="0"/>
              <a:t>!</a:t>
            </a:r>
          </a:p>
          <a:p>
            <a:pPr marL="0" indent="0">
              <a:buNone/>
            </a:pPr>
            <a:endParaRPr lang="en-US" sz="1100" dirty="0" smtClean="0"/>
          </a:p>
          <a:p>
            <a:pPr marL="0" indent="0">
              <a:buNone/>
            </a:pPr>
            <a:endParaRPr lang="en-US" sz="1100" dirty="0"/>
          </a:p>
          <a:p>
            <a:pPr marL="0" indent="0">
              <a:buNone/>
            </a:pPr>
            <a:endParaRPr lang="en-US" sz="1100" dirty="0" smtClean="0"/>
          </a:p>
          <a:p>
            <a:pPr marL="0" indent="0">
              <a:buNone/>
            </a:pPr>
            <a:endParaRPr lang="en-US" sz="1100" dirty="0"/>
          </a:p>
          <a:p>
            <a:pPr marL="0" indent="0">
              <a:buNone/>
            </a:pPr>
            <a:r>
              <a:rPr lang="en-US" sz="1100" dirty="0" smtClean="0"/>
              <a:t>SOURCE </a:t>
            </a:r>
            <a:r>
              <a:rPr lang="en-US" sz="1100" dirty="0"/>
              <a:t>: </a:t>
            </a:r>
            <a:r>
              <a:rPr lang="en-US" sz="1100" dirty="0">
                <a:hlinkClick r:id="rId2"/>
              </a:rPr>
              <a:t>https://www.cs.uic.edu/~</a:t>
            </a:r>
            <a:r>
              <a:rPr lang="en-US" sz="1100" dirty="0" smtClean="0">
                <a:hlinkClick r:id="rId2"/>
              </a:rPr>
              <a:t>ajayk/Chapter9.pdf</a:t>
            </a:r>
            <a:r>
              <a:rPr lang="en-US" sz="1100" dirty="0" smtClean="0"/>
              <a:t> </a:t>
            </a:r>
            <a:endParaRPr lang="en-US" sz="1100" dirty="0"/>
          </a:p>
        </p:txBody>
      </p:sp>
    </p:spTree>
    <p:extLst>
      <p:ext uri="{BB962C8B-B14F-4D97-AF65-F5344CB8AC3E}">
        <p14:creationId xmlns:p14="http://schemas.microsoft.com/office/powerpoint/2010/main" xmlns="" val="3696873455"/>
      </p:ext>
    </p:extLst>
  </p:cSld>
  <p:clrMapOvr>
    <a:masterClrMapping/>
  </p:clrMapOvr>
  <p:transition spd="slow">
    <p:push dir="u"/>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14800" y="3553689"/>
            <a:ext cx="1278082" cy="169025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solidFill>
                  <a:schemeClr val="tx1"/>
                </a:solidFill>
              </a:rPr>
              <a:t>CS</a:t>
            </a:r>
          </a:p>
          <a:p>
            <a:pPr algn="ctr"/>
            <a:r>
              <a:rPr lang="en-US" sz="1600" b="1" dirty="0" smtClean="0">
                <a:solidFill>
                  <a:schemeClr val="tx1"/>
                </a:solidFill>
              </a:rPr>
              <a:t>Sj</a:t>
            </a:r>
            <a:endParaRPr lang="en-US" sz="1600" b="1" dirty="0">
              <a:solidFill>
                <a:schemeClr val="tx1"/>
              </a:solidFill>
            </a:endParaRPr>
          </a:p>
        </p:txBody>
      </p:sp>
      <p:sp>
        <p:nvSpPr>
          <p:cNvPr id="5" name="TextBox 4"/>
          <p:cNvSpPr txBox="1"/>
          <p:nvPr/>
        </p:nvSpPr>
        <p:spPr>
          <a:xfrm>
            <a:off x="311727" y="5705608"/>
            <a:ext cx="8073737" cy="1107996"/>
          </a:xfrm>
          <a:prstGeom prst="rect">
            <a:avLst/>
          </a:prstGeom>
          <a:noFill/>
        </p:spPr>
        <p:txBody>
          <a:bodyPr wrap="square" rtlCol="0">
            <a:spAutoFit/>
          </a:bodyPr>
          <a:lstStyle/>
          <a:p>
            <a:r>
              <a:rPr lang="en-US" sz="2200" b="1" dirty="0">
                <a:solidFill>
                  <a:srgbClr val="0070C0"/>
                </a:solidFill>
              </a:rPr>
              <a:t>L1: Si has received a message with timestamp larger than (tsi , i) from all other sites </a:t>
            </a:r>
          </a:p>
          <a:p>
            <a:r>
              <a:rPr lang="en-US" sz="2200" b="1" dirty="0" smtClean="0">
                <a:solidFill>
                  <a:srgbClr val="00B050"/>
                </a:solidFill>
              </a:rPr>
              <a:t>L2</a:t>
            </a:r>
            <a:r>
              <a:rPr lang="en-US" sz="2200" b="1" dirty="0">
                <a:solidFill>
                  <a:srgbClr val="00B050"/>
                </a:solidFill>
              </a:rPr>
              <a:t>: Si ’s request is at the top of request </a:t>
            </a:r>
            <a:r>
              <a:rPr lang="en-US" sz="2200" b="1" dirty="0" smtClean="0">
                <a:solidFill>
                  <a:srgbClr val="00B050"/>
                </a:solidFill>
              </a:rPr>
              <a:t>RQi</a:t>
            </a:r>
            <a:endParaRPr lang="en-IN" sz="2200" b="1" dirty="0">
              <a:solidFill>
                <a:srgbClr val="00B050"/>
              </a:solidFill>
            </a:endParaRPr>
          </a:p>
        </p:txBody>
      </p:sp>
      <p:cxnSp>
        <p:nvCxnSpPr>
          <p:cNvPr id="7" name="Elbow Connector 6"/>
          <p:cNvCxnSpPr/>
          <p:nvPr/>
        </p:nvCxnSpPr>
        <p:spPr>
          <a:xfrm rot="16200000" flipH="1">
            <a:off x="3315567" y="2342284"/>
            <a:ext cx="1468581" cy="94037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rot="5400000">
            <a:off x="4791075" y="2300719"/>
            <a:ext cx="1468580" cy="1023506"/>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470313" y="1568173"/>
            <a:ext cx="1865169" cy="769441"/>
          </a:xfrm>
          <a:prstGeom prst="rect">
            <a:avLst/>
          </a:prstGeom>
          <a:noFill/>
        </p:spPr>
        <p:txBody>
          <a:bodyPr wrap="square" rtlCol="0">
            <a:spAutoFit/>
          </a:bodyPr>
          <a:lstStyle/>
          <a:p>
            <a:r>
              <a:rPr lang="en-US" sz="2200" b="1" dirty="0" smtClean="0">
                <a:solidFill>
                  <a:srgbClr val="0070C0"/>
                </a:solidFill>
              </a:rPr>
              <a:t>RQi={TS:1,i;</a:t>
            </a:r>
          </a:p>
          <a:p>
            <a:r>
              <a:rPr lang="en-US" sz="2200" b="1" dirty="0">
                <a:solidFill>
                  <a:srgbClr val="0070C0"/>
                </a:solidFill>
              </a:rPr>
              <a:t> </a:t>
            </a:r>
            <a:r>
              <a:rPr lang="en-US" sz="2200" b="1" dirty="0" smtClean="0">
                <a:solidFill>
                  <a:srgbClr val="0070C0"/>
                </a:solidFill>
              </a:rPr>
              <a:t>        TS:2,j}</a:t>
            </a:r>
            <a:endParaRPr lang="en-IN" sz="2200" b="1" dirty="0">
              <a:solidFill>
                <a:srgbClr val="0070C0"/>
              </a:solidFill>
            </a:endParaRPr>
          </a:p>
        </p:txBody>
      </p:sp>
      <p:sp>
        <p:nvSpPr>
          <p:cNvPr id="22" name="TextBox 21"/>
          <p:cNvSpPr txBox="1"/>
          <p:nvPr/>
        </p:nvSpPr>
        <p:spPr>
          <a:xfrm>
            <a:off x="6816436" y="1517586"/>
            <a:ext cx="1743364" cy="769441"/>
          </a:xfrm>
          <a:prstGeom prst="rect">
            <a:avLst/>
          </a:prstGeom>
          <a:noFill/>
        </p:spPr>
        <p:txBody>
          <a:bodyPr wrap="square" rtlCol="0">
            <a:spAutoFit/>
          </a:bodyPr>
          <a:lstStyle/>
          <a:p>
            <a:r>
              <a:rPr lang="en-US" sz="2200" b="1" dirty="0" smtClean="0">
                <a:solidFill>
                  <a:srgbClr val="0070C0"/>
                </a:solidFill>
              </a:rPr>
              <a:t>RQj={TS:2,j;</a:t>
            </a:r>
          </a:p>
          <a:p>
            <a:r>
              <a:rPr lang="en-US" sz="2200" b="1" dirty="0">
                <a:solidFill>
                  <a:srgbClr val="0070C0"/>
                </a:solidFill>
              </a:rPr>
              <a:t> </a:t>
            </a:r>
            <a:r>
              <a:rPr lang="en-US" sz="2200" b="1" dirty="0" smtClean="0">
                <a:solidFill>
                  <a:srgbClr val="0070C0"/>
                </a:solidFill>
              </a:rPr>
              <a:t>        TS:1,i}</a:t>
            </a:r>
            <a:endParaRPr lang="en-IN" sz="2200" b="1" dirty="0">
              <a:solidFill>
                <a:srgbClr val="0070C0"/>
              </a:solidFill>
            </a:endParaRPr>
          </a:p>
        </p:txBody>
      </p:sp>
      <p:sp>
        <p:nvSpPr>
          <p:cNvPr id="23" name="TextBox 22"/>
          <p:cNvSpPr txBox="1"/>
          <p:nvPr/>
        </p:nvSpPr>
        <p:spPr>
          <a:xfrm>
            <a:off x="3403022" y="1633257"/>
            <a:ext cx="696191" cy="523220"/>
          </a:xfrm>
          <a:prstGeom prst="rect">
            <a:avLst/>
          </a:prstGeom>
          <a:noFill/>
        </p:spPr>
        <p:txBody>
          <a:bodyPr wrap="square" rtlCol="0">
            <a:spAutoFit/>
          </a:bodyPr>
          <a:lstStyle/>
          <a:p>
            <a:r>
              <a:rPr lang="en-US" sz="2800" b="1" dirty="0" smtClean="0"/>
              <a:t>Si</a:t>
            </a:r>
            <a:endParaRPr lang="en-IN" sz="2800" b="1" dirty="0"/>
          </a:p>
        </p:txBody>
      </p:sp>
      <p:sp>
        <p:nvSpPr>
          <p:cNvPr id="24" name="TextBox 23"/>
          <p:cNvSpPr txBox="1"/>
          <p:nvPr/>
        </p:nvSpPr>
        <p:spPr>
          <a:xfrm>
            <a:off x="5891646" y="1568172"/>
            <a:ext cx="800100" cy="523220"/>
          </a:xfrm>
          <a:prstGeom prst="rect">
            <a:avLst/>
          </a:prstGeom>
          <a:noFill/>
        </p:spPr>
        <p:txBody>
          <a:bodyPr wrap="square" rtlCol="0">
            <a:spAutoFit/>
          </a:bodyPr>
          <a:lstStyle/>
          <a:p>
            <a:r>
              <a:rPr lang="en-US" sz="2800" b="1" dirty="0" smtClean="0"/>
              <a:t>Sj</a:t>
            </a:r>
            <a:endParaRPr lang="en-IN" sz="2800" b="1" dirty="0"/>
          </a:p>
        </p:txBody>
      </p:sp>
      <p:sp>
        <p:nvSpPr>
          <p:cNvPr id="25" name="TextBox 24"/>
          <p:cNvSpPr txBox="1"/>
          <p:nvPr/>
        </p:nvSpPr>
        <p:spPr>
          <a:xfrm>
            <a:off x="3335482" y="318655"/>
            <a:ext cx="2369127" cy="707886"/>
          </a:xfrm>
          <a:prstGeom prst="rect">
            <a:avLst/>
          </a:prstGeom>
          <a:noFill/>
        </p:spPr>
        <p:txBody>
          <a:bodyPr wrap="square" rtlCol="0">
            <a:spAutoFit/>
          </a:bodyPr>
          <a:lstStyle/>
          <a:p>
            <a:pPr algn="ctr"/>
            <a:r>
              <a:rPr lang="en-US" sz="4000" b="1" dirty="0" smtClean="0">
                <a:solidFill>
                  <a:srgbClr val="FF0000"/>
                </a:solidFill>
                <a:latin typeface="Algerian" panose="04020705040A02060702" pitchFamily="82" charset="0"/>
              </a:rPr>
              <a:t>Safety</a:t>
            </a:r>
            <a:endParaRPr lang="en-IN" sz="4000" b="1" dirty="0">
              <a:solidFill>
                <a:srgbClr val="FF0000"/>
              </a:solidFill>
              <a:latin typeface="Algerian" panose="04020705040A02060702" pitchFamily="82" charset="0"/>
            </a:endParaRPr>
          </a:p>
        </p:txBody>
      </p:sp>
      <p:sp>
        <p:nvSpPr>
          <p:cNvPr id="26" name="TextBox 25"/>
          <p:cNvSpPr txBox="1"/>
          <p:nvPr/>
        </p:nvSpPr>
        <p:spPr>
          <a:xfrm>
            <a:off x="1101435" y="4709683"/>
            <a:ext cx="2649683" cy="584775"/>
          </a:xfrm>
          <a:prstGeom prst="rect">
            <a:avLst/>
          </a:prstGeom>
          <a:noFill/>
        </p:spPr>
        <p:txBody>
          <a:bodyPr wrap="square" rtlCol="0">
            <a:spAutoFit/>
          </a:bodyPr>
          <a:lstStyle/>
          <a:p>
            <a:r>
              <a:rPr lang="en-US" sz="3200" b="1" dirty="0" smtClean="0"/>
              <a:t>TSi &lt; TSj</a:t>
            </a:r>
            <a:endParaRPr lang="en-IN" sz="3200" b="1" dirty="0"/>
          </a:p>
        </p:txBody>
      </p:sp>
      <p:cxnSp>
        <p:nvCxnSpPr>
          <p:cNvPr id="28" name="Straight Arrow Connector 27"/>
          <p:cNvCxnSpPr/>
          <p:nvPr/>
        </p:nvCxnSpPr>
        <p:spPr>
          <a:xfrm flipH="1">
            <a:off x="4826578" y="4803340"/>
            <a:ext cx="1865168" cy="14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691747" y="4320613"/>
            <a:ext cx="2088572" cy="1384995"/>
          </a:xfrm>
          <a:prstGeom prst="rect">
            <a:avLst/>
          </a:prstGeom>
          <a:noFill/>
        </p:spPr>
        <p:txBody>
          <a:bodyPr wrap="square" rtlCol="0">
            <a:spAutoFit/>
          </a:bodyPr>
          <a:lstStyle/>
          <a:p>
            <a:r>
              <a:rPr lang="en-US" dirty="0" smtClean="0"/>
              <a:t>Sj in CS but Si have lower TS</a:t>
            </a:r>
          </a:p>
          <a:p>
            <a:r>
              <a:rPr lang="en-US" sz="2400" b="1" dirty="0" smtClean="0"/>
              <a:t>CONTRADICTION!!!!</a:t>
            </a:r>
            <a:endParaRPr lang="en-IN" sz="2400" b="1" dirty="0"/>
          </a:p>
        </p:txBody>
      </p:sp>
    </p:spTree>
    <p:extLst>
      <p:ext uri="{BB962C8B-B14F-4D97-AF65-F5344CB8AC3E}">
        <p14:creationId xmlns:p14="http://schemas.microsoft.com/office/powerpoint/2010/main" xmlns="" val="34190709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animEffect transition="in" filter="fade">
                                      <p:cBhvr>
                                        <p:cTn id="36" dur="500"/>
                                        <p:tgtEl>
                                          <p:spTgt spid="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5">
                                            <p:txEl>
                                              <p:pRg st="0" end="0"/>
                                            </p:txEl>
                                          </p:spTgt>
                                        </p:tgtEl>
                                        <p:attrNameLst>
                                          <p:attrName>style.visibility</p:attrName>
                                        </p:attrNameLst>
                                      </p:cBhvr>
                                      <p:to>
                                        <p:strVal val="visible"/>
                                      </p:to>
                                    </p:set>
                                    <p:animEffect transition="in" filter="fade">
                                      <p:cBhvr>
                                        <p:cTn id="46" dur="500"/>
                                        <p:tgtEl>
                                          <p:spTgt spid="35">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5">
                                            <p:txEl>
                                              <p:pRg st="1" end="1"/>
                                            </p:txEl>
                                          </p:spTgt>
                                        </p:tgtEl>
                                        <p:attrNameLst>
                                          <p:attrName>style.visibility</p:attrName>
                                        </p:attrNameLst>
                                      </p:cBhvr>
                                      <p:to>
                                        <p:strVal val="visible"/>
                                      </p:to>
                                    </p:set>
                                    <p:animEffect transition="in" filter="fade">
                                      <p:cBhvr>
                                        <p:cTn id="51" dur="500"/>
                                        <p:tgtEl>
                                          <p:spTgt spid="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46257"/>
          </a:xfrm>
        </p:spPr>
        <p:txBody>
          <a:bodyPr>
            <a:normAutofit fontScale="90000"/>
          </a:bodyPr>
          <a:lstStyle/>
          <a:p>
            <a:pPr algn="ctr"/>
            <a:r>
              <a:rPr lang="en-IN" dirty="0">
                <a:solidFill>
                  <a:srgbClr val="FF0000"/>
                </a:solidFill>
                <a:latin typeface="Algerian" panose="04020705040A02060702" pitchFamily="82" charset="0"/>
              </a:rPr>
              <a:t>correctness arguments</a:t>
            </a:r>
            <a:endParaRPr lang="en-IN" dirty="0"/>
          </a:p>
        </p:txBody>
      </p:sp>
      <p:sp>
        <p:nvSpPr>
          <p:cNvPr id="3" name="Content Placeholder 2"/>
          <p:cNvSpPr>
            <a:spLocks noGrp="1"/>
          </p:cNvSpPr>
          <p:nvPr>
            <p:ph idx="1"/>
          </p:nvPr>
        </p:nvSpPr>
        <p:spPr>
          <a:xfrm>
            <a:off x="270163" y="1704109"/>
            <a:ext cx="8499764" cy="4987636"/>
          </a:xfrm>
        </p:spPr>
        <p:txBody>
          <a:bodyPr/>
          <a:lstStyle/>
          <a:p>
            <a:r>
              <a:rPr lang="en-US" b="1" dirty="0" smtClean="0">
                <a:solidFill>
                  <a:srgbClr val="002060"/>
                </a:solidFill>
              </a:rPr>
              <a:t>Liveness:</a:t>
            </a:r>
            <a:r>
              <a:rPr lang="en-US" dirty="0" smtClean="0">
                <a:solidFill>
                  <a:srgbClr val="002060"/>
                </a:solidFill>
              </a:rPr>
              <a:t> </a:t>
            </a:r>
            <a:r>
              <a:rPr lang="en-US" dirty="0" smtClean="0"/>
              <a:t>if process made a request to access the critical section should eventually get chance to access the </a:t>
            </a:r>
            <a:r>
              <a:rPr lang="en-US" smtClean="0"/>
              <a:t>critical section.</a:t>
            </a:r>
            <a:endParaRPr lang="en-US" dirty="0" smtClean="0"/>
          </a:p>
          <a:p>
            <a:endParaRPr lang="en-US" dirty="0" smtClean="0"/>
          </a:p>
          <a:p>
            <a:r>
              <a:rPr lang="en-US" b="1" dirty="0" smtClean="0">
                <a:solidFill>
                  <a:srgbClr val="002060"/>
                </a:solidFill>
              </a:rPr>
              <a:t>Fairness:</a:t>
            </a:r>
            <a:r>
              <a:rPr lang="en-US" dirty="0" smtClean="0"/>
              <a:t> Critical Section request are executed in order they generated.</a:t>
            </a:r>
          </a:p>
          <a:p>
            <a:pPr marL="0" indent="0">
              <a:buNone/>
            </a:pPr>
            <a:endParaRPr lang="en-IN" dirty="0"/>
          </a:p>
        </p:txBody>
      </p:sp>
    </p:spTree>
    <p:extLst>
      <p:ext uri="{BB962C8B-B14F-4D97-AF65-F5344CB8AC3E}">
        <p14:creationId xmlns:p14="http://schemas.microsoft.com/office/powerpoint/2010/main" xmlns="" val="37641522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93965"/>
            <a:ext cx="7886700" cy="651163"/>
          </a:xfrm>
        </p:spPr>
        <p:txBody>
          <a:bodyPr>
            <a:normAutofit fontScale="90000"/>
          </a:bodyPr>
          <a:lstStyle/>
          <a:p>
            <a:pPr algn="ctr"/>
            <a:r>
              <a:rPr lang="en-IN" sz="4000" dirty="0">
                <a:solidFill>
                  <a:srgbClr val="FF0000"/>
                </a:solidFill>
                <a:latin typeface="Algerian" panose="04020705040A02060702" pitchFamily="82" charset="0"/>
              </a:rPr>
              <a:t>correctness arguments</a:t>
            </a:r>
          </a:p>
        </p:txBody>
      </p:sp>
      <p:sp>
        <p:nvSpPr>
          <p:cNvPr id="3" name="Content Placeholder 2"/>
          <p:cNvSpPr>
            <a:spLocks noGrp="1"/>
          </p:cNvSpPr>
          <p:nvPr>
            <p:ph idx="1"/>
          </p:nvPr>
        </p:nvSpPr>
        <p:spPr>
          <a:xfrm>
            <a:off x="436419" y="1039090"/>
            <a:ext cx="8385463" cy="5818909"/>
          </a:xfrm>
        </p:spPr>
        <p:txBody>
          <a:bodyPr>
            <a:normAutofit lnSpcReduction="10000"/>
          </a:bodyPr>
          <a:lstStyle/>
          <a:p>
            <a:pPr marL="0" indent="0">
              <a:buNone/>
            </a:pPr>
            <a:r>
              <a:rPr lang="en-US" b="1" dirty="0" smtClean="0"/>
              <a:t>Liveliness and Fairness : </a:t>
            </a:r>
            <a:endParaRPr lang="en-IN" b="1" dirty="0" smtClean="0"/>
          </a:p>
          <a:p>
            <a:r>
              <a:rPr lang="en-US" sz="2400" dirty="0" smtClean="0"/>
              <a:t>Suppose a site Si ’s request has a smaller timestamp than the request of another site Sj and Sj is able to execute the CS before Si . </a:t>
            </a:r>
          </a:p>
          <a:p>
            <a:pPr marL="0" indent="0">
              <a:buNone/>
            </a:pPr>
            <a:endParaRPr lang="en-US" sz="2400" dirty="0" smtClean="0"/>
          </a:p>
          <a:p>
            <a:r>
              <a:rPr lang="en-US" sz="2400" dirty="0" smtClean="0"/>
              <a:t>For </a:t>
            </a:r>
            <a:r>
              <a:rPr lang="en-US" sz="2400" dirty="0"/>
              <a:t>Sj to execute the CS, it has to satisfy the conditions L1 and L2. This implies </a:t>
            </a:r>
            <a:r>
              <a:rPr lang="en-US" sz="2400" dirty="0" smtClean="0"/>
              <a:t>that, </a:t>
            </a:r>
            <a:r>
              <a:rPr lang="en-US" sz="2400" dirty="0"/>
              <a:t>Sj has its own request at the top of its queue and it has also received a message with timestamp larger than the timestamp of its request from all other sites</a:t>
            </a:r>
            <a:r>
              <a:rPr lang="en-US" sz="2400" dirty="0" smtClean="0"/>
              <a:t>.</a:t>
            </a:r>
          </a:p>
          <a:p>
            <a:pPr marL="0" indent="0">
              <a:buNone/>
            </a:pPr>
            <a:r>
              <a:rPr lang="en-US" sz="2400" dirty="0" smtClean="0"/>
              <a:t> </a:t>
            </a:r>
          </a:p>
          <a:p>
            <a:r>
              <a:rPr lang="en-US" sz="2400" dirty="0"/>
              <a:t>But request queue at a site is ordered by timestamp, and according to our assumption Si has lower timestamp. So Si ’s request must be placed ahead of the Sj ’s request in the request </a:t>
            </a:r>
            <a:r>
              <a:rPr lang="en-US" sz="2400" dirty="0" smtClean="0"/>
              <a:t>RQj </a:t>
            </a:r>
            <a:r>
              <a:rPr lang="en-US" sz="2400" dirty="0"/>
              <a:t>. This is a contradiction</a:t>
            </a:r>
            <a:r>
              <a:rPr lang="en-US" sz="2400" dirty="0" smtClean="0"/>
              <a:t>!</a:t>
            </a:r>
            <a:endParaRPr lang="en-US" sz="2400" dirty="0"/>
          </a:p>
          <a:p>
            <a:pPr marL="0" indent="0">
              <a:buNone/>
            </a:pPr>
            <a:endParaRPr lang="en-US" sz="1100" dirty="0" smtClean="0"/>
          </a:p>
          <a:p>
            <a:pPr marL="0" indent="0">
              <a:buNone/>
            </a:pPr>
            <a:endParaRPr lang="en-US" sz="1100" dirty="0" smtClean="0"/>
          </a:p>
          <a:p>
            <a:pPr marL="0" indent="0">
              <a:buNone/>
            </a:pPr>
            <a:r>
              <a:rPr lang="en-US" sz="1100" dirty="0" smtClean="0"/>
              <a:t>SOURCE </a:t>
            </a:r>
            <a:r>
              <a:rPr lang="en-US" sz="1100" dirty="0"/>
              <a:t>: </a:t>
            </a:r>
            <a:r>
              <a:rPr lang="en-US" sz="1100" dirty="0">
                <a:hlinkClick r:id="rId2"/>
              </a:rPr>
              <a:t>https://www.cs.uic.edu/~</a:t>
            </a:r>
            <a:r>
              <a:rPr lang="en-US" sz="1100" dirty="0" smtClean="0">
                <a:hlinkClick r:id="rId2"/>
              </a:rPr>
              <a:t>ajayk/Chapter9.pdf</a:t>
            </a:r>
            <a:r>
              <a:rPr lang="en-US" sz="1100" dirty="0" smtClean="0"/>
              <a:t> </a:t>
            </a:r>
            <a:endParaRPr lang="en-US" sz="1100" dirty="0"/>
          </a:p>
        </p:txBody>
      </p:sp>
    </p:spTree>
    <p:extLst>
      <p:ext uri="{BB962C8B-B14F-4D97-AF65-F5344CB8AC3E}">
        <p14:creationId xmlns:p14="http://schemas.microsoft.com/office/powerpoint/2010/main" xmlns="" val="579098283"/>
      </p:ext>
    </p:extLst>
  </p:cSld>
  <p:clrMapOvr>
    <a:masterClrMapping/>
  </p:clrMapOvr>
  <p:transition spd="slow">
    <p:push dir="u"/>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14800" y="3553689"/>
            <a:ext cx="1278082" cy="169025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solidFill>
                  <a:schemeClr val="tx1"/>
                </a:solidFill>
              </a:rPr>
              <a:t>CS</a:t>
            </a:r>
          </a:p>
          <a:p>
            <a:pPr algn="ctr"/>
            <a:r>
              <a:rPr lang="en-US" b="1" dirty="0" smtClean="0">
                <a:solidFill>
                  <a:schemeClr val="tx1"/>
                </a:solidFill>
              </a:rPr>
              <a:t>Si </a:t>
            </a:r>
          </a:p>
        </p:txBody>
      </p:sp>
      <p:sp>
        <p:nvSpPr>
          <p:cNvPr id="5" name="TextBox 4"/>
          <p:cNvSpPr txBox="1"/>
          <p:nvPr/>
        </p:nvSpPr>
        <p:spPr>
          <a:xfrm>
            <a:off x="311727" y="5929747"/>
            <a:ext cx="8073737" cy="1107996"/>
          </a:xfrm>
          <a:prstGeom prst="rect">
            <a:avLst/>
          </a:prstGeom>
          <a:noFill/>
        </p:spPr>
        <p:txBody>
          <a:bodyPr wrap="square" rtlCol="0">
            <a:spAutoFit/>
          </a:bodyPr>
          <a:lstStyle/>
          <a:p>
            <a:r>
              <a:rPr lang="en-US" sz="2200" b="1" dirty="0">
                <a:solidFill>
                  <a:srgbClr val="0070C0"/>
                </a:solidFill>
              </a:rPr>
              <a:t>L1: Si has received a message with timestamp larger than (tsi , i) from all other sites </a:t>
            </a:r>
          </a:p>
          <a:p>
            <a:r>
              <a:rPr lang="en-US" sz="2200" b="1" dirty="0" smtClean="0">
                <a:solidFill>
                  <a:srgbClr val="00B050"/>
                </a:solidFill>
              </a:rPr>
              <a:t>L2</a:t>
            </a:r>
            <a:r>
              <a:rPr lang="en-US" sz="2200" b="1" dirty="0">
                <a:solidFill>
                  <a:srgbClr val="00B050"/>
                </a:solidFill>
              </a:rPr>
              <a:t>: Si ’s request is at the top of request </a:t>
            </a:r>
            <a:r>
              <a:rPr lang="en-US" sz="2200" b="1" dirty="0" smtClean="0">
                <a:solidFill>
                  <a:srgbClr val="00B050"/>
                </a:solidFill>
              </a:rPr>
              <a:t>RQi</a:t>
            </a:r>
            <a:endParaRPr lang="en-IN" sz="2200" b="1" dirty="0">
              <a:solidFill>
                <a:srgbClr val="00B050"/>
              </a:solidFill>
            </a:endParaRPr>
          </a:p>
        </p:txBody>
      </p:sp>
      <p:cxnSp>
        <p:nvCxnSpPr>
          <p:cNvPr id="7" name="Elbow Connector 6"/>
          <p:cNvCxnSpPr/>
          <p:nvPr/>
        </p:nvCxnSpPr>
        <p:spPr>
          <a:xfrm rot="16200000" flipH="1">
            <a:off x="3315567" y="2342284"/>
            <a:ext cx="1468581" cy="94037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rot="5400000">
            <a:off x="4791075" y="2300719"/>
            <a:ext cx="1468580" cy="1023506"/>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535257" y="1636345"/>
            <a:ext cx="1330037" cy="1446550"/>
          </a:xfrm>
          <a:prstGeom prst="rect">
            <a:avLst/>
          </a:prstGeom>
          <a:noFill/>
        </p:spPr>
        <p:txBody>
          <a:bodyPr wrap="square" rtlCol="0">
            <a:spAutoFit/>
          </a:bodyPr>
          <a:lstStyle/>
          <a:p>
            <a:r>
              <a:rPr lang="en-US" sz="2200" b="1" dirty="0" smtClean="0">
                <a:solidFill>
                  <a:srgbClr val="0070C0"/>
                </a:solidFill>
              </a:rPr>
              <a:t>RQi={TS:1,i;</a:t>
            </a:r>
          </a:p>
          <a:p>
            <a:r>
              <a:rPr lang="en-US" sz="2200" b="1" dirty="0">
                <a:solidFill>
                  <a:srgbClr val="0070C0"/>
                </a:solidFill>
              </a:rPr>
              <a:t> </a:t>
            </a:r>
            <a:r>
              <a:rPr lang="en-US" sz="2200" b="1" dirty="0" smtClean="0">
                <a:solidFill>
                  <a:srgbClr val="0070C0"/>
                </a:solidFill>
              </a:rPr>
              <a:t>        TS:2,j}</a:t>
            </a:r>
            <a:endParaRPr lang="en-IN" sz="2200" b="1" dirty="0">
              <a:solidFill>
                <a:srgbClr val="0070C0"/>
              </a:solidFill>
            </a:endParaRPr>
          </a:p>
        </p:txBody>
      </p:sp>
      <p:sp>
        <p:nvSpPr>
          <p:cNvPr id="22" name="TextBox 21"/>
          <p:cNvSpPr txBox="1"/>
          <p:nvPr/>
        </p:nvSpPr>
        <p:spPr>
          <a:xfrm>
            <a:off x="6816436" y="1517586"/>
            <a:ext cx="1330037" cy="1446550"/>
          </a:xfrm>
          <a:prstGeom prst="rect">
            <a:avLst/>
          </a:prstGeom>
          <a:noFill/>
        </p:spPr>
        <p:txBody>
          <a:bodyPr wrap="square" rtlCol="0">
            <a:spAutoFit/>
          </a:bodyPr>
          <a:lstStyle/>
          <a:p>
            <a:r>
              <a:rPr lang="en-US" sz="2200" b="1" dirty="0" smtClean="0">
                <a:solidFill>
                  <a:srgbClr val="0070C0"/>
                </a:solidFill>
              </a:rPr>
              <a:t>RQj={TS:2,j;</a:t>
            </a:r>
          </a:p>
          <a:p>
            <a:r>
              <a:rPr lang="en-US" sz="2200" b="1" dirty="0">
                <a:solidFill>
                  <a:srgbClr val="0070C0"/>
                </a:solidFill>
              </a:rPr>
              <a:t> </a:t>
            </a:r>
            <a:r>
              <a:rPr lang="en-US" sz="2200" b="1" dirty="0" smtClean="0">
                <a:solidFill>
                  <a:srgbClr val="0070C0"/>
                </a:solidFill>
              </a:rPr>
              <a:t>        TS:1,i}</a:t>
            </a:r>
            <a:endParaRPr lang="en-IN" sz="2200" b="1" dirty="0">
              <a:solidFill>
                <a:srgbClr val="0070C0"/>
              </a:solidFill>
            </a:endParaRPr>
          </a:p>
        </p:txBody>
      </p:sp>
      <p:sp>
        <p:nvSpPr>
          <p:cNvPr id="23" name="TextBox 22"/>
          <p:cNvSpPr txBox="1"/>
          <p:nvPr/>
        </p:nvSpPr>
        <p:spPr>
          <a:xfrm>
            <a:off x="3403022" y="1633257"/>
            <a:ext cx="696191" cy="523220"/>
          </a:xfrm>
          <a:prstGeom prst="rect">
            <a:avLst/>
          </a:prstGeom>
          <a:noFill/>
        </p:spPr>
        <p:txBody>
          <a:bodyPr wrap="square" rtlCol="0">
            <a:spAutoFit/>
          </a:bodyPr>
          <a:lstStyle/>
          <a:p>
            <a:r>
              <a:rPr lang="en-US" sz="2800" b="1" dirty="0" smtClean="0"/>
              <a:t>Si</a:t>
            </a:r>
            <a:endParaRPr lang="en-IN" sz="2800" b="1" dirty="0"/>
          </a:p>
        </p:txBody>
      </p:sp>
      <p:sp>
        <p:nvSpPr>
          <p:cNvPr id="24" name="TextBox 23"/>
          <p:cNvSpPr txBox="1"/>
          <p:nvPr/>
        </p:nvSpPr>
        <p:spPr>
          <a:xfrm>
            <a:off x="5891646" y="1568172"/>
            <a:ext cx="800100" cy="523220"/>
          </a:xfrm>
          <a:prstGeom prst="rect">
            <a:avLst/>
          </a:prstGeom>
          <a:noFill/>
        </p:spPr>
        <p:txBody>
          <a:bodyPr wrap="square" rtlCol="0">
            <a:spAutoFit/>
          </a:bodyPr>
          <a:lstStyle/>
          <a:p>
            <a:r>
              <a:rPr lang="en-US" sz="2800" b="1" dirty="0" smtClean="0"/>
              <a:t>Sj</a:t>
            </a:r>
            <a:endParaRPr lang="en-IN" sz="2800" b="1" dirty="0"/>
          </a:p>
        </p:txBody>
      </p:sp>
      <p:sp>
        <p:nvSpPr>
          <p:cNvPr id="25" name="TextBox 24"/>
          <p:cNvSpPr txBox="1"/>
          <p:nvPr/>
        </p:nvSpPr>
        <p:spPr>
          <a:xfrm>
            <a:off x="1340427" y="318655"/>
            <a:ext cx="6483928" cy="707886"/>
          </a:xfrm>
          <a:prstGeom prst="rect">
            <a:avLst/>
          </a:prstGeom>
          <a:noFill/>
        </p:spPr>
        <p:txBody>
          <a:bodyPr wrap="square" rtlCol="0">
            <a:spAutoFit/>
          </a:bodyPr>
          <a:lstStyle/>
          <a:p>
            <a:pPr algn="ctr"/>
            <a:r>
              <a:rPr lang="en-US" sz="4000" b="1" dirty="0" smtClean="0">
                <a:solidFill>
                  <a:srgbClr val="FF0000"/>
                </a:solidFill>
                <a:latin typeface="Algerian" panose="04020705040A02060702" pitchFamily="82" charset="0"/>
              </a:rPr>
              <a:t>Liveness and Fairness</a:t>
            </a:r>
            <a:endParaRPr lang="en-IN" sz="4000" b="1" dirty="0">
              <a:solidFill>
                <a:srgbClr val="FF0000"/>
              </a:solidFill>
              <a:latin typeface="Algerian" panose="04020705040A02060702" pitchFamily="82" charset="0"/>
            </a:endParaRPr>
          </a:p>
        </p:txBody>
      </p:sp>
      <p:sp>
        <p:nvSpPr>
          <p:cNvPr id="26" name="TextBox 25"/>
          <p:cNvSpPr txBox="1"/>
          <p:nvPr/>
        </p:nvSpPr>
        <p:spPr>
          <a:xfrm>
            <a:off x="1101435" y="4709683"/>
            <a:ext cx="2649683" cy="584775"/>
          </a:xfrm>
          <a:prstGeom prst="rect">
            <a:avLst/>
          </a:prstGeom>
          <a:noFill/>
        </p:spPr>
        <p:txBody>
          <a:bodyPr wrap="square" rtlCol="0">
            <a:spAutoFit/>
          </a:bodyPr>
          <a:lstStyle/>
          <a:p>
            <a:r>
              <a:rPr lang="en-US" sz="3200" b="1" dirty="0" smtClean="0"/>
              <a:t>TSi &lt; TSj</a:t>
            </a:r>
            <a:endParaRPr lang="en-IN" sz="3200" b="1" dirty="0"/>
          </a:p>
        </p:txBody>
      </p:sp>
      <p:sp>
        <p:nvSpPr>
          <p:cNvPr id="2" name="TextBox 1"/>
          <p:cNvSpPr txBox="1"/>
          <p:nvPr/>
        </p:nvSpPr>
        <p:spPr>
          <a:xfrm>
            <a:off x="1714501" y="1230944"/>
            <a:ext cx="1865168" cy="430887"/>
          </a:xfrm>
          <a:prstGeom prst="rect">
            <a:avLst/>
          </a:prstGeom>
          <a:noFill/>
        </p:spPr>
        <p:txBody>
          <a:bodyPr wrap="square" rtlCol="0">
            <a:spAutoFit/>
          </a:bodyPr>
          <a:lstStyle/>
          <a:p>
            <a:r>
              <a:rPr lang="en-US" sz="2200" b="1" dirty="0" smtClean="0">
                <a:solidFill>
                  <a:srgbClr val="0070C0"/>
                </a:solidFill>
              </a:rPr>
              <a:t>RQi={TS:2,j}</a:t>
            </a:r>
            <a:endParaRPr lang="en-IN" sz="2200" b="1" dirty="0">
              <a:solidFill>
                <a:srgbClr val="0070C0"/>
              </a:solidFill>
            </a:endParaRPr>
          </a:p>
        </p:txBody>
      </p:sp>
      <p:sp>
        <p:nvSpPr>
          <p:cNvPr id="3" name="TextBox 2"/>
          <p:cNvSpPr txBox="1"/>
          <p:nvPr/>
        </p:nvSpPr>
        <p:spPr>
          <a:xfrm>
            <a:off x="6915152" y="1202371"/>
            <a:ext cx="1569027" cy="769441"/>
          </a:xfrm>
          <a:prstGeom prst="rect">
            <a:avLst/>
          </a:prstGeom>
          <a:noFill/>
        </p:spPr>
        <p:txBody>
          <a:bodyPr wrap="square" rtlCol="0">
            <a:spAutoFit/>
          </a:bodyPr>
          <a:lstStyle/>
          <a:p>
            <a:r>
              <a:rPr lang="en-US" sz="2200" b="1" dirty="0" smtClean="0">
                <a:solidFill>
                  <a:srgbClr val="0070C0"/>
                </a:solidFill>
              </a:rPr>
              <a:t>RQj={TS:2,j}</a:t>
            </a:r>
            <a:endParaRPr lang="en-IN" sz="2200" b="1" dirty="0">
              <a:solidFill>
                <a:srgbClr val="0070C0"/>
              </a:solidFill>
            </a:endParaRPr>
          </a:p>
        </p:txBody>
      </p:sp>
      <p:sp>
        <p:nvSpPr>
          <p:cNvPr id="6" name="TextBox 5"/>
          <p:cNvSpPr txBox="1"/>
          <p:nvPr/>
        </p:nvSpPr>
        <p:spPr>
          <a:xfrm>
            <a:off x="4629149" y="4880673"/>
            <a:ext cx="431222" cy="369332"/>
          </a:xfrm>
          <a:prstGeom prst="rect">
            <a:avLst/>
          </a:prstGeom>
          <a:noFill/>
        </p:spPr>
        <p:txBody>
          <a:bodyPr wrap="square" rtlCol="0">
            <a:spAutoFit/>
          </a:bodyPr>
          <a:lstStyle/>
          <a:p>
            <a:r>
              <a:rPr lang="en-US" b="1" dirty="0"/>
              <a:t>S</a:t>
            </a:r>
            <a:r>
              <a:rPr lang="en-US" b="1" dirty="0" smtClean="0"/>
              <a:t>j</a:t>
            </a:r>
            <a:endParaRPr lang="en-IN" b="1" dirty="0"/>
          </a:p>
        </p:txBody>
      </p:sp>
      <p:sp>
        <p:nvSpPr>
          <p:cNvPr id="8" name="TextBox 7"/>
          <p:cNvSpPr txBox="1"/>
          <p:nvPr/>
        </p:nvSpPr>
        <p:spPr>
          <a:xfrm>
            <a:off x="2852307" y="1100170"/>
            <a:ext cx="1652155" cy="430887"/>
          </a:xfrm>
          <a:prstGeom prst="rect">
            <a:avLst/>
          </a:prstGeom>
          <a:noFill/>
        </p:spPr>
        <p:txBody>
          <a:bodyPr wrap="square" rtlCol="0">
            <a:spAutoFit/>
          </a:bodyPr>
          <a:lstStyle/>
          <a:p>
            <a:r>
              <a:rPr lang="en-US" sz="2200" b="1" dirty="0" smtClean="0">
                <a:solidFill>
                  <a:srgbClr val="0070C0"/>
                </a:solidFill>
              </a:rPr>
              <a:t>RQi={}</a:t>
            </a:r>
            <a:endParaRPr lang="en-IN" sz="2200" b="1" dirty="0">
              <a:solidFill>
                <a:srgbClr val="0070C0"/>
              </a:solidFill>
            </a:endParaRPr>
          </a:p>
        </p:txBody>
      </p:sp>
      <p:sp>
        <p:nvSpPr>
          <p:cNvPr id="10" name="TextBox 9"/>
          <p:cNvSpPr txBox="1"/>
          <p:nvPr/>
        </p:nvSpPr>
        <p:spPr>
          <a:xfrm>
            <a:off x="5891645" y="1056621"/>
            <a:ext cx="954236" cy="430887"/>
          </a:xfrm>
          <a:prstGeom prst="rect">
            <a:avLst/>
          </a:prstGeom>
          <a:noFill/>
        </p:spPr>
        <p:txBody>
          <a:bodyPr wrap="none" rtlCol="0">
            <a:spAutoFit/>
          </a:bodyPr>
          <a:lstStyle/>
          <a:p>
            <a:r>
              <a:rPr lang="en-US" sz="2200" b="1" dirty="0" smtClean="0">
                <a:solidFill>
                  <a:srgbClr val="0070C0"/>
                </a:solidFill>
              </a:rPr>
              <a:t>RQj={}</a:t>
            </a:r>
            <a:endParaRPr lang="en-IN" sz="2200" b="1" dirty="0">
              <a:solidFill>
                <a:srgbClr val="0070C0"/>
              </a:solidFill>
            </a:endParaRPr>
          </a:p>
        </p:txBody>
      </p:sp>
    </p:spTree>
    <p:extLst>
      <p:ext uri="{BB962C8B-B14F-4D97-AF65-F5344CB8AC3E}">
        <p14:creationId xmlns:p14="http://schemas.microsoft.com/office/powerpoint/2010/main" xmlns="" val="2389452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21">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21">
                                            <p:txEl>
                                              <p:pRg st="0" end="0"/>
                                            </p:txEl>
                                          </p:spTgt>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11" dur="500"/>
                                        <p:tgtEl>
                                          <p:spTgt spid="21">
                                            <p:txEl>
                                              <p:pRg st="1" end="1"/>
                                            </p:txEl>
                                          </p:spTgt>
                                        </p:tgtEl>
                                        <p:attrNameLst>
                                          <p:attrName>ppt_y</p:attrName>
                                        </p:attrNameLst>
                                      </p:cBhvr>
                                      <p:tavLst>
                                        <p:tav tm="0">
                                          <p:val>
                                            <p:strVal val="ppt_y"/>
                                          </p:val>
                                        </p:tav>
                                        <p:tav tm="100000">
                                          <p:val>
                                            <p:strVal val="1+ppt_h/2"/>
                                          </p:val>
                                        </p:tav>
                                      </p:tavLst>
                                    </p:anim>
                                    <p:set>
                                      <p:cBhvr>
                                        <p:cTn id="12" dur="1" fill="hold">
                                          <p:stCondLst>
                                            <p:cond delay="499"/>
                                          </p:stCondLst>
                                        </p:cTn>
                                        <p:tgtEl>
                                          <p:spTgt spid="21">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17" dur="500"/>
                                        <p:tgtEl>
                                          <p:spTgt spid="22">
                                            <p:txEl>
                                              <p:pRg st="0" end="0"/>
                                            </p:txEl>
                                          </p:spTgt>
                                        </p:tgtEl>
                                        <p:attrNameLst>
                                          <p:attrName>ppt_y</p:attrName>
                                        </p:attrNameLst>
                                      </p:cBhvr>
                                      <p:tavLst>
                                        <p:tav tm="0">
                                          <p:val>
                                            <p:strVal val="ppt_y"/>
                                          </p:val>
                                        </p:tav>
                                        <p:tav tm="100000">
                                          <p:val>
                                            <p:strVal val="1+ppt_h/2"/>
                                          </p:val>
                                        </p:tav>
                                      </p:tavLst>
                                    </p:anim>
                                    <p:set>
                                      <p:cBhvr>
                                        <p:cTn id="18" dur="1" fill="hold">
                                          <p:stCondLst>
                                            <p:cond delay="499"/>
                                          </p:stCondLst>
                                        </p:cTn>
                                        <p:tgtEl>
                                          <p:spTgt spid="22">
                                            <p:txEl>
                                              <p:pRg st="0" end="0"/>
                                            </p:txEl>
                                          </p:spTgt>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22">
                                            <p:txEl>
                                              <p:pRg st="1" end="1"/>
                                            </p:txEl>
                                          </p:spTgt>
                                        </p:tgtEl>
                                        <p:attrNameLst>
                                          <p:attrName>ppt_x</p:attrName>
                                        </p:attrNameLst>
                                      </p:cBhvr>
                                      <p:tavLst>
                                        <p:tav tm="0">
                                          <p:val>
                                            <p:strVal val="ppt_x"/>
                                          </p:val>
                                        </p:tav>
                                        <p:tav tm="100000">
                                          <p:val>
                                            <p:strVal val="ppt_x"/>
                                          </p:val>
                                        </p:tav>
                                      </p:tavLst>
                                    </p:anim>
                                    <p:anim calcmode="lin" valueType="num">
                                      <p:cBhvr additive="base">
                                        <p:cTn id="21" dur="500"/>
                                        <p:tgtEl>
                                          <p:spTgt spid="22">
                                            <p:txEl>
                                              <p:pRg st="1" end="1"/>
                                            </p:txEl>
                                          </p:spTgt>
                                        </p:tgtEl>
                                        <p:attrNameLst>
                                          <p:attrName>ppt_y</p:attrName>
                                        </p:attrNameLst>
                                      </p:cBhvr>
                                      <p:tavLst>
                                        <p:tav tm="0">
                                          <p:val>
                                            <p:strVal val="ppt_y"/>
                                          </p:val>
                                        </p:tav>
                                        <p:tav tm="100000">
                                          <p:val>
                                            <p:strVal val="1+ppt_h/2"/>
                                          </p:val>
                                        </p:tav>
                                      </p:tavLst>
                                    </p:anim>
                                    <p:set>
                                      <p:cBhvr>
                                        <p:cTn id="22" dur="1" fill="hold">
                                          <p:stCondLst>
                                            <p:cond delay="499"/>
                                          </p:stCondLst>
                                        </p:cTn>
                                        <p:tgtEl>
                                          <p:spTgt spid="22">
                                            <p:txEl>
                                              <p:pRg st="1" end="1"/>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fade">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nodeType="clickEffect">
                                  <p:stCondLst>
                                    <p:cond delay="0"/>
                                  </p:stCondLst>
                                  <p:childTnLst>
                                    <p:anim calcmode="lin" valueType="num">
                                      <p:cBhvr additive="base">
                                        <p:cTn id="31" dur="500"/>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2" dur="500"/>
                                        <p:tgtEl>
                                          <p:spTgt spid="4">
                                            <p:txEl>
                                              <p:pRg st="1" end="1"/>
                                            </p:txEl>
                                          </p:spTgt>
                                        </p:tgtEl>
                                        <p:attrNameLst>
                                          <p:attrName>ppt_y</p:attrName>
                                        </p:attrNameLst>
                                      </p:cBhvr>
                                      <p:tavLst>
                                        <p:tav tm="0">
                                          <p:val>
                                            <p:strVal val="ppt_y"/>
                                          </p:val>
                                        </p:tav>
                                        <p:tav tm="100000">
                                          <p:val>
                                            <p:strVal val="1+ppt_h/2"/>
                                          </p:val>
                                        </p:tav>
                                      </p:tavLst>
                                    </p:anim>
                                    <p:set>
                                      <p:cBhvr>
                                        <p:cTn id="33" dur="1" fill="hold">
                                          <p:stCondLst>
                                            <p:cond delay="499"/>
                                          </p:stCondLst>
                                        </p:cTn>
                                        <p:tgtEl>
                                          <p:spTgt spid="4">
                                            <p:txEl>
                                              <p:pRg st="1" end="1"/>
                                            </p:txEl>
                                          </p:spTgt>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additive="base">
                                        <p:cTn id="38" dur="500" fill="hold"/>
                                        <p:tgtEl>
                                          <p:spTgt spid="2"/>
                                        </p:tgtEl>
                                        <p:attrNameLst>
                                          <p:attrName>ppt_x</p:attrName>
                                        </p:attrNameLst>
                                      </p:cBhvr>
                                      <p:tavLst>
                                        <p:tav tm="0">
                                          <p:val>
                                            <p:strVal val="#ppt_x"/>
                                          </p:val>
                                        </p:tav>
                                        <p:tav tm="100000">
                                          <p:val>
                                            <p:strVal val="#ppt_x"/>
                                          </p:val>
                                        </p:tav>
                                      </p:tavLst>
                                    </p:anim>
                                    <p:anim calcmode="lin" valueType="num">
                                      <p:cBhvr additive="base">
                                        <p:cTn id="3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fill="hold"/>
                                        <p:tgtEl>
                                          <p:spTgt spid="3"/>
                                        </p:tgtEl>
                                        <p:attrNameLst>
                                          <p:attrName>ppt_x</p:attrName>
                                        </p:attrNameLst>
                                      </p:cBhvr>
                                      <p:tavLst>
                                        <p:tav tm="0">
                                          <p:val>
                                            <p:strVal val="#ppt_x"/>
                                          </p:val>
                                        </p:tav>
                                        <p:tav tm="100000">
                                          <p:val>
                                            <p:strVal val="#ppt_x"/>
                                          </p:val>
                                        </p:tav>
                                      </p:tavLst>
                                    </p:anim>
                                    <p:anim calcmode="lin" valueType="num">
                                      <p:cBhvr additive="base">
                                        <p:cTn id="4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 calcmode="lin" valueType="num">
                                      <p:cBhvr additive="base">
                                        <p:cTn id="50" dur="500" fill="hold"/>
                                        <p:tgtEl>
                                          <p:spTgt spid="6"/>
                                        </p:tgtEl>
                                        <p:attrNameLst>
                                          <p:attrName>ppt_x</p:attrName>
                                        </p:attrNameLst>
                                      </p:cBhvr>
                                      <p:tavLst>
                                        <p:tav tm="0">
                                          <p:val>
                                            <p:strVal val="#ppt_x"/>
                                          </p:val>
                                        </p:tav>
                                        <p:tav tm="100000">
                                          <p:val>
                                            <p:strVal val="#ppt_x"/>
                                          </p:val>
                                        </p:tav>
                                      </p:tavLst>
                                    </p:anim>
                                    <p:anim calcmode="lin" valueType="num">
                                      <p:cBhvr additive="base">
                                        <p:cTn id="5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xit" presetSubtype="4" fill="hold" grpId="1" nodeType="clickEffect">
                                  <p:stCondLst>
                                    <p:cond delay="0"/>
                                  </p:stCondLst>
                                  <p:childTnLst>
                                    <p:anim calcmode="lin" valueType="num">
                                      <p:cBhvr additive="base">
                                        <p:cTn id="55" dur="500"/>
                                        <p:tgtEl>
                                          <p:spTgt spid="2"/>
                                        </p:tgtEl>
                                        <p:attrNameLst>
                                          <p:attrName>ppt_x</p:attrName>
                                        </p:attrNameLst>
                                      </p:cBhvr>
                                      <p:tavLst>
                                        <p:tav tm="0">
                                          <p:val>
                                            <p:strVal val="ppt_x"/>
                                          </p:val>
                                        </p:tav>
                                        <p:tav tm="100000">
                                          <p:val>
                                            <p:strVal val="ppt_x"/>
                                          </p:val>
                                        </p:tav>
                                      </p:tavLst>
                                    </p:anim>
                                    <p:anim calcmode="lin" valueType="num">
                                      <p:cBhvr additive="base">
                                        <p:cTn id="56" dur="500"/>
                                        <p:tgtEl>
                                          <p:spTgt spid="2"/>
                                        </p:tgtEl>
                                        <p:attrNameLst>
                                          <p:attrName>ppt_y</p:attrName>
                                        </p:attrNameLst>
                                      </p:cBhvr>
                                      <p:tavLst>
                                        <p:tav tm="0">
                                          <p:val>
                                            <p:strVal val="ppt_y"/>
                                          </p:val>
                                        </p:tav>
                                        <p:tav tm="100000">
                                          <p:val>
                                            <p:strVal val="1+ppt_h/2"/>
                                          </p:val>
                                        </p:tav>
                                      </p:tavLst>
                                    </p:anim>
                                    <p:set>
                                      <p:cBhvr>
                                        <p:cTn id="57" dur="1" fill="hold">
                                          <p:stCondLst>
                                            <p:cond delay="499"/>
                                          </p:stCondLst>
                                        </p:cTn>
                                        <p:tgtEl>
                                          <p:spTgt spid="2"/>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 presetClass="exit" presetSubtype="4" fill="hold" grpId="1" nodeType="clickEffect">
                                  <p:stCondLst>
                                    <p:cond delay="0"/>
                                  </p:stCondLst>
                                  <p:childTnLst>
                                    <p:anim calcmode="lin" valueType="num">
                                      <p:cBhvr additive="base">
                                        <p:cTn id="61" dur="500"/>
                                        <p:tgtEl>
                                          <p:spTgt spid="3"/>
                                        </p:tgtEl>
                                        <p:attrNameLst>
                                          <p:attrName>ppt_x</p:attrName>
                                        </p:attrNameLst>
                                      </p:cBhvr>
                                      <p:tavLst>
                                        <p:tav tm="0">
                                          <p:val>
                                            <p:strVal val="ppt_x"/>
                                          </p:val>
                                        </p:tav>
                                        <p:tav tm="100000">
                                          <p:val>
                                            <p:strVal val="ppt_x"/>
                                          </p:val>
                                        </p:tav>
                                      </p:tavLst>
                                    </p:anim>
                                    <p:anim calcmode="lin" valueType="num">
                                      <p:cBhvr additive="base">
                                        <p:cTn id="62" dur="500"/>
                                        <p:tgtEl>
                                          <p:spTgt spid="3"/>
                                        </p:tgtEl>
                                        <p:attrNameLst>
                                          <p:attrName>ppt_y</p:attrName>
                                        </p:attrNameLst>
                                      </p:cBhvr>
                                      <p:tavLst>
                                        <p:tav tm="0">
                                          <p:val>
                                            <p:strVal val="ppt_y"/>
                                          </p:val>
                                        </p:tav>
                                        <p:tav tm="100000">
                                          <p:val>
                                            <p:strVal val="1+ppt_h/2"/>
                                          </p:val>
                                        </p:tav>
                                      </p:tavLst>
                                    </p:anim>
                                    <p:set>
                                      <p:cBhvr>
                                        <p:cTn id="63" dur="1" fill="hold">
                                          <p:stCondLst>
                                            <p:cond delay="499"/>
                                          </p:stCondLst>
                                        </p:cTn>
                                        <p:tgtEl>
                                          <p:spTgt spid="3"/>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 presetClass="exit" presetSubtype="4" fill="hold" grpId="1" nodeType="clickEffect">
                                  <p:stCondLst>
                                    <p:cond delay="0"/>
                                  </p:stCondLst>
                                  <p:childTnLst>
                                    <p:anim calcmode="lin" valueType="num">
                                      <p:cBhvr additive="base">
                                        <p:cTn id="67" dur="500"/>
                                        <p:tgtEl>
                                          <p:spTgt spid="6"/>
                                        </p:tgtEl>
                                        <p:attrNameLst>
                                          <p:attrName>ppt_x</p:attrName>
                                        </p:attrNameLst>
                                      </p:cBhvr>
                                      <p:tavLst>
                                        <p:tav tm="0">
                                          <p:val>
                                            <p:strVal val="ppt_x"/>
                                          </p:val>
                                        </p:tav>
                                        <p:tav tm="100000">
                                          <p:val>
                                            <p:strVal val="ppt_x"/>
                                          </p:val>
                                        </p:tav>
                                      </p:tavLst>
                                    </p:anim>
                                    <p:anim calcmode="lin" valueType="num">
                                      <p:cBhvr additive="base">
                                        <p:cTn id="68" dur="500"/>
                                        <p:tgtEl>
                                          <p:spTgt spid="6"/>
                                        </p:tgtEl>
                                        <p:attrNameLst>
                                          <p:attrName>ppt_y</p:attrName>
                                        </p:attrNameLst>
                                      </p:cBhvr>
                                      <p:tavLst>
                                        <p:tav tm="0">
                                          <p:val>
                                            <p:strVal val="ppt_y"/>
                                          </p:val>
                                        </p:tav>
                                        <p:tav tm="100000">
                                          <p:val>
                                            <p:strVal val="1+ppt_h/2"/>
                                          </p:val>
                                        </p:tav>
                                      </p:tavLst>
                                    </p:anim>
                                    <p:set>
                                      <p:cBhvr>
                                        <p:cTn id="69" dur="1" fill="hold">
                                          <p:stCondLst>
                                            <p:cond delay="499"/>
                                          </p:stCondLst>
                                        </p:cTn>
                                        <p:tgtEl>
                                          <p:spTgt spid="6"/>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8"/>
                                        </p:tgtEl>
                                        <p:attrNameLst>
                                          <p:attrName>style.visibility</p:attrName>
                                        </p:attrNameLst>
                                      </p:cBhvr>
                                      <p:to>
                                        <p:strVal val="visible"/>
                                      </p:to>
                                    </p:set>
                                    <p:anim calcmode="lin" valueType="num">
                                      <p:cBhvr additive="base">
                                        <p:cTn id="74" dur="500" fill="hold"/>
                                        <p:tgtEl>
                                          <p:spTgt spid="8"/>
                                        </p:tgtEl>
                                        <p:attrNameLst>
                                          <p:attrName>ppt_x</p:attrName>
                                        </p:attrNameLst>
                                      </p:cBhvr>
                                      <p:tavLst>
                                        <p:tav tm="0">
                                          <p:val>
                                            <p:strVal val="#ppt_x"/>
                                          </p:val>
                                        </p:tav>
                                        <p:tav tm="100000">
                                          <p:val>
                                            <p:strVal val="#ppt_x"/>
                                          </p:val>
                                        </p:tav>
                                      </p:tavLst>
                                    </p:anim>
                                    <p:anim calcmode="lin" valueType="num">
                                      <p:cBhvr additive="base">
                                        <p:cTn id="7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10">
                                            <p:txEl>
                                              <p:pRg st="0" end="0"/>
                                            </p:txEl>
                                          </p:spTgt>
                                        </p:tgtEl>
                                        <p:attrNameLst>
                                          <p:attrName>style.visibility</p:attrName>
                                        </p:attrNameLst>
                                      </p:cBhvr>
                                      <p:to>
                                        <p:strVal val="visible"/>
                                      </p:to>
                                    </p:set>
                                    <p:anim calcmode="lin" valueType="num">
                                      <p:cBhvr additive="base">
                                        <p:cTn id="80"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6" grpId="0"/>
      <p:bldP spid="6" grpId="1"/>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12511"/>
          </a:xfrm>
        </p:spPr>
        <p:txBody>
          <a:bodyPr/>
          <a:lstStyle/>
          <a:p>
            <a:pPr algn="ctr"/>
            <a:r>
              <a:rPr lang="en-IN" b="1" dirty="0">
                <a:solidFill>
                  <a:srgbClr val="FF0000"/>
                </a:solidFill>
                <a:latin typeface="Algerian" panose="04020705040A02060702" pitchFamily="82" charset="0"/>
              </a:rPr>
              <a:t>cost of the protocol</a:t>
            </a:r>
          </a:p>
        </p:txBody>
      </p:sp>
      <p:sp>
        <p:nvSpPr>
          <p:cNvPr id="3" name="Content Placeholder 2"/>
          <p:cNvSpPr>
            <a:spLocks noGrp="1"/>
          </p:cNvSpPr>
          <p:nvPr>
            <p:ph idx="1"/>
          </p:nvPr>
        </p:nvSpPr>
        <p:spPr>
          <a:xfrm>
            <a:off x="628650" y="1413164"/>
            <a:ext cx="7886700" cy="5237019"/>
          </a:xfrm>
        </p:spPr>
        <p:txBody>
          <a:bodyPr/>
          <a:lstStyle/>
          <a:p>
            <a:r>
              <a:rPr lang="en-IN" dirty="0"/>
              <a:t>For each CS execution, Lamport’s algorithm requires </a:t>
            </a:r>
            <a:r>
              <a:rPr lang="en-IN" b="1" dirty="0"/>
              <a:t>(N − 1) </a:t>
            </a:r>
            <a:r>
              <a:rPr lang="en-IN" dirty="0"/>
              <a:t>REQUEST messages</a:t>
            </a:r>
            <a:r>
              <a:rPr lang="en-IN" b="1" dirty="0"/>
              <a:t>, (N − 1) </a:t>
            </a:r>
            <a:r>
              <a:rPr lang="en-IN" dirty="0"/>
              <a:t>REPLY messages, and </a:t>
            </a:r>
            <a:r>
              <a:rPr lang="en-IN" b="1" dirty="0"/>
              <a:t>(N − 1)</a:t>
            </a:r>
            <a:r>
              <a:rPr lang="en-IN" dirty="0"/>
              <a:t> RELEASE </a:t>
            </a:r>
            <a:r>
              <a:rPr lang="en-IN" dirty="0" smtClean="0"/>
              <a:t>messages.</a:t>
            </a:r>
          </a:p>
          <a:p>
            <a:r>
              <a:rPr lang="en-IN" dirty="0" smtClean="0"/>
              <a:t>Thus</a:t>
            </a:r>
            <a:r>
              <a:rPr lang="en-IN" dirty="0"/>
              <a:t>, Lamport’s algorithm requires </a:t>
            </a:r>
            <a:r>
              <a:rPr lang="en-IN" b="1" dirty="0">
                <a:solidFill>
                  <a:srgbClr val="7030A0"/>
                </a:solidFill>
              </a:rPr>
              <a:t>3(N − 1) </a:t>
            </a:r>
            <a:r>
              <a:rPr lang="en-IN" dirty="0"/>
              <a:t>messages per CS invocation</a:t>
            </a:r>
            <a:r>
              <a:rPr lang="en-IN" dirty="0" smtClean="0"/>
              <a:t>.</a:t>
            </a:r>
          </a:p>
          <a:p>
            <a:endParaRPr lang="en-US" dirty="0"/>
          </a:p>
          <a:p>
            <a:r>
              <a:rPr lang="en-US" dirty="0"/>
              <a:t>Algorithm can be optimized to 2(N – 1) messages by omitting the </a:t>
            </a:r>
            <a:r>
              <a:rPr lang="en-US" b="1" dirty="0"/>
              <a:t>REPLY</a:t>
            </a:r>
            <a:r>
              <a:rPr lang="en-US" dirty="0"/>
              <a:t> </a:t>
            </a:r>
            <a:r>
              <a:rPr lang="en-US" dirty="0" smtClean="0"/>
              <a:t>message.</a:t>
            </a:r>
          </a:p>
        </p:txBody>
      </p:sp>
    </p:spTree>
    <p:extLst>
      <p:ext uri="{BB962C8B-B14F-4D97-AF65-F5344CB8AC3E}">
        <p14:creationId xmlns:p14="http://schemas.microsoft.com/office/powerpoint/2010/main" xmlns="" val="3552027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04693"/>
          </a:xfrm>
        </p:spPr>
        <p:txBody>
          <a:bodyPr>
            <a:normAutofit fontScale="90000"/>
          </a:bodyPr>
          <a:lstStyle/>
          <a:p>
            <a:pPr algn="ctr"/>
            <a:r>
              <a:rPr lang="en-US" dirty="0" smtClean="0"/>
              <a:t> </a:t>
            </a:r>
            <a:r>
              <a:rPr lang="en-IN" b="1" dirty="0">
                <a:solidFill>
                  <a:srgbClr val="FF0000"/>
                </a:solidFill>
                <a:latin typeface="Algerian" panose="04020705040A02060702" pitchFamily="82" charset="0"/>
              </a:rPr>
              <a:t>Drawbacks of Lamport’s </a:t>
            </a:r>
            <a:r>
              <a:rPr lang="en-IN" b="1" dirty="0" smtClean="0">
                <a:solidFill>
                  <a:srgbClr val="FF0000"/>
                </a:solidFill>
                <a:latin typeface="Algerian" panose="04020705040A02060702" pitchFamily="82" charset="0"/>
              </a:rPr>
              <a:t>Algorithm</a:t>
            </a:r>
            <a:endParaRPr lang="en-IN" b="1" dirty="0">
              <a:solidFill>
                <a:srgbClr val="FF0000"/>
              </a:solidFill>
              <a:latin typeface="Algerian" panose="04020705040A02060702" pitchFamily="82" charset="0"/>
            </a:endParaRPr>
          </a:p>
        </p:txBody>
      </p:sp>
      <p:sp>
        <p:nvSpPr>
          <p:cNvPr id="3" name="Content Placeholder 2"/>
          <p:cNvSpPr>
            <a:spLocks noGrp="1"/>
          </p:cNvSpPr>
          <p:nvPr>
            <p:ph idx="1"/>
          </p:nvPr>
        </p:nvSpPr>
        <p:spPr>
          <a:xfrm>
            <a:off x="628650" y="1371601"/>
            <a:ext cx="7886700" cy="4805363"/>
          </a:xfrm>
        </p:spPr>
        <p:txBody>
          <a:bodyPr/>
          <a:lstStyle/>
          <a:p>
            <a:r>
              <a:rPr lang="en-US" b="1" dirty="0"/>
              <a:t>Unreliable approach: </a:t>
            </a:r>
            <a:r>
              <a:rPr lang="en-US" dirty="0"/>
              <a:t>failure of any one of the processes will halt the progress of entire system</a:t>
            </a:r>
            <a:r>
              <a:rPr lang="en-US" dirty="0" smtClean="0"/>
              <a:t>.</a:t>
            </a:r>
          </a:p>
          <a:p>
            <a:endParaRPr lang="en-US" b="1" dirty="0" smtClean="0"/>
          </a:p>
          <a:p>
            <a:r>
              <a:rPr lang="en-US" b="1" dirty="0" smtClean="0"/>
              <a:t>High </a:t>
            </a:r>
            <a:r>
              <a:rPr lang="en-US" b="1" dirty="0"/>
              <a:t>message complexity: </a:t>
            </a:r>
            <a:r>
              <a:rPr lang="en-US" dirty="0"/>
              <a:t>Algorithm requires 3(N-1) messages per critical section invocation.</a:t>
            </a:r>
            <a:endParaRPr lang="en-IN" dirty="0"/>
          </a:p>
        </p:txBody>
      </p:sp>
    </p:spTree>
    <p:extLst>
      <p:ext uri="{BB962C8B-B14F-4D97-AF65-F5344CB8AC3E}">
        <p14:creationId xmlns:p14="http://schemas.microsoft.com/office/powerpoint/2010/main" xmlns="" val="222205143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49383"/>
            <a:ext cx="7886700" cy="581890"/>
          </a:xfrm>
        </p:spPr>
        <p:txBody>
          <a:bodyPr>
            <a:normAutofit fontScale="90000"/>
          </a:bodyPr>
          <a:lstStyle/>
          <a:p>
            <a:pPr algn="ctr"/>
            <a:r>
              <a:rPr lang="en-US" b="1" dirty="0" smtClean="0">
                <a:solidFill>
                  <a:srgbClr val="FF0000"/>
                </a:solidFill>
                <a:latin typeface="Algerian" panose="04020705040A02060702" pitchFamily="82" charset="0"/>
              </a:rPr>
              <a:t>REFERENCES</a:t>
            </a:r>
            <a:endParaRPr lang="en-IN" b="1" dirty="0">
              <a:solidFill>
                <a:srgbClr val="FF0000"/>
              </a:solidFill>
              <a:latin typeface="Algerian" panose="04020705040A02060702" pitchFamily="82" charset="0"/>
            </a:endParaRPr>
          </a:p>
        </p:txBody>
      </p:sp>
      <p:sp>
        <p:nvSpPr>
          <p:cNvPr id="3" name="Content Placeholder 2"/>
          <p:cNvSpPr>
            <a:spLocks noGrp="1"/>
          </p:cNvSpPr>
          <p:nvPr>
            <p:ph idx="1"/>
          </p:nvPr>
        </p:nvSpPr>
        <p:spPr>
          <a:xfrm>
            <a:off x="628650" y="1149928"/>
            <a:ext cx="7886700" cy="5708073"/>
          </a:xfrm>
        </p:spPr>
        <p:txBody>
          <a:bodyPr/>
          <a:lstStyle/>
          <a:p>
            <a:r>
              <a:rPr lang="en-IN" dirty="0">
                <a:hlinkClick r:id="rId2"/>
              </a:rPr>
              <a:t>https://</a:t>
            </a:r>
            <a:r>
              <a:rPr lang="en-IN" dirty="0" smtClean="0">
                <a:hlinkClick r:id="rId2"/>
              </a:rPr>
              <a:t>www.cs.uic.edu</a:t>
            </a:r>
            <a:r>
              <a:rPr lang="en-IN" dirty="0">
                <a:hlinkClick r:id="rId2"/>
              </a:rPr>
              <a:t>/~</a:t>
            </a:r>
            <a:r>
              <a:rPr lang="en-IN" dirty="0" smtClean="0">
                <a:hlinkClick r:id="rId2"/>
              </a:rPr>
              <a:t>ajayk/Chapter9.pdf</a:t>
            </a:r>
            <a:endParaRPr lang="en-IN" dirty="0" smtClean="0"/>
          </a:p>
          <a:p>
            <a:r>
              <a:rPr lang="en-IN" dirty="0">
                <a:hlinkClick r:id="rId3"/>
              </a:rPr>
              <a:t>https://</a:t>
            </a:r>
            <a:r>
              <a:rPr lang="en-IN" dirty="0" smtClean="0">
                <a:hlinkClick r:id="rId3"/>
              </a:rPr>
              <a:t>www.geeksforgeeks.org/lamports-algorithm-for-mutual-exclusion-in-distributed-system</a:t>
            </a:r>
            <a:endParaRPr lang="en-IN" dirty="0" smtClean="0"/>
          </a:p>
          <a:p>
            <a:r>
              <a:rPr lang="en-IN" dirty="0">
                <a:hlinkClick r:id="rId4"/>
              </a:rPr>
              <a:t>https://www.cs.fsu.edu/~</a:t>
            </a:r>
            <a:r>
              <a:rPr lang="en-IN" dirty="0" smtClean="0">
                <a:hlinkClick r:id="rId4"/>
              </a:rPr>
              <a:t>xyuan/cop5611/lecture8.html</a:t>
            </a:r>
            <a:endParaRPr lang="en-US" dirty="0"/>
          </a:p>
          <a:p>
            <a:endParaRPr lang="en-IN" dirty="0"/>
          </a:p>
        </p:txBody>
      </p:sp>
    </p:spTree>
    <p:extLst>
      <p:ext uri="{BB962C8B-B14F-4D97-AF65-F5344CB8AC3E}">
        <p14:creationId xmlns:p14="http://schemas.microsoft.com/office/powerpoint/2010/main" xmlns="" val="1445316996"/>
      </p:ext>
    </p:extLst>
  </p:cSld>
  <p:clrMapOvr>
    <a:masterClrMapping/>
  </p:clrMapOvr>
  <p:transition spd="slow">
    <p:push dir="u"/>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normAutofit fontScale="92500"/>
          </a:bodyPr>
          <a:lstStyle/>
          <a:p>
            <a:r>
              <a:rPr lang="en-US" b="1" dirty="0" err="1" smtClean="0"/>
              <a:t>Ricart–Agrawala</a:t>
            </a:r>
            <a:r>
              <a:rPr lang="en-US" b="1" dirty="0" smtClean="0"/>
              <a:t> algorithm</a:t>
            </a:r>
            <a:r>
              <a:rPr lang="en-US" dirty="0" smtClean="0"/>
              <a:t> is an algorithm for mutual exclusion in a distributed system proposed by Glenn </a:t>
            </a:r>
            <a:r>
              <a:rPr lang="en-US" dirty="0" err="1" smtClean="0"/>
              <a:t>Ricart</a:t>
            </a:r>
            <a:r>
              <a:rPr lang="en-US" dirty="0" smtClean="0"/>
              <a:t> and Ashok </a:t>
            </a:r>
            <a:r>
              <a:rPr lang="en-US" dirty="0" err="1" smtClean="0"/>
              <a:t>Agrawala</a:t>
            </a:r>
            <a:r>
              <a:rPr lang="en-US" dirty="0" smtClean="0"/>
              <a:t>. </a:t>
            </a:r>
            <a:endParaRPr lang="en-US" dirty="0" smtClean="0"/>
          </a:p>
          <a:p>
            <a:r>
              <a:rPr lang="en-US" dirty="0" smtClean="0"/>
              <a:t>This algorithm is an extension and optimization of </a:t>
            </a:r>
            <a:r>
              <a:rPr lang="en-US" dirty="0" err="1" smtClean="0"/>
              <a:t>Lamport's</a:t>
            </a:r>
            <a:r>
              <a:rPr lang="en-US" dirty="0" smtClean="0"/>
              <a:t> Distributed Mutual Exclusion Algorithm</a:t>
            </a:r>
            <a:r>
              <a:rPr lang="en-US" dirty="0" smtClean="0"/>
              <a:t>.</a:t>
            </a:r>
          </a:p>
          <a:p>
            <a:r>
              <a:rPr lang="en-US" dirty="0" smtClean="0"/>
              <a:t>Like </a:t>
            </a:r>
            <a:r>
              <a:rPr lang="en-US" dirty="0" err="1" smtClean="0"/>
              <a:t>Lamport's</a:t>
            </a:r>
            <a:r>
              <a:rPr lang="en-US" dirty="0" smtClean="0"/>
              <a:t> Algorithm, it also follows permission-based approach to ensure mutual exclusion.</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normAutofit fontScale="77500" lnSpcReduction="20000"/>
          </a:bodyPr>
          <a:lstStyle/>
          <a:p>
            <a:pPr fontAlgn="base"/>
            <a:r>
              <a:rPr lang="en-US" dirty="0" smtClean="0"/>
              <a:t>Two type of messages ( </a:t>
            </a:r>
            <a:r>
              <a:rPr lang="en-US" b="1" dirty="0" smtClean="0"/>
              <a:t>REQUEST</a:t>
            </a:r>
            <a:r>
              <a:rPr lang="en-US" dirty="0" smtClean="0"/>
              <a:t> and </a:t>
            </a:r>
            <a:r>
              <a:rPr lang="en-US" b="1" dirty="0" smtClean="0"/>
              <a:t>REPLY</a:t>
            </a:r>
            <a:r>
              <a:rPr lang="en-US" dirty="0" smtClean="0"/>
              <a:t>) are used and communication channels are assumed to follow FIFO order.</a:t>
            </a:r>
          </a:p>
          <a:p>
            <a:pPr fontAlgn="base"/>
            <a:r>
              <a:rPr lang="en-US" dirty="0" smtClean="0"/>
              <a:t>A site send a </a:t>
            </a:r>
            <a:r>
              <a:rPr lang="en-US" b="1" dirty="0" smtClean="0"/>
              <a:t>REQUEST</a:t>
            </a:r>
            <a:r>
              <a:rPr lang="en-US" dirty="0" smtClean="0"/>
              <a:t> message to all other site to get their permission to enter the critical section.</a:t>
            </a:r>
          </a:p>
          <a:p>
            <a:pPr fontAlgn="base"/>
            <a:r>
              <a:rPr lang="en-US" dirty="0" smtClean="0"/>
              <a:t>A site send a </a:t>
            </a:r>
            <a:r>
              <a:rPr lang="en-US" b="1" dirty="0" smtClean="0"/>
              <a:t>REPLY</a:t>
            </a:r>
            <a:r>
              <a:rPr lang="en-US" dirty="0" smtClean="0"/>
              <a:t> message to another site to give its permission to enter the critical section.</a:t>
            </a:r>
          </a:p>
          <a:p>
            <a:pPr fontAlgn="base"/>
            <a:r>
              <a:rPr lang="en-US" dirty="0" smtClean="0"/>
              <a:t>A timestamp is given to each critical section request using </a:t>
            </a:r>
            <a:r>
              <a:rPr lang="en-US" dirty="0" err="1" smtClean="0"/>
              <a:t>Lamport's</a:t>
            </a:r>
            <a:r>
              <a:rPr lang="en-US" dirty="0" smtClean="0"/>
              <a:t> logical clock.</a:t>
            </a:r>
          </a:p>
          <a:p>
            <a:pPr fontAlgn="base"/>
            <a:r>
              <a:rPr lang="en-US" dirty="0" smtClean="0"/>
              <a:t>Timestamp is used to determine priority of critical section requests. Smaller timestamp gets high priority over larger timestamp. The execution of critical section request is always in the order of their timestamp.</a:t>
            </a: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b="1" dirty="0" smtClean="0"/>
              <a:t>Algorithm:</a:t>
            </a:r>
            <a:endParaRPr lang="en-US" dirty="0" smtClean="0"/>
          </a:p>
          <a:p>
            <a:pPr lvl="1" fontAlgn="base"/>
            <a:r>
              <a:rPr lang="en-US" b="1" dirty="0" smtClean="0"/>
              <a:t>To enter Critical section:</a:t>
            </a:r>
            <a:endParaRPr lang="en-US" dirty="0" smtClean="0"/>
          </a:p>
          <a:p>
            <a:pPr lvl="2" fontAlgn="base"/>
            <a:r>
              <a:rPr lang="en-US" dirty="0" smtClean="0"/>
              <a:t>When a site S</a:t>
            </a:r>
            <a:r>
              <a:rPr lang="en-US" baseline="-25000" dirty="0" smtClean="0"/>
              <a:t>i</a:t>
            </a:r>
            <a:r>
              <a:rPr lang="en-US" dirty="0" smtClean="0"/>
              <a:t> wants to enter the critical section, it send a </a:t>
            </a:r>
            <a:r>
              <a:rPr lang="en-US" dirty="0" err="1" smtClean="0"/>
              <a:t>timestamped</a:t>
            </a:r>
            <a:r>
              <a:rPr lang="en-US" dirty="0" smtClean="0"/>
              <a:t> </a:t>
            </a:r>
            <a:r>
              <a:rPr lang="en-US" b="1" dirty="0" smtClean="0"/>
              <a:t>REQUEST</a:t>
            </a:r>
            <a:r>
              <a:rPr lang="en-US" dirty="0" smtClean="0"/>
              <a:t> message to all other sites.</a:t>
            </a:r>
          </a:p>
          <a:p>
            <a:pPr lvl="2" fontAlgn="base"/>
            <a:r>
              <a:rPr lang="en-US" dirty="0" smtClean="0"/>
              <a:t>When a site </a:t>
            </a:r>
            <a:r>
              <a:rPr lang="en-US" dirty="0" err="1" smtClean="0"/>
              <a:t>S</a:t>
            </a:r>
            <a:r>
              <a:rPr lang="en-US" baseline="-25000" dirty="0" err="1" smtClean="0"/>
              <a:t>j</a:t>
            </a:r>
            <a:r>
              <a:rPr lang="en-US" dirty="0" smtClean="0"/>
              <a:t> receives a </a:t>
            </a:r>
            <a:r>
              <a:rPr lang="en-US" b="1" dirty="0" smtClean="0"/>
              <a:t>REQUEST</a:t>
            </a:r>
            <a:r>
              <a:rPr lang="en-US" dirty="0" smtClean="0"/>
              <a:t> message from site S</a:t>
            </a:r>
            <a:r>
              <a:rPr lang="en-US" baseline="-25000" dirty="0" smtClean="0"/>
              <a:t>i</a:t>
            </a:r>
            <a:r>
              <a:rPr lang="en-US" dirty="0" smtClean="0"/>
              <a:t>, It sends a </a:t>
            </a:r>
            <a:r>
              <a:rPr lang="en-US" b="1" dirty="0" smtClean="0"/>
              <a:t>REPLY</a:t>
            </a:r>
            <a:r>
              <a:rPr lang="en-US" dirty="0" smtClean="0"/>
              <a:t> message to site S</a:t>
            </a:r>
            <a:r>
              <a:rPr lang="en-US" baseline="-25000" dirty="0" smtClean="0"/>
              <a:t>i</a:t>
            </a:r>
            <a:r>
              <a:rPr lang="en-US" dirty="0" smtClean="0"/>
              <a:t> if and only if</a:t>
            </a:r>
          </a:p>
          <a:p>
            <a:pPr lvl="3" fontAlgn="base"/>
            <a:r>
              <a:rPr lang="en-US" dirty="0" smtClean="0"/>
              <a:t>Site </a:t>
            </a:r>
            <a:r>
              <a:rPr lang="en-US" dirty="0" err="1" smtClean="0"/>
              <a:t>S</a:t>
            </a:r>
            <a:r>
              <a:rPr lang="en-US" baseline="-25000" dirty="0" err="1" smtClean="0"/>
              <a:t>j</a:t>
            </a:r>
            <a:r>
              <a:rPr lang="en-US" dirty="0" smtClean="0"/>
              <a:t> is neither requesting nor currently executing the critical section.</a:t>
            </a:r>
          </a:p>
          <a:p>
            <a:pPr lvl="3" fontAlgn="base"/>
            <a:r>
              <a:rPr lang="en-US" dirty="0" smtClean="0"/>
              <a:t>In case Site </a:t>
            </a:r>
            <a:r>
              <a:rPr lang="en-US" dirty="0" err="1" smtClean="0"/>
              <a:t>S</a:t>
            </a:r>
            <a:r>
              <a:rPr lang="en-US" baseline="-25000" dirty="0" err="1" smtClean="0"/>
              <a:t>j</a:t>
            </a:r>
            <a:r>
              <a:rPr lang="en-US" dirty="0" smtClean="0"/>
              <a:t> is requesting, the timestamp of Site </a:t>
            </a:r>
            <a:r>
              <a:rPr lang="en-US" dirty="0" err="1" smtClean="0"/>
              <a:t>S</a:t>
            </a:r>
            <a:r>
              <a:rPr lang="en-US" baseline="-25000" dirty="0" err="1" smtClean="0"/>
              <a:t>i</a:t>
            </a:r>
            <a:r>
              <a:rPr lang="en-US" dirty="0" err="1" smtClean="0"/>
              <a:t>'s</a:t>
            </a:r>
            <a:r>
              <a:rPr lang="en-US" dirty="0" smtClean="0"/>
              <a:t> request is smaller than its own request.</a:t>
            </a:r>
          </a:p>
          <a:p>
            <a:r>
              <a:rPr lang="en-US" dirty="0" smtClean="0"/>
              <a:t/>
            </a:r>
            <a:br>
              <a:rPr lang="en-US" dirty="0" smtClean="0"/>
            </a:b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lstStyle/>
          <a:p>
            <a:pPr fontAlgn="base"/>
            <a:r>
              <a:rPr lang="en-US" b="1" dirty="0" smtClean="0"/>
              <a:t>To execute the critical section:</a:t>
            </a:r>
            <a:endParaRPr lang="en-US" dirty="0" smtClean="0"/>
          </a:p>
          <a:p>
            <a:pPr lvl="1" fontAlgn="base"/>
            <a:r>
              <a:rPr lang="en-US" dirty="0" smtClean="0"/>
              <a:t>Site S</a:t>
            </a:r>
            <a:r>
              <a:rPr lang="en-US" baseline="-25000" dirty="0" smtClean="0"/>
              <a:t>i</a:t>
            </a:r>
            <a:r>
              <a:rPr lang="en-US" dirty="0" smtClean="0"/>
              <a:t> enters the critical section if it has received the </a:t>
            </a:r>
            <a:r>
              <a:rPr lang="en-US" b="1" dirty="0" smtClean="0"/>
              <a:t>REPLY</a:t>
            </a:r>
            <a:r>
              <a:rPr lang="en-US" dirty="0" smtClean="0"/>
              <a:t> message from all other sites.</a:t>
            </a:r>
          </a:p>
          <a:p>
            <a:pPr fontAlgn="base"/>
            <a:r>
              <a:rPr lang="en-US" b="1" dirty="0" smtClean="0"/>
              <a:t>To release the critical section:</a:t>
            </a:r>
            <a:endParaRPr lang="en-US" dirty="0" smtClean="0"/>
          </a:p>
          <a:p>
            <a:pPr lvl="1" fontAlgn="base"/>
            <a:r>
              <a:rPr lang="en-US" dirty="0" smtClean="0"/>
              <a:t>Upon exiting site S</a:t>
            </a:r>
            <a:r>
              <a:rPr lang="en-US" baseline="-25000" dirty="0" smtClean="0"/>
              <a:t>i</a:t>
            </a:r>
            <a:r>
              <a:rPr lang="en-US" dirty="0" smtClean="0"/>
              <a:t> sends </a:t>
            </a:r>
            <a:r>
              <a:rPr lang="en-US" b="1" dirty="0" smtClean="0"/>
              <a:t>REPLY</a:t>
            </a:r>
            <a:r>
              <a:rPr lang="en-US" dirty="0" smtClean="0"/>
              <a:t> message to all the deferred requests.</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lstStyle/>
          <a:p>
            <a:pPr fontAlgn="base"/>
            <a:r>
              <a:rPr lang="en-US" b="1" dirty="0" smtClean="0"/>
              <a:t>Message Complexity:</a:t>
            </a:r>
            <a:r>
              <a:rPr lang="en-US" dirty="0" smtClean="0"/>
              <a:t> </a:t>
            </a:r>
            <a:r>
              <a:rPr lang="en-US" dirty="0" err="1" smtClean="0"/>
              <a:t>Ricart–Agrawala</a:t>
            </a:r>
            <a:r>
              <a:rPr lang="en-US" dirty="0" smtClean="0"/>
              <a:t> algorithm requires invocation of 2(N - 1) messages per critical section execution. These 2(N - 1) messages involves</a:t>
            </a:r>
          </a:p>
          <a:p>
            <a:pPr fontAlgn="base"/>
            <a:r>
              <a:rPr lang="en-US" dirty="0" smtClean="0"/>
              <a:t>(N - 1) request messages</a:t>
            </a:r>
          </a:p>
          <a:p>
            <a:pPr fontAlgn="base"/>
            <a:r>
              <a:rPr lang="en-US" dirty="0" smtClean="0"/>
              <a:t>(N - 1) reply messages</a:t>
            </a:r>
          </a:p>
          <a:p>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lstStyle/>
          <a:p>
            <a:pPr fontAlgn="base"/>
            <a:r>
              <a:rPr lang="en-US" b="1" dirty="0" smtClean="0"/>
              <a:t>Drawbacks of </a:t>
            </a:r>
            <a:r>
              <a:rPr lang="en-US" b="1" dirty="0" err="1" smtClean="0"/>
              <a:t>Ricart–Agrawala</a:t>
            </a:r>
            <a:r>
              <a:rPr lang="en-US" b="1" dirty="0" smtClean="0"/>
              <a:t> algorithm:</a:t>
            </a:r>
            <a:endParaRPr lang="en-US" dirty="0" smtClean="0"/>
          </a:p>
          <a:p>
            <a:pPr fontAlgn="base"/>
            <a:r>
              <a:rPr lang="en-US" b="1" dirty="0" smtClean="0"/>
              <a:t>Unreliable approach:</a:t>
            </a:r>
            <a:r>
              <a:rPr lang="en-US" dirty="0" smtClean="0"/>
              <a:t> failure of any one of node in the system can halt the progress of the system. In this situation, the process will starve forever. The problem of failure of node can be solved by detecting failure after some timeout.</a:t>
            </a:r>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lstStyle/>
          <a:p>
            <a:r>
              <a:rPr lang="en-US" dirty="0" err="1" smtClean="0"/>
              <a:t>Maekawa’s</a:t>
            </a:r>
            <a:r>
              <a:rPr lang="en-US" dirty="0" smtClean="0"/>
              <a:t> algorithm is used for </a:t>
            </a:r>
            <a:r>
              <a:rPr lang="en-US" b="1" dirty="0" smtClean="0"/>
              <a:t>distributed mutual exclusion</a:t>
            </a:r>
            <a:r>
              <a:rPr lang="en-US" dirty="0" smtClean="0"/>
              <a:t>, and the </a:t>
            </a:r>
            <a:r>
              <a:rPr lang="en-US" b="1" dirty="0" smtClean="0"/>
              <a:t>key idea</a:t>
            </a:r>
            <a:r>
              <a:rPr lang="en-US" dirty="0" smtClean="0"/>
              <a:t> is how to </a:t>
            </a:r>
            <a:r>
              <a:rPr lang="en-US" b="1" dirty="0" smtClean="0"/>
              <a:t>select quorums</a:t>
            </a:r>
            <a:r>
              <a:rPr lang="en-US" dirty="0" smtClean="0"/>
              <a:t> so that </a:t>
            </a:r>
            <a:r>
              <a:rPr lang="en-US" b="1" dirty="0" smtClean="0"/>
              <a:t>no two processes can enter the critical section at the same time</a:t>
            </a:r>
            <a:r>
              <a:rPr lang="en-US" dirty="0" smtClean="0"/>
              <a:t>.</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lstStyle/>
          <a:p>
            <a:r>
              <a:rPr lang="en-US" b="1" dirty="0" smtClean="0"/>
              <a:t>What </a:t>
            </a:r>
            <a:r>
              <a:rPr lang="en-US" b="1" dirty="0" smtClean="0"/>
              <a:t>is a quorum in </a:t>
            </a:r>
            <a:r>
              <a:rPr lang="en-US" b="1" dirty="0" err="1" smtClean="0"/>
              <a:t>Maekawa’s</a:t>
            </a:r>
            <a:r>
              <a:rPr lang="en-US" b="1" dirty="0" smtClean="0"/>
              <a:t> algorithm?</a:t>
            </a:r>
          </a:p>
          <a:p>
            <a:pPr lvl="1"/>
            <a:r>
              <a:rPr lang="en-US" b="1" dirty="0" smtClean="0"/>
              <a:t>Simple definition</a:t>
            </a:r>
          </a:p>
          <a:p>
            <a:pPr lvl="1"/>
            <a:r>
              <a:rPr lang="en-US" dirty="0" smtClean="0"/>
              <a:t>A </a:t>
            </a:r>
            <a:r>
              <a:rPr lang="en-US" b="1" dirty="0" smtClean="0"/>
              <a:t>quorum</a:t>
            </a:r>
            <a:r>
              <a:rPr lang="en-US" dirty="0" smtClean="0"/>
              <a:t> is a </a:t>
            </a:r>
            <a:r>
              <a:rPr lang="en-US" b="1" dirty="0" smtClean="0"/>
              <a:t>subset of processes</a:t>
            </a:r>
            <a:r>
              <a:rPr lang="en-US" dirty="0" smtClean="0"/>
              <a:t> from which a process must obtain permission before entering the critical section.</a:t>
            </a:r>
          </a:p>
          <a:p>
            <a:pPr lvl="1"/>
            <a:r>
              <a:rPr lang="en-US" dirty="0" smtClean="0"/>
              <a:t>Each </a:t>
            </a:r>
            <a:r>
              <a:rPr lang="en-US" dirty="0" smtClean="0"/>
              <a:t>process has </a:t>
            </a:r>
            <a:r>
              <a:rPr lang="en-US" b="1" dirty="0" smtClean="0"/>
              <a:t>its own quorum</a:t>
            </a:r>
            <a:r>
              <a:rPr lang="en-US" dirty="0" smtClean="0"/>
              <a:t>.</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lstStyle/>
          <a:p>
            <a:r>
              <a:rPr lang="en-US" b="1" dirty="0" smtClean="0"/>
              <a:t>Why </a:t>
            </a:r>
            <a:r>
              <a:rPr lang="en-US" b="1" dirty="0" smtClean="0"/>
              <a:t>do we need quorums?</a:t>
            </a:r>
          </a:p>
          <a:p>
            <a:pPr lvl="1"/>
            <a:r>
              <a:rPr lang="en-US" dirty="0" smtClean="0"/>
              <a:t>In distributed systems:</a:t>
            </a:r>
          </a:p>
          <a:p>
            <a:pPr lvl="1"/>
            <a:r>
              <a:rPr lang="en-US" dirty="0" smtClean="0"/>
              <a:t>Asking </a:t>
            </a:r>
            <a:r>
              <a:rPr lang="en-US" b="1" dirty="0" smtClean="0"/>
              <a:t>all processes</a:t>
            </a:r>
            <a:r>
              <a:rPr lang="en-US" dirty="0" smtClean="0"/>
              <a:t> for permission is expensive</a:t>
            </a:r>
          </a:p>
          <a:p>
            <a:pPr lvl="1"/>
            <a:r>
              <a:rPr lang="en-US" dirty="0" err="1" smtClean="0"/>
              <a:t>Maekawa</a:t>
            </a:r>
            <a:r>
              <a:rPr lang="en-US" dirty="0" smtClean="0"/>
              <a:t> reduces messages by asking </a:t>
            </a:r>
            <a:r>
              <a:rPr lang="en-US" b="1" dirty="0" smtClean="0"/>
              <a:t>only a subset</a:t>
            </a:r>
            <a:endParaRPr lang="en-US" dirty="0" smtClean="0"/>
          </a:p>
          <a:p>
            <a:pPr lvl="1"/>
            <a:r>
              <a:rPr lang="en-US" dirty="0" smtClean="0"/>
              <a:t>But </a:t>
            </a:r>
            <a:r>
              <a:rPr lang="en-US" dirty="0" smtClean="0"/>
              <a:t>quorums must be chosen </a:t>
            </a:r>
            <a:r>
              <a:rPr lang="en-US" b="1" dirty="0" smtClean="0"/>
              <a:t>carefully</a:t>
            </a:r>
            <a:r>
              <a:rPr lang="en-US" dirty="0" smtClean="0"/>
              <a:t> to maintain mutual exclusion.</a:t>
            </a:r>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Rules </a:t>
            </a:r>
            <a:r>
              <a:rPr lang="en-US" b="1" dirty="0" smtClean="0"/>
              <a:t>for selecting quorums (VERY IMPORTANT)</a:t>
            </a:r>
          </a:p>
          <a:p>
            <a:pPr lvl="1"/>
            <a:r>
              <a:rPr lang="en-US" dirty="0" smtClean="0"/>
              <a:t>For </a:t>
            </a:r>
            <a:r>
              <a:rPr lang="en-US" dirty="0" err="1" smtClean="0"/>
              <a:t>Maekawa’s</a:t>
            </a:r>
            <a:r>
              <a:rPr lang="en-US" dirty="0" smtClean="0"/>
              <a:t> algorithm, quorums must satisfy:</a:t>
            </a:r>
          </a:p>
          <a:p>
            <a:pPr lvl="2"/>
            <a:r>
              <a:rPr lang="en-US" b="1" dirty="0" smtClean="0"/>
              <a:t>Rule </a:t>
            </a:r>
            <a:r>
              <a:rPr lang="en-US" b="1" dirty="0" smtClean="0"/>
              <a:t>1: Intersection property</a:t>
            </a:r>
          </a:p>
          <a:p>
            <a:pPr lvl="2"/>
            <a:r>
              <a:rPr lang="en-US" b="1" dirty="0" smtClean="0"/>
              <a:t>Any two quorums must have at least one common </a:t>
            </a:r>
            <a:r>
              <a:rPr lang="en-US" b="1" dirty="0" smtClean="0"/>
              <a:t>process</a:t>
            </a:r>
          </a:p>
          <a:p>
            <a:pPr lvl="2"/>
            <a:r>
              <a:rPr lang="en-US" dirty="0" smtClean="0"/>
              <a:t>This </a:t>
            </a:r>
            <a:r>
              <a:rPr lang="en-US" dirty="0" smtClean="0"/>
              <a:t>ensures </a:t>
            </a:r>
            <a:r>
              <a:rPr lang="en-US" b="1" dirty="0" smtClean="0"/>
              <a:t>mutual exclusion</a:t>
            </a:r>
            <a:r>
              <a:rPr lang="en-US" dirty="0" smtClean="0"/>
              <a:t/>
            </a:r>
            <a:br>
              <a:rPr lang="en-US" dirty="0" smtClean="0"/>
            </a:br>
            <a:r>
              <a:rPr lang="en-US" dirty="0" smtClean="0"/>
              <a:t>(because that common process cannot grant permission to both at the same time)</a:t>
            </a:r>
          </a:p>
          <a:p>
            <a:pPr lvl="2"/>
            <a:endParaRPr lang="en-US" b="1" dirty="0" smtClean="0"/>
          </a:p>
          <a:p>
            <a:pPr lvl="2"/>
            <a:r>
              <a:rPr lang="en-US" b="1" dirty="0" smtClean="0"/>
              <a:t>Rule </a:t>
            </a:r>
            <a:r>
              <a:rPr lang="en-US" b="1" dirty="0" smtClean="0"/>
              <a:t>2: Self-inclusion</a:t>
            </a:r>
          </a:p>
          <a:p>
            <a:pPr lvl="2"/>
            <a:r>
              <a:rPr lang="en-US" dirty="0" smtClean="0"/>
              <a:t>A process </a:t>
            </a:r>
            <a:r>
              <a:rPr lang="en-US" b="1" dirty="0" smtClean="0"/>
              <a:t>must be a member of its own quorum</a:t>
            </a:r>
            <a:endParaRPr lang="en-US" dirty="0" smtClean="0"/>
          </a:p>
          <a:p>
            <a:pPr lvl="2"/>
            <a:r>
              <a:rPr lang="en-US" b="1" dirty="0" smtClean="0"/>
              <a:t>Rule </a:t>
            </a:r>
            <a:r>
              <a:rPr lang="en-US" b="1" dirty="0" smtClean="0"/>
              <a:t>3: Equal size (preferred)</a:t>
            </a:r>
          </a:p>
          <a:p>
            <a:pPr lvl="2"/>
            <a:r>
              <a:rPr lang="en-US" dirty="0" smtClean="0"/>
              <a:t>All quorums should be of </a:t>
            </a:r>
            <a:r>
              <a:rPr lang="en-US" b="1" dirty="0" smtClean="0"/>
              <a:t>approximately equal size</a:t>
            </a:r>
            <a:endParaRPr lang="en-US" dirty="0" smtClean="0"/>
          </a:p>
          <a:p>
            <a:pPr lvl="2"/>
            <a:r>
              <a:rPr lang="en-US" dirty="0" smtClean="0"/>
              <a:t>This improves fairness and performance.</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How </a:t>
            </a:r>
            <a:r>
              <a:rPr lang="en-US" b="1" dirty="0" smtClean="0"/>
              <a:t>to select quorums (Step-by-Step Method)</a:t>
            </a:r>
          </a:p>
          <a:p>
            <a:pPr lvl="1"/>
            <a:r>
              <a:rPr lang="en-US" b="1" dirty="0" smtClean="0"/>
              <a:t>Step </a:t>
            </a:r>
            <a:r>
              <a:rPr lang="en-US" b="1" dirty="0" smtClean="0"/>
              <a:t>1: Arrange processes in a √N × √N grid</a:t>
            </a:r>
          </a:p>
          <a:p>
            <a:pPr lvl="1"/>
            <a:r>
              <a:rPr lang="en-US" dirty="0" smtClean="0"/>
              <a:t>Example:</a:t>
            </a:r>
            <a:br>
              <a:rPr lang="en-US" dirty="0" smtClean="0"/>
            </a:br>
            <a:r>
              <a:rPr lang="en-US" dirty="0" smtClean="0"/>
              <a:t>Let </a:t>
            </a:r>
            <a:r>
              <a:rPr lang="en-US" b="1" dirty="0" smtClean="0"/>
              <a:t>N = 9</a:t>
            </a:r>
            <a:endParaRPr lang="en-US" dirty="0" smtClean="0"/>
          </a:p>
          <a:p>
            <a:r>
              <a:rPr lang="en-US" dirty="0" smtClean="0"/>
              <a:t>P1  P2  P3</a:t>
            </a:r>
          </a:p>
          <a:p>
            <a:r>
              <a:rPr lang="en-US" dirty="0" smtClean="0"/>
              <a:t>P4  P5  P6</a:t>
            </a:r>
          </a:p>
          <a:p>
            <a:r>
              <a:rPr lang="en-US" dirty="0" smtClean="0"/>
              <a:t>P7  P8  P9</a:t>
            </a:r>
          </a:p>
          <a:p>
            <a:r>
              <a:rPr lang="en-US" b="1" dirty="0" smtClean="0"/>
              <a:t>Step </a:t>
            </a:r>
            <a:r>
              <a:rPr lang="en-US" b="1" dirty="0" smtClean="0"/>
              <a:t>2: Define quorum for each process</a:t>
            </a:r>
          </a:p>
          <a:p>
            <a:pPr lvl="1"/>
            <a:r>
              <a:rPr lang="en-US" dirty="0" smtClean="0"/>
              <a:t>A common method:</a:t>
            </a:r>
          </a:p>
          <a:p>
            <a:pPr lvl="1"/>
            <a:r>
              <a:rPr lang="en-US" b="1" dirty="0" smtClean="0"/>
              <a:t>Quorum = all processes in the same row + same column</a:t>
            </a:r>
            <a:endParaRPr lang="en-US" dirty="0" smtClean="0"/>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normAutofit fontScale="92500"/>
          </a:bodyPr>
          <a:lstStyle/>
          <a:p>
            <a:r>
              <a:rPr lang="en-US" b="1" dirty="0" smtClean="0"/>
              <a:t>How </a:t>
            </a:r>
            <a:r>
              <a:rPr lang="en-US" b="1" dirty="0" smtClean="0"/>
              <a:t>quorum is used in </a:t>
            </a:r>
            <a:r>
              <a:rPr lang="en-US" b="1" dirty="0" err="1" smtClean="0"/>
              <a:t>Maekawa’s</a:t>
            </a:r>
            <a:r>
              <a:rPr lang="en-US" b="1" dirty="0" smtClean="0"/>
              <a:t> algorithm</a:t>
            </a:r>
          </a:p>
          <a:p>
            <a:r>
              <a:rPr lang="en-US" dirty="0" smtClean="0"/>
              <a:t>When process </a:t>
            </a:r>
            <a:r>
              <a:rPr lang="en-US" b="1" dirty="0" smtClean="0"/>
              <a:t>Pi</a:t>
            </a:r>
            <a:r>
              <a:rPr lang="en-US" dirty="0" smtClean="0"/>
              <a:t> wants to enter critical section:</a:t>
            </a:r>
          </a:p>
          <a:p>
            <a:r>
              <a:rPr lang="en-US" dirty="0" smtClean="0"/>
              <a:t>Pi sends </a:t>
            </a:r>
            <a:r>
              <a:rPr lang="en-US" b="1" dirty="0" smtClean="0"/>
              <a:t>REQUEST</a:t>
            </a:r>
            <a:r>
              <a:rPr lang="en-US" dirty="0" smtClean="0"/>
              <a:t> to all members of its quorum</a:t>
            </a:r>
          </a:p>
          <a:p>
            <a:r>
              <a:rPr lang="en-US" dirty="0" smtClean="0"/>
              <a:t>Each quorum member grants permission to </a:t>
            </a:r>
            <a:r>
              <a:rPr lang="en-US" b="1" dirty="0" smtClean="0"/>
              <a:t>only one process at a time</a:t>
            </a:r>
            <a:endParaRPr lang="en-US" dirty="0" smtClean="0"/>
          </a:p>
          <a:p>
            <a:r>
              <a:rPr lang="en-US" dirty="0" smtClean="0"/>
              <a:t>Pi enters CS </a:t>
            </a:r>
            <a:r>
              <a:rPr lang="en-US" b="1" dirty="0" smtClean="0"/>
              <a:t>only after receiving all replies</a:t>
            </a:r>
            <a:endParaRPr lang="en-US" dirty="0" smtClean="0"/>
          </a:p>
          <a:p>
            <a:r>
              <a:rPr lang="en-US" dirty="0" smtClean="0"/>
              <a:t>On exit, Pi sends </a:t>
            </a:r>
            <a:r>
              <a:rPr lang="en-US" b="1" dirty="0" smtClean="0"/>
              <a:t>RELEASE</a:t>
            </a:r>
            <a:r>
              <a:rPr lang="en-US" dirty="0" smtClean="0"/>
              <a:t> to quorum members</a:t>
            </a:r>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normAutofit lnSpcReduction="10000"/>
          </a:bodyPr>
          <a:lstStyle/>
          <a:p>
            <a:r>
              <a:rPr lang="en-US" b="1" dirty="0" smtClean="0"/>
              <a:t>Advantages </a:t>
            </a:r>
            <a:r>
              <a:rPr lang="en-US" b="1" dirty="0" smtClean="0"/>
              <a:t>of this quorum selection</a:t>
            </a:r>
          </a:p>
          <a:p>
            <a:pPr lvl="1"/>
            <a:r>
              <a:rPr lang="en-US" dirty="0" smtClean="0"/>
              <a:t>Fewer messages</a:t>
            </a:r>
          </a:p>
          <a:p>
            <a:pPr lvl="1"/>
            <a:r>
              <a:rPr lang="en-US" dirty="0" smtClean="0"/>
              <a:t>Scalable</a:t>
            </a:r>
          </a:p>
          <a:p>
            <a:pPr lvl="1"/>
            <a:r>
              <a:rPr lang="en-US" dirty="0" smtClean="0"/>
              <a:t>No </a:t>
            </a:r>
            <a:r>
              <a:rPr lang="en-US" dirty="0" smtClean="0"/>
              <a:t>central </a:t>
            </a:r>
            <a:r>
              <a:rPr lang="en-US" dirty="0" smtClean="0"/>
              <a:t>coordinator</a:t>
            </a:r>
          </a:p>
          <a:p>
            <a:pPr lvl="1"/>
            <a:r>
              <a:rPr lang="en-US" dirty="0" smtClean="0"/>
              <a:t>Mutual </a:t>
            </a:r>
            <a:r>
              <a:rPr lang="en-US" dirty="0" smtClean="0"/>
              <a:t>exclusion guaranteed</a:t>
            </a:r>
          </a:p>
          <a:p>
            <a:r>
              <a:rPr lang="en-US" b="1" dirty="0" smtClean="0"/>
              <a:t>Limitations</a:t>
            </a:r>
            <a:endParaRPr lang="en-US" b="1" dirty="0" smtClean="0"/>
          </a:p>
          <a:p>
            <a:pPr lvl="1"/>
            <a:r>
              <a:rPr lang="en-US" dirty="0" smtClean="0"/>
              <a:t>Deadlock </a:t>
            </a:r>
            <a:r>
              <a:rPr lang="en-US" dirty="0" smtClean="0"/>
              <a:t>possible (needs extra </a:t>
            </a:r>
            <a:r>
              <a:rPr lang="en-US" dirty="0" smtClean="0"/>
              <a:t>handling)</a:t>
            </a:r>
          </a:p>
          <a:p>
            <a:pPr lvl="1"/>
            <a:r>
              <a:rPr lang="en-US" dirty="0" smtClean="0"/>
              <a:t>Quorum </a:t>
            </a:r>
            <a:r>
              <a:rPr lang="en-US" dirty="0" smtClean="0"/>
              <a:t>construction not trivial for arbitrary </a:t>
            </a:r>
            <a:r>
              <a:rPr lang="en-US" dirty="0" smtClean="0"/>
              <a:t>N</a:t>
            </a:r>
          </a:p>
          <a:p>
            <a:pPr lvl="1"/>
            <a:r>
              <a:rPr lang="en-US" dirty="0" smtClean="0"/>
              <a:t>Starvation </a:t>
            </a:r>
            <a:r>
              <a:rPr lang="en-US" dirty="0" smtClean="0"/>
              <a:t>possible</a:t>
            </a:r>
          </a:p>
          <a:p>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Assignment–2: Comparative Study (Analytical)</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Q1. </a:t>
            </a:r>
            <a:r>
              <a:rPr lang="en-US" dirty="0" smtClean="0"/>
              <a:t>Create </a:t>
            </a:r>
            <a:r>
              <a:rPr lang="en-US" dirty="0" smtClean="0"/>
              <a:t>a </a:t>
            </a:r>
            <a:r>
              <a:rPr lang="en-US" b="1" dirty="0" smtClean="0"/>
              <a:t>comparison table</a:t>
            </a:r>
            <a:r>
              <a:rPr lang="en-US" dirty="0" smtClean="0"/>
              <a:t> between Linux and Windows process management based on:</a:t>
            </a:r>
          </a:p>
          <a:p>
            <a:pPr lvl="1"/>
            <a:r>
              <a:rPr lang="en-US" dirty="0" smtClean="0"/>
              <a:t>Process creation</a:t>
            </a:r>
          </a:p>
          <a:p>
            <a:pPr lvl="1"/>
            <a:r>
              <a:rPr lang="en-US" dirty="0" smtClean="0"/>
              <a:t>Scheduling approach</a:t>
            </a:r>
          </a:p>
          <a:p>
            <a:pPr lvl="1"/>
            <a:r>
              <a:rPr lang="en-US" dirty="0" smtClean="0"/>
              <a:t>Process states</a:t>
            </a:r>
          </a:p>
          <a:p>
            <a:pPr lvl="1"/>
            <a:r>
              <a:rPr lang="en-US" dirty="0" smtClean="0"/>
              <a:t>Priority handling</a:t>
            </a:r>
          </a:p>
          <a:p>
            <a:pPr lvl="1"/>
            <a:r>
              <a:rPr lang="en-US" dirty="0" smtClean="0"/>
              <a:t>Inter-process communication</a:t>
            </a:r>
          </a:p>
          <a:p>
            <a:r>
              <a:rPr lang="en-US" b="1" dirty="0" smtClean="0"/>
              <a:t>Q2.</a:t>
            </a:r>
            <a:r>
              <a:rPr lang="en-US" dirty="0" smtClean="0"/>
              <a:t>Explain </a:t>
            </a:r>
            <a:r>
              <a:rPr lang="en-US" b="1" dirty="0" smtClean="0"/>
              <a:t>Linux Completely Fair Scheduler (CFS)</a:t>
            </a:r>
            <a:r>
              <a:rPr lang="en-US" dirty="0" smtClean="0"/>
              <a:t>.</a:t>
            </a:r>
            <a:br>
              <a:rPr lang="en-US" dirty="0" smtClean="0"/>
            </a:br>
            <a:r>
              <a:rPr lang="en-US" dirty="0" smtClean="0"/>
              <a:t>How does it ensure fairness among processes?</a:t>
            </a:r>
          </a:p>
          <a:p>
            <a:r>
              <a:rPr lang="en-US" b="1" dirty="0" smtClean="0"/>
              <a:t>Q3.</a:t>
            </a:r>
            <a:r>
              <a:rPr lang="en-US" dirty="0" smtClean="0"/>
              <a:t>Explain </a:t>
            </a:r>
            <a:r>
              <a:rPr lang="en-US" b="1" dirty="0" smtClean="0"/>
              <a:t>Windows priority-based preemptive scheduling</a:t>
            </a:r>
            <a:r>
              <a:rPr lang="en-US" dirty="0" smtClean="0"/>
              <a:t>.</a:t>
            </a:r>
            <a:br>
              <a:rPr lang="en-US" dirty="0" smtClean="0"/>
            </a:br>
            <a:r>
              <a:rPr lang="en-US" dirty="0" smtClean="0"/>
              <a:t>What are priority classes and priority levels?</a:t>
            </a:r>
          </a:p>
          <a:p>
            <a:r>
              <a:rPr lang="en-US" b="1" dirty="0" smtClean="0"/>
              <a:t>Q4.</a:t>
            </a:r>
            <a:r>
              <a:rPr lang="en-US" dirty="0" smtClean="0"/>
              <a:t>Discuss </a:t>
            </a:r>
            <a:r>
              <a:rPr lang="en-US" dirty="0" smtClean="0"/>
              <a:t>how </a:t>
            </a:r>
            <a:r>
              <a:rPr lang="en-US" b="1" dirty="0" smtClean="0"/>
              <a:t>multithreading</a:t>
            </a:r>
            <a:r>
              <a:rPr lang="en-US" dirty="0" smtClean="0"/>
              <a:t> is implemented in:</a:t>
            </a:r>
          </a:p>
          <a:p>
            <a:pPr lvl="1"/>
            <a:r>
              <a:rPr lang="en-US" dirty="0" smtClean="0"/>
              <a:t>Linux (lightweight processes)</a:t>
            </a:r>
          </a:p>
          <a:p>
            <a:pPr lvl="1"/>
            <a:r>
              <a:rPr lang="en-US" dirty="0" smtClean="0"/>
              <a:t>Windows (threads as basic scheduling unit)</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725</TotalTime>
  <Words>3529</Words>
  <Application>Microsoft Macintosh PowerPoint</Application>
  <PresentationFormat>On-screen Show (4:3)</PresentationFormat>
  <Paragraphs>757</Paragraphs>
  <Slides>89</Slides>
  <Notes>18</Notes>
  <HiddenSlides>0</HiddenSlides>
  <MMClips>0</MMClips>
  <ScaleCrop>false</ScaleCrop>
  <HeadingPairs>
    <vt:vector size="4" baseType="variant">
      <vt:variant>
        <vt:lpstr>Theme</vt:lpstr>
      </vt:variant>
      <vt:variant>
        <vt:i4>1</vt:i4>
      </vt:variant>
      <vt:variant>
        <vt:lpstr>Slide Titles</vt:lpstr>
      </vt:variant>
      <vt:variant>
        <vt:i4>89</vt:i4>
      </vt:variant>
    </vt:vector>
  </HeadingPairs>
  <TitlesOfParts>
    <vt:vector size="90" baseType="lpstr">
      <vt:lpstr>Office Theme</vt:lpstr>
      <vt:lpstr>Advanced Process Scheduling</vt:lpstr>
      <vt:lpstr>Multi-core Scheduling</vt:lpstr>
      <vt:lpstr>Processor Affinity-Based Scheduling</vt:lpstr>
      <vt:lpstr>Processor Affinity-Based Scheduling</vt:lpstr>
      <vt:lpstr>When Processor Affinity Should Be Used</vt:lpstr>
      <vt:lpstr>When process Affinity not to be used</vt:lpstr>
      <vt:lpstr>Load Balancing</vt:lpstr>
      <vt:lpstr>Static Load Balancing</vt:lpstr>
      <vt:lpstr>Dynamic Load balancing</vt:lpstr>
      <vt:lpstr>Dynamic Load balancing</vt:lpstr>
      <vt:lpstr>Cache &amp; Memory Optimization</vt:lpstr>
      <vt:lpstr>Types of Cache Locality</vt:lpstr>
      <vt:lpstr>Cache Levels: L1, L2, L3</vt:lpstr>
      <vt:lpstr>Why Cache Locality Improves Performance</vt:lpstr>
      <vt:lpstr>Cache Miss and Memory Latency</vt:lpstr>
      <vt:lpstr>Role of CPU Scheduling in Cache Locality</vt:lpstr>
      <vt:lpstr>Scheduling Techniques That Improve Cache Locality</vt:lpstr>
      <vt:lpstr>Key Benefits of Cache-Aware Scheduling</vt:lpstr>
      <vt:lpstr>NUMA-aware Scheduling</vt:lpstr>
      <vt:lpstr>What is NUMA</vt:lpstr>
      <vt:lpstr>NUMA vs UMA</vt:lpstr>
      <vt:lpstr>NUMA ARCHITECTURE</vt:lpstr>
      <vt:lpstr>What is NUMA-Aware Scheduling?</vt:lpstr>
      <vt:lpstr>Why NUMA-Aware Scheduling is Needed</vt:lpstr>
      <vt:lpstr>Key Concepts in NUMA-Aware Scheduling</vt:lpstr>
      <vt:lpstr>How OS Scheduler Becomes NUMA-Aware</vt:lpstr>
      <vt:lpstr>Memory Placement Policies</vt:lpstr>
      <vt:lpstr>Process Migration in NUMA Systems</vt:lpstr>
      <vt:lpstr>Benefits of NUMA-Aware Scheduling</vt:lpstr>
      <vt:lpstr>Real-World Use Cases</vt:lpstr>
      <vt:lpstr>Thread Libraries</vt:lpstr>
      <vt:lpstr>Thread Libraries</vt:lpstr>
      <vt:lpstr>Real-Time Synchronization</vt:lpstr>
      <vt:lpstr>Slide 34</vt:lpstr>
      <vt:lpstr>Why Synchronization is Critical in Real-Time Systems</vt:lpstr>
      <vt:lpstr>Semaphores</vt:lpstr>
      <vt:lpstr>Semaphore operations</vt:lpstr>
      <vt:lpstr>Semaphores</vt:lpstr>
      <vt:lpstr>Condition Variables</vt:lpstr>
      <vt:lpstr>Slide 40</vt:lpstr>
      <vt:lpstr>Producer code</vt:lpstr>
      <vt:lpstr>Consumer Code</vt:lpstr>
      <vt:lpstr>Synchronization Protocols</vt:lpstr>
      <vt:lpstr>Adaptive Synchronization</vt:lpstr>
      <vt:lpstr>Adaptive Locks</vt:lpstr>
      <vt:lpstr>Lock-Free Data Structures</vt:lpstr>
      <vt:lpstr>Deadlock</vt:lpstr>
      <vt:lpstr>Deadlock</vt:lpstr>
      <vt:lpstr>Deadlock</vt:lpstr>
      <vt:lpstr>Deadlock</vt:lpstr>
      <vt:lpstr>Centralized Deadlock Detection Algorithm</vt:lpstr>
      <vt:lpstr>Centralized Deadlock Detection Algorithm</vt:lpstr>
      <vt:lpstr>Solution after delayed message</vt:lpstr>
      <vt:lpstr>Centralized Deadlock Detection Algorithm</vt:lpstr>
      <vt:lpstr>Chandy Misra Hass Distributed Deadlock Detection Algorithm</vt:lpstr>
      <vt:lpstr>Chandy Misra Hass Distributed Deadlock Detection Algorithm</vt:lpstr>
      <vt:lpstr>Chandy Misra Hass Distributed Deadlock Detection Algorithm</vt:lpstr>
      <vt:lpstr>Chandy Misra Hass Distributed Deadlock Detection Algorithm</vt:lpstr>
      <vt:lpstr>Hierarchial Deadlock Detection Algorithm</vt:lpstr>
      <vt:lpstr>Hierarchial Deadlock Detection Algorithm</vt:lpstr>
      <vt:lpstr>Hierarchial Deadlock Detection Algorithm</vt:lpstr>
      <vt:lpstr>Distributed Mutual Exclusion Algorithms</vt:lpstr>
      <vt:lpstr>LAMPORT ALGORITHM</vt:lpstr>
      <vt:lpstr>Slide 64</vt:lpstr>
      <vt:lpstr>Slide 65</vt:lpstr>
      <vt:lpstr>LAMPORT ALGORITHM </vt:lpstr>
      <vt:lpstr>LAMPORT ALGORITHM</vt:lpstr>
      <vt:lpstr>correctness arguments</vt:lpstr>
      <vt:lpstr>Slide 69</vt:lpstr>
      <vt:lpstr>correctness arguments</vt:lpstr>
      <vt:lpstr>correctness arguments</vt:lpstr>
      <vt:lpstr>Slide 72</vt:lpstr>
      <vt:lpstr>cost of the protocol</vt:lpstr>
      <vt:lpstr> Drawbacks of Lamport’s Algorithm</vt:lpstr>
      <vt:lpstr>REFERENCES</vt:lpstr>
      <vt:lpstr>Ricart Agarwala Mutual Exclusion Algorithm</vt:lpstr>
      <vt:lpstr>Ricart Agarwala Mutual Exclusion Algorithm</vt:lpstr>
      <vt:lpstr>Ricart Agarwala Mutual Exclusion Algorithm</vt:lpstr>
      <vt:lpstr>Ricart Agarwala Mutual Exclusion Algorithm</vt:lpstr>
      <vt:lpstr>Ricart Agarwala Mutual Exclusion Algorithm</vt:lpstr>
      <vt:lpstr>Ricart Agarwala Mutual Exclusion Algorithm</vt:lpstr>
      <vt:lpstr>Maekewas Algorithm</vt:lpstr>
      <vt:lpstr>Maekewas Algorithm</vt:lpstr>
      <vt:lpstr>Maekewas Algorithm</vt:lpstr>
      <vt:lpstr>Maekewas Algorithm</vt:lpstr>
      <vt:lpstr>Maekewas Algorithm</vt:lpstr>
      <vt:lpstr>Maekewas Algorithm</vt:lpstr>
      <vt:lpstr>Maekewas Algorithm</vt:lpstr>
      <vt:lpstr>Assignment–2: Comparative Study (Analytical) </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Process and Thread Management</dc:title>
  <dc:creator>Bishwadeep Mainaly</dc:creator>
  <dc:description>generated using python-pptx</dc:description>
  <cp:lastModifiedBy>Bishwadeep Mainaly</cp:lastModifiedBy>
  <cp:revision>59</cp:revision>
  <dcterms:created xsi:type="dcterms:W3CDTF">2013-01-27T09:14:16Z</dcterms:created>
  <dcterms:modified xsi:type="dcterms:W3CDTF">2026-01-01T10:47:51Z</dcterms:modified>
</cp:coreProperties>
</file>