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371" r:id="rId2"/>
    <p:sldId id="372" r:id="rId3"/>
    <p:sldId id="373" r:id="rId4"/>
    <p:sldId id="374" r:id="rId5"/>
    <p:sldId id="375" r:id="rId6"/>
    <p:sldId id="376" r:id="rId7"/>
    <p:sldId id="397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90" r:id="rId18"/>
    <p:sldId id="391" r:id="rId19"/>
    <p:sldId id="392" r:id="rId20"/>
    <p:sldId id="393" r:id="rId21"/>
    <p:sldId id="394" r:id="rId22"/>
  </p:sldIdLst>
  <p:sldSz cx="9144000" cy="6858000" type="screen4x3"/>
  <p:notesSz cx="6958013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 autoAdjust="0"/>
    <p:restoredTop sz="94682" autoAdjust="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466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t" anchorCtr="0" compatLnSpc="1">
            <a:prstTxWarp prst="textNoShape">
              <a:avLst/>
            </a:prstTxWarp>
          </a:bodyPr>
          <a:lstStyle>
            <a:lvl1pPr defTabSz="928688">
              <a:defRPr kumimoji="1" sz="1200">
                <a:latin typeface="Tahoma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1466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t" anchorCtr="0" compatLnSpc="1">
            <a:prstTxWarp prst="textNoShape">
              <a:avLst/>
            </a:prstTxWarp>
          </a:bodyPr>
          <a:lstStyle>
            <a:lvl1pPr algn="r" defTabSz="928688">
              <a:defRPr kumimoji="1" sz="1200">
                <a:latin typeface="Tahoma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1466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b" anchorCtr="0" compatLnSpc="1">
            <a:prstTxWarp prst="textNoShape">
              <a:avLst/>
            </a:prstTxWarp>
          </a:bodyPr>
          <a:lstStyle>
            <a:lvl1pPr defTabSz="928688">
              <a:defRPr kumimoji="1" sz="1200">
                <a:latin typeface="Tahoma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31263"/>
            <a:ext cx="301466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b" anchorCtr="0" compatLnSpc="1">
            <a:prstTxWarp prst="textNoShape">
              <a:avLst/>
            </a:prstTxWarp>
          </a:bodyPr>
          <a:lstStyle>
            <a:lvl1pPr algn="r" defTabSz="928688">
              <a:defRPr kumimoji="1" sz="1200">
                <a:latin typeface="Tahoma" pitchFamily="34" charset="0"/>
              </a:defRPr>
            </a:lvl1pPr>
          </a:lstStyle>
          <a:p>
            <a:fld id="{1CB974FD-FC1D-456E-A272-222F3682D8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0579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466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t" anchorCtr="0" compatLnSpc="1">
            <a:prstTxWarp prst="textNoShape">
              <a:avLst/>
            </a:prstTxWarp>
          </a:bodyPr>
          <a:lstStyle>
            <a:lvl1pPr defTabSz="928688">
              <a:defRPr kumimoji="1" sz="1200">
                <a:latin typeface="Tahoma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43350" y="0"/>
            <a:ext cx="301466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t" anchorCtr="0" compatLnSpc="1">
            <a:prstTxWarp prst="textNoShape">
              <a:avLst/>
            </a:prstTxWarp>
          </a:bodyPr>
          <a:lstStyle>
            <a:lvl1pPr algn="r" defTabSz="928688">
              <a:defRPr kumimoji="1" sz="1200">
                <a:latin typeface="Tahoma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57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7100" y="4416425"/>
            <a:ext cx="5103813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1466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b" anchorCtr="0" compatLnSpc="1">
            <a:prstTxWarp prst="textNoShape">
              <a:avLst/>
            </a:prstTxWarp>
          </a:bodyPr>
          <a:lstStyle>
            <a:lvl1pPr defTabSz="928688">
              <a:defRPr kumimoji="1" sz="1200">
                <a:latin typeface="Tahoma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43350" y="8831263"/>
            <a:ext cx="301466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76" tIns="46438" rIns="92876" bIns="46438" numCol="1" anchor="b" anchorCtr="0" compatLnSpc="1">
            <a:prstTxWarp prst="textNoShape">
              <a:avLst/>
            </a:prstTxWarp>
          </a:bodyPr>
          <a:lstStyle>
            <a:lvl1pPr algn="r" defTabSz="928688">
              <a:defRPr kumimoji="1" sz="1200">
                <a:latin typeface="Tahoma" pitchFamily="34" charset="0"/>
              </a:defRPr>
            </a:lvl1pPr>
          </a:lstStyle>
          <a:p>
            <a:fld id="{BDDD9F22-D50B-4AE6-B115-5F2DADB133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1005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88419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8420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88421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188422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738CD26-6F62-4D33-8830-B7AE4B77BA5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258C24-713B-4FF9-B871-74D3AE2286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46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B4D41D-F7FC-4FEE-9B76-70D36233B9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822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447F44-67A1-4D63-9E84-08CBFD0F71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501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59FE44-5866-40E6-9F83-43C675FD2D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07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3CC4F-0C38-479B-8A45-BE3A543BB2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678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E3397-4198-4DE9-9DB9-0FD5844E46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85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C1156-FA9C-44B3-A010-819000B67A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7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4CD226-7DDF-43C0-ACDE-3C74680C3B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329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A4EB7-95BA-4066-9C48-B3687419E5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966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5B619-B44F-47AA-BAE9-53356D936F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278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87395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zh-CN"/>
              <a:t>Surendra Dhakal</a:t>
            </a:r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6F4FE5A-70F4-47E4-AABC-B98679C2F84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ocation_transparency" TargetMode="External"/><Relationship Id="rId2" Type="http://schemas.openxmlformats.org/officeDocument/2006/relationships/hyperlink" Target="http://en.wikipedia.org/wiki/Distributed_syste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ncurrency_(computer_science)" TargetMode="External"/><Relationship Id="rId2" Type="http://schemas.openxmlformats.org/officeDocument/2006/relationships/hyperlink" Target="http://en.wikipedia.org/wiki/Replication_(computer_science)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Persistence_(computer_science)" TargetMode="External"/><Relationship Id="rId4" Type="http://schemas.openxmlformats.org/officeDocument/2006/relationships/hyperlink" Target="http://en.wikipedia.org/wiki/Failure_transparency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mputer_network" TargetMode="External"/><Relationship Id="rId2" Type="http://schemas.openxmlformats.org/officeDocument/2006/relationships/hyperlink" Target="http://en.wikipedia.org/wiki/Operating_syste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Inter-process_communication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772400" cy="39623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Introduction to Distributed System and Distributed Operating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58200" y="6407944"/>
            <a:ext cx="554832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7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two dominating factors as important needs in the field of computing / information access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need for physically distributed hardware</a:t>
            </a:r>
          </a:p>
          <a:p>
            <a:pPr lvl="2"/>
            <a:r>
              <a:rPr lang="en-US" dirty="0"/>
              <a:t>Distributed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need for logically centralized software</a:t>
            </a:r>
          </a:p>
          <a:p>
            <a:pPr lvl="2"/>
            <a:r>
              <a:rPr lang="en-US" dirty="0"/>
              <a:t>Distributed operating system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 distributed system is a collection of independent computers that appears to its users as a single coherent system </a:t>
            </a:r>
            <a:r>
              <a:rPr lang="en-US" dirty="0">
                <a:solidFill>
                  <a:srgbClr val="FF0000"/>
                </a:solidFill>
              </a:rPr>
              <a:t>– </a:t>
            </a:r>
            <a:r>
              <a:rPr lang="en-US" sz="2800" i="1" dirty="0">
                <a:solidFill>
                  <a:srgbClr val="FF0000"/>
                </a:solidFill>
              </a:rPr>
              <a:t>Andrew </a:t>
            </a:r>
            <a:r>
              <a:rPr lang="en-US" sz="2800" i="1" dirty="0" err="1">
                <a:solidFill>
                  <a:srgbClr val="FF0000"/>
                </a:solidFill>
              </a:rPr>
              <a:t>Tanenbaum</a:t>
            </a:r>
            <a:endParaRPr lang="en-US" sz="28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i="1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0070C0"/>
                </a:solidFill>
              </a:rPr>
              <a:t>A distributed system is the one that prevents you from working because of the failure of a machine that you had never heard of – </a:t>
            </a:r>
            <a:r>
              <a:rPr lang="en-US" sz="2800" i="1" dirty="0" err="1">
                <a:solidFill>
                  <a:srgbClr val="FF0000"/>
                </a:solidFill>
              </a:rPr>
              <a:t>Veríssimo</a:t>
            </a:r>
            <a:r>
              <a:rPr lang="en-US" sz="2800" i="1" dirty="0">
                <a:solidFill>
                  <a:srgbClr val="FF0000"/>
                </a:solidFill>
              </a:rPr>
              <a:t> &amp; Rodrigues</a:t>
            </a:r>
          </a:p>
          <a:p>
            <a:endParaRPr lang="en-US" sz="2800" i="1" dirty="0">
              <a:solidFill>
                <a:schemeClr val="tx2"/>
              </a:solidFill>
            </a:endParaRPr>
          </a:p>
          <a:p>
            <a:r>
              <a:rPr lang="en-US" b="1" i="1" dirty="0"/>
              <a:t>Weak definition:</a:t>
            </a:r>
            <a:r>
              <a:rPr lang="en-US" i="1" dirty="0"/>
              <a:t> A distributed system is a collection of independent computers that are used jointly to perform a single task or to provide a single service.</a:t>
            </a:r>
            <a:endParaRPr lang="en-US" i="1" dirty="0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Collection of Web Servers</a:t>
            </a:r>
            <a:r>
              <a:rPr lang="en-US" b="1" dirty="0"/>
              <a:t> </a:t>
            </a:r>
            <a:r>
              <a:rPr lang="en-US" dirty="0"/>
              <a:t>- more precisely, servers implementing the HTTP protocol—that jointly provide the distributed database of hypertext and multimedia documents that we know as the World-Wide Web</a:t>
            </a:r>
          </a:p>
          <a:p>
            <a:r>
              <a:rPr lang="en-US" dirty="0">
                <a:solidFill>
                  <a:srgbClr val="FF0000"/>
                </a:solidFill>
              </a:rPr>
              <a:t>DNS servers</a:t>
            </a:r>
          </a:p>
          <a:p>
            <a:r>
              <a:rPr lang="en-US" dirty="0">
                <a:solidFill>
                  <a:srgbClr val="FF0000"/>
                </a:solidFill>
              </a:rPr>
              <a:t>ATM networks</a:t>
            </a:r>
            <a:r>
              <a:rPr lang="en-US" dirty="0"/>
              <a:t>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799"/>
          </a:xfrm>
        </p:spPr>
        <p:txBody>
          <a:bodyPr>
            <a:normAutofit fontScale="70000" lnSpcReduction="20000"/>
          </a:bodyPr>
          <a:lstStyle/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Cost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/>
              <a:t> Better price/performance as long as commodity hardware is used for the component computers.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Reliability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/>
              <a:t> By having redundant components the impact of hardware and software faults on users can be reduced.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Inherent distribution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/>
              <a:t> Naturally and physically distributed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Transparency.</a:t>
            </a:r>
            <a:r>
              <a:rPr lang="en-US" b="1" dirty="0"/>
              <a:t> </a:t>
            </a:r>
            <a:r>
              <a:rPr lang="en-US" dirty="0"/>
              <a:t> The end users can be concealed or hidden from the actual separation of the distributed system  so that the user feels that everything is transparent to everyone.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Scalability</a:t>
            </a:r>
            <a:r>
              <a:rPr lang="en-US" dirty="0"/>
              <a:t>. Resources such as processing and storage capacity can be increased significantly.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Dependability</a:t>
            </a:r>
            <a:r>
              <a:rPr lang="en-US" b="1" dirty="0"/>
              <a:t>.</a:t>
            </a:r>
            <a:r>
              <a:rPr lang="en-US" dirty="0"/>
              <a:t> The dependence of a system on another system can be achieved to solve a particular task jointly.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Performance</a:t>
            </a:r>
            <a:r>
              <a:rPr lang="en-US" dirty="0"/>
              <a:t>. By using the combined processing and storage capacity of many nodes, performance levels can be reached that are beyond the range of centralized machines.</a:t>
            </a:r>
            <a:endParaRPr lang="en-US" b="1" dirty="0"/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Flexibility</a:t>
            </a:r>
            <a:r>
              <a:rPr lang="en-US" dirty="0"/>
              <a:t>. Easily can be added or removed a node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Distributed System? </a:t>
            </a:r>
            <a:br>
              <a:rPr lang="en-US" dirty="0"/>
            </a:br>
            <a:r>
              <a:rPr lang="en-US" dirty="0"/>
              <a:t>– Objectives of 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9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4" y="1600200"/>
            <a:ext cx="8689975" cy="51816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Transparency </a:t>
            </a:r>
            <a:r>
              <a:rPr lang="en-US" dirty="0"/>
              <a:t>is the hiding of the separation of the components of the distributed system from users and the application programmer.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Transparency </a:t>
            </a:r>
            <a:r>
              <a:rPr lang="en-US" dirty="0"/>
              <a:t>means that any form of </a:t>
            </a:r>
            <a:r>
              <a:rPr lang="en-US" dirty="0">
                <a:hlinkClick r:id="rId2" tooltip="Distributed system"/>
              </a:rPr>
              <a:t>distributed system</a:t>
            </a:r>
            <a:r>
              <a:rPr lang="en-US" dirty="0"/>
              <a:t> should hide its distributed nature from its users, appearing and functioning as a normal centralized system. There are many types of transparency:</a:t>
            </a:r>
          </a:p>
          <a:p>
            <a:pPr marL="1008126" lvl="2" indent="-514350">
              <a:buFont typeface="+mj-lt"/>
              <a:buAutoNum type="arabicPeriod"/>
            </a:pPr>
            <a:r>
              <a:rPr lang="en-US" u="sng" dirty="0">
                <a:solidFill>
                  <a:srgbClr val="0070C0"/>
                </a:solidFill>
              </a:rPr>
              <a:t>Access transparency </a:t>
            </a:r>
            <a:r>
              <a:rPr lang="en-US" dirty="0"/>
              <a:t>– Regardless of how resource access and representation has to be performed on each individual computing entity, the users of a distributed system should always access resources in a single, uniform way.</a:t>
            </a:r>
          </a:p>
          <a:p>
            <a:pPr marL="1008126" lvl="2" indent="-514350">
              <a:buFont typeface="+mj-lt"/>
              <a:buAutoNum type="arabicPeriod"/>
            </a:pPr>
            <a:r>
              <a:rPr lang="en-US" dirty="0">
                <a:hlinkClick r:id="rId3" tooltip="Location transparency"/>
              </a:rPr>
              <a:t>Location transparency</a:t>
            </a:r>
            <a:r>
              <a:rPr lang="en-US" dirty="0"/>
              <a:t> – Users of a distributed system should not have to be aware of where a resource is physically located.</a:t>
            </a:r>
          </a:p>
          <a:p>
            <a:pPr marL="1008126" lvl="2" indent="-514350">
              <a:buFont typeface="+mj-lt"/>
              <a:buAutoNum type="arabicPeriod"/>
            </a:pPr>
            <a:r>
              <a:rPr lang="en-US" u="sng" dirty="0">
                <a:solidFill>
                  <a:srgbClr val="0070C0"/>
                </a:solidFill>
              </a:rPr>
              <a:t>Migration transparency </a:t>
            </a:r>
            <a:r>
              <a:rPr lang="en-US" dirty="0"/>
              <a:t>– Users should not be aware of whether a resource or computing entity possesses the ability to move to a different physical or logical location.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540750" cy="4498975"/>
          </a:xfrm>
        </p:spPr>
        <p:txBody>
          <a:bodyPr/>
          <a:lstStyle/>
          <a:p>
            <a:pPr marL="1008126" lvl="2" indent="-514350">
              <a:buFont typeface="+mj-lt"/>
              <a:buAutoNum type="arabicPeriod" startAt="4"/>
            </a:pPr>
            <a:r>
              <a:rPr lang="en-US" sz="2000" u="sng" dirty="0">
                <a:solidFill>
                  <a:srgbClr val="0070C0"/>
                </a:solidFill>
              </a:rPr>
              <a:t>Relocation transparency </a:t>
            </a:r>
            <a:r>
              <a:rPr lang="en-US" sz="2000" dirty="0"/>
              <a:t>– Should a resource move while in use, this should not be noticeable to the end user.</a:t>
            </a:r>
          </a:p>
          <a:p>
            <a:pPr marL="1008126" lvl="2" indent="-514350">
              <a:buFont typeface="+mj-lt"/>
              <a:buAutoNum type="arabicPeriod" startAt="4"/>
            </a:pPr>
            <a:r>
              <a:rPr lang="en-US" sz="2000" u="sng" dirty="0">
                <a:solidFill>
                  <a:srgbClr val="0070C0"/>
                </a:solidFill>
                <a:hlinkClick r:id="rId2" tooltip="Replication (computer science)"/>
              </a:rPr>
              <a:t>Replication</a:t>
            </a:r>
            <a:r>
              <a:rPr lang="en-US" sz="2000" u="sng" dirty="0">
                <a:solidFill>
                  <a:srgbClr val="0070C0"/>
                </a:solidFill>
              </a:rPr>
              <a:t> transparency </a:t>
            </a:r>
            <a:r>
              <a:rPr lang="en-US" sz="2000" dirty="0"/>
              <a:t>– If a resource is replicated among several locations, it should appear to the user as a single resource.</a:t>
            </a:r>
          </a:p>
          <a:p>
            <a:pPr marL="1008126" lvl="2" indent="-514350">
              <a:buFont typeface="+mj-lt"/>
              <a:buAutoNum type="arabicPeriod" startAt="4"/>
            </a:pPr>
            <a:r>
              <a:rPr lang="en-US" sz="2000" u="sng" dirty="0">
                <a:solidFill>
                  <a:srgbClr val="0070C0"/>
                </a:solidFill>
                <a:hlinkClick r:id="rId3" tooltip="Concurrency (computer science)"/>
              </a:rPr>
              <a:t>Concurrent</a:t>
            </a:r>
            <a:r>
              <a:rPr lang="en-US" sz="2000" u="sng" dirty="0">
                <a:solidFill>
                  <a:srgbClr val="0070C0"/>
                </a:solidFill>
              </a:rPr>
              <a:t> transparency </a:t>
            </a:r>
            <a:r>
              <a:rPr lang="en-US" sz="2000" dirty="0"/>
              <a:t>– While multiple users may compete for and share a single resource, this should not be apparent to any of them.</a:t>
            </a:r>
          </a:p>
          <a:p>
            <a:pPr marL="1008126" lvl="2" indent="-514350">
              <a:buFont typeface="+mj-lt"/>
              <a:buAutoNum type="arabicPeriod" startAt="4"/>
            </a:pPr>
            <a:r>
              <a:rPr lang="en-US" sz="2000" dirty="0">
                <a:hlinkClick r:id="rId4" tooltip="Failure transparency"/>
              </a:rPr>
              <a:t>Failure transparency</a:t>
            </a:r>
            <a:r>
              <a:rPr lang="en-US" sz="2000" dirty="0"/>
              <a:t> – Always try to hide any failure and recovery of computing entities and resources.</a:t>
            </a:r>
          </a:p>
          <a:p>
            <a:pPr marL="1008126" lvl="2" indent="-514350">
              <a:buFont typeface="+mj-lt"/>
              <a:buAutoNum type="arabicPeriod" startAt="4"/>
            </a:pPr>
            <a:r>
              <a:rPr lang="en-US" sz="2000" u="sng" dirty="0">
                <a:solidFill>
                  <a:srgbClr val="0070C0"/>
                </a:solidFill>
                <a:hlinkClick r:id="rId5" tooltip="Persistence (computer science)"/>
              </a:rPr>
              <a:t>Persistence</a:t>
            </a:r>
            <a:r>
              <a:rPr lang="en-US" sz="2000" u="sng" dirty="0">
                <a:solidFill>
                  <a:srgbClr val="0070C0"/>
                </a:solidFill>
              </a:rPr>
              <a:t> transparency </a:t>
            </a:r>
            <a:r>
              <a:rPr lang="en-US" sz="2000" dirty="0"/>
              <a:t>– Whether a resource lies in volatile or permanent memory should make no difference to the user.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58C24-713B-4FF9-B871-74D3AE228624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048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457200" y="1219200"/>
            <a:ext cx="8229600" cy="624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Very difficult to achieve because of the need of 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new component (network), 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Security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and software complexity. </a:t>
            </a:r>
          </a:p>
          <a:p>
            <a:r>
              <a:rPr lang="en-US" sz="2000" dirty="0"/>
              <a:t>Also we assume that 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The network is reliable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The network is secure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Everything is homogenous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The topology does not change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Latency is zero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Bandwidth is infinite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Transport cost is zero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There is one administrator</a:t>
            </a:r>
          </a:p>
          <a:p>
            <a:r>
              <a:rPr lang="en-US" sz="2200" dirty="0"/>
              <a:t>But these are not the cases in distributed system. This can be assumed in a non-distributed system. Hence there are challenges in DS.</a:t>
            </a:r>
          </a:p>
          <a:p>
            <a:pPr lvl="1"/>
            <a:endParaRPr lang="en-US" sz="1800" b="1" i="1" dirty="0"/>
          </a:p>
          <a:p>
            <a:pPr lvl="1"/>
            <a:endParaRPr lang="en-US" sz="1800" b="1" i="1" dirty="0"/>
          </a:p>
          <a:p>
            <a:pPr lvl="1"/>
            <a:endParaRPr lang="en-US" sz="1800" b="1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Challenges DS?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8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Hence the </a:t>
            </a:r>
            <a:r>
              <a:rPr lang="en-US" sz="2800" u="sng" dirty="0"/>
              <a:t>different challenges </a:t>
            </a:r>
            <a:r>
              <a:rPr lang="en-US" sz="2800" dirty="0"/>
              <a:t>that we repeatedly face in DS are to achieve the following things.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Transparency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Scalability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Dependability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Performance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Flexibility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72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transparency is not always desirable due to the trade-offs with performance and scalability as well as the problems that can be caused while confusing local and remote operations.</a:t>
            </a:r>
          </a:p>
          <a:p>
            <a:endParaRPr lang="en-US" dirty="0"/>
          </a:p>
          <a:p>
            <a:r>
              <a:rPr lang="en-US" dirty="0"/>
              <a:t>Is not always possible because of </a:t>
            </a:r>
            <a:r>
              <a:rPr lang="en-US" dirty="0">
                <a:solidFill>
                  <a:srgbClr val="FF0000"/>
                </a:solidFill>
              </a:rPr>
              <a:t>natural limitations on how fast communication take place in WAN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as a </a:t>
            </a:r>
            <a:r>
              <a:rPr lang="en-US" dirty="0" err="1"/>
              <a:t>challange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5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</p:spPr>
        <p:txBody>
          <a:bodyPr>
            <a:normAutofit fontScale="55000" lnSpcReduction="20000"/>
          </a:bodyPr>
          <a:lstStyle/>
          <a:p>
            <a:r>
              <a:rPr lang="en-US" sz="3300" dirty="0"/>
              <a:t>In a wide area distributed system, it is expected a large growth.</a:t>
            </a:r>
          </a:p>
          <a:p>
            <a:r>
              <a:rPr lang="en-US" sz="3300" dirty="0"/>
              <a:t>According to </a:t>
            </a:r>
            <a:r>
              <a:rPr lang="en-US" sz="3300" dirty="0" err="1"/>
              <a:t>Neuman</a:t>
            </a:r>
            <a:r>
              <a:rPr lang="en-US" sz="3300" dirty="0"/>
              <a:t> a system is said to be scalable if:</a:t>
            </a:r>
          </a:p>
          <a:p>
            <a:pPr lvl="1">
              <a:buNone/>
            </a:pPr>
            <a:r>
              <a:rPr lang="en-US" sz="3300" i="1" dirty="0">
                <a:solidFill>
                  <a:srgbClr val="FF0000"/>
                </a:solidFill>
              </a:rPr>
              <a:t>	It can handle the addition of users and resources without suffering a noticeable loss of performance or increase in administrative complexity.</a:t>
            </a:r>
          </a:p>
          <a:p>
            <a:pPr lvl="1">
              <a:buNone/>
            </a:pPr>
            <a:endParaRPr lang="en-US" sz="3300" i="1" dirty="0">
              <a:solidFill>
                <a:srgbClr val="FF0000"/>
              </a:solidFill>
            </a:endParaRPr>
          </a:p>
          <a:p>
            <a:r>
              <a:rPr lang="en-US" sz="3300" dirty="0"/>
              <a:t>But, this always does not happen because of the problems in followings.</a:t>
            </a:r>
          </a:p>
          <a:p>
            <a:pPr lvl="1"/>
            <a:r>
              <a:rPr lang="en-US" sz="3300" dirty="0">
                <a:solidFill>
                  <a:srgbClr val="C00000"/>
                </a:solidFill>
              </a:rPr>
              <a:t>Size – </a:t>
            </a:r>
            <a:r>
              <a:rPr lang="en-US" sz="3300" dirty="0"/>
              <a:t>growth in no of users and resources makes a distributed system overloaded - because it must process too many user requests</a:t>
            </a:r>
          </a:p>
          <a:p>
            <a:pPr lvl="1"/>
            <a:endParaRPr lang="en-US" sz="3300" dirty="0">
              <a:solidFill>
                <a:srgbClr val="C00000"/>
              </a:solidFill>
            </a:endParaRPr>
          </a:p>
          <a:p>
            <a:pPr lvl="1"/>
            <a:r>
              <a:rPr lang="en-US" sz="3300" dirty="0">
                <a:solidFill>
                  <a:srgbClr val="C00000"/>
                </a:solidFill>
              </a:rPr>
              <a:t>Geography – </a:t>
            </a:r>
            <a:r>
              <a:rPr lang="en-US" sz="3300" dirty="0"/>
              <a:t>increase in geography (distance between the nodes) generally results in greater communication delays and the potential for communication failure.</a:t>
            </a:r>
          </a:p>
          <a:p>
            <a:pPr lvl="1"/>
            <a:endParaRPr lang="en-US" sz="3300" dirty="0">
              <a:solidFill>
                <a:srgbClr val="C00000"/>
              </a:solidFill>
            </a:endParaRPr>
          </a:p>
          <a:p>
            <a:pPr lvl="1"/>
            <a:r>
              <a:rPr lang="en-US" sz="3300" dirty="0">
                <a:solidFill>
                  <a:srgbClr val="C00000"/>
                </a:solidFill>
              </a:rPr>
              <a:t>Administration - </a:t>
            </a:r>
            <a:r>
              <a:rPr lang="en-US" sz="3300" dirty="0"/>
              <a:t>As a distributed system grows, its various components (users, resources, nodes, networks, etc.) will start to cross administrative domains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Scalibility</a:t>
            </a:r>
            <a:r>
              <a:rPr lang="en-US" dirty="0"/>
              <a:t> as a </a:t>
            </a:r>
            <a:r>
              <a:rPr lang="en-US" dirty="0" err="1"/>
              <a:t>challange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0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Although distributed systems provide the potential for higher </a:t>
            </a:r>
            <a:r>
              <a:rPr lang="en-US" i="1" dirty="0">
                <a:solidFill>
                  <a:srgbClr val="C00000"/>
                </a:solidFill>
              </a:rPr>
              <a:t>availability due to replication</a:t>
            </a:r>
            <a:r>
              <a:rPr lang="en-US" i="1" dirty="0"/>
              <a:t>, the </a:t>
            </a:r>
            <a:r>
              <a:rPr lang="en-US" dirty="0"/>
              <a:t>distributed nature of services means that more components have to work properly for a single service to function.</a:t>
            </a:r>
          </a:p>
          <a:p>
            <a:endParaRPr lang="en-US" dirty="0"/>
          </a:p>
          <a:p>
            <a:r>
              <a:rPr lang="en-US" dirty="0"/>
              <a:t>But for dependability, all the systems should work jointly (dependent with each other) only when the data are </a:t>
            </a:r>
            <a:r>
              <a:rPr lang="en-US" dirty="0">
                <a:solidFill>
                  <a:srgbClr val="C00000"/>
                </a:solidFill>
              </a:rPr>
              <a:t>fragmented and distributed.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In this situation, the dependability requires: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Consistency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Security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Concurrency control and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Fault tolerance </a:t>
            </a:r>
          </a:p>
          <a:p>
            <a:pPr lvl="1">
              <a:buNone/>
            </a:pPr>
            <a:r>
              <a:rPr lang="en-US" dirty="0"/>
              <a:t>Which are very difficult to achieve.</a:t>
            </a: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Dependability as a </a:t>
            </a:r>
            <a:r>
              <a:rPr lang="en-US" dirty="0" err="1"/>
              <a:t>challange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8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Any system should strive for maximum performance</a:t>
            </a:r>
          </a:p>
          <a:p>
            <a:endParaRPr lang="en-US" dirty="0"/>
          </a:p>
          <a:p>
            <a:r>
              <a:rPr lang="en-US" dirty="0"/>
              <a:t>But in the case of distributed systems this is a particularly interesting challenge, </a:t>
            </a:r>
            <a:r>
              <a:rPr lang="en-US" dirty="0">
                <a:solidFill>
                  <a:srgbClr val="0070C0"/>
                </a:solidFill>
              </a:rPr>
              <a:t>since it directly conflicts with some other desirable properties like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Transparency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Security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Dependability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Scalability</a:t>
            </a:r>
          </a:p>
          <a:p>
            <a:pPr lvl="1">
              <a:buNone/>
            </a:pPr>
            <a:r>
              <a:rPr lang="en-US" dirty="0"/>
              <a:t>can easily be detrimental to performance.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as a </a:t>
            </a:r>
            <a:r>
              <a:rPr lang="en-US" dirty="0" err="1"/>
              <a:t>challange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02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flexible distributed system can be configured to provide exactly the services that a user or programmer needs. </a:t>
            </a:r>
          </a:p>
          <a:p>
            <a:endParaRPr lang="en-US" dirty="0"/>
          </a:p>
          <a:p>
            <a:r>
              <a:rPr lang="en-US" dirty="0"/>
              <a:t>But for that kind of flexibility a system should have the number of key properties.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Extensibility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Openness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Interoperability</a:t>
            </a:r>
          </a:p>
          <a:p>
            <a:pPr lvl="1">
              <a:buNone/>
            </a:pPr>
            <a:r>
              <a:rPr lang="en-US" dirty="0"/>
              <a:t>	Which is very difficult to achieve because it contradicts with the other desirable properties as well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Flexibility as a Challenge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94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A distributed system with all the challenges like transparency, scalability, Dependability, Performance, and Flexibility, being solved to its full extent, is called a True Distributed System (TDS).</a:t>
            </a:r>
          </a:p>
          <a:p>
            <a:endParaRPr lang="en-US" dirty="0"/>
          </a:p>
          <a:p>
            <a:r>
              <a:rPr lang="en-US" dirty="0"/>
              <a:t>However, because of the different problems (like a need of new component (network), security and software complexity faced during the development of a distributed system, a TDS is virtually possible.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Distributed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54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1481138"/>
            <a:ext cx="80010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Concept in Distributed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59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985C2-1B8C-4570-B6F7-BF85D3AC8837}" type="slidenum">
              <a:rPr lang="en-US" altLang="zh-CN"/>
              <a:pPr/>
              <a:t>17</a:t>
            </a:fld>
            <a:endParaRPr lang="en-US" altLang="zh-CN"/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0" t="44864" r="27579" b="37915"/>
          <a:stretch>
            <a:fillRect/>
          </a:stretch>
        </p:blipFill>
        <p:spPr bwMode="auto">
          <a:xfrm>
            <a:off x="1143000" y="1524000"/>
            <a:ext cx="68580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23" name="Rectangle 3"/>
          <p:cNvSpPr>
            <a:spLocks noChangeArrowheads="1"/>
          </p:cNvSpPr>
          <p:nvPr/>
        </p:nvSpPr>
        <p:spPr bwMode="auto">
          <a:xfrm>
            <a:off x="1524000" y="533400"/>
            <a:ext cx="6248400" cy="5334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kumimoji="1" lang="en-US" sz="3200" dirty="0">
                <a:solidFill>
                  <a:schemeClr val="tx2"/>
                </a:solidFill>
                <a:latin typeface="Times New Roman" pitchFamily="18" charset="0"/>
              </a:rPr>
              <a:t>Distributed Operating System (1)</a:t>
            </a:r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1447800" y="5105400"/>
            <a:ext cx="6324600" cy="8382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kumimoji="1" lang="en-US" sz="2400" dirty="0">
                <a:latin typeface="Times New Roman" pitchFamily="18" charset="0"/>
              </a:rPr>
              <a:t> </a:t>
            </a:r>
            <a:r>
              <a:rPr kumimoji="1" lang="en-US" sz="1600" b="1" dirty="0">
                <a:latin typeface="Tahoma" pitchFamily="34" charset="0"/>
              </a:rPr>
              <a:t>Tightly-coupled operating system for multi-processors and homogeneous multi-computers</a:t>
            </a:r>
            <a:r>
              <a:rPr kumimoji="1" lang="en-US" sz="2400" dirty="0">
                <a:latin typeface="Times New Roman" pitchFamily="18" charset="0"/>
              </a:rPr>
              <a:t>. </a:t>
            </a:r>
            <a:r>
              <a:rPr kumimoji="1" lang="en-US" sz="2000" dirty="0">
                <a:latin typeface="Times New Roman" pitchFamily="18" charset="0"/>
              </a:rPr>
              <a:t>Strong transparency.</a:t>
            </a:r>
          </a:p>
        </p:txBody>
      </p:sp>
    </p:spTree>
    <p:extLst>
      <p:ext uri="{BB962C8B-B14F-4D97-AF65-F5344CB8AC3E}">
        <p14:creationId xmlns:p14="http://schemas.microsoft.com/office/powerpoint/2010/main" val="2714631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Operating System (2)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 t="25974"/>
          <a:stretch>
            <a:fillRect/>
          </a:stretch>
        </p:blipFill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04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A </a:t>
            </a:r>
            <a:r>
              <a:rPr lang="en-US" sz="2000" b="1" dirty="0"/>
              <a:t>distributed operating system</a:t>
            </a:r>
            <a:r>
              <a:rPr lang="en-US" sz="2000" dirty="0"/>
              <a:t> is the logical aggregation of </a:t>
            </a:r>
            <a:r>
              <a:rPr lang="en-US" sz="2000" dirty="0">
                <a:hlinkClick r:id="rId2" tooltip="Operating system"/>
              </a:rPr>
              <a:t>operating system</a:t>
            </a:r>
            <a:r>
              <a:rPr lang="en-US" sz="2000" dirty="0"/>
              <a:t> software over a collection of independent, </a:t>
            </a:r>
            <a:r>
              <a:rPr lang="en-US" sz="2000" dirty="0">
                <a:hlinkClick r:id="rId3" tooltip="Computer network"/>
              </a:rPr>
              <a:t>networked</a:t>
            </a:r>
            <a:r>
              <a:rPr lang="en-US" sz="2000" dirty="0"/>
              <a:t>, </a:t>
            </a:r>
            <a:r>
              <a:rPr lang="en-US" sz="2000" dirty="0">
                <a:hlinkClick r:id="rId4" tooltip="Inter-process communication"/>
              </a:rPr>
              <a:t>communicating</a:t>
            </a:r>
            <a:r>
              <a:rPr lang="en-US" sz="2000" dirty="0"/>
              <a:t>, and physically separate computational nodes (a distributed system)</a:t>
            </a:r>
          </a:p>
          <a:p>
            <a:endParaRPr lang="en-US" sz="2000" dirty="0"/>
          </a:p>
          <a:p>
            <a:r>
              <a:rPr lang="en-US" sz="2000" dirty="0"/>
              <a:t>Individual nodes each hold a specific software subset of the global aggregate operating system. </a:t>
            </a:r>
          </a:p>
          <a:p>
            <a:endParaRPr lang="en-US" sz="2000" dirty="0"/>
          </a:p>
          <a:p>
            <a:r>
              <a:rPr lang="en-US" sz="2000" dirty="0"/>
              <a:t>Each subset is a composite of two distinct service </a:t>
            </a:r>
            <a:r>
              <a:rPr lang="en-US" sz="2000" dirty="0" err="1"/>
              <a:t>provisioners</a:t>
            </a:r>
            <a:r>
              <a:rPr lang="en-US" sz="2000" dirty="0"/>
              <a:t>.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i="1" dirty="0">
                <a:solidFill>
                  <a:srgbClr val="C00000"/>
                </a:solidFill>
              </a:rPr>
              <a:t>Kernel </a:t>
            </a:r>
            <a:r>
              <a:rPr lang="en-US" sz="2000" dirty="0"/>
              <a:t>-  that directly controls that node’s hardware.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i="1" dirty="0">
                <a:solidFill>
                  <a:srgbClr val="C00000"/>
                </a:solidFill>
              </a:rPr>
              <a:t>System management components</a:t>
            </a:r>
            <a:r>
              <a:rPr lang="en-US" sz="2000" dirty="0"/>
              <a:t> - that coordinate the node's individual and collaborative activities. These components abstract microkernel functions and support user applications.</a:t>
            </a:r>
          </a:p>
          <a:p>
            <a:endParaRPr lang="en-US" sz="2100" dirty="0"/>
          </a:p>
          <a:p>
            <a:r>
              <a:rPr lang="en-US" sz="2100" dirty="0"/>
              <a:t>The collection of kernel and system management components work together to make the distributed systems to appear as a single system image.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Operating System (3)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96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/>
              <a:t>Distributed Operating Systems</a:t>
            </a:r>
          </a:p>
          <a:p>
            <a:pPr lvl="1"/>
            <a:r>
              <a:rPr kumimoji="1" lang="en-US" altLang="zh-CN" sz="2400" b="1" dirty="0"/>
              <a:t>Allows a multiprocessor or multicomputer network  resources to be integrated as a single system image</a:t>
            </a:r>
          </a:p>
          <a:p>
            <a:pPr lvl="1"/>
            <a:r>
              <a:rPr kumimoji="1" lang="en-US" altLang="zh-CN" sz="2400" b="1" dirty="0"/>
              <a:t>Hide and manage hardware and software resources</a:t>
            </a:r>
            <a:endParaRPr kumimoji="1" lang="en-US" altLang="zh-CN" sz="2400" dirty="0"/>
          </a:p>
          <a:p>
            <a:pPr lvl="1"/>
            <a:r>
              <a:rPr kumimoji="1" lang="en-US" altLang="zh-CN" sz="2400" b="1" dirty="0"/>
              <a:t>provides transparency support</a:t>
            </a:r>
          </a:p>
          <a:p>
            <a:pPr lvl="1"/>
            <a:r>
              <a:rPr kumimoji="1" lang="en-US" altLang="zh-CN" sz="2400" b="1" dirty="0"/>
              <a:t>provide heterogeneity support</a:t>
            </a:r>
          </a:p>
          <a:p>
            <a:pPr lvl="1"/>
            <a:r>
              <a:rPr kumimoji="1" lang="en-US" altLang="zh-CN" sz="2400" b="1" dirty="0"/>
              <a:t>control network in most effective way</a:t>
            </a:r>
          </a:p>
          <a:p>
            <a:pPr lvl="1"/>
            <a:r>
              <a:rPr kumimoji="1" lang="en-US" altLang="zh-CN" sz="2400" b="1" dirty="0"/>
              <a:t>consists of low level commands + local operating systems + distributed features</a:t>
            </a:r>
          </a:p>
          <a:p>
            <a:pPr lvl="1"/>
            <a:r>
              <a:rPr kumimoji="1" lang="en-US" altLang="zh-CN" sz="2400" b="1" dirty="0"/>
              <a:t>Inter-process communication (IPC)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7304D-B0B8-4D82-BF58-3D9FE146813E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720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DOS: characteristics (1) </a:t>
            </a:r>
          </a:p>
        </p:txBody>
      </p:sp>
    </p:spTree>
    <p:extLst>
      <p:ext uri="{BB962C8B-B14F-4D97-AF65-F5344CB8AC3E}">
        <p14:creationId xmlns:p14="http://schemas.microsoft.com/office/powerpoint/2010/main" val="244338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en-US" altLang="zh-CN" sz="2400" b="1" dirty="0"/>
              <a:t>remote file and device access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global addressing and naming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trading and naming services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synchronization and deadlock avoidance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resource allocation and protection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global resource sharing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deadlock avoidance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communication security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/>
              <a:t>no examples in general use but many research systems: Amoeba, Chorus etc. see Google “distributed systems research”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8DDD-E527-4E53-B979-E451064B5FC0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73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DOS: characteristics (2) </a:t>
            </a:r>
          </a:p>
        </p:txBody>
      </p:sp>
    </p:spTree>
    <p:extLst>
      <p:ext uri="{BB962C8B-B14F-4D97-AF65-F5344CB8AC3E}">
        <p14:creationId xmlns:p14="http://schemas.microsoft.com/office/powerpoint/2010/main" val="1284369082"/>
      </p:ext>
    </p:extLst>
  </p:cSld>
  <p:clrMapOvr>
    <a:masterClrMapping/>
  </p:clrMapOvr>
</p:sld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CDESIGNJ</Template>
  <TotalTime>9448</TotalTime>
  <Words>1414</Words>
  <Application>Microsoft Office PowerPoint</Application>
  <PresentationFormat>On-screen Show (4:3)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Comic Sans MS</vt:lpstr>
      <vt:lpstr>Tahoma</vt:lpstr>
      <vt:lpstr>Times New Roman</vt:lpstr>
      <vt:lpstr>Wingdings</vt:lpstr>
      <vt:lpstr>Wingdings 2</vt:lpstr>
      <vt:lpstr>砖雕艺术</vt:lpstr>
      <vt:lpstr>Introduction to Distributed System and Distributed Operating System</vt:lpstr>
      <vt:lpstr>Basic concepts</vt:lpstr>
      <vt:lpstr>Distributed System</vt:lpstr>
      <vt:lpstr>Examples</vt:lpstr>
      <vt:lpstr>Why Distributed System?  – Objectives of DS</vt:lpstr>
      <vt:lpstr>Transparency </vt:lpstr>
      <vt:lpstr>PowerPoint Presentation</vt:lpstr>
      <vt:lpstr>Why Challenges DS?</vt:lpstr>
      <vt:lpstr>Challenges in DS</vt:lpstr>
      <vt:lpstr>Transparency as a challange</vt:lpstr>
      <vt:lpstr>Scalibility as a challange</vt:lpstr>
      <vt:lpstr>Dependability as a challange</vt:lpstr>
      <vt:lpstr>Performance as a challange</vt:lpstr>
      <vt:lpstr>Flexibility as a Challenge</vt:lpstr>
      <vt:lpstr>True Distributed System</vt:lpstr>
      <vt:lpstr>Software Concept in Distributed System</vt:lpstr>
      <vt:lpstr>PowerPoint Presentation</vt:lpstr>
      <vt:lpstr>Distributed Operating System (2)</vt:lpstr>
      <vt:lpstr>Distributed Operating System (3)</vt:lpstr>
      <vt:lpstr>DOS: characteristics (1) </vt:lpstr>
      <vt:lpstr>DOS: characteristics (2) </vt:lpstr>
    </vt:vector>
  </TitlesOfParts>
  <Company>Univ. of Guelph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notes</dc:title>
  <dc:creator>Subash</dc:creator>
  <cp:keywords>NCIT 2012</cp:keywords>
  <cp:lastModifiedBy>Bhesh  Bahadur Thapa</cp:lastModifiedBy>
  <cp:revision>224</cp:revision>
  <dcterms:created xsi:type="dcterms:W3CDTF">2005-03-24T15:52:30Z</dcterms:created>
  <dcterms:modified xsi:type="dcterms:W3CDTF">2025-03-24T02:47:13Z</dcterms:modified>
</cp:coreProperties>
</file>