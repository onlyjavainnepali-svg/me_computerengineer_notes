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Default Extension="wdp" ContentType="image/vnd.ms-photo"/>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handoutMasterIdLst>
    <p:handoutMasterId r:id="rId65"/>
  </p:handoutMasterIdLst>
  <p:sldIdLst>
    <p:sldId id="257" r:id="rId2"/>
    <p:sldId id="364" r:id="rId3"/>
    <p:sldId id="365" r:id="rId4"/>
    <p:sldId id="369" r:id="rId5"/>
    <p:sldId id="366" r:id="rId6"/>
    <p:sldId id="367" r:id="rId7"/>
    <p:sldId id="368" r:id="rId8"/>
    <p:sldId id="372" r:id="rId9"/>
    <p:sldId id="373" r:id="rId10"/>
    <p:sldId id="370" r:id="rId11"/>
    <p:sldId id="371" r:id="rId12"/>
    <p:sldId id="374" r:id="rId13"/>
    <p:sldId id="375" r:id="rId14"/>
    <p:sldId id="377" r:id="rId15"/>
    <p:sldId id="381" r:id="rId16"/>
    <p:sldId id="378" r:id="rId17"/>
    <p:sldId id="321" r:id="rId18"/>
    <p:sldId id="328" r:id="rId19"/>
    <p:sldId id="329" r:id="rId20"/>
    <p:sldId id="330" r:id="rId21"/>
    <p:sldId id="331" r:id="rId22"/>
    <p:sldId id="332" r:id="rId23"/>
    <p:sldId id="333" r:id="rId24"/>
    <p:sldId id="334" r:id="rId25"/>
    <p:sldId id="335" r:id="rId26"/>
    <p:sldId id="336" r:id="rId27"/>
    <p:sldId id="337" r:id="rId28"/>
    <p:sldId id="340" r:id="rId29"/>
    <p:sldId id="338" r:id="rId30"/>
    <p:sldId id="339" r:id="rId31"/>
    <p:sldId id="382" r:id="rId32"/>
    <p:sldId id="383" r:id="rId33"/>
    <p:sldId id="384" r:id="rId34"/>
    <p:sldId id="385" r:id="rId35"/>
    <p:sldId id="386" r:id="rId36"/>
    <p:sldId id="387" r:id="rId37"/>
    <p:sldId id="388" r:id="rId38"/>
    <p:sldId id="389" r:id="rId39"/>
    <p:sldId id="390" r:id="rId40"/>
    <p:sldId id="391" r:id="rId41"/>
    <p:sldId id="392" r:id="rId42"/>
    <p:sldId id="393" r:id="rId43"/>
    <p:sldId id="394" r:id="rId44"/>
    <p:sldId id="395" r:id="rId45"/>
    <p:sldId id="396" r:id="rId46"/>
    <p:sldId id="397" r:id="rId47"/>
    <p:sldId id="398" r:id="rId48"/>
    <p:sldId id="400" r:id="rId49"/>
    <p:sldId id="399" r:id="rId50"/>
    <p:sldId id="401" r:id="rId51"/>
    <p:sldId id="402" r:id="rId52"/>
    <p:sldId id="403" r:id="rId53"/>
    <p:sldId id="404" r:id="rId54"/>
    <p:sldId id="405" r:id="rId55"/>
    <p:sldId id="406" r:id="rId56"/>
    <p:sldId id="407" r:id="rId57"/>
    <p:sldId id="408" r:id="rId58"/>
    <p:sldId id="409" r:id="rId59"/>
    <p:sldId id="413" r:id="rId60"/>
    <p:sldId id="410" r:id="rId61"/>
    <p:sldId id="411" r:id="rId62"/>
    <p:sldId id="412" r:id="rId63"/>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4146"/>
    <p:restoredTop sz="94648"/>
  </p:normalViewPr>
  <p:slideViewPr>
    <p:cSldViewPr snapToGrid="0">
      <p:cViewPr varScale="1">
        <p:scale>
          <a:sx n="67" d="100"/>
          <a:sy n="67" d="100"/>
        </p:scale>
        <p:origin x="-292" y="-7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66CD6152-0FFD-4600-AE3A-9B67279F6C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Harimohan Khatri </a:t>
            </a:r>
            <a:endParaRPr lang="x-none"/>
          </a:p>
        </p:txBody>
      </p:sp>
      <p:sp>
        <p:nvSpPr>
          <p:cNvPr id="3" name="Date Placeholder 2">
            <a:extLst>
              <a:ext uri="{FF2B5EF4-FFF2-40B4-BE49-F238E27FC236}">
                <a16:creationId xmlns="" xmlns:a16="http://schemas.microsoft.com/office/drawing/2014/main" id="{D910C14C-89E8-5005-1122-ECA67550AB0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A0CD96-33E9-ED49-A1A1-7D745F964499}" type="datetime2">
              <a:rPr lang="en-US" smtClean="0"/>
              <a:pPr/>
              <a:t>Thursday, March 12, 2026</a:t>
            </a:fld>
            <a:endParaRPr lang="x-none"/>
          </a:p>
        </p:txBody>
      </p:sp>
      <p:sp>
        <p:nvSpPr>
          <p:cNvPr id="4" name="Footer Placeholder 3">
            <a:extLst>
              <a:ext uri="{FF2B5EF4-FFF2-40B4-BE49-F238E27FC236}">
                <a16:creationId xmlns="" xmlns:a16="http://schemas.microsoft.com/office/drawing/2014/main" id="{07010EE9-CBCD-0491-D97C-38CB9D1B0F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 xmlns:a16="http://schemas.microsoft.com/office/drawing/2014/main" id="{FB51DA16-FC66-ACDE-B568-75611C346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08EDAD-A049-564A-B897-2AF5B27F34C7}" type="slidenum">
              <a:rPr lang="x-none" smtClean="0"/>
              <a:pPr/>
              <a:t>‹#›</a:t>
            </a:fld>
            <a:endParaRPr lang="x-none"/>
          </a:p>
        </p:txBody>
      </p:sp>
    </p:spTree>
    <p:extLst>
      <p:ext uri="{BB962C8B-B14F-4D97-AF65-F5344CB8AC3E}">
        <p14:creationId xmlns="" xmlns:p14="http://schemas.microsoft.com/office/powerpoint/2010/main" val="1038264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Harimohan Khatri </a:t>
            </a:r>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F818D-68A7-E04E-B7C8-5D821228693D}" type="datetime2">
              <a:rPr lang="en-US" smtClean="0"/>
              <a:pPr/>
              <a:t>Thursday, March 12, 2026</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8ED278-5295-BB41-9187-EC871B5296F0}" type="slidenum">
              <a:rPr lang="x-none" smtClean="0"/>
              <a:pPr/>
              <a:t>‹#›</a:t>
            </a:fld>
            <a:endParaRPr lang="x-none"/>
          </a:p>
        </p:txBody>
      </p:sp>
    </p:spTree>
    <p:extLst>
      <p:ext uri="{BB962C8B-B14F-4D97-AF65-F5344CB8AC3E}">
        <p14:creationId xmlns="" xmlns:p14="http://schemas.microsoft.com/office/powerpoint/2010/main" val="1606798647"/>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144C034-7AD7-724E-94D5-54EB421748A7}" type="slidenum">
              <a:rPr lang="x-none" smtClean="0"/>
              <a:pPr/>
              <a:t>1</a:t>
            </a:fld>
            <a:endParaRPr lang="x-none"/>
          </a:p>
        </p:txBody>
      </p:sp>
      <p:sp>
        <p:nvSpPr>
          <p:cNvPr id="5" name="Date Placeholder 4">
            <a:extLst>
              <a:ext uri="{FF2B5EF4-FFF2-40B4-BE49-F238E27FC236}">
                <a16:creationId xmlns="" xmlns:a16="http://schemas.microsoft.com/office/drawing/2014/main" id="{70A2E107-4C42-637E-4BE1-9D958049590D}"/>
              </a:ext>
            </a:extLst>
          </p:cNvPr>
          <p:cNvSpPr>
            <a:spLocks noGrp="1"/>
          </p:cNvSpPr>
          <p:nvPr>
            <p:ph type="dt" idx="1"/>
          </p:nvPr>
        </p:nvSpPr>
        <p:spPr/>
        <p:txBody>
          <a:bodyPr/>
          <a:lstStyle/>
          <a:p>
            <a:fld id="{6BF3825D-5A40-3D45-906B-5BD10A48C93A}" type="datetime2">
              <a:rPr lang="en-US" smtClean="0"/>
              <a:pPr/>
              <a:t>Thursday, March 12, 2026</a:t>
            </a:fld>
            <a:endParaRPr lang="x-none"/>
          </a:p>
        </p:txBody>
      </p:sp>
      <p:sp>
        <p:nvSpPr>
          <p:cNvPr id="7" name="Header Placeholder 6">
            <a:extLst>
              <a:ext uri="{FF2B5EF4-FFF2-40B4-BE49-F238E27FC236}">
                <a16:creationId xmlns="" xmlns:a16="http://schemas.microsoft.com/office/drawing/2014/main" id="{9D97894C-2DF2-1237-85E3-293BEB7774EE}"/>
              </a:ext>
            </a:extLst>
          </p:cNvPr>
          <p:cNvSpPr>
            <a:spLocks noGrp="1"/>
          </p:cNvSpPr>
          <p:nvPr>
            <p:ph type="hdr" sz="quarter"/>
          </p:nvPr>
        </p:nvSpPr>
        <p:spPr/>
        <p:txBody>
          <a:bodyPr/>
          <a:lstStyle/>
          <a:p>
            <a:r>
              <a:rPr lang="en-US"/>
              <a:t>Harimohan Khatri </a:t>
            </a:r>
            <a:endParaRPr lang="x-none"/>
          </a:p>
        </p:txBody>
      </p:sp>
    </p:spTree>
    <p:extLst>
      <p:ext uri="{BB962C8B-B14F-4D97-AF65-F5344CB8AC3E}">
        <p14:creationId xmlns="" xmlns:p14="http://schemas.microsoft.com/office/powerpoint/2010/main" val="963310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755EC9-C244-F3DD-E6B0-A53B41476E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 xmlns:a16="http://schemas.microsoft.com/office/drawing/2014/main" id="{D7AFB356-FE72-8F7F-62ED-ED99FAE6C2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 xmlns:a16="http://schemas.microsoft.com/office/drawing/2014/main" id="{0B534EDB-6714-C506-1F12-A312C0C14661}"/>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5" name="Footer Placeholder 4">
            <a:extLst>
              <a:ext uri="{FF2B5EF4-FFF2-40B4-BE49-F238E27FC236}">
                <a16:creationId xmlns="" xmlns:a16="http://schemas.microsoft.com/office/drawing/2014/main" id="{1F98130C-DAF4-1C10-5C29-D78A68A6432F}"/>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21ADF2AA-7A88-6EA4-4F85-331E2EAE2673}"/>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3781269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44E1C0-7A43-6CF2-8BC9-DB6C5DE8D771}"/>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7258961A-C4B9-AD9C-21A7-C79CC67D2C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3684978B-DE12-BE00-BDC7-4BC1733B40D0}"/>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5" name="Footer Placeholder 4">
            <a:extLst>
              <a:ext uri="{FF2B5EF4-FFF2-40B4-BE49-F238E27FC236}">
                <a16:creationId xmlns="" xmlns:a16="http://schemas.microsoft.com/office/drawing/2014/main" id="{CC13C4DD-4783-822E-D8CB-61B8B556CDE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3252F06D-1396-9F82-1862-1EA253F5518D}"/>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3560794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F872C0-4093-CA9F-6318-EFEAFFB99D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5B3AC0F5-30A2-957D-DC9C-F7DABB2083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F89E476-66B4-BB2F-4CB0-6BED4AF486A1}"/>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5" name="Footer Placeholder 4">
            <a:extLst>
              <a:ext uri="{FF2B5EF4-FFF2-40B4-BE49-F238E27FC236}">
                <a16:creationId xmlns="" xmlns:a16="http://schemas.microsoft.com/office/drawing/2014/main" id="{BF3456BC-DAEB-AC75-B19A-91148905677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5B24BEF6-6B27-8F02-F654-97BAA77AADEC}"/>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175940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B79E37-E24E-9FD9-85A5-B409086B3FD1}"/>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D64E79CD-6E2C-3484-83E3-95DBF122EE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1108E049-1777-D6CD-D9EF-EC1982B6C8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992ACFEC-10B7-D9E8-298D-68285DCF86F3}"/>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6" name="Footer Placeholder 5">
            <a:extLst>
              <a:ext uri="{FF2B5EF4-FFF2-40B4-BE49-F238E27FC236}">
                <a16:creationId xmlns="" xmlns:a16="http://schemas.microsoft.com/office/drawing/2014/main" id="{1E4BA31A-7C26-B268-AACE-CC006F16779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936EC173-FA09-E7DC-C286-DAF5021473A5}"/>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2966326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93261E-288A-45D2-46E8-2ABDB7979214}"/>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DCA21B87-B5D2-9594-6EA5-6DEF42C434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2AA9C58D-7FA5-E861-6FCB-A8AF53CE88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6F68D778-A138-C4F3-2A53-775AAB0BCC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23C5BFD-550C-FC70-329E-C3BCBBA67E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35E2F20E-511A-E1BE-3768-50BC94696A75}"/>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8" name="Footer Placeholder 7">
            <a:extLst>
              <a:ext uri="{FF2B5EF4-FFF2-40B4-BE49-F238E27FC236}">
                <a16:creationId xmlns="" xmlns:a16="http://schemas.microsoft.com/office/drawing/2014/main" id="{8B3C5E86-25C6-D794-4C44-7F7837A898D4}"/>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B8EEC929-FEAF-4DE2-B735-0F7C6433C219}"/>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2755589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430E0A-D882-72EE-1EE1-21F5E79B5C52}"/>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CD0474B7-4C01-7B88-6CA8-FEFFA35123BC}"/>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4" name="Footer Placeholder 3">
            <a:extLst>
              <a:ext uri="{FF2B5EF4-FFF2-40B4-BE49-F238E27FC236}">
                <a16:creationId xmlns="" xmlns:a16="http://schemas.microsoft.com/office/drawing/2014/main" id="{591D7F57-68DD-4B27-4CA1-EB4C6DAAB19F}"/>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E54405DC-A9AB-4480-07BC-6EF1CAD72BFF}"/>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3667760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EB7E687-3E7E-EDCA-B6A5-FD1AD60B11F1}"/>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3" name="Footer Placeholder 2">
            <a:extLst>
              <a:ext uri="{FF2B5EF4-FFF2-40B4-BE49-F238E27FC236}">
                <a16:creationId xmlns="" xmlns:a16="http://schemas.microsoft.com/office/drawing/2014/main" id="{A66A2C78-74E4-49A0-CE57-96C132AC4C2F}"/>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E3C42AC5-D1E1-901A-B15C-CB820D5D8CF5}"/>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250552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6DCC39-8A92-7014-A09A-C90BA53E4E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28F7BC70-C27A-67BA-0237-1E28134B33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149049CD-FAC8-963A-99DF-A5CB793E17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3A340A7-C575-0EEB-F80F-FC95622D8363}"/>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6" name="Footer Placeholder 5">
            <a:extLst>
              <a:ext uri="{FF2B5EF4-FFF2-40B4-BE49-F238E27FC236}">
                <a16:creationId xmlns="" xmlns:a16="http://schemas.microsoft.com/office/drawing/2014/main" id="{FD7533BE-0AC7-FC5D-C5C3-E1A0187C950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02826AA0-9DC4-934B-1282-BB135C683168}"/>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124834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90EFE75-AB2E-4723-E198-08C206CD5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3E221482-30AC-2280-7983-BFD7B29D8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 xmlns:a16="http://schemas.microsoft.com/office/drawing/2014/main" id="{4E357106-9131-A4A7-9FB3-CA5FFE5118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4FD918F-2189-5CE9-62D1-5FACCAD64238}"/>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6" name="Footer Placeholder 5">
            <a:extLst>
              <a:ext uri="{FF2B5EF4-FFF2-40B4-BE49-F238E27FC236}">
                <a16:creationId xmlns="" xmlns:a16="http://schemas.microsoft.com/office/drawing/2014/main" id="{94E1FAF9-859D-EC40-F079-A7599B54790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D18E57CC-E2FC-BBA2-E694-8FAFA43BFA92}"/>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445225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4966AF-C671-50B0-C58D-42708EB07321}"/>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BE4709A8-92EF-0B75-05C3-3B03AEBF28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7218AB88-D86F-4E03-6EE1-EE0E92C3F80B}"/>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5" name="Footer Placeholder 4">
            <a:extLst>
              <a:ext uri="{FF2B5EF4-FFF2-40B4-BE49-F238E27FC236}">
                <a16:creationId xmlns="" xmlns:a16="http://schemas.microsoft.com/office/drawing/2014/main" id="{17A8089D-8185-897B-C758-915C92618B7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640FB6AE-B35E-148D-1FD6-CFA0B9F58D65}"/>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4210128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6612F96-9FE2-00A8-95AD-207A989DDF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29B251F7-FD6E-774E-68F8-3294BA2260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8623BF6-2FCB-C0EA-D2DB-BE32A563D8E5}"/>
              </a:ext>
            </a:extLst>
          </p:cNvPr>
          <p:cNvSpPr>
            <a:spLocks noGrp="1"/>
          </p:cNvSpPr>
          <p:nvPr>
            <p:ph type="dt" sz="half" idx="10"/>
          </p:nvPr>
        </p:nvSpPr>
        <p:spPr/>
        <p:txBody>
          <a:bodyPr/>
          <a:lstStyle/>
          <a:p>
            <a:fld id="{E0069C74-5DE2-684D-AF38-836D5321A97B}" type="datetimeFigureOut">
              <a:rPr lang="x-none" smtClean="0"/>
              <a:pPr/>
              <a:t>3/12/2026</a:t>
            </a:fld>
            <a:endParaRPr lang="x-none"/>
          </a:p>
        </p:txBody>
      </p:sp>
      <p:sp>
        <p:nvSpPr>
          <p:cNvPr id="5" name="Footer Placeholder 4">
            <a:extLst>
              <a:ext uri="{FF2B5EF4-FFF2-40B4-BE49-F238E27FC236}">
                <a16:creationId xmlns="" xmlns:a16="http://schemas.microsoft.com/office/drawing/2014/main" id="{74F50DD3-6C77-C814-7B4A-07BDC54C62D2}"/>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45B60F1F-E221-B210-14AA-D282D39816FD}"/>
              </a:ext>
            </a:extLst>
          </p:cNvPr>
          <p:cNvSpPr>
            <a:spLocks noGrp="1"/>
          </p:cNvSpPr>
          <p:nvPr>
            <p:ph type="sldNum" sz="quarter" idx="12"/>
          </p:nvPr>
        </p:nvSpPr>
        <p:spPr/>
        <p:txBody>
          <a:body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2672768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35FEF42-8D4C-3F02-70E3-A4749F8349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EFD77275-70A9-7DC5-38BB-3048097161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DAAB561-7844-6A03-D6E7-86B67542E4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69C74-5DE2-684D-AF38-836D5321A97B}" type="datetimeFigureOut">
              <a:rPr lang="x-none" smtClean="0"/>
              <a:pPr/>
              <a:t>3/12/2026</a:t>
            </a:fld>
            <a:endParaRPr lang="x-none"/>
          </a:p>
        </p:txBody>
      </p:sp>
      <p:sp>
        <p:nvSpPr>
          <p:cNvPr id="5" name="Footer Placeholder 4">
            <a:extLst>
              <a:ext uri="{FF2B5EF4-FFF2-40B4-BE49-F238E27FC236}">
                <a16:creationId xmlns="" xmlns:a16="http://schemas.microsoft.com/office/drawing/2014/main" id="{6708B3D5-D8E6-9163-C36D-AD637C21B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A69F4FD5-A351-28F2-F493-77F1473408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638359-FC32-E246-A0C0-B1BD27CA15B2}" type="slidenum">
              <a:rPr lang="x-none" smtClean="0"/>
              <a:pPr/>
              <a:t>‹#›</a:t>
            </a:fld>
            <a:endParaRPr lang="x-none"/>
          </a:p>
        </p:txBody>
      </p:sp>
    </p:spTree>
    <p:extLst>
      <p:ext uri="{BB962C8B-B14F-4D97-AF65-F5344CB8AC3E}">
        <p14:creationId xmlns="" xmlns:p14="http://schemas.microsoft.com/office/powerpoint/2010/main" val="1901999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freeloadbalancer.com/load-balancing-layer-4-and-layer-7" TargetMode="Externa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www.youtube.com/watch?v=aKMLgFVxZYk"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CBC14770-5677-9519-6345-15005674AC7C}"/>
              </a:ext>
            </a:extLst>
          </p:cNvPr>
          <p:cNvSpPr/>
          <p:nvPr/>
        </p:nvSpPr>
        <p:spPr>
          <a:xfrm>
            <a:off x="0" y="2057400"/>
            <a:ext cx="12192000" cy="2906486"/>
          </a:xfrm>
          <a:prstGeom prst="rect">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9D3D45B9-FF55-53AC-2C65-BB30D55EEBE0}"/>
              </a:ext>
            </a:extLst>
          </p:cNvPr>
          <p:cNvSpPr>
            <a:spLocks noGrp="1"/>
          </p:cNvSpPr>
          <p:nvPr>
            <p:ph type="ctrTitle"/>
          </p:nvPr>
        </p:nvSpPr>
        <p:spPr>
          <a:xfrm>
            <a:off x="1524000" y="2057400"/>
            <a:ext cx="9144000" cy="2387600"/>
          </a:xfrm>
        </p:spPr>
        <p:txBody>
          <a:bodyPr/>
          <a:lstStyle/>
          <a:p>
            <a:r>
              <a:rPr lang="en-US" b="1" dirty="0" smtClean="0">
                <a:solidFill>
                  <a:schemeClr val="bg1"/>
                </a:solidFill>
              </a:rPr>
              <a:t>Distributed and Cloud Operating Systems </a:t>
            </a:r>
            <a:endParaRPr lang="x-none" b="1" dirty="0">
              <a:solidFill>
                <a:schemeClr val="bg1"/>
              </a:solidFill>
              <a:latin typeface="Footlight MT Light" panose="0204060206030A020304" pitchFamily="18" charset="77"/>
            </a:endParaRPr>
          </a:p>
        </p:txBody>
      </p:sp>
    </p:spTree>
    <p:extLst>
      <p:ext uri="{BB962C8B-B14F-4D97-AF65-F5344CB8AC3E}">
        <p14:creationId xmlns="" xmlns:p14="http://schemas.microsoft.com/office/powerpoint/2010/main" val="38272292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Concepts</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b="1" dirty="0" smtClean="0"/>
              <a:t>Distributed Operating System (DOS)</a:t>
            </a:r>
            <a:r>
              <a:rPr lang="en-US" dirty="0" smtClean="0"/>
              <a:t> manages a collection of independent computers and makes them appear to users as a </a:t>
            </a:r>
            <a:r>
              <a:rPr lang="en-US" b="1" dirty="0" smtClean="0"/>
              <a:t>single unified system</a:t>
            </a:r>
            <a:r>
              <a:rPr lang="en-US" dirty="0" smtClean="0"/>
              <a:t>. The computers (called </a:t>
            </a:r>
            <a:r>
              <a:rPr lang="en-US" b="1" dirty="0" smtClean="0"/>
              <a:t>nodes</a:t>
            </a:r>
            <a:r>
              <a:rPr lang="en-US" dirty="0" smtClean="0"/>
              <a:t>) are connected through a network and cooperate to share resources such as processors, memory, files, and devices.</a:t>
            </a:r>
          </a:p>
          <a:p>
            <a:r>
              <a:rPr lang="en-US" dirty="0" smtClean="0"/>
              <a:t>The main goals of a distributed OS include:</a:t>
            </a:r>
          </a:p>
          <a:p>
            <a:pPr lvl="1"/>
            <a:r>
              <a:rPr lang="en-US" dirty="0" smtClean="0"/>
              <a:t>Resource sharing</a:t>
            </a:r>
          </a:p>
          <a:p>
            <a:pPr lvl="1"/>
            <a:r>
              <a:rPr lang="en-US" dirty="0" smtClean="0"/>
              <a:t>High performance through parallelism</a:t>
            </a:r>
          </a:p>
          <a:p>
            <a:pPr lvl="1"/>
            <a:r>
              <a:rPr lang="en-US" dirty="0" smtClean="0"/>
              <a:t>Reliability </a:t>
            </a:r>
            <a:r>
              <a:rPr lang="en-US" dirty="0" smtClean="0"/>
              <a:t>and fault tolerance</a:t>
            </a:r>
          </a:p>
          <a:p>
            <a:pPr lvl="1"/>
            <a:r>
              <a:rPr lang="en-US" dirty="0" smtClean="0"/>
              <a:t>Scalability</a:t>
            </a:r>
          </a:p>
          <a:p>
            <a:pPr lvl="1"/>
            <a:r>
              <a:rPr lang="en-US" dirty="0" smtClean="0"/>
              <a:t>Transparency to users</a:t>
            </a:r>
          </a:p>
          <a:p>
            <a:r>
              <a:rPr lang="en-US" dirty="0" smtClean="0"/>
              <a:t>Three fundamental concepts in distributed OS architecture are </a:t>
            </a:r>
            <a:endParaRPr lang="en-US" dirty="0" smtClean="0"/>
          </a:p>
          <a:p>
            <a:r>
              <a:rPr lang="en-US" b="1" dirty="0" smtClean="0"/>
              <a:t>Transparency</a:t>
            </a:r>
          </a:p>
          <a:p>
            <a:r>
              <a:rPr lang="en-US" b="1" dirty="0" smtClean="0"/>
              <a:t>Communication</a:t>
            </a:r>
          </a:p>
          <a:p>
            <a:r>
              <a:rPr lang="en-US" b="1" dirty="0" smtClean="0"/>
              <a:t>Synchronization</a:t>
            </a:r>
            <a:r>
              <a:rPr lang="en-US" dirty="0" smtClean="0"/>
              <a:t>.</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Transparency</a:t>
            </a:r>
            <a:endParaRPr lang="en-US" dirty="0"/>
          </a:p>
        </p:txBody>
      </p:sp>
      <p:sp>
        <p:nvSpPr>
          <p:cNvPr id="3" name="Content Placeholder 2"/>
          <p:cNvSpPr>
            <a:spLocks noGrp="1"/>
          </p:cNvSpPr>
          <p:nvPr>
            <p:ph idx="1"/>
          </p:nvPr>
        </p:nvSpPr>
        <p:spPr/>
        <p:txBody>
          <a:bodyPr/>
          <a:lstStyle/>
          <a:p>
            <a:r>
              <a:rPr lang="en-US" b="1" dirty="0" smtClean="0"/>
              <a:t>Transparency</a:t>
            </a:r>
            <a:r>
              <a:rPr lang="en-US" dirty="0" smtClean="0"/>
              <a:t> in a distributed operating system means hiding the complexity of the distributed system from users and applications so that the system appears as a </a:t>
            </a:r>
            <a:r>
              <a:rPr lang="en-US" b="1" dirty="0" smtClean="0"/>
              <a:t>single coherent system</a:t>
            </a:r>
            <a:r>
              <a:rPr lang="en-US" dirty="0" smtClean="0"/>
              <a:t>.</a:t>
            </a:r>
          </a:p>
          <a:p>
            <a:r>
              <a:rPr lang="en-US" dirty="0" smtClean="0"/>
              <a:t>The user does not need to know:</a:t>
            </a:r>
          </a:p>
          <a:p>
            <a:pPr lvl="1"/>
            <a:r>
              <a:rPr lang="en-US" dirty="0" smtClean="0"/>
              <a:t>Where resources are located</a:t>
            </a:r>
          </a:p>
          <a:p>
            <a:pPr lvl="1"/>
            <a:r>
              <a:rPr lang="en-US" dirty="0" smtClean="0"/>
              <a:t>How communication occurs</a:t>
            </a:r>
          </a:p>
          <a:p>
            <a:pPr lvl="1"/>
            <a:r>
              <a:rPr lang="en-US" dirty="0" smtClean="0"/>
              <a:t>Whether processes run locally or remotely</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Transparency</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1. Access Transparency</a:t>
            </a:r>
          </a:p>
          <a:p>
            <a:r>
              <a:rPr lang="en-US" dirty="0" smtClean="0"/>
              <a:t>Users access local and remote resources in the </a:t>
            </a:r>
            <a:r>
              <a:rPr lang="en-US" b="1" dirty="0" smtClean="0"/>
              <a:t>same way</a:t>
            </a:r>
            <a:r>
              <a:rPr lang="en-US" dirty="0" smtClean="0"/>
              <a:t>.</a:t>
            </a:r>
          </a:p>
          <a:p>
            <a:r>
              <a:rPr lang="en-US" dirty="0" smtClean="0"/>
              <a:t>Example</a:t>
            </a:r>
            <a:br>
              <a:rPr lang="en-US" dirty="0" smtClean="0"/>
            </a:br>
            <a:r>
              <a:rPr lang="en-US" dirty="0" smtClean="0"/>
              <a:t>Opening a file on another machine should be the same as opening a local file.</a:t>
            </a:r>
          </a:p>
          <a:p>
            <a:r>
              <a:rPr lang="en-US" dirty="0" smtClean="0"/>
              <a:t>Example command:</a:t>
            </a:r>
          </a:p>
          <a:p>
            <a:r>
              <a:rPr lang="en-US" dirty="0" smtClean="0"/>
              <a:t>open("data.txt")</a:t>
            </a:r>
          </a:p>
          <a:p>
            <a:r>
              <a:rPr lang="en-US" dirty="0" smtClean="0"/>
              <a:t>The OS decides whether the file is local or remote.</a:t>
            </a:r>
          </a:p>
          <a:p>
            <a:pPr>
              <a:buNone/>
            </a:pPr>
            <a:r>
              <a:rPr lang="en-US" b="1" dirty="0" smtClean="0"/>
              <a:t>2. Location Transparency</a:t>
            </a:r>
          </a:p>
          <a:p>
            <a:r>
              <a:rPr lang="en-US" dirty="0" smtClean="0"/>
              <a:t>Users do not need to know </a:t>
            </a:r>
            <a:r>
              <a:rPr lang="en-US" b="1" dirty="0" smtClean="0"/>
              <a:t>where the resource is physically located</a:t>
            </a:r>
            <a:r>
              <a:rPr lang="en-US" dirty="0" smtClean="0"/>
              <a:t>.</a:t>
            </a:r>
          </a:p>
          <a:p>
            <a:r>
              <a:rPr lang="en-US" dirty="0" smtClean="0"/>
              <a:t>Example</a:t>
            </a:r>
          </a:p>
          <a:p>
            <a:r>
              <a:rPr lang="en-US" dirty="0" smtClean="0"/>
              <a:t>A printer may be in another building, but users print without specifying its location.</a:t>
            </a:r>
          </a:p>
          <a:p>
            <a:r>
              <a:rPr lang="en-US" dirty="0" smtClean="0"/>
              <a:t>print document.pdf</a:t>
            </a:r>
          </a:p>
          <a:p>
            <a:r>
              <a:rPr lang="en-US" dirty="0" smtClean="0"/>
              <a:t>The system automatically routes the job.</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Transparency: Types of Transparency</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3. Migration Transparency</a:t>
            </a:r>
          </a:p>
          <a:p>
            <a:r>
              <a:rPr lang="en-US" dirty="0" smtClean="0"/>
              <a:t>Resources or processes may move from one node to another </a:t>
            </a:r>
            <a:r>
              <a:rPr lang="en-US" b="1" dirty="0" smtClean="0"/>
              <a:t>without affecting users or applications</a:t>
            </a:r>
            <a:r>
              <a:rPr lang="en-US" dirty="0" smtClean="0"/>
              <a:t>.</a:t>
            </a:r>
          </a:p>
          <a:p>
            <a:r>
              <a:rPr lang="en-US" dirty="0" smtClean="0"/>
              <a:t>Example</a:t>
            </a:r>
          </a:p>
          <a:p>
            <a:r>
              <a:rPr lang="en-US" dirty="0" smtClean="0"/>
              <a:t>A running process may move to another server for load balancing.</a:t>
            </a:r>
          </a:p>
          <a:p>
            <a:pPr>
              <a:buNone/>
            </a:pPr>
            <a:r>
              <a:rPr lang="en-US" b="1" dirty="0" smtClean="0"/>
              <a:t>4. Replication Transparency</a:t>
            </a:r>
          </a:p>
          <a:p>
            <a:r>
              <a:rPr lang="en-US" dirty="0" smtClean="0"/>
              <a:t>Multiple copies of resources may exist to improve reliability and performance.</a:t>
            </a:r>
          </a:p>
          <a:p>
            <a:r>
              <a:rPr lang="en-US" dirty="0" smtClean="0"/>
              <a:t>Example</a:t>
            </a:r>
          </a:p>
          <a:p>
            <a:r>
              <a:rPr lang="en-US" dirty="0" smtClean="0"/>
              <a:t>A distributed file system may maintain multiple copies of a file on different servers.</a:t>
            </a:r>
          </a:p>
          <a:p>
            <a:r>
              <a:rPr lang="en-US" dirty="0" smtClean="0"/>
              <a:t>Users still access it as:</a:t>
            </a:r>
          </a:p>
          <a:p>
            <a:r>
              <a:rPr lang="en-US" dirty="0" smtClean="0"/>
              <a:t>/home/data/report.txt</a:t>
            </a:r>
          </a:p>
          <a:p>
            <a:r>
              <a:rPr lang="en-US" dirty="0" smtClean="0"/>
              <a:t>without knowing which copy is used.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Transparency</a:t>
            </a:r>
            <a:br>
              <a:rPr lang="en-US" b="1" dirty="0" smtClean="0"/>
            </a:b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b="1" dirty="0" smtClean="0"/>
              <a:t>5. Concurrency Transparency</a:t>
            </a:r>
          </a:p>
          <a:p>
            <a:r>
              <a:rPr lang="en-US" dirty="0" smtClean="0"/>
              <a:t>Multiple users can access shared resources simultaneously </a:t>
            </a:r>
            <a:r>
              <a:rPr lang="en-US" b="1" dirty="0" smtClean="0"/>
              <a:t>without interference</a:t>
            </a:r>
            <a:r>
              <a:rPr lang="en-US" dirty="0" smtClean="0"/>
              <a:t>.</a:t>
            </a:r>
          </a:p>
          <a:p>
            <a:r>
              <a:rPr lang="en-US" dirty="0" smtClean="0"/>
              <a:t>Example</a:t>
            </a:r>
          </a:p>
          <a:p>
            <a:r>
              <a:rPr lang="en-US" dirty="0" smtClean="0"/>
              <a:t>Many users can read the same database at the same time.</a:t>
            </a:r>
          </a:p>
          <a:p>
            <a:pPr>
              <a:buNone/>
            </a:pPr>
            <a:r>
              <a:rPr lang="en-US" b="1" dirty="0" smtClean="0"/>
              <a:t>6. Failure Transparency</a:t>
            </a:r>
          </a:p>
          <a:p>
            <a:r>
              <a:rPr lang="en-US" dirty="0" smtClean="0"/>
              <a:t>System continues operating even if some nodes fail.</a:t>
            </a:r>
          </a:p>
          <a:p>
            <a:r>
              <a:rPr lang="en-US" dirty="0" smtClean="0"/>
              <a:t>Example</a:t>
            </a:r>
          </a:p>
          <a:p>
            <a:r>
              <a:rPr lang="en-US" dirty="0" smtClean="0"/>
              <a:t>If a server crashes, another replica automatically serves the data.</a:t>
            </a:r>
          </a:p>
          <a:p>
            <a:r>
              <a:rPr lang="en-US" b="1" dirty="0" smtClean="0"/>
              <a:t>Importance of Transparency</a:t>
            </a:r>
          </a:p>
          <a:p>
            <a:r>
              <a:rPr lang="en-US" dirty="0" smtClean="0"/>
              <a:t>Benefits include:</a:t>
            </a:r>
          </a:p>
          <a:p>
            <a:r>
              <a:rPr lang="en-US" dirty="0" smtClean="0"/>
              <a:t>Simplifies system usage</a:t>
            </a:r>
          </a:p>
          <a:p>
            <a:r>
              <a:rPr lang="en-US" dirty="0" smtClean="0"/>
              <a:t>Improves reliability</a:t>
            </a:r>
          </a:p>
          <a:p>
            <a:r>
              <a:rPr lang="en-US" dirty="0" smtClean="0"/>
              <a:t>Enhances system flexibility</a:t>
            </a:r>
          </a:p>
          <a:p>
            <a:r>
              <a:rPr lang="en-US" dirty="0" smtClean="0"/>
              <a:t>Hides network complexity</a:t>
            </a:r>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Communication</a:t>
            </a:r>
            <a:endParaRPr lang="en-US" b="1" dirty="0"/>
          </a:p>
        </p:txBody>
      </p:sp>
      <p:sp>
        <p:nvSpPr>
          <p:cNvPr id="3" name="Content Placeholder 2"/>
          <p:cNvSpPr>
            <a:spLocks noGrp="1"/>
          </p:cNvSpPr>
          <p:nvPr>
            <p:ph idx="1"/>
          </p:nvPr>
        </p:nvSpPr>
        <p:spPr/>
        <p:txBody>
          <a:bodyPr/>
          <a:lstStyle/>
          <a:p>
            <a:r>
              <a:rPr lang="en-US" dirty="0" smtClean="0"/>
              <a:t>In a distributed operating system, processes running on different machines must </a:t>
            </a:r>
            <a:r>
              <a:rPr lang="en-US" b="1" dirty="0" smtClean="0"/>
              <a:t>exchange information</a:t>
            </a:r>
            <a:r>
              <a:rPr lang="en-US" dirty="0" smtClean="0"/>
              <a:t> to cooperate. This is called </a:t>
            </a:r>
            <a:r>
              <a:rPr lang="en-US" b="1" dirty="0" err="1" smtClean="0"/>
              <a:t>interprocess</a:t>
            </a:r>
            <a:r>
              <a:rPr lang="en-US" b="1" dirty="0" smtClean="0"/>
              <a:t> communication (IPC)</a:t>
            </a:r>
            <a:r>
              <a:rPr lang="en-US" dirty="0" smtClean="0"/>
              <a:t>.</a:t>
            </a:r>
          </a:p>
          <a:p>
            <a:r>
              <a:rPr lang="en-US" dirty="0" smtClean="0"/>
              <a:t>Since processes are on different machines, communication occurs through the </a:t>
            </a:r>
            <a:r>
              <a:rPr lang="en-US" b="1" dirty="0" smtClean="0"/>
              <a:t>network</a:t>
            </a:r>
            <a:r>
              <a:rPr lang="en-US" dirty="0" smtClean="0"/>
              <a:t>.</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Communication</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1. Message Passing</a:t>
            </a:r>
          </a:p>
          <a:p>
            <a:r>
              <a:rPr lang="en-US" dirty="0" smtClean="0"/>
              <a:t>Processes communicate by sending and receiving messages.</a:t>
            </a:r>
          </a:p>
          <a:p>
            <a:r>
              <a:rPr lang="en-US" dirty="0" smtClean="0"/>
              <a:t>Basic operations:</a:t>
            </a:r>
          </a:p>
          <a:p>
            <a:r>
              <a:rPr lang="en-US" dirty="0" smtClean="0"/>
              <a:t>send(destination, message)</a:t>
            </a:r>
            <a:br>
              <a:rPr lang="en-US" dirty="0" smtClean="0"/>
            </a:br>
            <a:r>
              <a:rPr lang="en-US" dirty="0" smtClean="0"/>
              <a:t>receive(source, message)</a:t>
            </a:r>
          </a:p>
          <a:p>
            <a:r>
              <a:rPr lang="en-US" dirty="0" smtClean="0"/>
              <a:t>Example</a:t>
            </a:r>
          </a:p>
          <a:p>
            <a:r>
              <a:rPr lang="en-US" dirty="0" smtClean="0"/>
              <a:t>Process A sends data to Process B.</a:t>
            </a:r>
          </a:p>
          <a:p>
            <a:r>
              <a:rPr lang="en-US" dirty="0" smtClean="0"/>
              <a:t>send(B, "data")</a:t>
            </a:r>
            <a:br>
              <a:rPr lang="en-US" dirty="0" smtClean="0"/>
            </a:br>
            <a:r>
              <a:rPr lang="en-US" dirty="0" smtClean="0"/>
              <a:t>receive(A, </a:t>
            </a:r>
            <a:r>
              <a:rPr lang="en-US" dirty="0" err="1" smtClean="0"/>
              <a:t>msg</a:t>
            </a:r>
            <a:r>
              <a:rPr lang="en-US" dirty="0" smtClean="0"/>
              <a:t>)</a:t>
            </a:r>
          </a:p>
          <a:p>
            <a:r>
              <a:rPr lang="en-US" dirty="0" smtClean="0"/>
              <a:t>Advantages:</a:t>
            </a:r>
          </a:p>
          <a:p>
            <a:r>
              <a:rPr lang="en-US" dirty="0" smtClean="0"/>
              <a:t>Simple and flexible</a:t>
            </a:r>
          </a:p>
          <a:p>
            <a:r>
              <a:rPr lang="en-US" dirty="0" smtClean="0"/>
              <a:t>Works well in distributed systems</a:t>
            </a:r>
          </a:p>
          <a:p>
            <a:r>
              <a:rPr lang="en-US" dirty="0" smtClean="0"/>
              <a:t>Disadvantages:</a:t>
            </a:r>
          </a:p>
          <a:p>
            <a:r>
              <a:rPr lang="en-US" dirty="0" smtClean="0"/>
              <a:t>Communication overhead</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Communication</a:t>
            </a: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Remote Procedure Call (RPC)</a:t>
            </a:r>
          </a:p>
          <a:p>
            <a:r>
              <a:rPr lang="en-US" dirty="0" smtClean="0"/>
              <a:t>RPC allows a program to execute a procedure on another machine </a:t>
            </a:r>
            <a:r>
              <a:rPr lang="en-US" b="1" dirty="0" smtClean="0"/>
              <a:t>as if it were local</a:t>
            </a:r>
            <a:r>
              <a:rPr lang="en-US" dirty="0" smtClean="0"/>
              <a:t>.</a:t>
            </a:r>
          </a:p>
          <a:p>
            <a:r>
              <a:rPr lang="en-US" dirty="0" smtClean="0"/>
              <a:t>Example</a:t>
            </a:r>
          </a:p>
          <a:p>
            <a:r>
              <a:rPr lang="en-US" dirty="0" smtClean="0"/>
              <a:t>result = add(5,3)</a:t>
            </a:r>
          </a:p>
          <a:p>
            <a:r>
              <a:rPr lang="en-US" dirty="0" smtClean="0"/>
              <a:t>The function may actually execute on a remote server.</a:t>
            </a:r>
          </a:p>
          <a:p>
            <a:r>
              <a:rPr lang="en-US" dirty="0" smtClean="0"/>
              <a:t>RPC mechanism:</a:t>
            </a:r>
          </a:p>
          <a:p>
            <a:r>
              <a:rPr lang="en-US" dirty="0" smtClean="0"/>
              <a:t>Client calls procedure</a:t>
            </a:r>
          </a:p>
          <a:p>
            <a:r>
              <a:rPr lang="en-US" dirty="0" smtClean="0"/>
              <a:t>Client stub packages parameters</a:t>
            </a:r>
          </a:p>
          <a:p>
            <a:r>
              <a:rPr lang="en-US" dirty="0" smtClean="0"/>
              <a:t>Message sent over network</a:t>
            </a:r>
          </a:p>
          <a:p>
            <a:r>
              <a:rPr lang="en-US" dirty="0" smtClean="0"/>
              <a:t>Server stub unpacks parameters</a:t>
            </a:r>
          </a:p>
          <a:p>
            <a:r>
              <a:rPr lang="en-US" dirty="0" smtClean="0"/>
              <a:t>Procedure executed</a:t>
            </a:r>
          </a:p>
          <a:p>
            <a:r>
              <a:rPr lang="en-US" dirty="0" smtClean="0"/>
              <a:t>Result returned</a:t>
            </a:r>
          </a:p>
          <a:p>
            <a:r>
              <a:rPr lang="en-US" dirty="0" smtClean="0"/>
              <a:t>Advantages:</a:t>
            </a:r>
          </a:p>
          <a:p>
            <a:r>
              <a:rPr lang="en-US" dirty="0" smtClean="0"/>
              <a:t>Simplifies distributed programming</a:t>
            </a:r>
          </a:p>
          <a:p>
            <a:r>
              <a:rPr lang="en-US" dirty="0" smtClean="0"/>
              <a:t>Similar to normal function calls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Communication</a:t>
            </a:r>
            <a:endParaRPr lang="en-US" dirty="0"/>
          </a:p>
        </p:txBody>
      </p:sp>
      <p:sp>
        <p:nvSpPr>
          <p:cNvPr id="3" name="Content Placeholder 2"/>
          <p:cNvSpPr>
            <a:spLocks noGrp="1"/>
          </p:cNvSpPr>
          <p:nvPr>
            <p:ph idx="1"/>
          </p:nvPr>
        </p:nvSpPr>
        <p:spPr/>
        <p:txBody>
          <a:bodyPr/>
          <a:lstStyle/>
          <a:p>
            <a:r>
              <a:rPr lang="en-US" b="1" dirty="0" smtClean="0"/>
              <a:t>Remote Method Invocation (RMI)</a:t>
            </a:r>
          </a:p>
          <a:p>
            <a:r>
              <a:rPr lang="en-US" dirty="0" smtClean="0"/>
              <a:t>Used in object-oriented systems.</a:t>
            </a:r>
          </a:p>
          <a:p>
            <a:r>
              <a:rPr lang="en-US" dirty="0" smtClean="0"/>
              <a:t>Allows invoking methods of objects located on remote machines.</a:t>
            </a:r>
          </a:p>
          <a:p>
            <a:r>
              <a:rPr lang="en-US" dirty="0" smtClean="0"/>
              <a:t>Example (Java RMI):</a:t>
            </a:r>
          </a:p>
          <a:p>
            <a:r>
              <a:rPr lang="en-US" dirty="0" err="1" smtClean="0"/>
              <a:t>remoteObject.calculate</a:t>
            </a:r>
            <a:r>
              <a:rPr lang="en-US" dirty="0" smtClean="0"/>
              <a:t>()</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Communication</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Socket Communication</a:t>
            </a:r>
          </a:p>
          <a:p>
            <a:r>
              <a:rPr lang="en-US" dirty="0" smtClean="0"/>
              <a:t>Low-level communication mechanism using network sockets.</a:t>
            </a:r>
          </a:p>
          <a:p>
            <a:r>
              <a:rPr lang="en-US" dirty="0" smtClean="0"/>
              <a:t>Example (Client-Server):</a:t>
            </a:r>
          </a:p>
          <a:p>
            <a:r>
              <a:rPr lang="en-US" dirty="0" smtClean="0"/>
              <a:t>Client connects to server using:</a:t>
            </a:r>
          </a:p>
          <a:p>
            <a:r>
              <a:rPr lang="en-US" dirty="0" smtClean="0"/>
              <a:t>socket()</a:t>
            </a:r>
            <a:br>
              <a:rPr lang="en-US" dirty="0" smtClean="0"/>
            </a:br>
            <a:r>
              <a:rPr lang="en-US" dirty="0" smtClean="0"/>
              <a:t>connect()</a:t>
            </a:r>
            <a:br>
              <a:rPr lang="en-US" dirty="0" smtClean="0"/>
            </a:br>
            <a:r>
              <a:rPr lang="en-US" dirty="0" smtClean="0"/>
              <a:t>send()</a:t>
            </a:r>
            <a:br>
              <a:rPr lang="en-US" dirty="0" smtClean="0"/>
            </a:br>
            <a:r>
              <a:rPr lang="en-US" dirty="0" smtClean="0"/>
              <a:t>receive()</a:t>
            </a:r>
          </a:p>
          <a:p>
            <a:r>
              <a:rPr lang="en-US" dirty="0" smtClean="0"/>
              <a:t>Example applications:</a:t>
            </a:r>
          </a:p>
          <a:p>
            <a:r>
              <a:rPr lang="en-US" dirty="0" smtClean="0"/>
              <a:t>Web servers</a:t>
            </a:r>
          </a:p>
          <a:p>
            <a:r>
              <a:rPr lang="en-US" dirty="0" smtClean="0"/>
              <a:t>Chat systems</a:t>
            </a:r>
          </a:p>
          <a:p>
            <a:r>
              <a:rPr lang="en-US" dirty="0" smtClean="0"/>
              <a:t>Distributed databases</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Synchronization</a:t>
            </a:r>
            <a:endParaRPr lang="en-US" b="1" dirty="0"/>
          </a:p>
        </p:txBody>
      </p:sp>
      <p:sp>
        <p:nvSpPr>
          <p:cNvPr id="3" name="Content Placeholder 2"/>
          <p:cNvSpPr>
            <a:spLocks noGrp="1"/>
          </p:cNvSpPr>
          <p:nvPr>
            <p:ph idx="1"/>
          </p:nvPr>
        </p:nvSpPr>
        <p:spPr/>
        <p:txBody>
          <a:bodyPr/>
          <a:lstStyle/>
          <a:p>
            <a:r>
              <a:rPr lang="en-US" b="1" dirty="0" smtClean="0"/>
              <a:t>Synchronization</a:t>
            </a:r>
            <a:r>
              <a:rPr lang="en-US" dirty="0" smtClean="0"/>
              <a:t> ensures that multiple processes in a distributed system coordinate their execution correctly when accessing shared resources.</a:t>
            </a:r>
          </a:p>
          <a:p>
            <a:r>
              <a:rPr lang="en-US" dirty="0" smtClean="0"/>
              <a:t>Without synchronization:</a:t>
            </a:r>
          </a:p>
          <a:p>
            <a:pPr lvl="1"/>
            <a:r>
              <a:rPr lang="en-US" dirty="0" smtClean="0"/>
              <a:t>Race conditions occur</a:t>
            </a:r>
          </a:p>
          <a:p>
            <a:pPr lvl="1"/>
            <a:r>
              <a:rPr lang="en-US" dirty="0" smtClean="0"/>
              <a:t>Data inconsistency happens</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Synchronization</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Need for Synchronization</a:t>
            </a:r>
          </a:p>
          <a:p>
            <a:r>
              <a:rPr lang="en-US" dirty="0" smtClean="0"/>
              <a:t>Example problem</a:t>
            </a:r>
          </a:p>
          <a:p>
            <a:pPr lvl="1"/>
            <a:r>
              <a:rPr lang="en-US" dirty="0" smtClean="0"/>
              <a:t>Two </a:t>
            </a:r>
            <a:r>
              <a:rPr lang="en-US" dirty="0" smtClean="0"/>
              <a:t>processes updating a shared bank balance.</a:t>
            </a:r>
          </a:p>
          <a:p>
            <a:pPr lvl="1"/>
            <a:r>
              <a:rPr lang="en-US" dirty="0" smtClean="0"/>
              <a:t>Initial balance = 100</a:t>
            </a:r>
          </a:p>
          <a:p>
            <a:pPr lvl="1"/>
            <a:r>
              <a:rPr lang="en-US" dirty="0" smtClean="0"/>
              <a:t>Process A:</a:t>
            </a:r>
          </a:p>
          <a:p>
            <a:pPr lvl="1"/>
            <a:r>
              <a:rPr lang="en-US" dirty="0" smtClean="0"/>
              <a:t>balance = balance + 50</a:t>
            </a:r>
          </a:p>
          <a:p>
            <a:pPr lvl="1"/>
            <a:r>
              <a:rPr lang="en-US" dirty="0" smtClean="0"/>
              <a:t>Process B:</a:t>
            </a:r>
          </a:p>
          <a:p>
            <a:pPr lvl="1"/>
            <a:r>
              <a:rPr lang="en-US" dirty="0" smtClean="0"/>
              <a:t>balance = balance - 30</a:t>
            </a:r>
          </a:p>
          <a:p>
            <a:r>
              <a:rPr lang="en-US" dirty="0" smtClean="0"/>
              <a:t>If executed concurrently without synchronization, the final value may be incorrect.</a:t>
            </a:r>
          </a:p>
          <a:p>
            <a:r>
              <a:rPr lang="en-US" b="1" dirty="0" smtClean="0"/>
              <a:t>Synchronization Issues in Distributed Systems</a:t>
            </a:r>
          </a:p>
          <a:p>
            <a:r>
              <a:rPr lang="en-US" dirty="0" smtClean="0"/>
              <a:t>Synchronization is harder because:</a:t>
            </a:r>
          </a:p>
          <a:p>
            <a:pPr lvl="1"/>
            <a:r>
              <a:rPr lang="en-US" dirty="0" smtClean="0"/>
              <a:t>No shared memory</a:t>
            </a:r>
          </a:p>
          <a:p>
            <a:pPr lvl="1"/>
            <a:r>
              <a:rPr lang="en-US" dirty="0" smtClean="0"/>
              <a:t>No global clock</a:t>
            </a:r>
          </a:p>
          <a:p>
            <a:pPr lvl="1"/>
            <a:r>
              <a:rPr lang="en-US" dirty="0" smtClean="0"/>
              <a:t>Network delays</a:t>
            </a:r>
          </a:p>
          <a:p>
            <a:pPr lvl="1"/>
            <a:r>
              <a:rPr lang="en-US" dirty="0" smtClean="0"/>
              <a:t>Partial failures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Synchronization Techniques</a:t>
            </a:r>
            <a:br>
              <a:rPr lang="en-US" b="1" dirty="0" smtClean="0"/>
            </a:br>
            <a:endParaRPr lang="en-US" dirty="0"/>
          </a:p>
        </p:txBody>
      </p:sp>
      <p:sp>
        <p:nvSpPr>
          <p:cNvPr id="3" name="Content Placeholder 2"/>
          <p:cNvSpPr>
            <a:spLocks noGrp="1"/>
          </p:cNvSpPr>
          <p:nvPr>
            <p:ph idx="1"/>
          </p:nvPr>
        </p:nvSpPr>
        <p:spPr/>
        <p:txBody>
          <a:bodyPr>
            <a:normAutofit/>
          </a:bodyPr>
          <a:lstStyle/>
          <a:p>
            <a:r>
              <a:rPr lang="en-US" b="1" dirty="0" smtClean="0"/>
              <a:t>1. Distributed Mutual Exclusion</a:t>
            </a:r>
          </a:p>
          <a:p>
            <a:r>
              <a:rPr lang="en-US" dirty="0" smtClean="0"/>
              <a:t>Ensures only </a:t>
            </a:r>
            <a:r>
              <a:rPr lang="en-US" b="1" dirty="0" smtClean="0"/>
              <a:t>one process accesses a critical section at a time</a:t>
            </a:r>
            <a:r>
              <a:rPr lang="en-US" dirty="0" smtClean="0"/>
              <a:t>.</a:t>
            </a:r>
          </a:p>
          <a:p>
            <a:r>
              <a:rPr lang="en-US" dirty="0" smtClean="0"/>
              <a:t>Approaches include:</a:t>
            </a:r>
          </a:p>
          <a:p>
            <a:r>
              <a:rPr lang="en-US" dirty="0" smtClean="0"/>
              <a:t>Token-based algorithms</a:t>
            </a:r>
          </a:p>
          <a:p>
            <a:r>
              <a:rPr lang="en-US" dirty="0" smtClean="0"/>
              <a:t>Permission-based algorithms</a:t>
            </a:r>
          </a:p>
          <a:p>
            <a:r>
              <a:rPr lang="en-US" dirty="0" smtClean="0"/>
              <a:t>Example algorithms:</a:t>
            </a:r>
          </a:p>
          <a:p>
            <a:r>
              <a:rPr lang="en-US" dirty="0" err="1" smtClean="0"/>
              <a:t>Ricart–Agrawala</a:t>
            </a:r>
            <a:r>
              <a:rPr lang="en-US" dirty="0" smtClean="0"/>
              <a:t> Algorithm</a:t>
            </a:r>
            <a:br>
              <a:rPr lang="en-US" dirty="0" smtClean="0"/>
            </a:br>
            <a:r>
              <a:rPr lang="en-US" dirty="0" smtClean="0"/>
              <a:t>Token Ring Algorithm</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Synchronization Techniques</a:t>
            </a:r>
            <a:br>
              <a:rPr lang="en-US" b="1" dirty="0" smtClean="0"/>
            </a:b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2. Logical Clocks</a:t>
            </a:r>
          </a:p>
          <a:p>
            <a:r>
              <a:rPr lang="en-US" dirty="0" smtClean="0"/>
              <a:t>Since distributed systems lack a global clock, </a:t>
            </a:r>
            <a:r>
              <a:rPr lang="en-US" b="1" dirty="0" smtClean="0"/>
              <a:t>logical clocks</a:t>
            </a:r>
            <a:r>
              <a:rPr lang="en-US" dirty="0" smtClean="0"/>
              <a:t> order events.</a:t>
            </a:r>
          </a:p>
          <a:p>
            <a:r>
              <a:rPr lang="en-US" dirty="0" err="1" smtClean="0"/>
              <a:t>Lamport</a:t>
            </a:r>
            <a:r>
              <a:rPr lang="en-US" dirty="0" smtClean="0"/>
              <a:t> Clock concept:</a:t>
            </a:r>
          </a:p>
          <a:p>
            <a:r>
              <a:rPr lang="en-US" dirty="0" smtClean="0"/>
              <a:t>Each process maintains a logical counter.</a:t>
            </a:r>
          </a:p>
          <a:p>
            <a:r>
              <a:rPr lang="en-US" dirty="0" smtClean="0"/>
              <a:t>Rules:</a:t>
            </a:r>
          </a:p>
          <a:p>
            <a:r>
              <a:rPr lang="en-US" dirty="0" smtClean="0"/>
              <a:t>Increment counter before each event</a:t>
            </a:r>
          </a:p>
          <a:p>
            <a:r>
              <a:rPr lang="en-US" dirty="0" smtClean="0"/>
              <a:t>Send timestamp with message</a:t>
            </a:r>
          </a:p>
          <a:p>
            <a:r>
              <a:rPr lang="en-US" dirty="0" smtClean="0"/>
              <a:t>Receiver updates clock</a:t>
            </a:r>
          </a:p>
          <a:p>
            <a:r>
              <a:rPr lang="en-US" dirty="0" smtClean="0"/>
              <a:t>Used for:</a:t>
            </a:r>
          </a:p>
          <a:p>
            <a:r>
              <a:rPr lang="en-US" dirty="0" smtClean="0"/>
              <a:t>Event ordering</a:t>
            </a:r>
          </a:p>
          <a:p>
            <a:r>
              <a:rPr lang="en-US" dirty="0" smtClean="0"/>
              <a:t>Consistency</a:t>
            </a:r>
          </a:p>
          <a:p>
            <a:r>
              <a:rPr lang="en-US" b="1" dirty="0" smtClean="0"/>
              <a:t>3. Vector Clocks</a:t>
            </a:r>
          </a:p>
          <a:p>
            <a:r>
              <a:rPr lang="en-US" dirty="0" smtClean="0"/>
              <a:t>Improvement over </a:t>
            </a:r>
            <a:r>
              <a:rPr lang="en-US" dirty="0" err="1" smtClean="0"/>
              <a:t>Lamport</a:t>
            </a:r>
            <a:r>
              <a:rPr lang="en-US" dirty="0" smtClean="0"/>
              <a:t> clocks.</a:t>
            </a:r>
          </a:p>
          <a:p>
            <a:r>
              <a:rPr lang="en-US" dirty="0" smtClean="0"/>
              <a:t>Each process maintains a </a:t>
            </a:r>
            <a:r>
              <a:rPr lang="en-US" b="1" dirty="0" smtClean="0"/>
              <a:t>vector of counters</a:t>
            </a:r>
            <a:r>
              <a:rPr lang="en-US" dirty="0" smtClean="0"/>
              <a:t> to track causality between events.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Synchronization Techniques</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4. Distributed Deadlock Handling</a:t>
            </a:r>
          </a:p>
          <a:p>
            <a:r>
              <a:rPr lang="en-US" dirty="0" smtClean="0"/>
              <a:t>Deadlocks occur when processes wait indefinitely for resources.</a:t>
            </a:r>
          </a:p>
          <a:p>
            <a:r>
              <a:rPr lang="en-US" dirty="0" smtClean="0"/>
              <a:t>Solutions:</a:t>
            </a:r>
          </a:p>
          <a:p>
            <a:r>
              <a:rPr lang="en-US" dirty="0" smtClean="0"/>
              <a:t>Deadlock prevention</a:t>
            </a:r>
          </a:p>
          <a:p>
            <a:r>
              <a:rPr lang="en-US" dirty="0" smtClean="0"/>
              <a:t>Deadlock avoidance</a:t>
            </a:r>
          </a:p>
          <a:p>
            <a:r>
              <a:rPr lang="en-US" dirty="0" smtClean="0"/>
              <a:t>Deadlock detection</a:t>
            </a:r>
          </a:p>
          <a:p>
            <a:r>
              <a:rPr lang="en-US" b="1" dirty="0" smtClean="0"/>
              <a:t>Example: Synchronization in Distributed Database</a:t>
            </a:r>
          </a:p>
          <a:p>
            <a:r>
              <a:rPr lang="en-US" dirty="0" smtClean="0"/>
              <a:t>Suppose multiple users update the same record.</a:t>
            </a:r>
          </a:p>
          <a:p>
            <a:r>
              <a:rPr lang="en-US" dirty="0" smtClean="0"/>
              <a:t>Synchronization mechanisms include:</a:t>
            </a:r>
          </a:p>
          <a:p>
            <a:r>
              <a:rPr lang="en-US" dirty="0" smtClean="0"/>
              <a:t>Locking</a:t>
            </a:r>
          </a:p>
          <a:p>
            <a:r>
              <a:rPr lang="en-US" dirty="0" smtClean="0"/>
              <a:t>Timestamp ordering</a:t>
            </a:r>
          </a:p>
          <a:p>
            <a:r>
              <a:rPr lang="en-US" dirty="0" smtClean="0"/>
              <a:t>Two-phase commit protocol</a:t>
            </a:r>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Cloud Resource Management</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9" y="1412954"/>
            <a:ext cx="10515599" cy="4764009"/>
          </a:xfrm>
        </p:spPr>
        <p:txBody>
          <a:bodyPr>
            <a:normAutofit/>
          </a:bodyPr>
          <a:lstStyle/>
          <a:p>
            <a:r>
              <a:rPr lang="en-US" dirty="0">
                <a:latin typeface="Candara" panose="020E0502030303020204" pitchFamily="34" charset="0"/>
              </a:rPr>
              <a:t>Resource Management in cloud computing is the process of allocating, monitoring, optimizing, and releasing cloud resources so that applications run efficiently, cost is minimized, and performance requirements are met.</a:t>
            </a:r>
          </a:p>
          <a:p>
            <a:r>
              <a:rPr lang="en-US" dirty="0">
                <a:latin typeface="Candara" panose="020E0502030303020204" pitchFamily="34" charset="0"/>
              </a:rPr>
              <a:t>Cloud Resources Include: Compute (CPU, Virtual Machines, Containers), Memory (RAM), Storage and Network (Bandwidth, IPs, Load balancers)</a:t>
            </a:r>
          </a:p>
          <a:p>
            <a:r>
              <a:rPr lang="en-US" dirty="0">
                <a:latin typeface="Candara" panose="020E0502030303020204" pitchFamily="34" charset="0"/>
              </a:rPr>
              <a:t>Without proper resource management servers crash, slow response and money is wasted.</a:t>
            </a:r>
          </a:p>
        </p:txBody>
      </p:sp>
    </p:spTree>
    <p:extLst>
      <p:ext uri="{BB962C8B-B14F-4D97-AF65-F5344CB8AC3E}">
        <p14:creationId xmlns="" xmlns:p14="http://schemas.microsoft.com/office/powerpoint/2010/main" val="7623439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Cloud Resource Management</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9" y="1412954"/>
            <a:ext cx="10515599" cy="4764009"/>
          </a:xfrm>
        </p:spPr>
        <p:txBody>
          <a:bodyPr>
            <a:normAutofit fontScale="85000" lnSpcReduction="20000"/>
          </a:bodyPr>
          <a:lstStyle/>
          <a:p>
            <a:pPr marL="0" indent="0">
              <a:buNone/>
            </a:pPr>
            <a:r>
              <a:rPr lang="en-US" dirty="0">
                <a:latin typeface="Candara" panose="020E0502030303020204" pitchFamily="34" charset="0"/>
              </a:rPr>
              <a:t>Cloud resource management includes:</a:t>
            </a:r>
          </a:p>
          <a:p>
            <a:pPr marL="514350" indent="-514350">
              <a:buFont typeface="+mj-lt"/>
              <a:buAutoNum type="arabicPeriod"/>
            </a:pPr>
            <a:r>
              <a:rPr lang="en-US" b="1" dirty="0">
                <a:latin typeface="Candara" panose="020E0502030303020204" pitchFamily="34" charset="0"/>
              </a:rPr>
              <a:t>Resource Provisioning</a:t>
            </a:r>
          </a:p>
          <a:p>
            <a:pPr lvl="1"/>
            <a:r>
              <a:rPr lang="en-US" dirty="0">
                <a:latin typeface="Candara" panose="020E0502030303020204" pitchFamily="34" charset="0"/>
              </a:rPr>
              <a:t>Allocating resources when needed.</a:t>
            </a:r>
          </a:p>
          <a:p>
            <a:pPr lvl="1"/>
            <a:r>
              <a:rPr lang="en-US" dirty="0">
                <a:latin typeface="Candara" panose="020E0502030303020204" pitchFamily="34" charset="0"/>
              </a:rPr>
              <a:t>Example: Launching a new VM when traffic increases</a:t>
            </a:r>
          </a:p>
          <a:p>
            <a:pPr marL="514350" indent="-514350">
              <a:buFont typeface="+mj-lt"/>
              <a:buAutoNum type="arabicPeriod"/>
            </a:pPr>
            <a:r>
              <a:rPr lang="en-US" b="1" dirty="0">
                <a:latin typeface="Candara" panose="020E0502030303020204" pitchFamily="34" charset="0"/>
              </a:rPr>
              <a:t>Resource Scheduling</a:t>
            </a:r>
          </a:p>
          <a:p>
            <a:pPr lvl="1"/>
            <a:r>
              <a:rPr lang="en-US" dirty="0">
                <a:latin typeface="Candara" panose="020E0502030303020204" pitchFamily="34" charset="0"/>
              </a:rPr>
              <a:t>Deciding which task runs on which resource</a:t>
            </a:r>
          </a:p>
          <a:p>
            <a:pPr lvl="1"/>
            <a:r>
              <a:rPr lang="en-US" dirty="0">
                <a:latin typeface="Candara" panose="020E0502030303020204" pitchFamily="34" charset="0"/>
              </a:rPr>
              <a:t>Similar to CPU scheduling in OS, but at cloud scale</a:t>
            </a:r>
          </a:p>
          <a:p>
            <a:pPr marL="514350" indent="-514350">
              <a:buFont typeface="+mj-lt"/>
              <a:buAutoNum type="arabicPeriod"/>
            </a:pPr>
            <a:r>
              <a:rPr lang="en-US" b="1" dirty="0">
                <a:latin typeface="Candara" panose="020E0502030303020204" pitchFamily="34" charset="0"/>
              </a:rPr>
              <a:t>Resource Monitoring</a:t>
            </a:r>
          </a:p>
          <a:p>
            <a:pPr lvl="1"/>
            <a:r>
              <a:rPr lang="en-US" dirty="0">
                <a:latin typeface="Candara" panose="020E0502030303020204" pitchFamily="34" charset="0"/>
              </a:rPr>
              <a:t>Tracking usage of: CPU, Memory and Network traffic</a:t>
            </a:r>
          </a:p>
          <a:p>
            <a:pPr marL="514350" indent="-514350">
              <a:buFont typeface="+mj-lt"/>
              <a:buAutoNum type="arabicPeriod"/>
            </a:pPr>
            <a:r>
              <a:rPr lang="en-US" b="1" dirty="0">
                <a:latin typeface="Candara" panose="020E0502030303020204" pitchFamily="34" charset="0"/>
              </a:rPr>
              <a:t>Resource Optimization</a:t>
            </a:r>
          </a:p>
          <a:p>
            <a:pPr lvl="1"/>
            <a:r>
              <a:rPr lang="en-US" dirty="0">
                <a:latin typeface="Candara" panose="020E0502030303020204" pitchFamily="34" charset="0"/>
              </a:rPr>
              <a:t>Remove idle VMs</a:t>
            </a:r>
          </a:p>
          <a:p>
            <a:pPr lvl="1"/>
            <a:r>
              <a:rPr lang="en-US" dirty="0">
                <a:latin typeface="Candara" panose="020E0502030303020204" pitchFamily="34" charset="0"/>
              </a:rPr>
              <a:t>Resize over-provisioned machines</a:t>
            </a:r>
          </a:p>
          <a:p>
            <a:pPr marL="514350" indent="-514350">
              <a:buFont typeface="+mj-lt"/>
              <a:buAutoNum type="arabicPeriod"/>
            </a:pPr>
            <a:r>
              <a:rPr lang="en-US" b="1" dirty="0">
                <a:latin typeface="Candara" panose="020E0502030303020204" pitchFamily="34" charset="0"/>
              </a:rPr>
              <a:t>Resource Deallocation</a:t>
            </a:r>
          </a:p>
          <a:p>
            <a:pPr lvl="1"/>
            <a:r>
              <a:rPr lang="en-US" dirty="0">
                <a:latin typeface="Candara" panose="020E0502030303020204" pitchFamily="34" charset="0"/>
              </a:rPr>
              <a:t>Release unused resources to save cost</a:t>
            </a:r>
          </a:p>
        </p:txBody>
      </p:sp>
    </p:spTree>
    <p:extLst>
      <p:ext uri="{BB962C8B-B14F-4D97-AF65-F5344CB8AC3E}">
        <p14:creationId xmlns="" xmlns:p14="http://schemas.microsoft.com/office/powerpoint/2010/main" val="19411767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Resource Scaling in Cloud</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9" y="1412954"/>
            <a:ext cx="10515599" cy="4764009"/>
          </a:xfrm>
        </p:spPr>
        <p:txBody>
          <a:bodyPr>
            <a:normAutofit/>
          </a:bodyPr>
          <a:lstStyle/>
          <a:p>
            <a:r>
              <a:rPr lang="en-US" dirty="0">
                <a:latin typeface="Candara" panose="020E0502030303020204" pitchFamily="34" charset="0"/>
              </a:rPr>
              <a:t>Scaling is the ability of a cloud system to increase or decrease resources based on demand.</a:t>
            </a:r>
          </a:p>
          <a:p>
            <a:r>
              <a:rPr lang="en-US" dirty="0">
                <a:solidFill>
                  <a:schemeClr val="bg1"/>
                </a:solidFill>
                <a:highlight>
                  <a:srgbClr val="000000"/>
                </a:highlight>
                <a:latin typeface="Candara" panose="020E0502030303020204" pitchFamily="34" charset="0"/>
              </a:rPr>
              <a:t>Scaling = Adjusting system size according to traffic</a:t>
            </a:r>
          </a:p>
          <a:p>
            <a:r>
              <a:rPr lang="en-US" dirty="0">
                <a:latin typeface="Candara" panose="020E0502030303020204" pitchFamily="34" charset="0"/>
              </a:rPr>
              <a:t>When traffic is not constant the resources need to managed to attend all the requests in optimized way.</a:t>
            </a:r>
          </a:p>
          <a:p>
            <a:r>
              <a:rPr lang="en-US" dirty="0">
                <a:latin typeface="Candara" panose="020E0502030303020204" pitchFamily="34" charset="0"/>
              </a:rPr>
              <a:t>Scaling can be done manually or automatic; </a:t>
            </a:r>
          </a:p>
          <a:p>
            <a:pPr lvl="1"/>
            <a:r>
              <a:rPr lang="en-US" dirty="0">
                <a:latin typeface="Candara" panose="020E0502030303020204" pitchFamily="34" charset="0"/>
              </a:rPr>
              <a:t>In manual scaling, User manually adds/removes resources </a:t>
            </a:r>
          </a:p>
          <a:p>
            <a:pPr lvl="1"/>
            <a:r>
              <a:rPr lang="en-US" dirty="0">
                <a:latin typeface="Candara" panose="020E0502030303020204" pitchFamily="34" charset="0"/>
              </a:rPr>
              <a:t>In auto-scaling system performs scaling based on some trigger metrices such as CPU use &gt; 70% or requests/sec.</a:t>
            </a:r>
          </a:p>
          <a:p>
            <a:endParaRPr lang="en-US" dirty="0">
              <a:latin typeface="Candara" panose="020E0502030303020204" pitchFamily="34" charset="0"/>
            </a:endParaRPr>
          </a:p>
        </p:txBody>
      </p:sp>
    </p:spTree>
    <p:extLst>
      <p:ext uri="{BB962C8B-B14F-4D97-AF65-F5344CB8AC3E}">
        <p14:creationId xmlns="" xmlns:p14="http://schemas.microsoft.com/office/powerpoint/2010/main" val="24867158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Types of Cloud Scaling</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9" y="1412954"/>
            <a:ext cx="6785473" cy="5368943"/>
          </a:xfrm>
        </p:spPr>
        <p:txBody>
          <a:bodyPr>
            <a:normAutofit lnSpcReduction="10000"/>
          </a:bodyPr>
          <a:lstStyle/>
          <a:p>
            <a:r>
              <a:rPr lang="en-US" b="1" dirty="0">
                <a:latin typeface="Candara" panose="020E0502030303020204" pitchFamily="34" charset="0"/>
              </a:rPr>
              <a:t>Vertical Scaling: </a:t>
            </a:r>
            <a:r>
              <a:rPr lang="en-US" dirty="0">
                <a:latin typeface="Candara" panose="020E0502030303020204" pitchFamily="34" charset="0"/>
              </a:rPr>
              <a:t>Increasing resources of one machine</a:t>
            </a:r>
          </a:p>
          <a:p>
            <a:pPr lvl="1"/>
            <a:r>
              <a:rPr lang="en-US" dirty="0">
                <a:latin typeface="Candara" panose="020E0502030303020204" pitchFamily="34" charset="0"/>
              </a:rPr>
              <a:t>Example: RAM: 4GB → 8GB or CPU					 2 cores → 4 cores</a:t>
            </a:r>
          </a:p>
          <a:p>
            <a:pPr lvl="1"/>
            <a:r>
              <a:rPr lang="en-US" dirty="0">
                <a:latin typeface="Candara" panose="020E0502030303020204" pitchFamily="34" charset="0"/>
              </a:rPr>
              <a:t>Advantages: Simple, No code changes</a:t>
            </a:r>
          </a:p>
          <a:p>
            <a:pPr lvl="1"/>
            <a:r>
              <a:rPr lang="en-US" dirty="0">
                <a:latin typeface="Candara" panose="020E0502030303020204" pitchFamily="34" charset="0"/>
              </a:rPr>
              <a:t>Disadvantages: Hardware limit, Downtime required, Single point of failure</a:t>
            </a:r>
          </a:p>
          <a:p>
            <a:r>
              <a:rPr lang="en-US" b="1" dirty="0">
                <a:latin typeface="Candara" panose="020E0502030303020204" pitchFamily="34" charset="0"/>
              </a:rPr>
              <a:t>Horizontal Scaling: </a:t>
            </a:r>
            <a:r>
              <a:rPr lang="en-US" dirty="0">
                <a:latin typeface="Candara" panose="020E0502030303020204" pitchFamily="34" charset="0"/>
              </a:rPr>
              <a:t>Adding or removing multiple machines</a:t>
            </a:r>
          </a:p>
          <a:p>
            <a:pPr lvl="1"/>
            <a:r>
              <a:rPr lang="en-US" dirty="0">
                <a:latin typeface="Candara" panose="020E0502030303020204" pitchFamily="34" charset="0"/>
              </a:rPr>
              <a:t>Example: 1 server → 5 servers</a:t>
            </a:r>
          </a:p>
          <a:p>
            <a:pPr lvl="1"/>
            <a:r>
              <a:rPr lang="en-US" dirty="0">
                <a:latin typeface="Candara" panose="020E0502030303020204" pitchFamily="34" charset="0"/>
              </a:rPr>
              <a:t>Advantages: High availability, Fault tolerance, No single point of failure</a:t>
            </a:r>
          </a:p>
          <a:p>
            <a:pPr lvl="1"/>
            <a:r>
              <a:rPr lang="en-US" dirty="0">
                <a:latin typeface="Candara" panose="020E0502030303020204" pitchFamily="34" charset="0"/>
              </a:rPr>
              <a:t>Disadvantages: More complex, Requires load balancer</a:t>
            </a:r>
          </a:p>
        </p:txBody>
      </p:sp>
      <p:pic>
        <p:nvPicPr>
          <p:cNvPr id="1026" name="Picture 2" descr="What is Scalability in Cloud Computing? - Binadox">
            <a:extLst>
              <a:ext uri="{FF2B5EF4-FFF2-40B4-BE49-F238E27FC236}">
                <a16:creationId xmlns="" xmlns:a16="http://schemas.microsoft.com/office/drawing/2014/main" id="{ADB915EA-60EC-887D-F7C2-0CF3DFD34DE3}"/>
              </a:ext>
            </a:extLst>
          </p:cNvPr>
          <p:cNvPicPr>
            <a:picLocks noChangeAspect="1" noChangeArrowheads="1"/>
          </p:cNvPicPr>
          <p:nvPr/>
        </p:nvPicPr>
        <p:blipFill rotWithShape="1">
          <a:blip r:embed="rId2">
            <a:extLst>
              <a:ext uri="{28A0092B-C50C-407E-A947-70E740481C1C}">
                <a14:useLocalDpi xmlns="" xmlns:a14="http://schemas.microsoft.com/office/drawing/2010/main" val="0"/>
              </a:ext>
            </a:extLst>
          </a:blip>
          <a:srcRect l="8142" t="25349" r="68535"/>
          <a:stretch/>
        </p:blipFill>
        <p:spPr bwMode="auto">
          <a:xfrm>
            <a:off x="8866282" y="1434682"/>
            <a:ext cx="2038121" cy="2420916"/>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descr="What is Scalability in Cloud Computing? - Binadox">
            <a:extLst>
              <a:ext uri="{FF2B5EF4-FFF2-40B4-BE49-F238E27FC236}">
                <a16:creationId xmlns="" xmlns:a16="http://schemas.microsoft.com/office/drawing/2014/main" id="{71BA9122-3F3B-FDCE-2F40-3C4B319CF617}"/>
              </a:ext>
            </a:extLst>
          </p:cNvPr>
          <p:cNvPicPr>
            <a:picLocks noChangeAspect="1" noChangeArrowheads="1"/>
          </p:cNvPicPr>
          <p:nvPr/>
        </p:nvPicPr>
        <p:blipFill rotWithShape="1">
          <a:blip r:embed="rId2">
            <a:extLst>
              <a:ext uri="{28A0092B-C50C-407E-A947-70E740481C1C}">
                <a14:useLocalDpi xmlns="" xmlns:a14="http://schemas.microsoft.com/office/drawing/2010/main" val="0"/>
              </a:ext>
            </a:extLst>
          </a:blip>
          <a:srcRect l="47848" t="25529" r="10093" b="14274"/>
          <a:stretch/>
        </p:blipFill>
        <p:spPr bwMode="auto">
          <a:xfrm>
            <a:off x="7659934" y="4097425"/>
            <a:ext cx="3730128" cy="198114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6968961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9" y="1412954"/>
            <a:ext cx="10515599" cy="4764009"/>
          </a:xfrm>
        </p:spPr>
        <p:txBody>
          <a:bodyPr>
            <a:normAutofit/>
          </a:bodyPr>
          <a:lstStyle/>
          <a:p>
            <a:r>
              <a:rPr lang="en-US" dirty="0">
                <a:latin typeface="Candara" panose="020E0502030303020204" pitchFamily="34" charset="0"/>
              </a:rPr>
              <a:t>Load Balancing is the process of distributing incoming traffic across multiple servers to avoid overload.</a:t>
            </a:r>
          </a:p>
          <a:p>
            <a:r>
              <a:rPr lang="en-US" dirty="0">
                <a:latin typeface="Candara" panose="020E0502030303020204" pitchFamily="34" charset="0"/>
              </a:rPr>
              <a:t>Load balancer enables horizontal scaling and prevents server overload, improves response time, ensures high availability.</a:t>
            </a:r>
          </a:p>
          <a:p>
            <a:endParaRPr lang="en-US" dirty="0">
              <a:latin typeface="Candara" panose="020E0502030303020204" pitchFamily="34" charset="0"/>
            </a:endParaRPr>
          </a:p>
          <a:p>
            <a:endParaRPr lang="en-US" dirty="0">
              <a:latin typeface="Candara" panose="020E0502030303020204" pitchFamily="34" charset="0"/>
            </a:endParaRPr>
          </a:p>
          <a:p>
            <a:endParaRPr lang="en-US" dirty="0">
              <a:latin typeface="Candara" panose="020E0502030303020204" pitchFamily="34" charset="0"/>
            </a:endParaRPr>
          </a:p>
        </p:txBody>
      </p:sp>
      <p:pic>
        <p:nvPicPr>
          <p:cNvPr id="2050" name="Picture 2" descr="Network Diagram for Load Balancing">
            <a:extLst>
              <a:ext uri="{FF2B5EF4-FFF2-40B4-BE49-F238E27FC236}">
                <a16:creationId xmlns="" xmlns:a16="http://schemas.microsoft.com/office/drawing/2014/main" id="{9EB0E49F-E4BC-7251-E61B-C509AEB7D9F4}"/>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586293" y="3207871"/>
            <a:ext cx="7019410" cy="308478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8761283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9" y="1412954"/>
            <a:ext cx="10515599" cy="4764009"/>
          </a:xfrm>
        </p:spPr>
        <p:txBody>
          <a:bodyPr>
            <a:normAutofit fontScale="92500" lnSpcReduction="20000"/>
          </a:bodyPr>
          <a:lstStyle/>
          <a:p>
            <a:r>
              <a:rPr lang="en-US" dirty="0">
                <a:latin typeface="Candara" panose="020E0502030303020204" pitchFamily="34" charset="0"/>
              </a:rPr>
              <a:t>Load balancing algorithms can be categorized in two types:</a:t>
            </a:r>
          </a:p>
          <a:p>
            <a:r>
              <a:rPr lang="en-US" b="1" dirty="0">
                <a:latin typeface="Candara" panose="020E0502030303020204" pitchFamily="34" charset="0"/>
              </a:rPr>
              <a:t>Static Load Balancing</a:t>
            </a:r>
            <a:r>
              <a:rPr lang="en-US" dirty="0">
                <a:latin typeface="Candara" panose="020E0502030303020204" pitchFamily="34" charset="0"/>
              </a:rPr>
              <a:t>: predetermined assignment of tasks or resources without considering real-time variations in the system.</a:t>
            </a:r>
          </a:p>
          <a:p>
            <a:pPr lvl="1"/>
            <a:r>
              <a:rPr lang="en-US" dirty="0">
                <a:latin typeface="Candara" panose="020E0502030303020204" pitchFamily="34" charset="0"/>
              </a:rPr>
              <a:t>This approach relies on a fixed allocation of workloads to servers or resources, and it doesn’t adapt to changes during runtime.</a:t>
            </a:r>
          </a:p>
          <a:p>
            <a:pPr lvl="1"/>
            <a:r>
              <a:rPr lang="en-US" b="1" dirty="0">
                <a:latin typeface="Candara" panose="020E0502030303020204" pitchFamily="34" charset="0"/>
              </a:rPr>
              <a:t>Round Robin</a:t>
            </a:r>
          </a:p>
          <a:p>
            <a:pPr lvl="1"/>
            <a:r>
              <a:rPr lang="en-US" b="1" dirty="0">
                <a:latin typeface="Candara" panose="020E0502030303020204" pitchFamily="34" charset="0"/>
              </a:rPr>
              <a:t>Weighted Round Robin</a:t>
            </a:r>
          </a:p>
          <a:p>
            <a:pPr lvl="1"/>
            <a:r>
              <a:rPr lang="en-US" b="1" dirty="0">
                <a:latin typeface="Candara" panose="020E0502030303020204" pitchFamily="34" charset="0"/>
              </a:rPr>
              <a:t>Source IP hash</a:t>
            </a:r>
          </a:p>
          <a:p>
            <a:r>
              <a:rPr lang="en-US" b="1" dirty="0">
                <a:latin typeface="Candara" panose="020E0502030303020204" pitchFamily="34" charset="0"/>
              </a:rPr>
              <a:t>Dynamic Load Balancing: </a:t>
            </a:r>
            <a:r>
              <a:rPr lang="en-US" dirty="0">
                <a:latin typeface="Candara" panose="020E0502030303020204" pitchFamily="34" charset="0"/>
              </a:rPr>
              <a:t>involves making real-time decisions about how to distribute incoming network traffic or computational workload across multiple servers or resources. </a:t>
            </a:r>
          </a:p>
          <a:p>
            <a:pPr lvl="1"/>
            <a:r>
              <a:rPr lang="en-US" dirty="0">
                <a:latin typeface="Candara" panose="020E0502030303020204" pitchFamily="34" charset="0"/>
              </a:rPr>
              <a:t>This approach adapts to the changing conditions of the system, such as variations in server load, network traffic, or resource availability.</a:t>
            </a:r>
          </a:p>
          <a:p>
            <a:pPr lvl="1"/>
            <a:r>
              <a:rPr lang="en-US" b="1" dirty="0">
                <a:latin typeface="Candara" panose="020E0502030303020204" pitchFamily="34" charset="0"/>
              </a:rPr>
              <a:t>Least Connection Method</a:t>
            </a:r>
          </a:p>
          <a:p>
            <a:pPr lvl="1"/>
            <a:r>
              <a:rPr lang="en-US" b="1" dirty="0">
                <a:latin typeface="Candara" panose="020E0502030303020204" pitchFamily="34" charset="0"/>
              </a:rPr>
              <a:t>Least Response Time Method</a:t>
            </a:r>
          </a:p>
        </p:txBody>
      </p:sp>
    </p:spTree>
    <p:extLst>
      <p:ext uri="{BB962C8B-B14F-4D97-AF65-F5344CB8AC3E}">
        <p14:creationId xmlns="" xmlns:p14="http://schemas.microsoft.com/office/powerpoint/2010/main" val="10982179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10515600" cy="4764009"/>
          </a:xfrm>
        </p:spPr>
        <p:txBody>
          <a:bodyPr>
            <a:normAutofit/>
          </a:bodyPr>
          <a:lstStyle/>
          <a:p>
            <a:pPr marL="0" indent="0">
              <a:buNone/>
            </a:pPr>
            <a:r>
              <a:rPr lang="en-US" sz="2400" b="1" dirty="0">
                <a:solidFill>
                  <a:schemeClr val="bg1"/>
                </a:solidFill>
                <a:highlight>
                  <a:srgbClr val="000000"/>
                </a:highlight>
                <a:latin typeface="Candara" panose="020E0502030303020204" pitchFamily="34" charset="0"/>
              </a:rPr>
              <a:t>Round Robin </a:t>
            </a:r>
          </a:p>
          <a:p>
            <a:r>
              <a:rPr lang="en-US" sz="2400" dirty="0">
                <a:latin typeface="Candara" panose="020E0502030303020204" pitchFamily="34" charset="0"/>
              </a:rPr>
              <a:t>Requests are distributed across the servers in a sequential or rotational manner. </a:t>
            </a:r>
          </a:p>
          <a:p>
            <a:r>
              <a:rPr lang="en-US" sz="2400" dirty="0">
                <a:latin typeface="Candara" panose="020E0502030303020204" pitchFamily="34" charset="0"/>
              </a:rPr>
              <a:t>It is easy to implement but it doesn’t consider the load already on a server so there is a risk that one of the servers receives a lot of requests and becomes overloaded.</a:t>
            </a:r>
          </a:p>
        </p:txBody>
      </p:sp>
      <p:pic>
        <p:nvPicPr>
          <p:cNvPr id="3" name="Picture 2">
            <a:extLst>
              <a:ext uri="{FF2B5EF4-FFF2-40B4-BE49-F238E27FC236}">
                <a16:creationId xmlns="" xmlns:a16="http://schemas.microsoft.com/office/drawing/2014/main" id="{C1AE351F-1C91-1901-8B41-6B80C453A3F8}"/>
              </a:ext>
            </a:extLst>
          </p:cNvPr>
          <p:cNvPicPr>
            <a:picLocks noChangeAspect="1"/>
          </p:cNvPicPr>
          <p:nvPr/>
        </p:nvPicPr>
        <p:blipFill rotWithShape="1">
          <a:blip r:embed="rId2">
            <a:extLst>
              <a:ext uri="{BEBA8EAE-BF5A-486C-A8C5-ECC9F3942E4B}">
                <a14:imgProps xmlns="" xmlns:a14="http://schemas.microsoft.com/office/drawing/2010/main">
                  <a14:imgLayer r:embed="rId3">
                    <a14:imgEffect>
                      <a14:sharpenSoften amount="50000"/>
                    </a14:imgEffect>
                    <a14:imgEffect>
                      <a14:brightnessContrast bright="20000" contrast="-40000"/>
                    </a14:imgEffect>
                  </a14:imgLayer>
                </a14:imgProps>
              </a:ext>
            </a:extLst>
          </a:blip>
          <a:srcRect l="4979" t="6220" r="4483" b="14993"/>
          <a:stretch/>
        </p:blipFill>
        <p:spPr>
          <a:xfrm>
            <a:off x="3310759" y="3669047"/>
            <a:ext cx="6400799" cy="2784991"/>
          </a:xfrm>
          <a:prstGeom prst="rect">
            <a:avLst/>
          </a:prstGeom>
        </p:spPr>
      </p:pic>
    </p:spTree>
    <p:extLst>
      <p:ext uri="{BB962C8B-B14F-4D97-AF65-F5344CB8AC3E}">
        <p14:creationId xmlns="" xmlns:p14="http://schemas.microsoft.com/office/powerpoint/2010/main" val="5840174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10515600" cy="4764009"/>
          </a:xfrm>
        </p:spPr>
        <p:txBody>
          <a:bodyPr>
            <a:normAutofit/>
          </a:bodyPr>
          <a:lstStyle/>
          <a:p>
            <a:pPr marL="0" indent="0">
              <a:buNone/>
            </a:pPr>
            <a:r>
              <a:rPr lang="en-US" sz="2400" b="1" dirty="0">
                <a:solidFill>
                  <a:schemeClr val="bg1"/>
                </a:solidFill>
                <a:highlight>
                  <a:srgbClr val="000000"/>
                </a:highlight>
                <a:latin typeface="Candara" panose="020E0502030303020204" pitchFamily="34" charset="0"/>
              </a:rPr>
              <a:t>Weighted Round Robin </a:t>
            </a:r>
          </a:p>
          <a:p>
            <a:r>
              <a:rPr lang="en-US" sz="2400" dirty="0">
                <a:latin typeface="Candara" panose="020E0502030303020204" pitchFamily="34" charset="0"/>
              </a:rPr>
              <a:t>Each of the resources in a list is provided a weighted score. </a:t>
            </a:r>
          </a:p>
          <a:p>
            <a:r>
              <a:rPr lang="en-US" sz="2400" dirty="0">
                <a:latin typeface="Candara" panose="020E0502030303020204" pitchFamily="34" charset="0"/>
              </a:rPr>
              <a:t>Depending on the weighted score the request is distributed to these servers. </a:t>
            </a:r>
          </a:p>
          <a:p>
            <a:r>
              <a:rPr lang="en-US" sz="2400" dirty="0">
                <a:latin typeface="Candara" panose="020E0502030303020204" pitchFamily="34" charset="0"/>
              </a:rPr>
              <a:t>Servers with higher weights are given a larger proportion of the requests.</a:t>
            </a:r>
          </a:p>
          <a:p>
            <a:r>
              <a:rPr lang="en-US" sz="2400" dirty="0">
                <a:latin typeface="Candara" panose="020E0502030303020204" pitchFamily="34" charset="0"/>
              </a:rPr>
              <a:t>The distribution is cyclic, similar to the round-robin technique, but with each server receiving a number of requests proportional to its weight.</a:t>
            </a:r>
          </a:p>
          <a:p>
            <a:r>
              <a:rPr lang="en-US" sz="2400" dirty="0">
                <a:latin typeface="Candara" panose="020E0502030303020204" pitchFamily="34" charset="0"/>
              </a:rPr>
              <a:t>If a server reaches its processing capacity, it may start rejecting or queuing additional requests, depending on the server's specific behavior.</a:t>
            </a:r>
          </a:p>
          <a:p>
            <a:r>
              <a:rPr lang="en-US" sz="2400" dirty="0">
                <a:latin typeface="Candara" panose="020E0502030303020204" pitchFamily="34" charset="0"/>
              </a:rPr>
              <a:t>When to use Weighted Round Robin Load Balancing Algorithm?</a:t>
            </a:r>
          </a:p>
          <a:p>
            <a:pPr lvl="1"/>
            <a:r>
              <a:rPr lang="en-US" sz="2000" dirty="0">
                <a:latin typeface="Candara" panose="020E0502030303020204" pitchFamily="34" charset="0"/>
              </a:rPr>
              <a:t>When servers have different capacities or performance levels.</a:t>
            </a:r>
          </a:p>
          <a:p>
            <a:pPr lvl="1"/>
            <a:r>
              <a:rPr lang="en-US" sz="2000" dirty="0">
                <a:latin typeface="Candara" panose="020E0502030303020204" pitchFamily="34" charset="0"/>
              </a:rPr>
              <a:t>Ideal for environments where servers vary in resources (CPU, memory, etc.).</a:t>
            </a:r>
          </a:p>
          <a:p>
            <a:endParaRPr lang="en-US" sz="2400" dirty="0">
              <a:latin typeface="Candara" panose="020E0502030303020204" pitchFamily="34" charset="0"/>
            </a:endParaRPr>
          </a:p>
          <a:p>
            <a:endParaRPr lang="en-US" sz="2400" dirty="0">
              <a:latin typeface="Candara" panose="020E0502030303020204" pitchFamily="34" charset="0"/>
            </a:endParaRPr>
          </a:p>
        </p:txBody>
      </p:sp>
    </p:spTree>
    <p:extLst>
      <p:ext uri="{BB962C8B-B14F-4D97-AF65-F5344CB8AC3E}">
        <p14:creationId xmlns="" xmlns:p14="http://schemas.microsoft.com/office/powerpoint/2010/main" val="9637862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10515600" cy="4764009"/>
          </a:xfrm>
        </p:spPr>
        <p:txBody>
          <a:bodyPr>
            <a:normAutofit/>
          </a:bodyPr>
          <a:lstStyle/>
          <a:p>
            <a:pPr marL="0" indent="0">
              <a:buNone/>
            </a:pPr>
            <a:r>
              <a:rPr lang="en-US" sz="2400" b="1" dirty="0">
                <a:solidFill>
                  <a:schemeClr val="bg1"/>
                </a:solidFill>
                <a:highlight>
                  <a:srgbClr val="000000"/>
                </a:highlight>
                <a:latin typeface="Candara" panose="020E0502030303020204" pitchFamily="34" charset="0"/>
              </a:rPr>
              <a:t>Weighted Round Robin </a:t>
            </a:r>
          </a:p>
          <a:p>
            <a:r>
              <a:rPr lang="en-US" sz="2400" dirty="0">
                <a:latin typeface="Candara" panose="020E0502030303020204" pitchFamily="34" charset="0"/>
              </a:rPr>
              <a:t>Let's say you have three servers with weights: Server1 (weight 0.3), Server2 (weight 0.2), and Server3 (weight 0.1). The total weight is 0.3 + 0.2 + 0.1 = 0.6. </a:t>
            </a:r>
          </a:p>
          <a:p>
            <a:r>
              <a:rPr lang="en-US" sz="2400" dirty="0">
                <a:latin typeface="Candara" panose="020E0502030303020204" pitchFamily="34" charset="0"/>
              </a:rPr>
              <a:t>During each cycle, Server1 would receive 0.3/0.6 (50%) of the requests, Server2 would receive 0.2/0.6 (33.33%), and Server3 would receive 0.1/0.6 (16.67%).</a:t>
            </a:r>
          </a:p>
        </p:txBody>
      </p:sp>
      <p:pic>
        <p:nvPicPr>
          <p:cNvPr id="3" name="Picture 2">
            <a:extLst>
              <a:ext uri="{FF2B5EF4-FFF2-40B4-BE49-F238E27FC236}">
                <a16:creationId xmlns="" xmlns:a16="http://schemas.microsoft.com/office/drawing/2014/main" id="{1B069CB5-2BF9-0C8C-312D-397B62DE6505}"/>
              </a:ext>
            </a:extLst>
          </p:cNvPr>
          <p:cNvPicPr>
            <a:picLocks noChangeAspect="1"/>
          </p:cNvPicPr>
          <p:nvPr/>
        </p:nvPicPr>
        <p:blipFill rotWithShape="1">
          <a:blip r:embed="rId2">
            <a:extLst>
              <a:ext uri="{BEBA8EAE-BF5A-486C-A8C5-ECC9F3942E4B}">
                <a14:imgProps xmlns="" xmlns:a14="http://schemas.microsoft.com/office/drawing/2010/main">
                  <a14:imgLayer r:embed="rId3">
                    <a14:imgEffect>
                      <a14:brightnessContrast bright="20000" contrast="-40000"/>
                    </a14:imgEffect>
                  </a14:imgLayer>
                </a14:imgProps>
              </a:ext>
            </a:extLst>
          </a:blip>
          <a:srcRect b="8704"/>
          <a:stretch/>
        </p:blipFill>
        <p:spPr>
          <a:xfrm>
            <a:off x="2637658" y="3429000"/>
            <a:ext cx="6916683" cy="3157347"/>
          </a:xfrm>
          <a:prstGeom prst="rect">
            <a:avLst/>
          </a:prstGeom>
        </p:spPr>
      </p:pic>
    </p:spTree>
    <p:extLst>
      <p:ext uri="{BB962C8B-B14F-4D97-AF65-F5344CB8AC3E}">
        <p14:creationId xmlns="" xmlns:p14="http://schemas.microsoft.com/office/powerpoint/2010/main" val="15144461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10515600" cy="4764009"/>
          </a:xfrm>
        </p:spPr>
        <p:txBody>
          <a:bodyPr>
            <a:normAutofit/>
          </a:bodyPr>
          <a:lstStyle/>
          <a:p>
            <a:pPr marL="0" indent="0">
              <a:buNone/>
            </a:pPr>
            <a:r>
              <a:rPr lang="en-US" sz="2400" b="1" dirty="0">
                <a:solidFill>
                  <a:schemeClr val="bg1"/>
                </a:solidFill>
                <a:highlight>
                  <a:srgbClr val="000000"/>
                </a:highlight>
                <a:latin typeface="Candara" panose="020E0502030303020204" pitchFamily="34" charset="0"/>
              </a:rPr>
              <a:t>Source IP Hash</a:t>
            </a:r>
          </a:p>
          <a:p>
            <a:r>
              <a:rPr lang="en-US" sz="2400" dirty="0">
                <a:latin typeface="Candara" panose="020E0502030303020204" pitchFamily="34" charset="0"/>
              </a:rPr>
              <a:t>Incoming requests among a set of servers are distributed based on the hash value of the source IP address.</a:t>
            </a:r>
          </a:p>
          <a:p>
            <a:r>
              <a:rPr lang="en-US" sz="2400" dirty="0">
                <a:latin typeface="Candara" panose="020E0502030303020204" pitchFamily="34" charset="0"/>
              </a:rPr>
              <a:t>This algorithm aims to ensure that requests originating from the same source IP address are consistently directed to the same server.</a:t>
            </a:r>
          </a:p>
          <a:p>
            <a:r>
              <a:rPr lang="en-US" sz="2400" dirty="0">
                <a:latin typeface="Candara" panose="020E0502030303020204" pitchFamily="34" charset="0"/>
              </a:rPr>
              <a:t>This is beneficial for applications that require maintaining session information or state.</a:t>
            </a:r>
          </a:p>
        </p:txBody>
      </p:sp>
      <p:pic>
        <p:nvPicPr>
          <p:cNvPr id="5" name="Picture 4">
            <a:extLst>
              <a:ext uri="{FF2B5EF4-FFF2-40B4-BE49-F238E27FC236}">
                <a16:creationId xmlns="" xmlns:a16="http://schemas.microsoft.com/office/drawing/2014/main" id="{6F53CBC3-E41F-9E86-2679-71769924DB5A}"/>
              </a:ext>
            </a:extLst>
          </p:cNvPr>
          <p:cNvPicPr>
            <a:picLocks noChangeAspect="1"/>
          </p:cNvPicPr>
          <p:nvPr/>
        </p:nvPicPr>
        <p:blipFill rotWithShape="1">
          <a:blip r:embed="rId2">
            <a:extLst>
              <a:ext uri="{BEBA8EAE-BF5A-486C-A8C5-ECC9F3942E4B}">
                <a14:imgProps xmlns="" xmlns:a14="http://schemas.microsoft.com/office/drawing/2010/main">
                  <a14:imgLayer r:embed="rId3">
                    <a14:imgEffect>
                      <a14:brightnessContrast bright="20000" contrast="-40000"/>
                    </a14:imgEffect>
                  </a14:imgLayer>
                </a14:imgProps>
              </a:ext>
            </a:extLst>
          </a:blip>
          <a:srcRect b="14662"/>
          <a:stretch/>
        </p:blipFill>
        <p:spPr>
          <a:xfrm>
            <a:off x="2920998" y="3964590"/>
            <a:ext cx="6350000" cy="2709479"/>
          </a:xfrm>
          <a:prstGeom prst="rect">
            <a:avLst/>
          </a:prstGeom>
        </p:spPr>
      </p:pic>
    </p:spTree>
    <p:extLst>
      <p:ext uri="{BB962C8B-B14F-4D97-AF65-F5344CB8AC3E}">
        <p14:creationId xmlns="" xmlns:p14="http://schemas.microsoft.com/office/powerpoint/2010/main" val="20859039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10515600" cy="4764009"/>
          </a:xfrm>
        </p:spPr>
        <p:txBody>
          <a:bodyPr>
            <a:normAutofit/>
          </a:bodyPr>
          <a:lstStyle/>
          <a:p>
            <a:pPr marL="0" indent="0">
              <a:buNone/>
            </a:pPr>
            <a:r>
              <a:rPr lang="en-US" sz="2400" b="1" dirty="0">
                <a:solidFill>
                  <a:schemeClr val="bg1"/>
                </a:solidFill>
                <a:highlight>
                  <a:srgbClr val="000000"/>
                </a:highlight>
                <a:latin typeface="Candara" panose="020E0502030303020204" pitchFamily="34" charset="0"/>
              </a:rPr>
              <a:t>Least Connection Method</a:t>
            </a:r>
          </a:p>
          <a:p>
            <a:r>
              <a:rPr lang="en-US" sz="2400" dirty="0">
                <a:latin typeface="Candara" panose="020E0502030303020204" pitchFamily="34" charset="0"/>
              </a:rPr>
              <a:t>Assigns new requests to the server with the fewest active connections. </a:t>
            </a:r>
          </a:p>
          <a:p>
            <a:r>
              <a:rPr lang="en-US" sz="2400" dirty="0">
                <a:latin typeface="Candara" panose="020E0502030303020204" pitchFamily="34" charset="0"/>
              </a:rPr>
              <a:t>The idea is to distribute incoming workloads in a way that minimizes the current load on each server, aiming for a balanced distribution of connections across all available resources. </a:t>
            </a:r>
          </a:p>
          <a:p>
            <a:r>
              <a:rPr lang="en-US" sz="2400" dirty="0">
                <a:latin typeface="Candara" panose="020E0502030303020204" pitchFamily="34" charset="0"/>
              </a:rPr>
              <a:t>Load balancer needs to do some additional computing to identify the server with the least number of connections and the evaluation is based on the current load on the server. </a:t>
            </a:r>
          </a:p>
          <a:p>
            <a:r>
              <a:rPr lang="en-US" sz="2400" dirty="0">
                <a:latin typeface="Candara" panose="020E0502030303020204" pitchFamily="34" charset="0"/>
              </a:rPr>
              <a:t>Ideal for applications where some requests take longer to process than others (e.g., video streaming or large file uploads).</a:t>
            </a:r>
          </a:p>
          <a:p>
            <a:r>
              <a:rPr lang="en-US" sz="2400" dirty="0">
                <a:latin typeface="Candara" panose="020E0502030303020204" pitchFamily="34" charset="0"/>
              </a:rPr>
              <a:t>Useful when some connections stay active longer, as it ensures new requests go to servers with fewer active connections.</a:t>
            </a:r>
          </a:p>
        </p:txBody>
      </p:sp>
    </p:spTree>
    <p:extLst>
      <p:ext uri="{BB962C8B-B14F-4D97-AF65-F5344CB8AC3E}">
        <p14:creationId xmlns="" xmlns:p14="http://schemas.microsoft.com/office/powerpoint/2010/main" val="2450135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4960304" cy="5050908"/>
          </a:xfrm>
        </p:spPr>
        <p:txBody>
          <a:bodyPr>
            <a:normAutofit/>
          </a:bodyPr>
          <a:lstStyle/>
          <a:p>
            <a:pPr marL="0" indent="0">
              <a:buNone/>
            </a:pPr>
            <a:r>
              <a:rPr lang="en-US" sz="2400" b="1" dirty="0">
                <a:solidFill>
                  <a:schemeClr val="bg1"/>
                </a:solidFill>
                <a:highlight>
                  <a:srgbClr val="000000"/>
                </a:highlight>
                <a:latin typeface="Candara" panose="020E0502030303020204" pitchFamily="34" charset="0"/>
              </a:rPr>
              <a:t>Least Connection Method</a:t>
            </a:r>
          </a:p>
          <a:p>
            <a:r>
              <a:rPr lang="en-US" sz="2400" dirty="0">
                <a:latin typeface="Candara" panose="020E0502030303020204" pitchFamily="34" charset="0"/>
              </a:rPr>
              <a:t>Benefits:</a:t>
            </a:r>
          </a:p>
          <a:p>
            <a:pPr lvl="1"/>
            <a:r>
              <a:rPr lang="en-US" sz="2000" dirty="0">
                <a:latin typeface="Candara" panose="020E0502030303020204" pitchFamily="34" charset="0"/>
              </a:rPr>
              <a:t>Balanced Load: Distributes traffic to servers with the fewest active connections.</a:t>
            </a:r>
          </a:p>
          <a:p>
            <a:pPr lvl="1"/>
            <a:r>
              <a:rPr lang="en-US" sz="2000" dirty="0">
                <a:latin typeface="Candara" panose="020E0502030303020204" pitchFamily="34" charset="0"/>
              </a:rPr>
              <a:t>Dynamic: Adapts to changing server workloads.</a:t>
            </a:r>
          </a:p>
          <a:p>
            <a:r>
              <a:rPr lang="en-US" sz="2400" dirty="0">
                <a:latin typeface="Candara" panose="020E0502030303020204" pitchFamily="34" charset="0"/>
              </a:rPr>
              <a:t>Drawbacks:</a:t>
            </a:r>
          </a:p>
          <a:p>
            <a:pPr lvl="1"/>
            <a:r>
              <a:rPr lang="en-US" sz="2000" dirty="0">
                <a:latin typeface="Candara" panose="020E0502030303020204" pitchFamily="34" charset="0"/>
              </a:rPr>
              <a:t>Ignored Capacities: Ignores server capacities; a server with fewer connections may still have less capacity.</a:t>
            </a:r>
          </a:p>
          <a:p>
            <a:pPr lvl="1"/>
            <a:r>
              <a:rPr lang="en-US" sz="2000" dirty="0">
                <a:latin typeface="Candara" panose="020E0502030303020204" pitchFamily="34" charset="0"/>
              </a:rPr>
              <a:t>Sticky Sessions: May not be suitable for scenarios requiring session persistence.</a:t>
            </a:r>
          </a:p>
        </p:txBody>
      </p:sp>
      <p:pic>
        <p:nvPicPr>
          <p:cNvPr id="3" name="Picture 2">
            <a:extLst>
              <a:ext uri="{FF2B5EF4-FFF2-40B4-BE49-F238E27FC236}">
                <a16:creationId xmlns="" xmlns:a16="http://schemas.microsoft.com/office/drawing/2014/main" id="{16CF0937-20B7-BAF6-FDF3-92381076F088}"/>
              </a:ext>
            </a:extLst>
          </p:cNvPr>
          <p:cNvPicPr>
            <a:picLocks noChangeAspect="1"/>
          </p:cNvPicPr>
          <p:nvPr/>
        </p:nvPicPr>
        <p:blipFill rotWithShape="1">
          <a:blip r:embed="rId2">
            <a:extLst>
              <a:ext uri="{BEBA8EAE-BF5A-486C-A8C5-ECC9F3942E4B}">
                <a14:imgProps xmlns="" xmlns:a14="http://schemas.microsoft.com/office/drawing/2010/main">
                  <a14:imgLayer r:embed="rId3">
                    <a14:imgEffect>
                      <a14:brightnessContrast bright="20000" contrast="-40000"/>
                    </a14:imgEffect>
                  </a14:imgLayer>
                </a14:imgProps>
              </a:ext>
            </a:extLst>
          </a:blip>
          <a:srcRect r="14539" b="10690"/>
          <a:stretch/>
        </p:blipFill>
        <p:spPr>
          <a:xfrm>
            <a:off x="5798502" y="2388865"/>
            <a:ext cx="5931044" cy="3099085"/>
          </a:xfrm>
          <a:prstGeom prst="rect">
            <a:avLst/>
          </a:prstGeom>
        </p:spPr>
      </p:pic>
    </p:spTree>
    <p:extLst>
      <p:ext uri="{BB962C8B-B14F-4D97-AF65-F5344CB8AC3E}">
        <p14:creationId xmlns="" xmlns:p14="http://schemas.microsoft.com/office/powerpoint/2010/main" val="10930307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lstStyle/>
          <a:p>
            <a:r>
              <a:rPr lang="en-US" b="1" dirty="0">
                <a:solidFill>
                  <a:schemeClr val="bg1"/>
                </a:solidFill>
                <a:latin typeface="Footlight MT Light" panose="0204060206030A020304" pitchFamily="18" charset="77"/>
                <a:cs typeface="Bangla MN" pitchFamily="2" charset="0"/>
              </a:rPr>
              <a:t>Load Balancing Algorithms  </a:t>
            </a:r>
            <a:endParaRPr lang="x-none"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10515600" cy="4764009"/>
          </a:xfrm>
        </p:spPr>
        <p:txBody>
          <a:bodyPr>
            <a:normAutofit/>
          </a:bodyPr>
          <a:lstStyle/>
          <a:p>
            <a:pPr marL="0" indent="0">
              <a:buNone/>
            </a:pPr>
            <a:r>
              <a:rPr lang="en-US" sz="2400" b="1" dirty="0">
                <a:solidFill>
                  <a:schemeClr val="bg1"/>
                </a:solidFill>
                <a:highlight>
                  <a:srgbClr val="000000"/>
                </a:highlight>
                <a:latin typeface="Candara" panose="020E0502030303020204" pitchFamily="34" charset="0"/>
              </a:rPr>
              <a:t>Least Response Time Method</a:t>
            </a:r>
          </a:p>
          <a:p>
            <a:r>
              <a:rPr lang="en-US" sz="2400" dirty="0">
                <a:latin typeface="Candara" panose="020E0502030303020204" pitchFamily="34" charset="0"/>
              </a:rPr>
              <a:t>Directs new requests to the server with the quickest response time. </a:t>
            </a:r>
          </a:p>
          <a:p>
            <a:r>
              <a:rPr lang="en-US" sz="2400" dirty="0">
                <a:latin typeface="Candara" panose="020E0502030303020204" pitchFamily="34" charset="0"/>
              </a:rPr>
              <a:t>It considers the historical performance of servers to make decisions about where to route incoming requests, optimizing for faster processing.</a:t>
            </a:r>
          </a:p>
          <a:p>
            <a:r>
              <a:rPr lang="en-US" sz="2400" dirty="0">
                <a:latin typeface="Candara" panose="020E0502030303020204" pitchFamily="34" charset="0"/>
              </a:rPr>
              <a:t>The dynamic aspect comes from the continuous monitoring of server response times and the adaptive nature of the algorithm to route incoming requests to the server with the historically lowest response time.</a:t>
            </a:r>
          </a:p>
          <a:p>
            <a:endParaRPr lang="en-US" sz="2400" dirty="0">
              <a:latin typeface="Candara" panose="020E0502030303020204" pitchFamily="34" charset="0"/>
            </a:endParaRPr>
          </a:p>
          <a:p>
            <a:endParaRPr lang="en-US" sz="2400" dirty="0">
              <a:latin typeface="Candara" panose="020E0502030303020204" pitchFamily="34" charset="0"/>
            </a:endParaRPr>
          </a:p>
        </p:txBody>
      </p:sp>
      <p:pic>
        <p:nvPicPr>
          <p:cNvPr id="3" name="Picture 2">
            <a:extLst>
              <a:ext uri="{FF2B5EF4-FFF2-40B4-BE49-F238E27FC236}">
                <a16:creationId xmlns="" xmlns:a16="http://schemas.microsoft.com/office/drawing/2014/main" id="{D87117F9-CC7D-A2AD-1524-91E8FD1183C3}"/>
              </a:ext>
            </a:extLst>
          </p:cNvPr>
          <p:cNvPicPr>
            <a:picLocks noChangeAspect="1"/>
          </p:cNvPicPr>
          <p:nvPr/>
        </p:nvPicPr>
        <p:blipFill rotWithShape="1">
          <a:blip r:embed="rId2">
            <a:extLst>
              <a:ext uri="{BEBA8EAE-BF5A-486C-A8C5-ECC9F3942E4B}">
                <a14:imgProps xmlns="" xmlns:a14="http://schemas.microsoft.com/office/drawing/2010/main">
                  <a14:imgLayer r:embed="rId3">
                    <a14:imgEffect>
                      <a14:brightnessContrast bright="20000" contrast="-40000"/>
                    </a14:imgEffect>
                  </a14:imgLayer>
                </a14:imgProps>
              </a:ext>
            </a:extLst>
          </a:blip>
          <a:srcRect t="9531" b="16979"/>
          <a:stretch/>
        </p:blipFill>
        <p:spPr>
          <a:xfrm>
            <a:off x="2920998" y="4278397"/>
            <a:ext cx="6350000" cy="2333297"/>
          </a:xfrm>
          <a:prstGeom prst="rect">
            <a:avLst/>
          </a:prstGeom>
        </p:spPr>
      </p:pic>
    </p:spTree>
    <p:extLst>
      <p:ext uri="{BB962C8B-B14F-4D97-AF65-F5344CB8AC3E}">
        <p14:creationId xmlns="" xmlns:p14="http://schemas.microsoft.com/office/powerpoint/2010/main" val="24636009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DC690AC-4F62-D007-DDBA-05BF7C11F1C8}"/>
              </a:ext>
            </a:extLst>
          </p:cNvPr>
          <p:cNvSpPr/>
          <p:nvPr/>
        </p:nvSpPr>
        <p:spPr>
          <a:xfrm>
            <a:off x="0" y="64813"/>
            <a:ext cx="12192000" cy="12324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 name="Title 1">
            <a:extLst>
              <a:ext uri="{FF2B5EF4-FFF2-40B4-BE49-F238E27FC236}">
                <a16:creationId xmlns="" xmlns:a16="http://schemas.microsoft.com/office/drawing/2014/main" id="{C308B9F1-0C29-79C2-592D-043CB4A4A462}"/>
              </a:ext>
            </a:extLst>
          </p:cNvPr>
          <p:cNvSpPr>
            <a:spLocks noGrp="1"/>
          </p:cNvSpPr>
          <p:nvPr>
            <p:ph type="title"/>
          </p:nvPr>
        </p:nvSpPr>
        <p:spPr>
          <a:xfrm>
            <a:off x="838200" y="76102"/>
            <a:ext cx="10515600" cy="1325563"/>
          </a:xfrm>
        </p:spPr>
        <p:txBody>
          <a:bodyPr>
            <a:normAutofit/>
          </a:bodyPr>
          <a:lstStyle/>
          <a:p>
            <a:r>
              <a:rPr lang="en-US" sz="3600" b="1" dirty="0">
                <a:solidFill>
                  <a:schemeClr val="bg1"/>
                </a:solidFill>
                <a:latin typeface="Footlight MT Light" panose="0204060206030A020304" pitchFamily="18" charset="77"/>
                <a:cs typeface="Bangla MN" pitchFamily="2" charset="0"/>
              </a:rPr>
              <a:t>Layer 4 Load Balancer vs Layer 7 Load Balancer</a:t>
            </a:r>
            <a:endParaRPr lang="x-none" sz="3600" b="1" dirty="0">
              <a:solidFill>
                <a:schemeClr val="bg1"/>
              </a:solidFill>
              <a:latin typeface="Footlight MT Light" panose="0204060206030A020304" pitchFamily="18" charset="77"/>
              <a:cs typeface="Bangla MN" pitchFamily="2" charset="0"/>
            </a:endParaRPr>
          </a:p>
        </p:txBody>
      </p:sp>
      <p:sp>
        <p:nvSpPr>
          <p:cNvPr id="9" name="Content Placeholder 8">
            <a:extLst>
              <a:ext uri="{FF2B5EF4-FFF2-40B4-BE49-F238E27FC236}">
                <a16:creationId xmlns="" xmlns:a16="http://schemas.microsoft.com/office/drawing/2014/main" id="{697624E2-8BEE-FEAA-4ED0-9F4DF6AB8D12}"/>
              </a:ext>
            </a:extLst>
          </p:cNvPr>
          <p:cNvSpPr>
            <a:spLocks noGrp="1"/>
          </p:cNvSpPr>
          <p:nvPr>
            <p:ph idx="1"/>
          </p:nvPr>
        </p:nvSpPr>
        <p:spPr>
          <a:xfrm>
            <a:off x="838198" y="1412954"/>
            <a:ext cx="10515600" cy="4764009"/>
          </a:xfrm>
        </p:spPr>
        <p:txBody>
          <a:bodyPr>
            <a:normAutofit/>
          </a:bodyPr>
          <a:lstStyle/>
          <a:p>
            <a:r>
              <a:rPr lang="en-US" sz="2400" dirty="0">
                <a:latin typeface="Candara" panose="020E0502030303020204" pitchFamily="34" charset="0"/>
              </a:rPr>
              <a:t>Load balancers operate at different layers of the OSI model</a:t>
            </a:r>
          </a:p>
          <a:p>
            <a:pPr lvl="1"/>
            <a:r>
              <a:rPr lang="en-US" sz="2000" dirty="0">
                <a:latin typeface="Candara" panose="020E0502030303020204" pitchFamily="34" charset="0"/>
              </a:rPr>
              <a:t>A Layer 4 load balancer forwards traffic based on: IP address, Port number, TCP/UDP session. It does not inspect application data.</a:t>
            </a:r>
          </a:p>
          <a:p>
            <a:pPr lvl="1"/>
            <a:r>
              <a:rPr lang="en-US" sz="2000" dirty="0">
                <a:latin typeface="Candara" panose="020E0502030303020204" pitchFamily="34" charset="0"/>
              </a:rPr>
              <a:t>Layer 4 load balancer is blind to content. It only sees where the packet comes from and where it goes.</a:t>
            </a:r>
          </a:p>
          <a:p>
            <a:pPr lvl="1"/>
            <a:r>
              <a:rPr lang="en-US" sz="2000" dirty="0">
                <a:latin typeface="Candara" panose="020E0502030303020204" pitchFamily="34" charset="0"/>
              </a:rPr>
              <a:t>A Layer 7 load balancer understands application protocols like HTTP / HTTPS, REST APIs, </a:t>
            </a:r>
            <a:r>
              <a:rPr lang="en-US" sz="2000" dirty="0" err="1">
                <a:latin typeface="Candara" panose="020E0502030303020204" pitchFamily="34" charset="0"/>
              </a:rPr>
              <a:t>WebSockets</a:t>
            </a:r>
            <a:r>
              <a:rPr lang="en-US" sz="2000" dirty="0">
                <a:latin typeface="Candara" panose="020E0502030303020204" pitchFamily="34" charset="0"/>
              </a:rPr>
              <a:t> and it can make decisions based on content.</a:t>
            </a:r>
          </a:p>
          <a:p>
            <a:pPr lvl="1"/>
            <a:r>
              <a:rPr lang="en-US" sz="2000" dirty="0">
                <a:latin typeface="Candara" panose="020E0502030303020204" pitchFamily="34" charset="0"/>
              </a:rPr>
              <a:t>Layer 7 load balancer understands what the request is asking for. So suitable for Content-Based Routing, URL-Based Routing, Cookie-Based Routing, </a:t>
            </a:r>
            <a:r>
              <a:rPr lang="en-US" sz="2000" dirty="0" err="1">
                <a:latin typeface="Candara" panose="020E0502030303020204" pitchFamily="34" charset="0"/>
              </a:rPr>
              <a:t>etc</a:t>
            </a:r>
            <a:endParaRPr lang="en-US" sz="2000" dirty="0">
              <a:latin typeface="Candara" panose="020E0502030303020204" pitchFamily="34" charset="0"/>
            </a:endParaRPr>
          </a:p>
          <a:p>
            <a:pPr marL="0" indent="0">
              <a:buNone/>
            </a:pPr>
            <a:endParaRPr lang="en-US" sz="2400" dirty="0">
              <a:latin typeface="Candara" panose="020E0502030303020204" pitchFamily="34" charset="0"/>
            </a:endParaRPr>
          </a:p>
        </p:txBody>
      </p:sp>
      <p:pic>
        <p:nvPicPr>
          <p:cNvPr id="10" name="Picture 9">
            <a:extLst>
              <a:ext uri="{FF2B5EF4-FFF2-40B4-BE49-F238E27FC236}">
                <a16:creationId xmlns="" xmlns:a16="http://schemas.microsoft.com/office/drawing/2014/main" id="{F06ED826-137C-D457-78E2-038617F87CB7}"/>
              </a:ext>
            </a:extLst>
          </p:cNvPr>
          <p:cNvPicPr>
            <a:picLocks noChangeAspect="1"/>
          </p:cNvPicPr>
          <p:nvPr/>
        </p:nvPicPr>
        <p:blipFill>
          <a:blip r:embed="rId2"/>
          <a:stretch>
            <a:fillRect/>
          </a:stretch>
        </p:blipFill>
        <p:spPr>
          <a:xfrm>
            <a:off x="2579667" y="4285405"/>
            <a:ext cx="7032662" cy="2319282"/>
          </a:xfrm>
          <a:prstGeom prst="rect">
            <a:avLst/>
          </a:prstGeom>
        </p:spPr>
      </p:pic>
      <p:sp>
        <p:nvSpPr>
          <p:cNvPr id="12" name="TextBox 11">
            <a:extLst>
              <a:ext uri="{FF2B5EF4-FFF2-40B4-BE49-F238E27FC236}">
                <a16:creationId xmlns="" xmlns:a16="http://schemas.microsoft.com/office/drawing/2014/main" id="{0DBD4469-D403-E6AE-6576-4EE29E4F42E6}"/>
              </a:ext>
            </a:extLst>
          </p:cNvPr>
          <p:cNvSpPr txBox="1"/>
          <p:nvPr/>
        </p:nvSpPr>
        <p:spPr>
          <a:xfrm rot="16200000">
            <a:off x="-2696687" y="3198167"/>
            <a:ext cx="6231570" cy="461665"/>
          </a:xfrm>
          <a:prstGeom prst="rect">
            <a:avLst/>
          </a:prstGeom>
          <a:noFill/>
        </p:spPr>
        <p:txBody>
          <a:bodyPr wrap="square">
            <a:spAutoFit/>
          </a:bodyPr>
          <a:lstStyle/>
          <a:p>
            <a:r>
              <a:rPr lang="en-US" sz="1200" dirty="0">
                <a:hlinkClick r:id="rId3"/>
              </a:rPr>
              <a:t>https://freeloadbalancer.com/load-balancing-layer-4-and-layer-7</a:t>
            </a:r>
            <a:endParaRPr lang="en-US" sz="1200" dirty="0"/>
          </a:p>
          <a:p>
            <a:r>
              <a:rPr lang="en-US" sz="1200" dirty="0">
                <a:hlinkClick r:id="rId4"/>
              </a:rPr>
              <a:t>https://www.youtube.com/watch?v=aKMLgFVxZYk</a:t>
            </a:r>
            <a:endParaRPr lang="en-US" sz="1200" dirty="0"/>
          </a:p>
        </p:txBody>
      </p:sp>
    </p:spTree>
    <p:extLst>
      <p:ext uri="{BB962C8B-B14F-4D97-AF65-F5344CB8AC3E}">
        <p14:creationId xmlns="" xmlns:p14="http://schemas.microsoft.com/office/powerpoint/2010/main" val="21022236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Resource Management in Cloud </a:t>
            </a:r>
            <a:r>
              <a:rPr lang="fr-FR" dirty="0" err="1" smtClean="0"/>
              <a:t>Environments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Resource Management in Cloud Environments</a:t>
            </a:r>
            <a:r>
              <a:rPr lang="en-US" dirty="0" smtClean="0"/>
              <a:t> refers to the process of </a:t>
            </a:r>
            <a:r>
              <a:rPr lang="en-US" b="1" dirty="0" smtClean="0"/>
              <a:t>allocating, scheduling, monitoring, and optimizing computing resources</a:t>
            </a:r>
            <a:r>
              <a:rPr lang="en-US" dirty="0" smtClean="0"/>
              <a:t> in a cloud infrastructure. Cloud resources include computing power, storage, memory, network bandwidth, and applications that are delivered over the internet.</a:t>
            </a:r>
          </a:p>
          <a:p>
            <a:r>
              <a:rPr lang="en-US" dirty="0" smtClean="0"/>
              <a:t>In cloud computing, resources are shared among many users (multi-tenancy). Therefore, efficient resource management is essential to ensure:</a:t>
            </a:r>
          </a:p>
          <a:p>
            <a:r>
              <a:rPr lang="en-US" dirty="0" smtClean="0"/>
              <a:t>High performance</a:t>
            </a:r>
          </a:p>
          <a:p>
            <a:r>
              <a:rPr lang="en-US" dirty="0" smtClean="0"/>
              <a:t>Efficient utilization of resources</a:t>
            </a:r>
          </a:p>
          <a:p>
            <a:r>
              <a:rPr lang="en-US" dirty="0" smtClean="0"/>
              <a:t>Scalability</a:t>
            </a:r>
          </a:p>
          <a:p>
            <a:r>
              <a:rPr lang="en-US" dirty="0" smtClean="0"/>
              <a:t>Cost effectiveness</a:t>
            </a:r>
          </a:p>
          <a:p>
            <a:r>
              <a:rPr lang="en-US" dirty="0" smtClean="0"/>
              <a:t>Service reliability</a:t>
            </a:r>
          </a:p>
          <a:p>
            <a:r>
              <a:rPr lang="en-US" dirty="0" smtClean="0"/>
              <a:t>Cloud service providers such as Amazon Web Services, Microsoft Azure, and Google Cloud Platform use advanced resource management mechanisms to dynamically distribute resources among users.</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of Resource Management</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1. Efficient Resource Utilization</a:t>
            </a:r>
          </a:p>
          <a:p>
            <a:r>
              <a:rPr lang="en-US" dirty="0" smtClean="0"/>
              <a:t>Cloud resources should be used efficiently so that idle resources are minimized.</a:t>
            </a:r>
          </a:p>
          <a:p>
            <a:r>
              <a:rPr lang="en-US" dirty="0" smtClean="0"/>
              <a:t>Example:</a:t>
            </a:r>
            <a:br>
              <a:rPr lang="en-US" dirty="0" smtClean="0"/>
            </a:br>
            <a:r>
              <a:rPr lang="en-US" dirty="0" smtClean="0"/>
              <a:t>A server with 64 GB RAM should not remain unused while other servers are overloaded.</a:t>
            </a:r>
          </a:p>
          <a:p>
            <a:r>
              <a:rPr lang="en-US" b="1" dirty="0" smtClean="0"/>
              <a:t>2. Scalability</a:t>
            </a:r>
          </a:p>
          <a:p>
            <a:r>
              <a:rPr lang="en-US" dirty="0" smtClean="0"/>
              <a:t>The system should easily increase or decrease resources depending on demand.</a:t>
            </a:r>
          </a:p>
          <a:p>
            <a:r>
              <a:rPr lang="en-US" dirty="0" smtClean="0"/>
              <a:t>Example:</a:t>
            </a:r>
          </a:p>
          <a:p>
            <a:r>
              <a:rPr lang="en-US" dirty="0" smtClean="0"/>
              <a:t>During festivals, an e-commerce website may require more servers.</a:t>
            </a:r>
          </a:p>
          <a:p>
            <a:r>
              <a:rPr lang="en-US" dirty="0" smtClean="0"/>
              <a:t>During normal days, fewer servers are sufficient.</a:t>
            </a:r>
          </a:p>
          <a:p>
            <a:endParaRPr lang="en-US" dirty="0" smtClean="0"/>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of Resource Management</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3. Quality of Service (</a:t>
            </a:r>
            <a:r>
              <a:rPr lang="en-US" b="1" dirty="0" err="1" smtClean="0"/>
              <a:t>QoS</a:t>
            </a:r>
            <a:r>
              <a:rPr lang="en-US" b="1" dirty="0" smtClean="0"/>
              <a:t>)</a:t>
            </a:r>
          </a:p>
          <a:p>
            <a:r>
              <a:rPr lang="en-US" dirty="0" smtClean="0"/>
              <a:t>Cloud providers must meet performance guarantees such as:</a:t>
            </a:r>
          </a:p>
          <a:p>
            <a:r>
              <a:rPr lang="en-US" dirty="0" smtClean="0"/>
              <a:t>Response time</a:t>
            </a:r>
          </a:p>
          <a:p>
            <a:r>
              <a:rPr lang="en-US" dirty="0" smtClean="0"/>
              <a:t>Availability</a:t>
            </a:r>
          </a:p>
          <a:p>
            <a:r>
              <a:rPr lang="en-US" dirty="0" smtClean="0"/>
              <a:t>Throughput</a:t>
            </a:r>
          </a:p>
          <a:p>
            <a:r>
              <a:rPr lang="en-US" dirty="0" smtClean="0"/>
              <a:t>Reliability</a:t>
            </a:r>
          </a:p>
          <a:p>
            <a:r>
              <a:rPr lang="en-US" b="1" dirty="0" smtClean="0"/>
              <a:t>4. Cost Optimization</a:t>
            </a:r>
          </a:p>
          <a:p>
            <a:r>
              <a:rPr lang="en-US" dirty="0" smtClean="0"/>
              <a:t>Users should only pay for the resources they use (Pay-as-you-go model).</a:t>
            </a:r>
          </a:p>
          <a:p>
            <a:r>
              <a:rPr lang="en-US" dirty="0" smtClean="0"/>
              <a:t>Example:</a:t>
            </a:r>
          </a:p>
          <a:p>
            <a:r>
              <a:rPr lang="en-US" dirty="0" smtClean="0"/>
              <a:t>If a virtual machine runs for 3 hours, the user only pays for 3 hours.</a:t>
            </a:r>
          </a:p>
          <a:p>
            <a:r>
              <a:rPr lang="en-US" b="1" dirty="0" smtClean="0"/>
              <a:t>5. Load Balancing</a:t>
            </a:r>
          </a:p>
          <a:p>
            <a:r>
              <a:rPr lang="en-US" dirty="0" smtClean="0"/>
              <a:t>Workloads should be evenly distributed among available resources to prevent overload.</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Cloud Resources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3.1 Compute Resources</a:t>
            </a:r>
          </a:p>
          <a:p>
            <a:r>
              <a:rPr lang="en-US" dirty="0" smtClean="0"/>
              <a:t>These are processing resources such as:</a:t>
            </a:r>
          </a:p>
          <a:p>
            <a:r>
              <a:rPr lang="en-US" dirty="0" smtClean="0"/>
              <a:t>CPUs</a:t>
            </a:r>
          </a:p>
          <a:p>
            <a:r>
              <a:rPr lang="en-US" dirty="0" smtClean="0"/>
              <a:t>GPUs</a:t>
            </a:r>
          </a:p>
          <a:p>
            <a:r>
              <a:rPr lang="en-US" dirty="0" smtClean="0"/>
              <a:t>Virtual machines</a:t>
            </a:r>
          </a:p>
          <a:p>
            <a:r>
              <a:rPr lang="en-US" dirty="0" smtClean="0"/>
              <a:t>Containers</a:t>
            </a:r>
          </a:p>
          <a:p>
            <a:r>
              <a:rPr lang="en-US" dirty="0" smtClean="0"/>
              <a:t>Example:</a:t>
            </a:r>
          </a:p>
          <a:p>
            <a:r>
              <a:rPr lang="en-US" dirty="0" smtClean="0"/>
              <a:t>A user may launch a </a:t>
            </a:r>
            <a:r>
              <a:rPr lang="en-US" b="1" dirty="0" smtClean="0"/>
              <a:t>virtual machine instance</a:t>
            </a:r>
            <a:r>
              <a:rPr lang="en-US" dirty="0" smtClean="0"/>
              <a:t> to run applications.</a:t>
            </a:r>
          </a:p>
          <a:p>
            <a:r>
              <a:rPr lang="en-US" dirty="0" smtClean="0"/>
              <a:t>Compute resources are often managed using virtualization technologies such as:</a:t>
            </a:r>
          </a:p>
          <a:p>
            <a:r>
              <a:rPr lang="en-US" dirty="0" smtClean="0"/>
              <a:t>VMware</a:t>
            </a:r>
          </a:p>
          <a:p>
            <a:r>
              <a:rPr lang="en-US" dirty="0" smtClean="0"/>
              <a:t>KVM (Kernel-based Virtual Machine)</a:t>
            </a:r>
          </a:p>
          <a:p>
            <a:r>
              <a:rPr lang="en-US" dirty="0" err="1" smtClean="0"/>
              <a:t>Docker</a:t>
            </a:r>
            <a:endParaRPr lang="en-US" dirty="0" smtClean="0"/>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Cloud Resources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3.2 Storage Resources</a:t>
            </a:r>
          </a:p>
          <a:p>
            <a:r>
              <a:rPr lang="en-US" dirty="0" smtClean="0"/>
              <a:t>Cloud platforms provide various storage systems such as:</a:t>
            </a:r>
          </a:p>
          <a:p>
            <a:r>
              <a:rPr lang="en-US" dirty="0" smtClean="0"/>
              <a:t>Object storage</a:t>
            </a:r>
          </a:p>
          <a:p>
            <a:r>
              <a:rPr lang="en-US" dirty="0" smtClean="0"/>
              <a:t>Block storage</a:t>
            </a:r>
          </a:p>
          <a:p>
            <a:r>
              <a:rPr lang="en-US" dirty="0" smtClean="0"/>
              <a:t>File storage</a:t>
            </a:r>
          </a:p>
          <a:p>
            <a:r>
              <a:rPr lang="en-US" dirty="0" smtClean="0"/>
              <a:t>Examples include services like:</a:t>
            </a:r>
          </a:p>
          <a:p>
            <a:r>
              <a:rPr lang="en-US" dirty="0" smtClean="0"/>
              <a:t>Amazon S3</a:t>
            </a:r>
          </a:p>
          <a:p>
            <a:r>
              <a:rPr lang="en-US" dirty="0" smtClean="0"/>
              <a:t>Google Cloud Storage</a:t>
            </a:r>
          </a:p>
          <a:p>
            <a:r>
              <a:rPr lang="en-US" dirty="0" smtClean="0"/>
              <a:t>Resource management ensures that storage is:</a:t>
            </a:r>
          </a:p>
          <a:p>
            <a:r>
              <a:rPr lang="en-US" dirty="0" smtClean="0"/>
              <a:t>Reliable</a:t>
            </a:r>
          </a:p>
          <a:p>
            <a:r>
              <a:rPr lang="en-US" dirty="0" smtClean="0"/>
              <a:t>Redundant</a:t>
            </a:r>
          </a:p>
          <a:p>
            <a:r>
              <a:rPr lang="en-US" dirty="0" smtClean="0"/>
              <a:t>Scalable</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Cloud Resources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3.3 Network Resources</a:t>
            </a:r>
          </a:p>
          <a:p>
            <a:r>
              <a:rPr lang="en-US" dirty="0" smtClean="0"/>
              <a:t>Network resources include:</a:t>
            </a:r>
          </a:p>
          <a:p>
            <a:r>
              <a:rPr lang="en-US" dirty="0" smtClean="0"/>
              <a:t>Bandwidth</a:t>
            </a:r>
          </a:p>
          <a:p>
            <a:r>
              <a:rPr lang="en-US" dirty="0" smtClean="0"/>
              <a:t>Load balancers</a:t>
            </a:r>
          </a:p>
          <a:p>
            <a:r>
              <a:rPr lang="en-US" dirty="0" smtClean="0"/>
              <a:t>Routers</a:t>
            </a:r>
          </a:p>
          <a:p>
            <a:r>
              <a:rPr lang="en-US" dirty="0" smtClean="0"/>
              <a:t>Firewalls</a:t>
            </a:r>
          </a:p>
          <a:p>
            <a:r>
              <a:rPr lang="en-US" dirty="0" smtClean="0"/>
              <a:t>Efficient network resource management ensures:</a:t>
            </a:r>
          </a:p>
          <a:p>
            <a:r>
              <a:rPr lang="en-US" dirty="0" smtClean="0"/>
              <a:t>Low latency</a:t>
            </a:r>
          </a:p>
          <a:p>
            <a:r>
              <a:rPr lang="en-US" dirty="0" smtClean="0"/>
              <a:t>High data transfer speed</a:t>
            </a:r>
          </a:p>
          <a:p>
            <a:r>
              <a:rPr lang="en-US" dirty="0" smtClean="0"/>
              <a:t>Secure communication</a:t>
            </a:r>
          </a:p>
          <a:p>
            <a:endParaRPr lang="en-US" dirty="0" smtClean="0"/>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Components of Cloud Resource Management</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4.1 Resource Provisioning</a:t>
            </a:r>
          </a:p>
          <a:p>
            <a:r>
              <a:rPr lang="en-US" b="1" dirty="0" smtClean="0"/>
              <a:t>Resource provisioning</a:t>
            </a:r>
            <a:r>
              <a:rPr lang="en-US" dirty="0" smtClean="0"/>
              <a:t> refers to the process of allocating resources to users when requested.</a:t>
            </a:r>
          </a:p>
          <a:p>
            <a:r>
              <a:rPr lang="en-US" dirty="0" smtClean="0"/>
              <a:t>Example:</a:t>
            </a:r>
          </a:p>
          <a:p>
            <a:r>
              <a:rPr lang="en-US" dirty="0" smtClean="0"/>
              <a:t>A user requests a virtual machine with:</a:t>
            </a:r>
          </a:p>
          <a:p>
            <a:r>
              <a:rPr lang="en-US" dirty="0" smtClean="0"/>
              <a:t>4 CPU cores</a:t>
            </a:r>
          </a:p>
          <a:p>
            <a:r>
              <a:rPr lang="en-US" dirty="0" smtClean="0"/>
              <a:t>8 GB RAM</a:t>
            </a:r>
          </a:p>
          <a:p>
            <a:r>
              <a:rPr lang="en-US" dirty="0" smtClean="0"/>
              <a:t>100 GB storage</a:t>
            </a:r>
          </a:p>
          <a:p>
            <a:r>
              <a:rPr lang="en-US" dirty="0" smtClean="0"/>
              <a:t>The cloud system automatically allocates these resources.</a:t>
            </a:r>
          </a:p>
          <a:p>
            <a:r>
              <a:rPr lang="en-US" dirty="0" smtClean="0"/>
              <a:t>Provisioning can be:</a:t>
            </a:r>
          </a:p>
          <a:p>
            <a:r>
              <a:rPr lang="en-US" b="1" dirty="0" smtClean="0"/>
              <a:t>Static provisioning</a:t>
            </a:r>
            <a:r>
              <a:rPr lang="en-US" dirty="0" smtClean="0"/>
              <a:t> – resources allocated manually.</a:t>
            </a:r>
          </a:p>
          <a:p>
            <a:r>
              <a:rPr lang="en-US" b="1" dirty="0" smtClean="0"/>
              <a:t>Dynamic provisioning</a:t>
            </a:r>
            <a:r>
              <a:rPr lang="en-US" dirty="0" smtClean="0"/>
              <a:t> – resources allocated automatically.</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Components of Cloud Resource Management</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4.2 Resource Scheduling</a:t>
            </a:r>
          </a:p>
          <a:p>
            <a:r>
              <a:rPr lang="en-US" dirty="0" smtClean="0"/>
              <a:t>Resource scheduling determines </a:t>
            </a:r>
            <a:r>
              <a:rPr lang="en-US" b="1" dirty="0" smtClean="0"/>
              <a:t>when and where tasks should be executed</a:t>
            </a:r>
            <a:r>
              <a:rPr lang="en-US" dirty="0" smtClean="0"/>
              <a:t>.</a:t>
            </a:r>
          </a:p>
          <a:p>
            <a:r>
              <a:rPr lang="en-US" dirty="0" smtClean="0"/>
              <a:t>Goals:</a:t>
            </a:r>
          </a:p>
          <a:p>
            <a:r>
              <a:rPr lang="en-US" dirty="0" smtClean="0"/>
              <a:t>Minimize execution time</a:t>
            </a:r>
          </a:p>
          <a:p>
            <a:r>
              <a:rPr lang="en-US" dirty="0" smtClean="0"/>
              <a:t>Maximize resource utilization</a:t>
            </a:r>
          </a:p>
          <a:p>
            <a:r>
              <a:rPr lang="en-US" dirty="0" smtClean="0"/>
              <a:t>Reduce cost</a:t>
            </a:r>
          </a:p>
          <a:p>
            <a:r>
              <a:rPr lang="en-US" dirty="0" smtClean="0"/>
              <a:t>Example scheduling algorithms:</a:t>
            </a:r>
          </a:p>
          <a:p>
            <a:r>
              <a:rPr lang="en-US" dirty="0" smtClean="0"/>
              <a:t>First Come First Serve (FCFS)</a:t>
            </a:r>
          </a:p>
          <a:p>
            <a:r>
              <a:rPr lang="en-US" dirty="0" smtClean="0"/>
              <a:t>Round Robin</a:t>
            </a:r>
          </a:p>
          <a:p>
            <a:r>
              <a:rPr lang="en-US" dirty="0" smtClean="0"/>
              <a:t>Priority Scheduling</a:t>
            </a:r>
          </a:p>
          <a:p>
            <a:r>
              <a:rPr lang="en-US" dirty="0" smtClean="0"/>
              <a:t>Cloud schedulers decide which server will execute a given workload.</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Components of Cloud Resource Management</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4.3 Resource Monitoring</a:t>
            </a:r>
          </a:p>
          <a:p>
            <a:r>
              <a:rPr lang="en-US" dirty="0" smtClean="0"/>
              <a:t>Cloud providers continuously monitor resources such as:</a:t>
            </a:r>
          </a:p>
          <a:p>
            <a:r>
              <a:rPr lang="en-US" dirty="0" smtClean="0"/>
              <a:t>CPU utilization</a:t>
            </a:r>
          </a:p>
          <a:p>
            <a:r>
              <a:rPr lang="en-US" dirty="0" smtClean="0"/>
              <a:t>Memory usage</a:t>
            </a:r>
          </a:p>
          <a:p>
            <a:r>
              <a:rPr lang="en-US" dirty="0" smtClean="0"/>
              <a:t>Disk I/O</a:t>
            </a:r>
          </a:p>
          <a:p>
            <a:r>
              <a:rPr lang="en-US" dirty="0" smtClean="0"/>
              <a:t>Network traffic</a:t>
            </a:r>
          </a:p>
          <a:p>
            <a:r>
              <a:rPr lang="en-US" dirty="0" smtClean="0"/>
              <a:t>Monitoring tools help detect:</a:t>
            </a:r>
          </a:p>
          <a:p>
            <a:r>
              <a:rPr lang="en-US" dirty="0" smtClean="0"/>
              <a:t>System failures</a:t>
            </a:r>
          </a:p>
          <a:p>
            <a:r>
              <a:rPr lang="en-US" dirty="0" smtClean="0"/>
              <a:t>Overloaded servers</a:t>
            </a:r>
          </a:p>
          <a:p>
            <a:r>
              <a:rPr lang="en-US" dirty="0" smtClean="0"/>
              <a:t>Performance bottlenecks</a:t>
            </a:r>
          </a:p>
          <a:p>
            <a:r>
              <a:rPr lang="en-US" dirty="0" smtClean="0"/>
              <a:t>Example monitoring services include:</a:t>
            </a:r>
          </a:p>
          <a:p>
            <a:r>
              <a:rPr lang="en-US" dirty="0" smtClean="0"/>
              <a:t>Amazon </a:t>
            </a:r>
            <a:r>
              <a:rPr lang="en-US" dirty="0" err="1" smtClean="0"/>
              <a:t>CloudWatch</a:t>
            </a:r>
            <a:endParaRPr lang="en-US" dirty="0" smtClean="0"/>
          </a:p>
          <a:p>
            <a:r>
              <a:rPr lang="en-US" dirty="0" smtClean="0"/>
              <a:t>Prometheus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Components of Cloud Resource Management</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4.4 Resource Allocation</a:t>
            </a:r>
          </a:p>
          <a:p>
            <a:r>
              <a:rPr lang="en-US" dirty="0" smtClean="0"/>
              <a:t>Resource allocation ensures that resources are distributed efficiently among users.</a:t>
            </a:r>
          </a:p>
          <a:p>
            <a:r>
              <a:rPr lang="en-US" dirty="0" smtClean="0"/>
              <a:t>Two approaches:</a:t>
            </a:r>
          </a:p>
          <a:p>
            <a:r>
              <a:rPr lang="en-US" b="1" dirty="0" smtClean="0"/>
              <a:t>1. Static Allocation</a:t>
            </a:r>
          </a:p>
          <a:p>
            <a:r>
              <a:rPr lang="en-US" dirty="0" smtClean="0"/>
              <a:t>Resources are fixed once allocated.</a:t>
            </a:r>
          </a:p>
          <a:p>
            <a:r>
              <a:rPr lang="en-US" dirty="0" smtClean="0"/>
              <a:t>Example:</a:t>
            </a:r>
          </a:p>
          <a:p>
            <a:r>
              <a:rPr lang="en-US" dirty="0" smtClean="0"/>
              <a:t>A server permanently assigned to one application.</a:t>
            </a:r>
          </a:p>
          <a:p>
            <a:r>
              <a:rPr lang="en-US" b="1" dirty="0" smtClean="0"/>
              <a:t>2. Dynamic Allocation</a:t>
            </a:r>
          </a:p>
          <a:p>
            <a:r>
              <a:rPr lang="en-US" dirty="0" smtClean="0"/>
              <a:t>Resources change depending on workload.</a:t>
            </a:r>
          </a:p>
          <a:p>
            <a:r>
              <a:rPr lang="en-US" dirty="0" smtClean="0"/>
              <a:t>Example:</a:t>
            </a:r>
          </a:p>
          <a:p>
            <a:r>
              <a:rPr lang="en-US" dirty="0" smtClean="0"/>
              <a:t>Auto-scaling servers based on traffic.</a:t>
            </a:r>
          </a:p>
          <a:p>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Components of Cloud Resource Management</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4.5 Load Balancing</a:t>
            </a:r>
          </a:p>
          <a:p>
            <a:r>
              <a:rPr lang="en-US" dirty="0" smtClean="0"/>
              <a:t>Load balancing distributes incoming workloads evenly across multiple servers.</a:t>
            </a:r>
          </a:p>
          <a:p>
            <a:r>
              <a:rPr lang="en-US" dirty="0" smtClean="0"/>
              <a:t>Benefits:</a:t>
            </a:r>
          </a:p>
          <a:p>
            <a:r>
              <a:rPr lang="en-US" dirty="0" smtClean="0"/>
              <a:t>Prevents server overload</a:t>
            </a:r>
          </a:p>
          <a:p>
            <a:r>
              <a:rPr lang="en-US" dirty="0" smtClean="0"/>
              <a:t>Improves system performance</a:t>
            </a:r>
          </a:p>
          <a:p>
            <a:r>
              <a:rPr lang="en-US" dirty="0" smtClean="0"/>
              <a:t>Enhances fault tolerance</a:t>
            </a:r>
          </a:p>
          <a:p>
            <a:r>
              <a:rPr lang="en-US" dirty="0" smtClean="0"/>
              <a:t>Common load balancing techniques include:</a:t>
            </a:r>
          </a:p>
          <a:p>
            <a:r>
              <a:rPr lang="en-US" dirty="0" smtClean="0"/>
              <a:t>Round Robin</a:t>
            </a:r>
          </a:p>
          <a:p>
            <a:r>
              <a:rPr lang="en-US" dirty="0" smtClean="0"/>
              <a:t>Least Connection</a:t>
            </a:r>
          </a:p>
          <a:p>
            <a:r>
              <a:rPr lang="en-US" dirty="0" smtClean="0"/>
              <a:t>Weighted distribution</a:t>
            </a:r>
          </a:p>
          <a:p>
            <a:r>
              <a:rPr lang="en-US" dirty="0" smtClean="0"/>
              <a:t>Example tools:</a:t>
            </a:r>
          </a:p>
          <a:p>
            <a:r>
              <a:rPr lang="en-US" dirty="0" smtClean="0"/>
              <a:t>NGINX</a:t>
            </a:r>
          </a:p>
          <a:p>
            <a:r>
              <a:rPr lang="en-US" dirty="0" err="1" smtClean="0"/>
              <a:t>HAProxy</a:t>
            </a:r>
            <a:endParaRPr lang="en-US" dirty="0" smtClean="0"/>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 in Resource Management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Virtualization creates </a:t>
            </a:r>
            <a:r>
              <a:rPr lang="en-US" b="1" dirty="0" smtClean="0"/>
              <a:t>virtual versions of physical resources</a:t>
            </a:r>
            <a:r>
              <a:rPr lang="en-US" dirty="0" smtClean="0"/>
              <a:t> such as servers, storage devices, and networks.</a:t>
            </a:r>
          </a:p>
          <a:p>
            <a:r>
              <a:rPr lang="en-US" dirty="0" smtClean="0"/>
              <a:t>A single physical server can run multiple </a:t>
            </a:r>
            <a:r>
              <a:rPr lang="en-US" b="1" dirty="0" smtClean="0"/>
              <a:t>virtual machines (VMs)</a:t>
            </a:r>
            <a:r>
              <a:rPr lang="en-US" dirty="0" smtClean="0"/>
              <a:t>.</a:t>
            </a:r>
          </a:p>
          <a:p>
            <a:r>
              <a:rPr lang="en-US" dirty="0" smtClean="0"/>
              <a:t>Example:</a:t>
            </a:r>
          </a:p>
          <a:p>
            <a:r>
              <a:rPr lang="en-US" dirty="0" smtClean="0"/>
              <a:t>One physical server may host:</a:t>
            </a:r>
          </a:p>
          <a:p>
            <a:r>
              <a:rPr lang="en-US" dirty="0" smtClean="0"/>
              <a:t>VM1: Web server</a:t>
            </a:r>
          </a:p>
          <a:p>
            <a:r>
              <a:rPr lang="en-US" dirty="0" smtClean="0"/>
              <a:t>VM2: Database server</a:t>
            </a:r>
          </a:p>
          <a:p>
            <a:r>
              <a:rPr lang="en-US" dirty="0" smtClean="0"/>
              <a:t>VM3: Application server</a:t>
            </a:r>
          </a:p>
          <a:p>
            <a:r>
              <a:rPr lang="en-US" dirty="0" smtClean="0"/>
              <a:t>Benefits:</a:t>
            </a:r>
          </a:p>
          <a:p>
            <a:r>
              <a:rPr lang="en-US" dirty="0" smtClean="0"/>
              <a:t>Better resource utilization</a:t>
            </a:r>
          </a:p>
          <a:p>
            <a:r>
              <a:rPr lang="en-US" dirty="0" smtClean="0"/>
              <a:t>Isolation between users</a:t>
            </a:r>
          </a:p>
          <a:p>
            <a:r>
              <a:rPr lang="en-US" dirty="0" smtClean="0"/>
              <a:t>Easy scalability</a:t>
            </a: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Auto Scaling</a:t>
            </a:r>
            <a:br>
              <a:rPr lang="en-US" b="1"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Auto scaling automatically adjusts resources based on system demand.</a:t>
            </a:r>
          </a:p>
          <a:p>
            <a:r>
              <a:rPr lang="en-US" dirty="0" smtClean="0"/>
              <a:t>Example:</a:t>
            </a:r>
          </a:p>
          <a:p>
            <a:r>
              <a:rPr lang="en-US" dirty="0" smtClean="0"/>
              <a:t>A website receives heavy traffic during peak hours.</a:t>
            </a:r>
          </a:p>
          <a:p>
            <a:r>
              <a:rPr lang="en-US" dirty="0" smtClean="0"/>
              <a:t>The system automatically:</a:t>
            </a:r>
          </a:p>
          <a:p>
            <a:r>
              <a:rPr lang="en-US" dirty="0" smtClean="0"/>
              <a:t>Adds more virtual machines</a:t>
            </a:r>
          </a:p>
          <a:p>
            <a:r>
              <a:rPr lang="en-US" dirty="0" smtClean="0"/>
              <a:t>Distributes traffic among them</a:t>
            </a:r>
          </a:p>
          <a:p>
            <a:r>
              <a:rPr lang="en-US" dirty="0" smtClean="0"/>
              <a:t>When traffic decreases:</a:t>
            </a:r>
          </a:p>
          <a:p>
            <a:r>
              <a:rPr lang="en-US" dirty="0" smtClean="0"/>
              <a:t>Extra servers are removed.</a:t>
            </a:r>
          </a:p>
          <a:p>
            <a:r>
              <a:rPr lang="en-US" dirty="0" smtClean="0"/>
              <a:t>This improves both </a:t>
            </a:r>
            <a:r>
              <a:rPr lang="en-US" b="1" dirty="0" smtClean="0"/>
              <a:t>performance and cost efficiency</a:t>
            </a:r>
            <a:r>
              <a:rPr lang="en-US" dirty="0" smtClean="0"/>
              <a:t>.</a:t>
            </a:r>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in Cloud Resource Management</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Managing resources in cloud environments is complex due to several challenges.</a:t>
            </a:r>
          </a:p>
          <a:p>
            <a:r>
              <a:rPr lang="en-US" b="1" dirty="0" smtClean="0"/>
              <a:t>1. Resource Heterogeneity</a:t>
            </a:r>
          </a:p>
          <a:p>
            <a:r>
              <a:rPr lang="en-US" dirty="0" smtClean="0"/>
              <a:t>Cloud data centers contain different types of hardware and software systems.</a:t>
            </a:r>
          </a:p>
          <a:p>
            <a:r>
              <a:rPr lang="en-US" b="1" dirty="0" smtClean="0"/>
              <a:t>2. Dynamic Workloads</a:t>
            </a:r>
          </a:p>
          <a:p>
            <a:r>
              <a:rPr lang="en-US" dirty="0" smtClean="0"/>
              <a:t>User demand changes continuously, making resource prediction difficult.</a:t>
            </a:r>
          </a:p>
          <a:p>
            <a:r>
              <a:rPr lang="en-US" b="1" dirty="0" smtClean="0"/>
              <a:t>3. Energy Consumption</a:t>
            </a:r>
          </a:p>
          <a:p>
            <a:r>
              <a:rPr lang="en-US" dirty="0" smtClean="0"/>
              <a:t>Large data centers consume significant electricity.</a:t>
            </a:r>
          </a:p>
          <a:p>
            <a:r>
              <a:rPr lang="en-US" dirty="0" smtClean="0"/>
              <a:t>Energy-efficient resource allocation is necessary.</a:t>
            </a:r>
          </a:p>
          <a:p>
            <a:r>
              <a:rPr lang="en-US" b="1" dirty="0" smtClean="0"/>
              <a:t>4. Security and Isolation</a:t>
            </a:r>
          </a:p>
          <a:p>
            <a:r>
              <a:rPr lang="en-US" dirty="0" smtClean="0"/>
              <a:t>Multiple users share the same physical infrastructure.</a:t>
            </a:r>
          </a:p>
          <a:p>
            <a:r>
              <a:rPr lang="en-US" dirty="0" smtClean="0"/>
              <a:t>Proper isolation must be maintained to ensure security.</a:t>
            </a:r>
          </a:p>
          <a:p>
            <a:r>
              <a:rPr lang="en-US" b="1" dirty="0" smtClean="0"/>
              <a:t>5. Fault Tolerance</a:t>
            </a:r>
          </a:p>
          <a:p>
            <a:r>
              <a:rPr lang="en-US" dirty="0" smtClean="0"/>
              <a:t>Hardware failures, network issues, or software bugs can affect services.</a:t>
            </a:r>
          </a:p>
          <a:p>
            <a:r>
              <a:rPr lang="en-US" dirty="0" smtClean="0"/>
              <a:t>Cloud systems must recover quickly from failures.</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 Management Techniques</a:t>
            </a:r>
            <a:endParaRPr lang="en-US" dirty="0"/>
          </a:p>
        </p:txBody>
      </p:sp>
      <p:sp>
        <p:nvSpPr>
          <p:cNvPr id="3" name="Content Placeholder 2"/>
          <p:cNvSpPr>
            <a:spLocks noGrp="1"/>
          </p:cNvSpPr>
          <p:nvPr>
            <p:ph idx="1"/>
          </p:nvPr>
        </p:nvSpPr>
        <p:spPr/>
        <p:txBody>
          <a:bodyPr>
            <a:normAutofit/>
          </a:bodyPr>
          <a:lstStyle/>
          <a:p>
            <a:r>
              <a:rPr lang="en-US" dirty="0" smtClean="0"/>
              <a:t>Several techniques are used to improve resource management in cloud environments.</a:t>
            </a:r>
          </a:p>
          <a:p>
            <a:r>
              <a:rPr lang="en-US" b="1" dirty="0" smtClean="0"/>
              <a:t>1. Virtual Machine Migration</a:t>
            </a:r>
          </a:p>
          <a:p>
            <a:r>
              <a:rPr lang="en-US" dirty="0" smtClean="0"/>
              <a:t>VMs can be moved from one physical server to another without stopping execution.</a:t>
            </a:r>
          </a:p>
          <a:p>
            <a:r>
              <a:rPr lang="en-US" dirty="0" smtClean="0"/>
              <a:t>Benefits:</a:t>
            </a:r>
          </a:p>
          <a:p>
            <a:r>
              <a:rPr lang="en-US" dirty="0" smtClean="0"/>
              <a:t>Load balancing</a:t>
            </a:r>
          </a:p>
          <a:p>
            <a:r>
              <a:rPr lang="en-US" dirty="0" smtClean="0"/>
              <a:t>Hardware maintenance</a:t>
            </a:r>
          </a:p>
          <a:p>
            <a:r>
              <a:rPr lang="en-US" dirty="0" smtClean="0"/>
              <a:t>Fault tolerance</a:t>
            </a:r>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 Management Techniques</a:t>
            </a:r>
            <a:endParaRPr lang="en-US" dirty="0"/>
          </a:p>
        </p:txBody>
      </p:sp>
      <p:sp>
        <p:nvSpPr>
          <p:cNvPr id="3" name="Content Placeholder 2"/>
          <p:cNvSpPr>
            <a:spLocks noGrp="1"/>
          </p:cNvSpPr>
          <p:nvPr>
            <p:ph idx="1"/>
          </p:nvPr>
        </p:nvSpPr>
        <p:spPr/>
        <p:txBody>
          <a:bodyPr>
            <a:normAutofit/>
          </a:bodyPr>
          <a:lstStyle/>
          <a:p>
            <a:r>
              <a:rPr lang="en-US" b="1" dirty="0" smtClean="0"/>
              <a:t>2. Containerization</a:t>
            </a:r>
          </a:p>
          <a:p>
            <a:r>
              <a:rPr lang="en-US" dirty="0" smtClean="0"/>
              <a:t>Containers provide lightweight virtualization.</a:t>
            </a:r>
          </a:p>
          <a:p>
            <a:r>
              <a:rPr lang="en-US" dirty="0" smtClean="0"/>
              <a:t>Example platform:</a:t>
            </a:r>
          </a:p>
          <a:p>
            <a:r>
              <a:rPr lang="en-US" dirty="0" err="1" smtClean="0"/>
              <a:t>Kubernetes</a:t>
            </a:r>
            <a:r>
              <a:rPr lang="en-US" dirty="0" smtClean="0"/>
              <a:t> manages container orchestration.</a:t>
            </a:r>
          </a:p>
          <a:p>
            <a:r>
              <a:rPr lang="en-US" dirty="0" smtClean="0"/>
              <a:t>Advantages:</a:t>
            </a:r>
          </a:p>
          <a:p>
            <a:pPr lvl="1"/>
            <a:r>
              <a:rPr lang="en-US" dirty="0" smtClean="0"/>
              <a:t>Faster deployment</a:t>
            </a:r>
          </a:p>
          <a:p>
            <a:pPr lvl="1"/>
            <a:r>
              <a:rPr lang="en-US" dirty="0" smtClean="0"/>
              <a:t>Better scalability</a:t>
            </a:r>
          </a:p>
          <a:p>
            <a:pPr lvl="1"/>
            <a:r>
              <a:rPr lang="en-US" dirty="0" smtClean="0"/>
              <a:t>Lower overhead</a:t>
            </a:r>
          </a:p>
          <a:p>
            <a:endParaRPr lang="en-US" dirty="0" smtClean="0"/>
          </a:p>
          <a:p>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 Management Techniques</a:t>
            </a:r>
            <a:endParaRPr lang="en-US" dirty="0"/>
          </a:p>
        </p:txBody>
      </p:sp>
      <p:sp>
        <p:nvSpPr>
          <p:cNvPr id="3" name="Content Placeholder 2"/>
          <p:cNvSpPr>
            <a:spLocks noGrp="1"/>
          </p:cNvSpPr>
          <p:nvPr>
            <p:ph idx="1"/>
          </p:nvPr>
        </p:nvSpPr>
        <p:spPr/>
        <p:txBody>
          <a:bodyPr/>
          <a:lstStyle/>
          <a:p>
            <a:r>
              <a:rPr lang="en-US" b="1" dirty="0" smtClean="0"/>
              <a:t>3. Energy-Aware Scheduling</a:t>
            </a:r>
          </a:p>
          <a:p>
            <a:r>
              <a:rPr lang="en-US" dirty="0" smtClean="0"/>
              <a:t>Scheduling algorithms try to minimize power consumption by:</a:t>
            </a:r>
          </a:p>
          <a:p>
            <a:r>
              <a:rPr lang="en-US" dirty="0" smtClean="0"/>
              <a:t>Consolidating workloads</a:t>
            </a:r>
          </a:p>
          <a:p>
            <a:r>
              <a:rPr lang="en-US" dirty="0" smtClean="0"/>
              <a:t>Turning off idle servers</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Operating Systems: </a:t>
            </a:r>
            <a:r>
              <a:rPr lang="en-US" dirty="0" err="1" smtClean="0"/>
              <a:t>Kubernetes</a:t>
            </a:r>
            <a:endParaRPr lang="en-US" dirty="0"/>
          </a:p>
        </p:txBody>
      </p:sp>
      <p:sp>
        <p:nvSpPr>
          <p:cNvPr id="3" name="Content Placeholder 2"/>
          <p:cNvSpPr>
            <a:spLocks noGrp="1"/>
          </p:cNvSpPr>
          <p:nvPr>
            <p:ph idx="1"/>
          </p:nvPr>
        </p:nvSpPr>
        <p:spPr/>
        <p:txBody>
          <a:bodyPr/>
          <a:lstStyle/>
          <a:p>
            <a:r>
              <a:rPr lang="en-US" b="1" dirty="0" err="1" smtClean="0"/>
              <a:t>Kubernetes</a:t>
            </a:r>
            <a:r>
              <a:rPr lang="en-US" dirty="0" smtClean="0"/>
              <a:t> is an open-source container orchestration platform originally developed by </a:t>
            </a:r>
            <a:r>
              <a:rPr lang="en-US" b="1" dirty="0" smtClean="0"/>
              <a:t>Google</a:t>
            </a:r>
            <a:r>
              <a:rPr lang="en-US" dirty="0" smtClean="0"/>
              <a:t> and later maintained by the </a:t>
            </a:r>
            <a:r>
              <a:rPr lang="en-US" b="1" dirty="0" smtClean="0"/>
              <a:t>Cloud Native Computing Foundation</a:t>
            </a:r>
            <a:r>
              <a:rPr lang="en-US" dirty="0" smtClean="0"/>
              <a:t>. It automates the deployment, scaling, and management of containerized applications.</a:t>
            </a:r>
          </a:p>
          <a:p>
            <a:r>
              <a:rPr lang="en-US" dirty="0" smtClean="0"/>
              <a:t>Containers package applications along with their dependencies so they can run consistently across different environments. </a:t>
            </a:r>
            <a:r>
              <a:rPr lang="en-US" dirty="0" err="1" smtClean="0"/>
              <a:t>Kubernetes</a:t>
            </a:r>
            <a:r>
              <a:rPr lang="en-US" dirty="0" smtClean="0"/>
              <a:t> manages these containers efficiently across clusters of machines.</a:t>
            </a:r>
          </a:p>
          <a:p>
            <a:r>
              <a:rPr lang="en-US" dirty="0" err="1" smtClean="0"/>
              <a:t>Kubernetes</a:t>
            </a:r>
            <a:r>
              <a:rPr lang="en-US" dirty="0" smtClean="0"/>
              <a:t> is widely used in modern cloud-native architectures and works well with container technologies such as </a:t>
            </a:r>
            <a:r>
              <a:rPr lang="en-US" b="1" dirty="0" err="1" smtClean="0"/>
              <a:t>Docker</a:t>
            </a:r>
            <a:r>
              <a:rPr lang="en-US" dirty="0" smtClean="0"/>
              <a:t>.</a:t>
            </a:r>
          </a:p>
          <a:p>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Cloud Resource Management</a:t>
            </a:r>
            <a:endParaRPr lang="en-US" dirty="0"/>
          </a:p>
        </p:txBody>
      </p:sp>
      <p:sp>
        <p:nvSpPr>
          <p:cNvPr id="3" name="Content Placeholder 2"/>
          <p:cNvSpPr>
            <a:spLocks noGrp="1"/>
          </p:cNvSpPr>
          <p:nvPr>
            <p:ph idx="1"/>
          </p:nvPr>
        </p:nvSpPr>
        <p:spPr/>
        <p:txBody>
          <a:bodyPr/>
          <a:lstStyle/>
          <a:p>
            <a:r>
              <a:rPr lang="en-US" dirty="0" smtClean="0"/>
              <a:t>Consider a </a:t>
            </a:r>
            <a:r>
              <a:rPr lang="en-US" b="1" dirty="0" smtClean="0"/>
              <a:t>video streaming platform</a:t>
            </a:r>
            <a:r>
              <a:rPr lang="en-US" dirty="0" smtClean="0"/>
              <a:t> hosted in the cloud.</a:t>
            </a:r>
          </a:p>
          <a:p>
            <a:r>
              <a:rPr lang="en-US" dirty="0" smtClean="0"/>
              <a:t>Steps in resource management:</a:t>
            </a:r>
          </a:p>
          <a:p>
            <a:pPr lvl="1"/>
            <a:r>
              <a:rPr lang="en-US" dirty="0" smtClean="0"/>
              <a:t>Users request videos.</a:t>
            </a:r>
          </a:p>
          <a:p>
            <a:pPr lvl="1"/>
            <a:r>
              <a:rPr lang="en-US" dirty="0" smtClean="0"/>
              <a:t>Load balancer distributes requests.</a:t>
            </a:r>
          </a:p>
          <a:p>
            <a:pPr lvl="1"/>
            <a:r>
              <a:rPr lang="en-US" dirty="0" smtClean="0"/>
              <a:t>Cloud scheduler assigns tasks to servers.</a:t>
            </a:r>
          </a:p>
          <a:p>
            <a:pPr lvl="1"/>
            <a:r>
              <a:rPr lang="en-US" dirty="0" smtClean="0"/>
              <a:t>Auto scaling adds servers when traffic increases.</a:t>
            </a:r>
          </a:p>
          <a:p>
            <a:pPr lvl="1"/>
            <a:r>
              <a:rPr lang="en-US" dirty="0" smtClean="0"/>
              <a:t>Monitoring tools track system performance.</a:t>
            </a:r>
          </a:p>
          <a:p>
            <a:pPr lvl="1"/>
            <a:r>
              <a:rPr lang="en-US" dirty="0" smtClean="0"/>
              <a:t>This ensures smooth streaming even with millions of users.</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of </a:t>
            </a:r>
            <a:r>
              <a:rPr lang="en-US" dirty="0" err="1" smtClean="0"/>
              <a:t>Kubernetes</a:t>
            </a:r>
            <a:endParaRPr lang="en-US" dirty="0"/>
          </a:p>
        </p:txBody>
      </p:sp>
      <p:sp>
        <p:nvSpPr>
          <p:cNvPr id="3" name="Content Placeholder 2"/>
          <p:cNvSpPr>
            <a:spLocks noGrp="1"/>
          </p:cNvSpPr>
          <p:nvPr>
            <p:ph idx="1"/>
          </p:nvPr>
        </p:nvSpPr>
        <p:spPr/>
        <p:txBody>
          <a:bodyPr>
            <a:normAutofit fontScale="77500" lnSpcReduction="20000"/>
          </a:bodyPr>
          <a:lstStyle/>
          <a:p>
            <a:r>
              <a:rPr lang="en-US" dirty="0" err="1" smtClean="0"/>
              <a:t>Kubernetes</a:t>
            </a:r>
            <a:r>
              <a:rPr lang="en-US" dirty="0" smtClean="0"/>
              <a:t> operates using a </a:t>
            </a:r>
            <a:r>
              <a:rPr lang="en-US" b="1" dirty="0" smtClean="0"/>
              <a:t>cluster architecture</a:t>
            </a:r>
            <a:r>
              <a:rPr lang="en-US" dirty="0" smtClean="0"/>
              <a:t> consisting of two main components:</a:t>
            </a:r>
          </a:p>
          <a:p>
            <a:r>
              <a:rPr lang="en-US" b="1" dirty="0" smtClean="0"/>
              <a:t>1. Control Plane (Master Node)</a:t>
            </a:r>
          </a:p>
          <a:p>
            <a:r>
              <a:rPr lang="en-US" dirty="0" smtClean="0"/>
              <a:t>The control plane manages the overall cluster operations.</a:t>
            </a:r>
          </a:p>
          <a:p>
            <a:r>
              <a:rPr lang="en-US" dirty="0" smtClean="0"/>
              <a:t>Main components include:</a:t>
            </a:r>
          </a:p>
          <a:p>
            <a:r>
              <a:rPr lang="en-US" b="1" dirty="0" smtClean="0"/>
              <a:t>API Server</a:t>
            </a:r>
            <a:r>
              <a:rPr lang="en-US" dirty="0" smtClean="0"/>
              <a:t/>
            </a:r>
            <a:br>
              <a:rPr lang="en-US" dirty="0" smtClean="0"/>
            </a:br>
            <a:r>
              <a:rPr lang="en-US" dirty="0" smtClean="0"/>
              <a:t>Acts as the front-end of the </a:t>
            </a:r>
            <a:r>
              <a:rPr lang="en-US" dirty="0" err="1" smtClean="0"/>
              <a:t>Kubernetes</a:t>
            </a:r>
            <a:r>
              <a:rPr lang="en-US" dirty="0" smtClean="0"/>
              <a:t> control plane and handles all administrative commands.</a:t>
            </a:r>
          </a:p>
          <a:p>
            <a:r>
              <a:rPr lang="en-US" b="1" dirty="0" smtClean="0"/>
              <a:t>Scheduler</a:t>
            </a:r>
            <a:r>
              <a:rPr lang="en-US" dirty="0" smtClean="0"/>
              <a:t/>
            </a:r>
            <a:br>
              <a:rPr lang="en-US" dirty="0" smtClean="0"/>
            </a:br>
            <a:r>
              <a:rPr lang="en-US" dirty="0" smtClean="0"/>
              <a:t>Assigns newly created containers to appropriate nodes based on resource availability.</a:t>
            </a:r>
          </a:p>
          <a:p>
            <a:r>
              <a:rPr lang="en-US" b="1" dirty="0" smtClean="0"/>
              <a:t>Controller Manager</a:t>
            </a:r>
            <a:r>
              <a:rPr lang="en-US" dirty="0" smtClean="0"/>
              <a:t/>
            </a:r>
            <a:br>
              <a:rPr lang="en-US" dirty="0" smtClean="0"/>
            </a:br>
            <a:r>
              <a:rPr lang="en-US" dirty="0" smtClean="0"/>
              <a:t>Maintains the desired system state and monitors cluster activities.</a:t>
            </a:r>
          </a:p>
          <a:p>
            <a:r>
              <a:rPr lang="en-US" b="1" dirty="0" err="1" smtClean="0"/>
              <a:t>etcd</a:t>
            </a:r>
            <a:r>
              <a:rPr lang="en-US" dirty="0" smtClean="0"/>
              <a:t/>
            </a:r>
            <a:br>
              <a:rPr lang="en-US" dirty="0" smtClean="0"/>
            </a:br>
            <a:r>
              <a:rPr lang="en-US" dirty="0" smtClean="0"/>
              <a:t>A distributed key-value database used to store cluster configuration and state information.</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of </a:t>
            </a:r>
            <a:r>
              <a:rPr lang="en-US" dirty="0" err="1" smtClean="0"/>
              <a:t>Kubernetes</a:t>
            </a:r>
            <a:endParaRPr lang="en-US" dirty="0"/>
          </a:p>
        </p:txBody>
      </p:sp>
      <p:sp>
        <p:nvSpPr>
          <p:cNvPr id="3" name="Content Placeholder 2"/>
          <p:cNvSpPr>
            <a:spLocks noGrp="1"/>
          </p:cNvSpPr>
          <p:nvPr>
            <p:ph idx="1"/>
          </p:nvPr>
        </p:nvSpPr>
        <p:spPr/>
        <p:txBody>
          <a:bodyPr>
            <a:normAutofit lnSpcReduction="10000"/>
          </a:bodyPr>
          <a:lstStyle/>
          <a:p>
            <a:r>
              <a:rPr lang="en-US" b="1" dirty="0" smtClean="0"/>
              <a:t>2. Worker Nodes</a:t>
            </a:r>
          </a:p>
          <a:p>
            <a:r>
              <a:rPr lang="en-US" dirty="0" smtClean="0"/>
              <a:t>Worker nodes run the actual application containers.</a:t>
            </a:r>
          </a:p>
          <a:p>
            <a:r>
              <a:rPr lang="en-US" dirty="0" smtClean="0"/>
              <a:t>Each worker node contains:</a:t>
            </a:r>
          </a:p>
          <a:p>
            <a:r>
              <a:rPr lang="en-US" b="1" dirty="0" err="1" smtClean="0"/>
              <a:t>Kubelet</a:t>
            </a:r>
            <a:r>
              <a:rPr lang="en-US" dirty="0" smtClean="0"/>
              <a:t/>
            </a:r>
            <a:br>
              <a:rPr lang="en-US" dirty="0" smtClean="0"/>
            </a:br>
            <a:r>
              <a:rPr lang="en-US" dirty="0" smtClean="0"/>
              <a:t>Agent that communicates with the control plane and manages containers.</a:t>
            </a:r>
          </a:p>
          <a:p>
            <a:r>
              <a:rPr lang="en-US" b="1" dirty="0" smtClean="0"/>
              <a:t>Container Runtime</a:t>
            </a:r>
            <a:r>
              <a:rPr lang="en-US" dirty="0" smtClean="0"/>
              <a:t/>
            </a:r>
            <a:br>
              <a:rPr lang="en-US" dirty="0" smtClean="0"/>
            </a:br>
            <a:r>
              <a:rPr lang="en-US" dirty="0" smtClean="0"/>
              <a:t>Software responsible for running containers such as </a:t>
            </a:r>
            <a:r>
              <a:rPr lang="en-US" dirty="0" err="1" smtClean="0"/>
              <a:t>Docker</a:t>
            </a:r>
            <a:r>
              <a:rPr lang="en-US" dirty="0" smtClean="0"/>
              <a:t>.</a:t>
            </a:r>
          </a:p>
          <a:p>
            <a:r>
              <a:rPr lang="en-US" b="1" dirty="0" err="1" smtClean="0"/>
              <a:t>Kube</a:t>
            </a:r>
            <a:r>
              <a:rPr lang="en-US" b="1" dirty="0" smtClean="0"/>
              <a:t>-proxy</a:t>
            </a:r>
            <a:r>
              <a:rPr lang="en-US" dirty="0" smtClean="0"/>
              <a:t/>
            </a:r>
            <a:br>
              <a:rPr lang="en-US" dirty="0" smtClean="0"/>
            </a:br>
            <a:r>
              <a:rPr lang="en-US" dirty="0" smtClean="0"/>
              <a:t>Handles networking and load balancing between containers.</a:t>
            </a:r>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descr="C:\Users\bishw\Downloads\ChatGPT Image Mar 12, 2026, 03_41_45 PM.png"/>
          <p:cNvPicPr>
            <a:picLocks noChangeAspect="1" noChangeArrowheads="1"/>
          </p:cNvPicPr>
          <p:nvPr/>
        </p:nvPicPr>
        <p:blipFill>
          <a:blip r:embed="rId2"/>
          <a:srcRect/>
          <a:stretch>
            <a:fillRect/>
          </a:stretch>
        </p:blipFill>
        <p:spPr bwMode="auto">
          <a:xfrm>
            <a:off x="787940" y="-189953"/>
            <a:ext cx="10690696" cy="7047953"/>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 of </a:t>
            </a:r>
            <a:r>
              <a:rPr lang="en-US" dirty="0" err="1" smtClean="0"/>
              <a:t>Kubernetes</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1. Container Orchestration</a:t>
            </a:r>
          </a:p>
          <a:p>
            <a:r>
              <a:rPr lang="en-US" dirty="0" err="1" smtClean="0"/>
              <a:t>Kubernetes</a:t>
            </a:r>
            <a:r>
              <a:rPr lang="en-US" dirty="0" smtClean="0"/>
              <a:t> automates container deployment and management across multiple servers.</a:t>
            </a:r>
          </a:p>
          <a:p>
            <a:r>
              <a:rPr lang="en-US" b="1" dirty="0" smtClean="0"/>
              <a:t>2. Auto Scaling</a:t>
            </a:r>
          </a:p>
          <a:p>
            <a:r>
              <a:rPr lang="en-US" dirty="0" err="1" smtClean="0"/>
              <a:t>Kubernetes</a:t>
            </a:r>
            <a:r>
              <a:rPr lang="en-US" dirty="0" smtClean="0"/>
              <a:t> automatically increases or decreases containers depending on workload.</a:t>
            </a:r>
          </a:p>
          <a:p>
            <a:r>
              <a:rPr lang="en-US" dirty="0" smtClean="0"/>
              <a:t>Example:</a:t>
            </a:r>
            <a:br>
              <a:rPr lang="en-US" dirty="0" smtClean="0"/>
            </a:br>
            <a:r>
              <a:rPr lang="en-US" dirty="0" smtClean="0"/>
              <a:t>If web traffic increases, additional containers are created automatically.</a:t>
            </a:r>
          </a:p>
          <a:p>
            <a:r>
              <a:rPr lang="en-US" b="1" dirty="0" smtClean="0"/>
              <a:t>3. Self-Healing</a:t>
            </a:r>
          </a:p>
          <a:p>
            <a:r>
              <a:rPr lang="en-US" dirty="0" smtClean="0"/>
              <a:t>If a container fails, </a:t>
            </a:r>
            <a:r>
              <a:rPr lang="en-US" dirty="0" err="1" smtClean="0"/>
              <a:t>Kubernetes</a:t>
            </a:r>
            <a:r>
              <a:rPr lang="en-US" dirty="0" smtClean="0"/>
              <a:t> automatically restarts or replaces it.</a:t>
            </a:r>
          </a:p>
          <a:p>
            <a:r>
              <a:rPr lang="en-US" dirty="0" smtClean="0"/>
              <a:t>This improves system reliability.</a:t>
            </a:r>
          </a:p>
          <a:p>
            <a:r>
              <a:rPr lang="en-US" b="1" dirty="0" smtClean="0"/>
              <a:t>4. Load Balancing</a:t>
            </a:r>
          </a:p>
          <a:p>
            <a:r>
              <a:rPr lang="en-US" dirty="0" err="1" smtClean="0"/>
              <a:t>Kubernetes</a:t>
            </a:r>
            <a:r>
              <a:rPr lang="en-US" dirty="0" smtClean="0"/>
              <a:t> distributes network traffic evenly across containers to maintain performance.</a:t>
            </a:r>
          </a:p>
          <a:p>
            <a:r>
              <a:rPr lang="en-US" b="1" dirty="0" smtClean="0"/>
              <a:t>5. Rolling Updates and Rollbacks</a:t>
            </a:r>
          </a:p>
          <a:p>
            <a:r>
              <a:rPr lang="en-US" dirty="0" smtClean="0"/>
              <a:t>Applications can be updated without downtime. If an update fails, </a:t>
            </a:r>
            <a:r>
              <a:rPr lang="en-US" dirty="0" err="1" smtClean="0"/>
              <a:t>Kubernetes</a:t>
            </a:r>
            <a:r>
              <a:rPr lang="en-US" dirty="0" smtClean="0"/>
              <a:t> can roll back to a previous version.</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Kubernetes</a:t>
            </a:r>
            <a:r>
              <a:rPr lang="en-US" dirty="0" smtClean="0"/>
              <a:t> pros and cons</a:t>
            </a:r>
            <a:endParaRPr lang="en-US" dirty="0"/>
          </a:p>
        </p:txBody>
      </p:sp>
      <p:sp>
        <p:nvSpPr>
          <p:cNvPr id="3" name="Content Placeholder 2"/>
          <p:cNvSpPr>
            <a:spLocks noGrp="1"/>
          </p:cNvSpPr>
          <p:nvPr>
            <p:ph idx="1"/>
          </p:nvPr>
        </p:nvSpPr>
        <p:spPr/>
        <p:txBody>
          <a:bodyPr>
            <a:normAutofit/>
          </a:bodyPr>
          <a:lstStyle/>
          <a:p>
            <a:r>
              <a:rPr lang="en-US" b="1" dirty="0" smtClean="0"/>
              <a:t>Advantages of </a:t>
            </a:r>
            <a:r>
              <a:rPr lang="en-US" b="1" dirty="0" err="1" smtClean="0"/>
              <a:t>Kubernetes</a:t>
            </a:r>
            <a:endParaRPr lang="en-US" b="1" dirty="0" smtClean="0"/>
          </a:p>
          <a:p>
            <a:pPr lvl="1"/>
            <a:r>
              <a:rPr lang="en-US" dirty="0" smtClean="0"/>
              <a:t>High scalability</a:t>
            </a:r>
          </a:p>
          <a:p>
            <a:pPr lvl="1"/>
            <a:r>
              <a:rPr lang="en-US" dirty="0" smtClean="0"/>
              <a:t>Automated container management</a:t>
            </a:r>
          </a:p>
          <a:p>
            <a:pPr lvl="1"/>
            <a:r>
              <a:rPr lang="en-US" dirty="0" smtClean="0"/>
              <a:t>Efficient resource utilization</a:t>
            </a:r>
          </a:p>
          <a:p>
            <a:pPr lvl="1"/>
            <a:r>
              <a:rPr lang="en-US" dirty="0" smtClean="0"/>
              <a:t>Improved reliability</a:t>
            </a:r>
          </a:p>
          <a:p>
            <a:pPr lvl="1"/>
            <a:r>
              <a:rPr lang="en-US" dirty="0" smtClean="0"/>
              <a:t>Supports </a:t>
            </a:r>
            <a:r>
              <a:rPr lang="en-US" dirty="0" err="1" smtClean="0"/>
              <a:t>microservices</a:t>
            </a:r>
            <a:r>
              <a:rPr lang="en-US" dirty="0" smtClean="0"/>
              <a:t> architecture</a:t>
            </a:r>
          </a:p>
          <a:p>
            <a:r>
              <a:rPr lang="en-US" b="1" dirty="0" smtClean="0"/>
              <a:t> Limitations of </a:t>
            </a:r>
            <a:r>
              <a:rPr lang="en-US" b="1" dirty="0" err="1" smtClean="0"/>
              <a:t>Kubernetes</a:t>
            </a:r>
            <a:endParaRPr lang="en-US" b="1" dirty="0" smtClean="0"/>
          </a:p>
          <a:p>
            <a:pPr lvl="1"/>
            <a:r>
              <a:rPr lang="en-US" dirty="0" smtClean="0"/>
              <a:t>Complex setup and configuration</a:t>
            </a:r>
          </a:p>
          <a:p>
            <a:pPr lvl="1"/>
            <a:r>
              <a:rPr lang="en-US" dirty="0" smtClean="0"/>
              <a:t>Requires skilled administrators</a:t>
            </a:r>
          </a:p>
          <a:p>
            <a:pPr lvl="1"/>
            <a:r>
              <a:rPr lang="en-US" dirty="0" smtClean="0"/>
              <a:t>Networking configuration can be challenging</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OS: </a:t>
            </a:r>
            <a:r>
              <a:rPr lang="en-US" dirty="0" err="1" smtClean="0"/>
              <a:t>OpenStack</a:t>
            </a:r>
            <a:endParaRPr lang="en-US" dirty="0"/>
          </a:p>
        </p:txBody>
      </p:sp>
      <p:sp>
        <p:nvSpPr>
          <p:cNvPr id="3" name="Content Placeholder 2"/>
          <p:cNvSpPr>
            <a:spLocks noGrp="1"/>
          </p:cNvSpPr>
          <p:nvPr>
            <p:ph idx="1"/>
          </p:nvPr>
        </p:nvSpPr>
        <p:spPr/>
        <p:txBody>
          <a:bodyPr/>
          <a:lstStyle/>
          <a:p>
            <a:r>
              <a:rPr lang="en-US" b="1" dirty="0" err="1" smtClean="0"/>
              <a:t>OpenStack</a:t>
            </a:r>
            <a:r>
              <a:rPr lang="en-US" dirty="0" smtClean="0"/>
              <a:t> is an open-source cloud computing platform used for building and managing </a:t>
            </a:r>
            <a:r>
              <a:rPr lang="en-US" b="1" dirty="0" smtClean="0"/>
              <a:t>private and public cloud infrastructures</a:t>
            </a:r>
            <a:r>
              <a:rPr lang="en-US" dirty="0" smtClean="0"/>
              <a:t>. It provides a complete solution for managing computing, storage, and networking resources in large data centers.</a:t>
            </a:r>
          </a:p>
          <a:p>
            <a:r>
              <a:rPr lang="en-US" dirty="0" err="1" smtClean="0"/>
              <a:t>OpenStack</a:t>
            </a:r>
            <a:r>
              <a:rPr lang="en-US" dirty="0" smtClean="0"/>
              <a:t> is commonly used to implement </a:t>
            </a:r>
            <a:r>
              <a:rPr lang="en-US" b="1" dirty="0" smtClean="0"/>
              <a:t>Infrastructure-as-a-Service (</a:t>
            </a:r>
            <a:r>
              <a:rPr lang="en-US" b="1" dirty="0" err="1" smtClean="0"/>
              <a:t>IaaS</a:t>
            </a:r>
            <a:r>
              <a:rPr lang="en-US" b="1" dirty="0" smtClean="0"/>
              <a:t>)</a:t>
            </a:r>
            <a:r>
              <a:rPr lang="en-US" dirty="0" smtClean="0"/>
              <a:t> clouds where users can create and manage virtual machines on demand.</a:t>
            </a:r>
          </a:p>
          <a:p>
            <a:r>
              <a:rPr lang="en-US" dirty="0" smtClean="0"/>
              <a:t>It was initially developed through collaboration between </a:t>
            </a:r>
            <a:r>
              <a:rPr lang="en-US" b="1" dirty="0" err="1" smtClean="0"/>
              <a:t>Rackspace</a:t>
            </a:r>
            <a:r>
              <a:rPr lang="en-US" b="1" dirty="0" smtClean="0"/>
              <a:t> Technology</a:t>
            </a:r>
            <a:r>
              <a:rPr lang="en-US" dirty="0" smtClean="0"/>
              <a:t> and </a:t>
            </a:r>
            <a:r>
              <a:rPr lang="en-US" b="1" dirty="0" smtClean="0"/>
              <a:t>NASA</a:t>
            </a:r>
            <a:r>
              <a:rPr lang="en-US" dirty="0" smtClean="0"/>
              <a:t>.</a:t>
            </a:r>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of </a:t>
            </a:r>
            <a:r>
              <a:rPr lang="en-US" dirty="0" err="1" smtClean="0"/>
              <a:t>OpenStack</a:t>
            </a:r>
            <a:endParaRPr lang="en-US" dirty="0"/>
          </a:p>
        </p:txBody>
      </p:sp>
      <p:sp>
        <p:nvSpPr>
          <p:cNvPr id="3" name="Content Placeholder 2"/>
          <p:cNvSpPr>
            <a:spLocks noGrp="1"/>
          </p:cNvSpPr>
          <p:nvPr>
            <p:ph idx="1"/>
          </p:nvPr>
        </p:nvSpPr>
        <p:spPr/>
        <p:txBody>
          <a:bodyPr>
            <a:normAutofit fontScale="62500" lnSpcReduction="20000"/>
          </a:bodyPr>
          <a:lstStyle/>
          <a:p>
            <a:r>
              <a:rPr lang="en-US" dirty="0" err="1" smtClean="0"/>
              <a:t>OpenStack</a:t>
            </a:r>
            <a:r>
              <a:rPr lang="en-US" dirty="0" smtClean="0"/>
              <a:t> consists of several independent services that work together to manage cloud infrastructure.</a:t>
            </a:r>
          </a:p>
          <a:p>
            <a:r>
              <a:rPr lang="en-US" dirty="0" smtClean="0"/>
              <a:t>Major components include:</a:t>
            </a:r>
          </a:p>
          <a:p>
            <a:r>
              <a:rPr lang="en-US" b="1" dirty="0" smtClean="0"/>
              <a:t>1. Nova (Compute Service)</a:t>
            </a:r>
          </a:p>
          <a:p>
            <a:r>
              <a:rPr lang="en-US" dirty="0" smtClean="0"/>
              <a:t>Nova manages the lifecycle of virtual machines.</a:t>
            </a:r>
          </a:p>
          <a:p>
            <a:r>
              <a:rPr lang="en-US" dirty="0" smtClean="0"/>
              <a:t>Functions include:</a:t>
            </a:r>
          </a:p>
          <a:p>
            <a:r>
              <a:rPr lang="en-US" dirty="0" smtClean="0"/>
              <a:t>Creating virtual machines</a:t>
            </a:r>
          </a:p>
          <a:p>
            <a:r>
              <a:rPr lang="en-US" dirty="0" smtClean="0"/>
              <a:t>Scheduling workloads</a:t>
            </a:r>
          </a:p>
          <a:p>
            <a:r>
              <a:rPr lang="en-US" dirty="0" smtClean="0"/>
              <a:t>Managing compute resources</a:t>
            </a:r>
          </a:p>
          <a:p>
            <a:r>
              <a:rPr lang="en-US" b="1" dirty="0" smtClean="0"/>
              <a:t>2. Neutron (Networking Service)</a:t>
            </a:r>
          </a:p>
          <a:p>
            <a:r>
              <a:rPr lang="en-US" dirty="0" smtClean="0"/>
              <a:t>Neutron provides networking services such as:</a:t>
            </a:r>
          </a:p>
          <a:p>
            <a:r>
              <a:rPr lang="en-US" dirty="0" smtClean="0"/>
              <a:t>IP address management</a:t>
            </a:r>
          </a:p>
          <a:p>
            <a:r>
              <a:rPr lang="en-US" dirty="0" smtClean="0"/>
              <a:t>Virtual networks</a:t>
            </a:r>
          </a:p>
          <a:p>
            <a:r>
              <a:rPr lang="en-US" dirty="0" smtClean="0"/>
              <a:t>Routers and firewalls</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of </a:t>
            </a:r>
            <a:r>
              <a:rPr lang="en-US" dirty="0" err="1" smtClean="0"/>
              <a:t>OpenStack</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3. Cinder (Block Storage)</a:t>
            </a:r>
          </a:p>
          <a:p>
            <a:r>
              <a:rPr lang="en-US" dirty="0" smtClean="0"/>
              <a:t>Cinder provides persistent block storage for virtual machines.</a:t>
            </a:r>
          </a:p>
          <a:p>
            <a:r>
              <a:rPr lang="en-US" dirty="0" smtClean="0"/>
              <a:t>Example:</a:t>
            </a:r>
            <a:br>
              <a:rPr lang="en-US" dirty="0" smtClean="0"/>
            </a:br>
            <a:r>
              <a:rPr lang="en-US" dirty="0" smtClean="0"/>
              <a:t>Attaching a virtual disk to a VM.</a:t>
            </a:r>
          </a:p>
          <a:p>
            <a:r>
              <a:rPr lang="en-US" b="1" dirty="0" smtClean="0"/>
              <a:t>4. Swift (Object Storage)</a:t>
            </a:r>
          </a:p>
          <a:p>
            <a:r>
              <a:rPr lang="en-US" dirty="0" smtClean="0"/>
              <a:t>Swift provides scalable object storage used for storing large amounts of unstructured data.</a:t>
            </a:r>
          </a:p>
          <a:p>
            <a:r>
              <a:rPr lang="en-US" dirty="0" smtClean="0"/>
              <a:t>Example:</a:t>
            </a:r>
          </a:p>
          <a:p>
            <a:r>
              <a:rPr lang="en-US" dirty="0" smtClean="0"/>
              <a:t>Backups</a:t>
            </a:r>
          </a:p>
          <a:p>
            <a:r>
              <a:rPr lang="en-US" dirty="0" smtClean="0"/>
              <a:t>Images</a:t>
            </a:r>
          </a:p>
          <a:p>
            <a:r>
              <a:rPr lang="en-US" dirty="0" smtClean="0"/>
              <a:t>Videos</a:t>
            </a:r>
          </a:p>
          <a:p>
            <a:endParaRPr lang="en-US" dirty="0" smtClean="0"/>
          </a:p>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of </a:t>
            </a:r>
            <a:r>
              <a:rPr lang="en-US" dirty="0" err="1" smtClean="0"/>
              <a:t>OpenStack</a:t>
            </a:r>
            <a:endParaRPr lang="en-US" dirty="0"/>
          </a:p>
        </p:txBody>
      </p:sp>
      <p:sp>
        <p:nvSpPr>
          <p:cNvPr id="3" name="Content Placeholder 2"/>
          <p:cNvSpPr>
            <a:spLocks noGrp="1"/>
          </p:cNvSpPr>
          <p:nvPr>
            <p:ph idx="1"/>
          </p:nvPr>
        </p:nvSpPr>
        <p:spPr/>
        <p:txBody>
          <a:bodyPr/>
          <a:lstStyle/>
          <a:p>
            <a:r>
              <a:rPr lang="en-US" b="1" dirty="0" smtClean="0"/>
              <a:t>5. Glance (Image Service)</a:t>
            </a:r>
          </a:p>
          <a:p>
            <a:r>
              <a:rPr lang="en-US" dirty="0" smtClean="0"/>
              <a:t>Glance stores and manages virtual machine images used to create new VMs.</a:t>
            </a:r>
          </a:p>
          <a:p>
            <a:r>
              <a:rPr lang="en-US" b="1" dirty="0" smtClean="0"/>
              <a:t>6. Keystone (Identity Service)</a:t>
            </a:r>
          </a:p>
          <a:p>
            <a:r>
              <a:rPr lang="en-US" dirty="0" smtClean="0"/>
              <a:t>Keystone provides authentication and authorization for </a:t>
            </a:r>
            <a:r>
              <a:rPr lang="en-US" dirty="0" err="1" smtClean="0"/>
              <a:t>OpenStack</a:t>
            </a:r>
            <a:r>
              <a:rPr lang="en-US" dirty="0" smtClean="0"/>
              <a:t> services.</a:t>
            </a:r>
          </a:p>
          <a:p>
            <a:r>
              <a:rPr lang="en-US" b="1" dirty="0" smtClean="0"/>
              <a:t>7. Horizon (Dashboard)</a:t>
            </a:r>
          </a:p>
          <a:p>
            <a:r>
              <a:rPr lang="en-US" dirty="0" smtClean="0"/>
              <a:t>Horizon provides a web-based graphical interface for managing cloud resources.</a:t>
            </a:r>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smtClean="0"/>
          </a:p>
          <a:p>
            <a:pPr>
              <a:buNone/>
            </a:pPr>
            <a:endParaRPr lang="en-US" dirty="0" smtClean="0"/>
          </a:p>
          <a:p>
            <a:pPr>
              <a:buNone/>
            </a:pPr>
            <a:endParaRPr lang="en-US" dirty="0" smtClean="0"/>
          </a:p>
        </p:txBody>
      </p:sp>
      <p:pic>
        <p:nvPicPr>
          <p:cNvPr id="4" name="Picture 3" descr="ChatGPT Image Mar 12, 2026, 03_48_34 PM.png"/>
          <p:cNvPicPr>
            <a:picLocks noChangeAspect="1"/>
          </p:cNvPicPr>
          <p:nvPr/>
        </p:nvPicPr>
        <p:blipFill>
          <a:blip r:embed="rId2"/>
          <a:stretch>
            <a:fillRect/>
          </a:stretch>
        </p:blipFill>
        <p:spPr>
          <a:xfrm>
            <a:off x="1028700" y="0"/>
            <a:ext cx="10344150" cy="689610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 of </a:t>
            </a:r>
            <a:r>
              <a:rPr lang="en-US" dirty="0" err="1" smtClean="0"/>
              <a:t>OpenStack</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1. Infrastructure Virtualization</a:t>
            </a:r>
          </a:p>
          <a:p>
            <a:r>
              <a:rPr lang="en-US" dirty="0" err="1" smtClean="0"/>
              <a:t>OpenStack</a:t>
            </a:r>
            <a:r>
              <a:rPr lang="en-US" dirty="0" smtClean="0"/>
              <a:t> allows virtualization of computing resources in data centers.</a:t>
            </a:r>
          </a:p>
          <a:p>
            <a:r>
              <a:rPr lang="en-US" b="1" dirty="0" smtClean="0"/>
              <a:t>2. Multi-Tenant Architecture</a:t>
            </a:r>
          </a:p>
          <a:p>
            <a:r>
              <a:rPr lang="en-US" dirty="0" smtClean="0"/>
              <a:t>Multiple users or organizations can share the same infrastructure securely.</a:t>
            </a:r>
          </a:p>
          <a:p>
            <a:r>
              <a:rPr lang="en-US" b="1" dirty="0" smtClean="0"/>
              <a:t>3. Scalability</a:t>
            </a:r>
          </a:p>
          <a:p>
            <a:r>
              <a:rPr lang="en-US" dirty="0" err="1" smtClean="0"/>
              <a:t>OpenStack</a:t>
            </a:r>
            <a:r>
              <a:rPr lang="en-US" dirty="0" smtClean="0"/>
              <a:t> can manage thousands of servers and virtual machines.</a:t>
            </a:r>
          </a:p>
          <a:p>
            <a:r>
              <a:rPr lang="en-US" b="1" dirty="0" smtClean="0"/>
              <a:t>4. Open Source Platform</a:t>
            </a:r>
          </a:p>
          <a:p>
            <a:r>
              <a:rPr lang="en-US" dirty="0" smtClean="0"/>
              <a:t>Organizations can customize </a:t>
            </a:r>
            <a:r>
              <a:rPr lang="en-US" dirty="0" err="1" smtClean="0"/>
              <a:t>OpenStack</a:t>
            </a:r>
            <a:r>
              <a:rPr lang="en-US" dirty="0" smtClean="0"/>
              <a:t> according to their needs.</a:t>
            </a:r>
          </a:p>
          <a:p>
            <a:r>
              <a:rPr lang="en-US" b="1" dirty="0" smtClean="0"/>
              <a:t>5. API-Based Architecture</a:t>
            </a:r>
          </a:p>
          <a:p>
            <a:r>
              <a:rPr lang="en-US" dirty="0" smtClean="0"/>
              <a:t>All services communicate using APIs, enabling automation and integration with other systems.</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OpenStack</a:t>
            </a:r>
            <a:r>
              <a:rPr lang="en-US" dirty="0" smtClean="0"/>
              <a:t> Pros and Cons</a:t>
            </a:r>
            <a:endParaRPr lang="en-US" dirty="0"/>
          </a:p>
        </p:txBody>
      </p:sp>
      <p:sp>
        <p:nvSpPr>
          <p:cNvPr id="3" name="Content Placeholder 2"/>
          <p:cNvSpPr>
            <a:spLocks noGrp="1"/>
          </p:cNvSpPr>
          <p:nvPr>
            <p:ph idx="1"/>
          </p:nvPr>
        </p:nvSpPr>
        <p:spPr/>
        <p:txBody>
          <a:bodyPr>
            <a:normAutofit lnSpcReduction="10000"/>
          </a:bodyPr>
          <a:lstStyle/>
          <a:p>
            <a:r>
              <a:rPr lang="en-US" b="1" dirty="0" smtClean="0"/>
              <a:t>Advantages of </a:t>
            </a:r>
            <a:r>
              <a:rPr lang="en-US" b="1" dirty="0" err="1" smtClean="0"/>
              <a:t>OpenStack</a:t>
            </a:r>
            <a:endParaRPr lang="en-US" b="1" dirty="0" smtClean="0"/>
          </a:p>
          <a:p>
            <a:r>
              <a:rPr lang="en-US" dirty="0" smtClean="0"/>
              <a:t>Highly scalable</a:t>
            </a:r>
          </a:p>
          <a:p>
            <a:r>
              <a:rPr lang="en-US" dirty="0" smtClean="0"/>
              <a:t>Flexible architecture</a:t>
            </a:r>
          </a:p>
          <a:p>
            <a:r>
              <a:rPr lang="en-US" dirty="0" smtClean="0"/>
              <a:t>Open-source and customizable</a:t>
            </a:r>
          </a:p>
          <a:p>
            <a:r>
              <a:rPr lang="en-US" dirty="0" smtClean="0"/>
              <a:t>Supports hybrid and private clouds</a:t>
            </a:r>
          </a:p>
          <a:p>
            <a:r>
              <a:rPr lang="en-US" b="1" dirty="0" smtClean="0"/>
              <a:t>Limitations of </a:t>
            </a:r>
            <a:r>
              <a:rPr lang="en-US" b="1" dirty="0" err="1" smtClean="0"/>
              <a:t>OpenStack</a:t>
            </a:r>
            <a:endParaRPr lang="en-US" b="1" dirty="0" smtClean="0"/>
          </a:p>
          <a:p>
            <a:r>
              <a:rPr lang="en-US" dirty="0" smtClean="0"/>
              <a:t>Complex installation and maintenance</a:t>
            </a:r>
          </a:p>
          <a:p>
            <a:r>
              <a:rPr lang="en-US" dirty="0" smtClean="0"/>
              <a:t>Requires significant infrastructure</a:t>
            </a:r>
          </a:p>
          <a:p>
            <a:r>
              <a:rPr lang="en-US" dirty="0" smtClean="0"/>
              <a:t>High operational cost for small organizations</a:t>
            </a:r>
          </a:p>
          <a:p>
            <a:endParaRPr lang="en-US" dirty="0" smtClean="0"/>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studies : Amazon </a:t>
            </a:r>
            <a:r>
              <a:rPr lang="en-US" dirty="0" err="1" smtClean="0"/>
              <a:t>DynamoDB</a:t>
            </a:r>
            <a:r>
              <a:rPr lang="en-US" dirty="0" smtClean="0"/>
              <a:t> (</a:t>
            </a:r>
            <a:r>
              <a:rPr lang="en-US" dirty="0" err="1" smtClean="0"/>
              <a:t>NoSQL</a:t>
            </a:r>
            <a:r>
              <a:rPr lang="en-US" dirty="0" smtClean="0"/>
              <a:t>), Microsoft Azure and Fault Tolerant DS.</a:t>
            </a:r>
            <a:endParaRPr lang="en-US" dirty="0"/>
          </a:p>
        </p:txBody>
      </p:sp>
      <p:sp>
        <p:nvSpPr>
          <p:cNvPr id="3" name="Content Placeholder 2"/>
          <p:cNvSpPr>
            <a:spLocks noGrp="1"/>
          </p:cNvSpPr>
          <p:nvPr>
            <p:ph idx="1"/>
          </p:nvPr>
        </p:nvSpPr>
        <p:spPr/>
        <p:txBody>
          <a:bodyPr/>
          <a:lstStyle/>
          <a:p>
            <a:r>
              <a:rPr lang="en-US" dirty="0" smtClean="0"/>
              <a:t>Assignment</a:t>
            </a:r>
          </a:p>
          <a:p>
            <a:endParaRPr lang="en-US" dirty="0" smtClean="0"/>
          </a:p>
          <a:p>
            <a:r>
              <a:rPr lang="en-US" dirty="0" smtClean="0"/>
              <a:t>Make a video of 10 minutes presentation explaining </a:t>
            </a:r>
            <a:r>
              <a:rPr lang="en-US" b="1" dirty="0" err="1" smtClean="0"/>
              <a:t>DynamoDB</a:t>
            </a:r>
            <a:r>
              <a:rPr lang="en-US" b="1" dirty="0" smtClean="0"/>
              <a:t> (</a:t>
            </a:r>
            <a:r>
              <a:rPr lang="en-US" b="1" dirty="0" err="1" smtClean="0"/>
              <a:t>NoSQL</a:t>
            </a:r>
            <a:r>
              <a:rPr lang="en-US" b="1" dirty="0" smtClean="0"/>
              <a:t>)</a:t>
            </a:r>
            <a:r>
              <a:rPr lang="en-US" dirty="0" smtClean="0"/>
              <a:t> or </a:t>
            </a:r>
            <a:r>
              <a:rPr lang="en-US" b="1" dirty="0" smtClean="0"/>
              <a:t>Microsoft Azure</a:t>
            </a:r>
            <a:r>
              <a:rPr lang="en-US" dirty="0" smtClean="0"/>
              <a:t> or </a:t>
            </a:r>
            <a:r>
              <a:rPr lang="en-US" b="1" dirty="0" smtClean="0"/>
              <a:t>Fault Tolerant DS.</a:t>
            </a:r>
          </a:p>
          <a:p>
            <a:r>
              <a:rPr lang="en-US" b="1" dirty="0" smtClean="0">
                <a:solidFill>
                  <a:srgbClr val="FF0000"/>
                </a:solidFill>
              </a:rPr>
              <a:t>The video should be posted in </a:t>
            </a:r>
            <a:r>
              <a:rPr lang="en-US" b="1" dirty="0" err="1" smtClean="0">
                <a:solidFill>
                  <a:srgbClr val="FF0000"/>
                </a:solidFill>
              </a:rPr>
              <a:t>youtube</a:t>
            </a:r>
            <a:r>
              <a:rPr lang="en-US" b="1" dirty="0" smtClean="0">
                <a:solidFill>
                  <a:srgbClr val="FF0000"/>
                </a:solidFill>
              </a:rPr>
              <a:t> and link should </a:t>
            </a:r>
            <a:r>
              <a:rPr lang="en-US" b="1" smtClean="0">
                <a:solidFill>
                  <a:srgbClr val="FF0000"/>
                </a:solidFill>
              </a:rPr>
              <a:t>be provided</a:t>
            </a:r>
            <a:endParaRPr lang="en-US" b="1" dirty="0">
              <a:solidFill>
                <a:srgbClr val="FF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3550</TotalTime>
  <Words>3118</Words>
  <Application>Microsoft Macintosh PowerPoint</Application>
  <PresentationFormat>Custom</PresentationFormat>
  <Paragraphs>578</Paragraphs>
  <Slides>62</Slides>
  <Notes>1</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Distributed and Cloud Operating Systems </vt:lpstr>
      <vt:lpstr>Key Concepts </vt:lpstr>
      <vt:lpstr>Transparency</vt:lpstr>
      <vt:lpstr>Types of Transparency </vt:lpstr>
      <vt:lpstr>Transparency: Types of Transparency </vt:lpstr>
      <vt:lpstr>Types of Transparency </vt:lpstr>
      <vt:lpstr>Communication</vt:lpstr>
      <vt:lpstr>Communication</vt:lpstr>
      <vt:lpstr>Communication</vt:lpstr>
      <vt:lpstr>Communication</vt:lpstr>
      <vt:lpstr>Communication</vt:lpstr>
      <vt:lpstr>Synchronization</vt:lpstr>
      <vt:lpstr>Synchronization</vt:lpstr>
      <vt:lpstr>Synchronization Techniques </vt:lpstr>
      <vt:lpstr>Synchronization Techniques </vt:lpstr>
      <vt:lpstr>Synchronization Techniques </vt:lpstr>
      <vt:lpstr>Cloud Resource Management</vt:lpstr>
      <vt:lpstr>Cloud Resource Management</vt:lpstr>
      <vt:lpstr>Resource Scaling in Cloud</vt:lpstr>
      <vt:lpstr>Types of Cloud Scaling</vt:lpstr>
      <vt:lpstr>Load Balancing </vt:lpstr>
      <vt:lpstr>Load Balancing Algorithms  </vt:lpstr>
      <vt:lpstr>Load Balancing Algorithms  </vt:lpstr>
      <vt:lpstr>Load Balancing Algorithms  </vt:lpstr>
      <vt:lpstr>Load Balancing Algorithms  </vt:lpstr>
      <vt:lpstr>Load Balancing Algorithms  </vt:lpstr>
      <vt:lpstr>Load Balancing Algorithms  </vt:lpstr>
      <vt:lpstr>Load Balancing Algorithms  </vt:lpstr>
      <vt:lpstr>Load Balancing Algorithms  </vt:lpstr>
      <vt:lpstr>Layer 4 Load Balancer vs Layer 7 Load Balancer</vt:lpstr>
      <vt:lpstr>Resource Management in Cloud Environments</vt:lpstr>
      <vt:lpstr>Objectives of Resource Management</vt:lpstr>
      <vt:lpstr>Objectives of Resource Management</vt:lpstr>
      <vt:lpstr>Types of Cloud Resources</vt:lpstr>
      <vt:lpstr>Types of Cloud Resources</vt:lpstr>
      <vt:lpstr>Types of Cloud Resources</vt:lpstr>
      <vt:lpstr>Key Components of Cloud Resource Management</vt:lpstr>
      <vt:lpstr>Key Components of Cloud Resource Management</vt:lpstr>
      <vt:lpstr>Key Components of Cloud Resource Management</vt:lpstr>
      <vt:lpstr>Key Components of Cloud Resource Management</vt:lpstr>
      <vt:lpstr>Key Components of Cloud Resource Management</vt:lpstr>
      <vt:lpstr>Virtualization in Resource Management</vt:lpstr>
      <vt:lpstr>Auto Scaling </vt:lpstr>
      <vt:lpstr>Challenges in Cloud Resource Management</vt:lpstr>
      <vt:lpstr>Resource Management Techniques</vt:lpstr>
      <vt:lpstr>Resource Management Techniques</vt:lpstr>
      <vt:lpstr>Resource Management Techniques</vt:lpstr>
      <vt:lpstr>Cloud Operating Systems: Kubernetes</vt:lpstr>
      <vt:lpstr>Example of Cloud Resource Management</vt:lpstr>
      <vt:lpstr>Architecture of Kubernetes</vt:lpstr>
      <vt:lpstr>Architecture of Kubernetes</vt:lpstr>
      <vt:lpstr>Slide 52</vt:lpstr>
      <vt:lpstr>Key Features of Kubernetes</vt:lpstr>
      <vt:lpstr>Kubernetes pros and cons</vt:lpstr>
      <vt:lpstr>Cloud OS: OpenStack</vt:lpstr>
      <vt:lpstr>Architecture of OpenStack</vt:lpstr>
      <vt:lpstr>Architecture of OpenStack</vt:lpstr>
      <vt:lpstr>Architecture of OpenStack</vt:lpstr>
      <vt:lpstr>Slide 59</vt:lpstr>
      <vt:lpstr>Key Features of OpenStack</vt:lpstr>
      <vt:lpstr>OpenStack Pros and Cons</vt:lpstr>
      <vt:lpstr>Case studies : Amazon DynamoDB (NoSQL), Microsoft Azure and Fault Tolerant DS.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 and Virtualization</dc:title>
  <dc:creator>Harimohan Khatri</dc:creator>
  <cp:lastModifiedBy>Bishwadeep Mainaly</cp:lastModifiedBy>
  <cp:revision>53</cp:revision>
  <cp:lastPrinted>2026-01-07T14:38:33Z</cp:lastPrinted>
  <dcterms:created xsi:type="dcterms:W3CDTF">2025-12-31T05:58:09Z</dcterms:created>
  <dcterms:modified xsi:type="dcterms:W3CDTF">2026-03-12T13:48:33Z</dcterms:modified>
</cp:coreProperties>
</file>