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7" r:id="rId4"/>
    <p:sldId id="259" r:id="rId5"/>
    <p:sldId id="260" r:id="rId6"/>
    <p:sldId id="261" r:id="rId7"/>
    <p:sldId id="263" r:id="rId8"/>
    <p:sldId id="264" r:id="rId9"/>
    <p:sldId id="265" r:id="rId10"/>
    <p:sldId id="266" r:id="rId11"/>
    <p:sldId id="267" r:id="rId12"/>
    <p:sldId id="268" r:id="rId13"/>
    <p:sldId id="262"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3" r:id="rId27"/>
    <p:sldId id="284" r:id="rId28"/>
    <p:sldId id="285" r:id="rId29"/>
    <p:sldId id="286" r:id="rId30"/>
    <p:sldId id="287" r:id="rId31"/>
    <p:sldId id="288" r:id="rId32"/>
    <p:sldId id="289" r:id="rId33"/>
    <p:sldId id="290" r:id="rId34"/>
    <p:sldId id="291" r:id="rId35"/>
    <p:sldId id="293"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7" d="100"/>
          <a:sy n="67" d="100"/>
        </p:scale>
        <p:origin x="-1256" y="-7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5/26/2026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5/26/2026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5/26/2026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5/26/2026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5/26/2026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OPERATING SYSTEM</a:t>
            </a:r>
            <a:endParaRPr lang="en-US" dirty="0"/>
          </a:p>
        </p:txBody>
      </p:sp>
      <p:sp>
        <p:nvSpPr>
          <p:cNvPr id="3" name="Subtitle 2"/>
          <p:cNvSpPr>
            <a:spLocks noGrp="1"/>
          </p:cNvSpPr>
          <p:nvPr>
            <p:ph type="subTitle" idx="1"/>
          </p:nvPr>
        </p:nvSpPr>
        <p:spPr/>
        <p:txBody>
          <a:bodyPr/>
          <a:lstStyle/>
          <a:p>
            <a:r>
              <a:rPr lang="en-US" dirty="0" smtClean="0"/>
              <a:t>BY</a:t>
            </a:r>
          </a:p>
          <a:p>
            <a:r>
              <a:rPr lang="en-US" dirty="0" smtClean="0"/>
              <a:t>ASST PROFESSOR BISHWADEEP MAINALY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850392" lvl="1" indent="-457200">
              <a:buFont typeface="+mj-lt"/>
              <a:buAutoNum type="arabicPeriod"/>
            </a:pPr>
            <a:r>
              <a:rPr lang="en-US" sz="2400" dirty="0" smtClean="0"/>
              <a:t>Review on operating system: OS concepts, System Calls, Process, Threads, CPU Scheduling, Memory, Storage, I/O Management.</a:t>
            </a:r>
          </a:p>
          <a:p>
            <a:pPr marL="850392" lvl="1" indent="-457200">
              <a:buFont typeface="+mj-lt"/>
              <a:buAutoNum type="arabicPeriod"/>
            </a:pPr>
            <a:r>
              <a:rPr lang="en-US" sz="2400" dirty="0" smtClean="0"/>
              <a:t>Operating System Design Goals and Principles</a:t>
            </a:r>
          </a:p>
          <a:p>
            <a:pPr marL="850392" lvl="1" indent="-457200">
              <a:buFont typeface="+mj-lt"/>
              <a:buAutoNum type="arabicPeriod"/>
            </a:pPr>
            <a:r>
              <a:rPr lang="en-US" sz="2400" dirty="0" smtClean="0"/>
              <a:t>Operating System Structures and Kernel Types: Layered, Monolithic, Microkernel, Hybrid Kernel, </a:t>
            </a:r>
            <a:r>
              <a:rPr lang="en-US" sz="2400" dirty="0" err="1" smtClean="0"/>
              <a:t>Exokernel</a:t>
            </a:r>
            <a:r>
              <a:rPr lang="en-US" sz="2400" dirty="0" smtClean="0"/>
              <a:t>, </a:t>
            </a:r>
            <a:r>
              <a:rPr lang="en-US" sz="2400" dirty="0" err="1" smtClean="0"/>
              <a:t>Nanokernel</a:t>
            </a:r>
            <a:r>
              <a:rPr lang="en-US" sz="2400" dirty="0" smtClean="0"/>
              <a:t>, and Modular Kernel</a:t>
            </a:r>
          </a:p>
          <a:p>
            <a:pPr marL="850392" lvl="1" indent="-457200">
              <a:buFont typeface="+mj-lt"/>
              <a:buAutoNum type="arabicPeriod"/>
            </a:pPr>
            <a:r>
              <a:rPr lang="en-US" sz="2400" dirty="0" smtClean="0"/>
              <a:t>Kernel Design and Implementation Strategies</a:t>
            </a:r>
          </a:p>
          <a:p>
            <a:pPr marL="850392" lvl="1" indent="-457200">
              <a:buFont typeface="+mj-lt"/>
              <a:buAutoNum type="arabicPeriod"/>
            </a:pPr>
            <a:r>
              <a:rPr lang="en-US" sz="2400" dirty="0" smtClean="0"/>
              <a:t>Case Studies : Linux Kernel Architecture, Windows NT Architecture</a:t>
            </a:r>
          </a:p>
          <a:p>
            <a:endParaRPr lang="en-US" dirty="0"/>
          </a:p>
        </p:txBody>
      </p:sp>
      <p:sp>
        <p:nvSpPr>
          <p:cNvPr id="3" name="Title 2"/>
          <p:cNvSpPr>
            <a:spLocks noGrp="1"/>
          </p:cNvSpPr>
          <p:nvPr>
            <p:ph type="title"/>
          </p:nvPr>
        </p:nvSpPr>
        <p:spPr/>
        <p:txBody>
          <a:bodyPr>
            <a:normAutofit fontScale="90000"/>
          </a:bodyPr>
          <a:lstStyle/>
          <a:p>
            <a:pPr lvl="0"/>
            <a:r>
              <a:rPr lang="en-US" sz="3600" dirty="0" smtClean="0"/>
              <a:t> Operating System Architecture (4 hrs)</a:t>
            </a:r>
            <a:r>
              <a:rPr lang="en-US" sz="4400" dirty="0" smtClean="0"/>
              <a:t/>
            </a:r>
            <a:br>
              <a:rPr lang="en-US" sz="4400" dirty="0" smtClean="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A program that acts as an intermediary between a user of a computer and the computer hardware</a:t>
            </a:r>
          </a:p>
          <a:p>
            <a:r>
              <a:rPr lang="en-US" dirty="0" smtClean="0"/>
              <a:t>Operating system goals:</a:t>
            </a:r>
          </a:p>
          <a:p>
            <a:pPr lvl="1"/>
            <a:r>
              <a:rPr lang="en-US" dirty="0" smtClean="0"/>
              <a:t>Execute user programs and make solving user problems easier</a:t>
            </a:r>
          </a:p>
          <a:p>
            <a:pPr lvl="1"/>
            <a:r>
              <a:rPr lang="en-US" dirty="0" smtClean="0"/>
              <a:t>Make the computer system convenient to use</a:t>
            </a:r>
          </a:p>
          <a:p>
            <a:pPr lvl="1"/>
            <a:r>
              <a:rPr lang="en-US" dirty="0" smtClean="0"/>
              <a:t>Use the computer hardware in an efficient manner</a:t>
            </a:r>
          </a:p>
          <a:p>
            <a:endParaRPr lang="en-US" dirty="0"/>
          </a:p>
        </p:txBody>
      </p:sp>
      <p:sp>
        <p:nvSpPr>
          <p:cNvPr id="2" name="Title 1"/>
          <p:cNvSpPr>
            <a:spLocks noGrp="1"/>
          </p:cNvSpPr>
          <p:nvPr>
            <p:ph type="title"/>
          </p:nvPr>
        </p:nvSpPr>
        <p:spPr/>
        <p:txBody>
          <a:bodyPr/>
          <a:lstStyle/>
          <a:p>
            <a:r>
              <a:rPr lang="en-US" dirty="0" smtClean="0"/>
              <a:t>What is an Operating System?</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smtClean="0"/>
              <a:t>Computer system can be divided into four components:</a:t>
            </a:r>
          </a:p>
          <a:p>
            <a:pPr lvl="1"/>
            <a:r>
              <a:rPr lang="en-US" b="1" dirty="0" smtClean="0"/>
              <a:t>Hardware</a:t>
            </a:r>
            <a:r>
              <a:rPr lang="en-US" dirty="0" smtClean="0"/>
              <a:t> – provides basic computing resources</a:t>
            </a:r>
          </a:p>
          <a:p>
            <a:pPr lvl="2"/>
            <a:r>
              <a:rPr lang="en-US" dirty="0" smtClean="0"/>
              <a:t>CPU, memory, I/O devices</a:t>
            </a:r>
          </a:p>
          <a:p>
            <a:pPr lvl="1"/>
            <a:r>
              <a:rPr lang="en-US" b="1" dirty="0" smtClean="0"/>
              <a:t>Operating system</a:t>
            </a:r>
          </a:p>
          <a:p>
            <a:pPr lvl="2"/>
            <a:r>
              <a:rPr lang="en-US" dirty="0" smtClean="0"/>
              <a:t>Controls and coordinates use of hardware among various applications and users</a:t>
            </a:r>
          </a:p>
          <a:p>
            <a:pPr lvl="1"/>
            <a:r>
              <a:rPr lang="en-US" b="1" dirty="0" smtClean="0"/>
              <a:t>Application programs</a:t>
            </a:r>
            <a:r>
              <a:rPr lang="en-US" dirty="0" smtClean="0"/>
              <a:t> – define the ways in which the system resources are used to solve the computing problems of the users</a:t>
            </a:r>
          </a:p>
          <a:p>
            <a:pPr lvl="2"/>
            <a:r>
              <a:rPr lang="en-US" dirty="0" smtClean="0"/>
              <a:t>Word processors, compilers, web browsers, database systems, video games</a:t>
            </a:r>
          </a:p>
          <a:p>
            <a:pPr lvl="1"/>
            <a:r>
              <a:rPr lang="en-US" b="1" dirty="0" smtClean="0"/>
              <a:t>Users</a:t>
            </a:r>
          </a:p>
          <a:p>
            <a:pPr lvl="2"/>
            <a:r>
              <a:rPr lang="en-US" dirty="0" smtClean="0"/>
              <a:t>People, machines, other computers</a:t>
            </a:r>
          </a:p>
          <a:p>
            <a:endParaRPr lang="en-US" dirty="0"/>
          </a:p>
        </p:txBody>
      </p:sp>
      <p:sp>
        <p:nvSpPr>
          <p:cNvPr id="3" name="Title 2"/>
          <p:cNvSpPr>
            <a:spLocks noGrp="1"/>
          </p:cNvSpPr>
          <p:nvPr>
            <p:ph type="title"/>
          </p:nvPr>
        </p:nvSpPr>
        <p:spPr/>
        <p:txBody>
          <a:bodyPr/>
          <a:lstStyle/>
          <a:p>
            <a:r>
              <a:rPr lang="en-US" dirty="0" smtClean="0"/>
              <a:t>Computer System Structure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smtClean="0"/>
              <a:t>OS is a </a:t>
            </a:r>
            <a:r>
              <a:rPr lang="en-US" b="1" dirty="0" smtClean="0">
                <a:solidFill>
                  <a:srgbClr val="3366FF"/>
                </a:solidFill>
              </a:rPr>
              <a:t>resource allocator</a:t>
            </a:r>
          </a:p>
          <a:p>
            <a:pPr lvl="1"/>
            <a:r>
              <a:rPr lang="en-US" dirty="0" smtClean="0"/>
              <a:t>Manages all resources</a:t>
            </a:r>
          </a:p>
          <a:p>
            <a:pPr lvl="1"/>
            <a:r>
              <a:rPr lang="en-US" dirty="0" smtClean="0"/>
              <a:t>Decides between conflicting requests for efficient and fair resource use</a:t>
            </a:r>
          </a:p>
          <a:p>
            <a:r>
              <a:rPr lang="en-US" dirty="0" smtClean="0"/>
              <a:t>OS is a </a:t>
            </a:r>
            <a:r>
              <a:rPr lang="en-US" b="1" dirty="0" smtClean="0">
                <a:solidFill>
                  <a:srgbClr val="3366FF"/>
                </a:solidFill>
              </a:rPr>
              <a:t>control program</a:t>
            </a:r>
          </a:p>
          <a:p>
            <a:pPr lvl="1"/>
            <a:r>
              <a:rPr lang="en-US" dirty="0" smtClean="0"/>
              <a:t>Controls execution of programs to prevent errors and improper use of the computer</a:t>
            </a:r>
          </a:p>
          <a:p>
            <a:r>
              <a:rPr lang="en-US" dirty="0" smtClean="0"/>
              <a:t>No universally accepted definition</a:t>
            </a:r>
          </a:p>
          <a:p>
            <a:pPr>
              <a:buNone/>
            </a:pPr>
            <a:r>
              <a:rPr lang="ja-JP" altLang="en-US" smtClean="0"/>
              <a:t>  “</a:t>
            </a:r>
            <a:r>
              <a:rPr lang="en-US" altLang="ja-JP" dirty="0" smtClean="0"/>
              <a:t>Everything a vendor ships when you order an operating system</a:t>
            </a:r>
            <a:r>
              <a:rPr lang="ja-JP" altLang="en-US" smtClean="0"/>
              <a:t>”</a:t>
            </a:r>
            <a:r>
              <a:rPr lang="en-US" altLang="ja-JP" dirty="0" smtClean="0"/>
              <a:t> is a good approximation</a:t>
            </a:r>
          </a:p>
          <a:p>
            <a:pPr lvl="1"/>
            <a:r>
              <a:rPr lang="en-US" dirty="0" smtClean="0"/>
              <a:t>But varies wildly</a:t>
            </a:r>
          </a:p>
          <a:p>
            <a:r>
              <a:rPr lang="ja-JP" altLang="en-US" smtClean="0"/>
              <a:t>“</a:t>
            </a:r>
            <a:r>
              <a:rPr lang="en-US" altLang="ja-JP" dirty="0" smtClean="0"/>
              <a:t>The one program running at all times on the computer</a:t>
            </a:r>
            <a:r>
              <a:rPr lang="ja-JP" altLang="en-US" smtClean="0"/>
              <a:t>”</a:t>
            </a:r>
            <a:r>
              <a:rPr lang="en-US" altLang="ja-JP" dirty="0" smtClean="0"/>
              <a:t> is the </a:t>
            </a:r>
            <a:r>
              <a:rPr lang="en-US" altLang="ja-JP" b="1" dirty="0" smtClean="0">
                <a:solidFill>
                  <a:srgbClr val="3366FF"/>
                </a:solidFill>
              </a:rPr>
              <a:t>kernel</a:t>
            </a:r>
            <a:r>
              <a:rPr lang="en-US" altLang="ja-JP" dirty="0" smtClean="0"/>
              <a:t>.</a:t>
            </a:r>
            <a:r>
              <a:rPr lang="en-US" altLang="ja-JP" b="1" dirty="0" smtClean="0"/>
              <a:t>  </a:t>
            </a:r>
            <a:endParaRPr lang="en-US" altLang="ja-JP" dirty="0" smtClean="0"/>
          </a:p>
          <a:p>
            <a:r>
              <a:rPr lang="en-US" altLang="ja-JP" dirty="0" smtClean="0"/>
              <a:t>Everything else is either</a:t>
            </a:r>
          </a:p>
          <a:p>
            <a:pPr lvl="1"/>
            <a:r>
              <a:rPr lang="en-US" altLang="ja-JP" dirty="0" smtClean="0"/>
              <a:t>a system program (ships with the operating system) , or</a:t>
            </a:r>
          </a:p>
          <a:p>
            <a:pPr lvl="1"/>
            <a:r>
              <a:rPr lang="en-US" altLang="ja-JP" dirty="0" smtClean="0"/>
              <a:t>an application program.</a:t>
            </a:r>
            <a:endParaRPr lang="en-US" dirty="0" smtClean="0"/>
          </a:p>
          <a:p>
            <a:endParaRPr lang="en-US" dirty="0"/>
          </a:p>
        </p:txBody>
      </p:sp>
      <p:sp>
        <p:nvSpPr>
          <p:cNvPr id="3" name="Title 2"/>
          <p:cNvSpPr>
            <a:spLocks noGrp="1"/>
          </p:cNvSpPr>
          <p:nvPr>
            <p:ph type="title"/>
          </p:nvPr>
        </p:nvSpPr>
        <p:spPr/>
        <p:txBody>
          <a:bodyPr/>
          <a:lstStyle/>
          <a:p>
            <a:r>
              <a:rPr lang="en-US" dirty="0" smtClean="0"/>
              <a:t>Operating System Definition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smtClean="0"/>
              <a:t>Resource management</a:t>
            </a:r>
            <a:r>
              <a:rPr lang="en-US" dirty="0" smtClean="0"/>
              <a:t> (CPU, memory, I/O devices)</a:t>
            </a:r>
          </a:p>
          <a:p>
            <a:r>
              <a:rPr lang="en-US" b="1" dirty="0" smtClean="0"/>
              <a:t>Process management</a:t>
            </a:r>
            <a:endParaRPr lang="en-US" dirty="0" smtClean="0"/>
          </a:p>
          <a:p>
            <a:r>
              <a:rPr lang="en-US" b="1" dirty="0" smtClean="0"/>
              <a:t>File system management</a:t>
            </a:r>
            <a:endParaRPr lang="en-US" dirty="0" smtClean="0"/>
          </a:p>
          <a:p>
            <a:r>
              <a:rPr lang="en-US" b="1" dirty="0" smtClean="0"/>
              <a:t>Security &amp; protection</a:t>
            </a:r>
            <a:endParaRPr lang="en-US" dirty="0" smtClean="0"/>
          </a:p>
          <a:p>
            <a:r>
              <a:rPr lang="en-US" b="1" dirty="0" smtClean="0"/>
              <a:t>User–hardware abstraction</a:t>
            </a:r>
            <a:endParaRPr lang="en-US" dirty="0" smtClean="0"/>
          </a:p>
          <a:p>
            <a:endParaRPr lang="en-US" dirty="0"/>
          </a:p>
        </p:txBody>
      </p:sp>
      <p:sp>
        <p:nvSpPr>
          <p:cNvPr id="3" name="Title 2"/>
          <p:cNvSpPr>
            <a:spLocks noGrp="1"/>
          </p:cNvSpPr>
          <p:nvPr>
            <p:ph type="title"/>
          </p:nvPr>
        </p:nvSpPr>
        <p:spPr/>
        <p:txBody>
          <a:bodyPr/>
          <a:lstStyle/>
          <a:p>
            <a:r>
              <a:rPr lang="en-US" dirty="0" smtClean="0"/>
              <a:t>KEY RESPONSIBILITIES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Wingdings" pitchFamily="2" charset="2"/>
              <a:buChar char="Ø"/>
            </a:pPr>
            <a:r>
              <a:rPr lang="en-US" dirty="0" smtClean="0">
                <a:latin typeface="Times New Roman" panose="02020603050405020304" pitchFamily="18" charset="0"/>
                <a:cs typeface="Times New Roman" panose="02020603050405020304" pitchFamily="18" charset="0"/>
              </a:rPr>
              <a:t>Kernel is central component of an operating system that manages operations of computer and hardware.</a:t>
            </a:r>
          </a:p>
          <a:p>
            <a:pPr>
              <a:buFont typeface="Wingdings" pitchFamily="2" charset="2"/>
              <a:buChar char="Ø"/>
            </a:pPr>
            <a:r>
              <a:rPr lang="en-US" dirty="0" smtClean="0">
                <a:latin typeface="Times New Roman" panose="02020603050405020304" pitchFamily="18" charset="0"/>
                <a:cs typeface="Times New Roman" panose="02020603050405020304" pitchFamily="18" charset="0"/>
              </a:rPr>
              <a:t>It is the core or heart of an operating system</a:t>
            </a:r>
          </a:p>
          <a:p>
            <a:pPr>
              <a:buFont typeface="Wingdings" pitchFamily="2" charset="2"/>
              <a:buChar char="Ø"/>
            </a:pPr>
            <a:r>
              <a:rPr lang="en-US" dirty="0" smtClean="0">
                <a:latin typeface="Times New Roman" panose="02020603050405020304" pitchFamily="18" charset="0"/>
                <a:cs typeface="Times New Roman" panose="02020603050405020304" pitchFamily="18" charset="0"/>
              </a:rPr>
              <a:t>As Kernel is the core part of an OS; hence it has full control over everything in the system.</a:t>
            </a:r>
          </a:p>
          <a:p>
            <a:pPr>
              <a:buFont typeface="Wingdings" pitchFamily="2" charset="2"/>
              <a:buChar char="Ø"/>
            </a:pPr>
            <a:r>
              <a:rPr lang="en-US" dirty="0" smtClean="0">
                <a:latin typeface="Times New Roman" panose="02020603050405020304" pitchFamily="18" charset="0"/>
                <a:cs typeface="Times New Roman" panose="02020603050405020304" pitchFamily="18" charset="0"/>
              </a:rPr>
              <a:t>Each operation of hardware and software is managed and administrated by the kernel.</a:t>
            </a:r>
          </a:p>
          <a:p>
            <a:endParaRPr lang="en-US" dirty="0"/>
          </a:p>
        </p:txBody>
      </p:sp>
      <p:sp>
        <p:nvSpPr>
          <p:cNvPr id="3" name="Title 2"/>
          <p:cNvSpPr>
            <a:spLocks noGrp="1"/>
          </p:cNvSpPr>
          <p:nvPr>
            <p:ph type="title"/>
          </p:nvPr>
        </p:nvSpPr>
        <p:spPr/>
        <p:txBody>
          <a:bodyPr/>
          <a:lstStyle/>
          <a:p>
            <a:r>
              <a:rPr lang="en-US" sz="4400" dirty="0" smtClean="0">
                <a:latin typeface="Times New Roman" panose="02020603050405020304" pitchFamily="18" charset="0"/>
                <a:cs typeface="Times New Roman" panose="02020603050405020304" pitchFamily="18" charset="0"/>
              </a:rPr>
              <a:t>Kernel in Operating System</a:t>
            </a:r>
            <a:endParaRPr lang="en-US" dirty="0"/>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4800600" y="4031112"/>
            <a:ext cx="4343400" cy="28268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marL="0" indent="0">
              <a:buNone/>
            </a:pPr>
            <a:r>
              <a:rPr lang="en-US" b="1" dirty="0" smtClean="0">
                <a:latin typeface="Times New Roman" panose="02020603050405020304" pitchFamily="18" charset="0"/>
                <a:cs typeface="Times New Roman" panose="02020603050405020304" pitchFamily="18" charset="0"/>
              </a:rPr>
              <a:t>User Mode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system is in user mode when the operating system is running a user application.</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Some examples are word application, PowerPoint, reading a PDF file and browsing the internet.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the process is in user mode and requires any hardware resource, that request is sent to the kernel.</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As there is a limited access to hardware in this mode, it is known as </a:t>
            </a:r>
            <a:r>
              <a:rPr lang="en-US" b="1" dirty="0" smtClean="0">
                <a:latin typeface="Times New Roman" panose="02020603050405020304" pitchFamily="18" charset="0"/>
                <a:cs typeface="Times New Roman" panose="02020603050405020304" pitchFamily="18" charset="0"/>
              </a:rPr>
              <a:t>less privileged mode, slave mode</a:t>
            </a:r>
            <a:r>
              <a:rPr lang="en-US" dirty="0" smtClean="0">
                <a:latin typeface="Times New Roman" panose="02020603050405020304" pitchFamily="18" charset="0"/>
                <a:cs typeface="Times New Roman" panose="02020603050405020304" pitchFamily="18" charset="0"/>
              </a:rPr>
              <a:t> or </a:t>
            </a:r>
            <a:r>
              <a:rPr lang="en-US" b="1" dirty="0" smtClean="0">
                <a:latin typeface="Times New Roman" panose="02020603050405020304" pitchFamily="18" charset="0"/>
                <a:cs typeface="Times New Roman" panose="02020603050405020304" pitchFamily="18" charset="0"/>
              </a:rPr>
              <a:t>restricted mode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user mode, processes get their own address space and cannot access the address space which belongs to the kernel.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 the failure of one process will not affect the operating system. If there is an interrupt, it only affects that particular process.</a:t>
            </a:r>
            <a:endParaRPr lang="en-US" b="1" dirty="0" smtClean="0">
              <a:latin typeface="Times New Roman" panose="02020603050405020304" pitchFamily="18" charset="0"/>
              <a:cs typeface="Times New Roman" panose="02020603050405020304" pitchFamily="18" charset="0"/>
            </a:endParaRPr>
          </a:p>
          <a:p>
            <a:endParaRPr lang="en-US" dirty="0"/>
          </a:p>
        </p:txBody>
      </p:sp>
      <p:sp>
        <p:nvSpPr>
          <p:cNvPr id="3" name="Title 2"/>
          <p:cNvSpPr>
            <a:spLocks noGrp="1"/>
          </p:cNvSpPr>
          <p:nvPr>
            <p:ph type="title"/>
          </p:nvPr>
        </p:nvSpPr>
        <p:spPr/>
        <p:txBody>
          <a:bodyPr/>
          <a:lstStyle/>
          <a:p>
            <a:r>
              <a:rPr lang="en-US" sz="4400" dirty="0" smtClean="0">
                <a:latin typeface="Times New Roman" panose="02020603050405020304" pitchFamily="18" charset="0"/>
                <a:cs typeface="Times New Roman" panose="02020603050405020304" pitchFamily="18" charset="0"/>
              </a:rPr>
              <a:t>User and Kernel Mode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buNone/>
            </a:pPr>
            <a:r>
              <a:rPr lang="en-US" b="1" dirty="0" smtClean="0">
                <a:latin typeface="Times New Roman" panose="02020603050405020304" pitchFamily="18" charset="0"/>
                <a:cs typeface="Times New Roman" panose="02020603050405020304" pitchFamily="18" charset="0"/>
              </a:rPr>
              <a:t>Kernel Mode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 kernel the core component of OS which is used to access hardware components of a computer system.</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Kernel mode is a very </a:t>
            </a:r>
            <a:r>
              <a:rPr lang="en-US" b="1" dirty="0" smtClean="0">
                <a:latin typeface="Times New Roman" panose="02020603050405020304" pitchFamily="18" charset="0"/>
                <a:cs typeface="Times New Roman" panose="02020603050405020304" pitchFamily="18" charset="0"/>
              </a:rPr>
              <a:t>privileged and powerful mode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the process is executing in user mode and if that process requires hardware resources such as RAM, printer etc, that process should send a request to the kernel.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These requests are sent through system calls. Then the computer enters Kernel Mode from user mode.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the task is completed, the mode changes back to user mode from kernel mode. This transition is known as </a:t>
            </a:r>
            <a:r>
              <a:rPr lang="en-US" b="1" dirty="0" smtClean="0">
                <a:latin typeface="Times New Roman" panose="02020603050405020304" pitchFamily="18" charset="0"/>
                <a:cs typeface="Times New Roman" panose="02020603050405020304" pitchFamily="18" charset="0"/>
              </a:rPr>
              <a:t>context switching</a:t>
            </a:r>
            <a:r>
              <a:rPr lang="en-US" dirty="0" smtClean="0">
                <a:latin typeface="Times New Roman" panose="02020603050405020304" pitchFamily="18" charset="0"/>
                <a:cs typeface="Times New Roman" panose="02020603050405020304" pitchFamily="18" charset="0"/>
              </a:rPr>
              <a:t>. </a:t>
            </a:r>
          </a:p>
          <a:p>
            <a:endParaRPr lang="en-US" dirty="0"/>
          </a:p>
        </p:txBody>
      </p:sp>
      <p:sp>
        <p:nvSpPr>
          <p:cNvPr id="3" name="Title 2"/>
          <p:cNvSpPr>
            <a:spLocks noGrp="1"/>
          </p:cNvSpPr>
          <p:nvPr>
            <p:ph type="title"/>
          </p:nvPr>
        </p:nvSpPr>
        <p:spPr/>
        <p:txBody>
          <a:bodyPr/>
          <a:lstStyle/>
          <a:p>
            <a:r>
              <a:rPr lang="en-US" sz="4000" dirty="0" smtClean="0">
                <a:latin typeface="Times New Roman" panose="02020603050405020304" pitchFamily="18" charset="0"/>
                <a:cs typeface="Times New Roman" panose="02020603050405020304" pitchFamily="18" charset="0"/>
              </a:rPr>
              <a:t>User and Kernel Mode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system call</a:t>
            </a:r>
            <a:r>
              <a:rPr lang="en-US" dirty="0" smtClean="0">
                <a:latin typeface="Times New Roman" panose="02020603050405020304" pitchFamily="18" charset="0"/>
                <a:cs typeface="Times New Roman" panose="02020603050405020304" pitchFamily="18" charset="0"/>
              </a:rPr>
              <a:t> is a mechanism that provides the interface between a process and the operating system.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is a programmatic method in which a computer program requests a service from the kernel of the OS.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Application developers often do not have direct access to the system calls, but can access them through an application programming interface (API). </a:t>
            </a:r>
          </a:p>
          <a:p>
            <a:endParaRPr lang="en-US" dirty="0"/>
          </a:p>
        </p:txBody>
      </p:sp>
      <p:sp>
        <p:nvSpPr>
          <p:cNvPr id="3" name="Title 2"/>
          <p:cNvSpPr>
            <a:spLocks noGrp="1"/>
          </p:cNvSpPr>
          <p:nvPr>
            <p:ph type="title"/>
          </p:nvPr>
        </p:nvSpPr>
        <p:spPr/>
        <p:txBody>
          <a:bodyPr/>
          <a:lstStyle/>
          <a:p>
            <a:r>
              <a:rPr lang="en-US" dirty="0" smtClean="0"/>
              <a:t>SYSTEM CALLS</a:t>
            </a:r>
            <a:endParaRPr lang="en-US" dirty="0"/>
          </a:p>
        </p:txBody>
      </p:sp>
      <p:pic>
        <p:nvPicPr>
          <p:cNvPr id="4" name="Content Placeholder 6"/>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4648200" y="4485580"/>
            <a:ext cx="4347857" cy="23724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marL="514350" indent="-514350">
              <a:buFont typeface="+mj-lt"/>
              <a:buAutoNum type="arabicPeriod"/>
            </a:pPr>
            <a:r>
              <a:rPr lang="fr-FR" dirty="0" err="1" smtClean="0">
                <a:latin typeface="Times New Roman" panose="02020603050405020304" pitchFamily="18" charset="0"/>
                <a:cs typeface="Times New Roman" panose="02020603050405020304" pitchFamily="18" charset="0"/>
              </a:rPr>
              <a:t>Process</a:t>
            </a:r>
            <a:r>
              <a:rPr lang="fr-FR" dirty="0" smtClean="0">
                <a:latin typeface="Times New Roman" panose="02020603050405020304" pitchFamily="18" charset="0"/>
                <a:cs typeface="Times New Roman" panose="02020603050405020304" pitchFamily="18" charset="0"/>
              </a:rPr>
              <a:t> Control</a:t>
            </a:r>
          </a:p>
          <a:p>
            <a:pPr lvl="1"/>
            <a:r>
              <a:rPr lang="en-US" dirty="0" smtClean="0">
                <a:latin typeface="Times New Roman" panose="02020603050405020304" pitchFamily="18" charset="0"/>
                <a:cs typeface="Times New Roman" panose="02020603050405020304" pitchFamily="18" charset="0"/>
              </a:rPr>
              <a:t>This system calls perform the task of process creation, process termination, etc.</a:t>
            </a:r>
            <a:endParaRPr lang="fr-FR" dirty="0" smtClean="0">
              <a:latin typeface="Times New Roman" panose="02020603050405020304" pitchFamily="18" charset="0"/>
              <a:cs typeface="Times New Roman" panose="02020603050405020304" pitchFamily="18" charset="0"/>
            </a:endParaRPr>
          </a:p>
          <a:p>
            <a:pPr marL="514350" indent="-514350">
              <a:buFont typeface="+mj-lt"/>
              <a:buAutoNum type="arabicPeriod"/>
            </a:pPr>
            <a:r>
              <a:rPr lang="fr-FR" dirty="0" smtClean="0">
                <a:latin typeface="Times New Roman" panose="02020603050405020304" pitchFamily="18" charset="0"/>
                <a:cs typeface="Times New Roman" panose="02020603050405020304" pitchFamily="18" charset="0"/>
              </a:rPr>
              <a:t>File Management</a:t>
            </a:r>
          </a:p>
          <a:p>
            <a:pPr lvl="1"/>
            <a:r>
              <a:rPr lang="en-US" dirty="0" smtClean="0">
                <a:latin typeface="Times New Roman" panose="02020603050405020304" pitchFamily="18" charset="0"/>
                <a:cs typeface="Times New Roman" panose="02020603050405020304" pitchFamily="18" charset="0"/>
              </a:rPr>
              <a:t>File management system calls handle file manipulation jobs like create, delete, open, close, read, write etc.</a:t>
            </a:r>
          </a:p>
          <a:p>
            <a:pPr marL="514350" indent="-514350">
              <a:buFont typeface="+mj-lt"/>
              <a:buAutoNum type="arabicPeriod"/>
            </a:pPr>
            <a:r>
              <a:rPr lang="fr-FR" dirty="0" err="1" smtClean="0">
                <a:latin typeface="Times New Roman" panose="02020603050405020304" pitchFamily="18" charset="0"/>
                <a:cs typeface="Times New Roman" panose="02020603050405020304" pitchFamily="18" charset="0"/>
              </a:rPr>
              <a:t>Device</a:t>
            </a:r>
            <a:r>
              <a:rPr lang="fr-FR" dirty="0" smtClean="0">
                <a:latin typeface="Times New Roman" panose="02020603050405020304" pitchFamily="18" charset="0"/>
                <a:cs typeface="Times New Roman" panose="02020603050405020304" pitchFamily="18" charset="0"/>
              </a:rPr>
              <a:t> Management</a:t>
            </a:r>
          </a:p>
          <a:p>
            <a:pPr lvl="1"/>
            <a:r>
              <a:rPr lang="en-US" dirty="0" smtClean="0">
                <a:latin typeface="Times New Roman" panose="02020603050405020304" pitchFamily="18" charset="0"/>
                <a:cs typeface="Times New Roman" panose="02020603050405020304" pitchFamily="18" charset="0"/>
              </a:rPr>
              <a:t>Device management does the job of device manipulation like reading from device buffers, writing into device buffers, request, release etc.</a:t>
            </a:r>
          </a:p>
          <a:p>
            <a:pPr marL="514350" indent="-514350">
              <a:buFont typeface="+mj-lt"/>
              <a:buAutoNum type="arabicPeriod"/>
            </a:pPr>
            <a:r>
              <a:rPr lang="fr-FR" dirty="0" smtClean="0">
                <a:latin typeface="Times New Roman" panose="02020603050405020304" pitchFamily="18" charset="0"/>
                <a:cs typeface="Times New Roman" panose="02020603050405020304" pitchFamily="18" charset="0"/>
              </a:rPr>
              <a:t>Information Maintenance</a:t>
            </a:r>
          </a:p>
          <a:p>
            <a:pPr lvl="1"/>
            <a:r>
              <a:rPr lang="en-US" dirty="0" smtClean="0">
                <a:latin typeface="Times New Roman" panose="02020603050405020304" pitchFamily="18" charset="0"/>
                <a:cs typeface="Times New Roman" panose="02020603050405020304" pitchFamily="18" charset="0"/>
              </a:rPr>
              <a:t>for transferring information between the user program and the operating system</a:t>
            </a:r>
          </a:p>
          <a:p>
            <a:pPr lvl="1"/>
            <a:r>
              <a:rPr lang="en-US" dirty="0" smtClean="0">
                <a:latin typeface="Times New Roman" panose="02020603050405020304" pitchFamily="18" charset="0"/>
                <a:cs typeface="Times New Roman" panose="02020603050405020304" pitchFamily="18" charset="0"/>
              </a:rPr>
              <a:t>get time, set time, date etc.</a:t>
            </a:r>
            <a:endParaRPr lang="fr-FR" dirty="0" smtClean="0">
              <a:latin typeface="Times New Roman" panose="02020603050405020304" pitchFamily="18" charset="0"/>
              <a:cs typeface="Times New Roman" panose="02020603050405020304" pitchFamily="18" charset="0"/>
            </a:endParaRPr>
          </a:p>
          <a:p>
            <a:pPr marL="514350" indent="-514350">
              <a:buFont typeface="+mj-lt"/>
              <a:buAutoNum type="arabicPeriod"/>
            </a:pPr>
            <a:r>
              <a:rPr lang="fr-FR" dirty="0" smtClean="0">
                <a:latin typeface="Times New Roman" panose="02020603050405020304" pitchFamily="18" charset="0"/>
                <a:cs typeface="Times New Roman" panose="02020603050405020304" pitchFamily="18" charset="0"/>
              </a:rPr>
              <a:t>Communications</a:t>
            </a:r>
          </a:p>
          <a:p>
            <a:pPr lvl="1"/>
            <a:r>
              <a:rPr lang="en-US" dirty="0" smtClean="0">
                <a:latin typeface="Times New Roman" panose="02020603050405020304" pitchFamily="18" charset="0"/>
                <a:cs typeface="Times New Roman" panose="02020603050405020304" pitchFamily="18" charset="0"/>
              </a:rPr>
              <a:t>Used for inter-process communication</a:t>
            </a:r>
          </a:p>
          <a:p>
            <a:pPr lvl="1"/>
            <a:r>
              <a:rPr lang="en-US" dirty="0" smtClean="0">
                <a:latin typeface="Times New Roman" panose="02020603050405020304" pitchFamily="18" charset="0"/>
                <a:cs typeface="Times New Roman" panose="02020603050405020304" pitchFamily="18" charset="0"/>
              </a:rPr>
              <a:t>create connection, close connection, attach remote device etc.</a:t>
            </a:r>
          </a:p>
          <a:p>
            <a:pPr marL="0" indent="0">
              <a:buNone/>
            </a:pPr>
            <a:endParaRPr lang="en-US" dirty="0" smtClean="0">
              <a:latin typeface="Times New Roman" panose="02020603050405020304" pitchFamily="18" charset="0"/>
              <a:cs typeface="Times New Roman" panose="02020603050405020304" pitchFamily="18" charset="0"/>
            </a:endParaRPr>
          </a:p>
          <a:p>
            <a:endParaRPr lang="en-US" dirty="0"/>
          </a:p>
        </p:txBody>
      </p:sp>
      <p:sp>
        <p:nvSpPr>
          <p:cNvPr id="3" name="Title 2"/>
          <p:cNvSpPr>
            <a:spLocks noGrp="1"/>
          </p:cNvSpPr>
          <p:nvPr>
            <p:ph type="title"/>
          </p:nvPr>
        </p:nvSpPr>
        <p:spPr/>
        <p:txBody>
          <a:bodyPr/>
          <a:lstStyle/>
          <a:p>
            <a:r>
              <a:rPr lang="en-US" sz="4400" dirty="0" smtClean="0">
                <a:latin typeface="Times New Roman" panose="02020603050405020304" pitchFamily="18" charset="0"/>
                <a:cs typeface="Times New Roman" panose="02020603050405020304" pitchFamily="18" charset="0"/>
              </a:rPr>
              <a:t>Types of System Call in OS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smtClean="0">
                <a:latin typeface="Times New Roman" panose="02020603050405020304" pitchFamily="18" charset="0"/>
                <a:cs typeface="Times New Roman" panose="02020603050405020304" pitchFamily="18" charset="0"/>
              </a:rPr>
              <a:t>Types of System Call in OS</a:t>
            </a:r>
            <a:endParaRPr lang="en-US" dirty="0"/>
          </a:p>
        </p:txBody>
      </p:sp>
      <p:pic>
        <p:nvPicPr>
          <p:cNvPr id="4" name="Content Placeholder 3"/>
          <p:cNvPicPr>
            <a:picLocks noGrp="1" noChangeAspect="1"/>
          </p:cNvPicPr>
          <p:nvPr>
            <p:ph idx="1"/>
          </p:nvPr>
        </p:nvPicPr>
        <p:blipFill>
          <a:blip r:embed="rId2"/>
          <a:stretch>
            <a:fillRect/>
          </a:stretch>
        </p:blipFill>
        <p:spPr>
          <a:xfrm>
            <a:off x="2300784" y="1721369"/>
            <a:ext cx="4542431" cy="4045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SYSTEM CALLS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439428" y="1828800"/>
            <a:ext cx="6409172" cy="3918700"/>
          </a:xfrm>
          <a:prstGeom prst="rect">
            <a:avLst/>
          </a:prstGeom>
        </p:spPr>
      </p:pic>
      <p:sp>
        <p:nvSpPr>
          <p:cNvPr id="5" name="Rectangle 4"/>
          <p:cNvSpPr/>
          <p:nvPr/>
        </p:nvSpPr>
        <p:spPr>
          <a:xfrm>
            <a:off x="1066800" y="5867400"/>
            <a:ext cx="7010400" cy="369332"/>
          </a:xfrm>
          <a:prstGeom prst="rect">
            <a:avLst/>
          </a:prstGeom>
        </p:spPr>
        <p:txBody>
          <a:bodyPr wrap="square">
            <a:spAutoFit/>
          </a:bodyPr>
          <a:lstStyle/>
          <a:p>
            <a:pPr algn="ctr"/>
            <a:r>
              <a:rPr lang="en-US" b="1" dirty="0" smtClean="0">
                <a:latin typeface="Times New Roman" panose="02020603050405020304" pitchFamily="18" charset="0"/>
                <a:cs typeface="Times New Roman" panose="02020603050405020304" pitchFamily="18" charset="0"/>
              </a:rPr>
              <a:t>Figure: Handling of a user application invoking the open system call</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US" dirty="0" smtClean="0"/>
              <a:t>A </a:t>
            </a:r>
            <a:r>
              <a:rPr lang="en-US" b="1" dirty="0" smtClean="0"/>
              <a:t>process</a:t>
            </a:r>
            <a:r>
              <a:rPr lang="en-US" dirty="0" smtClean="0"/>
              <a:t> is a running program plus its state.</a:t>
            </a:r>
          </a:p>
          <a:p>
            <a:pPr>
              <a:buNone/>
            </a:pPr>
            <a:endParaRPr lang="en-US" dirty="0" smtClean="0"/>
          </a:p>
          <a:p>
            <a:pPr>
              <a:buNone/>
            </a:pPr>
            <a:r>
              <a:rPr lang="en-US" b="1" dirty="0" smtClean="0"/>
              <a:t>Components:</a:t>
            </a:r>
          </a:p>
          <a:p>
            <a:r>
              <a:rPr lang="en-US" dirty="0" smtClean="0"/>
              <a:t>Program code (text)</a:t>
            </a:r>
          </a:p>
          <a:p>
            <a:r>
              <a:rPr lang="en-US" dirty="0" smtClean="0"/>
              <a:t>Data + heap</a:t>
            </a:r>
          </a:p>
          <a:p>
            <a:r>
              <a:rPr lang="en-US" dirty="0" smtClean="0"/>
              <a:t>Stack</a:t>
            </a:r>
          </a:p>
          <a:p>
            <a:r>
              <a:rPr lang="en-US" dirty="0" smtClean="0"/>
              <a:t>Registers</a:t>
            </a:r>
          </a:p>
          <a:p>
            <a:r>
              <a:rPr lang="en-US" dirty="0" smtClean="0"/>
              <a:t>Program counter</a:t>
            </a:r>
          </a:p>
          <a:p>
            <a:r>
              <a:rPr lang="en-US" dirty="0" smtClean="0"/>
              <a:t>PCB (Process Control Block)</a:t>
            </a:r>
          </a:p>
          <a:p>
            <a:pPr>
              <a:buNone/>
            </a:pPr>
            <a:endParaRPr lang="en-US" dirty="0" smtClean="0"/>
          </a:p>
          <a:p>
            <a:pPr>
              <a:buNone/>
            </a:pPr>
            <a:r>
              <a:rPr lang="en-US" b="1" dirty="0" smtClean="0"/>
              <a:t>Process States:</a:t>
            </a:r>
          </a:p>
          <a:p>
            <a:r>
              <a:rPr lang="en-US" b="1" dirty="0" smtClean="0"/>
              <a:t>New → Ready → Running → Waiting → Terminated</a:t>
            </a:r>
            <a:endParaRPr lang="en-US" dirty="0" smtClean="0"/>
          </a:p>
          <a:p>
            <a:pPr>
              <a:buNone/>
            </a:pPr>
            <a:endParaRPr lang="en-US" dirty="0" smtClean="0"/>
          </a:p>
          <a:p>
            <a:pPr>
              <a:buNone/>
            </a:pPr>
            <a:r>
              <a:rPr lang="en-US" b="1" dirty="0" smtClean="0"/>
              <a:t>Operations:</a:t>
            </a:r>
          </a:p>
          <a:p>
            <a:r>
              <a:rPr lang="en-US" dirty="0" smtClean="0"/>
              <a:t>Creation, termination, scheduling, inter-process communication (IPC).</a:t>
            </a:r>
          </a:p>
          <a:p>
            <a:endParaRPr lang="en-US" dirty="0"/>
          </a:p>
        </p:txBody>
      </p:sp>
      <p:sp>
        <p:nvSpPr>
          <p:cNvPr id="3" name="Title 2"/>
          <p:cNvSpPr>
            <a:spLocks noGrp="1"/>
          </p:cNvSpPr>
          <p:nvPr>
            <p:ph type="title"/>
          </p:nvPr>
        </p:nvSpPr>
        <p:spPr/>
        <p:txBody>
          <a:bodyPr/>
          <a:lstStyle/>
          <a:p>
            <a:r>
              <a:rPr lang="en-US" dirty="0" smtClean="0"/>
              <a:t>PROCESS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smtClean="0"/>
              <a:t>A thread is a </a:t>
            </a:r>
            <a:r>
              <a:rPr lang="en-US" b="1" dirty="0" smtClean="0"/>
              <a:t>lightweight process</a:t>
            </a:r>
            <a:r>
              <a:rPr lang="en-US" dirty="0" smtClean="0"/>
              <a:t> sharing process resources.</a:t>
            </a:r>
          </a:p>
          <a:p>
            <a:pPr>
              <a:buNone/>
            </a:pPr>
            <a:endParaRPr lang="en-US" dirty="0" smtClean="0"/>
          </a:p>
          <a:p>
            <a:pPr>
              <a:buNone/>
            </a:pPr>
            <a:r>
              <a:rPr lang="en-US" b="1" dirty="0" smtClean="0"/>
              <a:t>Types:</a:t>
            </a:r>
          </a:p>
          <a:p>
            <a:r>
              <a:rPr lang="en-US" dirty="0" smtClean="0"/>
              <a:t>User-level threads</a:t>
            </a:r>
          </a:p>
          <a:p>
            <a:r>
              <a:rPr lang="en-US" dirty="0" smtClean="0"/>
              <a:t>Kernel-level threads</a:t>
            </a:r>
          </a:p>
          <a:p>
            <a:pPr>
              <a:buNone/>
            </a:pPr>
            <a:endParaRPr lang="en-US" dirty="0" smtClean="0"/>
          </a:p>
          <a:p>
            <a:pPr>
              <a:buNone/>
            </a:pPr>
            <a:r>
              <a:rPr lang="en-US" b="1" dirty="0" smtClean="0"/>
              <a:t>Benefits:</a:t>
            </a:r>
          </a:p>
          <a:p>
            <a:r>
              <a:rPr lang="en-US" dirty="0" smtClean="0"/>
              <a:t>Faster context switching</a:t>
            </a:r>
          </a:p>
          <a:p>
            <a:r>
              <a:rPr lang="en-US" dirty="0" smtClean="0"/>
              <a:t>Parallelism on </a:t>
            </a:r>
            <a:r>
              <a:rPr lang="en-US" dirty="0" err="1" smtClean="0"/>
              <a:t>multicore</a:t>
            </a:r>
            <a:r>
              <a:rPr lang="en-US" dirty="0" smtClean="0"/>
              <a:t> processors</a:t>
            </a:r>
          </a:p>
          <a:p>
            <a:r>
              <a:rPr lang="en-US" dirty="0" smtClean="0"/>
              <a:t>Better resource utilization</a:t>
            </a:r>
          </a:p>
          <a:p>
            <a:endParaRPr lang="en-US" dirty="0"/>
          </a:p>
        </p:txBody>
      </p:sp>
      <p:sp>
        <p:nvSpPr>
          <p:cNvPr id="3" name="Title 2"/>
          <p:cNvSpPr>
            <a:spLocks noGrp="1"/>
          </p:cNvSpPr>
          <p:nvPr>
            <p:ph type="title"/>
          </p:nvPr>
        </p:nvSpPr>
        <p:spPr/>
        <p:txBody>
          <a:bodyPr/>
          <a:lstStyle/>
          <a:p>
            <a:r>
              <a:rPr lang="en-US" dirty="0" smtClean="0"/>
              <a:t>THREADS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r>
              <a:rPr lang="en-US" dirty="0" smtClean="0"/>
              <a:t>Determines which process runs on the CPU next.</a:t>
            </a:r>
          </a:p>
          <a:p>
            <a:pPr>
              <a:buNone/>
            </a:pPr>
            <a:endParaRPr lang="en-US" dirty="0" smtClean="0"/>
          </a:p>
          <a:p>
            <a:pPr>
              <a:buNone/>
            </a:pPr>
            <a:r>
              <a:rPr lang="en-US" b="1" dirty="0" smtClean="0"/>
              <a:t>Criteria:</a:t>
            </a:r>
          </a:p>
          <a:p>
            <a:r>
              <a:rPr lang="en-US" dirty="0" smtClean="0"/>
              <a:t>CPU utilization</a:t>
            </a:r>
          </a:p>
          <a:p>
            <a:r>
              <a:rPr lang="en-US" dirty="0" smtClean="0"/>
              <a:t>Throughput</a:t>
            </a:r>
          </a:p>
          <a:p>
            <a:r>
              <a:rPr lang="en-US" dirty="0" smtClean="0"/>
              <a:t>Turnaround time</a:t>
            </a:r>
          </a:p>
          <a:p>
            <a:r>
              <a:rPr lang="en-US" dirty="0" smtClean="0"/>
              <a:t>Waiting time</a:t>
            </a:r>
          </a:p>
          <a:p>
            <a:r>
              <a:rPr lang="en-US" dirty="0" smtClean="0"/>
              <a:t>Response time</a:t>
            </a:r>
          </a:p>
          <a:p>
            <a:pPr>
              <a:buNone/>
            </a:pPr>
            <a:endParaRPr lang="en-US" dirty="0" smtClean="0"/>
          </a:p>
          <a:p>
            <a:pPr>
              <a:buNone/>
            </a:pPr>
            <a:r>
              <a:rPr lang="en-US" b="1" dirty="0" smtClean="0"/>
              <a:t>Algorithms:</a:t>
            </a:r>
          </a:p>
          <a:p>
            <a:r>
              <a:rPr lang="en-US" dirty="0" smtClean="0"/>
              <a:t>FCFS</a:t>
            </a:r>
          </a:p>
          <a:p>
            <a:r>
              <a:rPr lang="en-US" dirty="0" smtClean="0"/>
              <a:t>SJF / SRTF</a:t>
            </a:r>
          </a:p>
          <a:p>
            <a:r>
              <a:rPr lang="en-US" dirty="0" smtClean="0"/>
              <a:t>Round Robin</a:t>
            </a:r>
          </a:p>
          <a:p>
            <a:r>
              <a:rPr lang="en-US" dirty="0" smtClean="0"/>
              <a:t>Priority Scheduling</a:t>
            </a:r>
          </a:p>
          <a:p>
            <a:r>
              <a:rPr lang="en-US" dirty="0" smtClean="0"/>
              <a:t>Multilevel Queue</a:t>
            </a:r>
          </a:p>
          <a:p>
            <a:r>
              <a:rPr lang="en-US" dirty="0" smtClean="0"/>
              <a:t>Multilevel Feedback Queue</a:t>
            </a:r>
          </a:p>
          <a:p>
            <a:endParaRPr lang="en-US" dirty="0"/>
          </a:p>
        </p:txBody>
      </p:sp>
      <p:sp>
        <p:nvSpPr>
          <p:cNvPr id="3" name="Title 2"/>
          <p:cNvSpPr>
            <a:spLocks noGrp="1"/>
          </p:cNvSpPr>
          <p:nvPr>
            <p:ph type="title"/>
          </p:nvPr>
        </p:nvSpPr>
        <p:spPr/>
        <p:txBody>
          <a:bodyPr>
            <a:normAutofit/>
          </a:bodyPr>
          <a:lstStyle/>
          <a:p>
            <a:r>
              <a:rPr lang="en-US" dirty="0" smtClean="0"/>
              <a:t>Process Scheduling</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US" dirty="0" smtClean="0"/>
              <a:t>Ensures efficient use of system memory.</a:t>
            </a:r>
          </a:p>
          <a:p>
            <a:pPr>
              <a:buNone/>
            </a:pPr>
            <a:endParaRPr lang="en-US" dirty="0" smtClean="0"/>
          </a:p>
          <a:p>
            <a:pPr>
              <a:buNone/>
            </a:pPr>
            <a:r>
              <a:rPr lang="en-US" b="1" dirty="0" smtClean="0"/>
              <a:t>Techniques:</a:t>
            </a:r>
          </a:p>
          <a:p>
            <a:r>
              <a:rPr lang="en-US" b="1" dirty="0" smtClean="0"/>
              <a:t>Contiguous allocation</a:t>
            </a:r>
            <a:endParaRPr lang="en-US" dirty="0" smtClean="0"/>
          </a:p>
          <a:p>
            <a:r>
              <a:rPr lang="en-US" b="1" dirty="0" smtClean="0"/>
              <a:t>Paging</a:t>
            </a:r>
            <a:endParaRPr lang="en-US" dirty="0" smtClean="0"/>
          </a:p>
          <a:p>
            <a:r>
              <a:rPr lang="en-US" b="1" dirty="0" smtClean="0"/>
              <a:t>Segmentation</a:t>
            </a:r>
            <a:endParaRPr lang="en-US" dirty="0" smtClean="0"/>
          </a:p>
          <a:p>
            <a:r>
              <a:rPr lang="en-US" b="1" dirty="0" smtClean="0"/>
              <a:t>Virtual memory</a:t>
            </a:r>
            <a:endParaRPr lang="en-US" dirty="0" smtClean="0"/>
          </a:p>
          <a:p>
            <a:pPr>
              <a:buNone/>
            </a:pPr>
            <a:endParaRPr lang="en-US" dirty="0" smtClean="0"/>
          </a:p>
          <a:p>
            <a:pPr>
              <a:buNone/>
            </a:pPr>
            <a:r>
              <a:rPr lang="en-US" b="1" dirty="0" smtClean="0"/>
              <a:t>Page replacement algorithms: </a:t>
            </a:r>
          </a:p>
          <a:p>
            <a:pPr>
              <a:buNone/>
            </a:pPr>
            <a:r>
              <a:rPr lang="en-US" dirty="0" smtClean="0"/>
              <a:t>FIFO, LRU, Optimal</a:t>
            </a:r>
          </a:p>
          <a:p>
            <a:pPr>
              <a:buNone/>
            </a:pPr>
            <a:endParaRPr lang="en-US" dirty="0" smtClean="0"/>
          </a:p>
          <a:p>
            <a:pPr>
              <a:buNone/>
            </a:pPr>
            <a:r>
              <a:rPr lang="en-US" b="1" dirty="0" smtClean="0"/>
              <a:t>Goals:</a:t>
            </a:r>
          </a:p>
          <a:p>
            <a:r>
              <a:rPr lang="en-US" dirty="0" smtClean="0"/>
              <a:t>Protection</a:t>
            </a:r>
          </a:p>
          <a:p>
            <a:r>
              <a:rPr lang="en-US" dirty="0" smtClean="0"/>
              <a:t>Isolation</a:t>
            </a:r>
          </a:p>
          <a:p>
            <a:r>
              <a:rPr lang="en-US" dirty="0" smtClean="0"/>
              <a:t>Efficient allocation</a:t>
            </a:r>
          </a:p>
          <a:p>
            <a:endParaRPr lang="en-US" dirty="0"/>
          </a:p>
        </p:txBody>
      </p:sp>
      <p:sp>
        <p:nvSpPr>
          <p:cNvPr id="3" name="Title 2"/>
          <p:cNvSpPr>
            <a:spLocks noGrp="1"/>
          </p:cNvSpPr>
          <p:nvPr>
            <p:ph type="title"/>
          </p:nvPr>
        </p:nvSpPr>
        <p:spPr/>
        <p:txBody>
          <a:bodyPr/>
          <a:lstStyle/>
          <a:p>
            <a:r>
              <a:rPr lang="en-US" dirty="0" smtClean="0"/>
              <a:t>MEMORY MANAGEMENT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Manages how data is stored and accessed.</a:t>
            </a:r>
          </a:p>
          <a:p>
            <a:pPr>
              <a:buNone/>
            </a:pPr>
            <a:endParaRPr lang="en-US" dirty="0" smtClean="0"/>
          </a:p>
          <a:p>
            <a:pPr>
              <a:buNone/>
            </a:pPr>
            <a:r>
              <a:rPr lang="en-US" dirty="0" smtClean="0"/>
              <a:t>Components:</a:t>
            </a:r>
          </a:p>
          <a:p>
            <a:r>
              <a:rPr lang="en-US" dirty="0" smtClean="0"/>
              <a:t>File systems (NTFS, ext4, FAT32)</a:t>
            </a:r>
          </a:p>
          <a:p>
            <a:r>
              <a:rPr lang="en-US" dirty="0" smtClean="0"/>
              <a:t>Directory structure</a:t>
            </a:r>
          </a:p>
          <a:p>
            <a:r>
              <a:rPr lang="en-US" dirty="0" smtClean="0"/>
              <a:t>Disk scheduling algorithms</a:t>
            </a:r>
          </a:p>
          <a:p>
            <a:pPr lvl="1"/>
            <a:r>
              <a:rPr lang="en-US" dirty="0" smtClean="0"/>
              <a:t>FCFS, SSTF, SCAN, C-SCAN</a:t>
            </a:r>
          </a:p>
          <a:p>
            <a:endParaRPr lang="en-US" dirty="0"/>
          </a:p>
        </p:txBody>
      </p:sp>
      <p:sp>
        <p:nvSpPr>
          <p:cNvPr id="3" name="Title 2"/>
          <p:cNvSpPr>
            <a:spLocks noGrp="1"/>
          </p:cNvSpPr>
          <p:nvPr>
            <p:ph type="title"/>
          </p:nvPr>
        </p:nvSpPr>
        <p:spPr/>
        <p:txBody>
          <a:bodyPr/>
          <a:lstStyle/>
          <a:p>
            <a:r>
              <a:rPr lang="en-US" dirty="0" smtClean="0"/>
              <a:t>STORAGE MANAGEMENT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Handles communication between hardware devices and system software.</a:t>
            </a:r>
          </a:p>
          <a:p>
            <a:r>
              <a:rPr lang="en-US" dirty="0" smtClean="0"/>
              <a:t>Concepts:</a:t>
            </a:r>
          </a:p>
          <a:p>
            <a:r>
              <a:rPr lang="en-US" dirty="0" smtClean="0"/>
              <a:t>Device controllers and drivers</a:t>
            </a:r>
          </a:p>
          <a:p>
            <a:r>
              <a:rPr lang="en-US" dirty="0" smtClean="0"/>
              <a:t>Interrupts</a:t>
            </a:r>
          </a:p>
          <a:p>
            <a:r>
              <a:rPr lang="en-US" dirty="0" smtClean="0"/>
              <a:t>DMA (Direct Memory Access)</a:t>
            </a:r>
          </a:p>
          <a:p>
            <a:r>
              <a:rPr lang="en-US" dirty="0" smtClean="0"/>
              <a:t>Buffering</a:t>
            </a:r>
          </a:p>
          <a:p>
            <a:r>
              <a:rPr lang="en-US" dirty="0" smtClean="0"/>
              <a:t>Caching</a:t>
            </a:r>
          </a:p>
          <a:p>
            <a:r>
              <a:rPr lang="en-US" dirty="0" smtClean="0"/>
              <a:t>Spooling</a:t>
            </a:r>
          </a:p>
          <a:p>
            <a:endParaRPr lang="en-US" dirty="0"/>
          </a:p>
        </p:txBody>
      </p:sp>
      <p:sp>
        <p:nvSpPr>
          <p:cNvPr id="3" name="Title 2"/>
          <p:cNvSpPr>
            <a:spLocks noGrp="1"/>
          </p:cNvSpPr>
          <p:nvPr>
            <p:ph type="title"/>
          </p:nvPr>
        </p:nvSpPr>
        <p:spPr/>
        <p:txBody>
          <a:bodyPr/>
          <a:lstStyle/>
          <a:p>
            <a:r>
              <a:rPr lang="en-US" dirty="0" smtClean="0"/>
              <a:t>I/O Management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smtClean="0"/>
          </a:p>
          <a:p>
            <a:r>
              <a:rPr lang="en-US" b="1" dirty="0" smtClean="0"/>
              <a:t>Primary Goals</a:t>
            </a:r>
          </a:p>
          <a:p>
            <a:pPr lvl="1"/>
            <a:r>
              <a:rPr lang="en-US" b="1" dirty="0" smtClean="0"/>
              <a:t>Efficiency</a:t>
            </a:r>
            <a:r>
              <a:rPr lang="en-US" dirty="0" smtClean="0"/>
              <a:t> – maximize hardware usage</a:t>
            </a:r>
          </a:p>
          <a:p>
            <a:pPr lvl="1"/>
            <a:r>
              <a:rPr lang="en-US" b="1" dirty="0" smtClean="0"/>
              <a:t>Reliability</a:t>
            </a:r>
            <a:r>
              <a:rPr lang="en-US" dirty="0" smtClean="0"/>
              <a:t> – prevent failures</a:t>
            </a:r>
          </a:p>
          <a:p>
            <a:pPr lvl="1"/>
            <a:r>
              <a:rPr lang="en-US" b="1" dirty="0" smtClean="0"/>
              <a:t>Security</a:t>
            </a:r>
            <a:r>
              <a:rPr lang="en-US" dirty="0" smtClean="0"/>
              <a:t> – protect processes and data</a:t>
            </a:r>
          </a:p>
          <a:p>
            <a:pPr lvl="1"/>
            <a:r>
              <a:rPr lang="en-US" b="1" dirty="0" smtClean="0"/>
              <a:t>Scalability</a:t>
            </a:r>
            <a:r>
              <a:rPr lang="en-US" dirty="0" smtClean="0"/>
              <a:t> – handle increasing loads</a:t>
            </a:r>
          </a:p>
          <a:p>
            <a:pPr lvl="1"/>
            <a:r>
              <a:rPr lang="en-US" b="1" dirty="0" smtClean="0"/>
              <a:t>Portability</a:t>
            </a:r>
            <a:r>
              <a:rPr lang="en-US" dirty="0" smtClean="0"/>
              <a:t> – run on multiple architectures</a:t>
            </a:r>
          </a:p>
          <a:p>
            <a:pPr lvl="1"/>
            <a:r>
              <a:rPr lang="en-US" b="1" dirty="0" smtClean="0"/>
              <a:t>Interactivity</a:t>
            </a:r>
            <a:r>
              <a:rPr lang="en-US" dirty="0" smtClean="0"/>
              <a:t> – fast response for users</a:t>
            </a:r>
          </a:p>
          <a:p>
            <a:endParaRPr lang="en-US" dirty="0"/>
          </a:p>
        </p:txBody>
      </p:sp>
      <p:sp>
        <p:nvSpPr>
          <p:cNvPr id="3" name="Title 2"/>
          <p:cNvSpPr>
            <a:spLocks noGrp="1"/>
          </p:cNvSpPr>
          <p:nvPr>
            <p:ph type="title"/>
          </p:nvPr>
        </p:nvSpPr>
        <p:spPr/>
        <p:txBody>
          <a:bodyPr>
            <a:normAutofit fontScale="90000"/>
          </a:bodyPr>
          <a:lstStyle/>
          <a:p>
            <a:r>
              <a:rPr lang="en-US" dirty="0" smtClean="0"/>
              <a:t>OPERATING SYSTEM DESIGN GOALS AND PRINCIPLES</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smtClean="0"/>
          </a:p>
          <a:p>
            <a:r>
              <a:rPr lang="en-US" b="1" dirty="0" smtClean="0"/>
              <a:t>Design Principles</a:t>
            </a:r>
          </a:p>
          <a:p>
            <a:pPr lvl="1"/>
            <a:r>
              <a:rPr lang="en-US" dirty="0" smtClean="0"/>
              <a:t>Separation of policy and mechanism</a:t>
            </a:r>
          </a:p>
          <a:p>
            <a:pPr lvl="1"/>
            <a:r>
              <a:rPr lang="en-US" dirty="0" smtClean="0"/>
              <a:t>Modularity</a:t>
            </a:r>
          </a:p>
          <a:p>
            <a:pPr lvl="1"/>
            <a:r>
              <a:rPr lang="en-US" dirty="0" smtClean="0"/>
              <a:t>Simplicity</a:t>
            </a:r>
          </a:p>
          <a:p>
            <a:pPr lvl="1"/>
            <a:r>
              <a:rPr lang="en-US" dirty="0" smtClean="0"/>
              <a:t>Performance optimization</a:t>
            </a:r>
          </a:p>
          <a:p>
            <a:pPr lvl="1"/>
            <a:r>
              <a:rPr lang="en-US" dirty="0" smtClean="0"/>
              <a:t>Abstraction layers</a:t>
            </a:r>
          </a:p>
          <a:p>
            <a:endParaRPr lang="en-US" dirty="0"/>
          </a:p>
        </p:txBody>
      </p:sp>
      <p:sp>
        <p:nvSpPr>
          <p:cNvPr id="3" name="Title 2"/>
          <p:cNvSpPr>
            <a:spLocks noGrp="1"/>
          </p:cNvSpPr>
          <p:nvPr>
            <p:ph type="title"/>
          </p:nvPr>
        </p:nvSpPr>
        <p:spPr/>
        <p:txBody>
          <a:bodyPr>
            <a:normAutofit fontScale="90000"/>
          </a:bodyPr>
          <a:lstStyle/>
          <a:p>
            <a:r>
              <a:rPr lang="en-US" dirty="0" smtClean="0"/>
              <a:t>OPERATING SYSTEM DESIGN GOALS AND PRINCIPLES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a:buNone/>
            </a:pPr>
            <a:r>
              <a:rPr lang="en-US" b="1" dirty="0" smtClean="0"/>
              <a:t>1. Monolithic Kernel</a:t>
            </a:r>
          </a:p>
          <a:p>
            <a:pPr>
              <a:buNone/>
            </a:pPr>
            <a:endParaRPr lang="en-US" b="1" dirty="0" smtClean="0"/>
          </a:p>
          <a:p>
            <a:pPr>
              <a:buNone/>
            </a:pPr>
            <a:r>
              <a:rPr lang="en-US" b="1" dirty="0" smtClean="0"/>
              <a:t>Concept</a:t>
            </a:r>
          </a:p>
          <a:p>
            <a:r>
              <a:rPr lang="en-US" dirty="0" smtClean="0"/>
              <a:t>A </a:t>
            </a:r>
            <a:r>
              <a:rPr lang="en-US" b="1" dirty="0" smtClean="0"/>
              <a:t>monolithic kernel</a:t>
            </a:r>
            <a:r>
              <a:rPr lang="en-US" dirty="0" smtClean="0"/>
              <a:t> is a large kernel where </a:t>
            </a:r>
            <a:r>
              <a:rPr lang="en-US" b="1" dirty="0" smtClean="0"/>
              <a:t>all OS services run in kernel mode</a:t>
            </a:r>
            <a:r>
              <a:rPr lang="en-US" dirty="0" smtClean="0"/>
              <a:t>, including:</a:t>
            </a:r>
          </a:p>
          <a:p>
            <a:endParaRPr lang="en-US" dirty="0" smtClean="0"/>
          </a:p>
          <a:p>
            <a:r>
              <a:rPr lang="en-US" dirty="0" smtClean="0"/>
              <a:t>Process management</a:t>
            </a:r>
          </a:p>
          <a:p>
            <a:r>
              <a:rPr lang="en-US" dirty="0" smtClean="0"/>
              <a:t>Memory management</a:t>
            </a:r>
          </a:p>
          <a:p>
            <a:r>
              <a:rPr lang="en-US" dirty="0" smtClean="0"/>
              <a:t>File systems</a:t>
            </a:r>
          </a:p>
          <a:p>
            <a:r>
              <a:rPr lang="en-US" dirty="0" smtClean="0"/>
              <a:t>Device drivers</a:t>
            </a:r>
          </a:p>
          <a:p>
            <a:r>
              <a:rPr lang="en-US" dirty="0" smtClean="0"/>
              <a:t>Networking</a:t>
            </a:r>
          </a:p>
          <a:p>
            <a:r>
              <a:rPr lang="en-US" dirty="0" smtClean="0"/>
              <a:t>System call handling</a:t>
            </a:r>
          </a:p>
          <a:p>
            <a:r>
              <a:rPr lang="en-US" dirty="0" smtClean="0"/>
              <a:t>Inter-process communication</a:t>
            </a:r>
          </a:p>
          <a:p>
            <a:r>
              <a:rPr lang="en-US" dirty="0" smtClean="0"/>
              <a:t>Everything executes with </a:t>
            </a:r>
            <a:r>
              <a:rPr lang="en-US" b="1" dirty="0" smtClean="0"/>
              <a:t>full privileges</a:t>
            </a:r>
            <a:r>
              <a:rPr lang="en-US" dirty="0" smtClean="0"/>
              <a:t>.</a:t>
            </a:r>
          </a:p>
          <a:p>
            <a:endParaRPr lang="en-US" dirty="0"/>
          </a:p>
        </p:txBody>
      </p:sp>
      <p:sp>
        <p:nvSpPr>
          <p:cNvPr id="3" name="Title 2"/>
          <p:cNvSpPr>
            <a:spLocks noGrp="1"/>
          </p:cNvSpPr>
          <p:nvPr>
            <p:ph type="title"/>
          </p:nvPr>
        </p:nvSpPr>
        <p:spPr/>
        <p:txBody>
          <a:bodyPr>
            <a:noAutofit/>
          </a:bodyPr>
          <a:lstStyle/>
          <a:p>
            <a:r>
              <a:rPr lang="en-US" sz="2800" dirty="0" smtClean="0"/>
              <a:t>Operating System Structures and Kernel Types</a:t>
            </a:r>
            <a:br>
              <a:rPr lang="en-US" sz="2800" dirty="0" smtClean="0"/>
            </a:b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pPr>
              <a:buNone/>
            </a:pPr>
            <a:r>
              <a:rPr lang="en-US" b="1" dirty="0" smtClean="0"/>
              <a:t>1. Monolithic Kernel</a:t>
            </a:r>
          </a:p>
          <a:p>
            <a:pPr>
              <a:buNone/>
            </a:pPr>
            <a:endParaRPr lang="en-US" b="1" dirty="0" smtClean="0"/>
          </a:p>
          <a:p>
            <a:pPr>
              <a:buNone/>
            </a:pPr>
            <a:r>
              <a:rPr lang="en-US" b="1" dirty="0" smtClean="0"/>
              <a:t>Advantages</a:t>
            </a:r>
          </a:p>
          <a:p>
            <a:r>
              <a:rPr lang="en-US" b="1" dirty="0" smtClean="0"/>
              <a:t>Very fast</a:t>
            </a:r>
            <a:r>
              <a:rPr lang="en-US" dirty="0" smtClean="0"/>
              <a:t> due to direct function calls inside the kernel.</a:t>
            </a:r>
          </a:p>
          <a:p>
            <a:r>
              <a:rPr lang="en-US" dirty="0" smtClean="0"/>
              <a:t>No message-passing overhead.</a:t>
            </a:r>
          </a:p>
          <a:p>
            <a:r>
              <a:rPr lang="en-US" dirty="0" smtClean="0"/>
              <a:t>Good performance for I/O-heavy tasks.</a:t>
            </a:r>
          </a:p>
          <a:p>
            <a:pPr>
              <a:buNone/>
            </a:pPr>
            <a:endParaRPr lang="en-US" b="1" dirty="0" smtClean="0"/>
          </a:p>
          <a:p>
            <a:pPr>
              <a:buNone/>
            </a:pPr>
            <a:r>
              <a:rPr lang="en-US" b="1" dirty="0" smtClean="0"/>
              <a:t>Disadvantages</a:t>
            </a:r>
          </a:p>
          <a:p>
            <a:r>
              <a:rPr lang="en-US" b="1" dirty="0" smtClean="0"/>
              <a:t>Difficult to maintain/debug</a:t>
            </a:r>
            <a:r>
              <a:rPr lang="en-US" dirty="0" smtClean="0"/>
              <a:t> (large codebase).</a:t>
            </a:r>
          </a:p>
          <a:p>
            <a:r>
              <a:rPr lang="en-US" dirty="0" smtClean="0"/>
              <a:t>A bug in any part can </a:t>
            </a:r>
            <a:r>
              <a:rPr lang="en-US" b="1" dirty="0" smtClean="0"/>
              <a:t>crash the entire system</a:t>
            </a:r>
            <a:r>
              <a:rPr lang="en-US" dirty="0" smtClean="0"/>
              <a:t>.</a:t>
            </a:r>
          </a:p>
          <a:p>
            <a:r>
              <a:rPr lang="en-US" dirty="0" smtClean="0"/>
              <a:t>Security risk—drivers run with full privileges.</a:t>
            </a:r>
          </a:p>
          <a:p>
            <a:pPr>
              <a:buNone/>
            </a:pPr>
            <a:endParaRPr lang="en-US" b="1" dirty="0" smtClean="0"/>
          </a:p>
          <a:p>
            <a:pPr>
              <a:buNone/>
            </a:pPr>
            <a:r>
              <a:rPr lang="en-US" b="1" dirty="0" smtClean="0"/>
              <a:t>Examples</a:t>
            </a:r>
          </a:p>
          <a:p>
            <a:r>
              <a:rPr lang="en-US" b="1" dirty="0" smtClean="0"/>
              <a:t>Linux (modern)</a:t>
            </a:r>
            <a:endParaRPr lang="en-US" dirty="0" smtClean="0"/>
          </a:p>
          <a:p>
            <a:r>
              <a:rPr lang="en-US" b="1" dirty="0" smtClean="0"/>
              <a:t>UNIX</a:t>
            </a:r>
            <a:endParaRPr lang="en-US" dirty="0" smtClean="0"/>
          </a:p>
          <a:p>
            <a:r>
              <a:rPr lang="en-US" b="1" dirty="0" smtClean="0"/>
              <a:t>MS-DOS (simple version)</a:t>
            </a:r>
            <a:endParaRPr lang="en-US" dirty="0" smtClean="0"/>
          </a:p>
          <a:p>
            <a:endParaRPr lang="en-US" dirty="0"/>
          </a:p>
        </p:txBody>
      </p:sp>
      <p:sp>
        <p:nvSpPr>
          <p:cNvPr id="3" name="Title 2"/>
          <p:cNvSpPr>
            <a:spLocks noGrp="1"/>
          </p:cNvSpPr>
          <p:nvPr>
            <p:ph type="title"/>
          </p:nvPr>
        </p:nvSpPr>
        <p:spPr/>
        <p:txBody>
          <a:bodyPr>
            <a:noAutofit/>
          </a:bodyPr>
          <a:lstStyle/>
          <a:p>
            <a:r>
              <a:rPr lang="en-US" sz="2800" dirty="0" smtClean="0"/>
              <a:t>Operating System Structures and Kernel Types</a:t>
            </a:r>
            <a:br>
              <a:rPr lang="en-US" sz="2800" dirty="0" smtClean="0"/>
            </a:b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US" b="1" dirty="0" smtClean="0"/>
              <a:t>2. Layered Architecture</a:t>
            </a:r>
          </a:p>
          <a:p>
            <a:pPr>
              <a:buNone/>
            </a:pPr>
            <a:endParaRPr lang="en-US" b="1" dirty="0" smtClean="0"/>
          </a:p>
          <a:p>
            <a:pPr>
              <a:buNone/>
            </a:pPr>
            <a:r>
              <a:rPr lang="en-US" b="1" dirty="0" smtClean="0"/>
              <a:t>Concept</a:t>
            </a:r>
          </a:p>
          <a:p>
            <a:r>
              <a:rPr lang="en-US" dirty="0" smtClean="0"/>
              <a:t>The OS is divided into </a:t>
            </a:r>
            <a:r>
              <a:rPr lang="en-US" b="1" dirty="0" smtClean="0"/>
              <a:t>layers</a:t>
            </a:r>
            <a:r>
              <a:rPr lang="en-US" dirty="0" smtClean="0"/>
              <a:t>, each built on top of the other.</a:t>
            </a:r>
            <a:br>
              <a:rPr lang="en-US" dirty="0" smtClean="0"/>
            </a:br>
            <a:r>
              <a:rPr lang="en-US" dirty="0" smtClean="0"/>
              <a:t>Layer 0 = hardware</a:t>
            </a:r>
            <a:br>
              <a:rPr lang="en-US" dirty="0" smtClean="0"/>
            </a:br>
            <a:r>
              <a:rPr lang="en-US" dirty="0" smtClean="0"/>
              <a:t>Layer N = user interface</a:t>
            </a:r>
          </a:p>
          <a:p>
            <a:r>
              <a:rPr lang="en-US" dirty="0" smtClean="0"/>
              <a:t>Each layer:</a:t>
            </a:r>
          </a:p>
          <a:p>
            <a:r>
              <a:rPr lang="en-US" dirty="0" smtClean="0"/>
              <a:t>Uses services of layer below</a:t>
            </a:r>
          </a:p>
          <a:p>
            <a:r>
              <a:rPr lang="en-US" dirty="0" smtClean="0"/>
              <a:t>Provides services to layer above</a:t>
            </a:r>
          </a:p>
          <a:p>
            <a:endParaRPr lang="en-US" dirty="0"/>
          </a:p>
        </p:txBody>
      </p:sp>
      <p:sp>
        <p:nvSpPr>
          <p:cNvPr id="3" name="Title 2"/>
          <p:cNvSpPr>
            <a:spLocks noGrp="1"/>
          </p:cNvSpPr>
          <p:nvPr>
            <p:ph type="title"/>
          </p:nvPr>
        </p:nvSpPr>
        <p:spPr/>
        <p:txBody>
          <a:bodyPr>
            <a:noAutofit/>
          </a:bodyPr>
          <a:lstStyle/>
          <a:p>
            <a:r>
              <a:rPr lang="en-US" sz="2800" dirty="0" smtClean="0"/>
              <a:t>Operating System Structures and Kernel Types</a:t>
            </a:r>
            <a:br>
              <a:rPr lang="en-US" sz="2800" dirty="0" smtClean="0"/>
            </a:b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a:buNone/>
            </a:pPr>
            <a:r>
              <a:rPr lang="en-US" b="1" dirty="0" smtClean="0"/>
              <a:t>2. Layered Architecture</a:t>
            </a:r>
          </a:p>
          <a:p>
            <a:pPr>
              <a:buNone/>
            </a:pPr>
            <a:endParaRPr lang="en-US" b="1" dirty="0" smtClean="0"/>
          </a:p>
          <a:p>
            <a:pPr>
              <a:buNone/>
            </a:pPr>
            <a:r>
              <a:rPr lang="en-US" b="1" dirty="0" smtClean="0"/>
              <a:t>Advantages</a:t>
            </a:r>
          </a:p>
          <a:p>
            <a:r>
              <a:rPr lang="en-US" dirty="0" smtClean="0"/>
              <a:t>Easy to design and debug.</a:t>
            </a:r>
          </a:p>
          <a:p>
            <a:r>
              <a:rPr lang="en-US" dirty="0" smtClean="0"/>
              <a:t>Each layer is modular.</a:t>
            </a:r>
          </a:p>
          <a:p>
            <a:r>
              <a:rPr lang="en-US" dirty="0" smtClean="0"/>
              <a:t>Strong separation of concerns.</a:t>
            </a:r>
          </a:p>
          <a:p>
            <a:pPr>
              <a:buNone/>
            </a:pPr>
            <a:endParaRPr lang="en-US" b="1" dirty="0" smtClean="0"/>
          </a:p>
          <a:p>
            <a:pPr>
              <a:buNone/>
            </a:pPr>
            <a:r>
              <a:rPr lang="en-US" b="1" dirty="0" smtClean="0"/>
              <a:t>Disadvantages</a:t>
            </a:r>
          </a:p>
          <a:p>
            <a:r>
              <a:rPr lang="en-US" dirty="0" smtClean="0"/>
              <a:t>Performance overhead (must pass through layers).</a:t>
            </a:r>
          </a:p>
          <a:p>
            <a:r>
              <a:rPr lang="en-US" dirty="0" smtClean="0"/>
              <a:t>Hard to define clean boundaries.</a:t>
            </a:r>
          </a:p>
          <a:p>
            <a:pPr>
              <a:buNone/>
            </a:pPr>
            <a:endParaRPr lang="en-US" b="1" dirty="0" smtClean="0"/>
          </a:p>
          <a:p>
            <a:pPr>
              <a:buNone/>
            </a:pPr>
            <a:r>
              <a:rPr lang="en-US" b="1" dirty="0" smtClean="0"/>
              <a:t>Examples</a:t>
            </a:r>
          </a:p>
          <a:p>
            <a:r>
              <a:rPr lang="en-US" b="1" dirty="0" smtClean="0"/>
              <a:t>THE OS</a:t>
            </a:r>
            <a:r>
              <a:rPr lang="en-US" dirty="0" smtClean="0"/>
              <a:t> (classic)</a:t>
            </a:r>
          </a:p>
          <a:p>
            <a:r>
              <a:rPr lang="en-US" b="1" dirty="0" smtClean="0"/>
              <a:t>Early Linux-like layered views</a:t>
            </a:r>
            <a:endParaRPr lang="en-US" dirty="0" smtClean="0"/>
          </a:p>
          <a:p>
            <a:r>
              <a:rPr lang="en-US" b="1" dirty="0" smtClean="0"/>
              <a:t>Android architecture (somewhat layered)</a:t>
            </a:r>
            <a:endParaRPr lang="en-US" dirty="0" smtClean="0"/>
          </a:p>
          <a:p>
            <a:endParaRPr lang="en-US" dirty="0"/>
          </a:p>
        </p:txBody>
      </p:sp>
      <p:sp>
        <p:nvSpPr>
          <p:cNvPr id="3" name="Title 2"/>
          <p:cNvSpPr>
            <a:spLocks noGrp="1"/>
          </p:cNvSpPr>
          <p:nvPr>
            <p:ph type="title"/>
          </p:nvPr>
        </p:nvSpPr>
        <p:spPr/>
        <p:txBody>
          <a:bodyPr>
            <a:noAutofit/>
          </a:bodyPr>
          <a:lstStyle/>
          <a:p>
            <a:r>
              <a:rPr lang="en-US" sz="2800" dirty="0" smtClean="0"/>
              <a:t>Operating System Structures and Kernel Types</a:t>
            </a:r>
            <a:br>
              <a:rPr lang="en-US" sz="2800" dirty="0" smtClean="0"/>
            </a:b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US" b="1" dirty="0" smtClean="0"/>
              <a:t>3. Microkernel</a:t>
            </a:r>
          </a:p>
          <a:p>
            <a:pPr>
              <a:buNone/>
            </a:pPr>
            <a:endParaRPr lang="en-US" b="1" dirty="0" smtClean="0"/>
          </a:p>
          <a:p>
            <a:pPr>
              <a:buNone/>
            </a:pPr>
            <a:r>
              <a:rPr lang="en-US" b="1" dirty="0" smtClean="0"/>
              <a:t>Concept</a:t>
            </a:r>
          </a:p>
          <a:p>
            <a:r>
              <a:rPr lang="en-US" dirty="0" smtClean="0"/>
              <a:t>A microkernel keeps only </a:t>
            </a:r>
            <a:r>
              <a:rPr lang="en-US" b="1" dirty="0" smtClean="0"/>
              <a:t>essential OS functions in kernel mode</a:t>
            </a:r>
            <a:r>
              <a:rPr lang="en-US" dirty="0" smtClean="0"/>
              <a:t>:</a:t>
            </a:r>
          </a:p>
          <a:p>
            <a:pPr lvl="1"/>
            <a:r>
              <a:rPr lang="en-US" dirty="0" smtClean="0"/>
              <a:t>Inter-process communication (IPC)</a:t>
            </a:r>
          </a:p>
          <a:p>
            <a:pPr lvl="1"/>
            <a:r>
              <a:rPr lang="en-US" dirty="0" smtClean="0"/>
              <a:t>CPU scheduling</a:t>
            </a:r>
          </a:p>
          <a:p>
            <a:pPr lvl="1"/>
            <a:r>
              <a:rPr lang="en-US" dirty="0" smtClean="0"/>
              <a:t>Basic memory management</a:t>
            </a:r>
          </a:p>
          <a:p>
            <a:pPr lvl="1"/>
            <a:r>
              <a:rPr lang="en-US" dirty="0" smtClean="0"/>
              <a:t>Low-level hardware handling</a:t>
            </a:r>
          </a:p>
          <a:p>
            <a:r>
              <a:rPr lang="en-US" dirty="0" smtClean="0"/>
              <a:t>Everything else (drivers, file system, networking) runs in </a:t>
            </a:r>
            <a:r>
              <a:rPr lang="en-US" b="1" dirty="0" smtClean="0"/>
              <a:t>user space as servers</a:t>
            </a:r>
            <a:r>
              <a:rPr lang="en-US" dirty="0" smtClean="0"/>
              <a:t>.</a:t>
            </a:r>
            <a:endParaRPr lang="en-US" dirty="0"/>
          </a:p>
        </p:txBody>
      </p:sp>
      <p:sp>
        <p:nvSpPr>
          <p:cNvPr id="3" name="Title 2"/>
          <p:cNvSpPr>
            <a:spLocks noGrp="1"/>
          </p:cNvSpPr>
          <p:nvPr>
            <p:ph type="title"/>
          </p:nvPr>
        </p:nvSpPr>
        <p:spPr/>
        <p:txBody>
          <a:bodyPr>
            <a:noAutofit/>
          </a:bodyPr>
          <a:lstStyle/>
          <a:p>
            <a:r>
              <a:rPr lang="en-US" sz="2800" dirty="0" smtClean="0"/>
              <a:t>Operating System Structures and Kernel Types</a:t>
            </a:r>
            <a:br>
              <a:rPr lang="en-US" sz="2800" dirty="0" smtClean="0"/>
            </a:b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a:buNone/>
            </a:pPr>
            <a:r>
              <a:rPr lang="en-US" b="1" dirty="0" smtClean="0"/>
              <a:t>3. Microkernel</a:t>
            </a:r>
          </a:p>
          <a:p>
            <a:pPr>
              <a:buNone/>
            </a:pPr>
            <a:endParaRPr lang="en-US" b="1" dirty="0" smtClean="0"/>
          </a:p>
          <a:p>
            <a:pPr>
              <a:buNone/>
            </a:pPr>
            <a:r>
              <a:rPr lang="en-US" b="1" dirty="0" smtClean="0"/>
              <a:t>Advantages</a:t>
            </a:r>
          </a:p>
          <a:p>
            <a:r>
              <a:rPr lang="en-US" dirty="0" smtClean="0"/>
              <a:t>Very stable and </a:t>
            </a:r>
            <a:r>
              <a:rPr lang="en-US" b="1" dirty="0" smtClean="0"/>
              <a:t>fault-tolerant</a:t>
            </a:r>
            <a:r>
              <a:rPr lang="en-US" dirty="0" smtClean="0"/>
              <a:t>—crashes in drivers do NOT crash OS.</a:t>
            </a:r>
          </a:p>
          <a:p>
            <a:r>
              <a:rPr lang="en-US" dirty="0" smtClean="0"/>
              <a:t>Higher security (services isolated).</a:t>
            </a:r>
          </a:p>
          <a:p>
            <a:pPr>
              <a:buNone/>
            </a:pPr>
            <a:endParaRPr lang="en-US" b="1" dirty="0" smtClean="0"/>
          </a:p>
          <a:p>
            <a:pPr>
              <a:buNone/>
            </a:pPr>
            <a:r>
              <a:rPr lang="en-US" b="1" dirty="0" smtClean="0"/>
              <a:t>Disadvantages</a:t>
            </a:r>
          </a:p>
          <a:p>
            <a:r>
              <a:rPr lang="en-US" dirty="0" smtClean="0"/>
              <a:t>Slower due to </a:t>
            </a:r>
            <a:r>
              <a:rPr lang="en-US" b="1" dirty="0" smtClean="0"/>
              <a:t>message-passing overhead</a:t>
            </a:r>
            <a:r>
              <a:rPr lang="en-US" dirty="0" smtClean="0"/>
              <a:t>.</a:t>
            </a:r>
          </a:p>
          <a:p>
            <a:r>
              <a:rPr lang="en-US" dirty="0" smtClean="0"/>
              <a:t>Complex design.</a:t>
            </a:r>
          </a:p>
          <a:p>
            <a:pPr>
              <a:buNone/>
            </a:pPr>
            <a:endParaRPr lang="en-US" b="1" dirty="0" smtClean="0"/>
          </a:p>
          <a:p>
            <a:pPr>
              <a:buNone/>
            </a:pPr>
            <a:r>
              <a:rPr lang="en-US" b="1" dirty="0" smtClean="0"/>
              <a:t>Examples</a:t>
            </a:r>
          </a:p>
          <a:p>
            <a:r>
              <a:rPr lang="en-US" b="1" dirty="0" err="1" smtClean="0"/>
              <a:t>Minix</a:t>
            </a:r>
            <a:r>
              <a:rPr lang="en-US" b="1" dirty="0" smtClean="0"/>
              <a:t> 3</a:t>
            </a:r>
            <a:endParaRPr lang="en-US" dirty="0" smtClean="0"/>
          </a:p>
          <a:p>
            <a:r>
              <a:rPr lang="en-US" b="1" dirty="0" smtClean="0"/>
              <a:t>QNX (industrial, automotive, aerospace)</a:t>
            </a:r>
            <a:endParaRPr lang="en-US" dirty="0" smtClean="0"/>
          </a:p>
          <a:p>
            <a:r>
              <a:rPr lang="en-US" b="1" dirty="0" smtClean="0"/>
              <a:t>Mach (part of </a:t>
            </a:r>
            <a:r>
              <a:rPr lang="en-US" b="1" dirty="0" err="1" smtClean="0"/>
              <a:t>macOS</a:t>
            </a:r>
            <a:r>
              <a:rPr lang="en-US" b="1" dirty="0" smtClean="0"/>
              <a:t> XNU kernel)</a:t>
            </a:r>
            <a:endParaRPr lang="en-US" dirty="0"/>
          </a:p>
        </p:txBody>
      </p:sp>
      <p:sp>
        <p:nvSpPr>
          <p:cNvPr id="3" name="Title 2"/>
          <p:cNvSpPr>
            <a:spLocks noGrp="1"/>
          </p:cNvSpPr>
          <p:nvPr>
            <p:ph type="title"/>
          </p:nvPr>
        </p:nvSpPr>
        <p:spPr/>
        <p:txBody>
          <a:bodyPr>
            <a:noAutofit/>
          </a:bodyPr>
          <a:lstStyle/>
          <a:p>
            <a:r>
              <a:rPr lang="en-US" sz="2800" dirty="0" smtClean="0"/>
              <a:t>Operating System Structures and Kernel Types</a:t>
            </a:r>
            <a:br>
              <a:rPr lang="en-US" sz="2800" dirty="0" smtClean="0"/>
            </a:b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US" b="1" dirty="0" smtClean="0"/>
              <a:t>4. Hybrid Kernel</a:t>
            </a:r>
          </a:p>
          <a:p>
            <a:pPr>
              <a:buNone/>
            </a:pPr>
            <a:r>
              <a:rPr lang="en-US" b="1" dirty="0" smtClean="0"/>
              <a:t>Concept</a:t>
            </a:r>
          </a:p>
          <a:p>
            <a:r>
              <a:rPr lang="en-US" dirty="0" smtClean="0"/>
              <a:t>A Hybrid Kernel = </a:t>
            </a:r>
            <a:r>
              <a:rPr lang="en-US" b="1" dirty="0" smtClean="0"/>
              <a:t>Monolithic + Microkernel features</a:t>
            </a:r>
            <a:r>
              <a:rPr lang="en-US" dirty="0" smtClean="0"/>
              <a:t/>
            </a:r>
            <a:br>
              <a:rPr lang="en-US" dirty="0" smtClean="0"/>
            </a:br>
            <a:r>
              <a:rPr lang="en-US" dirty="0" smtClean="0"/>
              <a:t>It uses:</a:t>
            </a:r>
          </a:p>
          <a:p>
            <a:r>
              <a:rPr lang="en-US" dirty="0" smtClean="0"/>
              <a:t>Monolithic structure (for performance)</a:t>
            </a:r>
          </a:p>
          <a:p>
            <a:r>
              <a:rPr lang="en-US" dirty="0" smtClean="0"/>
              <a:t>Microkernel modularity (for stability)</a:t>
            </a:r>
          </a:p>
          <a:p>
            <a:r>
              <a:rPr lang="en-US" dirty="0" smtClean="0"/>
              <a:t>Some services run in kernel; others run in user mode.</a:t>
            </a:r>
            <a:endParaRPr lang="en-US" dirty="0"/>
          </a:p>
        </p:txBody>
      </p:sp>
      <p:sp>
        <p:nvSpPr>
          <p:cNvPr id="3" name="Title 2"/>
          <p:cNvSpPr>
            <a:spLocks noGrp="1"/>
          </p:cNvSpPr>
          <p:nvPr>
            <p:ph type="title"/>
          </p:nvPr>
        </p:nvSpPr>
        <p:spPr/>
        <p:txBody>
          <a:bodyPr>
            <a:noAutofit/>
          </a:bodyPr>
          <a:lstStyle/>
          <a:p>
            <a:r>
              <a:rPr lang="en-US" sz="2800" dirty="0" smtClean="0"/>
              <a:t>Operating System Structures and Kernel Types</a:t>
            </a:r>
            <a:br>
              <a:rPr lang="en-US" sz="2800" dirty="0" smtClean="0"/>
            </a:b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a:buNone/>
            </a:pPr>
            <a:r>
              <a:rPr lang="en-US" b="1" dirty="0" smtClean="0"/>
              <a:t>4. Hybrid Kernel</a:t>
            </a:r>
          </a:p>
          <a:p>
            <a:pPr>
              <a:buNone/>
            </a:pPr>
            <a:endParaRPr lang="en-US" b="1" dirty="0" smtClean="0"/>
          </a:p>
          <a:p>
            <a:pPr>
              <a:buNone/>
            </a:pPr>
            <a:r>
              <a:rPr lang="en-US" b="1" dirty="0" smtClean="0"/>
              <a:t>Advantages</a:t>
            </a:r>
          </a:p>
          <a:p>
            <a:r>
              <a:rPr lang="en-US" dirty="0" smtClean="0"/>
              <a:t>Balanced performance and reliability.</a:t>
            </a:r>
          </a:p>
          <a:p>
            <a:r>
              <a:rPr lang="en-US" dirty="0" smtClean="0"/>
              <a:t>Good modularity without too much slowdown.</a:t>
            </a:r>
          </a:p>
          <a:p>
            <a:pPr>
              <a:buNone/>
            </a:pPr>
            <a:endParaRPr lang="en-US" b="1" dirty="0" smtClean="0"/>
          </a:p>
          <a:p>
            <a:pPr>
              <a:buNone/>
            </a:pPr>
            <a:r>
              <a:rPr lang="en-US" b="1" dirty="0" smtClean="0"/>
              <a:t>Disadvantages</a:t>
            </a:r>
          </a:p>
          <a:p>
            <a:r>
              <a:rPr lang="en-US" dirty="0" smtClean="0"/>
              <a:t>Complex to design.</a:t>
            </a:r>
          </a:p>
          <a:p>
            <a:r>
              <a:rPr lang="en-US" dirty="0" smtClean="0"/>
              <a:t>Can become too large over time.</a:t>
            </a:r>
          </a:p>
          <a:p>
            <a:pPr>
              <a:buNone/>
            </a:pPr>
            <a:endParaRPr lang="en-US" b="1" dirty="0" smtClean="0"/>
          </a:p>
          <a:p>
            <a:pPr>
              <a:buNone/>
            </a:pPr>
            <a:r>
              <a:rPr lang="en-US" b="1" dirty="0" smtClean="0"/>
              <a:t>Examples</a:t>
            </a:r>
          </a:p>
          <a:p>
            <a:r>
              <a:rPr lang="en-US" b="1" dirty="0" smtClean="0"/>
              <a:t>Windows NT / Windows 10/11 (NT kernel)</a:t>
            </a:r>
            <a:endParaRPr lang="en-US" dirty="0" smtClean="0"/>
          </a:p>
          <a:p>
            <a:r>
              <a:rPr lang="en-US" b="1" dirty="0" err="1" smtClean="0"/>
              <a:t>macOS</a:t>
            </a:r>
            <a:r>
              <a:rPr lang="en-US" b="1" dirty="0" smtClean="0"/>
              <a:t>, </a:t>
            </a:r>
            <a:r>
              <a:rPr lang="en-US" b="1" dirty="0" err="1" smtClean="0"/>
              <a:t>iOS</a:t>
            </a:r>
            <a:r>
              <a:rPr lang="en-US" b="1" dirty="0" smtClean="0"/>
              <a:t> (XNU)</a:t>
            </a:r>
            <a:endParaRPr lang="en-US" dirty="0" smtClean="0"/>
          </a:p>
          <a:p>
            <a:r>
              <a:rPr lang="en-US" b="1" dirty="0" err="1" smtClean="0"/>
              <a:t>ReactOS</a:t>
            </a:r>
            <a:endParaRPr lang="en-US" dirty="0"/>
          </a:p>
        </p:txBody>
      </p:sp>
      <p:sp>
        <p:nvSpPr>
          <p:cNvPr id="3" name="Title 2"/>
          <p:cNvSpPr>
            <a:spLocks noGrp="1"/>
          </p:cNvSpPr>
          <p:nvPr>
            <p:ph type="title"/>
          </p:nvPr>
        </p:nvSpPr>
        <p:spPr/>
        <p:txBody>
          <a:bodyPr>
            <a:noAutofit/>
          </a:bodyPr>
          <a:lstStyle/>
          <a:p>
            <a:r>
              <a:rPr lang="en-US" sz="2800" dirty="0" smtClean="0"/>
              <a:t>Operating System Structures and Kernel Types</a:t>
            </a:r>
            <a:br>
              <a:rPr lang="en-US" sz="2800" dirty="0" smtClean="0"/>
            </a:b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US" b="1" dirty="0" smtClean="0"/>
              <a:t>5. </a:t>
            </a:r>
            <a:r>
              <a:rPr lang="en-US" b="1" dirty="0" err="1" smtClean="0"/>
              <a:t>Exokernel</a:t>
            </a:r>
            <a:endParaRPr lang="en-US" b="1" dirty="0" smtClean="0"/>
          </a:p>
          <a:p>
            <a:pPr>
              <a:buNone/>
            </a:pPr>
            <a:r>
              <a:rPr lang="en-US" b="1" dirty="0" smtClean="0"/>
              <a:t>Concept</a:t>
            </a:r>
          </a:p>
          <a:p>
            <a:r>
              <a:rPr lang="en-US" dirty="0" smtClean="0"/>
              <a:t>Ultra-small kernel that provides:</a:t>
            </a:r>
          </a:p>
          <a:p>
            <a:pPr lvl="1"/>
            <a:r>
              <a:rPr lang="en-US" b="1" dirty="0" smtClean="0"/>
              <a:t>Protection</a:t>
            </a:r>
            <a:endParaRPr lang="en-US" dirty="0" smtClean="0"/>
          </a:p>
          <a:p>
            <a:pPr lvl="1"/>
            <a:r>
              <a:rPr lang="en-US" b="1" dirty="0" smtClean="0"/>
              <a:t>Resource allocation</a:t>
            </a:r>
            <a:endParaRPr lang="en-US" dirty="0" smtClean="0"/>
          </a:p>
          <a:p>
            <a:r>
              <a:rPr lang="en-US" dirty="0" smtClean="0"/>
              <a:t>BUT provides </a:t>
            </a:r>
            <a:r>
              <a:rPr lang="en-US" b="1" dirty="0" smtClean="0"/>
              <a:t>no abstractions</a:t>
            </a:r>
            <a:r>
              <a:rPr lang="en-US" dirty="0" smtClean="0"/>
              <a:t> like:</a:t>
            </a:r>
          </a:p>
          <a:p>
            <a:pPr lvl="1"/>
            <a:r>
              <a:rPr lang="en-US" dirty="0" smtClean="0"/>
              <a:t>File systems</a:t>
            </a:r>
          </a:p>
          <a:p>
            <a:pPr lvl="1"/>
            <a:r>
              <a:rPr lang="en-US" dirty="0" smtClean="0"/>
              <a:t>Virtual memory</a:t>
            </a:r>
          </a:p>
          <a:p>
            <a:pPr lvl="1"/>
            <a:r>
              <a:rPr lang="en-US" dirty="0" smtClean="0"/>
              <a:t>Scheduling</a:t>
            </a:r>
          </a:p>
          <a:p>
            <a:r>
              <a:rPr lang="en-US" dirty="0" smtClean="0"/>
              <a:t>Applications or library </a:t>
            </a:r>
            <a:r>
              <a:rPr lang="en-US" dirty="0" err="1" smtClean="0"/>
              <a:t>OSes</a:t>
            </a:r>
            <a:r>
              <a:rPr lang="en-US" dirty="0" smtClean="0"/>
              <a:t> must build their </a:t>
            </a:r>
            <a:r>
              <a:rPr lang="en-US" b="1" dirty="0" smtClean="0"/>
              <a:t>own abstractions</a:t>
            </a:r>
            <a:r>
              <a:rPr lang="en-US" dirty="0" smtClean="0"/>
              <a:t>.</a:t>
            </a:r>
          </a:p>
          <a:p>
            <a:endParaRPr lang="en-US" dirty="0"/>
          </a:p>
        </p:txBody>
      </p:sp>
      <p:sp>
        <p:nvSpPr>
          <p:cNvPr id="3" name="Title 2"/>
          <p:cNvSpPr>
            <a:spLocks noGrp="1"/>
          </p:cNvSpPr>
          <p:nvPr>
            <p:ph type="title"/>
          </p:nvPr>
        </p:nvSpPr>
        <p:spPr/>
        <p:txBody>
          <a:bodyPr>
            <a:normAutofit fontScale="90000"/>
          </a:bodyPr>
          <a:lstStyle/>
          <a:p>
            <a:r>
              <a:rPr lang="en-US" sz="3100" dirty="0" smtClean="0"/>
              <a:t>Operating System Structures and Kernel Types</a:t>
            </a:r>
            <a:r>
              <a:rPr lang="en-US" sz="4400" dirty="0" smtClean="0"/>
              <a:t/>
            </a:r>
            <a:br>
              <a:rPr lang="en-US" sz="4400" dirty="0" smtClean="0"/>
            </a:b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US" b="1" dirty="0" smtClean="0"/>
              <a:t>5. </a:t>
            </a:r>
            <a:r>
              <a:rPr lang="en-US" b="1" dirty="0" err="1" smtClean="0"/>
              <a:t>Exokernel</a:t>
            </a:r>
            <a:endParaRPr lang="en-US" b="1" dirty="0" smtClean="0"/>
          </a:p>
          <a:p>
            <a:pPr>
              <a:buNone/>
            </a:pPr>
            <a:r>
              <a:rPr lang="en-US" b="1" dirty="0" smtClean="0"/>
              <a:t>Advantages</a:t>
            </a:r>
          </a:p>
          <a:p>
            <a:r>
              <a:rPr lang="en-US" dirty="0" smtClean="0"/>
              <a:t>Extremely fast.</a:t>
            </a:r>
          </a:p>
          <a:p>
            <a:r>
              <a:rPr lang="en-US" dirty="0" smtClean="0"/>
              <a:t>Applications can fully customize OS behavior.</a:t>
            </a:r>
          </a:p>
          <a:p>
            <a:pPr>
              <a:buNone/>
            </a:pPr>
            <a:r>
              <a:rPr lang="en-US" b="1" dirty="0" smtClean="0"/>
              <a:t>Disadvantages</a:t>
            </a:r>
          </a:p>
          <a:p>
            <a:r>
              <a:rPr lang="en-US" dirty="0" smtClean="0"/>
              <a:t>Very difficult for developers.</a:t>
            </a:r>
          </a:p>
          <a:p>
            <a:r>
              <a:rPr lang="en-US" dirty="0" smtClean="0"/>
              <a:t>Not general-purpose.</a:t>
            </a:r>
          </a:p>
          <a:p>
            <a:pPr>
              <a:buNone/>
            </a:pPr>
            <a:r>
              <a:rPr lang="en-US" b="1" dirty="0" smtClean="0"/>
              <a:t>Examples</a:t>
            </a:r>
          </a:p>
          <a:p>
            <a:r>
              <a:rPr lang="en-US" b="1" dirty="0" smtClean="0"/>
              <a:t>MIT </a:t>
            </a:r>
            <a:r>
              <a:rPr lang="en-US" b="1" dirty="0" err="1" smtClean="0"/>
              <a:t>Exokernel</a:t>
            </a:r>
            <a:r>
              <a:rPr lang="en-US" b="1" dirty="0" smtClean="0"/>
              <a:t> project</a:t>
            </a:r>
            <a:endParaRPr lang="en-US" dirty="0" smtClean="0"/>
          </a:p>
          <a:p>
            <a:r>
              <a:rPr lang="en-US" b="1" dirty="0" smtClean="0"/>
              <a:t>Aegis OS</a:t>
            </a:r>
            <a:endParaRPr lang="en-US" dirty="0" smtClean="0"/>
          </a:p>
          <a:p>
            <a:endParaRPr lang="en-US" dirty="0"/>
          </a:p>
        </p:txBody>
      </p:sp>
      <p:sp>
        <p:nvSpPr>
          <p:cNvPr id="3" name="Title 2"/>
          <p:cNvSpPr>
            <a:spLocks noGrp="1"/>
          </p:cNvSpPr>
          <p:nvPr>
            <p:ph type="title"/>
          </p:nvPr>
        </p:nvSpPr>
        <p:spPr/>
        <p:txBody>
          <a:bodyPr>
            <a:normAutofit fontScale="90000"/>
          </a:bodyPr>
          <a:lstStyle/>
          <a:p>
            <a:r>
              <a:rPr lang="en-US" sz="3100" dirty="0" smtClean="0"/>
              <a:t>Operating System Structures and Kernel Types</a:t>
            </a:r>
            <a:r>
              <a:rPr lang="en-US" sz="4400" dirty="0" smtClean="0"/>
              <a:t/>
            </a:r>
            <a:br>
              <a:rPr lang="en-US" sz="4400" dirty="0" smtClean="0"/>
            </a:b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US" b="1" dirty="0" smtClean="0"/>
              <a:t>5. </a:t>
            </a:r>
            <a:r>
              <a:rPr lang="en-US" b="1" dirty="0" err="1" smtClean="0"/>
              <a:t>Exokernel</a:t>
            </a:r>
            <a:endParaRPr lang="en-US" b="1" dirty="0" smtClean="0"/>
          </a:p>
          <a:p>
            <a:pPr>
              <a:buNone/>
            </a:pPr>
            <a:r>
              <a:rPr lang="en-US" b="1" dirty="0" smtClean="0"/>
              <a:t>Advantages</a:t>
            </a:r>
          </a:p>
          <a:p>
            <a:r>
              <a:rPr lang="en-US" dirty="0" smtClean="0"/>
              <a:t>Extremely fast.</a:t>
            </a:r>
          </a:p>
          <a:p>
            <a:r>
              <a:rPr lang="en-US" dirty="0" smtClean="0"/>
              <a:t>Applications can fully customize OS behavior.</a:t>
            </a:r>
          </a:p>
          <a:p>
            <a:pPr>
              <a:buNone/>
            </a:pPr>
            <a:r>
              <a:rPr lang="en-US" b="1" dirty="0" smtClean="0"/>
              <a:t>Disadvantages</a:t>
            </a:r>
          </a:p>
          <a:p>
            <a:r>
              <a:rPr lang="en-US" dirty="0" smtClean="0"/>
              <a:t>Very difficult for developers.</a:t>
            </a:r>
          </a:p>
          <a:p>
            <a:r>
              <a:rPr lang="en-US" dirty="0" smtClean="0"/>
              <a:t>Not general-purpose.</a:t>
            </a:r>
          </a:p>
          <a:p>
            <a:pPr>
              <a:buNone/>
            </a:pPr>
            <a:r>
              <a:rPr lang="en-US" b="1" dirty="0" smtClean="0"/>
              <a:t>Examples</a:t>
            </a:r>
          </a:p>
          <a:p>
            <a:r>
              <a:rPr lang="en-US" b="1" dirty="0" smtClean="0"/>
              <a:t>MIT </a:t>
            </a:r>
            <a:r>
              <a:rPr lang="en-US" b="1" dirty="0" err="1" smtClean="0"/>
              <a:t>Exokernel</a:t>
            </a:r>
            <a:r>
              <a:rPr lang="en-US" b="1" dirty="0" smtClean="0"/>
              <a:t> project</a:t>
            </a:r>
            <a:endParaRPr lang="en-US" dirty="0" smtClean="0"/>
          </a:p>
          <a:p>
            <a:r>
              <a:rPr lang="en-US" b="1" dirty="0" smtClean="0"/>
              <a:t>Aegis OS</a:t>
            </a:r>
            <a:endParaRPr lang="en-US" dirty="0" smtClean="0"/>
          </a:p>
          <a:p>
            <a:endParaRPr lang="en-US" dirty="0"/>
          </a:p>
        </p:txBody>
      </p:sp>
      <p:sp>
        <p:nvSpPr>
          <p:cNvPr id="3" name="Title 2"/>
          <p:cNvSpPr>
            <a:spLocks noGrp="1"/>
          </p:cNvSpPr>
          <p:nvPr>
            <p:ph type="title"/>
          </p:nvPr>
        </p:nvSpPr>
        <p:spPr/>
        <p:txBody>
          <a:bodyPr>
            <a:normAutofit fontScale="90000"/>
          </a:bodyPr>
          <a:lstStyle/>
          <a:p>
            <a:r>
              <a:rPr lang="en-US" sz="3100" dirty="0" smtClean="0"/>
              <a:t>Operating System Structures and Kernel Types</a:t>
            </a:r>
            <a:r>
              <a:rPr lang="en-US" sz="4400" dirty="0" smtClean="0"/>
              <a:t/>
            </a:r>
            <a:br>
              <a:rPr lang="en-US" sz="4400" dirty="0" smtClean="0"/>
            </a:b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US" b="1" dirty="0" smtClean="0"/>
              <a:t>6. </a:t>
            </a:r>
            <a:r>
              <a:rPr lang="en-US" b="1" dirty="0" err="1" smtClean="0"/>
              <a:t>Nanokernel</a:t>
            </a:r>
            <a:endParaRPr lang="en-US" b="1" dirty="0" smtClean="0"/>
          </a:p>
          <a:p>
            <a:pPr>
              <a:buNone/>
            </a:pPr>
            <a:r>
              <a:rPr lang="en-US" b="1" dirty="0" smtClean="0"/>
              <a:t>Concept</a:t>
            </a:r>
          </a:p>
          <a:p>
            <a:r>
              <a:rPr lang="en-US" dirty="0" smtClean="0"/>
              <a:t>A </a:t>
            </a:r>
            <a:r>
              <a:rPr lang="en-US" dirty="0" err="1" smtClean="0"/>
              <a:t>nanokernel</a:t>
            </a:r>
            <a:r>
              <a:rPr lang="en-US" dirty="0" smtClean="0"/>
              <a:t> is </a:t>
            </a:r>
            <a:r>
              <a:rPr lang="en-US" b="1" dirty="0" smtClean="0"/>
              <a:t>even smaller than a microkernel</a:t>
            </a:r>
            <a:r>
              <a:rPr lang="en-US" dirty="0" smtClean="0"/>
              <a:t>:</a:t>
            </a:r>
          </a:p>
          <a:p>
            <a:pPr lvl="1"/>
            <a:r>
              <a:rPr lang="en-US" dirty="0" smtClean="0"/>
              <a:t>Only context switching</a:t>
            </a:r>
          </a:p>
          <a:p>
            <a:pPr lvl="1"/>
            <a:r>
              <a:rPr lang="en-US" dirty="0" smtClean="0"/>
              <a:t>Interrupt handling</a:t>
            </a:r>
          </a:p>
          <a:p>
            <a:pPr lvl="1"/>
            <a:r>
              <a:rPr lang="en-US" dirty="0" smtClean="0"/>
              <a:t>Minimal CPU control</a:t>
            </a:r>
          </a:p>
          <a:p>
            <a:r>
              <a:rPr lang="en-US" dirty="0" smtClean="0"/>
              <a:t>Everything else is in user space.</a:t>
            </a:r>
            <a:endParaRPr lang="en-US" dirty="0"/>
          </a:p>
        </p:txBody>
      </p:sp>
      <p:sp>
        <p:nvSpPr>
          <p:cNvPr id="3" name="Title 2"/>
          <p:cNvSpPr>
            <a:spLocks noGrp="1"/>
          </p:cNvSpPr>
          <p:nvPr>
            <p:ph type="title"/>
          </p:nvPr>
        </p:nvSpPr>
        <p:spPr/>
        <p:txBody>
          <a:bodyPr>
            <a:normAutofit fontScale="90000"/>
          </a:bodyPr>
          <a:lstStyle/>
          <a:p>
            <a:r>
              <a:rPr lang="en-US" sz="3100" dirty="0" smtClean="0"/>
              <a:t>Operating System Structures and Kernel Types</a:t>
            </a:r>
            <a:r>
              <a:rPr lang="en-US" sz="4400" dirty="0" smtClean="0"/>
              <a:t/>
            </a:r>
            <a:br>
              <a:rPr lang="en-US" sz="4400" dirty="0" smtClean="0"/>
            </a:b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buNone/>
            </a:pPr>
            <a:r>
              <a:rPr lang="en-US" b="1" dirty="0" smtClean="0"/>
              <a:t>6. </a:t>
            </a:r>
            <a:r>
              <a:rPr lang="en-US" b="1" dirty="0" err="1" smtClean="0"/>
              <a:t>Nanokernel</a:t>
            </a:r>
            <a:endParaRPr lang="en-US" b="1" dirty="0" smtClean="0"/>
          </a:p>
          <a:p>
            <a:pPr>
              <a:buNone/>
            </a:pPr>
            <a:r>
              <a:rPr lang="en-US" b="1" dirty="0" smtClean="0"/>
              <a:t>Advantages</a:t>
            </a:r>
          </a:p>
          <a:p>
            <a:r>
              <a:rPr lang="en-US" dirty="0" smtClean="0"/>
              <a:t>Very tiny, simple, fast.</a:t>
            </a:r>
          </a:p>
          <a:p>
            <a:pPr>
              <a:buNone/>
            </a:pPr>
            <a:r>
              <a:rPr lang="en-US" b="1" dirty="0" smtClean="0"/>
              <a:t>Disadvantages</a:t>
            </a:r>
          </a:p>
          <a:p>
            <a:r>
              <a:rPr lang="en-US" dirty="0" smtClean="0"/>
              <a:t>Extremely difficult to build a full OS on top.</a:t>
            </a:r>
          </a:p>
          <a:p>
            <a:r>
              <a:rPr lang="en-US" dirty="0" smtClean="0"/>
              <a:t>Rare outside real-time or experimental systems.</a:t>
            </a:r>
          </a:p>
          <a:p>
            <a:pPr>
              <a:buNone/>
            </a:pPr>
            <a:r>
              <a:rPr lang="en-US" b="1" dirty="0" smtClean="0"/>
              <a:t>Examples</a:t>
            </a:r>
          </a:p>
          <a:p>
            <a:r>
              <a:rPr lang="en-US" b="1" dirty="0" smtClean="0"/>
              <a:t>L4 microkernel family (some variants act as </a:t>
            </a:r>
            <a:r>
              <a:rPr lang="en-US" b="1" dirty="0" err="1" smtClean="0"/>
              <a:t>nanokernels</a:t>
            </a:r>
            <a:r>
              <a:rPr lang="en-US" b="1" dirty="0" smtClean="0"/>
              <a:t>)</a:t>
            </a:r>
            <a:endParaRPr lang="en-US" dirty="0" smtClean="0"/>
          </a:p>
          <a:p>
            <a:r>
              <a:rPr lang="en-US" b="1" dirty="0" smtClean="0"/>
              <a:t>Some embedded RTOS prototypes</a:t>
            </a:r>
            <a:endParaRPr lang="en-US" dirty="0"/>
          </a:p>
        </p:txBody>
      </p:sp>
      <p:sp>
        <p:nvSpPr>
          <p:cNvPr id="3" name="Title 2"/>
          <p:cNvSpPr>
            <a:spLocks noGrp="1"/>
          </p:cNvSpPr>
          <p:nvPr>
            <p:ph type="title"/>
          </p:nvPr>
        </p:nvSpPr>
        <p:spPr/>
        <p:txBody>
          <a:bodyPr>
            <a:normAutofit fontScale="90000"/>
          </a:bodyPr>
          <a:lstStyle/>
          <a:p>
            <a:r>
              <a:rPr lang="en-US" sz="3100" dirty="0" smtClean="0"/>
              <a:t>Operating System Structures and Kernel Types</a:t>
            </a:r>
            <a:r>
              <a:rPr lang="en-US" sz="4400" dirty="0" smtClean="0"/>
              <a:t/>
            </a:r>
            <a:br>
              <a:rPr lang="en-US" sz="4400" dirty="0" smtClean="0"/>
            </a:b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US" b="1" dirty="0" smtClean="0"/>
              <a:t>7. Modular Kernel</a:t>
            </a:r>
          </a:p>
          <a:p>
            <a:pPr>
              <a:buNone/>
            </a:pPr>
            <a:endParaRPr lang="en-US" b="1" dirty="0" smtClean="0"/>
          </a:p>
          <a:p>
            <a:pPr>
              <a:buNone/>
            </a:pPr>
            <a:r>
              <a:rPr lang="en-US" b="1" dirty="0" smtClean="0"/>
              <a:t>Concept</a:t>
            </a:r>
          </a:p>
          <a:p>
            <a:r>
              <a:rPr lang="en-US" dirty="0" smtClean="0"/>
              <a:t>A monolithic kernel that can </a:t>
            </a:r>
            <a:r>
              <a:rPr lang="en-US" b="1" dirty="0" smtClean="0"/>
              <a:t>load and unload parts dynamically</a:t>
            </a:r>
            <a:r>
              <a:rPr lang="en-US" dirty="0" smtClean="0"/>
              <a:t>, called “modules” or “kernel extensions”.</a:t>
            </a:r>
          </a:p>
          <a:p>
            <a:r>
              <a:rPr lang="en-US" dirty="0" smtClean="0"/>
              <a:t>Modules include:</a:t>
            </a:r>
          </a:p>
          <a:p>
            <a:pPr lvl="1"/>
            <a:r>
              <a:rPr lang="en-US" dirty="0" smtClean="0"/>
              <a:t>File system modules</a:t>
            </a:r>
          </a:p>
          <a:p>
            <a:pPr lvl="1"/>
            <a:r>
              <a:rPr lang="en-US" dirty="0" smtClean="0"/>
              <a:t>Network modules</a:t>
            </a:r>
          </a:p>
          <a:p>
            <a:pPr lvl="1"/>
            <a:r>
              <a:rPr lang="en-US" dirty="0" smtClean="0"/>
              <a:t>Device drivers</a:t>
            </a:r>
          </a:p>
          <a:p>
            <a:pPr lvl="1"/>
            <a:r>
              <a:rPr lang="en-US" dirty="0" smtClean="0"/>
              <a:t>Crypto modules</a:t>
            </a:r>
            <a:endParaRPr lang="en-US" dirty="0"/>
          </a:p>
        </p:txBody>
      </p:sp>
      <p:sp>
        <p:nvSpPr>
          <p:cNvPr id="3" name="Title 2"/>
          <p:cNvSpPr>
            <a:spLocks noGrp="1"/>
          </p:cNvSpPr>
          <p:nvPr>
            <p:ph type="title"/>
          </p:nvPr>
        </p:nvSpPr>
        <p:spPr/>
        <p:txBody>
          <a:bodyPr>
            <a:normAutofit fontScale="90000"/>
          </a:bodyPr>
          <a:lstStyle/>
          <a:p>
            <a:r>
              <a:rPr lang="en-US" sz="3100" dirty="0" smtClean="0"/>
              <a:t>Operating System Structures and Kernel Types</a:t>
            </a:r>
            <a:r>
              <a:rPr lang="en-US" sz="4400" dirty="0" smtClean="0"/>
              <a:t/>
            </a:r>
            <a:br>
              <a:rPr lang="en-US" sz="4400" dirty="0" smtClean="0"/>
            </a:b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a:buNone/>
            </a:pPr>
            <a:r>
              <a:rPr lang="en-US" b="1" dirty="0" smtClean="0"/>
              <a:t>7. Modular Kernel</a:t>
            </a:r>
          </a:p>
          <a:p>
            <a:pPr>
              <a:buNone/>
            </a:pPr>
            <a:endParaRPr lang="en-US" b="1" dirty="0" smtClean="0"/>
          </a:p>
          <a:p>
            <a:pPr>
              <a:buNone/>
            </a:pPr>
            <a:r>
              <a:rPr lang="en-US" b="1" dirty="0" smtClean="0"/>
              <a:t>Advantages</a:t>
            </a:r>
          </a:p>
          <a:p>
            <a:r>
              <a:rPr lang="en-US" dirty="0" smtClean="0"/>
              <a:t>Can add/remove drivers without rebooting.</a:t>
            </a:r>
          </a:p>
          <a:p>
            <a:r>
              <a:rPr lang="en-US" dirty="0" smtClean="0"/>
              <a:t>Easier to maintain than pure monolithic.</a:t>
            </a:r>
          </a:p>
          <a:p>
            <a:r>
              <a:rPr lang="en-US" dirty="0" smtClean="0"/>
              <a:t>Flexible and extensible.</a:t>
            </a:r>
          </a:p>
          <a:p>
            <a:pPr>
              <a:buNone/>
            </a:pPr>
            <a:endParaRPr lang="en-US" b="1" dirty="0" smtClean="0"/>
          </a:p>
          <a:p>
            <a:pPr>
              <a:buNone/>
            </a:pPr>
            <a:r>
              <a:rPr lang="en-US" b="1" dirty="0" smtClean="0"/>
              <a:t>Disadvantages</a:t>
            </a:r>
          </a:p>
          <a:p>
            <a:r>
              <a:rPr lang="en-US" dirty="0" smtClean="0"/>
              <a:t>Still large compared to </a:t>
            </a:r>
            <a:r>
              <a:rPr lang="en-US" dirty="0" err="1" smtClean="0"/>
              <a:t>microkernels</a:t>
            </a:r>
            <a:r>
              <a:rPr lang="en-US" dirty="0" smtClean="0"/>
              <a:t>.</a:t>
            </a:r>
          </a:p>
          <a:p>
            <a:r>
              <a:rPr lang="en-US" dirty="0" smtClean="0"/>
              <a:t>Poorly written modules may crash kernel.</a:t>
            </a:r>
          </a:p>
          <a:p>
            <a:pPr>
              <a:buNone/>
            </a:pPr>
            <a:endParaRPr lang="en-US" b="1" dirty="0" smtClean="0"/>
          </a:p>
          <a:p>
            <a:pPr>
              <a:buNone/>
            </a:pPr>
            <a:r>
              <a:rPr lang="en-US" b="1" dirty="0" smtClean="0"/>
              <a:t>Examples</a:t>
            </a:r>
          </a:p>
          <a:p>
            <a:r>
              <a:rPr lang="en-US" b="1" dirty="0" smtClean="0"/>
              <a:t>Linux Loadable Kernel Modules (LKM)</a:t>
            </a:r>
            <a:endParaRPr lang="en-US" dirty="0" smtClean="0"/>
          </a:p>
          <a:p>
            <a:r>
              <a:rPr lang="en-US" b="1" dirty="0" smtClean="0"/>
              <a:t>FreeBSD modules</a:t>
            </a:r>
            <a:endParaRPr lang="en-US" dirty="0" smtClean="0"/>
          </a:p>
          <a:p>
            <a:r>
              <a:rPr lang="en-US" b="1" dirty="0" smtClean="0"/>
              <a:t>Solaris Loadable Modules</a:t>
            </a:r>
            <a:endParaRPr lang="en-US" dirty="0" smtClean="0"/>
          </a:p>
          <a:p>
            <a:pPr lvl="1"/>
            <a:endParaRPr lang="en-US" dirty="0"/>
          </a:p>
        </p:txBody>
      </p:sp>
      <p:sp>
        <p:nvSpPr>
          <p:cNvPr id="3" name="Title 2"/>
          <p:cNvSpPr>
            <a:spLocks noGrp="1"/>
          </p:cNvSpPr>
          <p:nvPr>
            <p:ph type="title"/>
          </p:nvPr>
        </p:nvSpPr>
        <p:spPr/>
        <p:txBody>
          <a:bodyPr>
            <a:normAutofit fontScale="90000"/>
          </a:bodyPr>
          <a:lstStyle/>
          <a:p>
            <a:r>
              <a:rPr lang="en-US" sz="3100" dirty="0" smtClean="0"/>
              <a:t>Operating System Structures and Kernel Types</a:t>
            </a:r>
            <a:r>
              <a:rPr lang="en-US" sz="4400" dirty="0" smtClean="0"/>
              <a:t/>
            </a:r>
            <a:br>
              <a:rPr lang="en-US" sz="4400" dirty="0" smtClean="0"/>
            </a:b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22230"/>
          </a:xfrm>
        </p:spPr>
        <p:txBody>
          <a:bodyPr>
            <a:normAutofit/>
          </a:bodyPr>
          <a:lstStyle/>
          <a:p>
            <a:r>
              <a:rPr lang="en-US" sz="2800" b="1" dirty="0" smtClean="0">
                <a:latin typeface="Times New Roman" panose="02020603050405020304" pitchFamily="18" charset="0"/>
                <a:cs typeface="Times New Roman" panose="02020603050405020304" pitchFamily="18" charset="0"/>
              </a:rPr>
              <a:t>Operating System Structure</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310185"/>
            <a:ext cx="8317457" cy="5404514"/>
          </a:xfrm>
        </p:spPr>
        <p:txBody>
          <a:bodyPr>
            <a:normAutofit fontScale="92500" lnSpcReduction="100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 operating system is a construct that allows the user application programs to interact with the system </a:t>
            </a:r>
            <a:r>
              <a:rPr lang="en-US" dirty="0" smtClean="0">
                <a:latin typeface="Times New Roman" panose="02020603050405020304" pitchFamily="18" charset="0"/>
                <a:cs typeface="Times New Roman" panose="02020603050405020304" pitchFamily="18" charset="0"/>
              </a:rPr>
              <a:t>hardware.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Operating system can be implemented with the help of various structures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structure of the OS depends mainly on how </a:t>
            </a:r>
            <a:r>
              <a:rPr lang="en-US" dirty="0" smtClean="0">
                <a:latin typeface="Times New Roman" panose="02020603050405020304" pitchFamily="18" charset="0"/>
                <a:cs typeface="Times New Roman" panose="02020603050405020304" pitchFamily="18" charset="0"/>
              </a:rPr>
              <a:t>various components and services </a:t>
            </a:r>
            <a:r>
              <a:rPr lang="en-US" dirty="0">
                <a:latin typeface="Times New Roman" panose="02020603050405020304" pitchFamily="18" charset="0"/>
                <a:cs typeface="Times New Roman" panose="02020603050405020304" pitchFamily="18" charset="0"/>
              </a:rPr>
              <a:t>of the operating system are interconnected and melded into the </a:t>
            </a:r>
            <a:r>
              <a:rPr lang="en-US" dirty="0" smtClean="0">
                <a:latin typeface="Times New Roman" panose="02020603050405020304" pitchFamily="18" charset="0"/>
                <a:cs typeface="Times New Roman" panose="02020603050405020304" pitchFamily="18" charset="0"/>
              </a:rPr>
              <a:t>kernel (core component of OS).</a:t>
            </a:r>
            <a:endParaRPr lang="en-US" dirty="0">
              <a:latin typeface="Times New Roman" panose="02020603050405020304" pitchFamily="18" charset="0"/>
              <a:cs typeface="Times New Roman" panose="02020603050405020304" pitchFamily="18" charset="0"/>
            </a:endParaRPr>
          </a:p>
          <a:p>
            <a:pPr lvl="1"/>
            <a:r>
              <a:rPr lang="en-US" sz="2800" dirty="0" smtClean="0">
                <a:latin typeface="Times New Roman" panose="02020603050405020304" pitchFamily="18" charset="0"/>
                <a:cs typeface="Times New Roman" panose="02020603050405020304" pitchFamily="18" charset="0"/>
              </a:rPr>
              <a:t>Simple Structure</a:t>
            </a:r>
          </a:p>
          <a:p>
            <a:pPr lvl="1"/>
            <a:r>
              <a:rPr lang="en-US" sz="2800" dirty="0" smtClean="0">
                <a:latin typeface="Times New Roman" panose="02020603050405020304" pitchFamily="18" charset="0"/>
                <a:cs typeface="Times New Roman" panose="02020603050405020304" pitchFamily="18" charset="0"/>
              </a:rPr>
              <a:t>Layered Structure</a:t>
            </a:r>
          </a:p>
          <a:p>
            <a:pPr lvl="1"/>
            <a:r>
              <a:rPr lang="en-US" sz="2800" dirty="0" smtClean="0">
                <a:latin typeface="Times New Roman" panose="02020603050405020304" pitchFamily="18" charset="0"/>
                <a:cs typeface="Times New Roman" panose="02020603050405020304" pitchFamily="18" charset="0"/>
              </a:rPr>
              <a:t>Monolithic </a:t>
            </a:r>
            <a:r>
              <a:rPr lang="en-US" sz="2800" dirty="0">
                <a:latin typeface="Times New Roman" panose="02020603050405020304" pitchFamily="18" charset="0"/>
                <a:cs typeface="Times New Roman" panose="02020603050405020304" pitchFamily="18" charset="0"/>
              </a:rPr>
              <a:t>Structure</a:t>
            </a:r>
          </a:p>
          <a:p>
            <a:pPr lvl="1"/>
            <a:r>
              <a:rPr lang="en-US" sz="2800" dirty="0" smtClean="0">
                <a:latin typeface="Times New Roman" panose="02020603050405020304" pitchFamily="18" charset="0"/>
                <a:cs typeface="Times New Roman" panose="02020603050405020304" pitchFamily="18" charset="0"/>
              </a:rPr>
              <a:t>Micro-Kernels</a:t>
            </a:r>
            <a:endParaRPr lang="en-US" sz="2800" dirty="0">
              <a:latin typeface="Times New Roman" panose="02020603050405020304" pitchFamily="18" charset="0"/>
              <a:cs typeface="Times New Roman" panose="02020603050405020304" pitchFamily="18" charset="0"/>
            </a:endParaRPr>
          </a:p>
          <a:p>
            <a:pPr lvl="1"/>
            <a:r>
              <a:rPr lang="en-US" sz="2800" dirty="0" smtClean="0">
                <a:latin typeface="Times New Roman" panose="02020603050405020304" pitchFamily="18" charset="0"/>
                <a:cs typeface="Times New Roman" panose="02020603050405020304" pitchFamily="18" charset="0"/>
              </a:rPr>
              <a:t>Client </a:t>
            </a:r>
            <a:r>
              <a:rPr lang="en-US" sz="2800" dirty="0">
                <a:latin typeface="Times New Roman" panose="02020603050405020304" pitchFamily="18" charset="0"/>
                <a:cs typeface="Times New Roman" panose="02020603050405020304" pitchFamily="18" charset="0"/>
              </a:rPr>
              <a:t>Server Model</a:t>
            </a:r>
          </a:p>
          <a:p>
            <a:pPr lvl="1"/>
            <a:r>
              <a:rPr lang="en-US" sz="2800" dirty="0" smtClean="0">
                <a:latin typeface="Times New Roman" panose="02020603050405020304" pitchFamily="18" charset="0"/>
                <a:cs typeface="Times New Roman" panose="02020603050405020304" pitchFamily="18" charset="0"/>
              </a:rPr>
              <a:t>Virtual </a:t>
            </a:r>
            <a:r>
              <a:rPr lang="en-US" sz="2800" dirty="0">
                <a:latin typeface="Times New Roman" panose="02020603050405020304" pitchFamily="18" charset="0"/>
                <a:cs typeface="Times New Roman" panose="02020603050405020304" pitchFamily="18" charset="0"/>
              </a:rPr>
              <a:t>Machines</a:t>
            </a:r>
          </a:p>
          <a:p>
            <a:pPr>
              <a:buFont typeface="Wingdings" panose="05000000000000000000" pitchFamily="2" charset="2"/>
              <a:buChar char="v"/>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 xmlns:p14="http://schemas.microsoft.com/office/powerpoint/2010/main" val="16357705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22230"/>
          </a:xfrm>
        </p:spPr>
        <p:txBody>
          <a:bodyPr>
            <a:normAutofit/>
          </a:bodyPr>
          <a:lstStyle/>
          <a:p>
            <a:r>
              <a:rPr lang="en-US" sz="2800" b="1" dirty="0" smtClean="0">
                <a:latin typeface="Times New Roman" panose="02020603050405020304" pitchFamily="18" charset="0"/>
                <a:cs typeface="Times New Roman" panose="02020603050405020304" pitchFamily="18" charset="0"/>
              </a:rPr>
              <a:t>Operating System Structure-Simple Structure</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310185"/>
            <a:ext cx="8317457" cy="5404514"/>
          </a:xfrm>
        </p:spPr>
        <p:txBody>
          <a:bodyPr>
            <a:norm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Such operating systems do not have well defined structure and are small, simple and limited systems.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interfaces and levels of functionality are not well separated.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MS-DOS </a:t>
            </a:r>
            <a:r>
              <a:rPr lang="en-US" dirty="0">
                <a:latin typeface="Times New Roman" panose="02020603050405020304" pitchFamily="18" charset="0"/>
                <a:cs typeface="Times New Roman" panose="02020603050405020304" pitchFamily="18" charset="0"/>
              </a:rPr>
              <a:t>is an example of such operating system. </a:t>
            </a: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MS-DOS application programs are able to access the basic I/O routines.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types of operating system cause the entire system to crash if one of the user programs fails.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 xmlns:p14="http://schemas.microsoft.com/office/powerpoint/2010/main" val="16747932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22230"/>
          </a:xfrm>
        </p:spPr>
        <p:txBody>
          <a:bodyPr>
            <a:normAutofit/>
          </a:bodyPr>
          <a:lstStyle/>
          <a:p>
            <a:r>
              <a:rPr lang="en-US" sz="2800" b="1" dirty="0" smtClean="0">
                <a:latin typeface="Times New Roman" panose="02020603050405020304" pitchFamily="18" charset="0"/>
                <a:cs typeface="Times New Roman" panose="02020603050405020304" pitchFamily="18" charset="0"/>
              </a:rPr>
              <a:t>Operating System Structure-Simple Structure</a:t>
            </a:r>
            <a:endParaRPr lang="en-US" sz="2800"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645130" y="1651379"/>
            <a:ext cx="6144330" cy="5063320"/>
          </a:xfrm>
        </p:spPr>
      </p:pic>
    </p:spTree>
    <p:extLst>
      <p:ext uri="{BB962C8B-B14F-4D97-AF65-F5344CB8AC3E}">
        <p14:creationId xmlns="" xmlns:p14="http://schemas.microsoft.com/office/powerpoint/2010/main" val="260906700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90218"/>
          </a:xfrm>
        </p:spPr>
        <p:txBody>
          <a:bodyPr>
            <a:normAutofit/>
          </a:bodyPr>
          <a:lstStyle/>
          <a:p>
            <a:r>
              <a:rPr lang="en-US" sz="2800" b="1" dirty="0">
                <a:latin typeface="Times New Roman" panose="02020603050405020304" pitchFamily="18" charset="0"/>
                <a:cs typeface="Times New Roman" panose="02020603050405020304" pitchFamily="18" charset="0"/>
              </a:rPr>
              <a:t>Layered Structure</a:t>
            </a:r>
          </a:p>
        </p:txBody>
      </p:sp>
      <p:sp>
        <p:nvSpPr>
          <p:cNvPr id="4" name="Content Placeholder 3"/>
          <p:cNvSpPr>
            <a:spLocks noGrp="1"/>
          </p:cNvSpPr>
          <p:nvPr>
            <p:ph sz="half" idx="1"/>
          </p:nvPr>
        </p:nvSpPr>
        <p:spPr>
          <a:xfrm>
            <a:off x="153537" y="1241946"/>
            <a:ext cx="5169091" cy="5281684"/>
          </a:xfrm>
        </p:spPr>
        <p:txBody>
          <a:bodyPr>
            <a:normAutofit fontScale="92500" lnSpcReduction="2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Operating </a:t>
            </a:r>
            <a:r>
              <a:rPr lang="en-US" dirty="0">
                <a:latin typeface="Times New Roman" panose="02020603050405020304" pitchFamily="18" charset="0"/>
                <a:cs typeface="Times New Roman" panose="02020603050405020304" pitchFamily="18" charset="0"/>
              </a:rPr>
              <a:t>system is broken down into number of layers/levels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bottom layer (layer 0) is the hardware and the top layer (layer N) is the user interface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layers are implemented such that each layer </a:t>
            </a:r>
            <a:r>
              <a:rPr lang="en-US" dirty="0" smtClean="0">
                <a:latin typeface="Times New Roman" panose="02020603050405020304" pitchFamily="18" charset="0"/>
                <a:cs typeface="Times New Roman" panose="02020603050405020304" pitchFamily="18" charset="0"/>
              </a:rPr>
              <a:t>uses </a:t>
            </a:r>
            <a:r>
              <a:rPr lang="en-US" dirty="0">
                <a:latin typeface="Times New Roman" panose="02020603050405020304" pitchFamily="18" charset="0"/>
                <a:cs typeface="Times New Roman" panose="02020603050405020304" pitchFamily="18" charset="0"/>
              </a:rPr>
              <a:t>functions and services of only lower layer levels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layer does not need to know how these </a:t>
            </a:r>
            <a:r>
              <a:rPr lang="en-US" dirty="0" smtClean="0">
                <a:latin typeface="Times New Roman" panose="02020603050405020304" pitchFamily="18" charset="0"/>
                <a:cs typeface="Times New Roman" panose="02020603050405020304" pitchFamily="18" charset="0"/>
              </a:rPr>
              <a:t>operations are </a:t>
            </a:r>
            <a:r>
              <a:rPr lang="en-US" dirty="0">
                <a:latin typeface="Times New Roman" panose="02020603050405020304" pitchFamily="18" charset="0"/>
                <a:cs typeface="Times New Roman" panose="02020603050405020304" pitchFamily="18" charset="0"/>
              </a:rPr>
              <a:t>implemented; it only needs to know what </a:t>
            </a:r>
            <a:r>
              <a:rPr lang="en-US" dirty="0" smtClean="0">
                <a:latin typeface="Times New Roman" panose="02020603050405020304" pitchFamily="18" charset="0"/>
                <a:cs typeface="Times New Roman" panose="02020603050405020304" pitchFamily="18" charset="0"/>
              </a:rPr>
              <a:t>these operations </a:t>
            </a:r>
            <a:r>
              <a:rPr lang="en-US" dirty="0">
                <a:latin typeface="Times New Roman" panose="02020603050405020304" pitchFamily="18" charset="0"/>
                <a:cs typeface="Times New Roman" panose="02020603050405020304" pitchFamily="18" charset="0"/>
              </a:rPr>
              <a:t>do</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approach simplifies debugging and </a:t>
            </a:r>
            <a:r>
              <a:rPr lang="en-US" dirty="0" smtClean="0">
                <a:latin typeface="Times New Roman" panose="02020603050405020304" pitchFamily="18" charset="0"/>
                <a:cs typeface="Times New Roman" panose="02020603050405020304" pitchFamily="18" charset="0"/>
              </a:rPr>
              <a:t>system verification</a:t>
            </a:r>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5322628" y="1351129"/>
            <a:ext cx="3561212" cy="4846390"/>
          </a:xfrm>
          <a:prstGeom prst="rect">
            <a:avLst/>
          </a:prstGeom>
        </p:spPr>
      </p:pic>
    </p:spTree>
    <p:extLst>
      <p:ext uri="{BB962C8B-B14F-4D97-AF65-F5344CB8AC3E}">
        <p14:creationId xmlns="" xmlns:p14="http://schemas.microsoft.com/office/powerpoint/2010/main" val="8032492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187704"/>
            <a:ext cx="7886700" cy="658457"/>
          </a:xfrm>
        </p:spPr>
        <p:txBody>
          <a:bodyPr>
            <a:normAutofit/>
          </a:bodyPr>
          <a:lstStyle/>
          <a:p>
            <a:r>
              <a:rPr lang="en-US" sz="2800" b="1" dirty="0" smtClean="0">
                <a:latin typeface="Times New Roman" panose="02020603050405020304" pitchFamily="18" charset="0"/>
                <a:cs typeface="Times New Roman" panose="02020603050405020304" pitchFamily="18" charset="0"/>
              </a:rPr>
              <a:t>Layered Structure</a:t>
            </a:r>
            <a:endParaRPr lang="en-US" sz="2800" b="1"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628650" y="1023583"/>
            <a:ext cx="8276514" cy="5527343"/>
          </a:xfrm>
        </p:spPr>
        <p:txBody>
          <a:bodyPr>
            <a:normAutofit fontScale="92500" lnSpcReduction="2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first layer can be debugged without any concern for the rest of the system, because, by definition, it uses only the basic hardware (which is assumed correct) to implement its functions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Once </a:t>
            </a:r>
            <a:r>
              <a:rPr lang="en-US" dirty="0">
                <a:latin typeface="Times New Roman" panose="02020603050405020304" pitchFamily="18" charset="0"/>
                <a:cs typeface="Times New Roman" panose="02020603050405020304" pitchFamily="18" charset="0"/>
              </a:rPr>
              <a:t>the first layer is debugged, its correct functioning can be assumed while the second layer is debugged, and so on</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an error is found during the debugging of a particular layer, the error must be on that layer, because the layers below it are already debugged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major difficulty with this approach is how to differentiate one layer from another</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second problem with layered implementation is that they tend to </a:t>
            </a:r>
            <a:r>
              <a:rPr lang="en-US" dirty="0" smtClean="0">
                <a:latin typeface="Times New Roman" panose="02020603050405020304" pitchFamily="18" charset="0"/>
                <a:cs typeface="Times New Roman" panose="02020603050405020304" pitchFamily="18" charset="0"/>
              </a:rPr>
              <a:t>be less </a:t>
            </a:r>
            <a:r>
              <a:rPr lang="en-US" dirty="0">
                <a:latin typeface="Times New Roman" panose="02020603050405020304" pitchFamily="18" charset="0"/>
                <a:cs typeface="Times New Roman" panose="02020603050405020304" pitchFamily="18" charset="0"/>
              </a:rPr>
              <a:t>efficient than other types (system call chain which is time consuming)</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for layered structure: </a:t>
            </a:r>
            <a:r>
              <a:rPr lang="en-US" b="1" dirty="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System (THE OS) </a:t>
            </a:r>
            <a:r>
              <a:rPr lang="en-US" dirty="0">
                <a:latin typeface="Times New Roman" panose="02020603050405020304" pitchFamily="18" charset="0"/>
                <a:cs typeface="Times New Roman" panose="02020603050405020304" pitchFamily="18" charset="0"/>
              </a:rPr>
              <a:t>by Dijkstra and his students (six layered batch system)</a:t>
            </a:r>
          </a:p>
          <a:p>
            <a:pPr marL="0" indent="0">
              <a:buNone/>
            </a:pPr>
            <a:endParaRPr lang="en-US" dirty="0"/>
          </a:p>
        </p:txBody>
      </p:sp>
    </p:spTree>
    <p:extLst>
      <p:ext uri="{BB962C8B-B14F-4D97-AF65-F5344CB8AC3E}">
        <p14:creationId xmlns="" xmlns:p14="http://schemas.microsoft.com/office/powerpoint/2010/main" val="284731255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44809"/>
          </a:xfrm>
        </p:spPr>
        <p:txBody>
          <a:bodyPr>
            <a:normAutofit/>
          </a:bodyPr>
          <a:lstStyle/>
          <a:p>
            <a:r>
              <a:rPr lang="en-US" sz="2800" b="1" dirty="0" smtClean="0">
                <a:latin typeface="Times New Roman" panose="02020603050405020304" pitchFamily="18" charset="0"/>
                <a:cs typeface="Times New Roman" panose="02020603050405020304" pitchFamily="18" charset="0"/>
              </a:rPr>
              <a:t>Monolithic Structure</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173708"/>
            <a:ext cx="8163920" cy="5486399"/>
          </a:xfrm>
        </p:spPr>
        <p:txBody>
          <a:bodyPr>
            <a:normAutofit fontScale="92500" lnSpcReduction="2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approach, </a:t>
            </a:r>
            <a:r>
              <a:rPr lang="en-US" b="1" dirty="0">
                <a:latin typeface="Times New Roman" panose="02020603050405020304" pitchFamily="18" charset="0"/>
                <a:cs typeface="Times New Roman" panose="02020603050405020304" pitchFamily="18" charset="0"/>
              </a:rPr>
              <a:t>entire OS runs as a single program in the kernel </a:t>
            </a:r>
            <a:r>
              <a:rPr lang="en-US" b="1" dirty="0" smtClean="0">
                <a:latin typeface="Times New Roman" panose="02020603050405020304" pitchFamily="18" charset="0"/>
                <a:cs typeface="Times New Roman" panose="02020603050405020304" pitchFamily="18" charset="0"/>
              </a:rPr>
              <a:t>mode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increases the size of the kernel as well as the operating system.</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operating system is written as a collection of procedures, each can call any of the other ones whenever it needs </a:t>
            </a:r>
            <a:r>
              <a:rPr lang="en-US" dirty="0" smtClean="0">
                <a:latin typeface="Times New Roman" panose="02020603050405020304" pitchFamily="18" charset="0"/>
                <a:cs typeface="Times New Roman" panose="02020603050405020304" pitchFamily="18" charset="0"/>
              </a:rPr>
              <a:t>to.</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Although </a:t>
            </a:r>
            <a:r>
              <a:rPr lang="en-US" dirty="0">
                <a:latin typeface="Times New Roman" panose="02020603050405020304" pitchFamily="18" charset="0"/>
                <a:cs typeface="Times New Roman" panose="02020603050405020304" pitchFamily="18" charset="0"/>
              </a:rPr>
              <a:t>the design follows the separation of concerns ,no any attempt is made to restrict the privileges to the individual </a:t>
            </a:r>
            <a:r>
              <a:rPr lang="en-US" dirty="0" smtClean="0">
                <a:latin typeface="Times New Roman" panose="02020603050405020304" pitchFamily="18" charset="0"/>
                <a:cs typeface="Times New Roman" panose="02020603050405020304" pitchFamily="18" charset="0"/>
              </a:rPr>
              <a:t>procedure of </a:t>
            </a:r>
            <a:r>
              <a:rPr lang="en-US" dirty="0">
                <a:latin typeface="Times New Roman" panose="02020603050405020304" pitchFamily="18" charset="0"/>
                <a:cs typeface="Times New Roman" panose="02020603050405020304" pitchFamily="18" charset="0"/>
              </a:rPr>
              <a:t>the operating system, i.e. </a:t>
            </a:r>
            <a:r>
              <a:rPr lang="en-US" b="1" dirty="0">
                <a:latin typeface="Times New Roman" panose="02020603050405020304" pitchFamily="18" charset="0"/>
                <a:cs typeface="Times New Roman" panose="02020603050405020304" pitchFamily="18" charset="0"/>
              </a:rPr>
              <a:t>the entire OS runs with maximum privileges (kernel </a:t>
            </a:r>
            <a:r>
              <a:rPr lang="en-US" b="1" dirty="0" smtClean="0">
                <a:latin typeface="Times New Roman" panose="02020603050405020304" pitchFamily="18" charset="0"/>
                <a:cs typeface="Times New Roman" panose="02020603050405020304" pitchFamily="18" charset="0"/>
              </a:rPr>
              <a:t>mode)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terms of information hiding, there is none; each procedure is visible to other </a:t>
            </a:r>
            <a:r>
              <a:rPr lang="en-US" dirty="0" smtClean="0">
                <a:latin typeface="Times New Roman" panose="02020603050405020304" pitchFamily="18" charset="0"/>
                <a:cs typeface="Times New Roman" panose="02020603050405020304" pitchFamily="18" charset="0"/>
              </a:rPr>
              <a:t>procedure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CP/M(Control Program for Microcomputers) </a:t>
            </a:r>
            <a:r>
              <a:rPr lang="en-US" dirty="0">
                <a:latin typeface="Times New Roman" panose="02020603050405020304" pitchFamily="18" charset="0"/>
                <a:cs typeface="Times New Roman" panose="02020603050405020304" pitchFamily="18" charset="0"/>
              </a:rPr>
              <a:t>and </a:t>
            </a:r>
            <a:r>
              <a:rPr lang="en-US" dirty="0" smtClean="0">
                <a:latin typeface="Times New Roman" panose="02020603050405020304" pitchFamily="18" charset="0"/>
                <a:cs typeface="Times New Roman" panose="02020603050405020304" pitchFamily="18" charset="0"/>
              </a:rPr>
              <a:t>DOS (Disk Operating System) </a:t>
            </a:r>
            <a:r>
              <a:rPr lang="en-US" dirty="0">
                <a:latin typeface="Times New Roman" panose="02020603050405020304" pitchFamily="18" charset="0"/>
                <a:cs typeface="Times New Roman" panose="02020603050405020304" pitchFamily="18" charset="0"/>
              </a:rPr>
              <a:t>are simple examples of monolithic operating systems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94302529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90218"/>
          </a:xfrm>
        </p:spPr>
        <p:txBody>
          <a:bodyPr>
            <a:normAutofit/>
          </a:bodyPr>
          <a:lstStyle/>
          <a:p>
            <a:r>
              <a:rPr lang="en-US" sz="2800" b="1" dirty="0">
                <a:latin typeface="Times New Roman" panose="02020603050405020304" pitchFamily="18" charset="0"/>
                <a:cs typeface="Times New Roman" panose="02020603050405020304" pitchFamily="18" charset="0"/>
              </a:rPr>
              <a:t>Micro-Kernels</a:t>
            </a:r>
          </a:p>
        </p:txBody>
      </p:sp>
      <p:sp>
        <p:nvSpPr>
          <p:cNvPr id="3" name="Content Placeholder 2"/>
          <p:cNvSpPr>
            <a:spLocks noGrp="1"/>
          </p:cNvSpPr>
          <p:nvPr>
            <p:ph idx="1"/>
          </p:nvPr>
        </p:nvSpPr>
        <p:spPr>
          <a:xfrm>
            <a:off x="628650" y="955345"/>
            <a:ext cx="7886700" cy="5221619"/>
          </a:xfrm>
        </p:spPr>
        <p:txBody>
          <a:bodyPr>
            <a:normAutofit fontScale="92500"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Running </a:t>
            </a:r>
            <a:r>
              <a:rPr lang="en-US" dirty="0">
                <a:latin typeface="Times New Roman" panose="02020603050405020304" pitchFamily="18" charset="0"/>
                <a:cs typeface="Times New Roman" panose="02020603050405020304" pitchFamily="18" charset="0"/>
              </a:rPr>
              <a:t>all the OS services in the kernel space can be dangerous because bugs </a:t>
            </a: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programs running in kernel space can bring down the system instantly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example, in monolithic system where audio driver is running in kernel space, a buggy audio driver can easily reference an invalid memory </a:t>
            </a:r>
            <a:r>
              <a:rPr lang="en-US" dirty="0" smtClean="0">
                <a:latin typeface="Times New Roman" panose="02020603050405020304" pitchFamily="18" charset="0"/>
                <a:cs typeface="Times New Roman" panose="02020603050405020304" pitchFamily="18" charset="0"/>
              </a:rPr>
              <a:t>address and </a:t>
            </a:r>
            <a:r>
              <a:rPr lang="en-US" dirty="0">
                <a:latin typeface="Times New Roman" panose="02020603050405020304" pitchFamily="18" charset="0"/>
                <a:cs typeface="Times New Roman" panose="02020603050405020304" pitchFamily="18" charset="0"/>
              </a:rPr>
              <a:t>bring the whole system down</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basic idea to get rid of this problem is to Move as much from the kernel into “user” space </a:t>
            </a:r>
            <a:r>
              <a:rPr lang="en-US" b="1" dirty="0">
                <a:latin typeface="Times New Roman" panose="02020603050405020304" pitchFamily="18" charset="0"/>
                <a:cs typeface="Times New Roman" panose="02020603050405020304" pitchFamily="18" charset="0"/>
              </a:rPr>
              <a:t>(making the kernel as small as possible)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method structures the operating system by </a:t>
            </a:r>
            <a:r>
              <a:rPr lang="en-US" b="1" dirty="0">
                <a:latin typeface="Times New Roman" panose="02020603050405020304" pitchFamily="18" charset="0"/>
                <a:cs typeface="Times New Roman" panose="02020603050405020304" pitchFamily="18" charset="0"/>
              </a:rPr>
              <a:t>removing all </a:t>
            </a:r>
            <a:r>
              <a:rPr lang="en-US" b="1" dirty="0" smtClean="0">
                <a:latin typeface="Times New Roman" panose="02020603050405020304" pitchFamily="18" charset="0"/>
                <a:cs typeface="Times New Roman" panose="02020603050405020304" pitchFamily="18" charset="0"/>
              </a:rPr>
              <a:t>non-essential </a:t>
            </a:r>
            <a:r>
              <a:rPr lang="en-US" b="1" dirty="0">
                <a:latin typeface="Times New Roman" panose="02020603050405020304" pitchFamily="18" charset="0"/>
                <a:cs typeface="Times New Roman" panose="02020603050405020304" pitchFamily="18" charset="0"/>
              </a:rPr>
              <a:t>components from the kernel and implementing them as system and user-level programs</a:t>
            </a:r>
            <a:r>
              <a:rPr lang="en-US" dirty="0">
                <a:latin typeface="Times New Roman" panose="02020603050405020304" pitchFamily="18" charset="0"/>
                <a:cs typeface="Times New Roman" panose="02020603050405020304" pitchFamily="18" charset="0"/>
              </a:rPr>
              <a:t>,  result being a smaller kernel</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5702168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90218"/>
          </a:xfrm>
        </p:spPr>
        <p:txBody>
          <a:bodyPr>
            <a:normAutofit/>
          </a:bodyPr>
          <a:lstStyle/>
          <a:p>
            <a:r>
              <a:rPr lang="en-US" sz="2800" b="1" dirty="0">
                <a:latin typeface="Times New Roman" panose="02020603050405020304" pitchFamily="18" charset="0"/>
                <a:cs typeface="Times New Roman" panose="02020603050405020304" pitchFamily="18" charset="0"/>
              </a:rPr>
              <a:t>Micro-Kernels</a:t>
            </a:r>
          </a:p>
        </p:txBody>
      </p:sp>
      <p:sp>
        <p:nvSpPr>
          <p:cNvPr id="3" name="Content Placeholder 2"/>
          <p:cNvSpPr>
            <a:spLocks noGrp="1"/>
          </p:cNvSpPr>
          <p:nvPr>
            <p:ph idx="1"/>
          </p:nvPr>
        </p:nvSpPr>
        <p:spPr>
          <a:xfrm>
            <a:off x="628650" y="955345"/>
            <a:ext cx="7886700" cy="5221619"/>
          </a:xfrm>
        </p:spPr>
        <p:txBody>
          <a:bodyPr>
            <a:normAutofit fontScale="92500"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general, micro-kernels typically provides </a:t>
            </a:r>
            <a:r>
              <a:rPr lang="en-US" dirty="0" smtClean="0">
                <a:latin typeface="Times New Roman" panose="02020603050405020304" pitchFamily="18" charset="0"/>
                <a:cs typeface="Times New Roman" panose="02020603050405020304" pitchFamily="18" charset="0"/>
              </a:rPr>
              <a:t>minimal process </a:t>
            </a:r>
            <a:r>
              <a:rPr lang="en-US" dirty="0">
                <a:latin typeface="Times New Roman" panose="02020603050405020304" pitchFamily="18" charset="0"/>
                <a:cs typeface="Times New Roman" panose="02020603050405020304" pitchFamily="18" charset="0"/>
              </a:rPr>
              <a:t>and memory management, in addition to communication facility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client program and the services never interact directly. Rather they communicate indirectly by exchanging messages with micro-kernel</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One </a:t>
            </a:r>
            <a:r>
              <a:rPr lang="en-US" dirty="0">
                <a:latin typeface="Times New Roman" panose="02020603050405020304" pitchFamily="18" charset="0"/>
                <a:cs typeface="Times New Roman" panose="02020603050405020304" pitchFamily="18" charset="0"/>
              </a:rPr>
              <a:t>of the benefit of micro-kernel approach includes ease of extending the OS. All new services are added to user space and consequently do not require modification of the kernel</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micro-kernel also provides more security and reliability, since most services are running as user process rather than kernel process . If a service fails, the rest of the operating system remains untouched</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3109593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62923"/>
          </a:xfrm>
        </p:spPr>
        <p:txBody>
          <a:bodyPr>
            <a:normAutofit/>
          </a:bodyPr>
          <a:lstStyle/>
          <a:p>
            <a:r>
              <a:rPr lang="en-US" sz="2800" b="1" dirty="0" smtClean="0">
                <a:latin typeface="Times New Roman" panose="02020603050405020304" pitchFamily="18" charset="0"/>
                <a:cs typeface="Times New Roman" panose="02020603050405020304" pitchFamily="18" charset="0"/>
              </a:rPr>
              <a:t>Micro-kernel</a:t>
            </a:r>
            <a:endParaRPr lang="en-US" sz="2800"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750325" y="1637732"/>
            <a:ext cx="6049370" cy="4312693"/>
          </a:xfrm>
          <a:prstGeom prst="rect">
            <a:avLst/>
          </a:prstGeom>
        </p:spPr>
      </p:pic>
    </p:spTree>
    <p:extLst>
      <p:ext uri="{BB962C8B-B14F-4D97-AF65-F5344CB8AC3E}">
        <p14:creationId xmlns="" xmlns:p14="http://schemas.microsoft.com/office/powerpoint/2010/main" val="209982906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58457"/>
          </a:xfrm>
        </p:spPr>
        <p:txBody>
          <a:bodyPr>
            <a:normAutofit/>
          </a:bodyPr>
          <a:lstStyle/>
          <a:p>
            <a:r>
              <a:rPr lang="en-US" sz="2800" b="1" dirty="0" smtClean="0">
                <a:latin typeface="Times New Roman" panose="02020603050405020304" pitchFamily="18" charset="0"/>
                <a:cs typeface="Times New Roman" panose="02020603050405020304" pitchFamily="18" charset="0"/>
              </a:rPr>
              <a:t>Monolithic vs Micro Kernel</a:t>
            </a:r>
            <a:endParaRPr lang="en-US" sz="2800"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302242" y="1473959"/>
            <a:ext cx="6231322" cy="4735773"/>
          </a:xfrm>
        </p:spPr>
      </p:pic>
    </p:spTree>
    <p:extLst>
      <p:ext uri="{BB962C8B-B14F-4D97-AF65-F5344CB8AC3E}">
        <p14:creationId xmlns="" xmlns:p14="http://schemas.microsoft.com/office/powerpoint/2010/main" val="199596221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58457"/>
          </a:xfrm>
        </p:spPr>
        <p:txBody>
          <a:bodyPr>
            <a:normAutofit/>
          </a:bodyPr>
          <a:lstStyle/>
          <a:p>
            <a:r>
              <a:rPr lang="en-US" sz="2800" b="1" dirty="0" smtClean="0">
                <a:latin typeface="Times New Roman" panose="02020603050405020304" pitchFamily="18" charset="0"/>
                <a:cs typeface="Times New Roman" panose="02020603050405020304" pitchFamily="18" charset="0"/>
              </a:rPr>
              <a:t>Monolithic vs Micro Kernel</a:t>
            </a:r>
            <a:endParaRPr lang="en-US" sz="2800" b="1" dirty="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extLst/>
          </p:nvPr>
        </p:nvGraphicFramePr>
        <p:xfrm>
          <a:off x="403461" y="1146483"/>
          <a:ext cx="8419816" cy="6303783"/>
        </p:xfrm>
        <a:graphic>
          <a:graphicData uri="http://schemas.openxmlformats.org/drawingml/2006/table">
            <a:tbl>
              <a:tblPr firstRow="1" bandRow="1">
                <a:tableStyleId>{5C22544A-7EE6-4342-B048-85BDC9FD1C3A}</a:tableStyleId>
              </a:tblPr>
              <a:tblGrid>
                <a:gridCol w="4209908"/>
                <a:gridCol w="4209908"/>
              </a:tblGrid>
              <a:tr h="551288">
                <a:tc>
                  <a:txBody>
                    <a:bodyPr/>
                    <a:lstStyle/>
                    <a:p>
                      <a:pPr algn="ctr"/>
                      <a:r>
                        <a:rPr lang="en-US" sz="2400" dirty="0" smtClean="0">
                          <a:latin typeface="Times New Roman" panose="02020603050405020304" pitchFamily="18" charset="0"/>
                          <a:cs typeface="Times New Roman" panose="02020603050405020304" pitchFamily="18" charset="0"/>
                        </a:rPr>
                        <a:t>Monolithic</a:t>
                      </a:r>
                      <a:r>
                        <a:rPr lang="en-US" sz="2400" baseline="0" dirty="0" smtClean="0">
                          <a:latin typeface="Times New Roman" panose="02020603050405020304" pitchFamily="18" charset="0"/>
                          <a:cs typeface="Times New Roman" panose="02020603050405020304" pitchFamily="18" charset="0"/>
                        </a:rPr>
                        <a:t> Kernel</a:t>
                      </a:r>
                      <a:endParaRPr lang="en-US" sz="2400" dirty="0">
                        <a:latin typeface="Times New Roman" panose="02020603050405020304" pitchFamily="18" charset="0"/>
                        <a:cs typeface="Times New Roman" panose="02020603050405020304" pitchFamily="18" charset="0"/>
                      </a:endParaRPr>
                    </a:p>
                  </a:txBody>
                  <a:tcPr marL="68580" marR="68580"/>
                </a:tc>
                <a:tc>
                  <a:txBody>
                    <a:bodyPr/>
                    <a:lstStyle/>
                    <a:p>
                      <a:pPr algn="ctr"/>
                      <a:r>
                        <a:rPr lang="en-US" sz="2400" dirty="0" smtClean="0">
                          <a:latin typeface="Times New Roman" panose="02020603050405020304" pitchFamily="18" charset="0"/>
                          <a:cs typeface="Times New Roman" panose="02020603050405020304" pitchFamily="18" charset="0"/>
                        </a:rPr>
                        <a:t>Micro</a:t>
                      </a:r>
                      <a:r>
                        <a:rPr lang="en-US" sz="2400" baseline="0" dirty="0" smtClean="0">
                          <a:latin typeface="Times New Roman" panose="02020603050405020304" pitchFamily="18" charset="0"/>
                          <a:cs typeface="Times New Roman" panose="02020603050405020304" pitchFamily="18" charset="0"/>
                        </a:rPr>
                        <a:t> Kernel</a:t>
                      </a:r>
                      <a:endParaRPr lang="en-US" sz="2400" dirty="0">
                        <a:latin typeface="Times New Roman" panose="02020603050405020304" pitchFamily="18" charset="0"/>
                        <a:cs typeface="Times New Roman" panose="02020603050405020304" pitchFamily="18" charset="0"/>
                      </a:endParaRPr>
                    </a:p>
                  </a:txBody>
                  <a:tcPr marL="68580" marR="68580"/>
                </a:tc>
              </a:tr>
              <a:tr h="581405">
                <a:tc>
                  <a:txBody>
                    <a:bodyPr/>
                    <a:lstStyle/>
                    <a:p>
                      <a:r>
                        <a:rPr lang="en-US" sz="2400" dirty="0" smtClean="0">
                          <a:latin typeface="Times New Roman" panose="02020603050405020304" pitchFamily="18" charset="0"/>
                          <a:cs typeface="Times New Roman" panose="02020603050405020304" pitchFamily="18" charset="0"/>
                        </a:rPr>
                        <a:t>It is larger in size</a:t>
                      </a:r>
                      <a:endParaRPr lang="en-US" sz="2400" dirty="0">
                        <a:latin typeface="Times New Roman" panose="02020603050405020304" pitchFamily="18" charset="0"/>
                        <a:cs typeface="Times New Roman" panose="02020603050405020304" pitchFamily="18" charset="0"/>
                      </a:endParaRPr>
                    </a:p>
                  </a:txBody>
                  <a:tcPr marL="68580" marR="68580"/>
                </a:tc>
                <a:tc>
                  <a:txBody>
                    <a:bodyPr/>
                    <a:lstStyle/>
                    <a:p>
                      <a:r>
                        <a:rPr lang="en-US" sz="2400" dirty="0" smtClean="0">
                          <a:latin typeface="Times New Roman" panose="02020603050405020304" pitchFamily="18" charset="0"/>
                          <a:cs typeface="Times New Roman" panose="02020603050405020304" pitchFamily="18" charset="0"/>
                        </a:rPr>
                        <a:t>It</a:t>
                      </a:r>
                      <a:r>
                        <a:rPr lang="en-US" sz="2400" baseline="0" dirty="0" smtClean="0">
                          <a:latin typeface="Times New Roman" panose="02020603050405020304" pitchFamily="18" charset="0"/>
                          <a:cs typeface="Times New Roman" panose="02020603050405020304" pitchFamily="18" charset="0"/>
                        </a:rPr>
                        <a:t> is smaller in size than monolithic kernel.</a:t>
                      </a:r>
                      <a:endParaRPr lang="en-US" sz="2400" dirty="0">
                        <a:latin typeface="Times New Roman" panose="02020603050405020304" pitchFamily="18" charset="0"/>
                        <a:cs typeface="Times New Roman" panose="02020603050405020304" pitchFamily="18" charset="0"/>
                      </a:endParaRPr>
                    </a:p>
                  </a:txBody>
                  <a:tcPr marL="68580" marR="68580"/>
                </a:tc>
              </a:tr>
              <a:tr h="551288">
                <a:tc>
                  <a:txBody>
                    <a:bodyPr/>
                    <a:lstStyle/>
                    <a:p>
                      <a:r>
                        <a:rPr lang="en-US" sz="2400" dirty="0" smtClean="0">
                          <a:latin typeface="Times New Roman" panose="02020603050405020304" pitchFamily="18" charset="0"/>
                          <a:cs typeface="Times New Roman" panose="02020603050405020304" pitchFamily="18" charset="0"/>
                        </a:rPr>
                        <a:t>Fast Execution</a:t>
                      </a:r>
                      <a:endParaRPr lang="en-US" sz="2400" dirty="0">
                        <a:latin typeface="Times New Roman" panose="02020603050405020304" pitchFamily="18" charset="0"/>
                        <a:cs typeface="Times New Roman" panose="02020603050405020304" pitchFamily="18" charset="0"/>
                      </a:endParaRPr>
                    </a:p>
                  </a:txBody>
                  <a:tcPr marL="68580" marR="68580"/>
                </a:tc>
                <a:tc>
                  <a:txBody>
                    <a:bodyPr/>
                    <a:lstStyle/>
                    <a:p>
                      <a:r>
                        <a:rPr lang="en-US" sz="2400" dirty="0" smtClean="0">
                          <a:latin typeface="Times New Roman" panose="02020603050405020304" pitchFamily="18" charset="0"/>
                          <a:cs typeface="Times New Roman" panose="02020603050405020304" pitchFamily="18" charset="0"/>
                        </a:rPr>
                        <a:t>Slow Execution</a:t>
                      </a:r>
                    </a:p>
                  </a:txBody>
                  <a:tcPr marL="68580" marR="68580"/>
                </a:tc>
              </a:tr>
              <a:tr h="551288">
                <a:tc>
                  <a:txBody>
                    <a:bodyPr/>
                    <a:lstStyle/>
                    <a:p>
                      <a:r>
                        <a:rPr lang="en-US" sz="2400" dirty="0" smtClean="0">
                          <a:latin typeface="Times New Roman" panose="02020603050405020304" pitchFamily="18" charset="0"/>
                          <a:cs typeface="Times New Roman" panose="02020603050405020304" pitchFamily="18" charset="0"/>
                        </a:rPr>
                        <a:t>Kernel contains the OS Services</a:t>
                      </a:r>
                      <a:endParaRPr lang="en-US" sz="2400" dirty="0">
                        <a:latin typeface="Times New Roman" panose="02020603050405020304" pitchFamily="18" charset="0"/>
                        <a:cs typeface="Times New Roman" panose="02020603050405020304" pitchFamily="18" charset="0"/>
                      </a:endParaRPr>
                    </a:p>
                  </a:txBody>
                  <a:tcPr marL="68580" marR="68580"/>
                </a:tc>
                <a:tc>
                  <a:txBody>
                    <a:bodyPr/>
                    <a:lstStyle/>
                    <a:p>
                      <a:r>
                        <a:rPr lang="en-US" sz="2400" dirty="0" smtClean="0">
                          <a:latin typeface="Times New Roman" panose="02020603050405020304" pitchFamily="18" charset="0"/>
                          <a:cs typeface="Times New Roman" panose="02020603050405020304" pitchFamily="18" charset="0"/>
                        </a:rPr>
                        <a:t>OS Services</a:t>
                      </a:r>
                      <a:r>
                        <a:rPr lang="en-US" sz="2400" baseline="0" dirty="0" smtClean="0">
                          <a:latin typeface="Times New Roman" panose="02020603050405020304" pitchFamily="18" charset="0"/>
                          <a:cs typeface="Times New Roman" panose="02020603050405020304" pitchFamily="18" charset="0"/>
                        </a:rPr>
                        <a:t> and Kernel are separated.</a:t>
                      </a:r>
                      <a:endParaRPr lang="en-US" sz="2400" dirty="0">
                        <a:latin typeface="Times New Roman" panose="02020603050405020304" pitchFamily="18" charset="0"/>
                        <a:cs typeface="Times New Roman" panose="02020603050405020304" pitchFamily="18" charset="0"/>
                      </a:endParaRPr>
                    </a:p>
                  </a:txBody>
                  <a:tcPr marL="68580" marR="68580"/>
                </a:tc>
              </a:tr>
              <a:tr h="992319">
                <a:tc>
                  <a:txBody>
                    <a:bodyPr/>
                    <a:lstStyle/>
                    <a:p>
                      <a:r>
                        <a:rPr lang="en-US" sz="2400" dirty="0" smtClean="0">
                          <a:latin typeface="Times New Roman" panose="02020603050405020304" pitchFamily="18" charset="0"/>
                          <a:cs typeface="Times New Roman" panose="02020603050405020304" pitchFamily="18" charset="0"/>
                        </a:rPr>
                        <a:t>Failure in one component affects the entire system.</a:t>
                      </a:r>
                      <a:endParaRPr lang="en-US" sz="2400" dirty="0">
                        <a:latin typeface="Times New Roman" panose="02020603050405020304" pitchFamily="18" charset="0"/>
                        <a:cs typeface="Times New Roman" panose="02020603050405020304" pitchFamily="18" charset="0"/>
                      </a:endParaRPr>
                    </a:p>
                  </a:txBody>
                  <a:tcPr marL="68580" marR="68580"/>
                </a:tc>
                <a:tc>
                  <a:txBody>
                    <a:bodyPr/>
                    <a:lstStyle/>
                    <a:p>
                      <a:r>
                        <a:rPr lang="en-US" sz="2400" dirty="0" smtClean="0">
                          <a:latin typeface="Times New Roman" panose="02020603050405020304" pitchFamily="18" charset="0"/>
                          <a:cs typeface="Times New Roman" panose="02020603050405020304" pitchFamily="18" charset="0"/>
                        </a:rPr>
                        <a:t>Failure</a:t>
                      </a:r>
                      <a:r>
                        <a:rPr lang="en-US" sz="2400" baseline="0" dirty="0" smtClean="0">
                          <a:latin typeface="Times New Roman" panose="02020603050405020304" pitchFamily="18" charset="0"/>
                          <a:cs typeface="Times New Roman" panose="02020603050405020304" pitchFamily="18" charset="0"/>
                        </a:rPr>
                        <a:t> in one component will not affect the other components.</a:t>
                      </a:r>
                      <a:endParaRPr lang="en-US" sz="2400" dirty="0">
                        <a:latin typeface="Times New Roman" panose="02020603050405020304" pitchFamily="18" charset="0"/>
                        <a:cs typeface="Times New Roman" panose="02020603050405020304" pitchFamily="18" charset="0"/>
                      </a:endParaRPr>
                    </a:p>
                  </a:txBody>
                  <a:tcPr marL="68580" marR="68580"/>
                </a:tc>
              </a:tr>
              <a:tr h="551288">
                <a:tc>
                  <a:txBody>
                    <a:bodyPr/>
                    <a:lstStyle/>
                    <a:p>
                      <a:r>
                        <a:rPr lang="en-US" sz="2400" dirty="0" smtClean="0">
                          <a:latin typeface="Times New Roman" panose="02020603050405020304" pitchFamily="18" charset="0"/>
                          <a:cs typeface="Times New Roman" panose="02020603050405020304" pitchFamily="18" charset="0"/>
                        </a:rPr>
                        <a:t>Hard</a:t>
                      </a:r>
                      <a:r>
                        <a:rPr lang="en-US" sz="2400" baseline="0" dirty="0" smtClean="0">
                          <a:latin typeface="Times New Roman" panose="02020603050405020304" pitchFamily="18" charset="0"/>
                          <a:cs typeface="Times New Roman" panose="02020603050405020304" pitchFamily="18" charset="0"/>
                        </a:rPr>
                        <a:t> to debug</a:t>
                      </a:r>
                      <a:endParaRPr lang="en-US" sz="2400" dirty="0">
                        <a:latin typeface="Times New Roman" panose="02020603050405020304" pitchFamily="18" charset="0"/>
                        <a:cs typeface="Times New Roman" panose="02020603050405020304" pitchFamily="18" charset="0"/>
                      </a:endParaRPr>
                    </a:p>
                  </a:txBody>
                  <a:tcPr marL="68580" marR="68580"/>
                </a:tc>
                <a:tc>
                  <a:txBody>
                    <a:bodyPr/>
                    <a:lstStyle/>
                    <a:p>
                      <a:r>
                        <a:rPr lang="en-US" sz="2400" dirty="0" smtClean="0">
                          <a:latin typeface="Times New Roman" panose="02020603050405020304" pitchFamily="18" charset="0"/>
                          <a:cs typeface="Times New Roman" panose="02020603050405020304" pitchFamily="18" charset="0"/>
                        </a:rPr>
                        <a:t>Easy to debug</a:t>
                      </a:r>
                      <a:endParaRPr lang="en-US" sz="2400" dirty="0">
                        <a:latin typeface="Times New Roman" panose="02020603050405020304" pitchFamily="18" charset="0"/>
                        <a:cs typeface="Times New Roman" panose="02020603050405020304" pitchFamily="18" charset="0"/>
                      </a:endParaRPr>
                    </a:p>
                  </a:txBody>
                  <a:tcPr marL="68580" marR="68580"/>
                </a:tc>
              </a:tr>
              <a:tr h="551288">
                <a:tc>
                  <a:txBody>
                    <a:bodyPr/>
                    <a:lstStyle/>
                    <a:p>
                      <a:r>
                        <a:rPr lang="en-US" sz="2400" dirty="0" smtClean="0">
                          <a:latin typeface="Times New Roman" panose="02020603050405020304" pitchFamily="18" charset="0"/>
                          <a:cs typeface="Times New Roman" panose="02020603050405020304" pitchFamily="18" charset="0"/>
                        </a:rPr>
                        <a:t>Difficult to add new functionalities</a:t>
                      </a:r>
                      <a:endParaRPr lang="en-US" sz="2400" dirty="0">
                        <a:latin typeface="Times New Roman" panose="02020603050405020304" pitchFamily="18" charset="0"/>
                        <a:cs typeface="Times New Roman" panose="02020603050405020304" pitchFamily="18" charset="0"/>
                      </a:endParaRPr>
                    </a:p>
                  </a:txBody>
                  <a:tcPr marL="68580" marR="68580"/>
                </a:tc>
                <a:tc>
                  <a:txBody>
                    <a:bodyPr/>
                    <a:lstStyle/>
                    <a:p>
                      <a:r>
                        <a:rPr lang="en-US" sz="2400" dirty="0" smtClean="0">
                          <a:latin typeface="Times New Roman" panose="02020603050405020304" pitchFamily="18" charset="0"/>
                          <a:cs typeface="Times New Roman" panose="02020603050405020304" pitchFamily="18" charset="0"/>
                        </a:rPr>
                        <a:t>Easier to add new functionalities.</a:t>
                      </a:r>
                      <a:endParaRPr lang="en-US" sz="2400" dirty="0">
                        <a:latin typeface="Times New Roman" panose="02020603050405020304" pitchFamily="18" charset="0"/>
                        <a:cs typeface="Times New Roman" panose="02020603050405020304" pitchFamily="18" charset="0"/>
                      </a:endParaRPr>
                    </a:p>
                  </a:txBody>
                  <a:tcPr marL="68580" marR="68580"/>
                </a:tc>
              </a:tr>
              <a:tr h="551288">
                <a:tc>
                  <a:txBody>
                    <a:bodyPr/>
                    <a:lstStyle/>
                    <a:p>
                      <a:r>
                        <a:rPr lang="en-US" sz="2400" dirty="0" smtClean="0">
                          <a:latin typeface="Times New Roman" panose="02020603050405020304" pitchFamily="18" charset="0"/>
                          <a:cs typeface="Times New Roman" panose="02020603050405020304" pitchFamily="18" charset="0"/>
                        </a:rPr>
                        <a:t>Example: </a:t>
                      </a:r>
                      <a:r>
                        <a:rPr lang="pt-BR" sz="2400" b="0" i="0" kern="1200" dirty="0" smtClean="0">
                          <a:solidFill>
                            <a:schemeClr val="dk1"/>
                          </a:solidFill>
                          <a:effectLst/>
                          <a:latin typeface="Times New Roman" panose="02020603050405020304" pitchFamily="18" charset="0"/>
                          <a:ea typeface="+mn-ea"/>
                          <a:cs typeface="Times New Roman" panose="02020603050405020304" pitchFamily="18" charset="0"/>
                        </a:rPr>
                        <a:t>Linux, BSDs, Solaris, OS-9, DOS, OpenVMS, etc.</a:t>
                      </a:r>
                      <a:endParaRPr lang="en-US" sz="2400" dirty="0">
                        <a:latin typeface="Times New Roman" panose="02020603050405020304" pitchFamily="18" charset="0"/>
                        <a:cs typeface="Times New Roman" panose="02020603050405020304" pitchFamily="18" charset="0"/>
                      </a:endParaRPr>
                    </a:p>
                  </a:txBody>
                  <a:tcPr marL="68580" marR="68580"/>
                </a:tc>
                <a:tc>
                  <a:txBody>
                    <a:bodyPr/>
                    <a:lstStyle/>
                    <a:p>
                      <a:r>
                        <a:rPr lang="en-US" sz="2400" dirty="0" smtClean="0">
                          <a:latin typeface="Times New Roman" panose="02020603050405020304" pitchFamily="18" charset="0"/>
                          <a:cs typeface="Times New Roman" panose="02020603050405020304" pitchFamily="18" charset="0"/>
                        </a:rPr>
                        <a:t>Example: </a:t>
                      </a:r>
                      <a:r>
                        <a:rPr lang="en-US" sz="2400" b="0" i="0" kern="1200" dirty="0" smtClean="0">
                          <a:solidFill>
                            <a:schemeClr val="dk1"/>
                          </a:solidFill>
                          <a:effectLst/>
                          <a:latin typeface="Times New Roman" panose="02020603050405020304" pitchFamily="18" charset="0"/>
                          <a:ea typeface="+mn-ea"/>
                          <a:cs typeface="Times New Roman" panose="02020603050405020304" pitchFamily="18" charset="0"/>
                        </a:rPr>
                        <a:t>Symbian, L4Linux, K42, Mac OS X, PikeOS, HURD, etc.</a:t>
                      </a:r>
                      <a:endParaRPr lang="en-US" sz="2400" dirty="0">
                        <a:latin typeface="Times New Roman" panose="02020603050405020304" pitchFamily="18" charset="0"/>
                        <a:cs typeface="Times New Roman" panose="02020603050405020304" pitchFamily="18" charset="0"/>
                      </a:endParaRPr>
                    </a:p>
                  </a:txBody>
                  <a:tcPr marL="68580" marR="68580"/>
                </a:tc>
              </a:tr>
            </a:tbl>
          </a:graphicData>
        </a:graphic>
      </p:graphicFrame>
    </p:spTree>
    <p:extLst>
      <p:ext uri="{BB962C8B-B14F-4D97-AF65-F5344CB8AC3E}">
        <p14:creationId xmlns="" xmlns:p14="http://schemas.microsoft.com/office/powerpoint/2010/main" val="2714343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99400"/>
          </a:xfrm>
        </p:spPr>
        <p:txBody>
          <a:bodyPr>
            <a:normAutofit/>
          </a:bodyPr>
          <a:lstStyle/>
          <a:p>
            <a:r>
              <a:rPr lang="en-US" sz="2800" b="1" dirty="0">
                <a:latin typeface="Times New Roman" panose="02020603050405020304" pitchFamily="18" charset="0"/>
                <a:cs typeface="Times New Roman" panose="02020603050405020304" pitchFamily="18" charset="0"/>
              </a:rPr>
              <a:t>Client Server Model</a:t>
            </a:r>
          </a:p>
        </p:txBody>
      </p:sp>
      <p:sp>
        <p:nvSpPr>
          <p:cNvPr id="3" name="Content Placeholder 2"/>
          <p:cNvSpPr>
            <a:spLocks noGrp="1"/>
          </p:cNvSpPr>
          <p:nvPr>
            <p:ph idx="1"/>
          </p:nvPr>
        </p:nvSpPr>
        <p:spPr>
          <a:xfrm>
            <a:off x="628650" y="1351128"/>
            <a:ext cx="7886700" cy="4825835"/>
          </a:xfrm>
        </p:spPr>
        <p:txBody>
          <a:bodyPr>
            <a:normAutofit fontScale="92500"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usual approach is to implement most of the OS functions in the </a:t>
            </a:r>
            <a:r>
              <a:rPr lang="en-US" dirty="0" smtClean="0">
                <a:latin typeface="Times New Roman" panose="02020603050405020304" pitchFamily="18" charset="0"/>
                <a:cs typeface="Times New Roman" panose="02020603050405020304" pitchFamily="18" charset="0"/>
              </a:rPr>
              <a:t>user/client </a:t>
            </a:r>
            <a:r>
              <a:rPr lang="en-US" dirty="0">
                <a:latin typeface="Times New Roman" panose="02020603050405020304" pitchFamily="18" charset="0"/>
                <a:cs typeface="Times New Roman" panose="02020603050405020304" pitchFamily="18" charset="0"/>
              </a:rPr>
              <a:t>processes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client process/user process sends a request to the server process (OS services)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OS is split into parts, each of which handles only one task of the system like file service, process service, memory service etc.</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parts are small and manageable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Since </a:t>
            </a:r>
            <a:r>
              <a:rPr lang="en-US" dirty="0">
                <a:latin typeface="Times New Roman" panose="02020603050405020304" pitchFamily="18" charset="0"/>
                <a:cs typeface="Times New Roman" panose="02020603050405020304" pitchFamily="18" charset="0"/>
              </a:rPr>
              <a:t>all services run as user mode processes, they do not have direct access to the hardware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Client </a:t>
            </a:r>
            <a:r>
              <a:rPr lang="en-US" dirty="0">
                <a:latin typeface="Times New Roman" panose="02020603050405020304" pitchFamily="18" charset="0"/>
                <a:cs typeface="Times New Roman" panose="02020603050405020304" pitchFamily="18" charset="0"/>
              </a:rPr>
              <a:t>and server processes may be running on a same machine or different machines (usually in case of distributed system).</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5151535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85753"/>
          </a:xfrm>
        </p:spPr>
        <p:txBody>
          <a:bodyPr>
            <a:normAutofit/>
          </a:bodyPr>
          <a:lstStyle/>
          <a:p>
            <a:r>
              <a:rPr lang="en-US" sz="2800" b="1" dirty="0" smtClean="0">
                <a:latin typeface="Times New Roman" panose="02020603050405020304" pitchFamily="18" charset="0"/>
                <a:cs typeface="Times New Roman" panose="02020603050405020304" pitchFamily="18" charset="0"/>
              </a:rPr>
              <a:t>Virtual Machines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255595"/>
            <a:ext cx="8296986" cy="4921369"/>
          </a:xfrm>
        </p:spPr>
        <p:txBody>
          <a:bodyPr>
            <a:normAutofit fontScale="92500"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Virtual </a:t>
            </a:r>
            <a:r>
              <a:rPr lang="en-US" dirty="0">
                <a:latin typeface="Times New Roman" panose="02020603050405020304" pitchFamily="18" charset="0"/>
                <a:cs typeface="Times New Roman" panose="02020603050405020304" pitchFamily="18" charset="0"/>
              </a:rPr>
              <a:t>machines are an efficient, isolated duplicate of a real computer </a:t>
            </a:r>
            <a:r>
              <a:rPr lang="en-US" dirty="0" smtClean="0">
                <a:latin typeface="Times New Roman" panose="02020603050405020304" pitchFamily="18" charset="0"/>
                <a:cs typeface="Times New Roman" panose="02020603050405020304" pitchFamily="18" charset="0"/>
              </a:rPr>
              <a:t>machine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Virtual </a:t>
            </a:r>
            <a:r>
              <a:rPr lang="en-US" dirty="0">
                <a:latin typeface="Times New Roman" panose="02020603050405020304" pitchFamily="18" charset="0"/>
                <a:cs typeface="Times New Roman" panose="02020603050405020304" pitchFamily="18" charset="0"/>
              </a:rPr>
              <a:t>Machine abstracts the hardware of our personal computer such as CPU, disk drives, memory, NIC (Network Interface Card) etc, into many different execution environments as per our requirements, hence giving us a feel that each execution environment is a single computer</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There are </a:t>
            </a:r>
            <a:r>
              <a:rPr lang="en-US" dirty="0">
                <a:latin typeface="Times New Roman" panose="02020603050405020304" pitchFamily="18" charset="0"/>
                <a:cs typeface="Times New Roman" panose="02020603050405020304" pitchFamily="18" charset="0"/>
              </a:rPr>
              <a:t>two basic types of virtual </a:t>
            </a:r>
            <a:r>
              <a:rPr lang="en-US" dirty="0" smtClean="0">
                <a:latin typeface="Times New Roman" panose="02020603050405020304" pitchFamily="18" charset="0"/>
                <a:cs typeface="Times New Roman" panose="02020603050405020304" pitchFamily="18" charset="0"/>
              </a:rPr>
              <a:t>machines</a:t>
            </a:r>
          </a:p>
          <a:p>
            <a:pPr marL="971550" lvl="1" indent="-514350">
              <a:buAutoNum type="alphaLcPeriod"/>
            </a:pPr>
            <a:r>
              <a:rPr lang="en-US" sz="2800" dirty="0" smtClean="0">
                <a:latin typeface="Times New Roman" panose="02020603050405020304" pitchFamily="18" charset="0"/>
                <a:cs typeface="Times New Roman" panose="02020603050405020304" pitchFamily="18" charset="0"/>
              </a:rPr>
              <a:t>Process Virtual Machine</a:t>
            </a:r>
          </a:p>
          <a:p>
            <a:pPr marL="971550" lvl="1" indent="-514350">
              <a:buAutoNum type="alphaLcPeriod"/>
            </a:pPr>
            <a:r>
              <a:rPr lang="en-US" sz="2800" dirty="0" smtClean="0">
                <a:latin typeface="Times New Roman" panose="02020603050405020304" pitchFamily="18" charset="0"/>
                <a:cs typeface="Times New Roman" panose="02020603050405020304" pitchFamily="18" charset="0"/>
              </a:rPr>
              <a:t>System Virtual Machine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Examples: VMWare, Virtual Box, Hyper-V, Oracle VM, Virtual </a:t>
            </a:r>
            <a:r>
              <a:rPr lang="en-US" dirty="0" err="1" smtClean="0">
                <a:latin typeface="Times New Roman" panose="02020603050405020304" pitchFamily="18" charset="0"/>
                <a:cs typeface="Times New Roman" panose="02020603050405020304" pitchFamily="18" charset="0"/>
              </a:rPr>
              <a:t>PC,etc</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11315582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5819"/>
            <a:ext cx="7886700" cy="685753"/>
          </a:xfrm>
        </p:spPr>
        <p:txBody>
          <a:bodyPr>
            <a:normAutofit/>
          </a:bodyPr>
          <a:lstStyle/>
          <a:p>
            <a:r>
              <a:rPr lang="en-US" sz="2800" b="1" dirty="0" smtClean="0">
                <a:latin typeface="Times New Roman" panose="02020603050405020304" pitchFamily="18" charset="0"/>
                <a:cs typeface="Times New Roman" panose="02020603050405020304" pitchFamily="18" charset="0"/>
              </a:rPr>
              <a:t>Virtual Machines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3537" y="791572"/>
            <a:ext cx="8772099" cy="5813944"/>
          </a:xfrm>
        </p:spPr>
        <p:txBody>
          <a:bodyPr>
            <a:noAutofit/>
          </a:bodyPr>
          <a:lstStyle/>
          <a:p>
            <a:pPr marL="514350" indent="-514350">
              <a:buAutoNum type="alphaLcPeriod"/>
            </a:pPr>
            <a:r>
              <a:rPr lang="en-US" sz="2400" dirty="0" smtClean="0">
                <a:latin typeface="Times New Roman" panose="02020603050405020304" pitchFamily="18" charset="0"/>
                <a:cs typeface="Times New Roman" panose="02020603050405020304" pitchFamily="18" charset="0"/>
              </a:rPr>
              <a:t>Process Virtual Machine</a:t>
            </a:r>
          </a:p>
          <a:p>
            <a:pPr lvl="1"/>
            <a:r>
              <a:rPr lang="en-US" sz="2400" dirty="0">
                <a:latin typeface="Times New Roman" panose="02020603050405020304" pitchFamily="18" charset="0"/>
                <a:cs typeface="Times New Roman" panose="02020603050405020304" pitchFamily="18" charset="0"/>
              </a:rPr>
              <a:t>A process virtual machine allows </a:t>
            </a:r>
            <a:r>
              <a:rPr lang="en-US" sz="2400" dirty="0" smtClean="0">
                <a:latin typeface="Times New Roman" panose="02020603050405020304" pitchFamily="18" charset="0"/>
                <a:cs typeface="Times New Roman" panose="02020603050405020304" pitchFamily="18" charset="0"/>
              </a:rPr>
              <a:t>us to </a:t>
            </a:r>
            <a:r>
              <a:rPr lang="en-US" sz="2400" dirty="0">
                <a:latin typeface="Times New Roman" panose="02020603050405020304" pitchFamily="18" charset="0"/>
                <a:cs typeface="Times New Roman" panose="02020603050405020304" pitchFamily="18" charset="0"/>
              </a:rPr>
              <a:t>run a single process as an application on a host </a:t>
            </a:r>
            <a:r>
              <a:rPr lang="en-US" sz="2400" dirty="0" smtClean="0">
                <a:latin typeface="Times New Roman" panose="02020603050405020304" pitchFamily="18" charset="0"/>
                <a:cs typeface="Times New Roman" panose="02020603050405020304" pitchFamily="18" charset="0"/>
              </a:rPr>
              <a:t>machine.</a:t>
            </a:r>
          </a:p>
          <a:p>
            <a:pPr lvl="1"/>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process VM is created when process begins and it ends when process gets terminated</a:t>
            </a:r>
          </a:p>
          <a:p>
            <a:pPr lvl="1"/>
            <a:r>
              <a:rPr lang="en-US" sz="2400" dirty="0">
                <a:latin typeface="Times New Roman" panose="02020603050405020304" pitchFamily="18" charset="0"/>
                <a:cs typeface="Times New Roman" panose="02020603050405020304" pitchFamily="18" charset="0"/>
              </a:rPr>
              <a:t>An example of a process virtual machine is the Java Virtual Machine (JVM</a:t>
            </a:r>
            <a:r>
              <a:rPr lang="en-US" sz="2400" dirty="0" smtClean="0">
                <a:latin typeface="Times New Roman" panose="02020603050405020304" pitchFamily="18" charset="0"/>
                <a:cs typeface="Times New Roman" panose="02020603050405020304" pitchFamily="18" charset="0"/>
              </a:rPr>
              <a:t>)</a:t>
            </a:r>
          </a:p>
          <a:p>
            <a:pPr marL="514350" indent="-514350">
              <a:buAutoNum type="alphaLcPeriod"/>
            </a:pPr>
            <a:r>
              <a:rPr lang="en-US" sz="2400" dirty="0" smtClean="0">
                <a:latin typeface="Times New Roman" panose="02020603050405020304" pitchFamily="18" charset="0"/>
                <a:cs typeface="Times New Roman" panose="02020603050405020304" pitchFamily="18" charset="0"/>
              </a:rPr>
              <a:t>System Virtual Machine</a:t>
            </a:r>
            <a:endParaRPr lang="en-US" sz="2400" dirty="0">
              <a:latin typeface="Times New Roman" panose="02020603050405020304" pitchFamily="18" charset="0"/>
              <a:cs typeface="Times New Roman" panose="02020603050405020304" pitchFamily="18" charset="0"/>
            </a:endParaRPr>
          </a:p>
          <a:p>
            <a:pPr lvl="1"/>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system VM simulates the complete system hardware stack and supports the execution of complete operating system</a:t>
            </a:r>
            <a:r>
              <a:rPr lang="en-US" sz="2400" dirty="0" smtClean="0">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This virtualization process relies on a </a:t>
            </a:r>
            <a:r>
              <a:rPr lang="en-US" sz="2400" dirty="0" smtClean="0">
                <a:latin typeface="Times New Roman" panose="02020603050405020304" pitchFamily="18" charset="0"/>
                <a:cs typeface="Times New Roman" panose="02020603050405020304" pitchFamily="18" charset="0"/>
              </a:rPr>
              <a:t>hypervisor also called as Virtual Machine Monitor(VMM) </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that helps </a:t>
            </a:r>
            <a:r>
              <a:rPr lang="en-US" sz="2400" dirty="0">
                <a:latin typeface="Times New Roman" panose="02020603050405020304" pitchFamily="18" charset="0"/>
                <a:cs typeface="Times New Roman" panose="02020603050405020304" pitchFamily="18" charset="0"/>
              </a:rPr>
              <a:t>to share and manage hardware, allowing for multiple </a:t>
            </a:r>
            <a:r>
              <a:rPr lang="en-US" sz="2400" dirty="0" smtClean="0">
                <a:latin typeface="Times New Roman" panose="02020603050405020304" pitchFamily="18" charset="0"/>
                <a:cs typeface="Times New Roman" panose="02020603050405020304" pitchFamily="18" charset="0"/>
              </a:rPr>
              <a:t>environments.</a:t>
            </a:r>
          </a:p>
          <a:p>
            <a:pPr lvl="1"/>
            <a:r>
              <a:rPr lang="en-US" sz="2400" dirty="0" smtClean="0">
                <a:latin typeface="Times New Roman" panose="02020603050405020304" pitchFamily="18" charset="0"/>
                <a:cs typeface="Times New Roman" panose="02020603050405020304" pitchFamily="18" charset="0"/>
              </a:rPr>
              <a:t>Example: VMWare, Xen, etc</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971550" lvl="1" indent="-514350">
              <a:buAutoNum type="alphaLcPeriod"/>
            </a:pP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2068844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85753"/>
          </a:xfrm>
        </p:spPr>
        <p:txBody>
          <a:bodyPr>
            <a:normAutofit/>
          </a:bodyPr>
          <a:lstStyle/>
          <a:p>
            <a:r>
              <a:rPr lang="en-US" sz="2800" b="1" dirty="0" smtClean="0">
                <a:latin typeface="Times New Roman" panose="02020603050405020304" pitchFamily="18" charset="0"/>
                <a:cs typeface="Times New Roman" panose="02020603050405020304" pitchFamily="18" charset="0"/>
              </a:rPr>
              <a:t>Virtual Machines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866989" y="1569209"/>
            <a:ext cx="3614738" cy="4838700"/>
          </a:xfrm>
          <a:prstGeom prst="rect">
            <a:avLst/>
          </a:prstGeom>
        </p:spPr>
      </p:pic>
    </p:spTree>
    <p:extLst>
      <p:ext uri="{BB962C8B-B14F-4D97-AF65-F5344CB8AC3E}">
        <p14:creationId xmlns="" xmlns:p14="http://schemas.microsoft.com/office/powerpoint/2010/main" val="253795318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305800" cy="4767072"/>
          </a:xfrm>
        </p:spPr>
        <p:txBody>
          <a:bodyPr>
            <a:normAutofit fontScale="40000" lnSpcReduction="20000"/>
          </a:bodyPr>
          <a:lstStyle/>
          <a:p>
            <a:pPr>
              <a:buNone/>
            </a:pPr>
            <a:r>
              <a:rPr lang="en-US" b="1" dirty="0" smtClean="0"/>
              <a:t>Assignment 1: Comparative Architectural Analysis</a:t>
            </a:r>
          </a:p>
          <a:p>
            <a:pPr>
              <a:buNone/>
            </a:pPr>
            <a:endParaRPr lang="en-US" b="1" dirty="0" smtClean="0"/>
          </a:p>
          <a:p>
            <a:pPr>
              <a:buNone/>
            </a:pPr>
            <a:r>
              <a:rPr lang="en-US" b="1" dirty="0" smtClean="0"/>
              <a:t>Type:</a:t>
            </a:r>
            <a:r>
              <a:rPr lang="en-US" dirty="0" smtClean="0"/>
              <a:t> Individual Research Paper </a:t>
            </a:r>
            <a:r>
              <a:rPr lang="en-US" b="1" dirty="0" smtClean="0"/>
              <a:t>Length:</a:t>
            </a:r>
            <a:r>
              <a:rPr lang="en-US" dirty="0" smtClean="0"/>
              <a:t> 8–12 pages</a:t>
            </a:r>
          </a:p>
          <a:p>
            <a:pPr>
              <a:buNone/>
            </a:pPr>
            <a:endParaRPr lang="en-US" b="1" dirty="0" smtClean="0"/>
          </a:p>
          <a:p>
            <a:pPr>
              <a:buNone/>
            </a:pPr>
            <a:r>
              <a:rPr lang="en-US" b="1" dirty="0" smtClean="0"/>
              <a:t>Task</a:t>
            </a:r>
          </a:p>
          <a:p>
            <a:pPr>
              <a:buNone/>
            </a:pPr>
            <a:endParaRPr lang="en-US" dirty="0" smtClean="0"/>
          </a:p>
          <a:p>
            <a:pPr>
              <a:buNone/>
            </a:pPr>
            <a:r>
              <a:rPr lang="en-US" dirty="0" smtClean="0"/>
              <a:t>Conduct an in-depth comparative study of </a:t>
            </a:r>
            <a:r>
              <a:rPr lang="en-US" b="1" dirty="0" smtClean="0"/>
              <a:t>Linux Kernel Architecture vs. Windows NT Architecture</a:t>
            </a:r>
            <a:r>
              <a:rPr lang="en-US" dirty="0" smtClean="0"/>
              <a:t>, focusing on:</a:t>
            </a:r>
          </a:p>
          <a:p>
            <a:r>
              <a:rPr lang="en-US" dirty="0" smtClean="0"/>
              <a:t>Kernel type (monolithic, hybrid, modular)</a:t>
            </a:r>
          </a:p>
          <a:p>
            <a:r>
              <a:rPr lang="en-US" dirty="0" smtClean="0"/>
              <a:t>System call mechanism</a:t>
            </a:r>
          </a:p>
          <a:p>
            <a:r>
              <a:rPr lang="en-US" dirty="0" smtClean="0"/>
              <a:t>Process and thread management models</a:t>
            </a:r>
          </a:p>
          <a:p>
            <a:r>
              <a:rPr lang="en-US" dirty="0" smtClean="0"/>
              <a:t>File system architecture (ext4, NTFS)</a:t>
            </a:r>
          </a:p>
          <a:p>
            <a:r>
              <a:rPr lang="en-US" dirty="0" smtClean="0"/>
              <a:t>Memory management strategies</a:t>
            </a:r>
          </a:p>
          <a:p>
            <a:r>
              <a:rPr lang="en-US" dirty="0" smtClean="0"/>
              <a:t>Device driver framework</a:t>
            </a:r>
          </a:p>
          <a:p>
            <a:r>
              <a:rPr lang="en-US" dirty="0" smtClean="0"/>
              <a:t>Security models (LSM vs. Windows Security Reference Monitor)</a:t>
            </a:r>
          </a:p>
          <a:p>
            <a:r>
              <a:rPr lang="en-US" dirty="0" smtClean="0"/>
              <a:t>Inter-process communication (IPC)</a:t>
            </a:r>
          </a:p>
          <a:p>
            <a:pPr>
              <a:buNone/>
            </a:pPr>
            <a:endParaRPr lang="en-US" b="1" dirty="0" smtClean="0"/>
          </a:p>
          <a:p>
            <a:pPr>
              <a:buNone/>
            </a:pPr>
            <a:r>
              <a:rPr lang="en-US" b="1" dirty="0" smtClean="0"/>
              <a:t>Deliverables</a:t>
            </a:r>
          </a:p>
          <a:p>
            <a:r>
              <a:rPr lang="en-US" dirty="0" smtClean="0"/>
              <a:t>A technical research paper with diagrams</a:t>
            </a:r>
          </a:p>
          <a:p>
            <a:r>
              <a:rPr lang="en-US" dirty="0" smtClean="0"/>
              <a:t>At least </a:t>
            </a:r>
            <a:r>
              <a:rPr lang="en-US" b="1" dirty="0" smtClean="0"/>
              <a:t>10 scholarly references</a:t>
            </a:r>
            <a:r>
              <a:rPr lang="en-US" dirty="0" smtClean="0"/>
              <a:t> (IEEE/ACM preferred)</a:t>
            </a:r>
          </a:p>
          <a:p>
            <a:r>
              <a:rPr lang="en-US" dirty="0" smtClean="0"/>
              <a:t>Comparative table summarizing all differences</a:t>
            </a:r>
          </a:p>
          <a:p>
            <a:pPr>
              <a:buNone/>
            </a:pPr>
            <a:endParaRPr lang="en-US" b="1" dirty="0" smtClean="0"/>
          </a:p>
          <a:p>
            <a:pPr>
              <a:buNone/>
            </a:pPr>
            <a:r>
              <a:rPr lang="en-US" b="1" dirty="0" smtClean="0"/>
              <a:t>Outcome</a:t>
            </a:r>
          </a:p>
          <a:p>
            <a:r>
              <a:rPr lang="en-US" dirty="0" smtClean="0"/>
              <a:t>The student must demonstrate strong theoretical and analytical skill by synthesizing architectural differences and analyzing performance/security implications.</a:t>
            </a:r>
            <a:endParaRPr lang="en-US" dirty="0"/>
          </a:p>
        </p:txBody>
      </p:sp>
      <p:sp>
        <p:nvSpPr>
          <p:cNvPr id="3" name="Title 2"/>
          <p:cNvSpPr>
            <a:spLocks noGrp="1"/>
          </p:cNvSpPr>
          <p:nvPr>
            <p:ph type="title"/>
          </p:nvPr>
        </p:nvSpPr>
        <p:spPr/>
        <p:txBody>
          <a:bodyPr>
            <a:normAutofit fontScale="90000"/>
          </a:bodyPr>
          <a:lstStyle/>
          <a:p>
            <a:r>
              <a:rPr lang="en-US" dirty="0" smtClean="0"/>
              <a:t>CASE STUDY: LINUX KERNAL ARCHITECTURE</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pPr>
              <a:buNone/>
            </a:pPr>
            <a:r>
              <a:rPr lang="en-US" b="1" dirty="0" smtClean="0"/>
              <a:t>Assignment 2: Kernel Source Code Investigation (Linux)</a:t>
            </a:r>
          </a:p>
          <a:p>
            <a:pPr>
              <a:buNone/>
            </a:pPr>
            <a:r>
              <a:rPr lang="en-US" b="1" dirty="0" smtClean="0"/>
              <a:t>Type:</a:t>
            </a:r>
            <a:r>
              <a:rPr lang="en-US" dirty="0" smtClean="0"/>
              <a:t> Practical + Research </a:t>
            </a:r>
            <a:r>
              <a:rPr lang="en-US" b="1" dirty="0" smtClean="0"/>
              <a:t>Length:</a:t>
            </a:r>
            <a:r>
              <a:rPr lang="en-US" dirty="0" smtClean="0"/>
              <a:t> 5–7 pages report</a:t>
            </a:r>
          </a:p>
          <a:p>
            <a:pPr>
              <a:buNone/>
            </a:pPr>
            <a:r>
              <a:rPr lang="en-US" b="1" dirty="0" smtClean="0"/>
              <a:t>Task</a:t>
            </a:r>
          </a:p>
          <a:p>
            <a:r>
              <a:rPr lang="en-US" dirty="0" smtClean="0"/>
              <a:t>Explore the </a:t>
            </a:r>
            <a:r>
              <a:rPr lang="en-US" b="1" dirty="0" smtClean="0"/>
              <a:t>Linux kernel source code</a:t>
            </a:r>
            <a:r>
              <a:rPr lang="en-US" dirty="0" smtClean="0"/>
              <a:t> (choose any stable version ≥5.0) and analyze:</a:t>
            </a:r>
          </a:p>
          <a:p>
            <a:r>
              <a:rPr lang="en-US" dirty="0" smtClean="0"/>
              <a:t>Organization of source tree (/kernel, /mm, /</a:t>
            </a:r>
            <a:r>
              <a:rPr lang="en-US" dirty="0" err="1" smtClean="0"/>
              <a:t>fs</a:t>
            </a:r>
            <a:r>
              <a:rPr lang="en-US" dirty="0" smtClean="0"/>
              <a:t>, /drivers)</a:t>
            </a:r>
          </a:p>
          <a:p>
            <a:r>
              <a:rPr lang="en-US" dirty="0" smtClean="0"/>
              <a:t>How system calls are implemented (syscall_64.tbl, </a:t>
            </a:r>
            <a:r>
              <a:rPr lang="en-US" dirty="0" err="1" smtClean="0"/>
              <a:t>sys_xxx</a:t>
            </a:r>
            <a:r>
              <a:rPr lang="en-US" dirty="0" smtClean="0"/>
              <a:t> functions)</a:t>
            </a:r>
          </a:p>
          <a:p>
            <a:r>
              <a:rPr lang="en-US" dirty="0" smtClean="0"/>
              <a:t>Kernel module loading flow (</a:t>
            </a:r>
            <a:r>
              <a:rPr lang="en-US" dirty="0" err="1" smtClean="0"/>
              <a:t>insmod</a:t>
            </a:r>
            <a:r>
              <a:rPr lang="en-US" dirty="0" smtClean="0"/>
              <a:t>, </a:t>
            </a:r>
            <a:r>
              <a:rPr lang="en-US" dirty="0" err="1" smtClean="0"/>
              <a:t>modprobe</a:t>
            </a:r>
            <a:r>
              <a:rPr lang="en-US" dirty="0" smtClean="0"/>
              <a:t>)</a:t>
            </a:r>
          </a:p>
          <a:p>
            <a:r>
              <a:rPr lang="en-US" dirty="0" smtClean="0"/>
              <a:t>Scheduling implementation (CFS scheduler)</a:t>
            </a:r>
          </a:p>
          <a:p>
            <a:pPr>
              <a:buNone/>
            </a:pPr>
            <a:endParaRPr lang="en-US" b="1" dirty="0" smtClean="0"/>
          </a:p>
          <a:p>
            <a:pPr>
              <a:buNone/>
            </a:pPr>
            <a:r>
              <a:rPr lang="en-US" b="1" dirty="0" smtClean="0"/>
              <a:t>Deliverables</a:t>
            </a:r>
          </a:p>
          <a:p>
            <a:r>
              <a:rPr lang="en-US" dirty="0" smtClean="0"/>
              <a:t>Code snippets with explanations (no modification required)</a:t>
            </a:r>
          </a:p>
          <a:p>
            <a:r>
              <a:rPr lang="en-US" dirty="0" smtClean="0"/>
              <a:t>Flow diagrams of system call and scheduling paths</a:t>
            </a:r>
          </a:p>
          <a:p>
            <a:r>
              <a:rPr lang="en-US" dirty="0" smtClean="0"/>
              <a:t>Reflection on design philosophy (“Everything is a file”, modularization)</a:t>
            </a:r>
          </a:p>
          <a:p>
            <a:pPr>
              <a:buNone/>
            </a:pPr>
            <a:endParaRPr lang="en-US" b="1" dirty="0" smtClean="0"/>
          </a:p>
          <a:p>
            <a:pPr>
              <a:buNone/>
            </a:pPr>
            <a:r>
              <a:rPr lang="en-US" b="1" dirty="0" smtClean="0"/>
              <a:t>Outcome</a:t>
            </a:r>
          </a:p>
          <a:p>
            <a:r>
              <a:rPr lang="en-US" dirty="0" smtClean="0"/>
              <a:t>Students will understand real kernel internals, not just theory.</a:t>
            </a:r>
          </a:p>
          <a:p>
            <a:endParaRPr lang="en-US" dirty="0"/>
          </a:p>
        </p:txBody>
      </p:sp>
      <p:sp>
        <p:nvSpPr>
          <p:cNvPr id="3" name="Title 2"/>
          <p:cNvSpPr>
            <a:spLocks noGrp="1"/>
          </p:cNvSpPr>
          <p:nvPr>
            <p:ph type="title"/>
          </p:nvPr>
        </p:nvSpPr>
        <p:spPr/>
        <p:txBody>
          <a:bodyPr>
            <a:normAutofit fontScale="90000"/>
          </a:bodyPr>
          <a:lstStyle/>
          <a:p>
            <a:r>
              <a:rPr lang="en-US" dirty="0" smtClean="0"/>
              <a:t>CASE STUDY: LINUX KERNAL ARCHITECTURE</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47500" lnSpcReduction="20000"/>
          </a:bodyPr>
          <a:lstStyle/>
          <a:p>
            <a:pPr>
              <a:buNone/>
            </a:pPr>
            <a:r>
              <a:rPr lang="en-US" b="1" dirty="0" smtClean="0"/>
              <a:t>Assignment 3: Windows NT Executive Components Study</a:t>
            </a:r>
          </a:p>
          <a:p>
            <a:pPr>
              <a:buNone/>
            </a:pPr>
            <a:r>
              <a:rPr lang="en-US" b="1" dirty="0" smtClean="0"/>
              <a:t>Type:</a:t>
            </a:r>
            <a:r>
              <a:rPr lang="en-US" dirty="0" smtClean="0"/>
              <a:t> Research Essay </a:t>
            </a:r>
            <a:r>
              <a:rPr lang="en-US" b="1" dirty="0" smtClean="0"/>
              <a:t>Length:</a:t>
            </a:r>
            <a:r>
              <a:rPr lang="en-US" dirty="0" smtClean="0"/>
              <a:t> 6–10 pages</a:t>
            </a:r>
          </a:p>
          <a:p>
            <a:pPr>
              <a:buNone/>
            </a:pPr>
            <a:endParaRPr lang="en-US" b="1" dirty="0" smtClean="0"/>
          </a:p>
          <a:p>
            <a:pPr>
              <a:buNone/>
            </a:pPr>
            <a:r>
              <a:rPr lang="en-US" b="1" dirty="0" smtClean="0"/>
              <a:t>Task</a:t>
            </a:r>
          </a:p>
          <a:p>
            <a:r>
              <a:rPr lang="en-US" dirty="0" smtClean="0"/>
              <a:t>Study the internal architecture of </a:t>
            </a:r>
            <a:r>
              <a:rPr lang="en-US" b="1" dirty="0" smtClean="0"/>
              <a:t>Windows NT</a:t>
            </a:r>
            <a:r>
              <a:rPr lang="en-US" dirty="0" smtClean="0"/>
              <a:t> focusing on:</a:t>
            </a:r>
          </a:p>
          <a:p>
            <a:r>
              <a:rPr lang="en-US" dirty="0" smtClean="0"/>
              <a:t>NT Executive components (Object Manager, Memory Manager, I/O Manager, Process Manager)</a:t>
            </a:r>
          </a:p>
          <a:p>
            <a:r>
              <a:rPr lang="en-US" dirty="0" smtClean="0"/>
              <a:t>Role of “Executive vs. Kernel” layers</a:t>
            </a:r>
          </a:p>
          <a:p>
            <a:r>
              <a:rPr lang="en-US" dirty="0" smtClean="0"/>
              <a:t>Windows Subsystem (Win32, MS-DOS, POSIX history)</a:t>
            </a:r>
          </a:p>
          <a:p>
            <a:r>
              <a:rPr lang="en-US" dirty="0" smtClean="0"/>
              <a:t>Internal IPC (ALPC)</a:t>
            </a:r>
          </a:p>
          <a:p>
            <a:r>
              <a:rPr lang="en-US" dirty="0" smtClean="0"/>
              <a:t>HAL (Hardware Abstraction Layer)</a:t>
            </a:r>
          </a:p>
          <a:p>
            <a:pPr>
              <a:buNone/>
            </a:pPr>
            <a:endParaRPr lang="en-US" b="1" dirty="0" smtClean="0"/>
          </a:p>
          <a:p>
            <a:pPr>
              <a:buNone/>
            </a:pPr>
            <a:r>
              <a:rPr lang="en-US" b="1" dirty="0" smtClean="0"/>
              <a:t>Deliverables</a:t>
            </a:r>
          </a:p>
          <a:p>
            <a:r>
              <a:rPr lang="en-US" dirty="0" smtClean="0"/>
              <a:t>Diagram of Windows NT layered architecture</a:t>
            </a:r>
          </a:p>
          <a:p>
            <a:r>
              <a:rPr lang="en-US" dirty="0" smtClean="0"/>
              <a:t>Explanation of how Windows NT differs from pure microkernel or monolithic design</a:t>
            </a:r>
          </a:p>
          <a:p>
            <a:r>
              <a:rPr lang="en-US" dirty="0" smtClean="0"/>
              <a:t>Case study of a real component (e.g., object manager namespace, I/O request packets)</a:t>
            </a:r>
          </a:p>
          <a:p>
            <a:pPr>
              <a:buNone/>
            </a:pPr>
            <a:endParaRPr lang="en-US" b="1" dirty="0" smtClean="0"/>
          </a:p>
          <a:p>
            <a:pPr>
              <a:buNone/>
            </a:pPr>
            <a:r>
              <a:rPr lang="en-US" b="1" dirty="0" smtClean="0"/>
              <a:t>Outcome</a:t>
            </a:r>
          </a:p>
          <a:p>
            <a:r>
              <a:rPr lang="en-US" dirty="0" smtClean="0"/>
              <a:t>Students learn to research closed-source architectures using documentation, books, and reverse-engineering literature.</a:t>
            </a:r>
          </a:p>
          <a:p>
            <a:endParaRPr lang="en-US" dirty="0"/>
          </a:p>
        </p:txBody>
      </p:sp>
      <p:sp>
        <p:nvSpPr>
          <p:cNvPr id="3" name="Title 2"/>
          <p:cNvSpPr>
            <a:spLocks noGrp="1"/>
          </p:cNvSpPr>
          <p:nvPr>
            <p:ph type="title"/>
          </p:nvPr>
        </p:nvSpPr>
        <p:spPr/>
        <p:txBody>
          <a:bodyPr>
            <a:normAutofit fontScale="90000"/>
          </a:bodyPr>
          <a:lstStyle/>
          <a:p>
            <a:r>
              <a:rPr lang="en-US" dirty="0" smtClean="0"/>
              <a:t>CASE STUDY: LINUX KERNAL ARCHITECTURE</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a:buNone/>
            </a:pPr>
            <a:r>
              <a:rPr lang="en-US" dirty="0" smtClean="0"/>
              <a:t>─────────────────────────────       CONTACT INFORMATION</a:t>
            </a:r>
          </a:p>
          <a:p>
            <a:pPr>
              <a:buNone/>
            </a:pPr>
            <a:r>
              <a:rPr lang="en-US" dirty="0" smtClean="0"/>
              <a:t>─────────────────────────────</a:t>
            </a:r>
          </a:p>
          <a:p>
            <a:pPr>
              <a:buNone/>
            </a:pPr>
            <a:endParaRPr lang="en-US" dirty="0" smtClean="0"/>
          </a:p>
          <a:p>
            <a:pPr>
              <a:buNone/>
            </a:pPr>
            <a:r>
              <a:rPr lang="en-US" dirty="0" smtClean="0"/>
              <a:t>         Asst. Professor </a:t>
            </a:r>
            <a:r>
              <a:rPr lang="en-US" dirty="0" err="1" smtClean="0"/>
              <a:t>Bishwadeep</a:t>
            </a:r>
            <a:r>
              <a:rPr lang="en-US" dirty="0" smtClean="0"/>
              <a:t> </a:t>
            </a:r>
            <a:r>
              <a:rPr lang="en-US" dirty="0" err="1" smtClean="0"/>
              <a:t>Mainaly</a:t>
            </a:r>
            <a:endParaRPr lang="en-US" dirty="0" smtClean="0"/>
          </a:p>
          <a:p>
            <a:pPr>
              <a:buNone/>
            </a:pPr>
            <a:r>
              <a:rPr lang="en-US" dirty="0" smtClean="0"/>
              <a:t>        </a:t>
            </a:r>
          </a:p>
          <a:p>
            <a:pPr>
              <a:buNone/>
            </a:pPr>
            <a:endParaRPr lang="en-US" dirty="0" smtClean="0"/>
          </a:p>
          <a:p>
            <a:pPr>
              <a:buNone/>
            </a:pPr>
            <a:r>
              <a:rPr lang="en-US" dirty="0" smtClean="0"/>
              <a:t>✉ Email:          bishwadeepmainaly@gmail.com</a:t>
            </a:r>
          </a:p>
          <a:p>
            <a:pPr>
              <a:buNone/>
            </a:pPr>
            <a:r>
              <a:rPr lang="en-US" dirty="0" smtClean="0"/>
              <a:t>📱 </a:t>
            </a:r>
            <a:r>
              <a:rPr lang="en-US" dirty="0" err="1" smtClean="0"/>
              <a:t>WhatsApp</a:t>
            </a:r>
            <a:r>
              <a:rPr lang="en-US" dirty="0" smtClean="0"/>
              <a:t>:       +977-9844686688</a:t>
            </a:r>
          </a:p>
          <a:p>
            <a:pPr>
              <a:buNone/>
            </a:pPr>
            <a:endParaRPr lang="en-US" dirty="0" smtClean="0"/>
          </a:p>
          <a:p>
            <a:pPr>
              <a:buNone/>
            </a:pPr>
            <a:r>
              <a:rPr lang="en-US" dirty="0" smtClean="0"/>
              <a:t>─────────────────────────────   *Thank you for your attention*</a:t>
            </a:r>
          </a:p>
          <a:p>
            <a:pPr>
              <a:buNone/>
            </a:pPr>
            <a:r>
              <a:rPr lang="en-US" dirty="0" smtClean="0"/>
              <a:t>─────────────────────────────</a:t>
            </a:r>
          </a:p>
          <a:p>
            <a:pPr>
              <a:buNone/>
            </a:pPr>
            <a:endParaRPr lang="en-US" dirty="0"/>
          </a:p>
        </p:txBody>
      </p:sp>
      <p:sp>
        <p:nvSpPr>
          <p:cNvPr id="3" name="Title 2"/>
          <p:cNvSpPr>
            <a:spLocks noGrp="1"/>
          </p:cNvSpPr>
          <p:nvPr>
            <p:ph type="title"/>
          </p:nvPr>
        </p:nvSpPr>
        <p:spPr/>
        <p:txBody>
          <a:bodyPr/>
          <a:lstStyle/>
          <a:p>
            <a:r>
              <a:rPr lang="en-US" dirty="0" smtClean="0"/>
              <a:t>THANK YOU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379</TotalTime>
  <Words>2920</Words>
  <Application>Microsoft Office PowerPoint</Application>
  <PresentationFormat>On-screen Show (4:3)</PresentationFormat>
  <Paragraphs>521</Paragraphs>
  <Slides>55</Slides>
  <Notes>0</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Concourse</vt:lpstr>
      <vt:lpstr>OPERATING SYSTEM</vt:lpstr>
      <vt:lpstr> Operating System Architecture (4 hrs) </vt:lpstr>
      <vt:lpstr>What is an Operating System?</vt:lpstr>
      <vt:lpstr>Computer System Structure</vt:lpstr>
      <vt:lpstr>Operating System Definition</vt:lpstr>
      <vt:lpstr>KEY RESPONSIBILITIES</vt:lpstr>
      <vt:lpstr>Kernel in Operating System</vt:lpstr>
      <vt:lpstr>User and Kernel Mode</vt:lpstr>
      <vt:lpstr>User and Kernel Mode</vt:lpstr>
      <vt:lpstr>SYSTEM CALLS</vt:lpstr>
      <vt:lpstr>Types of System Call in OS</vt:lpstr>
      <vt:lpstr>Types of System Call in OS</vt:lpstr>
      <vt:lpstr>SYSTEM CALLS</vt:lpstr>
      <vt:lpstr>PROCESS</vt:lpstr>
      <vt:lpstr>THREADS</vt:lpstr>
      <vt:lpstr>Process Scheduling</vt:lpstr>
      <vt:lpstr>MEMORY MANAGEMENT</vt:lpstr>
      <vt:lpstr>STORAGE MANAGEMENT</vt:lpstr>
      <vt:lpstr>I/O Management</vt:lpstr>
      <vt:lpstr>OPERATING SYSTEM DESIGN GOALS AND PRINCIPLES</vt:lpstr>
      <vt:lpstr>OPERATING SYSTEM DESIGN GOALS AND PRINCIPLES</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Structures and Kernel Types </vt:lpstr>
      <vt:lpstr>Operating System Structure</vt:lpstr>
      <vt:lpstr>Operating System Structure-Simple Structure</vt:lpstr>
      <vt:lpstr>Operating System Structure-Simple Structure</vt:lpstr>
      <vt:lpstr>Layered Structure</vt:lpstr>
      <vt:lpstr>Layered Structure</vt:lpstr>
      <vt:lpstr>Monolithic Structure</vt:lpstr>
      <vt:lpstr>Micro-Kernels</vt:lpstr>
      <vt:lpstr>Micro-Kernels</vt:lpstr>
      <vt:lpstr>Micro-kernel</vt:lpstr>
      <vt:lpstr>Monolithic vs Micro Kernel</vt:lpstr>
      <vt:lpstr>Monolithic vs Micro Kernel</vt:lpstr>
      <vt:lpstr>Client Server Model</vt:lpstr>
      <vt:lpstr>Virtual Machines</vt:lpstr>
      <vt:lpstr>Virtual Machines</vt:lpstr>
      <vt:lpstr>Virtual Machines</vt:lpstr>
      <vt:lpstr>CASE STUDY: LINUX KERNAL ARCHITECTURE</vt:lpstr>
      <vt:lpstr>CASE STUDY: LINUX KERNAL ARCHITECTURE</vt:lpstr>
      <vt:lpstr>CASE STUDY: LINUX KERNAL ARCHITECTURE</vt:lpstr>
      <vt:lpstr>THANK YOU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dc:title>
  <dc:creator>Bishwadeep Mainaly</dc:creator>
  <cp:lastModifiedBy>Bishwadeep Mainaly</cp:lastModifiedBy>
  <cp:revision>39</cp:revision>
  <dcterms:created xsi:type="dcterms:W3CDTF">2006-08-16T00:00:00Z</dcterms:created>
  <dcterms:modified xsi:type="dcterms:W3CDTF">2026-05-26T05:17:04Z</dcterms:modified>
</cp:coreProperties>
</file>